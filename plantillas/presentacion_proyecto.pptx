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9959c177-ba6f-7095-053e-81ef223ff02d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1. El problema: la situación y por qué importa. Criterios para las tres diapositivas: una idea central por diapositiva, poco texto, títulos claros, gráficos simples y ningún resultado sin justificar. Los textos en gris son pistas: desaparecen al escribir y no se ven al proyectar. Simulación formativa: sin datos personales ni cifras inventadas.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2. La solución: cómo funciona, en tres pasos, y con qué herramientas. Criterios para las tres diapositivas: una idea central por diapositiva, poco texto, títulos claros, gráficos simples y ningún resultado sin justificar. Los textos en gris son pistas: desaparecen al escribir y no se ven al proyectar. Simulación formativa: sin datos personales ni cifras inventadas.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3. Los beneficios: resultados esperados, los dos indicadores del documento y las principales precauciones. Criterios para las tres diapositivas: una idea central por diapositiva, poco texto, títulos claros, gráficos simples y ningún resultado sin justificar. Los textos en gris son pistas: desaparecen al escribir y no se ven al proyectar. Simulación formativa: sin datos personales ni cifras inventadas.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7680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Simulación formativa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Simulación formativa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BLEM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778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Título: el problema en una frase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783080" y="2148840"/>
            <a:ext cx="5440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Qué pasa y a quién afecta, en una o dos frases. Describid la situación, no la solución.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783080" y="4343400"/>
            <a:ext cx="5440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Qué se pierde hoy: tiempo, clientes, oportunidades, errores… Sin cifras inventadas.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8092440" y="1783080"/>
            <a:ext cx="3322015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Opcional: una imagen o un gráfico sencillo que muestre el problema</a:t>
            </a:r>
            <a:endParaRPr lang="en-US" sz="1400" dirty="0"/>
          </a:p>
        </p:txBody>
      </p:sp>
      <p:sp>
        <p:nvSpPr>
          <p:cNvPr id="6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Simulación formativa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UC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778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Título: la solución en una frase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697480"/>
            <a:ext cx="2905658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Paso 1: qué ocurre primero, quién lo hace y con qué herramienta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643018" y="2697480"/>
            <a:ext cx="2905658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Paso 2: qué ocurre después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463077" y="2697480"/>
            <a:ext cx="2905658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Paso 3: qué ocurre después</a:t>
            </a:r>
            <a:endParaRPr lang="en-US" sz="1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1783080" y="4846320"/>
            <a:ext cx="958565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Herramientas: ofimáticas y de IA. Qué revisa siempre una persona.</a:t>
            </a:r>
            <a:endParaRPr lang="en-US" sz="1600" dirty="0"/>
          </a:p>
        </p:txBody>
      </p:sp>
      <p:sp>
        <p:nvSpPr>
          <p:cNvPr id="7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Simulación formativa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EFICIOS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778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Título: el beneficio principal en una frase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697480"/>
            <a:ext cx="2905658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Qué mejoraría y para quién. Lo que esperáis conseguir, no lo que ya ha pasado.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643018" y="2240280"/>
            <a:ext cx="2905658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se mide y cómo: antes y después de un mes de prueba</a:t>
            </a:r>
            <a:endParaRPr lang="en-US" sz="1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643018" y="4663440"/>
            <a:ext cx="2905658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se mide y cómo: antes y después de un mes de prueba</a:t>
            </a:r>
            <a:endParaRPr lang="en-US" sz="1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8463077" y="2697480"/>
            <a:ext cx="2905658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Principal riesgo y cómo se evita. Qué supervisa siempre una persona.</a:t>
            </a:r>
            <a:endParaRPr lang="en-US" sz="1600" dirty="0"/>
          </a:p>
        </p:txBody>
      </p:sp>
      <p:sp>
        <p:nvSpPr>
          <p:cNvPr id="7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Simulación formativa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tiempo"/>
          <p:cNvSpPr/>
          <p:nvPr/>
        </p:nvSpPr>
        <p:spPr>
          <a:xfrm>
            <a:off x="9608515" y="548640"/>
            <a:ext cx="20345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8515" y="54864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· El problema</a:t>
            </a:r>
            <a:endParaRPr lang="en-US" sz="1400" dirty="0"/>
          </a:p>
        </p:txBody>
      </p:sp>
      <p:sp>
        <p:nvSpPr>
          <p:cNvPr id="4" name="Tarjeta del problema"/>
          <p:cNvSpPr/>
          <p:nvPr/>
        </p:nvSpPr>
        <p:spPr>
          <a:xfrm>
            <a:off x="548640" y="1554480"/>
            <a:ext cx="6949440" cy="4480560"/>
          </a:xfrm>
          <a:prstGeom prst="roundRect">
            <a:avLst>
              <a:gd name="adj" fmla="val 3061"/>
            </a:avLst>
          </a:prstGeom>
          <a:solidFill>
            <a:schemeClr val="bg2"/>
          </a:solidFill>
          <a:ln/>
        </p:spPr>
      </p:sp>
      <p:sp>
        <p:nvSpPr>
          <p:cNvPr id="5" name="Icono problema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Icono probl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586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737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Qué pasa y a quién afecta</a:t>
            </a:r>
            <a:endParaRPr lang="en-US" sz="1800" dirty="0"/>
          </a:p>
        </p:txBody>
      </p:sp>
      <p:sp>
        <p:nvSpPr>
          <p:cNvPr id="8" name="Icono importancia"/>
          <p:cNvSpPr/>
          <p:nvPr/>
        </p:nvSpPr>
        <p:spPr>
          <a:xfrm>
            <a:off x="822960" y="3977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Icono importanc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415320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9319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 qué importa</a:t>
            </a:r>
            <a:endParaRPr lang="en-US" sz="1800" dirty="0"/>
          </a:p>
        </p:txBody>
      </p:sp>
      <p:sp>
        <p:nvSpPr>
          <p:cNvPr id="11" name="Hueco para imagen"/>
          <p:cNvSpPr/>
          <p:nvPr/>
        </p:nvSpPr>
        <p:spPr>
          <a:xfrm>
            <a:off x="7863840" y="1554480"/>
            <a:ext cx="3779215" cy="4480560"/>
          </a:xfrm>
          <a:prstGeom prst="roundRect">
            <a:avLst>
              <a:gd name="adj" fmla="val 3629"/>
            </a:avLst>
          </a:prstGeom>
          <a:solidFill>
            <a:schemeClr val="bg1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4114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1783080" y="2148840"/>
            <a:ext cx="5440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5" name="Text 0"/>
          <p:cNvSpPr/>
          <p:nvPr>
            <p:ph idx="102" type="body" hasCustomPrompt="1"/>
          </p:nvPr>
        </p:nvSpPr>
        <p:spPr>
          <a:xfrm>
            <a:off x="1783080" y="4343400"/>
            <a:ext cx="5440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Text 0"/>
          <p:cNvSpPr/>
          <p:nvPr>
            <p:ph idx="103" hasCustomPrompt="1"/>
          </p:nvPr>
        </p:nvSpPr>
        <p:spPr>
          <a:xfrm>
            <a:off x="8092440" y="1783080"/>
            <a:ext cx="33220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tiempo"/>
          <p:cNvSpPr/>
          <p:nvPr/>
        </p:nvSpPr>
        <p:spPr>
          <a:xfrm>
            <a:off x="9608515" y="548640"/>
            <a:ext cx="20345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8515" y="54864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· La solución</a:t>
            </a:r>
            <a:endParaRPr lang="en-US" sz="1400" dirty="0"/>
          </a:p>
        </p:txBody>
      </p:sp>
      <p:sp>
        <p:nvSpPr>
          <p:cNvPr id="4" name="Paso 1"/>
          <p:cNvSpPr/>
          <p:nvPr/>
        </p:nvSpPr>
        <p:spPr>
          <a:xfrm>
            <a:off x="548640" y="1554480"/>
            <a:ext cx="3454298" cy="2788920"/>
          </a:xfrm>
          <a:prstGeom prst="roundRect">
            <a:avLst>
              <a:gd name="adj" fmla="val 4918"/>
            </a:avLst>
          </a:prstGeom>
          <a:solidFill>
            <a:schemeClr val="bg2"/>
          </a:solidFill>
          <a:ln/>
        </p:spPr>
      </p:sp>
      <p:sp>
        <p:nvSpPr>
          <p:cNvPr id="5" name="Número 1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Paso 2"/>
          <p:cNvSpPr/>
          <p:nvPr/>
        </p:nvSpPr>
        <p:spPr>
          <a:xfrm>
            <a:off x="4368698" y="1554480"/>
            <a:ext cx="3454298" cy="2788920"/>
          </a:xfrm>
          <a:prstGeom prst="roundRect">
            <a:avLst>
              <a:gd name="adj" fmla="val 4918"/>
            </a:avLst>
          </a:prstGeom>
          <a:solidFill>
            <a:schemeClr val="bg2"/>
          </a:solidFill>
          <a:ln/>
        </p:spPr>
      </p:sp>
      <p:sp>
        <p:nvSpPr>
          <p:cNvPr id="8" name="Número 2"/>
          <p:cNvSpPr/>
          <p:nvPr/>
        </p:nvSpPr>
        <p:spPr>
          <a:xfrm>
            <a:off x="4643018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43018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Paso 3"/>
          <p:cNvSpPr/>
          <p:nvPr/>
        </p:nvSpPr>
        <p:spPr>
          <a:xfrm>
            <a:off x="8188757" y="1554480"/>
            <a:ext cx="3454298" cy="2788920"/>
          </a:xfrm>
          <a:prstGeom prst="roundRect">
            <a:avLst>
              <a:gd name="adj" fmla="val 4918"/>
            </a:avLst>
          </a:prstGeom>
          <a:solidFill>
            <a:schemeClr val="bg2"/>
          </a:solidFill>
          <a:ln/>
        </p:spPr>
      </p:sp>
      <p:sp>
        <p:nvSpPr>
          <p:cNvPr id="11" name="Número 3"/>
          <p:cNvSpPr/>
          <p:nvPr/>
        </p:nvSpPr>
        <p:spPr>
          <a:xfrm>
            <a:off x="8463077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63077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arjeta de herramientas"/>
          <p:cNvSpPr/>
          <p:nvPr/>
        </p:nvSpPr>
        <p:spPr>
          <a:xfrm>
            <a:off x="548640" y="4617720"/>
            <a:ext cx="11094415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/>
        </p:spPr>
      </p:sp>
      <p:sp>
        <p:nvSpPr>
          <p:cNvPr id="14" name="Icono herramientas"/>
          <p:cNvSpPr/>
          <p:nvPr/>
        </p:nvSpPr>
        <p:spPr>
          <a:xfrm>
            <a:off x="822960" y="49606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0" descr="Icono herramien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5136185"/>
            <a:ext cx="380390" cy="380390"/>
          </a:xfrm>
          <a:prstGeom prst="rect">
            <a:avLst/>
          </a:prstGeom>
        </p:spPr>
      </p:pic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4114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822960" y="2697480"/>
            <a:ext cx="29056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9" name="Text 0"/>
          <p:cNvSpPr/>
          <p:nvPr>
            <p:ph idx="102" type="body" hasCustomPrompt="1"/>
          </p:nvPr>
        </p:nvSpPr>
        <p:spPr>
          <a:xfrm>
            <a:off x="4643018" y="2697480"/>
            <a:ext cx="29056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0" name="Text 0"/>
          <p:cNvSpPr/>
          <p:nvPr>
            <p:ph idx="103" type="body" hasCustomPrompt="1"/>
          </p:nvPr>
        </p:nvSpPr>
        <p:spPr>
          <a:xfrm>
            <a:off x="8463077" y="2697480"/>
            <a:ext cx="29056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Text 0"/>
          <p:cNvSpPr/>
          <p:nvPr>
            <p:ph idx="104" type="body" hasCustomPrompt="1"/>
          </p:nvPr>
        </p:nvSpPr>
        <p:spPr>
          <a:xfrm>
            <a:off x="1783080" y="4846320"/>
            <a:ext cx="9585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tiempo"/>
          <p:cNvSpPr/>
          <p:nvPr/>
        </p:nvSpPr>
        <p:spPr>
          <a:xfrm>
            <a:off x="9293047" y="548640"/>
            <a:ext cx="235000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293047" y="54864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· Los beneficios</a:t>
            </a:r>
            <a:endParaRPr lang="en-US" sz="1400" dirty="0"/>
          </a:p>
        </p:txBody>
      </p:sp>
      <p:sp>
        <p:nvSpPr>
          <p:cNvPr id="4" name="Resultados esperados"/>
          <p:cNvSpPr/>
          <p:nvPr/>
        </p:nvSpPr>
        <p:spPr>
          <a:xfrm>
            <a:off x="548640" y="1554480"/>
            <a:ext cx="3454298" cy="448056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5" name="Icono resultados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ono result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84248"/>
            <a:ext cx="2174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Resultados esperados</a:t>
            </a:r>
            <a:endParaRPr lang="en-US" sz="1800" dirty="0"/>
          </a:p>
        </p:txBody>
      </p:sp>
      <p:sp>
        <p:nvSpPr>
          <p:cNvPr id="8" name="Indicador 1"/>
          <p:cNvSpPr/>
          <p:nvPr/>
        </p:nvSpPr>
        <p:spPr>
          <a:xfrm>
            <a:off x="4368698" y="1554480"/>
            <a:ext cx="3454298" cy="20574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9" name="Icono indicador 1"/>
          <p:cNvSpPr/>
          <p:nvPr/>
        </p:nvSpPr>
        <p:spPr>
          <a:xfrm>
            <a:off x="4643018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Icono indicador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46" y="18470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37378" y="178308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Indicador 1</a:t>
            </a:r>
            <a:endParaRPr lang="en-US" sz="1800" dirty="0"/>
          </a:p>
        </p:txBody>
      </p:sp>
      <p:sp>
        <p:nvSpPr>
          <p:cNvPr id="12" name="Indicador 2"/>
          <p:cNvSpPr/>
          <p:nvPr/>
        </p:nvSpPr>
        <p:spPr>
          <a:xfrm>
            <a:off x="4368698" y="3977640"/>
            <a:ext cx="3454298" cy="20574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3" name="Icono indicador 2"/>
          <p:cNvSpPr/>
          <p:nvPr/>
        </p:nvSpPr>
        <p:spPr>
          <a:xfrm>
            <a:off x="4643018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Icono indicador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746" y="42702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37378" y="420624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Indicador 2</a:t>
            </a:r>
            <a:endParaRPr lang="en-US" sz="1800" dirty="0"/>
          </a:p>
        </p:txBody>
      </p:sp>
      <p:sp>
        <p:nvSpPr>
          <p:cNvPr id="16" name="Precauciones"/>
          <p:cNvSpPr/>
          <p:nvPr/>
        </p:nvSpPr>
        <p:spPr>
          <a:xfrm>
            <a:off x="8188757" y="1554480"/>
            <a:ext cx="3454298" cy="448056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17" name="Icono precauciones"/>
          <p:cNvSpPr/>
          <p:nvPr/>
        </p:nvSpPr>
        <p:spPr>
          <a:xfrm>
            <a:off x="8463077" y="182880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3" descr="Icono precaucio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669" y="1993392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86037" y="1984248"/>
            <a:ext cx="2174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Precauciones</a:t>
            </a:r>
            <a:endParaRPr lang="en-US" sz="18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548640" y="4114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822960" y="2697480"/>
            <a:ext cx="29056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3" name="Text 0"/>
          <p:cNvSpPr/>
          <p:nvPr>
            <p:ph idx="102" type="body" hasCustomPrompt="1"/>
          </p:nvPr>
        </p:nvSpPr>
        <p:spPr>
          <a:xfrm>
            <a:off x="4643018" y="2240280"/>
            <a:ext cx="2905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4" name="Text 0"/>
          <p:cNvSpPr/>
          <p:nvPr>
            <p:ph idx="103" type="body" hasCustomPrompt="1"/>
          </p:nvPr>
        </p:nvSpPr>
        <p:spPr>
          <a:xfrm>
            <a:off x="4643018" y="4663440"/>
            <a:ext cx="2905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Text 0"/>
          <p:cNvSpPr/>
          <p:nvPr>
            <p:ph idx="104" type="body" hasCustomPrompt="1"/>
          </p:nvPr>
        </p:nvSpPr>
        <p:spPr>
          <a:xfrm>
            <a:off x="8463077" y="2697480"/>
            <a:ext cx="29056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idad, ofimática e IA">
  <a:themeElements>
    <a:clrScheme name="Creatividad, ofimática e IA">
      <a:dk1>
        <a:srgbClr val="1F2A44"/>
      </a:dk1>
      <a:lt1>
        <a:srgbClr val="FFFFFF"/>
      </a:lt1>
      <a:dk2>
        <a:srgbClr val="3A4664"/>
      </a:dk2>
      <a:lt2>
        <a:srgbClr val="F2F4F8"/>
      </a:lt2>
      <a:accent1>
        <a:srgbClr val="F4A300"/>
      </a:accent1>
      <a:accent2>
        <a:srgbClr val="0F7C70"/>
      </a:accent2>
      <a:accent3>
        <a:srgbClr val="D64933"/>
      </a:accent3>
      <a:accent4>
        <a:srgbClr val="6C5CE7"/>
      </a:accent4>
      <a:accent5>
        <a:srgbClr val="8A94A6"/>
      </a:accent5>
      <a:accent6>
        <a:srgbClr val="2D6A4F"/>
      </a:accent6>
      <a:hlink>
        <a:srgbClr val="0F7C70"/>
      </a:hlink>
      <a:folHlink>
        <a:srgbClr val="6C5CE7"/>
      </a:folHlink>
    </a:clrScheme>
    <a:fontScheme name="Creatividad, ofimática e 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proyecto</dc:title>
  <dc:subject>Desarrollo de las habilidades creativas e innovadoras con herramientas ofimáticas y de inteligencia artificial</dc:subject>
  <dc:creator>PptxGenJS</dc:creator>
  <cp:lastModifiedBy>PptxGenJS</cp:lastModifiedBy>
  <cp:revision>1</cp:revision>
  <dcterms:created xsi:type="dcterms:W3CDTF">2026-10-19T07:26:24Z</dcterms:created>
  <dcterms:modified xsi:type="dcterms:W3CDTF">2026-10-19T07:26:24Z</dcterms:modified>
</cp:coreProperties>
</file>