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erva 2" id="{d87a46ef-3fad-c2f9-2ed4-1b57d82a0f9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 de reserva: solo si sobra tiempo al final. Recorre entero, de forma continua y rápida, el proceso del curso sobre un caso nuevo y por parejas.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que no hay nada nuevo: es el mismo proceso del curso, en rápido. Llevar el tiempo de forma estricta.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Minutos 0–3. Leer el caso. El docente hace de gerente y responde a tres o cuatro preguntas del grupo. Respuestas preparadas: canales, teléfono, correo, WhatsApp y algunas en persona; qué preguntan más, fechas de inicio, precios, requisitos de acceso y si quedan plazas; quién las responde, quien esté libre, no hay nadie asignado; dónde están los datos, en varias hojas de Excel, en el correo y en una libreta de recepción; herramientas, paquete ofimático con correo, hojas de cálculo compartidas y un móvil de empresa; presupuesto, muy pequeño. Si preguntan algo no previsto, responder con coherencia o decir «no lo sabemos».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minutos, por parejas y sin IA. Que apunten las ideas: las pegarán en el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minutos. El prompt está en el guion para copiarlo. Primero las personas, después la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minutos. Sin matriz todavía: solo quedarse con tres.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La misma matriz del bloque 3. La ganadora no tiene por qué ser la de mayor puntuación, pero si no lo es hay que explicar por 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minutos. La IA puede ayudar a redactar, pero la ficha la revisa la pareja. El indicador, igual que en el bloque 4: qué se mediría y cómo, no lo que se conseguirá.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Ocho minutos: con ocho parejas, un minuto de defensa y la pregunta. Qué buscar al corregir:
- Las preguntas a la gerencia buscan entender el problema, no confirmar una solución que ya traían pensada.
- La propuesta respeta las restricciones: bajo coste y sin contratar a nadie.
- La elección se justifica con la matriz, no solo con «nos gusta».
- El indicador es medible y no viene acompañado de resultados inventados.
- La pareja distingue qué parte de la idea es suya y qué aportó la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76809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9476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108960" y="2103120"/>
            <a:ext cx="85039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108960" y="3749040"/>
            <a:ext cx="85039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Ejercicio de reserva 2 · Oficina Futuro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CA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097280" y="1554480"/>
            <a:ext cx="996696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Ejercicio de reserva 2 · Oficina Futuro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4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3108960" y="210312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Oficina Futuro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3108960" y="37490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Ejercicio de reserva 2 · 30 minutos · técnica: scamper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Todo el proceso, en 30 minutos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Lo mismo que hemos hecho durante el curso, pero seguido y rápido:</a:t>
            </a:r>
            <a:endParaRPr lang="en-US" sz="1900" dirty="0"/>
          </a:p>
        </p:txBody>
      </p:sp>
      <p:sp>
        <p:nvSpPr>
          <p:cNvPr id="4" name="Tarjeta"/>
          <p:cNvSpPr/>
          <p:nvPr/>
        </p:nvSpPr>
        <p:spPr>
          <a:xfrm>
            <a:off x="548640" y="2011680"/>
            <a:ext cx="1962851" cy="274320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5" name="1. Generar ideas"/>
          <p:cNvSpPr/>
          <p:nvPr/>
        </p:nvSpPr>
        <p:spPr>
          <a:xfrm>
            <a:off x="1027146" y="22860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1. Generar ide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547" y="252740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474720"/>
            <a:ext cx="16885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Generar ideas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160520"/>
            <a:ext cx="16885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Min. 3–10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48067" y="3383280"/>
            <a:ext cx="246888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0" name="Tarjeta"/>
          <p:cNvSpPr/>
          <p:nvPr/>
        </p:nvSpPr>
        <p:spPr>
          <a:xfrm>
            <a:off x="2831531" y="2011680"/>
            <a:ext cx="1962851" cy="274320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11" name="2. Seleccionar"/>
          <p:cNvSpPr/>
          <p:nvPr/>
        </p:nvSpPr>
        <p:spPr>
          <a:xfrm>
            <a:off x="3310037" y="22860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2. Seleccion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438" y="2527402"/>
            <a:ext cx="523037" cy="5230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68691" y="3474720"/>
            <a:ext cx="16885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Seleccionar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968691" y="4160520"/>
            <a:ext cx="16885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Min. 10–12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830958" y="3383280"/>
            <a:ext cx="246888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16" name="Tarjeta"/>
          <p:cNvSpPr/>
          <p:nvPr/>
        </p:nvSpPr>
        <p:spPr>
          <a:xfrm>
            <a:off x="5114422" y="2011680"/>
            <a:ext cx="1962851" cy="274320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17" name="3. Comparar y elegir"/>
          <p:cNvSpPr/>
          <p:nvPr/>
        </p:nvSpPr>
        <p:spPr>
          <a:xfrm>
            <a:off x="5592928" y="22860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3. Comparar y eleg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2527402"/>
            <a:ext cx="523037" cy="52303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51582" y="3474720"/>
            <a:ext cx="16885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Comparar y elegir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251582" y="4160520"/>
            <a:ext cx="16885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Min. 12–17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113849" y="3383280"/>
            <a:ext cx="246888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22" name="Tarjeta"/>
          <p:cNvSpPr/>
          <p:nvPr/>
        </p:nvSpPr>
        <p:spPr>
          <a:xfrm>
            <a:off x="7397313" y="2011680"/>
            <a:ext cx="1962851" cy="274320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23" name="4. Documentar"/>
          <p:cNvSpPr/>
          <p:nvPr/>
        </p:nvSpPr>
        <p:spPr>
          <a:xfrm>
            <a:off x="7875819" y="22860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4. Document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220" y="2527402"/>
            <a:ext cx="523037" cy="52303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34473" y="3474720"/>
            <a:ext cx="16885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4. Documentar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534473" y="4160520"/>
            <a:ext cx="16885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Min. 17–22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9396740" y="3383280"/>
            <a:ext cx="246888" cy="0"/>
          </a:xfrm>
          <a:prstGeom prst="line">
            <a:avLst/>
          </a:prstGeom>
          <a:noFill/>
          <a:ln w="31750">
            <a:solidFill>
              <a:srgbClr val="3A4664"/>
            </a:solidFill>
            <a:prstDash val="solid"/>
            <a:tailEnd type="triangle"/>
          </a:ln>
        </p:spPr>
      </p:sp>
      <p:sp>
        <p:nvSpPr>
          <p:cNvPr id="28" name="Tarjeta"/>
          <p:cNvSpPr/>
          <p:nvPr/>
        </p:nvSpPr>
        <p:spPr>
          <a:xfrm>
            <a:off x="9680204" y="2011680"/>
            <a:ext cx="1962851" cy="274320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29" name="5. Defender"/>
          <p:cNvSpPr/>
          <p:nvPr/>
        </p:nvSpPr>
        <p:spPr>
          <a:xfrm>
            <a:off x="10158710" y="228600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4" descr="5. Defend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0111" y="2527402"/>
            <a:ext cx="523037" cy="52303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17364" y="3474720"/>
            <a:ext cx="16885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5. Defender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817364" y="4160520"/>
            <a:ext cx="16885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Min. 22–30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1206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Técnica de este ejercicio: SCAMPER.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caso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8662111" y="548640"/>
            <a:ext cx="2980944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62111" y="54864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0–3 · Todo el grupo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Oficina Futuro: empresa ficticia de servicios formativos, con ocho trabajadores. Las cifras son supuestos didácticos.</a:t>
            </a:r>
            <a:endParaRPr lang="en-US" sz="1900" dirty="0"/>
          </a:p>
        </p:txBody>
      </p:sp>
      <p:sp>
        <p:nvSpPr>
          <p:cNvPr id="6" name="Tarjeta"/>
          <p:cNvSpPr/>
          <p:nvPr/>
        </p:nvSpPr>
        <p:spPr>
          <a:xfrm>
            <a:off x="548640" y="2103120"/>
            <a:ext cx="3484778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7" name="Dato"/>
          <p:cNvSpPr/>
          <p:nvPr/>
        </p:nvSpPr>
        <p:spPr>
          <a:xfrm>
            <a:off x="822960" y="23317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Da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496312"/>
            <a:ext cx="356616" cy="3566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10896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Unas 40 consultas diarias por teléfono, correo, WhatsApp y en persona.</a:t>
            </a:r>
            <a:endParaRPr lang="en-US" sz="1600" dirty="0"/>
          </a:p>
        </p:txBody>
      </p:sp>
      <p:sp>
        <p:nvSpPr>
          <p:cNvPr id="10" name="Tarjeta"/>
          <p:cNvSpPr/>
          <p:nvPr/>
        </p:nvSpPr>
        <p:spPr>
          <a:xfrm>
            <a:off x="4353458" y="2103120"/>
            <a:ext cx="3484778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1" name="Dato"/>
          <p:cNvSpPr/>
          <p:nvPr/>
        </p:nvSpPr>
        <p:spPr>
          <a:xfrm>
            <a:off x="4627778" y="23317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Da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370" y="249631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27778" y="310896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Mucho tiempo respondiendo preguntas repetidas; nadie tiene asignada esa tarea.</a:t>
            </a:r>
            <a:endParaRPr lang="en-US" sz="1600" dirty="0"/>
          </a:p>
        </p:txBody>
      </p:sp>
      <p:sp>
        <p:nvSpPr>
          <p:cNvPr id="14" name="Tarjeta"/>
          <p:cNvSpPr/>
          <p:nvPr/>
        </p:nvSpPr>
        <p:spPr>
          <a:xfrm>
            <a:off x="8158277" y="2103120"/>
            <a:ext cx="3484778" cy="19202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5" name="Dato"/>
          <p:cNvSpPr/>
          <p:nvPr/>
        </p:nvSpPr>
        <p:spPr>
          <a:xfrm>
            <a:off x="8432597" y="23317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2" descr="Da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189" y="24963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2597" y="310896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Datos de clientes dispersos en varios archivos y errores al pasarlos de un documento a otro.</a:t>
            </a:r>
            <a:endParaRPr lang="en-US" sz="1600" dirty="0"/>
          </a:p>
        </p:txBody>
      </p:sp>
      <p:sp>
        <p:nvSpPr>
          <p:cNvPr id="18" name="Mensaje"/>
          <p:cNvSpPr/>
          <p:nvPr/>
        </p:nvSpPr>
        <p:spPr>
          <a:xfrm>
            <a:off x="548640" y="4251960"/>
            <a:ext cx="11094415" cy="6858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68680" y="425196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Encargo: una mejora de bajo coste, sin contratar personal.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206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Antes de proponer nada: tres o cuatro preguntas a la gerencia para entender el problema.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Fase 1: ideas con SCAMPER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398203" y="548640"/>
            <a:ext cx="2244852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398203" y="548640"/>
            <a:ext cx="22448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3–7 · Sin IA</a:t>
            </a:r>
            <a:endParaRPr lang="en-US" sz="1400" dirty="0"/>
          </a:p>
        </p:txBody>
      </p:sp>
      <p:sp>
        <p:nvSpPr>
          <p:cNvPr id="5" name="Instrucción"/>
          <p:cNvSpPr/>
          <p:nvPr/>
        </p:nvSpPr>
        <p:spPr>
          <a:xfrm>
            <a:off x="548640" y="15087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Instruc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6952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417320"/>
            <a:ext cx="10088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Por parejas, SCAMPER sobre cómo se atiende hoy una consulta.</a:t>
            </a:r>
            <a:endParaRPr lang="en-US" sz="2000" dirty="0"/>
          </a:p>
        </p:txBody>
      </p:sp>
      <p:sp>
        <p:nvSpPr>
          <p:cNvPr id="8" name="Instrucción"/>
          <p:cNvSpPr/>
          <p:nvPr/>
        </p:nvSpPr>
        <p:spPr>
          <a:xfrm>
            <a:off x="548640" y="26517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Instrucc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283829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560320"/>
            <a:ext cx="10088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Al menos una idea en cuatro de las siete letras: sustituir, combinar, adaptar, modificar, proponer otros usos, eliminar, reorganizar.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886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Nuestras ideas:</a:t>
            </a:r>
            <a:endParaRPr lang="en-US" sz="1800" dirty="0"/>
          </a:p>
        </p:txBody>
      </p:sp>
      <p:sp>
        <p:nvSpPr>
          <p:cNvPr id="12" name="Hueco"/>
          <p:cNvSpPr/>
          <p:nvPr/>
        </p:nvSpPr>
        <p:spPr>
          <a:xfrm>
            <a:off x="548640" y="4343400"/>
            <a:ext cx="11094415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3" name="Fase 1"/>
          <p:cNvSpPr/>
          <p:nvPr/>
        </p:nvSpPr>
        <p:spPr>
          <a:xfrm>
            <a:off x="548640" y="57790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Fase 2"/>
          <p:cNvSpPr/>
          <p:nvPr/>
        </p:nvSpPr>
        <p:spPr>
          <a:xfrm>
            <a:off x="841248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5" name="Fase 3"/>
          <p:cNvSpPr/>
          <p:nvPr/>
        </p:nvSpPr>
        <p:spPr>
          <a:xfrm>
            <a:off x="1133856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6" name="Fase 4"/>
          <p:cNvSpPr/>
          <p:nvPr/>
        </p:nvSpPr>
        <p:spPr>
          <a:xfrm>
            <a:off x="1426464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7" name="Fase 5"/>
          <p:cNvSpPr/>
          <p:nvPr/>
        </p:nvSpPr>
        <p:spPr>
          <a:xfrm>
            <a:off x="1719072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214884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1. Generar ideas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Fase 1: más ideas con la IA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293047" y="548640"/>
            <a:ext cx="2350008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293047" y="54864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Min. 7–10 · Con IA</a:t>
            </a:r>
            <a:endParaRPr lang="en-US" sz="1400" dirty="0"/>
          </a:p>
        </p:txBody>
      </p:sp>
      <p:sp>
        <p:nvSpPr>
          <p:cNvPr id="5" name="Prompt"/>
          <p:cNvSpPr/>
          <p:nvPr/>
        </p:nvSpPr>
        <p:spPr>
          <a:xfrm>
            <a:off x="548640" y="1417320"/>
            <a:ext cx="11094415" cy="256032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Actúa como especialista en mejora de procesos de pequeñas empresas.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Proceso actual: en Oficina Futuro, ocho trabajadores responden unas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consultas diarias que llegan por teléfono, correo, WhatsApp y en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persona; nadie tiene asignada esa tarea y los datos de los clientes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están dispersos en varios archivos.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 tenemos estas ideas: </a:t>
            </a:r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ideas de la pareja, con su letra</a:t>
            </a:r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 SCAMPER y propón una idea nueva por cada letra que no repita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nuestras. Bajo coste, sin contratar personal y que pueda probarse</a:t>
            </a:r>
            <a:endParaRPr lang="en-US" sz="17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 mes. No inventes cifras de ahorro.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Leed lo que propone la IA y añadid a vuestra lista lo que valga la pena.</a:t>
            </a:r>
            <a:endParaRPr lang="en-US" sz="1800" dirty="0"/>
          </a:p>
        </p:txBody>
      </p:sp>
      <p:sp>
        <p:nvSpPr>
          <p:cNvPr id="8" name="Fase 1"/>
          <p:cNvSpPr/>
          <p:nvPr/>
        </p:nvSpPr>
        <p:spPr>
          <a:xfrm>
            <a:off x="548640" y="57790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Fase 2"/>
          <p:cNvSpPr/>
          <p:nvPr/>
        </p:nvSpPr>
        <p:spPr>
          <a:xfrm>
            <a:off x="841248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0" name="Fase 3"/>
          <p:cNvSpPr/>
          <p:nvPr/>
        </p:nvSpPr>
        <p:spPr>
          <a:xfrm>
            <a:off x="1133856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1" name="Fase 4"/>
          <p:cNvSpPr/>
          <p:nvPr/>
        </p:nvSpPr>
        <p:spPr>
          <a:xfrm>
            <a:off x="1426464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2" name="Fase 5"/>
          <p:cNvSpPr/>
          <p:nvPr/>
        </p:nvSpPr>
        <p:spPr>
          <a:xfrm>
            <a:off x="1719072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4884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1. Generar ideas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Fase 2: quedaos con tres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082735" y="548640"/>
            <a:ext cx="25603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082735" y="548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10–12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De todas vuestras ideas y las de la IA, las tres que más os interesan:</a:t>
            </a:r>
            <a:endParaRPr lang="en-US" sz="1900" dirty="0"/>
          </a:p>
        </p:txBody>
      </p:sp>
      <p:sp>
        <p:nvSpPr>
          <p:cNvPr id="6" name="Propuesta 1"/>
          <p:cNvSpPr/>
          <p:nvPr/>
        </p:nvSpPr>
        <p:spPr>
          <a:xfrm>
            <a:off x="548640" y="21671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67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</a:t>
            </a:r>
            <a:endParaRPr lang="en-US" sz="2400" dirty="0"/>
          </a:p>
        </p:txBody>
      </p:sp>
      <p:sp>
        <p:nvSpPr>
          <p:cNvPr id="8" name="Hueco"/>
          <p:cNvSpPr/>
          <p:nvPr/>
        </p:nvSpPr>
        <p:spPr>
          <a:xfrm>
            <a:off x="1463040" y="1965960"/>
            <a:ext cx="10180015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9" name="Propuesta 2"/>
          <p:cNvSpPr/>
          <p:nvPr/>
        </p:nvSpPr>
        <p:spPr>
          <a:xfrm>
            <a:off x="548640" y="33558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355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</a:t>
            </a:r>
            <a:endParaRPr lang="en-US" sz="2400" dirty="0"/>
          </a:p>
        </p:txBody>
      </p:sp>
      <p:sp>
        <p:nvSpPr>
          <p:cNvPr id="11" name="Hueco"/>
          <p:cNvSpPr/>
          <p:nvPr/>
        </p:nvSpPr>
        <p:spPr>
          <a:xfrm>
            <a:off x="1463040" y="3154680"/>
            <a:ext cx="10180015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2" name="Propuesta 3"/>
          <p:cNvSpPr/>
          <p:nvPr/>
        </p:nvSpPr>
        <p:spPr>
          <a:xfrm>
            <a:off x="548640" y="454456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44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</a:t>
            </a:r>
            <a:endParaRPr lang="en-US" sz="2400" dirty="0"/>
          </a:p>
        </p:txBody>
      </p:sp>
      <p:sp>
        <p:nvSpPr>
          <p:cNvPr id="14" name="Hueco"/>
          <p:cNvSpPr/>
          <p:nvPr/>
        </p:nvSpPr>
        <p:spPr>
          <a:xfrm>
            <a:off x="1463040" y="4343400"/>
            <a:ext cx="10180015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5" name="Fase 1"/>
          <p:cNvSpPr/>
          <p:nvPr/>
        </p:nvSpPr>
        <p:spPr>
          <a:xfrm>
            <a:off x="548640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6" name="Fase 2"/>
          <p:cNvSpPr/>
          <p:nvPr/>
        </p:nvSpPr>
        <p:spPr>
          <a:xfrm>
            <a:off x="841248" y="57790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Fase 3"/>
          <p:cNvSpPr/>
          <p:nvPr/>
        </p:nvSpPr>
        <p:spPr>
          <a:xfrm>
            <a:off x="1133856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8" name="Fase 4"/>
          <p:cNvSpPr/>
          <p:nvPr/>
        </p:nvSpPr>
        <p:spPr>
          <a:xfrm>
            <a:off x="1426464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9" name="Fase 5"/>
          <p:cNvSpPr/>
          <p:nvPr/>
        </p:nvSpPr>
        <p:spPr>
          <a:xfrm>
            <a:off x="1719072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14884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2. Seleccionar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Fase 3: comparad y elegid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082735" y="548640"/>
            <a:ext cx="25603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082735" y="548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12–17 · Parejas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33295"/>
                <a:gridCol w="1737360"/>
                <a:gridCol w="1737360"/>
                <a:gridCol w="1737360"/>
                <a:gridCol w="1737360"/>
                <a:gridCol w="210312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Propuesta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Impacto</a:t>
                      </a:r>
                      <a:endParaRPr lang="en-US" sz="1700" dirty="0"/>
                    </a:p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35 %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Viabilidad</a:t>
                      </a:r>
                      <a:endParaRPr lang="en-US" sz="1700" dirty="0"/>
                    </a:p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30 %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Bajo coste</a:t>
                      </a:r>
                      <a:endParaRPr lang="en-US" sz="1700" dirty="0"/>
                    </a:p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20 %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Originalidad</a:t>
                      </a:r>
                      <a:endParaRPr lang="en-US" sz="1700" dirty="0"/>
                    </a:p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15 %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Resultado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7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A94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40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Puntuad del 1 al 5 (en «Bajo coste», 5 = muy económica), con la calculadora o en Excel.</a:t>
            </a:r>
            <a:endParaRPr lang="en-US" sz="1600" dirty="0"/>
          </a:p>
        </p:txBody>
      </p:sp>
      <p:sp>
        <p:nvSpPr>
          <p:cNvPr id="7" name="Tarjeta"/>
          <p:cNvSpPr/>
          <p:nvPr/>
        </p:nvSpPr>
        <p:spPr>
          <a:xfrm>
            <a:off x="548640" y="4389120"/>
            <a:ext cx="11094415" cy="109728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8" name="Decisión"/>
          <p:cNvSpPr/>
          <p:nvPr/>
        </p:nvSpPr>
        <p:spPr>
          <a:xfrm>
            <a:off x="822960" y="4590288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Decis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754880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37360" y="4389120"/>
            <a:ext cx="96313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Elegimos _______________ porque _______________________________</a:t>
            </a:r>
            <a:endParaRPr lang="en-US" sz="2100" dirty="0"/>
          </a:p>
        </p:txBody>
      </p:sp>
      <p:sp>
        <p:nvSpPr>
          <p:cNvPr id="11" name="Fase 1"/>
          <p:cNvSpPr/>
          <p:nvPr/>
        </p:nvSpPr>
        <p:spPr>
          <a:xfrm>
            <a:off x="548640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2" name="Fase 2"/>
          <p:cNvSpPr/>
          <p:nvPr/>
        </p:nvSpPr>
        <p:spPr>
          <a:xfrm>
            <a:off x="841248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3" name="Fase 3"/>
          <p:cNvSpPr/>
          <p:nvPr/>
        </p:nvSpPr>
        <p:spPr>
          <a:xfrm>
            <a:off x="1133856" y="57790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Fase 4"/>
          <p:cNvSpPr/>
          <p:nvPr/>
        </p:nvSpPr>
        <p:spPr>
          <a:xfrm>
            <a:off x="1426464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5" name="Fase 5"/>
          <p:cNvSpPr/>
          <p:nvPr/>
        </p:nvSpPr>
        <p:spPr>
          <a:xfrm>
            <a:off x="1719072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14884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3. Comparar y elegir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Fase 4: la ficha, en cinco líneas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082735" y="548640"/>
            <a:ext cx="25603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082735" y="548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17–22 · Parejas</a:t>
            </a:r>
            <a:endParaRPr lang="en-US" sz="1400" dirty="0"/>
          </a:p>
        </p:txBody>
      </p:sp>
      <p:sp>
        <p:nvSpPr>
          <p:cNvPr id="5" name="Problema"/>
          <p:cNvSpPr/>
          <p:nvPr/>
        </p:nvSpPr>
        <p:spPr>
          <a:xfrm>
            <a:off x="548640" y="1417320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Problema</a:t>
            </a:r>
            <a:endParaRPr lang="en-US" sz="1700" dirty="0"/>
          </a:p>
        </p:txBody>
      </p:sp>
      <p:sp>
        <p:nvSpPr>
          <p:cNvPr id="7" name="Hueco"/>
          <p:cNvSpPr/>
          <p:nvPr/>
        </p:nvSpPr>
        <p:spPr>
          <a:xfrm>
            <a:off x="4023360" y="1417320"/>
            <a:ext cx="7619695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8" name="Solución"/>
          <p:cNvSpPr/>
          <p:nvPr/>
        </p:nvSpPr>
        <p:spPr>
          <a:xfrm>
            <a:off x="548640" y="2221992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22199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Solución</a:t>
            </a:r>
            <a:endParaRPr lang="en-US" sz="1700" dirty="0"/>
          </a:p>
        </p:txBody>
      </p:sp>
      <p:sp>
        <p:nvSpPr>
          <p:cNvPr id="10" name="Hueco"/>
          <p:cNvSpPr/>
          <p:nvPr/>
        </p:nvSpPr>
        <p:spPr>
          <a:xfrm>
            <a:off x="4023360" y="2221992"/>
            <a:ext cx="7619695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1" name="Qué necesitamos"/>
          <p:cNvSpPr/>
          <p:nvPr/>
        </p:nvSpPr>
        <p:spPr>
          <a:xfrm>
            <a:off x="548640" y="3026664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tx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0266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Qué necesitamos</a:t>
            </a:r>
            <a:endParaRPr lang="en-US" sz="1700" dirty="0"/>
          </a:p>
        </p:txBody>
      </p:sp>
      <p:sp>
        <p:nvSpPr>
          <p:cNvPr id="13" name="Hueco"/>
          <p:cNvSpPr/>
          <p:nvPr/>
        </p:nvSpPr>
        <p:spPr>
          <a:xfrm>
            <a:off x="4023360" y="3026664"/>
            <a:ext cx="7619695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4" name="Principal riesgo"/>
          <p:cNvSpPr/>
          <p:nvPr/>
        </p:nvSpPr>
        <p:spPr>
          <a:xfrm>
            <a:off x="548640" y="3831336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8313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Principal riesgo</a:t>
            </a:r>
            <a:endParaRPr lang="en-US" sz="1700" dirty="0"/>
          </a:p>
        </p:txBody>
      </p:sp>
      <p:sp>
        <p:nvSpPr>
          <p:cNvPr id="16" name="Hueco"/>
          <p:cNvSpPr/>
          <p:nvPr/>
        </p:nvSpPr>
        <p:spPr>
          <a:xfrm>
            <a:off x="4023360" y="3831336"/>
            <a:ext cx="7619695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17" name="Cómo sabremos si funciona"/>
          <p:cNvSpPr/>
          <p:nvPr/>
        </p:nvSpPr>
        <p:spPr>
          <a:xfrm>
            <a:off x="548640" y="4636008"/>
            <a:ext cx="3291840" cy="658368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63600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Cómo sabremos si funciona</a:t>
            </a:r>
            <a:endParaRPr lang="en-US" sz="1700" dirty="0"/>
          </a:p>
        </p:txBody>
      </p:sp>
      <p:sp>
        <p:nvSpPr>
          <p:cNvPr id="19" name="Hueco"/>
          <p:cNvSpPr/>
          <p:nvPr/>
        </p:nvSpPr>
        <p:spPr>
          <a:xfrm>
            <a:off x="4023360" y="4636008"/>
            <a:ext cx="7619695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rgbClr val="8A94A6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En «Cómo sabremos si funciona»: qué mediríais y cómo, antes y después de una prueba. Sin inventar resultados.</a:t>
            </a:r>
            <a:endParaRPr lang="en-US" sz="1500" dirty="0"/>
          </a:p>
        </p:txBody>
      </p:sp>
      <p:sp>
        <p:nvSpPr>
          <p:cNvPr id="21" name="Fase 1"/>
          <p:cNvSpPr/>
          <p:nvPr/>
        </p:nvSpPr>
        <p:spPr>
          <a:xfrm>
            <a:off x="548640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2" name="Fase 2"/>
          <p:cNvSpPr/>
          <p:nvPr/>
        </p:nvSpPr>
        <p:spPr>
          <a:xfrm>
            <a:off x="841248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3" name="Fase 3"/>
          <p:cNvSpPr/>
          <p:nvPr/>
        </p:nvSpPr>
        <p:spPr>
          <a:xfrm>
            <a:off x="1133856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4" name="Fase 4"/>
          <p:cNvSpPr/>
          <p:nvPr/>
        </p:nvSpPr>
        <p:spPr>
          <a:xfrm>
            <a:off x="1426464" y="57790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Fase 5"/>
          <p:cNvSpPr/>
          <p:nvPr/>
        </p:nvSpPr>
        <p:spPr>
          <a:xfrm>
            <a:off x="1719072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14884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4. Documentar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Fase 5: ante la gerencia</a:t>
            </a:r>
            <a:endParaRPr lang="en-US" sz="3200" dirty="0"/>
          </a:p>
        </p:txBody>
      </p:sp>
      <p:sp>
        <p:nvSpPr>
          <p:cNvPr id="3" name="Etiqueta de tiempo"/>
          <p:cNvSpPr/>
          <p:nvPr/>
        </p:nvSpPr>
        <p:spPr>
          <a:xfrm>
            <a:off x="9082735" y="548640"/>
            <a:ext cx="256032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082735" y="548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Min. 22–30 · Parejas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Un minuto por pareja, con la estructura de la defensa:</a:t>
            </a:r>
            <a:endParaRPr lang="en-US" sz="1900" dirty="0"/>
          </a:p>
        </p:txBody>
      </p:sp>
      <p:sp>
        <p:nvSpPr>
          <p:cNvPr id="6" name="Problema"/>
          <p:cNvSpPr/>
          <p:nvPr/>
        </p:nvSpPr>
        <p:spPr>
          <a:xfrm>
            <a:off x="585216" y="1965960"/>
            <a:ext cx="2145731" cy="109728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1965960"/>
            <a:ext cx="11216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Problema</a:t>
            </a:r>
            <a:endParaRPr lang="en-US" sz="1400" dirty="0"/>
          </a:p>
        </p:txBody>
      </p:sp>
      <p:sp>
        <p:nvSpPr>
          <p:cNvPr id="8" name="Por qué importa"/>
          <p:cNvSpPr/>
          <p:nvPr/>
        </p:nvSpPr>
        <p:spPr>
          <a:xfrm>
            <a:off x="2804099" y="1965960"/>
            <a:ext cx="2145731" cy="109728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16163" y="1965960"/>
            <a:ext cx="11216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Por qué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importa</a:t>
            </a:r>
            <a:endParaRPr lang="en-US" sz="1400" dirty="0"/>
          </a:p>
        </p:txBody>
      </p:sp>
      <p:sp>
        <p:nvSpPr>
          <p:cNvPr id="10" name="Qué proponemos"/>
          <p:cNvSpPr/>
          <p:nvPr/>
        </p:nvSpPr>
        <p:spPr>
          <a:xfrm>
            <a:off x="5022982" y="1965960"/>
            <a:ext cx="2145731" cy="109728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35046" y="1965960"/>
            <a:ext cx="11216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proponemos</a:t>
            </a:r>
            <a:endParaRPr lang="en-US" sz="1400" dirty="0"/>
          </a:p>
        </p:txBody>
      </p:sp>
      <p:sp>
        <p:nvSpPr>
          <p:cNvPr id="12" name="Cómo lo haríamos"/>
          <p:cNvSpPr/>
          <p:nvPr/>
        </p:nvSpPr>
        <p:spPr>
          <a:xfrm>
            <a:off x="7241865" y="1965960"/>
            <a:ext cx="2145731" cy="1097280"/>
          </a:xfrm>
          <a:prstGeom prst="chevron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53929" y="1965960"/>
            <a:ext cx="11216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Cómo lo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haríamos</a:t>
            </a:r>
            <a:endParaRPr lang="en-US" sz="1400" dirty="0"/>
          </a:p>
        </p:txBody>
      </p:sp>
      <p:sp>
        <p:nvSpPr>
          <p:cNvPr id="14" name="Cómo lo mediríamos"/>
          <p:cNvSpPr/>
          <p:nvPr/>
        </p:nvSpPr>
        <p:spPr>
          <a:xfrm>
            <a:off x="9460748" y="1965960"/>
            <a:ext cx="2145731" cy="1097280"/>
          </a:xfrm>
          <a:prstGeom prst="chevron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972812" y="1965960"/>
            <a:ext cx="11216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Cómo lo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mediríamos</a:t>
            </a:r>
            <a:endParaRPr lang="en-US" sz="1400" dirty="0"/>
          </a:p>
        </p:txBody>
      </p:sp>
      <p:sp>
        <p:nvSpPr>
          <p:cNvPr id="16" name="Tarjeta"/>
          <p:cNvSpPr/>
          <p:nvPr/>
        </p:nvSpPr>
        <p:spPr>
          <a:xfrm>
            <a:off x="548640" y="3429000"/>
            <a:ext cx="11094415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/>
        </p:spPr>
      </p:sp>
      <p:sp>
        <p:nvSpPr>
          <p:cNvPr id="17" name="Pregunta difícil"/>
          <p:cNvSpPr/>
          <p:nvPr/>
        </p:nvSpPr>
        <p:spPr>
          <a:xfrm>
            <a:off x="868680" y="370332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0" descr="Pregunta difíc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3922776"/>
            <a:ext cx="475488" cy="47548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2057400" y="3429000"/>
            <a:ext cx="9311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Después, una pregunta difícil.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El docente hace de la gerencia de Oficina Futuro.</a:t>
            </a:r>
            <a:endParaRPr lang="en-US" sz="2100" dirty="0"/>
          </a:p>
        </p:txBody>
      </p:sp>
      <p:sp>
        <p:nvSpPr>
          <p:cNvPr id="20" name="Fase 1"/>
          <p:cNvSpPr/>
          <p:nvPr/>
        </p:nvSpPr>
        <p:spPr>
          <a:xfrm>
            <a:off x="548640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1" name="Fase 2"/>
          <p:cNvSpPr/>
          <p:nvPr/>
        </p:nvSpPr>
        <p:spPr>
          <a:xfrm>
            <a:off x="841248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2" name="Fase 3"/>
          <p:cNvSpPr/>
          <p:nvPr/>
        </p:nvSpPr>
        <p:spPr>
          <a:xfrm>
            <a:off x="1133856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3" name="Fase 4"/>
          <p:cNvSpPr/>
          <p:nvPr/>
        </p:nvSpPr>
        <p:spPr>
          <a:xfrm>
            <a:off x="1426464" y="5779008"/>
            <a:ext cx="182880" cy="18288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24" name="Fase 5"/>
          <p:cNvSpPr/>
          <p:nvPr/>
        </p:nvSpPr>
        <p:spPr>
          <a:xfrm>
            <a:off x="1719072" y="57790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148840" y="5687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5. Defender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4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atividad, ofimática e IA">
  <a:themeElements>
    <a:clrScheme name="Creatividad, ofimática e IA">
      <a:dk1>
        <a:srgbClr val="1F2A44"/>
      </a:dk1>
      <a:lt1>
        <a:srgbClr val="FFFFFF"/>
      </a:lt1>
      <a:dk2>
        <a:srgbClr val="3A4664"/>
      </a:dk2>
      <a:lt2>
        <a:srgbClr val="F2F4F8"/>
      </a:lt2>
      <a:accent1>
        <a:srgbClr val="F4A300"/>
      </a:accent1>
      <a:accent2>
        <a:srgbClr val="0F7C70"/>
      </a:accent2>
      <a:accent3>
        <a:srgbClr val="D64933"/>
      </a:accent3>
      <a:accent4>
        <a:srgbClr val="6C5CE7"/>
      </a:accent4>
      <a:accent5>
        <a:srgbClr val="8A94A6"/>
      </a:accent5>
      <a:accent6>
        <a:srgbClr val="2D6A4F"/>
      </a:accent6>
      <a:hlink>
        <a:srgbClr val="0F7C70"/>
      </a:hlink>
      <a:folHlink>
        <a:srgbClr val="6C5CE7"/>
      </a:folHlink>
    </a:clrScheme>
    <a:fontScheme name="Creatividad, ofimática e I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Ejercicio de reserva 2. Oficina Futuro</dc:title>
  <dc:subject>Desarrollo de las habilidades creativas e innovadoras con herramientas ofimáticas y de inteligencia artificial</dc:subject>
  <dc:creator>PptxGenJS</dc:creator>
  <cp:lastModifiedBy>PptxGenJS</cp:lastModifiedBy>
  <cp:revision>1</cp:revision>
  <dcterms:created xsi:type="dcterms:W3CDTF">2026-10-18T20:33:00Z</dcterms:created>
  <dcterms:modified xsi:type="dcterms:W3CDTF">2026-10-18T20:33:00Z</dcterms:modified>
</cp:coreProperties>
</file>