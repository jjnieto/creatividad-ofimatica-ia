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erva 2" id="{d87a46ef-3fad-c2f9-2ed4-1b57d82a0f9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de reserva: solo si sobra tiempo al final. Recorre entero, de forma continua y rápida, el proceso del curso sobre un caso nuevo y por parejas.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Recordar que no hay nada nuevo: es el mismo proceso del curso, en rápido. Llevar el tiempo de forma estricta.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0–3. Leer el caso. El docente hace de gerente y responde a tres o cuatro preguntas del grupo. Respuestas preparadas: canales, teléfono, correo, WhatsApp y algunas en persona; qué preguntan más, fechas de inicio, precios, requisitos de acceso y si quedan plazas; quién las responde, quien esté libre, no hay nadie asignado; dónde están los datos, en varias hojas de Excel, en el correo y en una libreta de recepción; herramientas, paquete ofimático con correo, hojas de cálculo compartidas y un móvil de empresa; presupuesto, muy pequeño. Si preguntan algo no previsto, responder con coherencia o decir «no lo sabemos».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minutos, por parejas y sin IA. Que apunten las ideas: las pegarán en el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minutos. El prompt está en el guion para copiarlo. Primero las personas, después 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minutos. Sin matriz todavía: solo quedarse con 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La misma matriz del bloque 3. La ganadora no tiene por qué ser la de mayor puntuación, pero si no lo es hay que explicar por 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La IA puede ayudar a redactar, pero la ficha la revisa la pareja. El indicador, igual que en el bloque 4: qué se mediría y cómo, no lo que se conseguirá.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Ocho minutos: con ocho parejas, un minuto de defensa y la pregunta. Qué buscar al corregir:
- Las preguntas a la gerencia buscan entender el problema, no confirmar una solución que ya traían pensada.
- La propuesta respeta las restricciones: bajo coste y sin contratar a nadie.
- La elección se justifica con la matriz, no solo con «nos gusta».
- El indicador es medible y no viene acompañado de resultados inventados.
- La pareja distingue qué parte de la idea es suya y qué aportó 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Ejercicio de reserva 2 · Oficina Futuro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Ejercicio de reserva 2 · Oficina Futuro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</a:t>
            </a:r>
            <a:endParaRPr lang="en-US" sz="1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Oficina Futuro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Ejercicio de reserva 2 · 30 minutos · técnica: scamper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Todo el proceso, en 30 minutos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Lo mismo que hemos hecho durante el curso, pero seguido y rápido:</a:t>
            </a:r>
            <a:endParaRPr lang="en-US" sz="1900" dirty="0"/>
          </a:p>
        </p:txBody>
      </p:sp>
      <p:sp>
        <p:nvSpPr>
          <p:cNvPr id="4" name="Tarjeta"/>
          <p:cNvSpPr/>
          <p:nvPr/>
        </p:nvSpPr>
        <p:spPr>
          <a:xfrm>
            <a:off x="548640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5" name="1. Generar ideas"/>
          <p:cNvSpPr/>
          <p:nvPr/>
        </p:nvSpPr>
        <p:spPr>
          <a:xfrm>
            <a:off x="1027146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1. Generar ide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8547" y="2527402"/>
            <a:ext cx="523037" cy="5230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Generar ideas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3–10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48067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0" name="Tarjeta"/>
          <p:cNvSpPr/>
          <p:nvPr/>
        </p:nvSpPr>
        <p:spPr>
          <a:xfrm>
            <a:off x="2831531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1" name="2. Seleccionar"/>
          <p:cNvSpPr/>
          <p:nvPr/>
        </p:nvSpPr>
        <p:spPr>
          <a:xfrm>
            <a:off x="3310037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2. Seleccion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438" y="2527402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68691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Seleccionar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68691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10–12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830958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6" name="Tarjeta"/>
          <p:cNvSpPr/>
          <p:nvPr/>
        </p:nvSpPr>
        <p:spPr>
          <a:xfrm>
            <a:off x="5114422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7" name="3. Comparar y elegir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3. Comparar y eleg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2527402"/>
            <a:ext cx="523037" cy="52303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51582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Comparar y elegir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51582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12–17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113849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2" name="Tarjeta"/>
          <p:cNvSpPr/>
          <p:nvPr/>
        </p:nvSpPr>
        <p:spPr>
          <a:xfrm>
            <a:off x="7397313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3" name="4. Documentar"/>
          <p:cNvSpPr/>
          <p:nvPr/>
        </p:nvSpPr>
        <p:spPr>
          <a:xfrm>
            <a:off x="7875819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4. Documen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7220" y="2527402"/>
            <a:ext cx="523037" cy="52303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34473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Documentar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34473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17–22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9396740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8" name="Tarjeta"/>
          <p:cNvSpPr/>
          <p:nvPr/>
        </p:nvSpPr>
        <p:spPr>
          <a:xfrm>
            <a:off x="9680204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9" name="5. Defender"/>
          <p:cNvSpPr/>
          <p:nvPr/>
        </p:nvSpPr>
        <p:spPr>
          <a:xfrm>
            <a:off x="10158710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4" descr="5. Defen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0111" y="2527402"/>
            <a:ext cx="523037" cy="523037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817364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5. Defender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17364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22–30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1206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Técnica de este ejercicio: SCAMPER.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662111" y="548640"/>
            <a:ext cx="298094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62111" y="54864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0–3 · Todo el grupo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Oficina Futuro: empresa ficticia de servicios formativos, con ocho trabajadores. Las cifras son supuestos didácticos.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2103120"/>
            <a:ext cx="3484778" cy="19202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7" name="Dato"/>
          <p:cNvSpPr/>
          <p:nvPr/>
        </p:nvSpPr>
        <p:spPr>
          <a:xfrm>
            <a:off x="822960" y="23317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Image 0" descr="D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9631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1089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Unas 40 consultas diarias por teléfono, correo, WhatsApp y en persona.</a:t>
            </a:r>
            <a:endParaRPr lang="en-US" sz="1600" dirty="0"/>
          </a:p>
        </p:txBody>
      </p:sp>
      <p:sp>
        <p:nvSpPr>
          <p:cNvPr id="10" name="Tarjeta"/>
          <p:cNvSpPr/>
          <p:nvPr/>
        </p:nvSpPr>
        <p:spPr>
          <a:xfrm>
            <a:off x="4353458" y="2103120"/>
            <a:ext cx="3484778" cy="19202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1" name="Dato"/>
          <p:cNvSpPr/>
          <p:nvPr/>
        </p:nvSpPr>
        <p:spPr>
          <a:xfrm>
            <a:off x="4627778" y="23317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Da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370" y="24963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27778" y="31089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Mucho tiempo respondiendo preguntas repetidas; nadie tiene asignada esa tarea.</a:t>
            </a:r>
            <a:endParaRPr lang="en-US" sz="1600" dirty="0"/>
          </a:p>
        </p:txBody>
      </p:sp>
      <p:sp>
        <p:nvSpPr>
          <p:cNvPr id="14" name="Tarjeta"/>
          <p:cNvSpPr/>
          <p:nvPr/>
        </p:nvSpPr>
        <p:spPr>
          <a:xfrm>
            <a:off x="8158277" y="2103120"/>
            <a:ext cx="3484778" cy="19202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5" name="Dato"/>
          <p:cNvSpPr/>
          <p:nvPr/>
        </p:nvSpPr>
        <p:spPr>
          <a:xfrm>
            <a:off x="8432597" y="23317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mage 2" descr="Da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7189" y="2496312"/>
            <a:ext cx="356616" cy="35661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2597" y="31089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Datos de clientes dispersos en varios archivos y errores al pasarlos de un documento a otro.</a:t>
            </a:r>
            <a:endParaRPr lang="en-US" sz="1600" dirty="0"/>
          </a:p>
        </p:txBody>
      </p:sp>
      <p:sp>
        <p:nvSpPr>
          <p:cNvPr id="18" name="Mensaje"/>
          <p:cNvSpPr/>
          <p:nvPr/>
        </p:nvSpPr>
        <p:spPr>
          <a:xfrm>
            <a:off x="548640" y="4251960"/>
            <a:ext cx="11094415" cy="6858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68680" y="425196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Encargo: una mejora de bajo coste, sin contratar personal.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206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Antes de proponer nada: tres o cuatro preguntas a la gerencia para entender el problema.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1: ideas con SCAMPER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398203" y="548640"/>
            <a:ext cx="224485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98203" y="548640"/>
            <a:ext cx="22448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3–7 · Sin IA</a:t>
            </a:r>
            <a:endParaRPr lang="en-US" sz="1400" dirty="0"/>
          </a:p>
        </p:txBody>
      </p:sp>
      <p:sp>
        <p:nvSpPr>
          <p:cNvPr id="5" name="Instrucción"/>
          <p:cNvSpPr/>
          <p:nvPr/>
        </p:nvSpPr>
        <p:spPr>
          <a:xfrm>
            <a:off x="548640" y="15087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I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16952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417320"/>
            <a:ext cx="100885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Por parejas, SCAMPER sobre cómo se atiende hoy una consulta.</a:t>
            </a:r>
            <a:endParaRPr lang="en-US" sz="2000" dirty="0"/>
          </a:p>
        </p:txBody>
      </p:sp>
      <p:sp>
        <p:nvSpPr>
          <p:cNvPr id="8" name="Instrucción"/>
          <p:cNvSpPr/>
          <p:nvPr/>
        </p:nvSpPr>
        <p:spPr>
          <a:xfrm>
            <a:off x="548640" y="26517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Instruc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8" y="283829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560320"/>
            <a:ext cx="100885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Al menos una idea en cuatro de las siete letras: sustituir, combinar, adaptar, modificar, proponer otros usos, eliminar, reorganizar.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Nuestras ideas:</a:t>
            </a:r>
            <a:endParaRPr lang="en-US" sz="1800" dirty="0"/>
          </a:p>
        </p:txBody>
      </p:sp>
      <p:sp>
        <p:nvSpPr>
          <p:cNvPr id="12" name="Hueco"/>
          <p:cNvSpPr/>
          <p:nvPr/>
        </p:nvSpPr>
        <p:spPr>
          <a:xfrm>
            <a:off x="548640" y="4343400"/>
            <a:ext cx="11094415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3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5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6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7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1. Generar ideas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1: más ideas con la IA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293047" y="548640"/>
            <a:ext cx="2350008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293047" y="54864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7–10 · Con IA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417320"/>
            <a:ext cx="11094415" cy="256032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especialista en mejora de procesos de pequeñas empresas.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Proceso actual: en Oficina Futuro, ocho trabajadores responden unas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consultas diarias que llegan por teléfono, correo, WhatsApp y en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persona; nadie tiene asignada esa tarea y los datos de los clientes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están dispersos en varios archivos.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 tenemos estas ideas: 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ideas de la pareja, con su letra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 SCAMPER y propón una idea nueva por cada letra que no repita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nuestras. Bajo coste, sin contratar personal y que pueda probarse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un mes. No inventes cifras de ahorro.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605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Leed lo que propone la IA y añadid a vuestra lista lo que valga la pena.</a:t>
            </a:r>
            <a:endParaRPr lang="en-US" sz="1800" dirty="0"/>
          </a:p>
        </p:txBody>
      </p:sp>
      <p:sp>
        <p:nvSpPr>
          <p:cNvPr id="8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0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1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2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1. Generar ideas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2: quedaos con tres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10–12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De todas vuestras ideas y las de la IA, las tres que más os interesan:</a:t>
            </a:r>
            <a:endParaRPr lang="en-US" sz="1900" dirty="0"/>
          </a:p>
        </p:txBody>
      </p:sp>
      <p:sp>
        <p:nvSpPr>
          <p:cNvPr id="6" name="Propuesta 1"/>
          <p:cNvSpPr/>
          <p:nvPr/>
        </p:nvSpPr>
        <p:spPr>
          <a:xfrm>
            <a:off x="548640" y="21671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</a:t>
            </a:r>
            <a:endParaRPr lang="en-US" sz="2400" dirty="0"/>
          </a:p>
        </p:txBody>
      </p:sp>
      <p:sp>
        <p:nvSpPr>
          <p:cNvPr id="8" name="Hueco"/>
          <p:cNvSpPr/>
          <p:nvPr/>
        </p:nvSpPr>
        <p:spPr>
          <a:xfrm>
            <a:off x="1463040" y="1965960"/>
            <a:ext cx="10180015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9" name="Propuesta 2"/>
          <p:cNvSpPr/>
          <p:nvPr/>
        </p:nvSpPr>
        <p:spPr>
          <a:xfrm>
            <a:off x="548640" y="335584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355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</a:t>
            </a:r>
            <a:endParaRPr lang="en-US" sz="2400" dirty="0"/>
          </a:p>
        </p:txBody>
      </p:sp>
      <p:sp>
        <p:nvSpPr>
          <p:cNvPr id="11" name="Hueco"/>
          <p:cNvSpPr/>
          <p:nvPr/>
        </p:nvSpPr>
        <p:spPr>
          <a:xfrm>
            <a:off x="1463040" y="3154680"/>
            <a:ext cx="10180015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2" name="Propuesta 3"/>
          <p:cNvSpPr/>
          <p:nvPr/>
        </p:nvSpPr>
        <p:spPr>
          <a:xfrm>
            <a:off x="548640" y="454456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44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</a:t>
            </a:r>
            <a:endParaRPr lang="en-US" sz="2400" dirty="0"/>
          </a:p>
        </p:txBody>
      </p:sp>
      <p:sp>
        <p:nvSpPr>
          <p:cNvPr id="14" name="Hueco"/>
          <p:cNvSpPr/>
          <p:nvPr/>
        </p:nvSpPr>
        <p:spPr>
          <a:xfrm>
            <a:off x="1463040" y="4343400"/>
            <a:ext cx="10180015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5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6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8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9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2. Seleccionar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3: comparad y elegid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12–17 · Parejas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33295"/>
                <a:gridCol w="1737360"/>
                <a:gridCol w="1737360"/>
                <a:gridCol w="1737360"/>
                <a:gridCol w="1737360"/>
                <a:gridCol w="21031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Propuesta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Impacto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35 %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Viabilidad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30 %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Bajo coste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Originalidad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Resultado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404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Puntuad del 1 al 5 (en «Bajo coste», 5 = muy económica), con la calculadora o en Excel.</a:t>
            </a:r>
            <a:endParaRPr lang="en-US" sz="1600" dirty="0"/>
          </a:p>
        </p:txBody>
      </p:sp>
      <p:sp>
        <p:nvSpPr>
          <p:cNvPr id="7" name="Tarjeta"/>
          <p:cNvSpPr/>
          <p:nvPr/>
        </p:nvSpPr>
        <p:spPr>
          <a:xfrm>
            <a:off x="548640" y="4389120"/>
            <a:ext cx="11094415" cy="109728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8" name="Decisión"/>
          <p:cNvSpPr/>
          <p:nvPr/>
        </p:nvSpPr>
        <p:spPr>
          <a:xfrm>
            <a:off x="822960" y="459028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Decis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754880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37360" y="4389120"/>
            <a:ext cx="96313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Elegimos _______________ porque _______________________________</a:t>
            </a:r>
            <a:endParaRPr lang="en-US" sz="2100" dirty="0"/>
          </a:p>
        </p:txBody>
      </p:sp>
      <p:sp>
        <p:nvSpPr>
          <p:cNvPr id="11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2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3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5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3. Comparar y elegir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4: la ficha, en cinco líneas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17–22 · Parejas</a:t>
            </a:r>
            <a:endParaRPr lang="en-US" sz="1400" dirty="0"/>
          </a:p>
        </p:txBody>
      </p:sp>
      <p:sp>
        <p:nvSpPr>
          <p:cNvPr id="5" name="Problema"/>
          <p:cNvSpPr/>
          <p:nvPr/>
        </p:nvSpPr>
        <p:spPr>
          <a:xfrm>
            <a:off x="548640" y="1417320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Problema</a:t>
            </a:r>
            <a:endParaRPr lang="en-US" sz="1700" dirty="0"/>
          </a:p>
        </p:txBody>
      </p:sp>
      <p:sp>
        <p:nvSpPr>
          <p:cNvPr id="7" name="Hueco"/>
          <p:cNvSpPr/>
          <p:nvPr/>
        </p:nvSpPr>
        <p:spPr>
          <a:xfrm>
            <a:off x="4023360" y="1417320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8" name="Solución"/>
          <p:cNvSpPr/>
          <p:nvPr/>
        </p:nvSpPr>
        <p:spPr>
          <a:xfrm>
            <a:off x="548640" y="2221992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2219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10" name="Hueco"/>
          <p:cNvSpPr/>
          <p:nvPr/>
        </p:nvSpPr>
        <p:spPr>
          <a:xfrm>
            <a:off x="4023360" y="2221992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1" name="Qué necesitamos"/>
          <p:cNvSpPr/>
          <p:nvPr/>
        </p:nvSpPr>
        <p:spPr>
          <a:xfrm>
            <a:off x="548640" y="3026664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0266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Recursos</a:t>
            </a:r>
            <a:endParaRPr lang="en-US" sz="1700" dirty="0"/>
          </a:p>
        </p:txBody>
      </p:sp>
      <p:sp>
        <p:nvSpPr>
          <p:cNvPr id="13" name="Hueco"/>
          <p:cNvSpPr/>
          <p:nvPr/>
        </p:nvSpPr>
        <p:spPr>
          <a:xfrm>
            <a:off x="4023360" y="3026664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4" name="Principal riesgo"/>
          <p:cNvSpPr/>
          <p:nvPr/>
        </p:nvSpPr>
        <p:spPr>
          <a:xfrm>
            <a:off x="548640" y="3831336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83133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Riesgos</a:t>
            </a:r>
            <a:endParaRPr lang="en-US" sz="1700" dirty="0"/>
          </a:p>
        </p:txBody>
      </p:sp>
      <p:sp>
        <p:nvSpPr>
          <p:cNvPr id="16" name="Hueco"/>
          <p:cNvSpPr/>
          <p:nvPr/>
        </p:nvSpPr>
        <p:spPr>
          <a:xfrm>
            <a:off x="4023360" y="3831336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7" name="Cómo sabremos si funciona"/>
          <p:cNvSpPr/>
          <p:nvPr/>
        </p:nvSpPr>
        <p:spPr>
          <a:xfrm>
            <a:off x="548640" y="4636008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Cómo sabremos si funciona</a:t>
            </a:r>
            <a:endParaRPr lang="en-US" sz="1700" dirty="0"/>
          </a:p>
        </p:txBody>
      </p:sp>
      <p:sp>
        <p:nvSpPr>
          <p:cNvPr id="19" name="Hueco"/>
          <p:cNvSpPr/>
          <p:nvPr/>
        </p:nvSpPr>
        <p:spPr>
          <a:xfrm>
            <a:off x="4023360" y="4636008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5394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3"/>
                </a:solidFill>
              </a:rPr>
              <a:t>En «Cómo sabremos si funciona»: qué mediríais y cómo, antes y después de una prueba. Sin inventar resultados.</a:t>
            </a:r>
            <a:endParaRPr lang="en-US" sz="1500" dirty="0"/>
          </a:p>
        </p:txBody>
      </p:sp>
      <p:sp>
        <p:nvSpPr>
          <p:cNvPr id="21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2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4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4. Documentar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5: ante la gerencia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22–30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Un minuto por pareja, con la estructura de la defensa:</a:t>
            </a:r>
            <a:endParaRPr lang="en-US" sz="1900" dirty="0"/>
          </a:p>
        </p:txBody>
      </p:sp>
      <p:sp>
        <p:nvSpPr>
          <p:cNvPr id="6" name="Problema"/>
          <p:cNvSpPr/>
          <p:nvPr/>
        </p:nvSpPr>
        <p:spPr>
          <a:xfrm>
            <a:off x="585216" y="1965960"/>
            <a:ext cx="2145731" cy="109728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Problema</a:t>
            </a:r>
            <a:endParaRPr lang="en-US" sz="1400" dirty="0"/>
          </a:p>
        </p:txBody>
      </p:sp>
      <p:sp>
        <p:nvSpPr>
          <p:cNvPr id="8" name="Por qué importa"/>
          <p:cNvSpPr/>
          <p:nvPr/>
        </p:nvSpPr>
        <p:spPr>
          <a:xfrm>
            <a:off x="2804099" y="1965960"/>
            <a:ext cx="2145731" cy="109728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16163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Por qué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importa</a:t>
            </a:r>
            <a:endParaRPr lang="en-US" sz="1400" dirty="0"/>
          </a:p>
        </p:txBody>
      </p:sp>
      <p:sp>
        <p:nvSpPr>
          <p:cNvPr id="10" name="Qué proponemos"/>
          <p:cNvSpPr/>
          <p:nvPr/>
        </p:nvSpPr>
        <p:spPr>
          <a:xfrm>
            <a:off x="5022982" y="1965960"/>
            <a:ext cx="2145731" cy="109728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5046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Qué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proponemos</a:t>
            </a:r>
            <a:endParaRPr lang="en-US" sz="1400" dirty="0"/>
          </a:p>
        </p:txBody>
      </p:sp>
      <p:sp>
        <p:nvSpPr>
          <p:cNvPr id="12" name="Cómo lo haríamos"/>
          <p:cNvSpPr/>
          <p:nvPr/>
        </p:nvSpPr>
        <p:spPr>
          <a:xfrm>
            <a:off x="7241865" y="1965960"/>
            <a:ext cx="2145731" cy="109728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53929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Cómo lo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haríamos</a:t>
            </a:r>
            <a:endParaRPr lang="en-US" sz="1400" dirty="0"/>
          </a:p>
        </p:txBody>
      </p:sp>
      <p:sp>
        <p:nvSpPr>
          <p:cNvPr id="14" name="Cómo lo mediríamos"/>
          <p:cNvSpPr/>
          <p:nvPr/>
        </p:nvSpPr>
        <p:spPr>
          <a:xfrm>
            <a:off x="9460748" y="1965960"/>
            <a:ext cx="2145731" cy="109728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972812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Cómo lo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mediríamos</a:t>
            </a:r>
            <a:endParaRPr lang="en-US" sz="1400" dirty="0"/>
          </a:p>
        </p:txBody>
      </p:sp>
      <p:sp>
        <p:nvSpPr>
          <p:cNvPr id="16" name="Tarjeta"/>
          <p:cNvSpPr/>
          <p:nvPr/>
        </p:nvSpPr>
        <p:spPr>
          <a:xfrm>
            <a:off x="548640" y="3429000"/>
            <a:ext cx="11094415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17" name="Pregunta difícil"/>
          <p:cNvSpPr/>
          <p:nvPr/>
        </p:nvSpPr>
        <p:spPr>
          <a:xfrm>
            <a:off x="868680" y="370332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0" descr="Pregunta difíc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3922776"/>
            <a:ext cx="475488" cy="47548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2057400" y="3429000"/>
            <a:ext cx="9311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Después, una pregunta difícil.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El docente hace de la gerencia de Oficina Futuro.</a:t>
            </a:r>
            <a:endParaRPr lang="en-US" sz="2100" dirty="0"/>
          </a:p>
        </p:txBody>
      </p:sp>
      <p:sp>
        <p:nvSpPr>
          <p:cNvPr id="20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1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2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4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5. Defender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Ejercicio de reserva 2. Oficina Futuro</dc:title>
  <dc:subject>Desarrollo de las habilidades creativas e innovadoras con herramientas ofimáticas y de inteligencia artificial</dc:subject>
  <dc:creator>PptxGenJS</dc:creator>
  <cp:lastModifiedBy>PptxGenJS</cp:lastModifiedBy>
  <cp:revision>1</cp:revision>
  <dcterms:created xsi:type="dcterms:W3CDTF">2026-10-18T20:33:00Z</dcterms:created>
  <dcterms:modified xsi:type="dcterms:W3CDTF">2026-10-18T20:33:00Z</dcterms:modified>
</cp:coreProperties>
</file>