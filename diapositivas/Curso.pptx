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270" r:id="rId26"/>
    <p:sldId id="271" r:id="rId27"/>
    <p:sldId id="272" r:id="rId28"/>
    <p:sldId id="273" r:id="rId29"/>
    <p:sldId id="274" r:id="rId30"/>
    <p:sldId id="284" r:id="rId31"/>
    <p:sldId id="275" r:id="rId32"/>
    <p:sldId id="276" r:id="rId33"/>
    <p:sldId id="277" r:id="rId34"/>
    <p:sldId id="278" r:id="rId35"/>
    <p:sldId id="279" r:id="rId36"/>
    <p:sldId id="280" r:id="rId37"/>
    <p:sldId id="281" r:id="rId38"/>
    <p:sldId id="282" r:id="rId39"/>
    <p:sldId id="283"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 id="317" r:id="rId73"/>
    <p:sldId id="318" r:id="rId74"/>
    <p:sldId id="319" r:id="rId75"/>
    <p:sldId id="320" r:id="rId76"/>
    <p:sldId id="321" r:id="rId77"/>
    <p:sldId id="322" r:id="rId78"/>
    <p:sldId id="323" r:id="rId79"/>
    <p:sldId id="324" r:id="rId80"/>
    <p:sldId id="325" r:id="rId81"/>
    <p:sldId id="326" r:id="rId82"/>
    <p:sldId id="327" r:id="rId83"/>
    <p:sldId id="328" r:id="rId84"/>
    <p:sldId id="329" r:id="rId85"/>
    <p:sldId id="330" r:id="rId86"/>
    <p:sldId id="331" r:id="rId87"/>
    <p:sldId id="332" r:id="rId88"/>
    <p:sldId id="333" r:id="rId89"/>
    <p:sldId id="334" r:id="rId90"/>
    <p:sldId id="335" r:id="rId91"/>
    <p:sldId id="336" r:id="rId92"/>
    <p:sldId id="337" r:id="rId93"/>
    <p:sldId id="338" r:id="rId94"/>
    <p:sldId id="339" r:id="rId95"/>
    <p:sldId id="340" r:id="rId96"/>
    <p:sldId id="341" r:id="rId97"/>
    <p:sldId id="342" r:id="rId98"/>
    <p:sldId id="343" r:id="rId99"/>
    <p:sldId id="344" r:id="rId100"/>
    <p:sldId id="345" r:id="rId101"/>
    <p:sldId id="346"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270"/>
            <p14:sldId id="271"/>
            <p14:sldId id="272"/>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279"/>
            <p14:sldId id="280"/>
          </p14:sldIdLst>
        </p14:section>
        <p14:section name="Comparación y cierre" id="{8494F538-1684-8C82-F4E5-EDE3625627DF}">
          <p14:sldIdLst>
            <p14:sldId id="281"/>
            <p14:sldId id="282"/>
            <p14:sldId id="283"/>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6" d="100"/>
          <a:sy n="86" d="100"/>
        </p:scale>
        <p:origin x="94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Se mantiene la regla del curso: en cada técnica, primero piensa la pareja y después se pide ayuda a la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ejemplos de indicadores: tiempo de tramitación, pedidos servidos tarde o plazas sin cubrir.</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9.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6.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9.png"/></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7.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8.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2.xml"/><Relationship Id="rId1" Type="http://schemas.openxmlformats.org/officeDocument/2006/relationships/slideLayout" Target="../slideLayouts/slideLayout4.xml"/><Relationship Id="rId5" Type="http://schemas.openxmlformats.org/officeDocument/2006/relationships/image" Target="../media/image46.png"/><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5.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7.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4.xml"/><Relationship Id="rId1" Type="http://schemas.openxmlformats.org/officeDocument/2006/relationships/slideLayout" Target="../slideLayouts/slideLayout4.xml"/><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4.xml"/><Relationship Id="rId5" Type="http://schemas.openxmlformats.org/officeDocument/2006/relationships/image" Target="../media/image55.png"/><Relationship Id="rId4" Type="http://schemas.openxmlformats.org/officeDocument/2006/relationships/image" Target="../media/image54.png"/></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6.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52.png"/></Relationships>
</file>

<file path=ppt/slides/_rels/slide5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58.png"/><Relationship Id="rId4" Type="http://schemas.openxmlformats.org/officeDocument/2006/relationships/image" Target="../media/image56.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66.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2.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59.png"/><Relationship Id="rId4" Type="http://schemas.openxmlformats.org/officeDocument/2006/relationships/image" Target="../media/image60.png"/></Relationships>
</file>

<file path=ppt/slides/_rels/slide6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8.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1.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42.png"/><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2.xml"/><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9.png"/><Relationship Id="rId7"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8.png"/><Relationship Id="rId7" Type="http://schemas.openxmlformats.org/officeDocument/2006/relationships/image" Target="../media/image73.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72.png"/><Relationship Id="rId4" Type="http://schemas.openxmlformats.org/officeDocument/2006/relationships/image" Target="../media/image71.png"/><Relationship Id="rId9" Type="http://schemas.openxmlformats.org/officeDocument/2006/relationships/image" Target="../media/image75.png"/></Relationships>
</file>

<file path=ppt/slides/_rels/slide7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80.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78.png"/></Relationships>
</file>

<file path=ppt/slides/_rels/slide8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1.xml"/><Relationship Id="rId1" Type="http://schemas.openxmlformats.org/officeDocument/2006/relationships/slideLayout" Target="../slideLayouts/slideLayout4.xml"/><Relationship Id="rId5" Type="http://schemas.openxmlformats.org/officeDocument/2006/relationships/image" Target="../media/image57.png"/><Relationship Id="rId4" Type="http://schemas.openxmlformats.org/officeDocument/2006/relationships/image" Target="../media/image79.png"/></Relationships>
</file>

<file path=ppt/slides/_rels/slide82.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2.png"/><Relationship Id="rId2" Type="http://schemas.openxmlformats.org/officeDocument/2006/relationships/notesSlide" Target="../notesSlides/notesSlide82.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4.png"/><Relationship Id="rId4" Type="http://schemas.openxmlformats.org/officeDocument/2006/relationships/image" Target="../media/image81.png"/></Relationships>
</file>

<file path=ppt/slides/_rels/slide8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2.png"/><Relationship Id="rId2" Type="http://schemas.openxmlformats.org/officeDocument/2006/relationships/notesSlide" Target="../notesSlides/notesSlide86.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8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88.xml"/><Relationship Id="rId1" Type="http://schemas.openxmlformats.org/officeDocument/2006/relationships/slideLayout" Target="../slideLayouts/slideLayout4.xml"/><Relationship Id="rId5" Type="http://schemas.openxmlformats.org/officeDocument/2006/relationships/image" Target="../media/image89.png"/><Relationship Id="rId4" Type="http://schemas.openxmlformats.org/officeDocument/2006/relationships/image" Target="../media/image76.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90.png"/><Relationship Id="rId7"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 Id="rId9" Type="http://schemas.openxmlformats.org/officeDocument/2006/relationships/image" Target="../media/image54.png"/></Relationships>
</file>

<file path=ppt/slides/_rels/slide9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99.png"/><Relationship Id="rId2" Type="http://schemas.openxmlformats.org/officeDocument/2006/relationships/notesSlide" Target="../notesSlides/notesSlide95.xml"/><Relationship Id="rId1" Type="http://schemas.openxmlformats.org/officeDocument/2006/relationships/slideLayout" Target="../slideLayouts/slideLayout4.xml"/><Relationship Id="rId6" Type="http://schemas.openxmlformats.org/officeDocument/2006/relationships/image" Target="../media/image49.png"/><Relationship Id="rId5" Type="http://schemas.openxmlformats.org/officeDocument/2006/relationships/image" Target="../media/image98.png"/><Relationship Id="rId4" Type="http://schemas.openxmlformats.org/officeDocument/2006/relationships/image" Target="../media/image31.pn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101.png"/><Relationship Id="rId5" Type="http://schemas.openxmlformats.org/officeDocument/2006/relationships/image" Target="../media/image1.png"/><Relationship Id="rId4" Type="http://schemas.openxmlformats.org/officeDocument/2006/relationships/image" Target="../media/image100.pn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Votad con los dedos: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30</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una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tuyas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242041" y="2331720"/>
            <a:ext cx="9707613" cy="0"/>
          </a:xfrm>
          <a:prstGeom prst="line">
            <a:avLst/>
          </a:prstGeom>
          <a:noFill/>
          <a:ln w="50800">
            <a:solidFill>
              <a:srgbClr val="F2F4F8"/>
            </a:solidFill>
            <a:prstDash val="solid"/>
          </a:ln>
        </p:spPr>
      </p:sp>
      <p:sp>
        <p:nvSpPr>
          <p:cNvPr id="4" name="Paso 1"/>
          <p:cNvSpPr/>
          <p:nvPr/>
        </p:nvSpPr>
        <p:spPr>
          <a:xfrm>
            <a:off x="716261" y="1805940"/>
            <a:ext cx="1051560" cy="1051560"/>
          </a:xfrm>
          <a:prstGeom prst="ellipse">
            <a:avLst/>
          </a:prstGeom>
          <a:solidFill>
            <a:schemeClr val="tx2"/>
          </a:solidFill>
          <a:ln/>
        </p:spPr>
      </p:sp>
      <p:sp>
        <p:nvSpPr>
          <p:cNvPr id="5" name="Text 3"/>
          <p:cNvSpPr txBox="1"/>
          <p:nvPr/>
        </p:nvSpPr>
        <p:spPr>
          <a:xfrm>
            <a:off x="716261"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45–50</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ext 4"/>
          <p:cNvSpPr txBox="1"/>
          <p:nvPr/>
        </p:nvSpPr>
        <p:spPr>
          <a:xfrm>
            <a:off x="594360"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SCAMPER: qué es</a:t>
            </a:r>
          </a:p>
        </p:txBody>
      </p:sp>
      <p:sp>
        <p:nvSpPr>
          <p:cNvPr id="7" name="Paso 2"/>
          <p:cNvSpPr/>
          <p:nvPr/>
        </p:nvSpPr>
        <p:spPr>
          <a:xfrm>
            <a:off x="2103063" y="1805940"/>
            <a:ext cx="1051560" cy="1051560"/>
          </a:xfrm>
          <a:prstGeom prst="ellipse">
            <a:avLst/>
          </a:prstGeom>
          <a:solidFill>
            <a:schemeClr val="accent1"/>
          </a:solidFill>
          <a:ln/>
        </p:spPr>
      </p:sp>
      <p:sp>
        <p:nvSpPr>
          <p:cNvPr id="8" name="Text 6"/>
          <p:cNvSpPr txBox="1"/>
          <p:nvPr/>
        </p:nvSpPr>
        <p:spPr>
          <a:xfrm>
            <a:off x="2103063"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50–62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1981162"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2: ideas de la pareja</a:t>
            </a:r>
          </a:p>
        </p:txBody>
      </p:sp>
      <p:sp>
        <p:nvSpPr>
          <p:cNvPr id="10" name="Paso 3"/>
          <p:cNvSpPr/>
          <p:nvPr/>
        </p:nvSpPr>
        <p:spPr>
          <a:xfrm>
            <a:off x="3489865" y="1805940"/>
            <a:ext cx="1051560" cy="1051560"/>
          </a:xfrm>
          <a:prstGeom prst="ellipse">
            <a:avLst/>
          </a:prstGeom>
          <a:solidFill>
            <a:schemeClr val="accent2"/>
          </a:solidFill>
          <a:ln/>
        </p:spPr>
      </p:sp>
      <p:sp>
        <p:nvSpPr>
          <p:cNvPr id="11" name="Text 9"/>
          <p:cNvSpPr txBox="1"/>
          <p:nvPr/>
        </p:nvSpPr>
        <p:spPr>
          <a:xfrm>
            <a:off x="3489865"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62–72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3367964"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2: ideas con IA</a:t>
            </a:r>
          </a:p>
        </p:txBody>
      </p:sp>
      <p:sp>
        <p:nvSpPr>
          <p:cNvPr id="13" name="Paso 4"/>
          <p:cNvSpPr/>
          <p:nvPr/>
        </p:nvSpPr>
        <p:spPr>
          <a:xfrm>
            <a:off x="4876667" y="1805940"/>
            <a:ext cx="1051560" cy="1051560"/>
          </a:xfrm>
          <a:prstGeom prst="ellipse">
            <a:avLst/>
          </a:prstGeom>
          <a:solidFill>
            <a:schemeClr val="tx2"/>
          </a:solidFill>
          <a:ln/>
        </p:spPr>
      </p:sp>
      <p:sp>
        <p:nvSpPr>
          <p:cNvPr id="14" name="Text 12"/>
          <p:cNvSpPr txBox="1"/>
          <p:nvPr/>
        </p:nvSpPr>
        <p:spPr>
          <a:xfrm>
            <a:off x="4876667"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72–77</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3"/>
          <p:cNvSpPr txBox="1"/>
          <p:nvPr/>
        </p:nvSpPr>
        <p:spPr>
          <a:xfrm>
            <a:off x="4754766"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Provocación: qué es</a:t>
            </a:r>
          </a:p>
        </p:txBody>
      </p:sp>
      <p:sp>
        <p:nvSpPr>
          <p:cNvPr id="16" name="Paso 5"/>
          <p:cNvSpPr/>
          <p:nvPr/>
        </p:nvSpPr>
        <p:spPr>
          <a:xfrm>
            <a:off x="6263469" y="1805940"/>
            <a:ext cx="1051560" cy="1051560"/>
          </a:xfrm>
          <a:prstGeom prst="ellipse">
            <a:avLst/>
          </a:prstGeom>
          <a:solidFill>
            <a:schemeClr val="accent1"/>
          </a:solidFill>
          <a:ln/>
        </p:spPr>
      </p:sp>
      <p:sp>
        <p:nvSpPr>
          <p:cNvPr id="17" name="Text 15"/>
          <p:cNvSpPr txBox="1"/>
          <p:nvPr/>
        </p:nvSpPr>
        <p:spPr>
          <a:xfrm>
            <a:off x="6263469"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77–85</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Text 16"/>
          <p:cNvSpPr txBox="1"/>
          <p:nvPr/>
        </p:nvSpPr>
        <p:spPr>
          <a:xfrm>
            <a:off x="6141568"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3: ideas de la pareja</a:t>
            </a:r>
          </a:p>
        </p:txBody>
      </p:sp>
      <p:sp>
        <p:nvSpPr>
          <p:cNvPr id="19" name="Paso 6"/>
          <p:cNvSpPr/>
          <p:nvPr/>
        </p:nvSpPr>
        <p:spPr>
          <a:xfrm>
            <a:off x="7650270" y="1805940"/>
            <a:ext cx="1051560" cy="1051560"/>
          </a:xfrm>
          <a:prstGeom prst="ellipse">
            <a:avLst/>
          </a:prstGeom>
          <a:solidFill>
            <a:schemeClr val="accent2"/>
          </a:solidFill>
          <a:ln/>
        </p:spPr>
      </p:sp>
      <p:sp>
        <p:nvSpPr>
          <p:cNvPr id="20" name="Text 18"/>
          <p:cNvSpPr txBox="1"/>
          <p:nvPr/>
        </p:nvSpPr>
        <p:spPr>
          <a:xfrm>
            <a:off x="7650270"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85–92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7528370"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3: ideas con IA</a:t>
            </a:r>
          </a:p>
        </p:txBody>
      </p:sp>
      <p:sp>
        <p:nvSpPr>
          <p:cNvPr id="22" name="Paso 7"/>
          <p:cNvSpPr/>
          <p:nvPr/>
        </p:nvSpPr>
        <p:spPr>
          <a:xfrm>
            <a:off x="9037072" y="1805940"/>
            <a:ext cx="1051560" cy="1051560"/>
          </a:xfrm>
          <a:prstGeom prst="ellipse">
            <a:avLst/>
          </a:prstGeom>
          <a:solidFill>
            <a:schemeClr val="accent1"/>
          </a:solidFill>
          <a:ln/>
        </p:spPr>
      </p:sp>
      <p:sp>
        <p:nvSpPr>
          <p:cNvPr id="23" name="Text 21"/>
          <p:cNvSpPr txBox="1"/>
          <p:nvPr/>
        </p:nvSpPr>
        <p:spPr>
          <a:xfrm>
            <a:off x="9037072"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92–100</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8915171"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Elegimos tres propuestas</a:t>
            </a:r>
          </a:p>
        </p:txBody>
      </p:sp>
      <p:sp>
        <p:nvSpPr>
          <p:cNvPr id="25" name="Paso 8"/>
          <p:cNvSpPr/>
          <p:nvPr/>
        </p:nvSpPr>
        <p:spPr>
          <a:xfrm>
            <a:off x="10423874" y="1805940"/>
            <a:ext cx="1051560" cy="1051560"/>
          </a:xfrm>
          <a:prstGeom prst="ellipse">
            <a:avLst/>
          </a:prstGeom>
          <a:solidFill>
            <a:schemeClr val="tx2"/>
          </a:solidFill>
          <a:ln/>
        </p:spPr>
      </p:sp>
      <p:sp>
        <p:nvSpPr>
          <p:cNvPr id="26" name="Text 24"/>
          <p:cNvSpPr txBox="1"/>
          <p:nvPr/>
        </p:nvSpPr>
        <p:spPr>
          <a:xfrm>
            <a:off x="10423874"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100–105</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7" name="Text 25"/>
          <p:cNvSpPr txBox="1"/>
          <p:nvPr/>
        </p:nvSpPr>
        <p:spPr>
          <a:xfrm>
            <a:off x="10301973"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¿Qué falla aquí?</a:t>
            </a:r>
          </a:p>
        </p:txBody>
      </p:sp>
      <p:sp>
        <p:nvSpPr>
          <p:cNvPr id="28" name="Personas"/>
          <p:cNvSpPr/>
          <p:nvPr/>
        </p:nvSpPr>
        <p:spPr>
          <a:xfrm>
            <a:off x="548640" y="4846320"/>
            <a:ext cx="548640" cy="548640"/>
          </a:xfrm>
          <a:prstGeom prst="ellipse">
            <a:avLst/>
          </a:prstGeom>
          <a:solidFill>
            <a:schemeClr val="accent1"/>
          </a:solidFill>
          <a:ln/>
        </p:spPr>
      </p:sp>
      <p:pic>
        <p:nvPicPr>
          <p:cNvPr id="29"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30" name="Text 27"/>
          <p:cNvSpPr txBox="1"/>
          <p:nvPr/>
        </p:nvSpPr>
        <p:spPr>
          <a:xfrm>
            <a:off x="1234440" y="4846320"/>
            <a:ext cx="38404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Ámbar: piensa la pareja</a:t>
            </a:r>
          </a:p>
        </p:txBody>
      </p:sp>
      <p:sp>
        <p:nvSpPr>
          <p:cNvPr id="31" name="IA"/>
          <p:cNvSpPr/>
          <p:nvPr/>
        </p:nvSpPr>
        <p:spPr>
          <a:xfrm>
            <a:off x="5394960" y="4846320"/>
            <a:ext cx="548640" cy="548640"/>
          </a:xfrm>
          <a:prstGeom prst="ellipse">
            <a:avLst/>
          </a:prstGeom>
          <a:solidFill>
            <a:schemeClr val="accent2"/>
          </a:solidFill>
          <a:ln/>
        </p:spPr>
      </p:sp>
      <p:pic>
        <p:nvPicPr>
          <p:cNvPr id="32" name="Image 1" descr="IA"/>
          <p:cNvPicPr>
            <a:picLocks noChangeAspect="1"/>
          </p:cNvPicPr>
          <p:nvPr/>
        </p:nvPicPr>
        <p:blipFill>
          <a:blip r:embed="rId4"/>
          <a:stretch>
            <a:fillRect/>
          </a:stretch>
        </p:blipFill>
        <p:spPr>
          <a:xfrm>
            <a:off x="5526634" y="4977994"/>
            <a:ext cx="285293" cy="285293"/>
          </a:xfrm>
          <a:prstGeom prst="rect">
            <a:avLst/>
          </a:prstGeom>
        </p:spPr>
      </p:pic>
      <p:sp>
        <p:nvSpPr>
          <p:cNvPr id="33" name="Text 29"/>
          <p:cNvSpPr txBox="1"/>
          <p:nvPr/>
        </p:nvSpPr>
        <p:spPr>
          <a:xfrm>
            <a:off x="6080760" y="4846320"/>
            <a:ext cx="38404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Verde: trabajamos con la IA</a:t>
            </a:r>
          </a:p>
        </p:txBody>
      </p:sp>
      <p:sp>
        <p:nvSpPr>
          <p:cNvPr id="34"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cuenta en 30 segundos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91440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91440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una pequeña empresa pierde peticiones entre correos dispersos.</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centralizar las solicitudes en un formulario y una hoja compartida.</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olvidos y un seguimiento más fácil.</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la ficha: será el borrador del documento del bloque 4.</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revisáis.</a:t>
            </a:r>
            <a:endParaRPr lang="en-US" sz="3400" dirty="0"/>
          </a:p>
          <a:p>
            <a:pPr marL="0" indent="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 las preguntas que no habéis sabido contestar:</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Los seis apartados de la ficha exprés,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Consultas que se quedan sin respuesta cada semana.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usar formularios de Google, una hoja de cálculo compartida y un chatbot con IA. Es muy moderno, es gratis y todas las empresas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«Nuestra oficina pierde consultas porque llegan por teléfono y por correo y nadie se encarga de ellas. Proponemos un formulario único que guarde cada consulta en una hoja compartida, con una persona responsable cada día. Lo probaríamos un mes y mediríamos cuántas consultas quedan sin respuesta».</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«Nuestra oficina pierde consultas porque llegan por teléfono y por correo y nadie se encarga de ellas…»</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598</TotalTime>
  <Words>10769</Words>
  <Application>Microsoft Office PowerPoint</Application>
  <PresentationFormat>Panorámica</PresentationFormat>
  <Paragraphs>1367</Paragraphs>
  <Slides>101</Slides>
  <Notes>101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101</vt:i4>
      </vt:variant>
    </vt:vector>
  </HeadingPairs>
  <TitlesOfParts>
    <vt:vector size="105"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¿Para qué se podría usar un clip?</vt:lpstr>
      <vt:lpstr>Y ahora, elegimos uno</vt:lpstr>
      <vt:lpstr>No vendemos el clip: vendemos su idea</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Qué vamos a hacer en este bloque</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Ejercicio 4: elegir con criterio</vt:lpstr>
      <vt:lpstr>Paso 6: que la IA revise la matriz</vt:lpstr>
      <vt:lpstr>Paso 7: decidid</vt:lpstr>
      <vt:lpstr>Ejercicio 4: vuestras conclusiones</vt:lpstr>
      <vt:lpstr>Una propuesta en una página</vt:lpstr>
      <vt:lpstr>La IA propone, vosotros decidís</vt:lpstr>
      <vt:lpstr>Ficha exprés con IA</vt:lpstr>
      <vt:lpstr>Ficha exprés: ¿qué habéis cambiado?</vt:lpstr>
      <vt:lpstr>Lo que llevamos hecho</vt:lpstr>
      <vt:lpstr>Presentación de PowerPoint</vt:lpstr>
      <vt:lpstr>Desarrollo de la propuesta ganadora</vt:lpstr>
      <vt:lpstr>Qué vamos a hacer en este bloque</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8</cp:revision>
  <dcterms:created xsi:type="dcterms:W3CDTF">2026-10-17T13:29:48Z</dcterms:created>
  <dcterms:modified xsi:type="dcterms:W3CDTF">2026-10-20T21:39:55Z</dcterms:modified>
</cp:coreProperties>
</file>