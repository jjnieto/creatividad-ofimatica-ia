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0"/>
  </p:notesMasterIdLst>
  <p:sldIdLst>
    <p:sldId id="347" r:id="rId2"/>
    <p:sldId id="349" r:id="rId3"/>
    <p:sldId id="348" r:id="rId4"/>
    <p:sldId id="350" r:id="rId5"/>
    <p:sldId id="256" r:id="rId6"/>
    <p:sldId id="257" r:id="rId7"/>
    <p:sldId id="258" r:id="rId8"/>
    <p:sldId id="259" r:id="rId9"/>
    <p:sldId id="260" r:id="rId10"/>
    <p:sldId id="261" r:id="rId11"/>
    <p:sldId id="262" r:id="rId12"/>
    <p:sldId id="263" r:id="rId13"/>
    <p:sldId id="351" r:id="rId14"/>
    <p:sldId id="264" r:id="rId15"/>
    <p:sldId id="352" r:id="rId16"/>
    <p:sldId id="265" r:id="rId17"/>
    <p:sldId id="353" r:id="rId18"/>
    <p:sldId id="266" r:id="rId19"/>
    <p:sldId id="354" r:id="rId20"/>
    <p:sldId id="267" r:id="rId21"/>
    <p:sldId id="355" r:id="rId22"/>
    <p:sldId id="268" r:id="rId23"/>
    <p:sldId id="356" r:id="rId24"/>
    <p:sldId id="269" r:id="rId25"/>
    <p:sldId id="358" r:id="rId26"/>
    <p:sldId id="270" r:id="rId27"/>
    <p:sldId id="272" r:id="rId28"/>
    <p:sldId id="271" r:id="rId29"/>
    <p:sldId id="273" r:id="rId30"/>
    <p:sldId id="274" r:id="rId31"/>
    <p:sldId id="284" r:id="rId32"/>
    <p:sldId id="275" r:id="rId33"/>
    <p:sldId id="276" r:id="rId34"/>
    <p:sldId id="277" r:id="rId35"/>
    <p:sldId id="278" r:id="rId36"/>
    <p:sldId id="357" r:id="rId37"/>
    <p:sldId id="279" r:id="rId38"/>
    <p:sldId id="280" r:id="rId39"/>
    <p:sldId id="281" r:id="rId40"/>
    <p:sldId id="282" r:id="rId41"/>
    <p:sldId id="283" r:id="rId42"/>
    <p:sldId id="285" r:id="rId43"/>
    <p:sldId id="359"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60" r:id="rId69"/>
    <p:sldId id="311" r:id="rId70"/>
    <p:sldId id="312" r:id="rId71"/>
    <p:sldId id="313" r:id="rId72"/>
    <p:sldId id="314" r:id="rId73"/>
    <p:sldId id="315" r:id="rId74"/>
    <p:sldId id="316" r:id="rId75"/>
    <p:sldId id="361" r:id="rId76"/>
    <p:sldId id="317" r:id="rId77"/>
    <p:sldId id="318" r:id="rId78"/>
    <p:sldId id="319" r:id="rId79"/>
    <p:sldId id="320" r:id="rId80"/>
    <p:sldId id="321" r:id="rId81"/>
    <p:sldId id="322" r:id="rId82"/>
    <p:sldId id="362" r:id="rId83"/>
    <p:sldId id="323" r:id="rId84"/>
    <p:sldId id="324" r:id="rId85"/>
    <p:sldId id="325" r:id="rId86"/>
    <p:sldId id="326" r:id="rId87"/>
    <p:sldId id="327" r:id="rId88"/>
    <p:sldId id="328" r:id="rId89"/>
    <p:sldId id="329" r:id="rId90"/>
    <p:sldId id="363" r:id="rId91"/>
    <p:sldId id="330" r:id="rId92"/>
    <p:sldId id="331" r:id="rId93"/>
    <p:sldId id="332" r:id="rId94"/>
    <p:sldId id="333" r:id="rId95"/>
    <p:sldId id="334" r:id="rId96"/>
    <p:sldId id="335" r:id="rId97"/>
    <p:sldId id="336" r:id="rId98"/>
    <p:sldId id="337" r:id="rId99"/>
    <p:sldId id="364" r:id="rId100"/>
    <p:sldId id="338" r:id="rId101"/>
    <p:sldId id="339" r:id="rId102"/>
    <p:sldId id="340" r:id="rId103"/>
    <p:sldId id="341" r:id="rId104"/>
    <p:sldId id="342" r:id="rId105"/>
    <p:sldId id="343" r:id="rId106"/>
    <p:sldId id="344" r:id="rId107"/>
    <p:sldId id="345" r:id="rId108"/>
    <p:sldId id="346" r:id="rId10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C301A67A-CD06-4F57-6CC5-935D849B84F1}">
          <p14:sldIdLst>
            <p14:sldId id="347"/>
            <p14:sldId id="349"/>
            <p14:sldId id="348"/>
            <p14:sldId id="350"/>
            <p14:sldId id="256"/>
          </p14:sldIdLst>
        </p14:section>
        <p14:section name="Bloque 1" id="{3600A6C3-52F6-7588-0A9C-A0762F4818CB}">
          <p14:sldIdLst>
            <p14:sldId id="257"/>
            <p14:sldId id="258"/>
          </p14:sldIdLst>
        </p14:section>
        <p14:section name="Creatividad e innovación" id="{2BE25609-BF65-E18D-0F36-65565FC69EFD}">
          <p14:sldIdLst>
            <p14:sldId id="259"/>
            <p14:sldId id="260"/>
            <p14:sldId id="261"/>
            <p14:sldId id="262"/>
            <p14:sldId id="263"/>
            <p14:sldId id="351"/>
            <p14:sldId id="264"/>
            <p14:sldId id="352"/>
            <p14:sldId id="265"/>
            <p14:sldId id="353"/>
            <p14:sldId id="266"/>
            <p14:sldId id="354"/>
            <p14:sldId id="267"/>
            <p14:sldId id="355"/>
            <p14:sldId id="268"/>
            <p14:sldId id="356"/>
            <p14:sldId id="269"/>
          </p14:sldIdLst>
        </p14:section>
        <p14:section name="Divergir y converger" id="{F5AF64DA-B1F4-A1A7-7800-38EEFB65567B}">
          <p14:sldIdLst>
            <p14:sldId id="358"/>
            <p14:sldId id="270"/>
            <p14:sldId id="272"/>
            <p14:sldId id="271"/>
            <p14:sldId id="273"/>
          </p14:sldIdLst>
        </p14:section>
        <p14:section name="Brainstorming" id="{B1D90EA5-E9A1-1FA3-6157-4003D122319B}">
          <p14:sldIdLst>
            <p14:sldId id="274"/>
            <p14:sldId id="284"/>
            <p14:sldId id="275"/>
            <p14:sldId id="276"/>
            <p14:sldId id="277"/>
          </p14:sldIdLst>
        </p14:section>
        <p14:section name="Ejercicio 1" id="{1055EF44-D81E-DBFF-D1FC-ED58257BFCF2}">
          <p14:sldIdLst>
            <p14:sldId id="278"/>
            <p14:sldId id="357"/>
            <p14:sldId id="279"/>
            <p14:sldId id="280"/>
          </p14:sldIdLst>
        </p14:section>
        <p14:section name="Comparación y cierre" id="{8494F538-1684-8C82-F4E5-EDE3625627DF}">
          <p14:sldIdLst>
            <p14:sldId id="281"/>
            <p14:sldId id="282"/>
            <p14:sldId id="283"/>
            <p14:sldId id="285"/>
            <p14:sldId id="359"/>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60"/>
            <p14:sldId id="311"/>
            <p14:sldId id="312"/>
            <p14:sldId id="313"/>
            <p14:sldId id="314"/>
            <p14:sldId id="315"/>
            <p14:sldId id="316"/>
            <p14:sldId id="361"/>
            <p14:sldId id="317"/>
            <p14:sldId id="318"/>
            <p14:sldId id="319"/>
            <p14:sldId id="320"/>
            <p14:sldId id="321"/>
            <p14:sldId id="322"/>
            <p14:sldId id="362"/>
            <p14:sldId id="323"/>
            <p14:sldId id="324"/>
            <p14:sldId id="325"/>
            <p14:sldId id="326"/>
            <p14:sldId id="327"/>
            <p14:sldId id="328"/>
            <p14:sldId id="329"/>
            <p14:sldId id="363"/>
            <p14:sldId id="330"/>
            <p14:sldId id="331"/>
            <p14:sldId id="332"/>
            <p14:sldId id="333"/>
            <p14:sldId id="334"/>
            <p14:sldId id="335"/>
            <p14:sldId id="336"/>
            <p14:sldId id="337"/>
            <p14:sldId id="364"/>
            <p14:sldId id="338"/>
            <p14:sldId id="339"/>
            <p14:sldId id="340"/>
            <p14:sldId id="341"/>
            <p14:sldId id="342"/>
            <p14:sldId id="343"/>
            <p14:sldId id="344"/>
            <p14:sldId id="345"/>
            <p14:sldId id="34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2A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6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7164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del bloque 1: explicar a nivel general qué se va a hacer durante el curso y para qué.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objeto del curso: enseñar cómo modelizar un proceso de innovación, con ideación, selección y decisión, de una manera más estructurada para poder presentarlo.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Contar el recorrido del curso a nivel muy general: generar muchas ideas con brainstorming, SCAMPER y provocación; seleccionar las que realmente interesan y quedarnos con tres; compararlas con una matriz y elegir la ganadora; documentarla y desarrollarla; presentarla y defenderla.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Normalmente, cuando hacemos este proceso nosotros mismos, no escribimos una sola línea y lo hacemos todo en la cabeza, en menos de un minuto: vemos las opciones y elegimos. Pero para poder comunicarlo en un entorno más profesional hay que hacerlo de esta otra manera. Hay muchas; esta sería una de ellas.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Presentarse brevemente y explicar que el taller es práctico: se trabaja sobre problemas de pequeñas empresas y organizaciones, no sobre funciones sueltas de los programas.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del bloque: entender la diferencia entre creatividad, innovación y competencia digital, y practicar la primera técnica creativa, el brainstorming, primero entre personas y después con 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recorrido del bloque. Explicar el código de color que se usará en todo el curso: en ámbar, lo que piensa el grupo sin ayuda; en verde, lo que se hace con la IA. Las etiquetas de la esquina superior derecha indican siempre los minutos del guion.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0–3. Leer la pregunta y pedir votación a mano alzada.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0–3. Pedir a dos o tres voluntarios que cuenten en una frase alguna mejora que vieran (o hicieran) en un trabajo anterior. Apuntarlas: servirán de ejemplos durante la explicación de los tres conceptos.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3–5. Explicar los tres conceptos usando, si es posible, los ejemplos que acaban de dar los voluntarios. Subrayar que la creatividad no se limita a ámbitos artísticos: también consiste en mejorar tareas cotidianas y procesos de trabajo.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5–10. Explicar la dinámica: un dedo, creatividad; dos, innovación; tres, competencia digital. Leer cada situación, pedir el voto y, si hay votos repartidos, preguntar a una persona de cada opción. Las respuestas orientativas están en las notas de cada situación.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orientativa: Creatividad: es una idea, todavía no se ha aplicado.
Criterio para resolver las dudas: ¿es solo una idea o ya se ha puesto en práctica? ¿Aporta valor?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Respuesta a la situación 1: creatividad. Es una idea nueva y útil, pero todavía no se ha puesto en práctica.</a:t>
            </a:r>
          </a:p>
          <a:p>
            <a:endParaRPr/>
          </a:p>
          <a:p>
            <a:r>
              <a:t>Criterio para resolver las dudas: ¿es solo una idea o ya se ha puesto en práctica? ¿Aporta valor?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orientativa: Innovación: se ha aplicado y aporta valor.
Criterio para resolver las dudas: ¿es solo una idea o ya se ha puesto en práctica? ¿Aporta valor?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Respuesta a la situación 2: innovación. La idea se ha puesto en práctica y aporta valor: las esperas se reducen.</a:t>
            </a:r>
          </a:p>
          <a:p>
            <a:endParaRPr/>
          </a:p>
          <a:p>
            <a:r>
              <a:t>Criterio para resolver las dudas: ¿es solo una idea o ya se ha puesto en práctica? ¿Aporta valor?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orientativa: Competencia digital.
Criterio para resolver las dudas: ¿es solo una idea o ya se ha puesto en práctica? ¿Aporta valor?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Respuesta a la situación 3: competencia digital. Usa una herramienta digital para hacer bien su tarea, pero no cambia cómo se trabaja.</a:t>
            </a:r>
          </a:p>
          <a:p>
            <a:endParaRPr/>
          </a:p>
          <a:p>
            <a:r>
              <a:t>Criterio para resolver las dudas: ¿es solo una idea o ya se ha puesto en práctica? ¿Aporta valor?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orientativa: Innovación.
Criterio para resolver las dudas: ¿es solo una idea o ya se ha puesto en práctica? ¿Aporta valor?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Respuesta a la situación 4: innovación. Es un cambio ya puesto en práctica que aporta valor: el cliente está informado y el taller recibe menos llamadas.</a:t>
            </a:r>
          </a:p>
          <a:p>
            <a:endParaRPr/>
          </a:p>
          <a:p>
            <a:r>
              <a:t>Criterio para resolver las dudas: ¿es solo una idea o ya se ha puesto en práctica? ¿Aporta valor?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orientativa: Creatividad; si se pone en práctica y funciona, innovación. Situación discutible a propósito: lo importante es el razonamiento, no acertar.
Criterio para resolver las dudas: ¿es solo una idea o ya se ha puesto en práctica? ¿Aporta valor?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Respuesta a la situación 5: creatividad. Por ahora es solo una idea. Si se pone en práctica y funciona, pasa a ser innovación. Es discutible a propósito: si hay votos repartidos, que cada opción explique su razonamiento.</a:t>
            </a:r>
          </a:p>
          <a:p>
            <a:endParaRPr/>
          </a:p>
          <a:p>
            <a:r>
              <a:t>Criterio para resolver las dudas: ¿es solo una idea o ya se ha puesto en práctica? ¿Aporta valor?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orientativa: Competencia digital; sería innovación si cambiara cómo se atiende a los clientes extranjeros. Situación discutible a propósito: lo importante es el razonamiento, no acertar.
Criterio para resolver las dudas: ¿es solo una idea o ya se ha puesto en práctica? ¿Aporta valor?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Respuesta a la situación 6: competencia digital. Usa la IA para una tarea concreta, sin cambiar cómo se atiende. Sería innovación si cambiara la forma de atender a los clientes extranjeros. Es discutible a propósito: si hay votos repartidos, que cada opción explique su razonamiento.</a:t>
            </a:r>
          </a:p>
          <a:p>
            <a:endParaRPr/>
          </a:p>
          <a:p>
            <a:r>
              <a:t>Criterio para resolver las dudas: ¿es solo una idea o ya se ha puesto en práctica? ¿Aporta valor?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esta diapositiva cuando haya votos repartidos o al terminar las seis situaciones. Las situaciones 5 y 6 son discutibles a propósito.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uso de una plantilla. Si es posible, que tengan el cuaderno abierto antes de empezar el bloque, para no perder tiempo del clip. El cuaderno es para pensar: no se entrega. Se usa en los bloques 1, 2 y 5.</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10–12. Cada persona, en silencio y por escrito, anota en 90 segundos todos los usos que se le ocurran para un clip. Después, cada una dice cuántos ha escrito y quien tenga más lee su lista.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después de la votación. Mensaje: nadie compraría un clip de papelería por muy original que sea su uso; lo que se vende es el concepto del clip (sujetar por presión, doblarse sin romperse, unir y separar fácilmente) aplicado a otro tamaño, material o problema. El color de cada icono indica qué principio del clip aprovecha.
Las ideas se generaron con IA. Según la IA, para casi todas existen productos parecidos en el mercado (organizadores de cables de silicona, cierres para bolsas, clips para plantas, sistemas de conexión rápida, soportes plegables para móviles, pinzas para cartelería); conviene comprobarlo antes de afirmarlo en clase.
Enlaza con la técnica SCAMPER del bloque 2: Adaptar (llevar el concepto a otro sector) y Modificar (cambiar tamaño o material).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12–14. Votar un solo uso. Si al grupo no se le ocurre ningún producto, es normal: pasar a la diapositiva siguiente. No explicar todavía la teoría de divergir y converger: viene después, sobre lo que acaban de hacer.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14–15. Lo que acaban de hacer con el clip: primero pensamiento divergente (muchos usos, sin juzgar) y después convergente (elegir uno con criterio). Las tres técnicas del curso sirven para abrir el abanico; la matriz del bloque 3 sirve para cerrarlo.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para todo el curso: en cada técnica, primero piensan las personas y después se pide ayuda a la IA. Si la IA va primero, el grupo se ancla en sus propuestas y deja de pensar por su cuenta. Además, así se puede comparar qué aporta cada uno.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Minutos 15–20, justo después de la regla «primero las personas, después la IA». Contarlo como historia, en un minuto:</a:t>
            </a:r>
          </a:p>
          <a:p>
            <a:endParaRPr/>
          </a:p>
          <a:p>
            <a:r>
              <a:t>Hay un programa para crear videojuegos, Unreal Engine 5, que lo hace casi todo solo: la luz, las sombras, los reflejos, el detalle de cada objeto. Con él, una persona desde su casa puede hacer un juego que parece de un gran estudio.</a:t>
            </a:r>
          </a:p>
          <a:p>
            <a:endParaRPr/>
          </a:p>
          <a:p>
            <a:r>
              <a:t>Muchísima gente lo usó y dejó que el programa decidiera la luz y el aspecto del juego. Y pasó algo curioso: muchos juegos empezaron a parecerse entre sí. Técnicamente eran impecables, pero tenían todos el mismo aire. Los que llamaban la atención eran los que tenían un estilo propio, y ese estilo no lo pone la herramienta: lo pone la persona.</a:t>
            </a:r>
          </a:p>
          <a:p>
            <a:endParaRPr/>
          </a:p>
          <a:p>
            <a:r>
              <a:t>Con la IA pasa lo mismo. Da ideas, resume y redacta muy bien. Pero si todos le preguntamos lo mismo, todos recibimos respuestas parecidas. Ya pasa con las cartas de presentación: las empresas reciben cientos que suenan iguales porque las ha escrito la misma IA.</a:t>
            </a:r>
          </a:p>
          <a:p>
            <a:endParaRPr/>
          </a:p>
          <a:p>
            <a:r>
              <a:t>Las personas fallamos más y tenemos días malos. Pero la idea rara, la que nadie más tendría, es la que marca la diferencia, y esa suele salir de nosotros. Por eso: primero pensamos las personas y después usamos la IA para ampliar lo nuestro, no para sustituirlo.</a:t>
            </a:r>
          </a:p>
          <a:p>
            <a:endParaRPr/>
          </a:p>
          <a:p>
            <a:r>
              <a:t>Cuidado: no afirmar que la IA es peor que las personas. El argumento es que, si todos usamos la misma herramienta, todos acabamos haciendo lo mismo. Así no se adelanta la conclusión de la comparación del Ejercicio 1.</a:t>
            </a:r>
          </a:p>
          <a:p>
            <a:endParaRPr/>
          </a:p>
          <a:p>
            <a:r>
              <a:t>Respaldo (comprobar la referencia antes de citarla): un estudio publicado en 2024 en Science Advances encontró que la IA hacía algo más creativos los textos de cada persona, pero que los textos se parecían mucho más entre sí.</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que acompaña a las tres técnicas del curso. Es ajeno a los ejercicios: usar siempre el mismo ejemplo deja ver qué tipo de ideas produce cada técnica.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15–20. Qué es el brainstorming y sus cuatro reglas. La regla 3 (construir sobre la idea de otra persona) se aplicará después también a la combinación de ideas del grupo y de la IA.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Lanzar las ideas a buen ritmo para mostrar cómo funciona. Terminar con la idea disparatada y mostrar que, construyendo sobre ella, se llega a una idea sensata: por eso las ideas disparatadas son bienvenidas.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20–30. Entre todo el grupo, sin IA. Dar el turno en rueda para que participen todas las personas y no solo las más extrovertidas; quien no tenga idea dice «paso» y se continúa. Apuntar todas las ideas numeradas en la pizarra o en un documento compartido, sin comentarlas. Al final, contar el total: se usará en la comparación.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0AFB-0CFC-904E-0002-1A938FF32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55FC1-4BEF-10E6-FA54-6131796AA3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329FB1-8031-5A79-0DEA-D5EF13815E0B}"/>
              </a:ext>
            </a:extLst>
          </p:cNvPr>
          <p:cNvSpPr>
            <a:spLocks noGrp="1"/>
          </p:cNvSpPr>
          <p:nvPr>
            <p:ph type="body" idx="1"/>
          </p:nvPr>
        </p:nvSpPr>
        <p:spPr/>
        <p:txBody>
          <a:bodyPr/>
          <a:lstStyle/>
          <a:p>
            <a:r>
              <a:rPr lang="en-US" dirty="0"/>
              <a:t>Minutos 20–30. Entre todo el grupo, sin IA. Dar el turno en rueda para que participen todas las personas y no solo las más extrovertidas; quien no tenga idea dice «paso» y se continúa. Apuntar todas las ideas numeradas en la pizarra o en un documento compartido, sin comentarlas. Al final, contar el total: se usará en la comparación.</a:t>
            </a:r>
          </a:p>
        </p:txBody>
      </p:sp>
      <p:sp>
        <p:nvSpPr>
          <p:cNvPr id="4" name="Slide Number Placeholder 3">
            <a:extLst>
              <a:ext uri="{FF2B5EF4-FFF2-40B4-BE49-F238E27FC236}">
                <a16:creationId xmlns:a16="http://schemas.microsoft.com/office/drawing/2014/main" id="{1DC009C7-BBAF-C8FD-7312-9D18E7F25502}"/>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073947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30–38. Proyectar la IA y pegar la lista de ideas del grupo en el lugar indicado. Leer en voz alta las propuestas de la IA y comentar cuáles sorprenden y cuáles son genéricas o repiten lo ya dicho con otras palabras. El texto del prompt para copiar está en el guion docente.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30–38. Lanzar este segundo prompt en la misma conversación con la IA, a continuación del primero.</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38–45. Cada persona marca las tres ideas que le parecen más originales, sin fijarse en si vienen del grupo o de la IA. Después, contar y rellenar la tabla: cuántas ideas salieron sin IA y con IA, y cuántas de las más votadas son de cada origen.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adelantar la conclusión: puede salir que la IA aporta más cantidad pero menos originalidad, o lo contrario. Lo importante es que el grupo lo compruebe con sus propios datos de la tabla.</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Conclusión del bloque. Enlazar con el bloque 2: ahora se aplicarán dos técnicas más estructuradas, SCAMPER y la provocación, por parejas.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del bloque: aplicar dos técnicas estructuradas, primero sin IA y después con IA, sobre un mismo caso profesional, y seleccionar las tres mejores propuestas, que se evaluarán en la matriz del bloque 3.</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el bloque 2 se trabaja en el cuaderno: el caso, SCAMPER, la provocación y las tres mejores propuestas. Esas tres propuestas pasan a la matriz en el bloque 3.</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pareja elige uno de los tres casos y trabaja con él durante todo el bloque: SCAMPER, provocación y selección de propuestas. Conviene que los tres casos queden repartidos entre las parejas.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45–50. SCAMPER es una lista de siete preguntas para transformar un proceso o producto que ya existe. A diferencia del brainstorming, no parte de cero: obliga a mirar el proceso actual desde siete ángulos.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tabla rápido, letra a letra: cada pregunta mira el mismo proceso desde un ángulo distinto. Es el mismo ejemplo de la peluquería del bloque 1, para comparar qué tipo de ideas da cada técnica.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50–62. Por parejas, sin IA, sobre el caso elegido. Pasar por las mesas: si una pareja se atasca en una letra, que pase a la siguiente y vuelva después. Conviene que anoten las ideas en un documento, porque las pegarán en el prompt de la ronda con IA.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62–72. Cada pareja copia el prompt (está en el guion) y rellena lo que va entre corchetes. Insistir: describir el proceso, nunca a las personas.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peticiones se escriben en la misma conversación, a continuación de la respuesta de la IA. Al terminar, cada pareja compara las ideas de la IA con las suyas: ¿qué ha aportado que no se les hubiera ocurrido? ¿Qué no ha entendido del caso?</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Últimos minutos del tramo 62–72, antes de pasar a la provocación. Cada pareja cuenta en unos 30 segundos su mejor idea sin IA, la mejor idea que le ha dado la IA y algo que la IA no haya entendido de su caso.</a:t>
            </a:r>
          </a:p>
          <a:p>
            <a:endParaRPr/>
          </a:p>
          <a:p>
            <a:r>
              <a:t>Con 8 parejas son unos 4 minutos: ir rápido, sin debatir cada idea. Si no da tiempo, que hablen solo tres o cuatro parejas.</a:t>
            </a:r>
          </a:p>
          <a:p>
            <a:endParaRPr/>
          </a:p>
          <a:p>
            <a:r>
              <a:t>Al final, la pregunta para todos: ¿qué ha aportado la IA que no se os hubiera ocurrido? No adelantar la conclusión: que salga de lo que cuentan las parejas. Las ideas se guardan: se usarán en la selección de las tres propuestas.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72–77. La provocación (técnica de pensamiento lateral de Edward de Bono) consiste en lanzar una afirmación deliberadamente absurda que rompe una suposición que nadie cuestiona y después hacer el movimiento: extraer del absurdo un principio útil y convertirlo en una idea práctica.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cada fila de izquierda a derecha: provocación absurda → principio útil → idea práctica. Así se ve que el absurdo no es el final, sino el trampolín.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Advertencia para el docente: el error típico es quedarse en la provocación y reírse. Insistir siempre en «¿y qué principio útil sacamos de esto?».</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77–85. Por parejas, sin IA. Que cada provocación sea de un tipo distinto (inversión, exageración, eliminación o deseo). Pasar por las mesas comprobando que no se quedan en la provocación: tienen que llegar hasta una idea práctica.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85–92. Cada pareja copia el prompt (está en el guion) y rellena lo que va entre corchetes.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pareja revisa la tabla de la IA con estas dos preguntas. La frase final es una hipótesis para comprobar, no una conclusión: si en el grupo sale lo contrario, mejor todavía.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92–100. Entregable: tabla sencilla con el problema, las tres propuestas, las razones de su selección y el origen de cada una. Estas tres propuestas se puntuarán en la matriz de decisión del bloque 3.</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Puesta en común rápida, a mano alzada. Igual que en el bloque 1, no adelantar conclusiones: que salgan de lo que ha pasado en las parejas.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100–103. Proyectar y dar tres minutos. Hay cuatro problemas: datos personales en el prompt, un estudio y una cifra sin verificar, una función que puede no existir y una generalización falsa. La corrección está en la diapositiva siguiente.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103–105. Corregir en común: preguntar qué problemas han encontrado las parejas antes de mostrar cada uno.</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bloque. Enlazar con el bloque 3: las tres propuestas de cada pareja se van a documentar y a comparar con una matriz de decisión.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del bloque: que cada pareja compare con criterio sus tres propuestas del bloque 2, elija la ganadora con argumentos y la ponga por escrito en una ficha de una página. Excel y Word son el soporte, no el contenido: no explicar funciones básicas. La propuesta ganadora es la que cada pareja desarrollará en el bloque 4 y defenderá en el bloque 5.</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del bloque: primero comparar las tres propuestas de cada pareja y decidir la ganadora (Excel o Google Sheets); después, ponerla por escrito (Word o Google Docs). Primero se decide y luego se documenta.</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105–113. Explicar los cuatro criterios y sus pesos. Los resultados dependen de las puntuaciones y los pesos que se elijan: la matriz es una ayuda para razonar, no una prueba objetiva.</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105–113, actividad de 3 minutos. Asignar a cada pareja una de las tres propuestas. Una vez hecho a mano, se entiende lo que hace la fórmula. Resultados: formulario digital 4,35; chatbot informativo 3,30; panel de seguimiento 4,20.</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Corregir con el grupo. Si alguna pareja ha obtenido otro resultado, revisar juntos la operación.</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la fórmula en directo en una hoja de cálculo y copiarla hacia abajo. Aviso: con esta fórmula los pesos están escritos dentro. Si en el Ejercicio 4 se cambian los pesos, hay que cambiar también los porcentajes de la fórmula en todas las filas.</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hoja «Ejemplo» tiene las tres propuestas de la explicación con sus resultados (4,35; 3,30; 4,20), por si alguien quiere comprobar el formato. Los pesos están escritos dentro de la fórmula: en el paso 5 del ejercicio hay que cambiarlos en las tres filas.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113–140. Por parejas, con las tres propuestas seleccionadas al final del bloque 2. Recordar al cambiar los pesos (paso 5) que hay que cambiar los porcentajes en la fórmula de todas las filas, y que los pesos deben seguir sumando 100 %. Entregable: hoja de cálculo con decisiones argumentadas.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prompt está en el guion para copiarlo. Lo interesante es contrastar: ¿tenía razón la IA en sus observaciones o se ha equivocado en algo?</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 paso del Ejercicio 4. La matriz ayuda a razonar, pero la decisión es de la pareja. Esta propuesta ganadora es la que redactarán en la ficha exprés, desarrollarán en el bloque 4 y defenderán en el bloque 5.</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Puesta en común en los últimos 4 minutos del ejercicio. Preguntas clave: ¿ha cambiado la clasificación al modificar los pesos? ¿Tenía razón la IA en sus observaciones o se ha equivocado en algo?</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140–145. Demostración: crear en directo un documento profesional de una página con estos apartados. El ejemplo de la derecha es el que se usa en la demostración.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140–145. Pedir a la IA una versión más clara y concisa del documento de ejemplo y revisar en voz alta cada cambio: cuál aceptamos, cuál rechazamos y por qué.</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ficha exprés ya no es un archivo aparte: es la primera versión del documento del proyecto. En el bloque 4 se amplía en este mismo archivo, así que tienen que guardarlo bien (nombre de la pareja en el nombre del archivo).</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145–160. Por parejas, con la propuesta ganadora que acaban de elegir. El prompt está en el guion para copiarlo. Pasar por las mesas: lo habitual es que la IA escriba de más o meta afirmaciones que nadie le ha dado. Esta ficha servirá de borrador para el documento del bloque 4.</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Puesta en común en los últimos 4 minutos del tramo: dos o tres parejas. Buscar ejemplos concretos de cosas que la IA añadió sin que nadie se las diera.</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160–165. Anotar las respuestas: indican en qué insistir durante el bloque 4.</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Enlazar con el bloque 4: cada pareja va a desarrollar su propuesta ganadora hasta convertirla en un proyecto defendible.</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del bloque: convertir la propuesta ganadora de cada pareja en un proyecto defendible: bien explicado, con sus riesgos, con una forma de medir si funciona y con una presentación breve.</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Continuidad: cada pareja trabaja sobre su propia propuesta ganadora del bloque 3 y su ficha exprés. Al final del bloque tendrá su matriz, su documento y su presentación, listos para defenderlos en el bloque 5.</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mismo archivo del bloque 3. Lo marcado «bloque 4» son los indicadores, el coste, las medidas preventivas y los tres pasos. La página de trabajo no cuenta en las dos páginas.</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165–175. Antes de desarrollar el proyecto, hay que ponerlo a prueba. Las parejas se juntan de dos en dos; la pareja A explica su propuesta en un minuto y la pareja B le hace dos preguntas difíciles. Después se cambian los papeles. Recordad cuál es vuestra pareja: volveréis a juntaros con ella en la revisión cruzada del final.</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pareja apunta las preguntas que no ha sabido responder: son lo primero que tiene que resolver el documento del proyecto.</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175–195. Ampliar la ficha exprés hasta el documento del proyecto, de máximo dos páginas: los seis apartados de la ficha, ampliados (en «Solución», cómo funciona; en «Beneficios esperados», los dos indicadores que se definen después; en «Recursos», las herramientas ofimáticas y de IA; en «Riesgos», sus medidas preventivas), más un apartado nuevo: tres pasos para ponerla en práctica. La IA puede ayudar a redactar, pero cada apartado lo revisa la pareja con el mismo criterio de la ficha exprés: qué sobra, qué falta y qué no es cierto.</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de acompañamiento docente mientras las parejas redactan. Pasar por las mesas.</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195–210. No hay que esperar un mes ni simular nada: las parejas solo diseñan cómo se comprobaría que la propuesta funciona si alguien decidiera probarla. Es un plan de medición, no una medición. Otros ejemplos de indicadores: tiempo de tramitación, pedidos servidos tarde o plazas sin cubrir.</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prompt está en el guion para copiarlo. La IA propone; la pareja elige los dos indicadores y decide cómo medirlos.</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Plantilla para que cada pareja ordene sus dos indicadores antes de pasarlos al documento.</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pistas son el texto de ayuda de PowerPoint: se ven al editar y no al proyectar, así que no hay que borrarlas. Los criterios de la revisión cruzada están en las notas del orador de la plantilla.</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210–235. Tres diapositivas, cada una con una idea central. La tercera incluye los dos indicadores definidos antes.</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Criterios de la presentación. Son los mismos que se comprobarán en la revisión cruzada.</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235–240. Cada pareja devuelve a la otra una mejora concreta.</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Entregables del taller: matriz de decisión (bloque 3), documento del proyecto y presentación. Enlazar con el bloque 5: la defensa.</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del bloque: defender una propuesta, aceptar críticas constructivas y traducir la experiencia en evidencias profesionales.</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del bloque: cada pareja defiende su propuesta ganadora ante el grupo y ante la IA, y después se traslada lo aprendido a la búsqueda de empleo.</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240–244. Leer las dos versiones de la misma propuesta y preguntar al grupo cuál aprobaría y por qué.</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versión A habla de herramientas y hace afirmaciones sin justificar; la B parte del problema, explica la solución y dice cómo se medirá. De ahí sale la estructura de la defensa.</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5 vuelve al cuaderno: el ensayo, la observación de las otras parejas, la IA como evaluadora crítica y el relato individual para una entrevista.</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244–250. Cada pareja prepara y ensaya en voz baja la primera frase de su presentación: el problema en 20 segundos.</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250–275. Con 16 personas organizadas en ocho parejas, reservar alrededor de dos minutos de presentación y uno de preguntas por equipo. Con grupos más numerosos, organizar mesas paralelas de evaluación.</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observadores comentan claridad, originalidad, viabilidad y posibles riesgos, con al menos una propuesta de mejora.</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275–285. El prompt está en el guion para copiarlo. Recordar: sin información sensible en el resumen.</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equipo explica cuál de las críticas de la IA acepta y qué modificaría. Recordar que una respuesta de IA también puede contener errores.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285–295. Explicar que el trabajo realizado permite demostrar identificación de problemas, análisis, creatividad, dominio digital y comunicación.</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295–300. Preguntar oralmente.</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a cada participante una técnica que quiera aplicar en un futuro empleo.</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central para cerrar el taller (sección de orientaciones metodológicas del guion).</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7680960" cy="18288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3794760"/>
            <a:ext cx="7680960" cy="1371600"/>
          </a:xfrm>
          <a:prstGeom prst="rect">
            <a:avLst/>
          </a:prstGeom>
          <a:noFill/>
          <a:ln/>
        </p:spPr>
        <p:txBody>
          <a:bodyPr wrap="square" rtlCol="0"/>
          <a:lstStyle>
            <a:lvl1pPr marL="0" indent="0">
              <a:buNone/>
              <a:defRPr lang="en-US" sz="2000" dirty="0">
                <a:solidFill>
                  <a:schemeClr val="accent1"/>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108960" y="2103120"/>
            <a:ext cx="8503920" cy="146304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3108960" y="3749040"/>
            <a:ext cx="8503920" cy="731520"/>
          </a:xfrm>
          <a:prstGeom prst="rect">
            <a:avLst/>
          </a:prstGeom>
          <a:noFill/>
          <a:ln/>
        </p:spPr>
        <p:txBody>
          <a:bodyPr wrap="square" rtlCol="0"/>
          <a:lstStyle>
            <a:lvl1pPr marL="0" indent="0">
              <a:buNone/>
              <a:defRPr lang="en-US" sz="2200" dirty="0">
                <a:solidFill>
                  <a:schemeClr val="accent1"/>
                </a:solidFill>
              </a:defRPr>
            </a:lvl1pPr>
          </a:lstStyle>
          <a:p>
            <a:pPr marL="0" indent="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355080"/>
            <a:ext cx="8229600" cy="320040"/>
          </a:xfrm>
          <a:prstGeom prst="rect">
            <a:avLst/>
          </a:prstGeom>
          <a:noFill/>
          <a:ln/>
        </p:spPr>
        <p:txBody>
          <a:bodyPr wrap="square" lIns="0" tIns="0" rIns="0" bIns="0" rtlCol="0" anchor="ctr"/>
          <a:lstStyle/>
          <a:p>
            <a:pPr marL="0" indent="0">
              <a:buNone/>
            </a:pPr>
            <a:r>
              <a:rPr lang="en-US" sz="1100" dirty="0">
                <a:solidFill>
                  <a:schemeClr val="accent5"/>
                </a:solidFill>
              </a:rPr>
              <a:t>Bloque 1 · Activación de la creatividad y brainstorming</a:t>
            </a:r>
            <a:endParaRPr lang="en-US" sz="1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STACAD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1097280" y="1554480"/>
            <a:ext cx="9966960" cy="3108960"/>
          </a:xfrm>
          <a:prstGeom prst="rect">
            <a:avLst/>
          </a:prstGeom>
          <a:noFill/>
          <a:ln/>
        </p:spPr>
        <p:txBody>
          <a:bodyPr wrap="square" rtlCol="0"/>
          <a:lstStyle>
            <a:lvl1pPr marL="0" indent="0">
              <a:buNone/>
              <a:defRPr lang="en-US" sz="3400" dirty="0">
                <a:solidFill>
                  <a:schemeClr val="bg1"/>
                </a:solidFill>
              </a:defRPr>
            </a:lvl1pPr>
          </a:lstStyle>
          <a:p>
            <a:pPr marL="0" indent="0">
              <a:buNone/>
            </a:pPr>
            <a:endParaRPr lang="en-US" sz="3400" dirty="0"/>
          </a:p>
        </p:txBody>
      </p:sp>
      <p:sp>
        <p:nvSpPr>
          <p:cNvPr id="3" name="Text 0"/>
          <p:cNvSpPr/>
          <p:nvPr/>
        </p:nvSpPr>
        <p:spPr>
          <a:xfrm>
            <a:off x="548640" y="6355080"/>
            <a:ext cx="8229600" cy="320040"/>
          </a:xfrm>
          <a:prstGeom prst="rect">
            <a:avLst/>
          </a:prstGeom>
          <a:noFill/>
          <a:ln/>
        </p:spPr>
        <p:txBody>
          <a:bodyPr wrap="square" lIns="0" tIns="0" rIns="0" bIns="0" rtlCol="0" anchor="ctr"/>
          <a:lstStyle/>
          <a:p>
            <a:pPr marL="0" indent="0">
              <a:buNone/>
            </a:pPr>
            <a:r>
              <a:rPr lang="en-US" sz="1100" dirty="0">
                <a:solidFill>
                  <a:schemeClr val="accent5"/>
                </a:solidFill>
              </a:rPr>
              <a:t>Bloque 1 · Activación de la creatividad y brainstorming</a:t>
            </a:r>
            <a:endParaRPr lang="en-US" sz="1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41.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42.png"/><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45.png"/><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47.png"/><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9.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1.xml"/><Relationship Id="rId1"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image" Target="../media/image52.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6.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53.png"/></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56.png"/><Relationship Id="rId4" Type="http://schemas.openxmlformats.org/officeDocument/2006/relationships/image" Target="../media/image55.png"/></Relationships>
</file>

<file path=ppt/slides/_rels/slide5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8.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42.png"/><Relationship Id="rId4" Type="http://schemas.openxmlformats.org/officeDocument/2006/relationships/image" Target="../media/image53.png"/></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0.xml"/><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59.png"/><Relationship Id="rId4" Type="http://schemas.openxmlformats.org/officeDocument/2006/relationships/image" Target="../media/image57.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6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7.xml"/><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6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6.png"/><Relationship Id="rId7" Type="http://schemas.openxmlformats.org/officeDocument/2006/relationships/image" Target="../media/image64.png"/><Relationship Id="rId2" Type="http://schemas.openxmlformats.org/officeDocument/2006/relationships/notesSlide" Target="../notesSlides/notesSlide69.xml"/><Relationship Id="rId1" Type="http://schemas.openxmlformats.org/officeDocument/2006/relationships/slideLayout" Target="../slideLayouts/slideLayout4.xml"/><Relationship Id="rId6" Type="http://schemas.openxmlformats.org/officeDocument/2006/relationships/image" Target="../media/image63.png"/><Relationship Id="rId5" Type="http://schemas.openxmlformats.org/officeDocument/2006/relationships/image" Target="../media/image60.png"/><Relationship Id="rId4" Type="http://schemas.openxmlformats.org/officeDocument/2006/relationships/image" Target="../media/image62.png"/></Relationships>
</file>

<file path=ppt/slides/_rels/slide7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0.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35.png"/></Relationships>
</file>

<file path=ppt/slides/_rels/slide7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1.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35.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4.xml"/><Relationship Id="rId1" Type="http://schemas.openxmlformats.org/officeDocument/2006/relationships/slideLayout" Target="../slideLayouts/slideLayout4.xml"/><Relationship Id="rId6" Type="http://schemas.openxmlformats.org/officeDocument/2006/relationships/image" Target="../media/image67.png"/><Relationship Id="rId5" Type="http://schemas.openxmlformats.org/officeDocument/2006/relationships/image" Target="../media/image43.png"/><Relationship Id="rId4" Type="http://schemas.openxmlformats.org/officeDocument/2006/relationships/image" Target="../media/image8.png"/></Relationships>
</file>

<file path=ppt/slides/_rels/slide7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6.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70.png"/><Relationship Id="rId4" Type="http://schemas.openxmlformats.org/officeDocument/2006/relationships/image" Target="../media/image69.png"/></Relationships>
</file>

<file path=ppt/slides/_rels/slide7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71.png"/><Relationship Id="rId7" Type="http://schemas.openxmlformats.org/officeDocument/2006/relationships/image" Target="../media/image4.png"/><Relationship Id="rId2" Type="http://schemas.openxmlformats.org/officeDocument/2006/relationships/notesSlide" Target="../notesSlides/notesSlide78.xml"/><Relationship Id="rId1" Type="http://schemas.openxmlformats.org/officeDocument/2006/relationships/slideLayout" Target="../slideLayouts/slideLayout4.xml"/><Relationship Id="rId6" Type="http://schemas.openxmlformats.org/officeDocument/2006/relationships/image" Target="../media/image65.png"/><Relationship Id="rId5" Type="http://schemas.openxmlformats.org/officeDocument/2006/relationships/image" Target="../media/image72.png"/><Relationship Id="rId4" Type="http://schemas.openxmlformats.org/officeDocument/2006/relationships/image" Target="../media/image1.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8.png"/><Relationship Id="rId7" Type="http://schemas.openxmlformats.org/officeDocument/2006/relationships/image" Target="../media/image75.png"/><Relationship Id="rId2" Type="http://schemas.openxmlformats.org/officeDocument/2006/relationships/notesSlide" Target="../notesSlides/notesSlide83.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image" Target="../media/image77.png"/></Relationships>
</file>

<file path=ppt/slides/_rels/slide8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5.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50.png"/><Relationship Id="rId4" Type="http://schemas.openxmlformats.org/officeDocument/2006/relationships/image" Target="../media/image79.png"/></Relationships>
</file>

<file path=ppt/slides/_rels/slide8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6.xml"/><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image" Target="../media/image80.png"/></Relationships>
</file>

<file path=ppt/slides/_rels/slide8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81.png"/><Relationship Id="rId7" Type="http://schemas.openxmlformats.org/officeDocument/2006/relationships/image" Target="../media/image83.png"/><Relationship Id="rId2" Type="http://schemas.openxmlformats.org/officeDocument/2006/relationships/notesSlide" Target="../notesSlides/notesSlide87.xml"/><Relationship Id="rId1" Type="http://schemas.openxmlformats.org/officeDocument/2006/relationships/slideLayout" Target="../slideLayouts/slideLayout4.xml"/><Relationship Id="rId6" Type="http://schemas.openxmlformats.org/officeDocument/2006/relationships/image" Target="../media/image72.png"/><Relationship Id="rId5" Type="http://schemas.openxmlformats.org/officeDocument/2006/relationships/image" Target="../media/image4.png"/><Relationship Id="rId4" Type="http://schemas.openxmlformats.org/officeDocument/2006/relationships/image" Target="../media/image82.png"/></Relationships>
</file>

<file path=ppt/slides/_rels/slide8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88.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8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83.png"/><Relationship Id="rId2" Type="http://schemas.openxmlformats.org/officeDocument/2006/relationships/notesSlide" Target="../notesSlides/notesSlide92.xml"/><Relationship Id="rId1" Type="http://schemas.openxmlformats.org/officeDocument/2006/relationships/slideLayout" Target="../slideLayouts/slideLayout4.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9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94.xml"/><Relationship Id="rId1" Type="http://schemas.openxmlformats.org/officeDocument/2006/relationships/slideLayout" Target="../slideLayouts/slideLayout4.xml"/><Relationship Id="rId5" Type="http://schemas.openxmlformats.org/officeDocument/2006/relationships/image" Target="../media/image91.png"/><Relationship Id="rId4" Type="http://schemas.openxmlformats.org/officeDocument/2006/relationships/image" Target="../media/image20.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2.png"/><Relationship Id="rId7"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4.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 Id="rId9" Type="http://schemas.openxmlformats.org/officeDocument/2006/relationships/image" Target="../media/image55.png"/></Relationships>
</file>

<file path=ppt/slides/_rels/slide9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9.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00.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0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99.png"/><Relationship Id="rId7" Type="http://schemas.openxmlformats.org/officeDocument/2006/relationships/image" Target="../media/image101.png"/><Relationship Id="rId2" Type="http://schemas.openxmlformats.org/officeDocument/2006/relationships/notesSlide" Target="../notesSlides/notesSlide102.xml"/><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100.png"/><Relationship Id="rId4" Type="http://schemas.openxmlformats.org/officeDocument/2006/relationships/image" Target="../media/image33.png"/></Relationships>
</file>

<file path=ppt/slides/_rels/slide10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3.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4.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0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71.png"/><Relationship Id="rId7" Type="http://schemas.openxmlformats.org/officeDocument/2006/relationships/image" Target="../media/image73.png"/><Relationship Id="rId2" Type="http://schemas.openxmlformats.org/officeDocument/2006/relationships/notesSlide" Target="../notesSlides/notesSlide105.xml"/><Relationship Id="rId1" Type="http://schemas.openxmlformats.org/officeDocument/2006/relationships/slideLayout" Target="../slideLayouts/slideLayout4.xml"/><Relationship Id="rId6" Type="http://schemas.openxmlformats.org/officeDocument/2006/relationships/image" Target="../media/image103.png"/><Relationship Id="rId5" Type="http://schemas.openxmlformats.org/officeDocument/2006/relationships/image" Target="../media/image1.png"/><Relationship Id="rId4" Type="http://schemas.openxmlformats.org/officeDocument/2006/relationships/image" Target="../media/image102.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7.xml"/><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ólogo"/>
          <p:cNvSpPr/>
          <p:nvPr/>
        </p:nvSpPr>
        <p:spPr>
          <a:xfrm>
            <a:off x="731520" y="2103120"/>
            <a:ext cx="2011680" cy="2011680"/>
          </a:xfrm>
          <a:prstGeom prst="ellipse">
            <a:avLst/>
          </a:prstGeom>
          <a:solidFill>
            <a:schemeClr val="accent1"/>
          </a:solidFill>
          <a:ln/>
        </p:spPr>
      </p:sp>
      <p:pic>
        <p:nvPicPr>
          <p:cNvPr id="3" name="Image 0" descr="Prólogo"/>
          <p:cNvPicPr>
            <a:picLocks noChangeAspect="1"/>
          </p:cNvPicPr>
          <p:nvPr/>
        </p:nvPicPr>
        <p:blipFill>
          <a:blip r:embed="rId3"/>
          <a:stretch>
            <a:fillRect/>
          </a:stretch>
        </p:blipFill>
        <p:spPr>
          <a:xfrm>
            <a:off x="1214323" y="2585923"/>
            <a:ext cx="1046074" cy="1046074"/>
          </a:xfrm>
          <a:prstGeom prst="rect">
            <a:avLst/>
          </a:prstGeom>
        </p:spPr>
      </p:pic>
      <p:sp>
        <p:nvSpPr>
          <p:cNvPr id="4" name="Text 0"/>
          <p:cNvSpPr>
            <a:spLocks noGrp="1"/>
          </p:cNvSpPr>
          <p:nvPr>
            <p:ph type="title" idx="100" hasCustomPrompt="1"/>
          </p:nvPr>
        </p:nvSpPr>
        <p:spPr>
          <a:xfrm>
            <a:off x="3108960" y="2103120"/>
            <a:ext cx="8503920" cy="1463040"/>
          </a:xfrm>
          <a:prstGeom prst="rect">
            <a:avLst/>
          </a:prstGeom>
          <a:noFill/>
          <a:ln/>
        </p:spPr>
        <p:txBody>
          <a:bodyPr wrap="square" lIns="0" tIns="0" rIns="0" bIns="0" rtlCol="0" anchor="b"/>
          <a:lstStyle/>
          <a:p>
            <a:pPr marL="0" indent="0" algn="l">
              <a:buNone/>
            </a:pPr>
            <a:r>
              <a:rPr lang="en-US" sz="4000" b="1" dirty="0">
                <a:solidFill>
                  <a:schemeClr val="bg1"/>
                </a:solidFill>
              </a:rPr>
              <a:t>¿</a:t>
            </a:r>
            <a:r>
              <a:rPr lang="en-US" sz="4000" b="1" dirty="0" err="1">
                <a:solidFill>
                  <a:schemeClr val="bg1"/>
                </a:solidFill>
              </a:rPr>
              <a:t>Qué</a:t>
            </a:r>
            <a:r>
              <a:rPr lang="en-US" sz="4000" b="1" dirty="0">
                <a:solidFill>
                  <a:schemeClr val="bg1"/>
                </a:solidFill>
              </a:rPr>
              <a:t> vamos a </a:t>
            </a:r>
            <a:r>
              <a:rPr lang="en-US" sz="4000" b="1" dirty="0" err="1">
                <a:solidFill>
                  <a:schemeClr val="bg1"/>
                </a:solidFill>
              </a:rPr>
              <a:t>hacer</a:t>
            </a:r>
            <a:r>
              <a:rPr lang="en-US" sz="4000" b="1" dirty="0">
                <a:solidFill>
                  <a:schemeClr val="bg1"/>
                </a:solidFill>
              </a:rPr>
              <a:t> hoy?</a:t>
            </a:r>
            <a:endParaRPr lang="en-US" sz="4000" dirty="0"/>
          </a:p>
        </p:txBody>
      </p:sp>
      <p:sp>
        <p:nvSpPr>
          <p:cNvPr id="5" name="Text 0"/>
          <p:cNvSpPr>
            <a:spLocks noGrp="1"/>
          </p:cNvSpPr>
          <p:nvPr>
            <p:ph type="body" idx="101" hasCustomPrompt="1"/>
          </p:nvPr>
        </p:nvSpPr>
        <p:spPr>
          <a:xfrm>
            <a:off x="3108960" y="3749040"/>
            <a:ext cx="8503920" cy="731520"/>
          </a:xfrm>
          <a:prstGeom prst="rect">
            <a:avLst/>
          </a:prstGeom>
          <a:noFill/>
          <a:ln/>
        </p:spPr>
        <p:txBody>
          <a:bodyPr wrap="square" lIns="0" tIns="0" rIns="0" bIns="0" rtlCol="0" anchor="t"/>
          <a:lstStyle/>
          <a:p>
            <a:r>
              <a:rPr lang="en-US" sz="2400" dirty="0"/>
              <a:t>Desarrollo de las </a:t>
            </a:r>
            <a:r>
              <a:rPr lang="en-US" sz="2400" dirty="0" err="1"/>
              <a:t>habilidades</a:t>
            </a:r>
            <a:r>
              <a:rPr lang="en-US" sz="2400" dirty="0"/>
              <a:t> </a:t>
            </a:r>
            <a:r>
              <a:rPr lang="en-US" sz="2400" dirty="0" err="1"/>
              <a:t>creativas</a:t>
            </a:r>
            <a:r>
              <a:rPr lang="en-US" sz="2400" dirty="0"/>
              <a:t> e </a:t>
            </a:r>
            <a:r>
              <a:rPr lang="en-US" sz="2400" dirty="0" err="1"/>
              <a:t>innovadoras</a:t>
            </a:r>
            <a:r>
              <a:rPr lang="en-US" sz="2400" dirty="0"/>
              <a:t> con </a:t>
            </a:r>
            <a:r>
              <a:rPr lang="en-US" sz="2400" dirty="0" err="1"/>
              <a:t>herramientas</a:t>
            </a:r>
            <a:r>
              <a:rPr lang="en-US" sz="2400" dirty="0"/>
              <a:t> </a:t>
            </a:r>
            <a:r>
              <a:rPr lang="en-US" sz="2400" dirty="0" err="1"/>
              <a:t>ofimáticas</a:t>
            </a:r>
            <a:r>
              <a:rPr lang="en-US" sz="2400" dirty="0"/>
              <a:t> y de </a:t>
            </a:r>
            <a:r>
              <a:rPr lang="en-US" sz="2400" dirty="0" err="1"/>
              <a:t>inteligencia</a:t>
            </a:r>
            <a:r>
              <a:rPr lang="en-US" sz="2400" dirty="0"/>
              <a:t> artificial</a:t>
            </a:r>
          </a:p>
          <a:p>
            <a:pPr marL="0" indent="0">
              <a:buNone/>
            </a:pP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97280" y="1097280"/>
            <a:ext cx="7315200" cy="457200"/>
          </a:xfrm>
          <a:prstGeom prst="rect">
            <a:avLst/>
          </a:prstGeom>
          <a:noFill/>
          <a:ln/>
        </p:spPr>
        <p:txBody>
          <a:bodyPr wrap="square" lIns="0" tIns="0" rIns="0" bIns="0" rtlCol="0" anchor="ctr"/>
          <a:lstStyle/>
          <a:p>
            <a:pPr marL="0" indent="0">
              <a:buNone/>
            </a:pPr>
            <a:r>
              <a:rPr lang="en-US" sz="1800" b="1" dirty="0">
                <a:solidFill>
                  <a:schemeClr val="accent1"/>
                </a:solidFill>
              </a:rPr>
              <a:t>El objetivo</a:t>
            </a:r>
            <a:endParaRPr lang="en-US" sz="1800" dirty="0"/>
          </a:p>
        </p:txBody>
      </p:sp>
      <p:sp>
        <p:nvSpPr>
          <p:cNvPr id="3" name="Text 0"/>
          <p:cNvSpPr>
            <a:spLocks noGrp="1"/>
          </p:cNvSpPr>
          <p:nvPr>
            <p:ph type="body" idx="100" hasCustomPrompt="1"/>
          </p:nvPr>
        </p:nvSpPr>
        <p:spPr>
          <a:xfrm>
            <a:off x="1097280" y="1554480"/>
            <a:ext cx="9966960" cy="3108960"/>
          </a:xfrm>
          <a:prstGeom prst="rect">
            <a:avLst/>
          </a:prstGeom>
          <a:noFill/>
          <a:ln/>
        </p:spPr>
        <p:txBody>
          <a:bodyPr wrap="square" lIns="0" tIns="0" rIns="0" bIns="0" rtlCol="0" anchor="ctr"/>
          <a:lstStyle/>
          <a:p>
            <a:pPr marL="0" indent="0">
              <a:buNone/>
            </a:pPr>
            <a:r>
              <a:rPr lang="en-US" sz="3400" dirty="0">
                <a:solidFill>
                  <a:schemeClr val="bg1"/>
                </a:solidFill>
              </a:rPr>
              <a:t>Aprender a modelizar un proceso de innovación —ideación, selección y decisión— de una manera </a:t>
            </a:r>
            <a:r>
              <a:rPr lang="en-US" sz="3400" dirty="0" err="1">
                <a:solidFill>
                  <a:schemeClr val="bg1"/>
                </a:solidFill>
              </a:rPr>
              <a:t>estructurada</a:t>
            </a:r>
            <a:r>
              <a:rPr lang="en-US" sz="3400" dirty="0">
                <a:solidFill>
                  <a:schemeClr val="bg1"/>
                </a:solidFill>
              </a:rPr>
              <a:t>, </a:t>
            </a:r>
            <a:r>
              <a:rPr lang="en-US" sz="3400" b="1" dirty="0">
                <a:solidFill>
                  <a:schemeClr val="accent1"/>
                </a:solidFill>
              </a:rPr>
              <a:t>para poder presentarlo.</a:t>
            </a:r>
            <a:endParaRPr lang="en-US" sz="3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Qué vamos a hacer</a:t>
            </a:r>
            <a:endParaRPr lang="en-US" sz="3200" dirty="0"/>
          </a:p>
        </p:txBody>
      </p:sp>
      <p:sp>
        <p:nvSpPr>
          <p:cNvPr id="3" name="Tarjeta"/>
          <p:cNvSpPr/>
          <p:nvPr/>
        </p:nvSpPr>
        <p:spPr>
          <a:xfrm>
            <a:off x="548640" y="1645920"/>
            <a:ext cx="1962851" cy="3566160"/>
          </a:xfrm>
          <a:prstGeom prst="roundRect">
            <a:avLst>
              <a:gd name="adj" fmla="val 6988"/>
            </a:avLst>
          </a:prstGeom>
          <a:solidFill>
            <a:schemeClr val="bg2"/>
          </a:solidFill>
          <a:ln/>
        </p:spPr>
      </p:sp>
      <p:sp>
        <p:nvSpPr>
          <p:cNvPr id="4" name="Text 2"/>
          <p:cNvSpPr txBox="1"/>
          <p:nvPr/>
        </p:nvSpPr>
        <p:spPr>
          <a:xfrm>
            <a:off x="1962851" y="1737360"/>
            <a:ext cx="411480" cy="457200"/>
          </a:xfrm>
          <a:prstGeom prst="rect">
            <a:avLst/>
          </a:prstGeom>
          <a:noFill/>
          <a:ln/>
        </p:spPr>
        <p:txBody>
          <a:bodyPr wrap="square" lIns="0" tIns="0" rIns="0" bIns="0" rtlCol="0" anchor="ctr"/>
          <a:lstStyle/>
          <a:p>
            <a:pPr marL="0" indent="0" algn="r">
              <a:buNone/>
            </a:pPr>
            <a:r>
              <a:rPr lang="en-US" sz="2200" b="1" dirty="0">
                <a:solidFill>
                  <a:schemeClr val="accent5"/>
                </a:solidFill>
              </a:rPr>
              <a:t>1</a:t>
            </a:r>
            <a:endParaRPr lang="en-US" sz="2200" dirty="0"/>
          </a:p>
        </p:txBody>
      </p:sp>
      <p:sp>
        <p:nvSpPr>
          <p:cNvPr id="5" name="Generar muchas ideas"/>
          <p:cNvSpPr/>
          <p:nvPr/>
        </p:nvSpPr>
        <p:spPr>
          <a:xfrm>
            <a:off x="822960" y="1920240"/>
            <a:ext cx="868680" cy="868680"/>
          </a:xfrm>
          <a:prstGeom prst="ellipse">
            <a:avLst/>
          </a:prstGeom>
          <a:solidFill>
            <a:schemeClr val="accent1"/>
          </a:solidFill>
          <a:ln/>
        </p:spPr>
      </p:sp>
      <p:pic>
        <p:nvPicPr>
          <p:cNvPr id="6" name="Image 0" descr="Generar muchas ideas"/>
          <p:cNvPicPr>
            <a:picLocks noChangeAspect="1"/>
          </p:cNvPicPr>
          <p:nvPr/>
        </p:nvPicPr>
        <p:blipFill>
          <a:blip r:embed="rId3"/>
          <a:stretch>
            <a:fillRect/>
          </a:stretch>
        </p:blipFill>
        <p:spPr>
          <a:xfrm>
            <a:off x="1031443" y="2128723"/>
            <a:ext cx="451714" cy="451714"/>
          </a:xfrm>
          <a:prstGeom prst="rect">
            <a:avLst/>
          </a:prstGeom>
        </p:spPr>
      </p:pic>
      <p:sp>
        <p:nvSpPr>
          <p:cNvPr id="7" name="Text 4"/>
          <p:cNvSpPr txBox="1"/>
          <p:nvPr/>
        </p:nvSpPr>
        <p:spPr>
          <a:xfrm>
            <a:off x="822960" y="2971800"/>
            <a:ext cx="1414211" cy="822960"/>
          </a:xfrm>
          <a:prstGeom prst="rect">
            <a:avLst/>
          </a:prstGeom>
          <a:noFill/>
          <a:ln/>
        </p:spPr>
        <p:txBody>
          <a:bodyPr wrap="square" lIns="0" tIns="0" rIns="0" bIns="0" rtlCol="0" anchor="t"/>
          <a:lstStyle/>
          <a:p>
            <a:pPr marL="0" indent="0">
              <a:buNone/>
            </a:pPr>
            <a:r>
              <a:rPr lang="en-US" sz="1900" b="1" dirty="0">
                <a:solidFill>
                  <a:schemeClr val="tx1"/>
                </a:solidFill>
              </a:rPr>
              <a:t>Generar muchas ideas</a:t>
            </a:r>
            <a:endParaRPr lang="en-US" sz="1900" dirty="0"/>
          </a:p>
        </p:txBody>
      </p:sp>
      <p:sp>
        <p:nvSpPr>
          <p:cNvPr id="8" name="Text 5"/>
          <p:cNvSpPr txBox="1"/>
          <p:nvPr/>
        </p:nvSpPr>
        <p:spPr>
          <a:xfrm>
            <a:off x="822960" y="3840480"/>
            <a:ext cx="1414211" cy="1188720"/>
          </a:xfrm>
          <a:prstGeom prst="rect">
            <a:avLst/>
          </a:prstGeom>
          <a:noFill/>
          <a:ln/>
        </p:spPr>
        <p:txBody>
          <a:bodyPr wrap="square" lIns="0" tIns="0" rIns="0" bIns="0" rtlCol="0" anchor="t"/>
          <a:lstStyle/>
          <a:p>
            <a:pPr marL="0" indent="0">
              <a:buNone/>
            </a:pPr>
            <a:r>
              <a:rPr lang="en-US" sz="1500" dirty="0">
                <a:solidFill>
                  <a:schemeClr val="tx2"/>
                </a:solidFill>
              </a:rPr>
              <a:t>Brainstorming, SCAMPER y provocación</a:t>
            </a:r>
            <a:endParaRPr lang="en-US" sz="1500" dirty="0"/>
          </a:p>
        </p:txBody>
      </p:sp>
      <p:sp>
        <p:nvSpPr>
          <p:cNvPr id="9" name="Shape 6"/>
          <p:cNvSpPr/>
          <p:nvPr/>
        </p:nvSpPr>
        <p:spPr>
          <a:xfrm>
            <a:off x="2548067" y="3429000"/>
            <a:ext cx="246888" cy="0"/>
          </a:xfrm>
          <a:prstGeom prst="line">
            <a:avLst/>
          </a:prstGeom>
          <a:noFill/>
          <a:ln w="31750">
            <a:solidFill>
              <a:srgbClr val="3A4664"/>
            </a:solidFill>
            <a:prstDash val="solid"/>
            <a:tailEnd type="triangle"/>
          </a:ln>
        </p:spPr>
      </p:sp>
      <p:sp>
        <p:nvSpPr>
          <p:cNvPr id="10" name="Tarjeta"/>
          <p:cNvSpPr/>
          <p:nvPr/>
        </p:nvSpPr>
        <p:spPr>
          <a:xfrm>
            <a:off x="2831531" y="1645920"/>
            <a:ext cx="1962851" cy="3566160"/>
          </a:xfrm>
          <a:prstGeom prst="roundRect">
            <a:avLst>
              <a:gd name="adj" fmla="val 6988"/>
            </a:avLst>
          </a:prstGeom>
          <a:solidFill>
            <a:schemeClr val="bg2"/>
          </a:solidFill>
          <a:ln/>
        </p:spPr>
      </p:sp>
      <p:sp>
        <p:nvSpPr>
          <p:cNvPr id="11" name="Text 8"/>
          <p:cNvSpPr txBox="1"/>
          <p:nvPr/>
        </p:nvSpPr>
        <p:spPr>
          <a:xfrm>
            <a:off x="4245742" y="1737360"/>
            <a:ext cx="411480" cy="457200"/>
          </a:xfrm>
          <a:prstGeom prst="rect">
            <a:avLst/>
          </a:prstGeom>
          <a:noFill/>
          <a:ln/>
        </p:spPr>
        <p:txBody>
          <a:bodyPr wrap="square" lIns="0" tIns="0" rIns="0" bIns="0" rtlCol="0" anchor="ctr"/>
          <a:lstStyle/>
          <a:p>
            <a:pPr marL="0" indent="0" algn="r">
              <a:buNone/>
            </a:pPr>
            <a:r>
              <a:rPr lang="en-US" sz="2200" b="1" dirty="0">
                <a:solidFill>
                  <a:schemeClr val="accent5"/>
                </a:solidFill>
              </a:rPr>
              <a:t>2</a:t>
            </a:r>
            <a:endParaRPr lang="en-US" sz="2200" dirty="0"/>
          </a:p>
        </p:txBody>
      </p:sp>
      <p:sp>
        <p:nvSpPr>
          <p:cNvPr id="12" name="Seleccionar"/>
          <p:cNvSpPr/>
          <p:nvPr/>
        </p:nvSpPr>
        <p:spPr>
          <a:xfrm>
            <a:off x="3105851" y="1920240"/>
            <a:ext cx="868680" cy="868680"/>
          </a:xfrm>
          <a:prstGeom prst="ellipse">
            <a:avLst/>
          </a:prstGeom>
          <a:solidFill>
            <a:schemeClr val="accent1"/>
          </a:solidFill>
          <a:ln/>
        </p:spPr>
      </p:sp>
      <p:pic>
        <p:nvPicPr>
          <p:cNvPr id="13" name="Image 1" descr="Seleccionar"/>
          <p:cNvPicPr>
            <a:picLocks noChangeAspect="1"/>
          </p:cNvPicPr>
          <p:nvPr/>
        </p:nvPicPr>
        <p:blipFill>
          <a:blip r:embed="rId4"/>
          <a:stretch>
            <a:fillRect/>
          </a:stretch>
        </p:blipFill>
        <p:spPr>
          <a:xfrm>
            <a:off x="3314334" y="2128723"/>
            <a:ext cx="451714" cy="451714"/>
          </a:xfrm>
          <a:prstGeom prst="rect">
            <a:avLst/>
          </a:prstGeom>
        </p:spPr>
      </p:pic>
      <p:sp>
        <p:nvSpPr>
          <p:cNvPr id="14" name="Text 10"/>
          <p:cNvSpPr txBox="1"/>
          <p:nvPr/>
        </p:nvSpPr>
        <p:spPr>
          <a:xfrm>
            <a:off x="3105851" y="2971800"/>
            <a:ext cx="1414211" cy="822960"/>
          </a:xfrm>
          <a:prstGeom prst="rect">
            <a:avLst/>
          </a:prstGeom>
          <a:noFill/>
          <a:ln/>
        </p:spPr>
        <p:txBody>
          <a:bodyPr wrap="square" lIns="0" tIns="0" rIns="0" bIns="0" rtlCol="0" anchor="t"/>
          <a:lstStyle/>
          <a:p>
            <a:pPr marL="0" indent="0">
              <a:buNone/>
            </a:pPr>
            <a:r>
              <a:rPr lang="en-US" sz="1900" b="1" dirty="0">
                <a:solidFill>
                  <a:schemeClr val="tx1"/>
                </a:solidFill>
              </a:rPr>
              <a:t>Seleccionar</a:t>
            </a:r>
            <a:endParaRPr lang="en-US" sz="1900" dirty="0"/>
          </a:p>
        </p:txBody>
      </p:sp>
      <p:sp>
        <p:nvSpPr>
          <p:cNvPr id="15" name="Text 11"/>
          <p:cNvSpPr txBox="1"/>
          <p:nvPr/>
        </p:nvSpPr>
        <p:spPr>
          <a:xfrm>
            <a:off x="3105851" y="3840480"/>
            <a:ext cx="1414211" cy="1188720"/>
          </a:xfrm>
          <a:prstGeom prst="rect">
            <a:avLst/>
          </a:prstGeom>
          <a:noFill/>
          <a:ln/>
        </p:spPr>
        <p:txBody>
          <a:bodyPr wrap="square" lIns="0" tIns="0" rIns="0" bIns="0" rtlCol="0" anchor="t"/>
          <a:lstStyle/>
          <a:p>
            <a:pPr marL="0" indent="0">
              <a:buNone/>
            </a:pPr>
            <a:r>
              <a:rPr lang="en-US" sz="1500" dirty="0">
                <a:solidFill>
                  <a:schemeClr val="tx2"/>
                </a:solidFill>
              </a:rPr>
              <a:t>Nos quedamos con las </a:t>
            </a:r>
            <a:r>
              <a:rPr lang="en-US" sz="1500" dirty="0" err="1">
                <a:solidFill>
                  <a:schemeClr val="tx2"/>
                </a:solidFill>
              </a:rPr>
              <a:t>que</a:t>
            </a:r>
            <a:r>
              <a:rPr lang="en-US" sz="1500" dirty="0">
                <a:solidFill>
                  <a:schemeClr val="tx2"/>
                </a:solidFill>
              </a:rPr>
              <a:t> realmente interesan</a:t>
            </a:r>
            <a:endParaRPr lang="en-US" sz="1500" dirty="0"/>
          </a:p>
        </p:txBody>
      </p:sp>
      <p:sp>
        <p:nvSpPr>
          <p:cNvPr id="16" name="Shape 12"/>
          <p:cNvSpPr/>
          <p:nvPr/>
        </p:nvSpPr>
        <p:spPr>
          <a:xfrm>
            <a:off x="4830958" y="3429000"/>
            <a:ext cx="246888" cy="0"/>
          </a:xfrm>
          <a:prstGeom prst="line">
            <a:avLst/>
          </a:prstGeom>
          <a:noFill/>
          <a:ln w="31750">
            <a:solidFill>
              <a:srgbClr val="3A4664"/>
            </a:solidFill>
            <a:prstDash val="solid"/>
            <a:tailEnd type="triangle"/>
          </a:ln>
        </p:spPr>
      </p:sp>
      <p:sp>
        <p:nvSpPr>
          <p:cNvPr id="17" name="Tarjeta"/>
          <p:cNvSpPr/>
          <p:nvPr/>
        </p:nvSpPr>
        <p:spPr>
          <a:xfrm>
            <a:off x="5114422" y="1645920"/>
            <a:ext cx="1962851" cy="3566160"/>
          </a:xfrm>
          <a:prstGeom prst="roundRect">
            <a:avLst>
              <a:gd name="adj" fmla="val 6988"/>
            </a:avLst>
          </a:prstGeom>
          <a:solidFill>
            <a:schemeClr val="bg2"/>
          </a:solidFill>
          <a:ln/>
        </p:spPr>
      </p:sp>
      <p:sp>
        <p:nvSpPr>
          <p:cNvPr id="18" name="Text 14"/>
          <p:cNvSpPr txBox="1"/>
          <p:nvPr/>
        </p:nvSpPr>
        <p:spPr>
          <a:xfrm>
            <a:off x="6528633" y="1737360"/>
            <a:ext cx="411480" cy="457200"/>
          </a:xfrm>
          <a:prstGeom prst="rect">
            <a:avLst/>
          </a:prstGeom>
          <a:noFill/>
          <a:ln/>
        </p:spPr>
        <p:txBody>
          <a:bodyPr wrap="square" lIns="0" tIns="0" rIns="0" bIns="0" rtlCol="0" anchor="ctr"/>
          <a:lstStyle/>
          <a:p>
            <a:pPr marL="0" indent="0" algn="r">
              <a:buNone/>
            </a:pPr>
            <a:r>
              <a:rPr lang="en-US" sz="2200" b="1" dirty="0">
                <a:solidFill>
                  <a:schemeClr val="accent5"/>
                </a:solidFill>
              </a:rPr>
              <a:t>3</a:t>
            </a:r>
            <a:endParaRPr lang="en-US" sz="2200" dirty="0"/>
          </a:p>
        </p:txBody>
      </p:sp>
      <p:sp>
        <p:nvSpPr>
          <p:cNvPr id="19" name="Comparar y elegir"/>
          <p:cNvSpPr/>
          <p:nvPr/>
        </p:nvSpPr>
        <p:spPr>
          <a:xfrm>
            <a:off x="5388742" y="1920240"/>
            <a:ext cx="868680" cy="868680"/>
          </a:xfrm>
          <a:prstGeom prst="ellipse">
            <a:avLst/>
          </a:prstGeom>
          <a:solidFill>
            <a:schemeClr val="accent1"/>
          </a:solidFill>
          <a:ln/>
        </p:spPr>
      </p:sp>
      <p:pic>
        <p:nvPicPr>
          <p:cNvPr id="20" name="Image 2" descr="Comparar y elegir"/>
          <p:cNvPicPr>
            <a:picLocks noChangeAspect="1"/>
          </p:cNvPicPr>
          <p:nvPr/>
        </p:nvPicPr>
        <p:blipFill>
          <a:blip r:embed="rId5"/>
          <a:stretch>
            <a:fillRect/>
          </a:stretch>
        </p:blipFill>
        <p:spPr>
          <a:xfrm>
            <a:off x="5597225" y="2128723"/>
            <a:ext cx="451714" cy="451714"/>
          </a:xfrm>
          <a:prstGeom prst="rect">
            <a:avLst/>
          </a:prstGeom>
        </p:spPr>
      </p:pic>
      <p:sp>
        <p:nvSpPr>
          <p:cNvPr id="21" name="Text 16"/>
          <p:cNvSpPr txBox="1"/>
          <p:nvPr/>
        </p:nvSpPr>
        <p:spPr>
          <a:xfrm>
            <a:off x="5388742" y="2971800"/>
            <a:ext cx="1414211" cy="822960"/>
          </a:xfrm>
          <a:prstGeom prst="rect">
            <a:avLst/>
          </a:prstGeom>
          <a:noFill/>
          <a:ln/>
        </p:spPr>
        <p:txBody>
          <a:bodyPr wrap="square" lIns="0" tIns="0" rIns="0" bIns="0" rtlCol="0" anchor="t"/>
          <a:lstStyle/>
          <a:p>
            <a:pPr marL="0" indent="0">
              <a:buNone/>
            </a:pPr>
            <a:r>
              <a:rPr lang="en-US" sz="1900" b="1" dirty="0">
                <a:solidFill>
                  <a:schemeClr val="tx1"/>
                </a:solidFill>
              </a:rPr>
              <a:t>Comparar y elegir</a:t>
            </a:r>
            <a:endParaRPr lang="en-US" sz="1900" dirty="0"/>
          </a:p>
        </p:txBody>
      </p:sp>
      <p:sp>
        <p:nvSpPr>
          <p:cNvPr id="22" name="Text 17"/>
          <p:cNvSpPr txBox="1"/>
          <p:nvPr/>
        </p:nvSpPr>
        <p:spPr>
          <a:xfrm>
            <a:off x="5388742" y="3840480"/>
            <a:ext cx="1414211" cy="1188720"/>
          </a:xfrm>
          <a:prstGeom prst="rect">
            <a:avLst/>
          </a:prstGeom>
          <a:noFill/>
          <a:ln/>
        </p:spPr>
        <p:txBody>
          <a:bodyPr wrap="square" lIns="0" tIns="0" rIns="0" bIns="0" rtlCol="0" anchor="t"/>
          <a:lstStyle/>
          <a:p>
            <a:pPr marL="0" indent="0">
              <a:buNone/>
            </a:pPr>
            <a:r>
              <a:rPr lang="en-US" sz="1500" dirty="0">
                <a:solidFill>
                  <a:schemeClr val="tx2"/>
                </a:solidFill>
              </a:rPr>
              <a:t>Una matriz de decisión para elegir la ganadora</a:t>
            </a:r>
            <a:endParaRPr lang="en-US" sz="1500" dirty="0"/>
          </a:p>
        </p:txBody>
      </p:sp>
      <p:sp>
        <p:nvSpPr>
          <p:cNvPr id="23" name="Shape 18"/>
          <p:cNvSpPr/>
          <p:nvPr/>
        </p:nvSpPr>
        <p:spPr>
          <a:xfrm>
            <a:off x="7113849" y="3429000"/>
            <a:ext cx="246888" cy="0"/>
          </a:xfrm>
          <a:prstGeom prst="line">
            <a:avLst/>
          </a:prstGeom>
          <a:noFill/>
          <a:ln w="31750">
            <a:solidFill>
              <a:srgbClr val="3A4664"/>
            </a:solidFill>
            <a:prstDash val="solid"/>
            <a:tailEnd type="triangle"/>
          </a:ln>
        </p:spPr>
      </p:sp>
      <p:sp>
        <p:nvSpPr>
          <p:cNvPr id="24" name="Tarjeta"/>
          <p:cNvSpPr/>
          <p:nvPr/>
        </p:nvSpPr>
        <p:spPr>
          <a:xfrm>
            <a:off x="7397313" y="1645920"/>
            <a:ext cx="1962851" cy="3566160"/>
          </a:xfrm>
          <a:prstGeom prst="roundRect">
            <a:avLst>
              <a:gd name="adj" fmla="val 6988"/>
            </a:avLst>
          </a:prstGeom>
          <a:solidFill>
            <a:schemeClr val="bg2"/>
          </a:solidFill>
          <a:ln/>
        </p:spPr>
      </p:sp>
      <p:sp>
        <p:nvSpPr>
          <p:cNvPr id="25" name="Text 20"/>
          <p:cNvSpPr txBox="1"/>
          <p:nvPr/>
        </p:nvSpPr>
        <p:spPr>
          <a:xfrm>
            <a:off x="8811524" y="1737360"/>
            <a:ext cx="411480" cy="457200"/>
          </a:xfrm>
          <a:prstGeom prst="rect">
            <a:avLst/>
          </a:prstGeom>
          <a:noFill/>
          <a:ln/>
        </p:spPr>
        <p:txBody>
          <a:bodyPr wrap="square" lIns="0" tIns="0" rIns="0" bIns="0" rtlCol="0" anchor="ctr"/>
          <a:lstStyle/>
          <a:p>
            <a:pPr marL="0" indent="0" algn="r">
              <a:buNone/>
            </a:pPr>
            <a:r>
              <a:rPr lang="en-US" sz="2200" b="1" dirty="0">
                <a:solidFill>
                  <a:schemeClr val="accent5"/>
                </a:solidFill>
              </a:rPr>
              <a:t>4</a:t>
            </a:r>
            <a:endParaRPr lang="en-US" sz="2200" dirty="0"/>
          </a:p>
        </p:txBody>
      </p:sp>
      <p:sp>
        <p:nvSpPr>
          <p:cNvPr id="26" name="Documentar y desarrollar"/>
          <p:cNvSpPr/>
          <p:nvPr/>
        </p:nvSpPr>
        <p:spPr>
          <a:xfrm>
            <a:off x="7671633" y="1920240"/>
            <a:ext cx="868680" cy="868680"/>
          </a:xfrm>
          <a:prstGeom prst="ellipse">
            <a:avLst/>
          </a:prstGeom>
          <a:solidFill>
            <a:schemeClr val="accent1"/>
          </a:solidFill>
          <a:ln/>
        </p:spPr>
      </p:sp>
      <p:pic>
        <p:nvPicPr>
          <p:cNvPr id="27" name="Image 3" descr="Documentar y desarrollar"/>
          <p:cNvPicPr>
            <a:picLocks noChangeAspect="1"/>
          </p:cNvPicPr>
          <p:nvPr/>
        </p:nvPicPr>
        <p:blipFill>
          <a:blip r:embed="rId6"/>
          <a:stretch>
            <a:fillRect/>
          </a:stretch>
        </p:blipFill>
        <p:spPr>
          <a:xfrm>
            <a:off x="7880116" y="2128723"/>
            <a:ext cx="451714" cy="451714"/>
          </a:xfrm>
          <a:prstGeom prst="rect">
            <a:avLst/>
          </a:prstGeom>
        </p:spPr>
      </p:pic>
      <p:sp>
        <p:nvSpPr>
          <p:cNvPr id="28" name="Text 22"/>
          <p:cNvSpPr txBox="1"/>
          <p:nvPr/>
        </p:nvSpPr>
        <p:spPr>
          <a:xfrm>
            <a:off x="7671633" y="2971800"/>
            <a:ext cx="1414211" cy="822960"/>
          </a:xfrm>
          <a:prstGeom prst="rect">
            <a:avLst/>
          </a:prstGeom>
          <a:noFill/>
          <a:ln/>
        </p:spPr>
        <p:txBody>
          <a:bodyPr wrap="square" lIns="0" tIns="0" rIns="0" bIns="0" rtlCol="0" anchor="t"/>
          <a:lstStyle/>
          <a:p>
            <a:pPr marL="0" indent="0">
              <a:buNone/>
            </a:pPr>
            <a:r>
              <a:rPr lang="en-US" sz="1900" b="1" dirty="0">
                <a:solidFill>
                  <a:schemeClr val="tx1"/>
                </a:solidFill>
              </a:rPr>
              <a:t>Documentar y desarrollar</a:t>
            </a:r>
            <a:endParaRPr lang="en-US" sz="1900" dirty="0"/>
          </a:p>
        </p:txBody>
      </p:sp>
      <p:sp>
        <p:nvSpPr>
          <p:cNvPr id="29" name="Text 23"/>
          <p:cNvSpPr txBox="1"/>
          <p:nvPr/>
        </p:nvSpPr>
        <p:spPr>
          <a:xfrm>
            <a:off x="7671633" y="3840480"/>
            <a:ext cx="1414211" cy="1188720"/>
          </a:xfrm>
          <a:prstGeom prst="rect">
            <a:avLst/>
          </a:prstGeom>
          <a:noFill/>
          <a:ln/>
        </p:spPr>
        <p:txBody>
          <a:bodyPr wrap="square" lIns="0" tIns="0" rIns="0" bIns="0" rtlCol="0" anchor="t"/>
          <a:lstStyle/>
          <a:p>
            <a:pPr marL="0" indent="0">
              <a:buNone/>
            </a:pPr>
            <a:r>
              <a:rPr lang="en-US" sz="1500" dirty="0">
                <a:solidFill>
                  <a:schemeClr val="tx2"/>
                </a:solidFill>
              </a:rPr>
              <a:t>La propuesta ganadora, por escrito</a:t>
            </a:r>
            <a:endParaRPr lang="en-US" sz="1500" dirty="0"/>
          </a:p>
        </p:txBody>
      </p:sp>
      <p:sp>
        <p:nvSpPr>
          <p:cNvPr id="30" name="Shape 24"/>
          <p:cNvSpPr/>
          <p:nvPr/>
        </p:nvSpPr>
        <p:spPr>
          <a:xfrm>
            <a:off x="9396740" y="3429000"/>
            <a:ext cx="246888" cy="0"/>
          </a:xfrm>
          <a:prstGeom prst="line">
            <a:avLst/>
          </a:prstGeom>
          <a:noFill/>
          <a:ln w="31750">
            <a:solidFill>
              <a:srgbClr val="3A4664"/>
            </a:solidFill>
            <a:prstDash val="solid"/>
            <a:tailEnd type="triangle"/>
          </a:ln>
        </p:spPr>
      </p:sp>
      <p:sp>
        <p:nvSpPr>
          <p:cNvPr id="31" name="Tarjeta"/>
          <p:cNvSpPr/>
          <p:nvPr/>
        </p:nvSpPr>
        <p:spPr>
          <a:xfrm>
            <a:off x="9680204" y="1645920"/>
            <a:ext cx="1962851" cy="3566160"/>
          </a:xfrm>
          <a:prstGeom prst="roundRect">
            <a:avLst>
              <a:gd name="adj" fmla="val 6988"/>
            </a:avLst>
          </a:prstGeom>
          <a:solidFill>
            <a:schemeClr val="bg2"/>
          </a:solidFill>
          <a:ln/>
        </p:spPr>
      </p:sp>
      <p:sp>
        <p:nvSpPr>
          <p:cNvPr id="32" name="Text 26"/>
          <p:cNvSpPr txBox="1"/>
          <p:nvPr/>
        </p:nvSpPr>
        <p:spPr>
          <a:xfrm>
            <a:off x="11094415" y="1737360"/>
            <a:ext cx="411480" cy="457200"/>
          </a:xfrm>
          <a:prstGeom prst="rect">
            <a:avLst/>
          </a:prstGeom>
          <a:noFill/>
          <a:ln/>
        </p:spPr>
        <p:txBody>
          <a:bodyPr wrap="square" lIns="0" tIns="0" rIns="0" bIns="0" rtlCol="0" anchor="ctr"/>
          <a:lstStyle/>
          <a:p>
            <a:pPr marL="0" indent="0" algn="r">
              <a:buNone/>
            </a:pPr>
            <a:r>
              <a:rPr lang="en-US" sz="2200" b="1" dirty="0">
                <a:solidFill>
                  <a:schemeClr val="accent5"/>
                </a:solidFill>
              </a:rPr>
              <a:t>5</a:t>
            </a:r>
            <a:endParaRPr lang="en-US" sz="2200" dirty="0"/>
          </a:p>
        </p:txBody>
      </p:sp>
      <p:sp>
        <p:nvSpPr>
          <p:cNvPr id="33" name="Presentar y defender"/>
          <p:cNvSpPr/>
          <p:nvPr/>
        </p:nvSpPr>
        <p:spPr>
          <a:xfrm>
            <a:off x="9954524" y="1920240"/>
            <a:ext cx="868680" cy="868680"/>
          </a:xfrm>
          <a:prstGeom prst="ellipse">
            <a:avLst/>
          </a:prstGeom>
          <a:solidFill>
            <a:schemeClr val="accent1"/>
          </a:solidFill>
          <a:ln/>
        </p:spPr>
      </p:sp>
      <p:pic>
        <p:nvPicPr>
          <p:cNvPr id="34" name="Image 4" descr="Presentar y defender"/>
          <p:cNvPicPr>
            <a:picLocks noChangeAspect="1"/>
          </p:cNvPicPr>
          <p:nvPr/>
        </p:nvPicPr>
        <p:blipFill>
          <a:blip r:embed="rId7"/>
          <a:stretch>
            <a:fillRect/>
          </a:stretch>
        </p:blipFill>
        <p:spPr>
          <a:xfrm>
            <a:off x="10163007" y="2128723"/>
            <a:ext cx="451714" cy="451714"/>
          </a:xfrm>
          <a:prstGeom prst="rect">
            <a:avLst/>
          </a:prstGeom>
        </p:spPr>
      </p:pic>
      <p:sp>
        <p:nvSpPr>
          <p:cNvPr id="35" name="Text 28"/>
          <p:cNvSpPr txBox="1"/>
          <p:nvPr/>
        </p:nvSpPr>
        <p:spPr>
          <a:xfrm>
            <a:off x="9954524" y="2971800"/>
            <a:ext cx="1414211" cy="822960"/>
          </a:xfrm>
          <a:prstGeom prst="rect">
            <a:avLst/>
          </a:prstGeom>
          <a:noFill/>
          <a:ln/>
        </p:spPr>
        <p:txBody>
          <a:bodyPr wrap="square" lIns="0" tIns="0" rIns="0" bIns="0" rtlCol="0" anchor="t"/>
          <a:lstStyle/>
          <a:p>
            <a:pPr marL="0" indent="0">
              <a:buNone/>
            </a:pPr>
            <a:r>
              <a:rPr lang="en-US" sz="1900" b="1" dirty="0">
                <a:solidFill>
                  <a:schemeClr val="tx1"/>
                </a:solidFill>
              </a:rPr>
              <a:t>Presentar y defender</a:t>
            </a:r>
            <a:endParaRPr lang="en-US" sz="1900" dirty="0"/>
          </a:p>
        </p:txBody>
      </p:sp>
      <p:sp>
        <p:nvSpPr>
          <p:cNvPr id="36" name="Text 29"/>
          <p:cNvSpPr txBox="1"/>
          <p:nvPr/>
        </p:nvSpPr>
        <p:spPr>
          <a:xfrm>
            <a:off x="9954524" y="3840480"/>
            <a:ext cx="1414211" cy="1188720"/>
          </a:xfrm>
          <a:prstGeom prst="rect">
            <a:avLst/>
          </a:prstGeom>
          <a:noFill/>
          <a:ln/>
        </p:spPr>
        <p:txBody>
          <a:bodyPr wrap="square" lIns="0" tIns="0" rIns="0" bIns="0" rtlCol="0" anchor="t"/>
          <a:lstStyle/>
          <a:p>
            <a:pPr marL="0" indent="0">
              <a:buNone/>
            </a:pPr>
            <a:r>
              <a:rPr lang="en-US" sz="1500" dirty="0">
                <a:solidFill>
                  <a:schemeClr val="tx2"/>
                </a:solidFill>
              </a:rPr>
              <a:t>Ante el grupo</a:t>
            </a:r>
            <a:endParaRPr lang="en-US" sz="1500" dirty="0"/>
          </a:p>
        </p:txBody>
      </p:sp>
      <p:sp>
        <p:nvSpPr>
          <p:cNvPr id="37"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¿Por qué hacerlo así?</a:t>
            </a:r>
            <a:endParaRPr lang="en-US" sz="3200" dirty="0"/>
          </a:p>
        </p:txBody>
      </p:sp>
      <p:sp>
        <p:nvSpPr>
          <p:cNvPr id="3" name="Tarjeta"/>
          <p:cNvSpPr/>
          <p:nvPr/>
        </p:nvSpPr>
        <p:spPr>
          <a:xfrm>
            <a:off x="548640" y="1554480"/>
            <a:ext cx="5318608" cy="3291840"/>
          </a:xfrm>
          <a:prstGeom prst="roundRect">
            <a:avLst>
              <a:gd name="adj" fmla="val 4167"/>
            </a:avLst>
          </a:prstGeom>
          <a:solidFill>
            <a:schemeClr val="bg2"/>
          </a:solidFill>
          <a:ln/>
        </p:spPr>
      </p:sp>
      <p:sp>
        <p:nvSpPr>
          <p:cNvPr id="4" name="Cuando lo hacéis vosotros"/>
          <p:cNvSpPr/>
          <p:nvPr/>
        </p:nvSpPr>
        <p:spPr>
          <a:xfrm>
            <a:off x="914400" y="1828800"/>
            <a:ext cx="1097280" cy="1097280"/>
          </a:xfrm>
          <a:prstGeom prst="ellipse">
            <a:avLst/>
          </a:prstGeom>
          <a:solidFill>
            <a:schemeClr val="tx2"/>
          </a:solidFill>
          <a:ln/>
        </p:spPr>
      </p:sp>
      <p:pic>
        <p:nvPicPr>
          <p:cNvPr id="5" name="Image 0" descr="Cuando lo hacéis vosotros"/>
          <p:cNvPicPr>
            <a:picLocks noChangeAspect="1"/>
          </p:cNvPicPr>
          <p:nvPr/>
        </p:nvPicPr>
        <p:blipFill>
          <a:blip r:embed="rId3"/>
          <a:stretch>
            <a:fillRect/>
          </a:stretch>
        </p:blipFill>
        <p:spPr>
          <a:xfrm>
            <a:off x="1177747" y="2092147"/>
            <a:ext cx="570586" cy="570586"/>
          </a:xfrm>
          <a:prstGeom prst="rect">
            <a:avLst/>
          </a:prstGeom>
        </p:spPr>
      </p:pic>
      <p:sp>
        <p:nvSpPr>
          <p:cNvPr id="6" name="Text 3"/>
          <p:cNvSpPr txBox="1"/>
          <p:nvPr/>
        </p:nvSpPr>
        <p:spPr>
          <a:xfrm>
            <a:off x="2240280" y="1828800"/>
            <a:ext cx="3352648" cy="1097280"/>
          </a:xfrm>
          <a:prstGeom prst="rect">
            <a:avLst/>
          </a:prstGeom>
          <a:noFill/>
          <a:ln/>
        </p:spPr>
        <p:txBody>
          <a:bodyPr wrap="square" lIns="0" tIns="0" rIns="0" bIns="0" rtlCol="0" anchor="ctr"/>
          <a:lstStyle/>
          <a:p>
            <a:pPr marL="0" indent="0">
              <a:buNone/>
            </a:pPr>
            <a:r>
              <a:rPr lang="en-US" sz="2400" b="1" dirty="0">
                <a:solidFill>
                  <a:schemeClr val="tx1"/>
                </a:solidFill>
              </a:rPr>
              <a:t>Cuando lo hacéis vosotros</a:t>
            </a:r>
            <a:endParaRPr lang="en-US" sz="2400" dirty="0"/>
          </a:p>
        </p:txBody>
      </p:sp>
      <p:sp>
        <p:nvSpPr>
          <p:cNvPr id="7" name="Text 4"/>
          <p:cNvSpPr txBox="1"/>
          <p:nvPr/>
        </p:nvSpPr>
        <p:spPr>
          <a:xfrm>
            <a:off x="914400" y="3154680"/>
            <a:ext cx="4587088" cy="1554480"/>
          </a:xfrm>
          <a:prstGeom prst="rect">
            <a:avLst/>
          </a:prstGeom>
          <a:noFill/>
          <a:ln/>
        </p:spPr>
        <p:txBody>
          <a:bodyPr wrap="square" lIns="0" tIns="0" rIns="0" bIns="0" rtlCol="0" anchor="t"/>
          <a:lstStyle/>
          <a:p>
            <a:pPr marL="0" indent="0">
              <a:buNone/>
            </a:pPr>
            <a:r>
              <a:rPr lang="en-US" sz="2000" dirty="0">
                <a:solidFill>
                  <a:schemeClr val="tx1"/>
                </a:solidFill>
              </a:rPr>
              <a:t>No escribís una sola línea: lo hacéis todo en la cabeza, en menos de un minuto. Veis las opciones y elegís.</a:t>
            </a:r>
            <a:endParaRPr lang="en-US" sz="2000" dirty="0"/>
          </a:p>
        </p:txBody>
      </p:sp>
      <p:sp>
        <p:nvSpPr>
          <p:cNvPr id="8" name="Tarjeta"/>
          <p:cNvSpPr/>
          <p:nvPr/>
        </p:nvSpPr>
        <p:spPr>
          <a:xfrm>
            <a:off x="6324448" y="1554480"/>
            <a:ext cx="5318608" cy="3291840"/>
          </a:xfrm>
          <a:prstGeom prst="roundRect">
            <a:avLst>
              <a:gd name="adj" fmla="val 4167"/>
            </a:avLst>
          </a:prstGeom>
          <a:solidFill>
            <a:schemeClr val="bg2"/>
          </a:solidFill>
          <a:ln/>
        </p:spPr>
      </p:sp>
      <p:sp>
        <p:nvSpPr>
          <p:cNvPr id="9" name="En un entorno profesional"/>
          <p:cNvSpPr/>
          <p:nvPr/>
        </p:nvSpPr>
        <p:spPr>
          <a:xfrm>
            <a:off x="6690208" y="1828800"/>
            <a:ext cx="1097280" cy="1097280"/>
          </a:xfrm>
          <a:prstGeom prst="ellipse">
            <a:avLst/>
          </a:prstGeom>
          <a:solidFill>
            <a:schemeClr val="accent1"/>
          </a:solidFill>
          <a:ln/>
        </p:spPr>
      </p:sp>
      <p:pic>
        <p:nvPicPr>
          <p:cNvPr id="10" name="Image 1" descr="En un entorno profesional"/>
          <p:cNvPicPr>
            <a:picLocks noChangeAspect="1"/>
          </p:cNvPicPr>
          <p:nvPr/>
        </p:nvPicPr>
        <p:blipFill>
          <a:blip r:embed="rId4"/>
          <a:stretch>
            <a:fillRect/>
          </a:stretch>
        </p:blipFill>
        <p:spPr>
          <a:xfrm>
            <a:off x="6953555" y="2092147"/>
            <a:ext cx="570586" cy="570586"/>
          </a:xfrm>
          <a:prstGeom prst="rect">
            <a:avLst/>
          </a:prstGeom>
        </p:spPr>
      </p:pic>
      <p:sp>
        <p:nvSpPr>
          <p:cNvPr id="11" name="Text 7"/>
          <p:cNvSpPr txBox="1"/>
          <p:nvPr/>
        </p:nvSpPr>
        <p:spPr>
          <a:xfrm>
            <a:off x="8016088" y="1828800"/>
            <a:ext cx="3352648" cy="1097280"/>
          </a:xfrm>
          <a:prstGeom prst="rect">
            <a:avLst/>
          </a:prstGeom>
          <a:noFill/>
          <a:ln/>
        </p:spPr>
        <p:txBody>
          <a:bodyPr wrap="square" lIns="0" tIns="0" rIns="0" bIns="0" rtlCol="0" anchor="ctr"/>
          <a:lstStyle/>
          <a:p>
            <a:pPr marL="0" indent="0">
              <a:buNone/>
            </a:pPr>
            <a:r>
              <a:rPr lang="en-US" sz="2400" b="1" dirty="0">
                <a:solidFill>
                  <a:schemeClr val="tx1"/>
                </a:solidFill>
              </a:rPr>
              <a:t>En un entorno profesional</a:t>
            </a:r>
            <a:endParaRPr lang="en-US" sz="2400" dirty="0"/>
          </a:p>
        </p:txBody>
      </p:sp>
      <p:sp>
        <p:nvSpPr>
          <p:cNvPr id="12" name="Text 8"/>
          <p:cNvSpPr txBox="1"/>
          <p:nvPr/>
        </p:nvSpPr>
        <p:spPr>
          <a:xfrm>
            <a:off x="6690208" y="3154680"/>
            <a:ext cx="4587088" cy="1554480"/>
          </a:xfrm>
          <a:prstGeom prst="rect">
            <a:avLst/>
          </a:prstGeom>
          <a:noFill/>
          <a:ln/>
        </p:spPr>
        <p:txBody>
          <a:bodyPr wrap="square" lIns="0" tIns="0" rIns="0" bIns="0" rtlCol="0" anchor="t"/>
          <a:lstStyle/>
          <a:p>
            <a:pPr marL="0" indent="0">
              <a:buNone/>
            </a:pPr>
            <a:r>
              <a:rPr lang="en-US" sz="2000" dirty="0">
                <a:solidFill>
                  <a:schemeClr val="tx1"/>
                </a:solidFill>
              </a:rPr>
              <a:t>Para poder comunicarlo, hay que hacerlo de esta otra manera: visible y por pasos.</a:t>
            </a:r>
            <a:endParaRPr lang="en-US" sz="2000" dirty="0"/>
          </a:p>
        </p:txBody>
      </p:sp>
      <p:sp>
        <p:nvSpPr>
          <p:cNvPr id="13" name="Shape 9"/>
          <p:cNvSpPr/>
          <p:nvPr/>
        </p:nvSpPr>
        <p:spPr>
          <a:xfrm>
            <a:off x="5922112" y="3200400"/>
            <a:ext cx="347472" cy="0"/>
          </a:xfrm>
          <a:prstGeom prst="line">
            <a:avLst/>
          </a:prstGeom>
          <a:noFill/>
          <a:ln w="38100">
            <a:solidFill>
              <a:srgbClr val="3A4664"/>
            </a:solidFill>
            <a:prstDash val="solid"/>
            <a:tailEnd type="triangle"/>
          </a:ln>
        </p:spPr>
      </p:sp>
      <p:sp>
        <p:nvSpPr>
          <p:cNvPr id="14" name="Text 10"/>
          <p:cNvSpPr txBox="1"/>
          <p:nvPr/>
        </p:nvSpPr>
        <p:spPr>
          <a:xfrm>
            <a:off x="548640" y="5212080"/>
            <a:ext cx="11094415" cy="548640"/>
          </a:xfrm>
          <a:prstGeom prst="rect">
            <a:avLst/>
          </a:prstGeom>
          <a:noFill/>
          <a:ln/>
        </p:spPr>
        <p:txBody>
          <a:bodyPr wrap="square" lIns="0" tIns="0" rIns="0" bIns="0" rtlCol="0" anchor="ctr"/>
          <a:lstStyle/>
          <a:p>
            <a:pPr marL="0" indent="0">
              <a:buNone/>
            </a:pPr>
            <a:r>
              <a:rPr lang="en-US" sz="2200" b="1" dirty="0">
                <a:solidFill>
                  <a:schemeClr val="accent3"/>
                </a:solidFill>
              </a:rPr>
              <a:t>Hay muchas maneras de hacerlo. Esta es una de ellas.</a:t>
            </a:r>
            <a:endParaRPr lang="en-US" sz="22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7680960" cy="1828800"/>
          </a:xfrm>
          <a:prstGeom prst="rect">
            <a:avLst/>
          </a:prstGeom>
          <a:noFill/>
          <a:ln/>
        </p:spPr>
        <p:txBody>
          <a:bodyPr wrap="square" lIns="0" tIns="0" rIns="0" bIns="0" rtlCol="0" anchor="b"/>
          <a:lstStyle/>
          <a:p>
            <a:pPr marL="0" indent="0" algn="l">
              <a:buNone/>
            </a:pPr>
            <a:r>
              <a:rPr lang="en-US" sz="4400" b="1" dirty="0">
                <a:solidFill>
                  <a:schemeClr val="bg1"/>
                </a:solidFill>
              </a:rPr>
              <a:t>Creatividad, ofimática e IA</a:t>
            </a:r>
            <a:endParaRPr lang="en-US" sz="4400" dirty="0"/>
          </a:p>
        </p:txBody>
      </p:sp>
      <p:sp>
        <p:nvSpPr>
          <p:cNvPr id="3" name="Text 0"/>
          <p:cNvSpPr>
            <a:spLocks noGrp="1"/>
          </p:cNvSpPr>
          <p:nvPr>
            <p:ph type="body" idx="101" hasCustomPrompt="1"/>
          </p:nvPr>
        </p:nvSpPr>
        <p:spPr>
          <a:xfrm>
            <a:off x="548640" y="3794760"/>
            <a:ext cx="7680960" cy="1371600"/>
          </a:xfrm>
          <a:prstGeom prst="rect">
            <a:avLst/>
          </a:prstGeom>
          <a:noFill/>
          <a:ln/>
        </p:spPr>
        <p:txBody>
          <a:bodyPr wrap="square" lIns="0" tIns="0" rIns="0" bIns="0" rtlCol="0" anchor="t"/>
          <a:lstStyle/>
          <a:p>
            <a:pPr marL="0" indent="0">
              <a:buNone/>
            </a:pPr>
            <a:r>
              <a:rPr lang="en-US" sz="2000" dirty="0">
                <a:solidFill>
                  <a:schemeClr val="accent1"/>
                </a:solidFill>
              </a:rPr>
              <a:t>Desarrollo de las habilidades creativas e innovadoras con herramientas ofimáticas y de inteligencia artificial</a:t>
            </a:r>
            <a:endParaRPr lang="en-US" sz="2000" dirty="0"/>
          </a:p>
        </p:txBody>
      </p:sp>
      <p:sp>
        <p:nvSpPr>
          <p:cNvPr id="4" name="Bombilla"/>
          <p:cNvSpPr/>
          <p:nvPr/>
        </p:nvSpPr>
        <p:spPr>
          <a:xfrm>
            <a:off x="8869680" y="1828800"/>
            <a:ext cx="2743200" cy="2743200"/>
          </a:xfrm>
          <a:prstGeom prst="ellipse">
            <a:avLst/>
          </a:prstGeom>
          <a:solidFill>
            <a:schemeClr val="accent1"/>
          </a:solidFill>
          <a:ln/>
        </p:spPr>
      </p:sp>
      <p:pic>
        <p:nvPicPr>
          <p:cNvPr id="5" name="Image 0" descr="Bombilla"/>
          <p:cNvPicPr>
            <a:picLocks noChangeAspect="1"/>
          </p:cNvPicPr>
          <p:nvPr/>
        </p:nvPicPr>
        <p:blipFill>
          <a:blip r:embed="rId3"/>
          <a:stretch>
            <a:fillRect/>
          </a:stretch>
        </p:blipFill>
        <p:spPr>
          <a:xfrm>
            <a:off x="9528048" y="2487168"/>
            <a:ext cx="1426464" cy="1426464"/>
          </a:xfrm>
          <a:prstGeom prst="rect">
            <a:avLst/>
          </a:prstGeom>
        </p:spPr>
      </p:pic>
      <p:sp>
        <p:nvSpPr>
          <p:cNvPr id="6" name="Text 3"/>
          <p:cNvSpPr txBox="1"/>
          <p:nvPr/>
        </p:nvSpPr>
        <p:spPr>
          <a:xfrm>
            <a:off x="548640" y="5760720"/>
            <a:ext cx="5486400" cy="457200"/>
          </a:xfrm>
          <a:prstGeom prst="rect">
            <a:avLst/>
          </a:prstGeom>
          <a:noFill/>
          <a:ln/>
        </p:spPr>
        <p:txBody>
          <a:bodyPr wrap="square" lIns="0" tIns="0" rIns="0" bIns="0" rtlCol="0" anchor="ctr"/>
          <a:lstStyle/>
          <a:p>
            <a:pPr marL="0" indent="0">
              <a:buNone/>
            </a:pPr>
            <a:r>
              <a:rPr lang="en-US" sz="1600" dirty="0">
                <a:solidFill>
                  <a:schemeClr val="accent5"/>
                </a:solidFill>
              </a:rPr>
              <a:t>Taller práctico · 5 horas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737360"/>
            <a:ext cx="2194560" cy="2743200"/>
          </a:xfrm>
          <a:prstGeom prst="rect">
            <a:avLst/>
          </a:prstGeom>
          <a:noFill/>
          <a:ln/>
        </p:spPr>
        <p:txBody>
          <a:bodyPr wrap="square" lIns="0" tIns="0" rIns="0" bIns="0" rtlCol="0" anchor="ctr"/>
          <a:lstStyle/>
          <a:p>
            <a:pPr marL="0" indent="0" algn="ctr">
              <a:buNone/>
            </a:pPr>
            <a:r>
              <a:rPr lang="en-US" sz="20000" b="1" dirty="0">
                <a:solidFill>
                  <a:schemeClr val="accent1"/>
                </a:solidFill>
                <a:latin typeface="Arial" pitchFamily="34" charset="0"/>
                <a:ea typeface="Arial" pitchFamily="34" charset="-122"/>
                <a:cs typeface="Arial" pitchFamily="34" charset="-120"/>
              </a:rPr>
              <a:t>1</a:t>
            </a:r>
            <a:endParaRPr lang="en-US" sz="20000" dirty="0"/>
          </a:p>
        </p:txBody>
      </p:sp>
      <p:sp>
        <p:nvSpPr>
          <p:cNvPr id="3" name="Text 0"/>
          <p:cNvSpPr>
            <a:spLocks noGrp="1"/>
          </p:cNvSpPr>
          <p:nvPr>
            <p:ph type="title" idx="100" hasCustomPrompt="1"/>
          </p:nvPr>
        </p:nvSpPr>
        <p:spPr>
          <a:xfrm>
            <a:off x="3108960" y="2103120"/>
            <a:ext cx="8503920" cy="1463040"/>
          </a:xfrm>
          <a:prstGeom prst="rect">
            <a:avLst/>
          </a:prstGeom>
          <a:noFill/>
          <a:ln/>
        </p:spPr>
        <p:txBody>
          <a:bodyPr wrap="square" lIns="0" tIns="0" rIns="0" bIns="0" rtlCol="0" anchor="b"/>
          <a:lstStyle/>
          <a:p>
            <a:pPr marL="0" indent="0" algn="l">
              <a:buNone/>
            </a:pPr>
            <a:r>
              <a:rPr lang="en-US" sz="4000" b="1" dirty="0">
                <a:solidFill>
                  <a:schemeClr val="bg1"/>
                </a:solidFill>
              </a:rPr>
              <a:t>Activación de la creatividad y brainstorming</a:t>
            </a:r>
            <a:endParaRPr lang="en-US" sz="4000" dirty="0"/>
          </a:p>
        </p:txBody>
      </p:sp>
      <p:sp>
        <p:nvSpPr>
          <p:cNvPr id="4" name="Text 0"/>
          <p:cNvSpPr>
            <a:spLocks noGrp="1"/>
          </p:cNvSpPr>
          <p:nvPr>
            <p:ph type="body" idx="101" hasCustomPrompt="1"/>
          </p:nvPr>
        </p:nvSpPr>
        <p:spPr>
          <a:xfrm>
            <a:off x="3108960" y="3749040"/>
            <a:ext cx="8503920" cy="731520"/>
          </a:xfrm>
          <a:prstGeom prst="rect">
            <a:avLst/>
          </a:prstGeom>
          <a:noFill/>
          <a:ln/>
        </p:spPr>
        <p:txBody>
          <a:bodyPr wrap="square" lIns="0" tIns="0" rIns="0" bIns="0" rtlCol="0" anchor="t"/>
          <a:lstStyle/>
          <a:p>
            <a:pPr marL="0" indent="0">
              <a:buNone/>
            </a:pPr>
            <a:r>
              <a:rPr lang="en-US" sz="2200" dirty="0">
                <a:solidFill>
                  <a:schemeClr val="accent1"/>
                </a:solidFill>
              </a:rPr>
              <a:t>45 minutos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Qué vamos a hacer en este bloque</a:t>
            </a:r>
            <a:endParaRPr lang="en-US" sz="3200" dirty="0"/>
          </a:p>
        </p:txBody>
      </p:sp>
      <p:sp>
        <p:nvSpPr>
          <p:cNvPr id="3" name="Shape 1"/>
          <p:cNvSpPr/>
          <p:nvPr/>
        </p:nvSpPr>
        <p:spPr>
          <a:xfrm>
            <a:off x="1473175" y="2331720"/>
            <a:ext cx="9245346" cy="0"/>
          </a:xfrm>
          <a:prstGeom prst="line">
            <a:avLst/>
          </a:prstGeom>
          <a:noFill/>
          <a:ln w="50800">
            <a:solidFill>
              <a:srgbClr val="F2F4F8"/>
            </a:solidFill>
            <a:prstDash val="solid"/>
          </a:ln>
        </p:spPr>
      </p:sp>
      <p:sp>
        <p:nvSpPr>
          <p:cNvPr id="4" name="Paso 1"/>
          <p:cNvSpPr/>
          <p:nvPr/>
        </p:nvSpPr>
        <p:spPr>
          <a:xfrm>
            <a:off x="901675" y="1760220"/>
            <a:ext cx="1143000" cy="1143000"/>
          </a:xfrm>
          <a:prstGeom prst="ellipse">
            <a:avLst/>
          </a:prstGeom>
          <a:solidFill>
            <a:schemeClr val="tx2"/>
          </a:solidFill>
          <a:ln/>
        </p:spPr>
      </p:sp>
      <p:sp>
        <p:nvSpPr>
          <p:cNvPr id="5" name="Text 3"/>
          <p:cNvSpPr txBox="1"/>
          <p:nvPr/>
        </p:nvSpPr>
        <p:spPr>
          <a:xfrm>
            <a:off x="901675" y="1760220"/>
            <a:ext cx="1143000" cy="1143000"/>
          </a:xfrm>
          <a:prstGeom prst="rect">
            <a:avLst/>
          </a:prstGeom>
          <a:noFill/>
          <a:ln/>
        </p:spPr>
        <p:txBody>
          <a:bodyPr wrap="square" lIns="0" tIns="0" rIns="0" bIns="0" rtlCol="0" anchor="ctr"/>
          <a:lstStyle/>
          <a:p>
            <a:pPr marL="0" indent="0" algn="ctr">
              <a:buNone/>
            </a:pPr>
            <a:r>
              <a:rPr lang="en-US" sz="1800" b="1" dirty="0">
                <a:solidFill>
                  <a:schemeClr val="bg1"/>
                </a:solidFill>
              </a:rPr>
              <a:t>0–10</a:t>
            </a:r>
            <a:endParaRPr lang="en-US" sz="1800" dirty="0"/>
          </a:p>
        </p:txBody>
      </p:sp>
      <p:sp>
        <p:nvSpPr>
          <p:cNvPr id="6" name="Text 4"/>
          <p:cNvSpPr txBox="1"/>
          <p:nvPr/>
        </p:nvSpPr>
        <p:spPr>
          <a:xfrm>
            <a:off x="640080" y="3131820"/>
            <a:ext cx="1666189" cy="1188720"/>
          </a:xfrm>
          <a:prstGeom prst="rect">
            <a:avLst/>
          </a:prstGeom>
          <a:noFill/>
          <a:ln/>
        </p:spPr>
        <p:txBody>
          <a:bodyPr wrap="square" lIns="0" tIns="0" rIns="0" bIns="0" rtlCol="0" anchor="t"/>
          <a:lstStyle/>
          <a:p>
            <a:pPr marL="0" indent="0" algn="ctr">
              <a:buNone/>
            </a:pPr>
            <a:r>
              <a:rPr lang="en-US" sz="1600" dirty="0">
                <a:solidFill>
                  <a:schemeClr val="tx1"/>
                </a:solidFill>
              </a:rPr>
              <a:t>Creatividad, innovación y competencia digital</a:t>
            </a:r>
            <a:endParaRPr lang="en-US" sz="1600" dirty="0"/>
          </a:p>
        </p:txBody>
      </p:sp>
      <p:sp>
        <p:nvSpPr>
          <p:cNvPr id="7" name="Paso 2"/>
          <p:cNvSpPr/>
          <p:nvPr/>
        </p:nvSpPr>
        <p:spPr>
          <a:xfrm>
            <a:off x="2750744" y="1760220"/>
            <a:ext cx="1143000" cy="1143000"/>
          </a:xfrm>
          <a:prstGeom prst="ellipse">
            <a:avLst/>
          </a:prstGeom>
          <a:solidFill>
            <a:schemeClr val="tx2"/>
          </a:solidFill>
          <a:ln/>
        </p:spPr>
      </p:sp>
      <p:sp>
        <p:nvSpPr>
          <p:cNvPr id="8" name="Text 6"/>
          <p:cNvSpPr txBox="1"/>
          <p:nvPr/>
        </p:nvSpPr>
        <p:spPr>
          <a:xfrm>
            <a:off x="2750744" y="1760220"/>
            <a:ext cx="1143000" cy="1143000"/>
          </a:xfrm>
          <a:prstGeom prst="rect">
            <a:avLst/>
          </a:prstGeom>
          <a:noFill/>
          <a:ln/>
        </p:spPr>
        <p:txBody>
          <a:bodyPr wrap="square" lIns="0" tIns="0" rIns="0" bIns="0" rtlCol="0" anchor="ctr"/>
          <a:lstStyle/>
          <a:p>
            <a:pPr marL="0" indent="0" algn="ctr">
              <a:buNone/>
            </a:pPr>
            <a:r>
              <a:rPr lang="en-US" sz="1800" b="1" dirty="0">
                <a:solidFill>
                  <a:schemeClr val="bg1"/>
                </a:solidFill>
              </a:rPr>
              <a:t>10–15</a:t>
            </a:r>
            <a:endParaRPr lang="en-US" sz="1800" dirty="0"/>
          </a:p>
        </p:txBody>
      </p:sp>
      <p:sp>
        <p:nvSpPr>
          <p:cNvPr id="9" name="Text 7"/>
          <p:cNvSpPr txBox="1"/>
          <p:nvPr/>
        </p:nvSpPr>
        <p:spPr>
          <a:xfrm>
            <a:off x="2489149" y="3131820"/>
            <a:ext cx="1666189" cy="1188720"/>
          </a:xfrm>
          <a:prstGeom prst="rect">
            <a:avLst/>
          </a:prstGeom>
          <a:noFill/>
          <a:ln/>
        </p:spPr>
        <p:txBody>
          <a:bodyPr wrap="square" lIns="0" tIns="0" rIns="0" bIns="0" rtlCol="0" anchor="t"/>
          <a:lstStyle/>
          <a:p>
            <a:pPr marL="0" indent="0" algn="ctr">
              <a:buNone/>
            </a:pPr>
            <a:r>
              <a:rPr lang="en-US" sz="1600" dirty="0">
                <a:solidFill>
                  <a:schemeClr val="tx1"/>
                </a:solidFill>
              </a:rPr>
              <a:t>Abrir y cerrar: divergir y converger</a:t>
            </a:r>
            <a:endParaRPr lang="en-US" sz="1600" dirty="0"/>
          </a:p>
        </p:txBody>
      </p:sp>
      <p:sp>
        <p:nvSpPr>
          <p:cNvPr id="10" name="Paso 3"/>
          <p:cNvSpPr/>
          <p:nvPr/>
        </p:nvSpPr>
        <p:spPr>
          <a:xfrm>
            <a:off x="4599813" y="1760220"/>
            <a:ext cx="1143000" cy="1143000"/>
          </a:xfrm>
          <a:prstGeom prst="ellipse">
            <a:avLst/>
          </a:prstGeom>
          <a:solidFill>
            <a:schemeClr val="tx2"/>
          </a:solidFill>
          <a:ln/>
        </p:spPr>
      </p:sp>
      <p:sp>
        <p:nvSpPr>
          <p:cNvPr id="11" name="Text 9"/>
          <p:cNvSpPr txBox="1"/>
          <p:nvPr/>
        </p:nvSpPr>
        <p:spPr>
          <a:xfrm>
            <a:off x="4599813" y="1760220"/>
            <a:ext cx="1143000" cy="1143000"/>
          </a:xfrm>
          <a:prstGeom prst="rect">
            <a:avLst/>
          </a:prstGeom>
          <a:noFill/>
          <a:ln/>
        </p:spPr>
        <p:txBody>
          <a:bodyPr wrap="square" lIns="0" tIns="0" rIns="0" bIns="0" rtlCol="0" anchor="ctr"/>
          <a:lstStyle/>
          <a:p>
            <a:pPr marL="0" indent="0" algn="ctr">
              <a:buNone/>
            </a:pPr>
            <a:r>
              <a:rPr lang="en-US" sz="1800" b="1" dirty="0">
                <a:solidFill>
                  <a:schemeClr val="bg1"/>
                </a:solidFill>
              </a:rPr>
              <a:t>15–20</a:t>
            </a:r>
            <a:endParaRPr lang="en-US" sz="1800" dirty="0"/>
          </a:p>
        </p:txBody>
      </p:sp>
      <p:sp>
        <p:nvSpPr>
          <p:cNvPr id="12" name="Text 10"/>
          <p:cNvSpPr txBox="1"/>
          <p:nvPr/>
        </p:nvSpPr>
        <p:spPr>
          <a:xfrm>
            <a:off x="4338218" y="3131820"/>
            <a:ext cx="1666189" cy="1188720"/>
          </a:xfrm>
          <a:prstGeom prst="rect">
            <a:avLst/>
          </a:prstGeom>
          <a:noFill/>
          <a:ln/>
        </p:spPr>
        <p:txBody>
          <a:bodyPr wrap="square" lIns="0" tIns="0" rIns="0" bIns="0" rtlCol="0" anchor="t"/>
          <a:lstStyle/>
          <a:p>
            <a:pPr marL="0" indent="0" algn="ctr">
              <a:buNone/>
            </a:pPr>
            <a:r>
              <a:rPr lang="en-US" sz="1600" dirty="0">
                <a:solidFill>
                  <a:schemeClr val="tx1"/>
                </a:solidFill>
              </a:rPr>
              <a:t>La técnica: brainstorming</a:t>
            </a:r>
            <a:endParaRPr lang="en-US" sz="1600" dirty="0"/>
          </a:p>
        </p:txBody>
      </p:sp>
      <p:sp>
        <p:nvSpPr>
          <p:cNvPr id="13" name="Paso 4"/>
          <p:cNvSpPr/>
          <p:nvPr/>
        </p:nvSpPr>
        <p:spPr>
          <a:xfrm>
            <a:off x="6448882" y="1760220"/>
            <a:ext cx="1143000" cy="1143000"/>
          </a:xfrm>
          <a:prstGeom prst="ellipse">
            <a:avLst/>
          </a:prstGeom>
          <a:solidFill>
            <a:schemeClr val="accent1"/>
          </a:solidFill>
          <a:ln/>
        </p:spPr>
      </p:sp>
      <p:sp>
        <p:nvSpPr>
          <p:cNvPr id="14" name="Text 12"/>
          <p:cNvSpPr txBox="1"/>
          <p:nvPr/>
        </p:nvSpPr>
        <p:spPr>
          <a:xfrm>
            <a:off x="6448882" y="1760220"/>
            <a:ext cx="1143000" cy="1143000"/>
          </a:xfrm>
          <a:prstGeom prst="rect">
            <a:avLst/>
          </a:prstGeom>
          <a:noFill/>
          <a:ln/>
        </p:spPr>
        <p:txBody>
          <a:bodyPr wrap="square" lIns="0" tIns="0" rIns="0" bIns="0" rtlCol="0" anchor="ctr"/>
          <a:lstStyle/>
          <a:p>
            <a:pPr marL="0" indent="0" algn="ctr">
              <a:buNone/>
            </a:pPr>
            <a:r>
              <a:rPr lang="en-US" sz="1800" b="1" dirty="0">
                <a:solidFill>
                  <a:schemeClr val="tx1"/>
                </a:solidFill>
              </a:rPr>
              <a:t>20–30</a:t>
            </a:r>
            <a:endParaRPr lang="en-US" sz="1800" dirty="0"/>
          </a:p>
        </p:txBody>
      </p:sp>
      <p:sp>
        <p:nvSpPr>
          <p:cNvPr id="15" name="Text 13"/>
          <p:cNvSpPr txBox="1"/>
          <p:nvPr/>
        </p:nvSpPr>
        <p:spPr>
          <a:xfrm>
            <a:off x="6187288" y="3131820"/>
            <a:ext cx="1666189" cy="1188720"/>
          </a:xfrm>
          <a:prstGeom prst="rect">
            <a:avLst/>
          </a:prstGeom>
          <a:noFill/>
          <a:ln/>
        </p:spPr>
        <p:txBody>
          <a:bodyPr wrap="square" lIns="0" tIns="0" rIns="0" bIns="0" rtlCol="0" anchor="t"/>
          <a:lstStyle/>
          <a:p>
            <a:pPr marL="0" indent="0" algn="ctr">
              <a:buNone/>
            </a:pPr>
            <a:r>
              <a:rPr lang="en-US" sz="1600" dirty="0">
                <a:solidFill>
                  <a:schemeClr val="tx1"/>
                </a:solidFill>
              </a:rPr>
              <a:t>Ejercicio 1: ideas del grupo</a:t>
            </a:r>
            <a:endParaRPr lang="en-US" sz="1600" dirty="0"/>
          </a:p>
        </p:txBody>
      </p:sp>
      <p:sp>
        <p:nvSpPr>
          <p:cNvPr id="16" name="Paso 5"/>
          <p:cNvSpPr/>
          <p:nvPr/>
        </p:nvSpPr>
        <p:spPr>
          <a:xfrm>
            <a:off x="8297951" y="1760220"/>
            <a:ext cx="1143000" cy="1143000"/>
          </a:xfrm>
          <a:prstGeom prst="ellipse">
            <a:avLst/>
          </a:prstGeom>
          <a:solidFill>
            <a:schemeClr val="accent2"/>
          </a:solidFill>
          <a:ln/>
        </p:spPr>
      </p:sp>
      <p:sp>
        <p:nvSpPr>
          <p:cNvPr id="17" name="Text 15"/>
          <p:cNvSpPr txBox="1"/>
          <p:nvPr/>
        </p:nvSpPr>
        <p:spPr>
          <a:xfrm>
            <a:off x="8297951" y="1760220"/>
            <a:ext cx="1143000" cy="1143000"/>
          </a:xfrm>
          <a:prstGeom prst="rect">
            <a:avLst/>
          </a:prstGeom>
          <a:noFill/>
          <a:ln/>
        </p:spPr>
        <p:txBody>
          <a:bodyPr wrap="square" lIns="0" tIns="0" rIns="0" bIns="0" rtlCol="0" anchor="ctr"/>
          <a:lstStyle/>
          <a:p>
            <a:pPr marL="0" indent="0" algn="ctr">
              <a:buNone/>
            </a:pPr>
            <a:r>
              <a:rPr lang="en-US" sz="1800" b="1" dirty="0">
                <a:solidFill>
                  <a:schemeClr val="bg1"/>
                </a:solidFill>
              </a:rPr>
              <a:t>30–38</a:t>
            </a:r>
            <a:endParaRPr lang="en-US" sz="1800" dirty="0"/>
          </a:p>
        </p:txBody>
      </p:sp>
      <p:sp>
        <p:nvSpPr>
          <p:cNvPr id="18" name="Text 16"/>
          <p:cNvSpPr txBox="1"/>
          <p:nvPr/>
        </p:nvSpPr>
        <p:spPr>
          <a:xfrm>
            <a:off x="8036357" y="3131820"/>
            <a:ext cx="1666189" cy="1188720"/>
          </a:xfrm>
          <a:prstGeom prst="rect">
            <a:avLst/>
          </a:prstGeom>
          <a:noFill/>
          <a:ln/>
        </p:spPr>
        <p:txBody>
          <a:bodyPr wrap="square" lIns="0" tIns="0" rIns="0" bIns="0" rtlCol="0" anchor="t"/>
          <a:lstStyle/>
          <a:p>
            <a:pPr marL="0" indent="0" algn="ctr">
              <a:buNone/>
            </a:pPr>
            <a:r>
              <a:rPr lang="en-US" sz="1600" dirty="0">
                <a:solidFill>
                  <a:schemeClr val="tx1"/>
                </a:solidFill>
              </a:rPr>
              <a:t>Ejercicio 1: ideas con IA</a:t>
            </a:r>
            <a:endParaRPr lang="en-US" sz="1600" dirty="0"/>
          </a:p>
        </p:txBody>
      </p:sp>
      <p:sp>
        <p:nvSpPr>
          <p:cNvPr id="19" name="Paso 6"/>
          <p:cNvSpPr/>
          <p:nvPr/>
        </p:nvSpPr>
        <p:spPr>
          <a:xfrm>
            <a:off x="10147021" y="1760220"/>
            <a:ext cx="1143000" cy="1143000"/>
          </a:xfrm>
          <a:prstGeom prst="ellipse">
            <a:avLst/>
          </a:prstGeom>
          <a:solidFill>
            <a:schemeClr val="tx2"/>
          </a:solidFill>
          <a:ln/>
        </p:spPr>
      </p:sp>
      <p:sp>
        <p:nvSpPr>
          <p:cNvPr id="20" name="Text 18"/>
          <p:cNvSpPr txBox="1"/>
          <p:nvPr/>
        </p:nvSpPr>
        <p:spPr>
          <a:xfrm>
            <a:off x="10147021" y="1760220"/>
            <a:ext cx="1143000" cy="1143000"/>
          </a:xfrm>
          <a:prstGeom prst="rect">
            <a:avLst/>
          </a:prstGeom>
          <a:noFill/>
          <a:ln/>
        </p:spPr>
        <p:txBody>
          <a:bodyPr wrap="square" lIns="0" tIns="0" rIns="0" bIns="0" rtlCol="0" anchor="ctr"/>
          <a:lstStyle/>
          <a:p>
            <a:pPr marL="0" indent="0" algn="ctr">
              <a:buNone/>
            </a:pPr>
            <a:r>
              <a:rPr lang="en-US" sz="1800" b="1" dirty="0">
                <a:solidFill>
                  <a:schemeClr val="bg1"/>
                </a:solidFill>
              </a:rPr>
              <a:t>38–45</a:t>
            </a:r>
            <a:endParaRPr lang="en-US" sz="1800" dirty="0"/>
          </a:p>
        </p:txBody>
      </p:sp>
      <p:sp>
        <p:nvSpPr>
          <p:cNvPr id="21" name="Text 19"/>
          <p:cNvSpPr txBox="1"/>
          <p:nvPr/>
        </p:nvSpPr>
        <p:spPr>
          <a:xfrm>
            <a:off x="9885426" y="3131820"/>
            <a:ext cx="1666189" cy="1188720"/>
          </a:xfrm>
          <a:prstGeom prst="rect">
            <a:avLst/>
          </a:prstGeom>
          <a:noFill/>
          <a:ln/>
        </p:spPr>
        <p:txBody>
          <a:bodyPr wrap="square" lIns="0" tIns="0" rIns="0" bIns="0" rtlCol="0" anchor="t"/>
          <a:lstStyle/>
          <a:p>
            <a:pPr marL="0" indent="0" algn="ctr">
              <a:buNone/>
            </a:pPr>
            <a:r>
              <a:rPr lang="en-US" sz="1600" dirty="0">
                <a:solidFill>
                  <a:schemeClr val="tx1"/>
                </a:solidFill>
              </a:rPr>
              <a:t>Comparamos y cerramos</a:t>
            </a:r>
            <a:endParaRPr lang="en-US" sz="1600" dirty="0"/>
          </a:p>
        </p:txBody>
      </p:sp>
      <p:sp>
        <p:nvSpPr>
          <p:cNvPr id="22" name="Personas"/>
          <p:cNvSpPr/>
          <p:nvPr/>
        </p:nvSpPr>
        <p:spPr>
          <a:xfrm>
            <a:off x="548640" y="4846320"/>
            <a:ext cx="548640" cy="548640"/>
          </a:xfrm>
          <a:prstGeom prst="ellipse">
            <a:avLst/>
          </a:prstGeom>
          <a:solidFill>
            <a:schemeClr val="accent1"/>
          </a:solidFill>
          <a:ln/>
        </p:spPr>
      </p:sp>
      <p:pic>
        <p:nvPicPr>
          <p:cNvPr id="23" name="Image 0" descr="Personas"/>
          <p:cNvPicPr>
            <a:picLocks noChangeAspect="1"/>
          </p:cNvPicPr>
          <p:nvPr/>
        </p:nvPicPr>
        <p:blipFill>
          <a:blip r:embed="rId3"/>
          <a:stretch>
            <a:fillRect/>
          </a:stretch>
        </p:blipFill>
        <p:spPr>
          <a:xfrm>
            <a:off x="680314" y="4977994"/>
            <a:ext cx="285293" cy="285293"/>
          </a:xfrm>
          <a:prstGeom prst="rect">
            <a:avLst/>
          </a:prstGeom>
        </p:spPr>
      </p:pic>
      <p:sp>
        <p:nvSpPr>
          <p:cNvPr id="24" name="Text 21"/>
          <p:cNvSpPr txBox="1"/>
          <p:nvPr/>
        </p:nvSpPr>
        <p:spPr>
          <a:xfrm>
            <a:off x="1234440" y="4846320"/>
            <a:ext cx="3840480" cy="548640"/>
          </a:xfrm>
          <a:prstGeom prst="rect">
            <a:avLst/>
          </a:prstGeom>
          <a:noFill/>
          <a:ln/>
        </p:spPr>
        <p:txBody>
          <a:bodyPr wrap="square" lIns="0" tIns="0" rIns="0" bIns="0" rtlCol="0" anchor="ctr"/>
          <a:lstStyle/>
          <a:p>
            <a:pPr marL="0" indent="0">
              <a:buNone/>
            </a:pPr>
            <a:r>
              <a:rPr lang="en-US" sz="1600" dirty="0">
                <a:solidFill>
                  <a:schemeClr val="tx1"/>
                </a:solidFill>
              </a:rPr>
              <a:t>Ámbar: pensamos las personas</a:t>
            </a:r>
            <a:endParaRPr lang="en-US" sz="1600" dirty="0"/>
          </a:p>
        </p:txBody>
      </p:sp>
      <p:sp>
        <p:nvSpPr>
          <p:cNvPr id="25" name="IA"/>
          <p:cNvSpPr/>
          <p:nvPr/>
        </p:nvSpPr>
        <p:spPr>
          <a:xfrm>
            <a:off x="5394960" y="4846320"/>
            <a:ext cx="548640" cy="548640"/>
          </a:xfrm>
          <a:prstGeom prst="ellipse">
            <a:avLst/>
          </a:prstGeom>
          <a:solidFill>
            <a:schemeClr val="accent2"/>
          </a:solidFill>
          <a:ln/>
        </p:spPr>
      </p:sp>
      <p:pic>
        <p:nvPicPr>
          <p:cNvPr id="26" name="Image 1" descr="IA"/>
          <p:cNvPicPr>
            <a:picLocks noChangeAspect="1"/>
          </p:cNvPicPr>
          <p:nvPr/>
        </p:nvPicPr>
        <p:blipFill>
          <a:blip r:embed="rId4"/>
          <a:stretch>
            <a:fillRect/>
          </a:stretch>
        </p:blipFill>
        <p:spPr>
          <a:xfrm>
            <a:off x="5526634" y="4977994"/>
            <a:ext cx="285293" cy="285293"/>
          </a:xfrm>
          <a:prstGeom prst="rect">
            <a:avLst/>
          </a:prstGeom>
        </p:spPr>
      </p:pic>
      <p:sp>
        <p:nvSpPr>
          <p:cNvPr id="27" name="Text 23"/>
          <p:cNvSpPr txBox="1"/>
          <p:nvPr/>
        </p:nvSpPr>
        <p:spPr>
          <a:xfrm>
            <a:off x="6080760" y="4846320"/>
            <a:ext cx="3840480" cy="548640"/>
          </a:xfrm>
          <a:prstGeom prst="rect">
            <a:avLst/>
          </a:prstGeom>
          <a:noFill/>
          <a:ln/>
        </p:spPr>
        <p:txBody>
          <a:bodyPr wrap="square" lIns="0" tIns="0" rIns="0" bIns="0" rtlCol="0" anchor="ctr"/>
          <a:lstStyle/>
          <a:p>
            <a:pPr marL="0" indent="0">
              <a:buNone/>
            </a:pPr>
            <a:r>
              <a:rPr lang="en-US" sz="1600" dirty="0">
                <a:solidFill>
                  <a:schemeClr val="tx1"/>
                </a:solidFill>
              </a:rPr>
              <a:t>Verde: trabajamos con la IA</a:t>
            </a:r>
            <a:endParaRPr lang="en-US" sz="1600" dirty="0"/>
          </a:p>
        </p:txBody>
      </p:sp>
      <p:sp>
        <p:nvSpPr>
          <p:cNvPr id="28"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1097280" y="1554480"/>
            <a:ext cx="9966960" cy="3108960"/>
          </a:xfrm>
          <a:prstGeom prst="rect">
            <a:avLst/>
          </a:prstGeom>
          <a:noFill/>
          <a:ln/>
        </p:spPr>
        <p:txBody>
          <a:bodyPr wrap="square" lIns="0" tIns="0" rIns="0" bIns="0" rtlCol="0" anchor="ctr"/>
          <a:lstStyle/>
          <a:p>
            <a:pPr marL="0" indent="0">
              <a:buNone/>
            </a:pPr>
            <a:r>
              <a:rPr lang="en-US" sz="3400" dirty="0">
                <a:solidFill>
                  <a:schemeClr val="bg1"/>
                </a:solidFill>
              </a:rPr>
              <a:t>Mañana empezáis a trabajar en una empresa. Hay un procedimiento que siempre se ha hecho igual, pero que consume muchísimo tiempo.</a:t>
            </a:r>
            <a:endParaRPr lang="en-US" sz="3400" dirty="0"/>
          </a:p>
          <a:p>
            <a:pPr marL="0" indent="0">
              <a:buNone/>
            </a:pPr>
            <a:r>
              <a:rPr lang="en-US" sz="3400" b="1" dirty="0">
                <a:solidFill>
                  <a:schemeClr val="accent1"/>
                </a:solidFill>
              </a:rPr>
              <a:t>¿Lo repetiríais o buscaríais una manera mejor?</a:t>
            </a:r>
            <a:endParaRPr lang="en-US" sz="3400" dirty="0"/>
          </a:p>
        </p:txBody>
      </p:sp>
      <p:sp>
        <p:nvSpPr>
          <p:cNvPr id="3" name="Etiqueta de tiempo"/>
          <p:cNvSpPr/>
          <p:nvPr/>
        </p:nvSpPr>
        <p:spPr>
          <a:xfrm>
            <a:off x="8662111" y="548640"/>
            <a:ext cx="2980944" cy="457200"/>
          </a:xfrm>
          <a:prstGeom prst="roundRect">
            <a:avLst>
              <a:gd name="adj" fmla="val 50000"/>
            </a:avLst>
          </a:prstGeom>
          <a:solidFill>
            <a:schemeClr val="accent1"/>
          </a:solidFill>
          <a:ln/>
        </p:spPr>
      </p:sp>
      <p:sp>
        <p:nvSpPr>
          <p:cNvPr id="4" name="Text 2"/>
          <p:cNvSpPr txBox="1"/>
          <p:nvPr/>
        </p:nvSpPr>
        <p:spPr>
          <a:xfrm>
            <a:off x="8662111" y="548640"/>
            <a:ext cx="2980944" cy="457200"/>
          </a:xfrm>
          <a:prstGeom prst="rect">
            <a:avLst/>
          </a:prstGeom>
          <a:noFill/>
          <a:ln/>
        </p:spPr>
        <p:txBody>
          <a:bodyPr wrap="square" lIns="0" tIns="0" rIns="0" bIns="0" rtlCol="0" anchor="ctr"/>
          <a:lstStyle/>
          <a:p>
            <a:pPr marL="0" indent="0" algn="ctr">
              <a:buNone/>
            </a:pPr>
            <a:r>
              <a:rPr lang="en-US" sz="1400" b="1" dirty="0">
                <a:solidFill>
                  <a:schemeClr val="tx1"/>
                </a:solidFill>
              </a:rPr>
              <a:t>Min. 0–3 · Todo el grupo</a:t>
            </a:r>
            <a:endParaRPr lang="en-US" sz="1400" dirty="0"/>
          </a:p>
        </p:txBody>
      </p:sp>
      <p:sp>
        <p:nvSpPr>
          <p:cNvPr id="5" name="Text 3"/>
          <p:cNvSpPr txBox="1"/>
          <p:nvPr/>
        </p:nvSpPr>
        <p:spPr>
          <a:xfrm>
            <a:off x="1097280" y="4892040"/>
            <a:ext cx="5486400" cy="411480"/>
          </a:xfrm>
          <a:prstGeom prst="rect">
            <a:avLst/>
          </a:prstGeom>
          <a:noFill/>
          <a:ln/>
        </p:spPr>
        <p:txBody>
          <a:bodyPr wrap="square" lIns="0" tIns="0" rIns="0" bIns="0" rtlCol="0" anchor="ctr"/>
          <a:lstStyle/>
          <a:p>
            <a:pPr marL="0" indent="0">
              <a:buNone/>
            </a:pPr>
            <a:r>
              <a:rPr lang="en-US" sz="1600" dirty="0">
                <a:solidFill>
                  <a:schemeClr val="accent5"/>
                </a:solidFill>
              </a:rPr>
              <a:t>Votación a mano alzada</a:t>
            </a:r>
            <a:endParaRPr lang="en-US" sz="1600" dirty="0"/>
          </a:p>
        </p:txBody>
      </p:sp>
      <p:sp>
        <p:nvSpPr>
          <p:cNvPr id="6" name="Opción 1"/>
          <p:cNvSpPr/>
          <p:nvPr/>
        </p:nvSpPr>
        <p:spPr>
          <a:xfrm>
            <a:off x="1097280" y="5394960"/>
            <a:ext cx="4206240" cy="685800"/>
          </a:xfrm>
          <a:prstGeom prst="roundRect">
            <a:avLst>
              <a:gd name="adj" fmla="val 50000"/>
            </a:avLst>
          </a:prstGeom>
          <a:solidFill>
            <a:schemeClr val="tx2"/>
          </a:solidFill>
          <a:ln/>
        </p:spPr>
      </p:sp>
      <p:sp>
        <p:nvSpPr>
          <p:cNvPr id="7" name="Lo repito tal cual"/>
          <p:cNvSpPr/>
          <p:nvPr/>
        </p:nvSpPr>
        <p:spPr>
          <a:xfrm>
            <a:off x="1207008" y="5468112"/>
            <a:ext cx="548640" cy="548640"/>
          </a:xfrm>
          <a:prstGeom prst="ellipse">
            <a:avLst/>
          </a:prstGeom>
          <a:solidFill>
            <a:schemeClr val="accent1"/>
          </a:solidFill>
          <a:ln/>
        </p:spPr>
      </p:sp>
      <p:pic>
        <p:nvPicPr>
          <p:cNvPr id="8" name="Image 0" descr="Lo repito tal cual"/>
          <p:cNvPicPr>
            <a:picLocks noChangeAspect="1"/>
          </p:cNvPicPr>
          <p:nvPr/>
        </p:nvPicPr>
        <p:blipFill>
          <a:blip r:embed="rId3"/>
          <a:stretch>
            <a:fillRect/>
          </a:stretch>
        </p:blipFill>
        <p:spPr>
          <a:xfrm>
            <a:off x="1338682" y="5599786"/>
            <a:ext cx="285293" cy="285293"/>
          </a:xfrm>
          <a:prstGeom prst="rect">
            <a:avLst/>
          </a:prstGeom>
        </p:spPr>
      </p:pic>
      <p:sp>
        <p:nvSpPr>
          <p:cNvPr id="9" name="Text 6"/>
          <p:cNvSpPr txBox="1"/>
          <p:nvPr/>
        </p:nvSpPr>
        <p:spPr>
          <a:xfrm>
            <a:off x="1874520" y="5394960"/>
            <a:ext cx="3291840" cy="685800"/>
          </a:xfrm>
          <a:prstGeom prst="rect">
            <a:avLst/>
          </a:prstGeom>
          <a:noFill/>
          <a:ln/>
        </p:spPr>
        <p:txBody>
          <a:bodyPr wrap="square" lIns="0" tIns="0" rIns="0" bIns="0" rtlCol="0" anchor="ctr"/>
          <a:lstStyle/>
          <a:p>
            <a:pPr marL="0" indent="0">
              <a:buNone/>
            </a:pPr>
            <a:r>
              <a:rPr lang="en-US" sz="1800" dirty="0">
                <a:solidFill>
                  <a:schemeClr val="bg1"/>
                </a:solidFill>
              </a:rPr>
              <a:t>Lo repito tal cual</a:t>
            </a:r>
            <a:endParaRPr lang="en-US" sz="1800" dirty="0"/>
          </a:p>
        </p:txBody>
      </p:sp>
      <p:sp>
        <p:nvSpPr>
          <p:cNvPr id="10" name="Opción 2"/>
          <p:cNvSpPr/>
          <p:nvPr/>
        </p:nvSpPr>
        <p:spPr>
          <a:xfrm>
            <a:off x="5669280" y="5394960"/>
            <a:ext cx="4206240" cy="685800"/>
          </a:xfrm>
          <a:prstGeom prst="roundRect">
            <a:avLst>
              <a:gd name="adj" fmla="val 50000"/>
            </a:avLst>
          </a:prstGeom>
          <a:solidFill>
            <a:schemeClr val="tx2"/>
          </a:solidFill>
          <a:ln/>
        </p:spPr>
      </p:sp>
      <p:sp>
        <p:nvSpPr>
          <p:cNvPr id="11" name="Busco una manera mejor"/>
          <p:cNvSpPr/>
          <p:nvPr/>
        </p:nvSpPr>
        <p:spPr>
          <a:xfrm>
            <a:off x="5779008" y="5468112"/>
            <a:ext cx="548640" cy="548640"/>
          </a:xfrm>
          <a:prstGeom prst="ellipse">
            <a:avLst/>
          </a:prstGeom>
          <a:solidFill>
            <a:schemeClr val="accent1"/>
          </a:solidFill>
          <a:ln/>
        </p:spPr>
      </p:sp>
      <p:pic>
        <p:nvPicPr>
          <p:cNvPr id="12" name="Image 1" descr="Busco una manera mejor"/>
          <p:cNvPicPr>
            <a:picLocks noChangeAspect="1"/>
          </p:cNvPicPr>
          <p:nvPr/>
        </p:nvPicPr>
        <p:blipFill>
          <a:blip r:embed="rId4"/>
          <a:stretch>
            <a:fillRect/>
          </a:stretch>
        </p:blipFill>
        <p:spPr>
          <a:xfrm>
            <a:off x="5910682" y="5599786"/>
            <a:ext cx="285293" cy="285293"/>
          </a:xfrm>
          <a:prstGeom prst="rect">
            <a:avLst/>
          </a:prstGeom>
        </p:spPr>
      </p:pic>
      <p:sp>
        <p:nvSpPr>
          <p:cNvPr id="13" name="Text 9"/>
          <p:cNvSpPr txBox="1"/>
          <p:nvPr/>
        </p:nvSpPr>
        <p:spPr>
          <a:xfrm>
            <a:off x="6446520" y="5394960"/>
            <a:ext cx="3291840" cy="685800"/>
          </a:xfrm>
          <a:prstGeom prst="rect">
            <a:avLst/>
          </a:prstGeom>
          <a:noFill/>
          <a:ln/>
        </p:spPr>
        <p:txBody>
          <a:bodyPr wrap="square" lIns="0" tIns="0" rIns="0" bIns="0" rtlCol="0" anchor="ctr"/>
          <a:lstStyle/>
          <a:p>
            <a:pPr marL="0" indent="0">
              <a:buNone/>
            </a:pPr>
            <a:r>
              <a:rPr lang="en-US" sz="1800" dirty="0">
                <a:solidFill>
                  <a:schemeClr val="bg1"/>
                </a:solidFill>
              </a:rPr>
              <a:t>Busco una manera mejor</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¿Habéis visto alguna mejora?</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0–3 · Voluntarios</a:t>
            </a:r>
            <a:endParaRPr lang="en-US" sz="1400" dirty="0"/>
          </a:p>
        </p:txBody>
      </p:sp>
      <p:sp>
        <p:nvSpPr>
          <p:cNvPr id="5" name="Voluntarios"/>
          <p:cNvSpPr/>
          <p:nvPr/>
        </p:nvSpPr>
        <p:spPr>
          <a:xfrm>
            <a:off x="822960" y="2011680"/>
            <a:ext cx="1828800" cy="1828800"/>
          </a:xfrm>
          <a:prstGeom prst="ellipse">
            <a:avLst/>
          </a:prstGeom>
          <a:solidFill>
            <a:schemeClr val="accent1"/>
          </a:solidFill>
          <a:ln/>
        </p:spPr>
      </p:sp>
      <p:pic>
        <p:nvPicPr>
          <p:cNvPr id="6" name="Image 0" descr="Voluntarios"/>
          <p:cNvPicPr>
            <a:picLocks noChangeAspect="1"/>
          </p:cNvPicPr>
          <p:nvPr/>
        </p:nvPicPr>
        <p:blipFill>
          <a:blip r:embed="rId3"/>
          <a:stretch>
            <a:fillRect/>
          </a:stretch>
        </p:blipFill>
        <p:spPr>
          <a:xfrm>
            <a:off x="1261872" y="2450592"/>
            <a:ext cx="950976" cy="950976"/>
          </a:xfrm>
          <a:prstGeom prst="rect">
            <a:avLst/>
          </a:prstGeom>
        </p:spPr>
      </p:pic>
      <p:sp>
        <p:nvSpPr>
          <p:cNvPr id="7" name="Tarjeta"/>
          <p:cNvSpPr/>
          <p:nvPr/>
        </p:nvSpPr>
        <p:spPr>
          <a:xfrm>
            <a:off x="3108960" y="1737360"/>
            <a:ext cx="8534095" cy="2377440"/>
          </a:xfrm>
          <a:prstGeom prst="roundRect">
            <a:avLst>
              <a:gd name="adj" fmla="val 5769"/>
            </a:avLst>
          </a:prstGeom>
          <a:solidFill>
            <a:schemeClr val="bg2"/>
          </a:solidFill>
          <a:ln/>
        </p:spPr>
      </p:sp>
      <p:sp>
        <p:nvSpPr>
          <p:cNvPr id="8" name="Text 5"/>
          <p:cNvSpPr txBox="1"/>
          <p:nvPr/>
        </p:nvSpPr>
        <p:spPr>
          <a:xfrm>
            <a:off x="3474720" y="1737360"/>
            <a:ext cx="7802575" cy="2377440"/>
          </a:xfrm>
          <a:prstGeom prst="rect">
            <a:avLst/>
          </a:prstGeom>
          <a:noFill/>
          <a:ln/>
        </p:spPr>
        <p:txBody>
          <a:bodyPr wrap="square" lIns="0" tIns="0" rIns="0" bIns="0" rtlCol="0" anchor="ctr"/>
          <a:lstStyle/>
          <a:p>
            <a:pPr marL="0" indent="0">
              <a:buNone/>
            </a:pPr>
            <a:r>
              <a:rPr lang="en-US" sz="3600" i="1" dirty="0">
                <a:solidFill>
                  <a:schemeClr val="tx1"/>
                </a:solidFill>
              </a:rPr>
              <a:t>«Antes se hacía así…</a:t>
            </a:r>
            <a:endParaRPr lang="en-US" sz="3600" dirty="0"/>
          </a:p>
          <a:p>
            <a:pPr marL="0" indent="0">
              <a:buNone/>
            </a:pPr>
            <a:r>
              <a:rPr lang="en-US" sz="3600" i="1" dirty="0">
                <a:solidFill>
                  <a:schemeClr val="tx1"/>
                </a:solidFill>
              </a:rPr>
              <a:t>y alguien lo cambió por…»</a:t>
            </a:r>
            <a:endParaRPr lang="en-US" sz="3600" dirty="0"/>
          </a:p>
        </p:txBody>
      </p:sp>
      <p:sp>
        <p:nvSpPr>
          <p:cNvPr id="9" name="Text 6"/>
          <p:cNvSpPr txBox="1"/>
          <p:nvPr/>
        </p:nvSpPr>
        <p:spPr>
          <a:xfrm>
            <a:off x="3108960" y="4434840"/>
            <a:ext cx="7315200" cy="457200"/>
          </a:xfrm>
          <a:prstGeom prst="rect">
            <a:avLst/>
          </a:prstGeom>
          <a:noFill/>
          <a:ln/>
        </p:spPr>
        <p:txBody>
          <a:bodyPr wrap="square" lIns="0" tIns="0" rIns="0" bIns="0" rtlCol="0" anchor="ctr"/>
          <a:lstStyle/>
          <a:p>
            <a:pPr marL="0" indent="0">
              <a:buNone/>
            </a:pPr>
            <a:r>
              <a:rPr lang="en-US" sz="2000" dirty="0">
                <a:solidFill>
                  <a:schemeClr val="tx2"/>
                </a:solidFill>
              </a:rPr>
              <a:t>Dos o tres voluntarios · una frase cada uno</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Tres conceptos que no son lo mismo</a:t>
            </a:r>
            <a:endParaRPr lang="en-US" sz="3200" dirty="0"/>
          </a:p>
        </p:txBody>
      </p:sp>
      <p:sp>
        <p:nvSpPr>
          <p:cNvPr id="3" name="Etiqueta de tiempo"/>
          <p:cNvSpPr/>
          <p:nvPr/>
        </p:nvSpPr>
        <p:spPr>
          <a:xfrm>
            <a:off x="10180015" y="548640"/>
            <a:ext cx="1463040" cy="457200"/>
          </a:xfrm>
          <a:prstGeom prst="roundRect">
            <a:avLst>
              <a:gd name="adj" fmla="val 50000"/>
            </a:avLst>
          </a:prstGeom>
          <a:solidFill>
            <a:schemeClr val="bg2"/>
          </a:solidFill>
          <a:ln/>
        </p:spPr>
      </p:sp>
      <p:sp>
        <p:nvSpPr>
          <p:cNvPr id="4" name="Text 2"/>
          <p:cNvSpPr txBox="1"/>
          <p:nvPr/>
        </p:nvSpPr>
        <p:spPr>
          <a:xfrm>
            <a:off x="10180015" y="548640"/>
            <a:ext cx="1463040" cy="457200"/>
          </a:xfrm>
          <a:prstGeom prst="rect">
            <a:avLst/>
          </a:prstGeom>
          <a:noFill/>
          <a:ln/>
        </p:spPr>
        <p:txBody>
          <a:bodyPr wrap="square" lIns="0" tIns="0" rIns="0" bIns="0" rtlCol="0" anchor="ctr"/>
          <a:lstStyle/>
          <a:p>
            <a:pPr marL="0" indent="0" algn="ctr">
              <a:buNone/>
            </a:pPr>
            <a:r>
              <a:rPr lang="en-US" sz="1400" b="1" dirty="0">
                <a:solidFill>
                  <a:schemeClr val="tx1"/>
                </a:solidFill>
              </a:rPr>
              <a:t>Min. 3–5</a:t>
            </a:r>
            <a:endParaRPr lang="en-US" sz="1400" dirty="0"/>
          </a:p>
        </p:txBody>
      </p:sp>
      <p:sp>
        <p:nvSpPr>
          <p:cNvPr id="5" name="Tarjeta"/>
          <p:cNvSpPr/>
          <p:nvPr/>
        </p:nvSpPr>
        <p:spPr>
          <a:xfrm>
            <a:off x="548640" y="1508760"/>
            <a:ext cx="3454298" cy="3749040"/>
          </a:xfrm>
          <a:prstGeom prst="roundRect">
            <a:avLst>
              <a:gd name="adj" fmla="val 3971"/>
            </a:avLst>
          </a:prstGeom>
          <a:solidFill>
            <a:schemeClr val="bg2"/>
          </a:solidFill>
          <a:ln/>
        </p:spPr>
      </p:sp>
      <p:sp>
        <p:nvSpPr>
          <p:cNvPr id="6" name="Creatividad"/>
          <p:cNvSpPr/>
          <p:nvPr/>
        </p:nvSpPr>
        <p:spPr>
          <a:xfrm>
            <a:off x="868680" y="1783080"/>
            <a:ext cx="914400" cy="914400"/>
          </a:xfrm>
          <a:prstGeom prst="ellipse">
            <a:avLst/>
          </a:prstGeom>
          <a:solidFill>
            <a:schemeClr val="accent1"/>
          </a:solidFill>
          <a:ln/>
        </p:spPr>
      </p:sp>
      <p:pic>
        <p:nvPicPr>
          <p:cNvPr id="7" name="Image 0" descr="Creatividad"/>
          <p:cNvPicPr>
            <a:picLocks noChangeAspect="1"/>
          </p:cNvPicPr>
          <p:nvPr/>
        </p:nvPicPr>
        <p:blipFill>
          <a:blip r:embed="rId3"/>
          <a:stretch>
            <a:fillRect/>
          </a:stretch>
        </p:blipFill>
        <p:spPr>
          <a:xfrm>
            <a:off x="1088136" y="2002536"/>
            <a:ext cx="475488" cy="475488"/>
          </a:xfrm>
          <a:prstGeom prst="rect">
            <a:avLst/>
          </a:prstGeom>
        </p:spPr>
      </p:pic>
      <p:sp>
        <p:nvSpPr>
          <p:cNvPr id="8" name="Text 5"/>
          <p:cNvSpPr txBox="1"/>
          <p:nvPr/>
        </p:nvSpPr>
        <p:spPr>
          <a:xfrm>
            <a:off x="868680" y="2834640"/>
            <a:ext cx="2814218" cy="502920"/>
          </a:xfrm>
          <a:prstGeom prst="rect">
            <a:avLst/>
          </a:prstGeom>
          <a:noFill/>
          <a:ln/>
        </p:spPr>
        <p:txBody>
          <a:bodyPr wrap="square" lIns="0" tIns="0" rIns="0" bIns="0" rtlCol="0" anchor="ctr"/>
          <a:lstStyle/>
          <a:p>
            <a:pPr marL="0" indent="0">
              <a:buNone/>
            </a:pPr>
            <a:r>
              <a:rPr lang="en-US" sz="2400" b="1" dirty="0">
                <a:solidFill>
                  <a:schemeClr val="tx1"/>
                </a:solidFill>
              </a:rPr>
              <a:t>Creatividad</a:t>
            </a:r>
            <a:endParaRPr lang="en-US" sz="2400" dirty="0"/>
          </a:p>
        </p:txBody>
      </p:sp>
      <p:sp>
        <p:nvSpPr>
          <p:cNvPr id="9" name="Text 6"/>
          <p:cNvSpPr txBox="1"/>
          <p:nvPr/>
        </p:nvSpPr>
        <p:spPr>
          <a:xfrm>
            <a:off x="868680" y="3383280"/>
            <a:ext cx="2814218" cy="822960"/>
          </a:xfrm>
          <a:prstGeom prst="rect">
            <a:avLst/>
          </a:prstGeom>
          <a:noFill/>
          <a:ln/>
        </p:spPr>
        <p:txBody>
          <a:bodyPr wrap="square" lIns="0" tIns="0" rIns="0" bIns="0" rtlCol="0" anchor="t"/>
          <a:lstStyle/>
          <a:p>
            <a:pPr marL="0" indent="0">
              <a:buNone/>
            </a:pPr>
            <a:r>
              <a:rPr lang="en-US" sz="1800" dirty="0">
                <a:solidFill>
                  <a:schemeClr val="tx1"/>
                </a:solidFill>
              </a:rPr>
              <a:t>Producir ideas nuevas y útiles.</a:t>
            </a:r>
            <a:endParaRPr lang="en-US" sz="1800" dirty="0"/>
          </a:p>
        </p:txBody>
      </p:sp>
      <p:sp>
        <p:nvSpPr>
          <p:cNvPr id="10" name="Text 7"/>
          <p:cNvSpPr txBox="1"/>
          <p:nvPr/>
        </p:nvSpPr>
        <p:spPr>
          <a:xfrm>
            <a:off x="868680" y="4251960"/>
            <a:ext cx="2814218" cy="822960"/>
          </a:xfrm>
          <a:prstGeom prst="rect">
            <a:avLst/>
          </a:prstGeom>
          <a:noFill/>
          <a:ln/>
        </p:spPr>
        <p:txBody>
          <a:bodyPr wrap="square" lIns="0" tIns="0" rIns="0" bIns="0" rtlCol="0" anchor="t"/>
          <a:lstStyle/>
          <a:p>
            <a:pPr marL="0" indent="0">
              <a:buNone/>
            </a:pPr>
            <a:r>
              <a:rPr lang="en-US" sz="1500" b="1" i="1" dirty="0">
                <a:solidFill>
                  <a:schemeClr val="tx2"/>
                </a:solidFill>
              </a:rPr>
              <a:t>Ejemplo: </a:t>
            </a:r>
            <a:r>
              <a:rPr lang="en-US" sz="1500" i="1" dirty="0">
                <a:solidFill>
                  <a:schemeClr val="tx2"/>
                </a:solidFill>
              </a:rPr>
              <a:t>Imaginar nuevas formas de atender a los clientes.</a:t>
            </a:r>
            <a:endParaRPr lang="en-US" sz="1500" dirty="0"/>
          </a:p>
        </p:txBody>
      </p:sp>
      <p:sp>
        <p:nvSpPr>
          <p:cNvPr id="11" name="Tarjeta"/>
          <p:cNvSpPr/>
          <p:nvPr/>
        </p:nvSpPr>
        <p:spPr>
          <a:xfrm>
            <a:off x="4368698" y="1508760"/>
            <a:ext cx="3454298" cy="3749040"/>
          </a:xfrm>
          <a:prstGeom prst="roundRect">
            <a:avLst>
              <a:gd name="adj" fmla="val 3971"/>
            </a:avLst>
          </a:prstGeom>
          <a:solidFill>
            <a:schemeClr val="bg2"/>
          </a:solidFill>
          <a:ln/>
        </p:spPr>
      </p:sp>
      <p:sp>
        <p:nvSpPr>
          <p:cNvPr id="12" name="Innovación"/>
          <p:cNvSpPr/>
          <p:nvPr/>
        </p:nvSpPr>
        <p:spPr>
          <a:xfrm>
            <a:off x="4688738" y="1783080"/>
            <a:ext cx="914400" cy="914400"/>
          </a:xfrm>
          <a:prstGeom prst="ellipse">
            <a:avLst/>
          </a:prstGeom>
          <a:solidFill>
            <a:schemeClr val="accent3"/>
          </a:solidFill>
          <a:ln/>
        </p:spPr>
      </p:sp>
      <p:pic>
        <p:nvPicPr>
          <p:cNvPr id="13" name="Image 1" descr="Innovación"/>
          <p:cNvPicPr>
            <a:picLocks noChangeAspect="1"/>
          </p:cNvPicPr>
          <p:nvPr/>
        </p:nvPicPr>
        <p:blipFill>
          <a:blip r:embed="rId4"/>
          <a:stretch>
            <a:fillRect/>
          </a:stretch>
        </p:blipFill>
        <p:spPr>
          <a:xfrm>
            <a:off x="4908194" y="2002536"/>
            <a:ext cx="475488" cy="475488"/>
          </a:xfrm>
          <a:prstGeom prst="rect">
            <a:avLst/>
          </a:prstGeom>
        </p:spPr>
      </p:pic>
      <p:sp>
        <p:nvSpPr>
          <p:cNvPr id="14" name="Text 10"/>
          <p:cNvSpPr txBox="1"/>
          <p:nvPr/>
        </p:nvSpPr>
        <p:spPr>
          <a:xfrm>
            <a:off x="4688738" y="2834640"/>
            <a:ext cx="2814218" cy="502920"/>
          </a:xfrm>
          <a:prstGeom prst="rect">
            <a:avLst/>
          </a:prstGeom>
          <a:noFill/>
          <a:ln/>
        </p:spPr>
        <p:txBody>
          <a:bodyPr wrap="square" lIns="0" tIns="0" rIns="0" bIns="0" rtlCol="0" anchor="ctr"/>
          <a:lstStyle/>
          <a:p>
            <a:pPr marL="0" indent="0">
              <a:buNone/>
            </a:pPr>
            <a:r>
              <a:rPr lang="en-US" sz="2400" b="1" dirty="0">
                <a:solidFill>
                  <a:schemeClr val="tx1"/>
                </a:solidFill>
              </a:rPr>
              <a:t>Innovación</a:t>
            </a:r>
            <a:endParaRPr lang="en-US" sz="2400" dirty="0"/>
          </a:p>
        </p:txBody>
      </p:sp>
      <p:sp>
        <p:nvSpPr>
          <p:cNvPr id="15" name="Text 11"/>
          <p:cNvSpPr txBox="1"/>
          <p:nvPr/>
        </p:nvSpPr>
        <p:spPr>
          <a:xfrm>
            <a:off x="4688738" y="3383280"/>
            <a:ext cx="2814218" cy="822960"/>
          </a:xfrm>
          <a:prstGeom prst="rect">
            <a:avLst/>
          </a:prstGeom>
          <a:noFill/>
          <a:ln/>
        </p:spPr>
        <p:txBody>
          <a:bodyPr wrap="square" lIns="0" tIns="0" rIns="0" bIns="0" rtlCol="0" anchor="t"/>
          <a:lstStyle/>
          <a:p>
            <a:pPr marL="0" indent="0">
              <a:buNone/>
            </a:pPr>
            <a:r>
              <a:rPr lang="en-US" sz="1800" dirty="0">
                <a:solidFill>
                  <a:schemeClr val="tx1"/>
                </a:solidFill>
              </a:rPr>
              <a:t>Poner en práctica una mejora que aporta valor.</a:t>
            </a:r>
            <a:endParaRPr lang="en-US" sz="1800" dirty="0"/>
          </a:p>
        </p:txBody>
      </p:sp>
      <p:sp>
        <p:nvSpPr>
          <p:cNvPr id="16" name="Text 12"/>
          <p:cNvSpPr txBox="1"/>
          <p:nvPr/>
        </p:nvSpPr>
        <p:spPr>
          <a:xfrm>
            <a:off x="4688738" y="4251960"/>
            <a:ext cx="2814218" cy="822960"/>
          </a:xfrm>
          <a:prstGeom prst="rect">
            <a:avLst/>
          </a:prstGeom>
          <a:noFill/>
          <a:ln/>
        </p:spPr>
        <p:txBody>
          <a:bodyPr wrap="square" lIns="0" tIns="0" rIns="0" bIns="0" rtlCol="0" anchor="t"/>
          <a:lstStyle/>
          <a:p>
            <a:pPr marL="0" indent="0">
              <a:buNone/>
            </a:pPr>
            <a:r>
              <a:rPr lang="en-US" sz="1500" b="1" i="1" dirty="0">
                <a:solidFill>
                  <a:schemeClr val="tx2"/>
                </a:solidFill>
              </a:rPr>
              <a:t>Ejemplo: </a:t>
            </a:r>
            <a:r>
              <a:rPr lang="en-US" sz="1500" i="1" dirty="0">
                <a:solidFill>
                  <a:schemeClr val="tx2"/>
                </a:solidFill>
              </a:rPr>
              <a:t>Implantar la cita previa para reducir esperas.</a:t>
            </a:r>
            <a:endParaRPr lang="en-US" sz="1500" dirty="0"/>
          </a:p>
        </p:txBody>
      </p:sp>
      <p:sp>
        <p:nvSpPr>
          <p:cNvPr id="17" name="Tarjeta"/>
          <p:cNvSpPr/>
          <p:nvPr/>
        </p:nvSpPr>
        <p:spPr>
          <a:xfrm>
            <a:off x="8188757" y="1508760"/>
            <a:ext cx="3454298" cy="3749040"/>
          </a:xfrm>
          <a:prstGeom prst="roundRect">
            <a:avLst>
              <a:gd name="adj" fmla="val 3971"/>
            </a:avLst>
          </a:prstGeom>
          <a:solidFill>
            <a:schemeClr val="bg2"/>
          </a:solidFill>
          <a:ln/>
        </p:spPr>
      </p:sp>
      <p:sp>
        <p:nvSpPr>
          <p:cNvPr id="18" name="Competencia digital"/>
          <p:cNvSpPr/>
          <p:nvPr/>
        </p:nvSpPr>
        <p:spPr>
          <a:xfrm>
            <a:off x="8508797" y="1783080"/>
            <a:ext cx="914400" cy="914400"/>
          </a:xfrm>
          <a:prstGeom prst="ellipse">
            <a:avLst/>
          </a:prstGeom>
          <a:solidFill>
            <a:schemeClr val="accent4"/>
          </a:solidFill>
          <a:ln/>
        </p:spPr>
      </p:sp>
      <p:pic>
        <p:nvPicPr>
          <p:cNvPr id="19" name="Image 2" descr="Competencia digital"/>
          <p:cNvPicPr>
            <a:picLocks noChangeAspect="1"/>
          </p:cNvPicPr>
          <p:nvPr/>
        </p:nvPicPr>
        <p:blipFill>
          <a:blip r:embed="rId5"/>
          <a:stretch>
            <a:fillRect/>
          </a:stretch>
        </p:blipFill>
        <p:spPr>
          <a:xfrm>
            <a:off x="8728253" y="2002536"/>
            <a:ext cx="475488" cy="475488"/>
          </a:xfrm>
          <a:prstGeom prst="rect">
            <a:avLst/>
          </a:prstGeom>
        </p:spPr>
      </p:pic>
      <p:sp>
        <p:nvSpPr>
          <p:cNvPr id="20" name="Text 15"/>
          <p:cNvSpPr txBox="1"/>
          <p:nvPr/>
        </p:nvSpPr>
        <p:spPr>
          <a:xfrm>
            <a:off x="8508797" y="2834640"/>
            <a:ext cx="2814218" cy="502920"/>
          </a:xfrm>
          <a:prstGeom prst="rect">
            <a:avLst/>
          </a:prstGeom>
          <a:noFill/>
          <a:ln/>
        </p:spPr>
        <p:txBody>
          <a:bodyPr wrap="square" lIns="0" tIns="0" rIns="0" bIns="0" rtlCol="0" anchor="ctr"/>
          <a:lstStyle/>
          <a:p>
            <a:pPr marL="0" indent="0">
              <a:buNone/>
            </a:pPr>
            <a:r>
              <a:rPr lang="en-US" sz="2400" b="1" dirty="0">
                <a:solidFill>
                  <a:schemeClr val="tx1"/>
                </a:solidFill>
              </a:rPr>
              <a:t>Competencia digital</a:t>
            </a:r>
            <a:endParaRPr lang="en-US" sz="2400" dirty="0"/>
          </a:p>
        </p:txBody>
      </p:sp>
      <p:sp>
        <p:nvSpPr>
          <p:cNvPr id="21" name="Text 16"/>
          <p:cNvSpPr txBox="1"/>
          <p:nvPr/>
        </p:nvSpPr>
        <p:spPr>
          <a:xfrm>
            <a:off x="8508797" y="3383280"/>
            <a:ext cx="2814218" cy="822960"/>
          </a:xfrm>
          <a:prstGeom prst="rect">
            <a:avLst/>
          </a:prstGeom>
          <a:noFill/>
          <a:ln/>
        </p:spPr>
        <p:txBody>
          <a:bodyPr wrap="square" lIns="0" tIns="0" rIns="0" bIns="0" rtlCol="0" anchor="t"/>
          <a:lstStyle/>
          <a:p>
            <a:pPr marL="0" indent="0">
              <a:buNone/>
            </a:pPr>
            <a:r>
              <a:rPr lang="en-US" sz="1800" dirty="0">
                <a:solidFill>
                  <a:schemeClr val="tx1"/>
                </a:solidFill>
              </a:rPr>
              <a:t>Emplear la tecnología para realizar tareas.</a:t>
            </a:r>
            <a:endParaRPr lang="en-US" sz="1800" dirty="0"/>
          </a:p>
        </p:txBody>
      </p:sp>
      <p:sp>
        <p:nvSpPr>
          <p:cNvPr id="22" name="Text 17"/>
          <p:cNvSpPr txBox="1"/>
          <p:nvPr/>
        </p:nvSpPr>
        <p:spPr>
          <a:xfrm>
            <a:off x="8508797" y="4251960"/>
            <a:ext cx="2814218" cy="822960"/>
          </a:xfrm>
          <a:prstGeom prst="rect">
            <a:avLst/>
          </a:prstGeom>
          <a:noFill/>
          <a:ln/>
        </p:spPr>
        <p:txBody>
          <a:bodyPr wrap="square" lIns="0" tIns="0" rIns="0" bIns="0" rtlCol="0" anchor="t"/>
          <a:lstStyle/>
          <a:p>
            <a:pPr marL="0" indent="0">
              <a:buNone/>
            </a:pPr>
            <a:r>
              <a:rPr lang="en-US" sz="1500" b="1" i="1" dirty="0">
                <a:solidFill>
                  <a:schemeClr val="tx2"/>
                </a:solidFill>
              </a:rPr>
              <a:t>Ejemplo: </a:t>
            </a:r>
            <a:r>
              <a:rPr lang="en-US" sz="1500" i="1" dirty="0">
                <a:solidFill>
                  <a:schemeClr val="tx2"/>
                </a:solidFill>
              </a:rPr>
              <a:t>Usar una hoja de cálculo para organizar turnos.</a:t>
            </a:r>
            <a:endParaRPr lang="en-US" sz="1500" dirty="0"/>
          </a:p>
        </p:txBody>
      </p:sp>
      <p:sp>
        <p:nvSpPr>
          <p:cNvPr id="23" name="Text 18"/>
          <p:cNvSpPr txBox="1"/>
          <p:nvPr/>
        </p:nvSpPr>
        <p:spPr>
          <a:xfrm>
            <a:off x="548640" y="5532120"/>
            <a:ext cx="11094415" cy="502920"/>
          </a:xfrm>
          <a:prstGeom prst="rect">
            <a:avLst/>
          </a:prstGeom>
          <a:noFill/>
          <a:ln/>
        </p:spPr>
        <p:txBody>
          <a:bodyPr wrap="square" lIns="0" tIns="0" rIns="0" bIns="0" rtlCol="0" anchor="ctr"/>
          <a:lstStyle/>
          <a:p>
            <a:pPr marL="0" indent="0">
              <a:buNone/>
            </a:pPr>
            <a:r>
              <a:rPr lang="en-US" sz="1900" b="1" dirty="0">
                <a:solidFill>
                  <a:schemeClr val="tx1"/>
                </a:solidFill>
              </a:rPr>
              <a:t>La creatividad no es solo arte: también es mejorar tareas y procesos de trabajo.</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Actividad: ¿qué es cada situación?</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ext 3"/>
          <p:cNvSpPr txBox="1"/>
          <p:nvPr/>
        </p:nvSpPr>
        <p:spPr>
          <a:xfrm>
            <a:off x="548640" y="1417320"/>
            <a:ext cx="9144000" cy="502920"/>
          </a:xfrm>
          <a:prstGeom prst="rect">
            <a:avLst/>
          </a:prstGeom>
          <a:noFill/>
          <a:ln/>
        </p:spPr>
        <p:txBody>
          <a:bodyPr wrap="square" lIns="0" tIns="0" rIns="0" bIns="0" rtlCol="0" anchor="ctr"/>
          <a:lstStyle/>
          <a:p>
            <a:pPr marL="0" indent="0">
              <a:buNone/>
            </a:pPr>
            <a:r>
              <a:rPr lang="en-US" sz="2200" dirty="0">
                <a:solidFill>
                  <a:schemeClr val="tx1"/>
                </a:solidFill>
              </a:rPr>
              <a:t>Os leeré seis situaciones. </a:t>
            </a:r>
            <a:r>
              <a:rPr lang="en-US" sz="2200" dirty="0" err="1">
                <a:solidFill>
                  <a:schemeClr val="tx1"/>
                </a:solidFill>
              </a:rPr>
              <a:t>Votad</a:t>
            </a:r>
            <a:r>
              <a:rPr lang="en-US" sz="2200" dirty="0">
                <a:solidFill>
                  <a:schemeClr val="tx1"/>
                </a:solidFill>
              </a:rPr>
              <a:t> lo </a:t>
            </a:r>
            <a:r>
              <a:rPr lang="en-US" sz="2200" dirty="0" err="1">
                <a:solidFill>
                  <a:schemeClr val="tx1"/>
                </a:solidFill>
              </a:rPr>
              <a:t>que</a:t>
            </a:r>
            <a:r>
              <a:rPr lang="en-US" sz="2200" dirty="0">
                <a:solidFill>
                  <a:schemeClr val="tx1"/>
                </a:solidFill>
              </a:rPr>
              <a:t> </a:t>
            </a:r>
            <a:r>
              <a:rPr lang="en-US" sz="2200" dirty="0" err="1">
                <a:solidFill>
                  <a:schemeClr val="tx1"/>
                </a:solidFill>
              </a:rPr>
              <a:t>penséis</a:t>
            </a:r>
            <a:r>
              <a:rPr lang="en-US" sz="2200" dirty="0">
                <a:solidFill>
                  <a:schemeClr val="tx1"/>
                </a:solidFill>
              </a:rPr>
              <a:t> </a:t>
            </a:r>
            <a:r>
              <a:rPr lang="en-US" sz="2200" dirty="0" err="1">
                <a:solidFill>
                  <a:schemeClr val="tx1"/>
                </a:solidFill>
              </a:rPr>
              <a:t>que</a:t>
            </a:r>
            <a:r>
              <a:rPr lang="en-US" sz="2200" dirty="0">
                <a:solidFill>
                  <a:schemeClr val="tx1"/>
                </a:solidFill>
              </a:rPr>
              <a:t> es:</a:t>
            </a:r>
            <a:endParaRPr lang="en-US" sz="2200" dirty="0"/>
          </a:p>
        </p:txBody>
      </p:sp>
      <p:sp>
        <p:nvSpPr>
          <p:cNvPr id="6" name="Tarjeta"/>
          <p:cNvSpPr/>
          <p:nvPr/>
        </p:nvSpPr>
        <p:spPr>
          <a:xfrm>
            <a:off x="548640" y="2194560"/>
            <a:ext cx="3454298" cy="2834640"/>
          </a:xfrm>
          <a:prstGeom prst="roundRect">
            <a:avLst>
              <a:gd name="adj" fmla="val 4839"/>
            </a:avLst>
          </a:prstGeom>
          <a:solidFill>
            <a:schemeClr val="bg2"/>
          </a:solidFill>
          <a:ln/>
        </p:spPr>
      </p:sp>
      <p:sp>
        <p:nvSpPr>
          <p:cNvPr id="7" name="Opción 1"/>
          <p:cNvSpPr/>
          <p:nvPr/>
        </p:nvSpPr>
        <p:spPr>
          <a:xfrm>
            <a:off x="1498549" y="2423160"/>
            <a:ext cx="1554480" cy="1554480"/>
          </a:xfrm>
          <a:prstGeom prst="ellipse">
            <a:avLst/>
          </a:prstGeom>
          <a:solidFill>
            <a:schemeClr val="accent1"/>
          </a:solidFill>
          <a:ln/>
        </p:spPr>
      </p:sp>
      <p:sp>
        <p:nvSpPr>
          <p:cNvPr id="8" name="Text 6"/>
          <p:cNvSpPr txBox="1"/>
          <p:nvPr/>
        </p:nvSpPr>
        <p:spPr>
          <a:xfrm>
            <a:off x="1498549" y="2423160"/>
            <a:ext cx="1554480" cy="1554480"/>
          </a:xfrm>
          <a:prstGeom prst="rect">
            <a:avLst/>
          </a:prstGeom>
          <a:noFill/>
          <a:ln/>
        </p:spPr>
        <p:txBody>
          <a:bodyPr wrap="square" lIns="0" tIns="0" rIns="0" bIns="0" rtlCol="0" anchor="ctr"/>
          <a:lstStyle/>
          <a:p>
            <a:pPr marL="0" indent="0" algn="ctr">
              <a:buNone/>
            </a:pPr>
            <a:r>
              <a:rPr lang="en-US" sz="6600" b="1" dirty="0">
                <a:solidFill>
                  <a:schemeClr val="tx1"/>
                </a:solidFill>
              </a:rPr>
              <a:t>1</a:t>
            </a:r>
            <a:endParaRPr lang="en-US" sz="6600" dirty="0"/>
          </a:p>
        </p:txBody>
      </p:sp>
      <p:sp>
        <p:nvSpPr>
          <p:cNvPr id="9" name="Text 7"/>
          <p:cNvSpPr txBox="1"/>
          <p:nvPr/>
        </p:nvSpPr>
        <p:spPr>
          <a:xfrm>
            <a:off x="731520" y="4160520"/>
            <a:ext cx="3088538" cy="640080"/>
          </a:xfrm>
          <a:prstGeom prst="rect">
            <a:avLst/>
          </a:prstGeom>
          <a:noFill/>
          <a:ln/>
        </p:spPr>
        <p:txBody>
          <a:bodyPr wrap="square" lIns="0" tIns="0" rIns="0" bIns="0" rtlCol="0" anchor="ctr"/>
          <a:lstStyle/>
          <a:p>
            <a:pPr marL="0" indent="0" algn="ctr">
              <a:buNone/>
            </a:pPr>
            <a:r>
              <a:rPr lang="en-US" sz="2400" b="1" dirty="0">
                <a:solidFill>
                  <a:schemeClr val="tx1"/>
                </a:solidFill>
              </a:rPr>
              <a:t>Creatividad</a:t>
            </a:r>
            <a:endParaRPr lang="en-US" sz="2400" dirty="0"/>
          </a:p>
        </p:txBody>
      </p:sp>
      <p:sp>
        <p:nvSpPr>
          <p:cNvPr id="10" name="Tarjeta"/>
          <p:cNvSpPr/>
          <p:nvPr/>
        </p:nvSpPr>
        <p:spPr>
          <a:xfrm>
            <a:off x="4368698" y="2194560"/>
            <a:ext cx="3454298" cy="2834640"/>
          </a:xfrm>
          <a:prstGeom prst="roundRect">
            <a:avLst>
              <a:gd name="adj" fmla="val 4839"/>
            </a:avLst>
          </a:prstGeom>
          <a:solidFill>
            <a:schemeClr val="bg2"/>
          </a:solidFill>
          <a:ln/>
        </p:spPr>
      </p:sp>
      <p:sp>
        <p:nvSpPr>
          <p:cNvPr id="11" name="Opción 2"/>
          <p:cNvSpPr/>
          <p:nvPr/>
        </p:nvSpPr>
        <p:spPr>
          <a:xfrm>
            <a:off x="5318608" y="2423160"/>
            <a:ext cx="1554480" cy="1554480"/>
          </a:xfrm>
          <a:prstGeom prst="ellipse">
            <a:avLst/>
          </a:prstGeom>
          <a:solidFill>
            <a:schemeClr val="accent3"/>
          </a:solidFill>
          <a:ln/>
        </p:spPr>
      </p:sp>
      <p:sp>
        <p:nvSpPr>
          <p:cNvPr id="12" name="Text 10"/>
          <p:cNvSpPr txBox="1"/>
          <p:nvPr/>
        </p:nvSpPr>
        <p:spPr>
          <a:xfrm>
            <a:off x="5318608" y="2423160"/>
            <a:ext cx="1554480" cy="1554480"/>
          </a:xfrm>
          <a:prstGeom prst="rect">
            <a:avLst/>
          </a:prstGeom>
          <a:noFill/>
          <a:ln/>
        </p:spPr>
        <p:txBody>
          <a:bodyPr wrap="square" lIns="0" tIns="0" rIns="0" bIns="0" rtlCol="0" anchor="ctr"/>
          <a:lstStyle/>
          <a:p>
            <a:pPr marL="0" indent="0" algn="ctr">
              <a:buNone/>
            </a:pPr>
            <a:r>
              <a:rPr lang="en-US" sz="6600" b="1" dirty="0">
                <a:solidFill>
                  <a:schemeClr val="bg1"/>
                </a:solidFill>
              </a:rPr>
              <a:t>2</a:t>
            </a:r>
            <a:endParaRPr lang="en-US" sz="6600" dirty="0"/>
          </a:p>
        </p:txBody>
      </p:sp>
      <p:sp>
        <p:nvSpPr>
          <p:cNvPr id="13" name="Text 11"/>
          <p:cNvSpPr txBox="1"/>
          <p:nvPr/>
        </p:nvSpPr>
        <p:spPr>
          <a:xfrm>
            <a:off x="4551578" y="4160520"/>
            <a:ext cx="3088538" cy="640080"/>
          </a:xfrm>
          <a:prstGeom prst="rect">
            <a:avLst/>
          </a:prstGeom>
          <a:noFill/>
          <a:ln/>
        </p:spPr>
        <p:txBody>
          <a:bodyPr wrap="square" lIns="0" tIns="0" rIns="0" bIns="0" rtlCol="0" anchor="ctr"/>
          <a:lstStyle/>
          <a:p>
            <a:pPr marL="0" indent="0" algn="ctr">
              <a:buNone/>
            </a:pPr>
            <a:r>
              <a:rPr lang="en-US" sz="2400" b="1" dirty="0">
                <a:solidFill>
                  <a:schemeClr val="tx1"/>
                </a:solidFill>
              </a:rPr>
              <a:t>Innovación</a:t>
            </a:r>
            <a:endParaRPr lang="en-US" sz="2400" dirty="0"/>
          </a:p>
        </p:txBody>
      </p:sp>
      <p:sp>
        <p:nvSpPr>
          <p:cNvPr id="14" name="Tarjeta"/>
          <p:cNvSpPr/>
          <p:nvPr/>
        </p:nvSpPr>
        <p:spPr>
          <a:xfrm>
            <a:off x="8188757" y="2194560"/>
            <a:ext cx="3454298" cy="2834640"/>
          </a:xfrm>
          <a:prstGeom prst="roundRect">
            <a:avLst>
              <a:gd name="adj" fmla="val 4839"/>
            </a:avLst>
          </a:prstGeom>
          <a:solidFill>
            <a:schemeClr val="bg2"/>
          </a:solidFill>
          <a:ln/>
        </p:spPr>
      </p:sp>
      <p:sp>
        <p:nvSpPr>
          <p:cNvPr id="15" name="Opción 3"/>
          <p:cNvSpPr/>
          <p:nvPr/>
        </p:nvSpPr>
        <p:spPr>
          <a:xfrm>
            <a:off x="9138666" y="2423160"/>
            <a:ext cx="1554480" cy="1554480"/>
          </a:xfrm>
          <a:prstGeom prst="ellipse">
            <a:avLst/>
          </a:prstGeom>
          <a:solidFill>
            <a:schemeClr val="accent4"/>
          </a:solidFill>
          <a:ln/>
        </p:spPr>
      </p:sp>
      <p:sp>
        <p:nvSpPr>
          <p:cNvPr id="16" name="Text 14"/>
          <p:cNvSpPr txBox="1"/>
          <p:nvPr/>
        </p:nvSpPr>
        <p:spPr>
          <a:xfrm>
            <a:off x="9138666" y="2423160"/>
            <a:ext cx="1554480" cy="1554480"/>
          </a:xfrm>
          <a:prstGeom prst="rect">
            <a:avLst/>
          </a:prstGeom>
          <a:noFill/>
          <a:ln/>
        </p:spPr>
        <p:txBody>
          <a:bodyPr wrap="square" lIns="0" tIns="0" rIns="0" bIns="0" rtlCol="0" anchor="ctr"/>
          <a:lstStyle/>
          <a:p>
            <a:pPr marL="0" indent="0" algn="ctr">
              <a:buNone/>
            </a:pPr>
            <a:r>
              <a:rPr lang="en-US" sz="6600" b="1" dirty="0">
                <a:solidFill>
                  <a:schemeClr val="bg1"/>
                </a:solidFill>
              </a:rPr>
              <a:t>3</a:t>
            </a:r>
            <a:endParaRPr lang="en-US" sz="6600" dirty="0"/>
          </a:p>
        </p:txBody>
      </p:sp>
      <p:sp>
        <p:nvSpPr>
          <p:cNvPr id="17" name="Text 15"/>
          <p:cNvSpPr txBox="1"/>
          <p:nvPr/>
        </p:nvSpPr>
        <p:spPr>
          <a:xfrm>
            <a:off x="8371637" y="4160520"/>
            <a:ext cx="3088538" cy="640080"/>
          </a:xfrm>
          <a:prstGeom prst="rect">
            <a:avLst/>
          </a:prstGeom>
          <a:noFill/>
          <a:ln/>
        </p:spPr>
        <p:txBody>
          <a:bodyPr wrap="square" lIns="0" tIns="0" rIns="0" bIns="0" rtlCol="0" anchor="ctr"/>
          <a:lstStyle/>
          <a:p>
            <a:pPr marL="0" indent="0" algn="ctr">
              <a:buNone/>
            </a:pPr>
            <a:r>
              <a:rPr lang="en-US" sz="2400" b="1" dirty="0">
                <a:solidFill>
                  <a:schemeClr val="tx1"/>
                </a:solidFill>
              </a:rPr>
              <a:t>Competencia digital</a:t>
            </a:r>
            <a:endParaRPr lang="en-US" sz="2400" dirty="0"/>
          </a:p>
        </p:txBody>
      </p:sp>
      <p:sp>
        <p:nvSpPr>
          <p:cNvPr id="18" name="Votación"/>
          <p:cNvSpPr/>
          <p:nvPr/>
        </p:nvSpPr>
        <p:spPr>
          <a:xfrm>
            <a:off x="548640" y="5349240"/>
            <a:ext cx="548640" cy="548640"/>
          </a:xfrm>
          <a:prstGeom prst="ellipse">
            <a:avLst/>
          </a:prstGeom>
          <a:solidFill>
            <a:schemeClr val="tx2"/>
          </a:solidFill>
          <a:ln/>
        </p:spPr>
      </p:sp>
      <p:pic>
        <p:nvPicPr>
          <p:cNvPr id="19" name="Image 0" descr="Votación"/>
          <p:cNvPicPr>
            <a:picLocks noChangeAspect="1"/>
          </p:cNvPicPr>
          <p:nvPr/>
        </p:nvPicPr>
        <p:blipFill>
          <a:blip r:embed="rId3"/>
          <a:stretch>
            <a:fillRect/>
          </a:stretch>
        </p:blipFill>
        <p:spPr>
          <a:xfrm>
            <a:off x="680314" y="5480914"/>
            <a:ext cx="285293" cy="285293"/>
          </a:xfrm>
          <a:prstGeom prst="rect">
            <a:avLst/>
          </a:prstGeom>
        </p:spPr>
      </p:pic>
      <p:sp>
        <p:nvSpPr>
          <p:cNvPr id="20" name="Text 17"/>
          <p:cNvSpPr txBox="1"/>
          <p:nvPr/>
        </p:nvSpPr>
        <p:spPr>
          <a:xfrm>
            <a:off x="1280160" y="5349240"/>
            <a:ext cx="10058400" cy="548640"/>
          </a:xfrm>
          <a:prstGeom prst="rect">
            <a:avLst/>
          </a:prstGeom>
          <a:noFill/>
          <a:ln/>
        </p:spPr>
        <p:txBody>
          <a:bodyPr wrap="square" lIns="0" tIns="0" rIns="0" bIns="0" rtlCol="0" anchor="ctr"/>
          <a:lstStyle/>
          <a:p>
            <a:pPr marL="0" indent="0">
              <a:buNone/>
            </a:pPr>
            <a:r>
              <a:rPr lang="en-US" sz="1800" dirty="0">
                <a:solidFill>
                  <a:schemeClr val="tx1"/>
                </a:solidFill>
              </a:rPr>
              <a:t>Si hay votos repartidos, una persona de cada opción explica por qué.</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1 de 6</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arjeta"/>
          <p:cNvSpPr/>
          <p:nvPr/>
        </p:nvSpPr>
        <p:spPr>
          <a:xfrm>
            <a:off x="548640" y="1554480"/>
            <a:ext cx="11094415" cy="2651760"/>
          </a:xfrm>
          <a:prstGeom prst="roundRect">
            <a:avLst>
              <a:gd name="adj" fmla="val 5172"/>
            </a:avLst>
          </a:prstGeom>
          <a:solidFill>
            <a:schemeClr val="bg2"/>
          </a:solidFill>
          <a:ln/>
        </p:spPr>
      </p:sp>
      <p:sp>
        <p:nvSpPr>
          <p:cNvPr id="6" name="Situación"/>
          <p:cNvSpPr/>
          <p:nvPr/>
        </p:nvSpPr>
        <p:spPr>
          <a:xfrm>
            <a:off x="960120" y="2194560"/>
            <a:ext cx="1371600" cy="1371600"/>
          </a:xfrm>
          <a:prstGeom prst="ellipse">
            <a:avLst/>
          </a:prstGeom>
          <a:solidFill>
            <a:schemeClr val="tx2"/>
          </a:solidFill>
          <a:ln/>
        </p:spPr>
      </p:sp>
      <p:pic>
        <p:nvPicPr>
          <p:cNvPr id="7" name="Image 0" descr="Situación"/>
          <p:cNvPicPr>
            <a:picLocks noChangeAspect="1"/>
          </p:cNvPicPr>
          <p:nvPr/>
        </p:nvPicPr>
        <p:blipFill>
          <a:blip r:embed="rId3"/>
          <a:stretch>
            <a:fillRect/>
          </a:stretch>
        </p:blipFill>
        <p:spPr>
          <a:xfrm>
            <a:off x="1289304" y="2523744"/>
            <a:ext cx="713232" cy="713232"/>
          </a:xfrm>
          <a:prstGeom prst="rect">
            <a:avLst/>
          </a:prstGeom>
        </p:spPr>
      </p:pic>
      <p:sp>
        <p:nvSpPr>
          <p:cNvPr id="8" name="Text 5"/>
          <p:cNvSpPr txBox="1"/>
          <p:nvPr/>
        </p:nvSpPr>
        <p:spPr>
          <a:xfrm>
            <a:off x="2697480" y="1554480"/>
            <a:ext cx="8579815" cy="2651760"/>
          </a:xfrm>
          <a:prstGeom prst="rect">
            <a:avLst/>
          </a:prstGeom>
          <a:noFill/>
          <a:ln/>
        </p:spPr>
        <p:txBody>
          <a:bodyPr wrap="square" lIns="0" tIns="0" rIns="0" bIns="0" rtlCol="0" anchor="ctr"/>
          <a:lstStyle/>
          <a:p>
            <a:pPr marL="0" indent="0">
              <a:buNone/>
            </a:pPr>
            <a:r>
              <a:rPr lang="en-US" sz="3000" dirty="0">
                <a:solidFill>
                  <a:schemeClr val="tx1"/>
                </a:solidFill>
              </a:rPr>
              <a:t>Una dependienta propone en una reunión que los clientes puedan reservar por WhatsApp.</a:t>
            </a:r>
            <a:endParaRPr lang="en-US" sz="3000" dirty="0"/>
          </a:p>
        </p:txBody>
      </p:sp>
      <p:sp>
        <p:nvSpPr>
          <p:cNvPr id="9" name="Opción 1"/>
          <p:cNvSpPr/>
          <p:nvPr/>
        </p:nvSpPr>
        <p:spPr>
          <a:xfrm>
            <a:off x="548640" y="4709160"/>
            <a:ext cx="731520" cy="731520"/>
          </a:xfrm>
          <a:prstGeom prst="ellipse">
            <a:avLst/>
          </a:prstGeom>
          <a:solidFill>
            <a:schemeClr val="accent1"/>
          </a:solidFill>
          <a:ln/>
        </p:spPr>
      </p:sp>
      <p:sp>
        <p:nvSpPr>
          <p:cNvPr id="10" name="Text 7"/>
          <p:cNvSpPr txBox="1"/>
          <p:nvPr/>
        </p:nvSpPr>
        <p:spPr>
          <a:xfrm>
            <a:off x="548640" y="4709160"/>
            <a:ext cx="731520" cy="731520"/>
          </a:xfrm>
          <a:prstGeom prst="rect">
            <a:avLst/>
          </a:prstGeom>
          <a:no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11" name="Text 8"/>
          <p:cNvSpPr txBox="1"/>
          <p:nvPr/>
        </p:nvSpPr>
        <p:spPr>
          <a:xfrm>
            <a:off x="14173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Creatividad</a:t>
            </a:r>
            <a:endParaRPr lang="en-US" sz="2000" dirty="0"/>
          </a:p>
        </p:txBody>
      </p:sp>
      <p:sp>
        <p:nvSpPr>
          <p:cNvPr id="12" name="Opción 2"/>
          <p:cNvSpPr/>
          <p:nvPr/>
        </p:nvSpPr>
        <p:spPr>
          <a:xfrm>
            <a:off x="4206240" y="4709160"/>
            <a:ext cx="731520" cy="731520"/>
          </a:xfrm>
          <a:prstGeom prst="ellipse">
            <a:avLst/>
          </a:prstGeom>
          <a:solidFill>
            <a:schemeClr val="accent3"/>
          </a:solidFill>
          <a:ln/>
        </p:spPr>
      </p:sp>
      <p:sp>
        <p:nvSpPr>
          <p:cNvPr id="13" name="Text 10"/>
          <p:cNvSpPr txBox="1"/>
          <p:nvPr/>
        </p:nvSpPr>
        <p:spPr>
          <a:xfrm>
            <a:off x="42062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4" name="Text 11"/>
          <p:cNvSpPr txBox="1"/>
          <p:nvPr/>
        </p:nvSpPr>
        <p:spPr>
          <a:xfrm>
            <a:off x="50749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Innovación</a:t>
            </a:r>
            <a:endParaRPr lang="en-US" sz="2000" dirty="0"/>
          </a:p>
        </p:txBody>
      </p:sp>
      <p:sp>
        <p:nvSpPr>
          <p:cNvPr id="15" name="Opción 3"/>
          <p:cNvSpPr/>
          <p:nvPr/>
        </p:nvSpPr>
        <p:spPr>
          <a:xfrm>
            <a:off x="7863840" y="4709160"/>
            <a:ext cx="731520" cy="731520"/>
          </a:xfrm>
          <a:prstGeom prst="ellipse">
            <a:avLst/>
          </a:prstGeom>
          <a:solidFill>
            <a:schemeClr val="accent4"/>
          </a:solidFill>
          <a:ln/>
        </p:spPr>
      </p:sp>
      <p:sp>
        <p:nvSpPr>
          <p:cNvPr id="16" name="Text 13"/>
          <p:cNvSpPr txBox="1"/>
          <p:nvPr/>
        </p:nvSpPr>
        <p:spPr>
          <a:xfrm>
            <a:off x="78638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87325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Competencia digital</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1: respuesta</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13</a:t>
            </a:fld>
            <a:endParaRPr lang="en-US"/>
          </a:p>
        </p:txBody>
      </p:sp>
      <p:sp>
        <p:nvSpPr>
          <p:cNvPr id="26" name="Situación"/>
          <p:cNvSpPr txBox="1"/>
          <p:nvPr/>
        </p:nvSpPr>
        <p:spPr>
          <a:xfrm>
            <a:off x="548640" y="1325880"/>
            <a:ext cx="11094415" cy="685800"/>
          </a:xfrm>
          <a:prstGeom prst="rect">
            <a:avLst/>
          </a:prstGeom>
          <a:noFill/>
        </p:spPr>
        <p:txBody>
          <a:bodyPr wrap="square" lIns="0" tIns="0" rIns="0" bIns="0" anchor="ctr">
            <a:spAutoFit/>
          </a:bodyPr>
          <a:lstStyle/>
          <a:p>
            <a:r>
              <a:rPr sz="1800" b="0" i="1">
                <a:solidFill>
                  <a:schemeClr val="tx2"/>
                </a:solidFill>
              </a:rPr>
              <a:t>«Una dependienta propone en una reunión que los clientes puedan reservar por WhatsApp.»</a:t>
            </a:r>
          </a:p>
        </p:txBody>
      </p:sp>
      <p:sp>
        <p:nvSpPr>
          <p:cNvPr id="27" name="Respuesta"/>
          <p:cNvSpPr/>
          <p:nvPr/>
        </p:nvSpPr>
        <p:spPr>
          <a:xfrm>
            <a:off x="548640" y="2194560"/>
            <a:ext cx="11094415" cy="1463040"/>
          </a:xfrm>
          <a:prstGeom prst="roundRect">
            <a:avLst>
              <a:gd name="adj" fmla="val 9374"/>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Número"/>
          <p:cNvSpPr/>
          <p:nvPr/>
        </p:nvSpPr>
        <p:spPr>
          <a:xfrm>
            <a:off x="868680" y="2377440"/>
            <a:ext cx="1097280" cy="109728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Número de la opción"/>
          <p:cNvSpPr txBox="1"/>
          <p:nvPr/>
        </p:nvSpPr>
        <p:spPr>
          <a:xfrm>
            <a:off x="868680" y="2377440"/>
            <a:ext cx="1097280" cy="1097280"/>
          </a:xfrm>
          <a:prstGeom prst="rect">
            <a:avLst/>
          </a:prstGeom>
          <a:noFill/>
        </p:spPr>
        <p:txBody>
          <a:bodyPr wrap="square" lIns="0" tIns="0" rIns="0" bIns="0" anchor="ctr">
            <a:spAutoFit/>
          </a:bodyPr>
          <a:lstStyle/>
          <a:p>
            <a:pPr algn="ctr"/>
            <a:r>
              <a:rPr sz="4800" b="1" i="0">
                <a:solidFill>
                  <a:schemeClr val="accent1"/>
                </a:solidFill>
              </a:rPr>
              <a:t>1</a:t>
            </a:r>
          </a:p>
        </p:txBody>
      </p:sp>
      <p:sp>
        <p:nvSpPr>
          <p:cNvPr id="30" name="Nombre de la respuesta"/>
          <p:cNvSpPr txBox="1"/>
          <p:nvPr/>
        </p:nvSpPr>
        <p:spPr>
          <a:xfrm>
            <a:off x="2286000" y="2194560"/>
            <a:ext cx="9082735" cy="1463040"/>
          </a:xfrm>
          <a:prstGeom prst="rect">
            <a:avLst/>
          </a:prstGeom>
          <a:noFill/>
        </p:spPr>
        <p:txBody>
          <a:bodyPr wrap="square" lIns="0" tIns="0" rIns="0" bIns="0" anchor="ctr">
            <a:spAutoFit/>
          </a:bodyPr>
          <a:lstStyle/>
          <a:p>
            <a:r>
              <a:rPr sz="4000" b="1" i="0">
                <a:solidFill>
                  <a:schemeClr val="tx1"/>
                </a:solidFill>
              </a:rPr>
              <a:t>Creatividad</a:t>
            </a:r>
          </a:p>
        </p:txBody>
      </p:sp>
      <p:sp>
        <p:nvSpPr>
          <p:cNvPr id="31" name="Por qué"/>
          <p:cNvSpPr/>
          <p:nvPr/>
        </p:nvSpPr>
        <p:spPr>
          <a:xfrm>
            <a:off x="548640" y="3931920"/>
            <a:ext cx="11094415" cy="1600200"/>
          </a:xfrm>
          <a:prstGeom prst="roundRect">
            <a:avLst>
              <a:gd name="adj" fmla="val 8571"/>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Explicación"/>
          <p:cNvSpPr txBox="1"/>
          <p:nvPr/>
        </p:nvSpPr>
        <p:spPr>
          <a:xfrm>
            <a:off x="914400" y="3931920"/>
            <a:ext cx="10362895" cy="1600200"/>
          </a:xfrm>
          <a:prstGeom prst="rect">
            <a:avLst/>
          </a:prstGeom>
          <a:noFill/>
        </p:spPr>
        <p:txBody>
          <a:bodyPr wrap="square" lIns="0" tIns="0" rIns="0" bIns="0" anchor="ctr">
            <a:spAutoFit/>
          </a:bodyPr>
          <a:lstStyle/>
          <a:p>
            <a:r>
              <a:rPr sz="1600" b="1" i="0">
                <a:solidFill>
                  <a:schemeClr val="tx2"/>
                </a:solidFill>
              </a:rPr>
              <a:t>Por qué</a:t>
            </a:r>
          </a:p>
          <a:p>
            <a:pPr>
              <a:spcBef>
                <a:spcPts val="600"/>
              </a:spcBef>
            </a:pPr>
            <a:r>
              <a:rPr sz="2200" b="0" i="0">
                <a:solidFill>
                  <a:schemeClr val="tx1"/>
                </a:solidFill>
              </a:rPr>
              <a:t>Es una idea nueva y útil, pero todavía no se ha puesto en práctica.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2 de 6</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arjeta"/>
          <p:cNvSpPr/>
          <p:nvPr/>
        </p:nvSpPr>
        <p:spPr>
          <a:xfrm>
            <a:off x="548640" y="1554480"/>
            <a:ext cx="11094415" cy="2651760"/>
          </a:xfrm>
          <a:prstGeom prst="roundRect">
            <a:avLst>
              <a:gd name="adj" fmla="val 5172"/>
            </a:avLst>
          </a:prstGeom>
          <a:solidFill>
            <a:schemeClr val="bg2"/>
          </a:solidFill>
          <a:ln/>
        </p:spPr>
      </p:sp>
      <p:sp>
        <p:nvSpPr>
          <p:cNvPr id="6" name="Situación"/>
          <p:cNvSpPr/>
          <p:nvPr/>
        </p:nvSpPr>
        <p:spPr>
          <a:xfrm>
            <a:off x="960120" y="2194560"/>
            <a:ext cx="1371600" cy="1371600"/>
          </a:xfrm>
          <a:prstGeom prst="ellipse">
            <a:avLst/>
          </a:prstGeom>
          <a:solidFill>
            <a:schemeClr val="tx2"/>
          </a:solidFill>
          <a:ln/>
        </p:spPr>
      </p:sp>
      <p:pic>
        <p:nvPicPr>
          <p:cNvPr id="7" name="Image 0" descr="Situación"/>
          <p:cNvPicPr>
            <a:picLocks noChangeAspect="1"/>
          </p:cNvPicPr>
          <p:nvPr/>
        </p:nvPicPr>
        <p:blipFill>
          <a:blip r:embed="rId3"/>
          <a:stretch>
            <a:fillRect/>
          </a:stretch>
        </p:blipFill>
        <p:spPr>
          <a:xfrm>
            <a:off x="1289304" y="2523744"/>
            <a:ext cx="713232" cy="713232"/>
          </a:xfrm>
          <a:prstGeom prst="rect">
            <a:avLst/>
          </a:prstGeom>
        </p:spPr>
      </p:pic>
      <p:sp>
        <p:nvSpPr>
          <p:cNvPr id="8" name="Text 5"/>
          <p:cNvSpPr txBox="1"/>
          <p:nvPr/>
        </p:nvSpPr>
        <p:spPr>
          <a:xfrm>
            <a:off x="2697480" y="1554480"/>
            <a:ext cx="8579815" cy="2651760"/>
          </a:xfrm>
          <a:prstGeom prst="rect">
            <a:avLst/>
          </a:prstGeom>
          <a:noFill/>
          <a:ln/>
        </p:spPr>
        <p:txBody>
          <a:bodyPr wrap="square" lIns="0" tIns="0" rIns="0" bIns="0" rtlCol="0" anchor="ctr"/>
          <a:lstStyle/>
          <a:p>
            <a:pPr marL="0" indent="0">
              <a:buNone/>
            </a:pPr>
            <a:r>
              <a:rPr lang="en-US" sz="3000" dirty="0">
                <a:solidFill>
                  <a:schemeClr val="tx1"/>
                </a:solidFill>
              </a:rPr>
              <a:t>La tienda pone en marcha las reservas por WhatsApp y las esperas se reducen.</a:t>
            </a:r>
            <a:endParaRPr lang="en-US" sz="3000" dirty="0"/>
          </a:p>
        </p:txBody>
      </p:sp>
      <p:sp>
        <p:nvSpPr>
          <p:cNvPr id="9" name="Opción 1"/>
          <p:cNvSpPr/>
          <p:nvPr/>
        </p:nvSpPr>
        <p:spPr>
          <a:xfrm>
            <a:off x="548640" y="4709160"/>
            <a:ext cx="731520" cy="731520"/>
          </a:xfrm>
          <a:prstGeom prst="ellipse">
            <a:avLst/>
          </a:prstGeom>
          <a:solidFill>
            <a:schemeClr val="accent1"/>
          </a:solidFill>
          <a:ln/>
        </p:spPr>
      </p:sp>
      <p:sp>
        <p:nvSpPr>
          <p:cNvPr id="10" name="Text 7"/>
          <p:cNvSpPr txBox="1"/>
          <p:nvPr/>
        </p:nvSpPr>
        <p:spPr>
          <a:xfrm>
            <a:off x="548640" y="4709160"/>
            <a:ext cx="731520" cy="731520"/>
          </a:xfrm>
          <a:prstGeom prst="rect">
            <a:avLst/>
          </a:prstGeom>
          <a:no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11" name="Text 8"/>
          <p:cNvSpPr txBox="1"/>
          <p:nvPr/>
        </p:nvSpPr>
        <p:spPr>
          <a:xfrm>
            <a:off x="14173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Creatividad</a:t>
            </a:r>
            <a:endParaRPr lang="en-US" sz="2000" dirty="0"/>
          </a:p>
        </p:txBody>
      </p:sp>
      <p:sp>
        <p:nvSpPr>
          <p:cNvPr id="12" name="Opción 2"/>
          <p:cNvSpPr/>
          <p:nvPr/>
        </p:nvSpPr>
        <p:spPr>
          <a:xfrm>
            <a:off x="4206240" y="4709160"/>
            <a:ext cx="731520" cy="731520"/>
          </a:xfrm>
          <a:prstGeom prst="ellipse">
            <a:avLst/>
          </a:prstGeom>
          <a:solidFill>
            <a:schemeClr val="accent3"/>
          </a:solidFill>
          <a:ln/>
        </p:spPr>
      </p:sp>
      <p:sp>
        <p:nvSpPr>
          <p:cNvPr id="13" name="Text 10"/>
          <p:cNvSpPr txBox="1"/>
          <p:nvPr/>
        </p:nvSpPr>
        <p:spPr>
          <a:xfrm>
            <a:off x="42062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4" name="Text 11"/>
          <p:cNvSpPr txBox="1"/>
          <p:nvPr/>
        </p:nvSpPr>
        <p:spPr>
          <a:xfrm>
            <a:off x="50749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Innovación</a:t>
            </a:r>
            <a:endParaRPr lang="en-US" sz="2000" dirty="0"/>
          </a:p>
        </p:txBody>
      </p:sp>
      <p:sp>
        <p:nvSpPr>
          <p:cNvPr id="15" name="Opción 3"/>
          <p:cNvSpPr/>
          <p:nvPr/>
        </p:nvSpPr>
        <p:spPr>
          <a:xfrm>
            <a:off x="7863840" y="4709160"/>
            <a:ext cx="731520" cy="731520"/>
          </a:xfrm>
          <a:prstGeom prst="ellipse">
            <a:avLst/>
          </a:prstGeom>
          <a:solidFill>
            <a:schemeClr val="accent4"/>
          </a:solidFill>
          <a:ln/>
        </p:spPr>
      </p:sp>
      <p:sp>
        <p:nvSpPr>
          <p:cNvPr id="16" name="Text 13"/>
          <p:cNvSpPr txBox="1"/>
          <p:nvPr/>
        </p:nvSpPr>
        <p:spPr>
          <a:xfrm>
            <a:off x="78638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87325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Competencia digital</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2: respuesta</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15</a:t>
            </a:fld>
            <a:endParaRPr lang="en-US"/>
          </a:p>
        </p:txBody>
      </p:sp>
      <p:sp>
        <p:nvSpPr>
          <p:cNvPr id="26" name="Situación"/>
          <p:cNvSpPr txBox="1"/>
          <p:nvPr/>
        </p:nvSpPr>
        <p:spPr>
          <a:xfrm>
            <a:off x="548640" y="1325880"/>
            <a:ext cx="11094415" cy="685800"/>
          </a:xfrm>
          <a:prstGeom prst="rect">
            <a:avLst/>
          </a:prstGeom>
          <a:noFill/>
        </p:spPr>
        <p:txBody>
          <a:bodyPr wrap="square" lIns="0" tIns="0" rIns="0" bIns="0" anchor="ctr">
            <a:spAutoFit/>
          </a:bodyPr>
          <a:lstStyle/>
          <a:p>
            <a:r>
              <a:rPr sz="1800" b="0" i="1">
                <a:solidFill>
                  <a:schemeClr val="tx2"/>
                </a:solidFill>
              </a:rPr>
              <a:t>«La tienda pone en marcha las reservas por WhatsApp y las esperas se reducen.»</a:t>
            </a:r>
          </a:p>
        </p:txBody>
      </p:sp>
      <p:sp>
        <p:nvSpPr>
          <p:cNvPr id="27" name="Respuesta"/>
          <p:cNvSpPr/>
          <p:nvPr/>
        </p:nvSpPr>
        <p:spPr>
          <a:xfrm>
            <a:off x="548640" y="2194560"/>
            <a:ext cx="11094415" cy="1463040"/>
          </a:xfrm>
          <a:prstGeom prst="roundRect">
            <a:avLst>
              <a:gd name="adj" fmla="val 9374"/>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Número"/>
          <p:cNvSpPr/>
          <p:nvPr/>
        </p:nvSpPr>
        <p:spPr>
          <a:xfrm>
            <a:off x="868680" y="2377440"/>
            <a:ext cx="1097280" cy="109728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Número de la opción"/>
          <p:cNvSpPr txBox="1"/>
          <p:nvPr/>
        </p:nvSpPr>
        <p:spPr>
          <a:xfrm>
            <a:off x="868680" y="2377440"/>
            <a:ext cx="1097280" cy="1097280"/>
          </a:xfrm>
          <a:prstGeom prst="rect">
            <a:avLst/>
          </a:prstGeom>
          <a:noFill/>
        </p:spPr>
        <p:txBody>
          <a:bodyPr wrap="square" lIns="0" tIns="0" rIns="0" bIns="0" anchor="ctr">
            <a:spAutoFit/>
          </a:bodyPr>
          <a:lstStyle/>
          <a:p>
            <a:pPr algn="ctr"/>
            <a:r>
              <a:rPr sz="4800" b="1" i="0">
                <a:solidFill>
                  <a:schemeClr val="accent3"/>
                </a:solidFill>
              </a:rPr>
              <a:t>2</a:t>
            </a:r>
          </a:p>
        </p:txBody>
      </p:sp>
      <p:sp>
        <p:nvSpPr>
          <p:cNvPr id="30" name="Nombre de la respuesta"/>
          <p:cNvSpPr txBox="1"/>
          <p:nvPr/>
        </p:nvSpPr>
        <p:spPr>
          <a:xfrm>
            <a:off x="2286000" y="2194560"/>
            <a:ext cx="9082735" cy="1463040"/>
          </a:xfrm>
          <a:prstGeom prst="rect">
            <a:avLst/>
          </a:prstGeom>
          <a:noFill/>
        </p:spPr>
        <p:txBody>
          <a:bodyPr wrap="square" lIns="0" tIns="0" rIns="0" bIns="0" anchor="ctr">
            <a:spAutoFit/>
          </a:bodyPr>
          <a:lstStyle/>
          <a:p>
            <a:r>
              <a:rPr sz="4000" b="1" i="0">
                <a:solidFill>
                  <a:schemeClr val="bg1"/>
                </a:solidFill>
              </a:rPr>
              <a:t>Innovación</a:t>
            </a:r>
          </a:p>
        </p:txBody>
      </p:sp>
      <p:sp>
        <p:nvSpPr>
          <p:cNvPr id="31" name="Por qué"/>
          <p:cNvSpPr/>
          <p:nvPr/>
        </p:nvSpPr>
        <p:spPr>
          <a:xfrm>
            <a:off x="548640" y="3931920"/>
            <a:ext cx="11094415" cy="1600200"/>
          </a:xfrm>
          <a:prstGeom prst="roundRect">
            <a:avLst>
              <a:gd name="adj" fmla="val 8571"/>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Explicación"/>
          <p:cNvSpPr txBox="1"/>
          <p:nvPr/>
        </p:nvSpPr>
        <p:spPr>
          <a:xfrm>
            <a:off x="914400" y="3931920"/>
            <a:ext cx="10362895" cy="1600200"/>
          </a:xfrm>
          <a:prstGeom prst="rect">
            <a:avLst/>
          </a:prstGeom>
          <a:noFill/>
        </p:spPr>
        <p:txBody>
          <a:bodyPr wrap="square" lIns="0" tIns="0" rIns="0" bIns="0" anchor="ctr">
            <a:spAutoFit/>
          </a:bodyPr>
          <a:lstStyle/>
          <a:p>
            <a:r>
              <a:rPr sz="1600" b="1" i="0">
                <a:solidFill>
                  <a:schemeClr val="tx2"/>
                </a:solidFill>
              </a:rPr>
              <a:t>Por qué</a:t>
            </a:r>
          </a:p>
          <a:p>
            <a:pPr>
              <a:spcBef>
                <a:spcPts val="600"/>
              </a:spcBef>
            </a:pPr>
            <a:r>
              <a:rPr sz="2200" b="0" i="0">
                <a:solidFill>
                  <a:schemeClr val="tx1"/>
                </a:solidFill>
              </a:rPr>
              <a:t>La idea se ha puesto en práctica y aporta valor: las esperas se reducen.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3 de 6</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arjeta"/>
          <p:cNvSpPr/>
          <p:nvPr/>
        </p:nvSpPr>
        <p:spPr>
          <a:xfrm>
            <a:off x="548640" y="1554480"/>
            <a:ext cx="11094415" cy="2651760"/>
          </a:xfrm>
          <a:prstGeom prst="roundRect">
            <a:avLst>
              <a:gd name="adj" fmla="val 5172"/>
            </a:avLst>
          </a:prstGeom>
          <a:solidFill>
            <a:schemeClr val="bg2"/>
          </a:solidFill>
          <a:ln/>
        </p:spPr>
      </p:sp>
      <p:sp>
        <p:nvSpPr>
          <p:cNvPr id="6" name="Situación"/>
          <p:cNvSpPr/>
          <p:nvPr/>
        </p:nvSpPr>
        <p:spPr>
          <a:xfrm>
            <a:off x="960120" y="2194560"/>
            <a:ext cx="1371600" cy="1371600"/>
          </a:xfrm>
          <a:prstGeom prst="ellipse">
            <a:avLst/>
          </a:prstGeom>
          <a:solidFill>
            <a:schemeClr val="tx2"/>
          </a:solidFill>
          <a:ln/>
        </p:spPr>
      </p:sp>
      <p:pic>
        <p:nvPicPr>
          <p:cNvPr id="7" name="Image 0" descr="Situación"/>
          <p:cNvPicPr>
            <a:picLocks noChangeAspect="1"/>
          </p:cNvPicPr>
          <p:nvPr/>
        </p:nvPicPr>
        <p:blipFill>
          <a:blip r:embed="rId3"/>
          <a:stretch>
            <a:fillRect/>
          </a:stretch>
        </p:blipFill>
        <p:spPr>
          <a:xfrm>
            <a:off x="1289304" y="2523744"/>
            <a:ext cx="713232" cy="713232"/>
          </a:xfrm>
          <a:prstGeom prst="rect">
            <a:avLst/>
          </a:prstGeom>
        </p:spPr>
      </p:pic>
      <p:sp>
        <p:nvSpPr>
          <p:cNvPr id="8" name="Text 5"/>
          <p:cNvSpPr txBox="1"/>
          <p:nvPr/>
        </p:nvSpPr>
        <p:spPr>
          <a:xfrm>
            <a:off x="2697480" y="1554480"/>
            <a:ext cx="8579815" cy="2651760"/>
          </a:xfrm>
          <a:prstGeom prst="rect">
            <a:avLst/>
          </a:prstGeom>
          <a:noFill/>
          <a:ln/>
        </p:spPr>
        <p:txBody>
          <a:bodyPr wrap="square" lIns="0" tIns="0" rIns="0" bIns="0" rtlCol="0" anchor="ctr"/>
          <a:lstStyle/>
          <a:p>
            <a:pPr marL="0" indent="0">
              <a:buNone/>
            </a:pPr>
            <a:r>
              <a:rPr lang="en-US" sz="3000" dirty="0">
                <a:solidFill>
                  <a:schemeClr val="tx1"/>
                </a:solidFill>
              </a:rPr>
              <a:t>Un administrativo usa una tabla dinámica para resumir las ventas del mes.</a:t>
            </a:r>
            <a:endParaRPr lang="en-US" sz="3000" dirty="0"/>
          </a:p>
        </p:txBody>
      </p:sp>
      <p:sp>
        <p:nvSpPr>
          <p:cNvPr id="9" name="Opción 1"/>
          <p:cNvSpPr/>
          <p:nvPr/>
        </p:nvSpPr>
        <p:spPr>
          <a:xfrm>
            <a:off x="548640" y="4709160"/>
            <a:ext cx="731520" cy="731520"/>
          </a:xfrm>
          <a:prstGeom prst="ellipse">
            <a:avLst/>
          </a:prstGeom>
          <a:solidFill>
            <a:schemeClr val="accent1"/>
          </a:solidFill>
          <a:ln/>
        </p:spPr>
      </p:sp>
      <p:sp>
        <p:nvSpPr>
          <p:cNvPr id="10" name="Text 7"/>
          <p:cNvSpPr txBox="1"/>
          <p:nvPr/>
        </p:nvSpPr>
        <p:spPr>
          <a:xfrm>
            <a:off x="548640" y="4709160"/>
            <a:ext cx="731520" cy="731520"/>
          </a:xfrm>
          <a:prstGeom prst="rect">
            <a:avLst/>
          </a:prstGeom>
          <a:no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11" name="Text 8"/>
          <p:cNvSpPr txBox="1"/>
          <p:nvPr/>
        </p:nvSpPr>
        <p:spPr>
          <a:xfrm>
            <a:off x="14173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Creatividad</a:t>
            </a:r>
            <a:endParaRPr lang="en-US" sz="2000" dirty="0"/>
          </a:p>
        </p:txBody>
      </p:sp>
      <p:sp>
        <p:nvSpPr>
          <p:cNvPr id="12" name="Opción 2"/>
          <p:cNvSpPr/>
          <p:nvPr/>
        </p:nvSpPr>
        <p:spPr>
          <a:xfrm>
            <a:off x="4206240" y="4709160"/>
            <a:ext cx="731520" cy="731520"/>
          </a:xfrm>
          <a:prstGeom prst="ellipse">
            <a:avLst/>
          </a:prstGeom>
          <a:solidFill>
            <a:schemeClr val="accent3"/>
          </a:solidFill>
          <a:ln/>
        </p:spPr>
      </p:sp>
      <p:sp>
        <p:nvSpPr>
          <p:cNvPr id="13" name="Text 10"/>
          <p:cNvSpPr txBox="1"/>
          <p:nvPr/>
        </p:nvSpPr>
        <p:spPr>
          <a:xfrm>
            <a:off x="42062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4" name="Text 11"/>
          <p:cNvSpPr txBox="1"/>
          <p:nvPr/>
        </p:nvSpPr>
        <p:spPr>
          <a:xfrm>
            <a:off x="50749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Innovación</a:t>
            </a:r>
            <a:endParaRPr lang="en-US" sz="2000" dirty="0"/>
          </a:p>
        </p:txBody>
      </p:sp>
      <p:sp>
        <p:nvSpPr>
          <p:cNvPr id="15" name="Opción 3"/>
          <p:cNvSpPr/>
          <p:nvPr/>
        </p:nvSpPr>
        <p:spPr>
          <a:xfrm>
            <a:off x="7863840" y="4709160"/>
            <a:ext cx="731520" cy="731520"/>
          </a:xfrm>
          <a:prstGeom prst="ellipse">
            <a:avLst/>
          </a:prstGeom>
          <a:solidFill>
            <a:schemeClr val="accent4"/>
          </a:solidFill>
          <a:ln/>
        </p:spPr>
      </p:sp>
      <p:sp>
        <p:nvSpPr>
          <p:cNvPr id="16" name="Text 13"/>
          <p:cNvSpPr txBox="1"/>
          <p:nvPr/>
        </p:nvSpPr>
        <p:spPr>
          <a:xfrm>
            <a:off x="78638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87325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Competencia digital</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3: respuesta</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17</a:t>
            </a:fld>
            <a:endParaRPr lang="en-US"/>
          </a:p>
        </p:txBody>
      </p:sp>
      <p:sp>
        <p:nvSpPr>
          <p:cNvPr id="26" name="Situación"/>
          <p:cNvSpPr txBox="1"/>
          <p:nvPr/>
        </p:nvSpPr>
        <p:spPr>
          <a:xfrm>
            <a:off x="548640" y="1325880"/>
            <a:ext cx="11094415" cy="685800"/>
          </a:xfrm>
          <a:prstGeom prst="rect">
            <a:avLst/>
          </a:prstGeom>
          <a:noFill/>
        </p:spPr>
        <p:txBody>
          <a:bodyPr wrap="square" lIns="0" tIns="0" rIns="0" bIns="0" anchor="ctr">
            <a:spAutoFit/>
          </a:bodyPr>
          <a:lstStyle/>
          <a:p>
            <a:r>
              <a:rPr sz="1800" b="0" i="1">
                <a:solidFill>
                  <a:schemeClr val="tx2"/>
                </a:solidFill>
              </a:rPr>
              <a:t>«Un administrativo usa una tabla dinámica para resumir las ventas del mes.»</a:t>
            </a:r>
          </a:p>
        </p:txBody>
      </p:sp>
      <p:sp>
        <p:nvSpPr>
          <p:cNvPr id="27" name="Respuesta"/>
          <p:cNvSpPr/>
          <p:nvPr/>
        </p:nvSpPr>
        <p:spPr>
          <a:xfrm>
            <a:off x="548640" y="2194560"/>
            <a:ext cx="11094415" cy="1463040"/>
          </a:xfrm>
          <a:prstGeom prst="roundRect">
            <a:avLst>
              <a:gd name="adj" fmla="val 9374"/>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Número"/>
          <p:cNvSpPr/>
          <p:nvPr/>
        </p:nvSpPr>
        <p:spPr>
          <a:xfrm>
            <a:off x="868680" y="2377440"/>
            <a:ext cx="1097280" cy="109728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Número de la opción"/>
          <p:cNvSpPr txBox="1"/>
          <p:nvPr/>
        </p:nvSpPr>
        <p:spPr>
          <a:xfrm>
            <a:off x="868680" y="2377440"/>
            <a:ext cx="1097280" cy="1097280"/>
          </a:xfrm>
          <a:prstGeom prst="rect">
            <a:avLst/>
          </a:prstGeom>
          <a:noFill/>
        </p:spPr>
        <p:txBody>
          <a:bodyPr wrap="square" lIns="0" tIns="0" rIns="0" bIns="0" anchor="ctr">
            <a:spAutoFit/>
          </a:bodyPr>
          <a:lstStyle/>
          <a:p>
            <a:pPr algn="ctr"/>
            <a:r>
              <a:rPr sz="4800" b="1" i="0">
                <a:solidFill>
                  <a:schemeClr val="accent4"/>
                </a:solidFill>
              </a:rPr>
              <a:t>3</a:t>
            </a:r>
          </a:p>
        </p:txBody>
      </p:sp>
      <p:sp>
        <p:nvSpPr>
          <p:cNvPr id="30" name="Nombre de la respuesta"/>
          <p:cNvSpPr txBox="1"/>
          <p:nvPr/>
        </p:nvSpPr>
        <p:spPr>
          <a:xfrm>
            <a:off x="2286000" y="2194560"/>
            <a:ext cx="9082735" cy="1463040"/>
          </a:xfrm>
          <a:prstGeom prst="rect">
            <a:avLst/>
          </a:prstGeom>
          <a:noFill/>
        </p:spPr>
        <p:txBody>
          <a:bodyPr wrap="square" lIns="0" tIns="0" rIns="0" bIns="0" anchor="ctr">
            <a:spAutoFit/>
          </a:bodyPr>
          <a:lstStyle/>
          <a:p>
            <a:r>
              <a:rPr sz="4000" b="1" i="0">
                <a:solidFill>
                  <a:schemeClr val="bg1"/>
                </a:solidFill>
              </a:rPr>
              <a:t>Competencia digital</a:t>
            </a:r>
          </a:p>
        </p:txBody>
      </p:sp>
      <p:sp>
        <p:nvSpPr>
          <p:cNvPr id="31" name="Por qué"/>
          <p:cNvSpPr/>
          <p:nvPr/>
        </p:nvSpPr>
        <p:spPr>
          <a:xfrm>
            <a:off x="548640" y="3931920"/>
            <a:ext cx="11094415" cy="1600200"/>
          </a:xfrm>
          <a:prstGeom prst="roundRect">
            <a:avLst>
              <a:gd name="adj" fmla="val 8571"/>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Explicación"/>
          <p:cNvSpPr txBox="1"/>
          <p:nvPr/>
        </p:nvSpPr>
        <p:spPr>
          <a:xfrm>
            <a:off x="914400" y="3931920"/>
            <a:ext cx="10362895" cy="1600200"/>
          </a:xfrm>
          <a:prstGeom prst="rect">
            <a:avLst/>
          </a:prstGeom>
          <a:noFill/>
        </p:spPr>
        <p:txBody>
          <a:bodyPr wrap="square" lIns="0" tIns="0" rIns="0" bIns="0" anchor="ctr">
            <a:spAutoFit/>
          </a:bodyPr>
          <a:lstStyle/>
          <a:p>
            <a:r>
              <a:rPr sz="1600" b="1" i="0">
                <a:solidFill>
                  <a:schemeClr val="tx2"/>
                </a:solidFill>
              </a:rPr>
              <a:t>Por qué</a:t>
            </a:r>
          </a:p>
          <a:p>
            <a:pPr>
              <a:spcBef>
                <a:spcPts val="600"/>
              </a:spcBef>
            </a:pPr>
            <a:r>
              <a:rPr sz="2200" b="0" i="0">
                <a:solidFill>
                  <a:schemeClr val="tx1"/>
                </a:solidFill>
              </a:rPr>
              <a:t>Usa una herramienta digital para hacer bien su tarea, pero no cambia cómo se trabaja.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4 de 6</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arjeta"/>
          <p:cNvSpPr/>
          <p:nvPr/>
        </p:nvSpPr>
        <p:spPr>
          <a:xfrm>
            <a:off x="548640" y="1554480"/>
            <a:ext cx="11094415" cy="2651760"/>
          </a:xfrm>
          <a:prstGeom prst="roundRect">
            <a:avLst>
              <a:gd name="adj" fmla="val 5172"/>
            </a:avLst>
          </a:prstGeom>
          <a:solidFill>
            <a:schemeClr val="bg2"/>
          </a:solidFill>
          <a:ln/>
        </p:spPr>
      </p:sp>
      <p:sp>
        <p:nvSpPr>
          <p:cNvPr id="6" name="Situación"/>
          <p:cNvSpPr/>
          <p:nvPr/>
        </p:nvSpPr>
        <p:spPr>
          <a:xfrm>
            <a:off x="960120" y="2194560"/>
            <a:ext cx="1371600" cy="1371600"/>
          </a:xfrm>
          <a:prstGeom prst="ellipse">
            <a:avLst/>
          </a:prstGeom>
          <a:solidFill>
            <a:schemeClr val="tx2"/>
          </a:solidFill>
          <a:ln/>
        </p:spPr>
      </p:sp>
      <p:pic>
        <p:nvPicPr>
          <p:cNvPr id="7" name="Image 0" descr="Situación"/>
          <p:cNvPicPr>
            <a:picLocks noChangeAspect="1"/>
          </p:cNvPicPr>
          <p:nvPr/>
        </p:nvPicPr>
        <p:blipFill>
          <a:blip r:embed="rId3"/>
          <a:stretch>
            <a:fillRect/>
          </a:stretch>
        </p:blipFill>
        <p:spPr>
          <a:xfrm>
            <a:off x="1289304" y="2523744"/>
            <a:ext cx="713232" cy="713232"/>
          </a:xfrm>
          <a:prstGeom prst="rect">
            <a:avLst/>
          </a:prstGeom>
        </p:spPr>
      </p:pic>
      <p:sp>
        <p:nvSpPr>
          <p:cNvPr id="8" name="Text 5"/>
          <p:cNvSpPr txBox="1"/>
          <p:nvPr/>
        </p:nvSpPr>
        <p:spPr>
          <a:xfrm>
            <a:off x="2697480" y="1554480"/>
            <a:ext cx="8579815" cy="2651760"/>
          </a:xfrm>
          <a:prstGeom prst="rect">
            <a:avLst/>
          </a:prstGeom>
          <a:noFill/>
          <a:ln/>
        </p:spPr>
        <p:txBody>
          <a:bodyPr wrap="square" lIns="0" tIns="0" rIns="0" bIns="0" rtlCol="0" anchor="ctr"/>
          <a:lstStyle/>
          <a:p>
            <a:pPr marL="0" indent="0">
              <a:buNone/>
            </a:pPr>
            <a:r>
              <a:rPr lang="en-US" sz="3000" dirty="0">
                <a:solidFill>
                  <a:schemeClr val="tx1"/>
                </a:solidFill>
              </a:rPr>
              <a:t>Un taller empieza a enviar al </a:t>
            </a:r>
            <a:r>
              <a:rPr lang="en-US" sz="3000" dirty="0" err="1">
                <a:solidFill>
                  <a:schemeClr val="tx1"/>
                </a:solidFill>
              </a:rPr>
              <a:t>cliente</a:t>
            </a:r>
            <a:r>
              <a:rPr lang="en-US" sz="3000" dirty="0">
                <a:solidFill>
                  <a:schemeClr val="tx1"/>
                </a:solidFill>
              </a:rPr>
              <a:t> </a:t>
            </a:r>
            <a:r>
              <a:rPr lang="en-US" sz="3000" dirty="0" err="1">
                <a:solidFill>
                  <a:schemeClr val="tx1"/>
                </a:solidFill>
              </a:rPr>
              <a:t>fotos</a:t>
            </a:r>
            <a:r>
              <a:rPr lang="en-US" sz="3000" dirty="0">
                <a:solidFill>
                  <a:schemeClr val="tx1"/>
                </a:solidFill>
              </a:rPr>
              <a:t> del </a:t>
            </a:r>
            <a:r>
              <a:rPr lang="en-US" sz="3000" dirty="0" err="1">
                <a:solidFill>
                  <a:schemeClr val="tx1"/>
                </a:solidFill>
              </a:rPr>
              <a:t>coche</a:t>
            </a:r>
            <a:r>
              <a:rPr lang="en-US" sz="3000" dirty="0">
                <a:solidFill>
                  <a:schemeClr val="tx1"/>
                </a:solidFill>
              </a:rPr>
              <a:t> a </a:t>
            </a:r>
            <a:r>
              <a:rPr lang="en-US" sz="3000" dirty="0" err="1">
                <a:solidFill>
                  <a:schemeClr val="tx1"/>
                </a:solidFill>
              </a:rPr>
              <a:t>medida</a:t>
            </a:r>
            <a:r>
              <a:rPr lang="en-US" sz="3000" dirty="0">
                <a:solidFill>
                  <a:schemeClr val="tx1"/>
                </a:solidFill>
              </a:rPr>
              <a:t> </a:t>
            </a:r>
            <a:r>
              <a:rPr lang="en-US" sz="3000" dirty="0" err="1">
                <a:solidFill>
                  <a:schemeClr val="tx1"/>
                </a:solidFill>
              </a:rPr>
              <a:t>que</a:t>
            </a:r>
            <a:r>
              <a:rPr lang="en-US" sz="3000" dirty="0">
                <a:solidFill>
                  <a:schemeClr val="tx1"/>
                </a:solidFill>
              </a:rPr>
              <a:t> lo </a:t>
            </a:r>
            <a:r>
              <a:rPr lang="en-US" sz="3000" dirty="0" err="1">
                <a:solidFill>
                  <a:schemeClr val="tx1"/>
                </a:solidFill>
              </a:rPr>
              <a:t>repara</a:t>
            </a:r>
            <a:r>
              <a:rPr lang="en-US" sz="3000" dirty="0">
                <a:solidFill>
                  <a:schemeClr val="tx1"/>
                </a:solidFill>
              </a:rPr>
              <a:t> y recibe menos llamadas preguntando.</a:t>
            </a:r>
            <a:endParaRPr lang="en-US" sz="3000" dirty="0"/>
          </a:p>
        </p:txBody>
      </p:sp>
      <p:sp>
        <p:nvSpPr>
          <p:cNvPr id="9" name="Opción 1"/>
          <p:cNvSpPr/>
          <p:nvPr/>
        </p:nvSpPr>
        <p:spPr>
          <a:xfrm>
            <a:off x="548640" y="4709160"/>
            <a:ext cx="731520" cy="731520"/>
          </a:xfrm>
          <a:prstGeom prst="ellipse">
            <a:avLst/>
          </a:prstGeom>
          <a:solidFill>
            <a:schemeClr val="accent1"/>
          </a:solidFill>
          <a:ln/>
        </p:spPr>
      </p:sp>
      <p:sp>
        <p:nvSpPr>
          <p:cNvPr id="10" name="Text 7"/>
          <p:cNvSpPr txBox="1"/>
          <p:nvPr/>
        </p:nvSpPr>
        <p:spPr>
          <a:xfrm>
            <a:off x="548640" y="4709160"/>
            <a:ext cx="731520" cy="731520"/>
          </a:xfrm>
          <a:prstGeom prst="rect">
            <a:avLst/>
          </a:prstGeom>
          <a:no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11" name="Text 8"/>
          <p:cNvSpPr txBox="1"/>
          <p:nvPr/>
        </p:nvSpPr>
        <p:spPr>
          <a:xfrm>
            <a:off x="14173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Creatividad</a:t>
            </a:r>
            <a:endParaRPr lang="en-US" sz="2000" dirty="0"/>
          </a:p>
        </p:txBody>
      </p:sp>
      <p:sp>
        <p:nvSpPr>
          <p:cNvPr id="12" name="Opción 2"/>
          <p:cNvSpPr/>
          <p:nvPr/>
        </p:nvSpPr>
        <p:spPr>
          <a:xfrm>
            <a:off x="4206240" y="4709160"/>
            <a:ext cx="731520" cy="731520"/>
          </a:xfrm>
          <a:prstGeom prst="ellipse">
            <a:avLst/>
          </a:prstGeom>
          <a:solidFill>
            <a:schemeClr val="accent3"/>
          </a:solidFill>
          <a:ln/>
        </p:spPr>
      </p:sp>
      <p:sp>
        <p:nvSpPr>
          <p:cNvPr id="13" name="Text 10"/>
          <p:cNvSpPr txBox="1"/>
          <p:nvPr/>
        </p:nvSpPr>
        <p:spPr>
          <a:xfrm>
            <a:off x="42062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4" name="Text 11"/>
          <p:cNvSpPr txBox="1"/>
          <p:nvPr/>
        </p:nvSpPr>
        <p:spPr>
          <a:xfrm>
            <a:off x="50749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Innovación</a:t>
            </a:r>
            <a:endParaRPr lang="en-US" sz="2000" dirty="0"/>
          </a:p>
        </p:txBody>
      </p:sp>
      <p:sp>
        <p:nvSpPr>
          <p:cNvPr id="15" name="Opción 3"/>
          <p:cNvSpPr/>
          <p:nvPr/>
        </p:nvSpPr>
        <p:spPr>
          <a:xfrm>
            <a:off x="7863840" y="4709160"/>
            <a:ext cx="731520" cy="731520"/>
          </a:xfrm>
          <a:prstGeom prst="ellipse">
            <a:avLst/>
          </a:prstGeom>
          <a:solidFill>
            <a:schemeClr val="accent4"/>
          </a:solidFill>
          <a:ln/>
        </p:spPr>
      </p:sp>
      <p:sp>
        <p:nvSpPr>
          <p:cNvPr id="16" name="Text 13"/>
          <p:cNvSpPr txBox="1"/>
          <p:nvPr/>
        </p:nvSpPr>
        <p:spPr>
          <a:xfrm>
            <a:off x="78638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87325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Competencia digital</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4: respuesta</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19</a:t>
            </a:fld>
            <a:endParaRPr lang="en-US"/>
          </a:p>
        </p:txBody>
      </p:sp>
      <p:sp>
        <p:nvSpPr>
          <p:cNvPr id="26" name="Situación"/>
          <p:cNvSpPr txBox="1"/>
          <p:nvPr/>
        </p:nvSpPr>
        <p:spPr>
          <a:xfrm>
            <a:off x="548640" y="1325880"/>
            <a:ext cx="11094415" cy="685800"/>
          </a:xfrm>
          <a:prstGeom prst="rect">
            <a:avLst/>
          </a:prstGeom>
          <a:noFill/>
        </p:spPr>
        <p:txBody>
          <a:bodyPr wrap="square" lIns="0" tIns="0" rIns="0" bIns="0" anchor="ctr">
            <a:spAutoFit/>
          </a:bodyPr>
          <a:lstStyle/>
          <a:p>
            <a:r>
              <a:rPr sz="1800" b="0" i="1">
                <a:solidFill>
                  <a:schemeClr val="tx2"/>
                </a:solidFill>
              </a:rPr>
              <a:t>«Un taller empieza a enviar al cliente fotos del coche a medida que lo repara y recibe menos llamadas preguntando.»</a:t>
            </a:r>
          </a:p>
        </p:txBody>
      </p:sp>
      <p:sp>
        <p:nvSpPr>
          <p:cNvPr id="27" name="Respuesta"/>
          <p:cNvSpPr/>
          <p:nvPr/>
        </p:nvSpPr>
        <p:spPr>
          <a:xfrm>
            <a:off x="548640" y="2194560"/>
            <a:ext cx="11094415" cy="1463040"/>
          </a:xfrm>
          <a:prstGeom prst="roundRect">
            <a:avLst>
              <a:gd name="adj" fmla="val 9374"/>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Número"/>
          <p:cNvSpPr/>
          <p:nvPr/>
        </p:nvSpPr>
        <p:spPr>
          <a:xfrm>
            <a:off x="868680" y="2377440"/>
            <a:ext cx="1097280" cy="109728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Número de la opción"/>
          <p:cNvSpPr txBox="1"/>
          <p:nvPr/>
        </p:nvSpPr>
        <p:spPr>
          <a:xfrm>
            <a:off x="868680" y="2377440"/>
            <a:ext cx="1097280" cy="1097280"/>
          </a:xfrm>
          <a:prstGeom prst="rect">
            <a:avLst/>
          </a:prstGeom>
          <a:noFill/>
        </p:spPr>
        <p:txBody>
          <a:bodyPr wrap="square" lIns="0" tIns="0" rIns="0" bIns="0" anchor="ctr">
            <a:spAutoFit/>
          </a:bodyPr>
          <a:lstStyle/>
          <a:p>
            <a:pPr algn="ctr"/>
            <a:r>
              <a:rPr sz="4800" b="1" i="0">
                <a:solidFill>
                  <a:schemeClr val="accent3"/>
                </a:solidFill>
              </a:rPr>
              <a:t>2</a:t>
            </a:r>
          </a:p>
        </p:txBody>
      </p:sp>
      <p:sp>
        <p:nvSpPr>
          <p:cNvPr id="30" name="Nombre de la respuesta"/>
          <p:cNvSpPr txBox="1"/>
          <p:nvPr/>
        </p:nvSpPr>
        <p:spPr>
          <a:xfrm>
            <a:off x="2286000" y="2194560"/>
            <a:ext cx="9082735" cy="1463040"/>
          </a:xfrm>
          <a:prstGeom prst="rect">
            <a:avLst/>
          </a:prstGeom>
          <a:noFill/>
        </p:spPr>
        <p:txBody>
          <a:bodyPr wrap="square" lIns="0" tIns="0" rIns="0" bIns="0" anchor="ctr">
            <a:spAutoFit/>
          </a:bodyPr>
          <a:lstStyle/>
          <a:p>
            <a:r>
              <a:rPr sz="4000" b="1" i="0">
                <a:solidFill>
                  <a:schemeClr val="bg1"/>
                </a:solidFill>
              </a:rPr>
              <a:t>Innovación</a:t>
            </a:r>
          </a:p>
        </p:txBody>
      </p:sp>
      <p:sp>
        <p:nvSpPr>
          <p:cNvPr id="31" name="Por qué"/>
          <p:cNvSpPr/>
          <p:nvPr/>
        </p:nvSpPr>
        <p:spPr>
          <a:xfrm>
            <a:off x="548640" y="3931920"/>
            <a:ext cx="11094415" cy="1600200"/>
          </a:xfrm>
          <a:prstGeom prst="roundRect">
            <a:avLst>
              <a:gd name="adj" fmla="val 8571"/>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Explicación"/>
          <p:cNvSpPr txBox="1"/>
          <p:nvPr/>
        </p:nvSpPr>
        <p:spPr>
          <a:xfrm>
            <a:off x="914400" y="3931920"/>
            <a:ext cx="10362895" cy="1600200"/>
          </a:xfrm>
          <a:prstGeom prst="rect">
            <a:avLst/>
          </a:prstGeom>
          <a:noFill/>
        </p:spPr>
        <p:txBody>
          <a:bodyPr wrap="square" lIns="0" tIns="0" rIns="0" bIns="0" anchor="ctr">
            <a:spAutoFit/>
          </a:bodyPr>
          <a:lstStyle/>
          <a:p>
            <a:r>
              <a:rPr sz="1600" b="1" i="0">
                <a:solidFill>
                  <a:schemeClr val="tx2"/>
                </a:solidFill>
              </a:rPr>
              <a:t>Por qué</a:t>
            </a:r>
          </a:p>
          <a:p>
            <a:pPr>
              <a:spcBef>
                <a:spcPts val="600"/>
              </a:spcBef>
            </a:pPr>
            <a:r>
              <a:rPr sz="2200" b="0" i="0">
                <a:solidFill>
                  <a:schemeClr val="tx1"/>
                </a:solidFill>
              </a:rPr>
              <a:t>Es un cambio ya puesto en práctica que aporta valor: el cliente está informado y el taller recibe menos llamadas.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5 de 6</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arjeta"/>
          <p:cNvSpPr/>
          <p:nvPr/>
        </p:nvSpPr>
        <p:spPr>
          <a:xfrm>
            <a:off x="548640" y="1554480"/>
            <a:ext cx="11094415" cy="2651760"/>
          </a:xfrm>
          <a:prstGeom prst="roundRect">
            <a:avLst>
              <a:gd name="adj" fmla="val 5172"/>
            </a:avLst>
          </a:prstGeom>
          <a:solidFill>
            <a:schemeClr val="bg2"/>
          </a:solidFill>
          <a:ln/>
        </p:spPr>
      </p:sp>
      <p:sp>
        <p:nvSpPr>
          <p:cNvPr id="6" name="Situación"/>
          <p:cNvSpPr/>
          <p:nvPr/>
        </p:nvSpPr>
        <p:spPr>
          <a:xfrm>
            <a:off x="960120" y="2194560"/>
            <a:ext cx="1371600" cy="1371600"/>
          </a:xfrm>
          <a:prstGeom prst="ellipse">
            <a:avLst/>
          </a:prstGeom>
          <a:solidFill>
            <a:schemeClr val="tx2"/>
          </a:solidFill>
          <a:ln/>
        </p:spPr>
      </p:sp>
      <p:pic>
        <p:nvPicPr>
          <p:cNvPr id="7" name="Image 0" descr="Situación"/>
          <p:cNvPicPr>
            <a:picLocks noChangeAspect="1"/>
          </p:cNvPicPr>
          <p:nvPr/>
        </p:nvPicPr>
        <p:blipFill>
          <a:blip r:embed="rId3"/>
          <a:stretch>
            <a:fillRect/>
          </a:stretch>
        </p:blipFill>
        <p:spPr>
          <a:xfrm>
            <a:off x="1289304" y="2523744"/>
            <a:ext cx="713232" cy="713232"/>
          </a:xfrm>
          <a:prstGeom prst="rect">
            <a:avLst/>
          </a:prstGeom>
        </p:spPr>
      </p:pic>
      <p:sp>
        <p:nvSpPr>
          <p:cNvPr id="8" name="Text 5"/>
          <p:cNvSpPr txBox="1"/>
          <p:nvPr/>
        </p:nvSpPr>
        <p:spPr>
          <a:xfrm>
            <a:off x="2697480" y="1554480"/>
            <a:ext cx="8579815" cy="2651760"/>
          </a:xfrm>
          <a:prstGeom prst="rect">
            <a:avLst/>
          </a:prstGeom>
          <a:noFill/>
          <a:ln/>
        </p:spPr>
        <p:txBody>
          <a:bodyPr wrap="square" lIns="0" tIns="0" rIns="0" bIns="0" rtlCol="0" anchor="ctr"/>
          <a:lstStyle/>
          <a:p>
            <a:pPr marL="0" indent="0">
              <a:buNone/>
            </a:pPr>
            <a:r>
              <a:rPr lang="en-US" sz="3000" dirty="0">
                <a:solidFill>
                  <a:schemeClr val="tx1"/>
                </a:solidFill>
              </a:rPr>
              <a:t>A un empleado se le ocurre usar las cajas de los pedidos como expositor en el mostrador.</a:t>
            </a:r>
            <a:endParaRPr lang="en-US" sz="3000" dirty="0"/>
          </a:p>
        </p:txBody>
      </p:sp>
      <p:sp>
        <p:nvSpPr>
          <p:cNvPr id="9" name="Opción 1"/>
          <p:cNvSpPr/>
          <p:nvPr/>
        </p:nvSpPr>
        <p:spPr>
          <a:xfrm>
            <a:off x="548640" y="4709160"/>
            <a:ext cx="731520" cy="731520"/>
          </a:xfrm>
          <a:prstGeom prst="ellipse">
            <a:avLst/>
          </a:prstGeom>
          <a:solidFill>
            <a:schemeClr val="accent1"/>
          </a:solidFill>
          <a:ln/>
        </p:spPr>
      </p:sp>
      <p:sp>
        <p:nvSpPr>
          <p:cNvPr id="10" name="Text 7"/>
          <p:cNvSpPr txBox="1"/>
          <p:nvPr/>
        </p:nvSpPr>
        <p:spPr>
          <a:xfrm>
            <a:off x="548640" y="4709160"/>
            <a:ext cx="731520" cy="731520"/>
          </a:xfrm>
          <a:prstGeom prst="rect">
            <a:avLst/>
          </a:prstGeom>
          <a:no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11" name="Text 8"/>
          <p:cNvSpPr txBox="1"/>
          <p:nvPr/>
        </p:nvSpPr>
        <p:spPr>
          <a:xfrm>
            <a:off x="14173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Creatividad</a:t>
            </a:r>
            <a:endParaRPr lang="en-US" sz="2000" dirty="0"/>
          </a:p>
        </p:txBody>
      </p:sp>
      <p:sp>
        <p:nvSpPr>
          <p:cNvPr id="12" name="Opción 2"/>
          <p:cNvSpPr/>
          <p:nvPr/>
        </p:nvSpPr>
        <p:spPr>
          <a:xfrm>
            <a:off x="4206240" y="4709160"/>
            <a:ext cx="731520" cy="731520"/>
          </a:xfrm>
          <a:prstGeom prst="ellipse">
            <a:avLst/>
          </a:prstGeom>
          <a:solidFill>
            <a:schemeClr val="accent3"/>
          </a:solidFill>
          <a:ln/>
        </p:spPr>
      </p:sp>
      <p:sp>
        <p:nvSpPr>
          <p:cNvPr id="13" name="Text 10"/>
          <p:cNvSpPr txBox="1"/>
          <p:nvPr/>
        </p:nvSpPr>
        <p:spPr>
          <a:xfrm>
            <a:off x="42062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4" name="Text 11"/>
          <p:cNvSpPr txBox="1"/>
          <p:nvPr/>
        </p:nvSpPr>
        <p:spPr>
          <a:xfrm>
            <a:off x="50749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Innovación</a:t>
            </a:r>
            <a:endParaRPr lang="en-US" sz="2000" dirty="0"/>
          </a:p>
        </p:txBody>
      </p:sp>
      <p:sp>
        <p:nvSpPr>
          <p:cNvPr id="15" name="Opción 3"/>
          <p:cNvSpPr/>
          <p:nvPr/>
        </p:nvSpPr>
        <p:spPr>
          <a:xfrm>
            <a:off x="7863840" y="4709160"/>
            <a:ext cx="731520" cy="731520"/>
          </a:xfrm>
          <a:prstGeom prst="ellipse">
            <a:avLst/>
          </a:prstGeom>
          <a:solidFill>
            <a:schemeClr val="accent4"/>
          </a:solidFill>
          <a:ln/>
        </p:spPr>
      </p:sp>
      <p:sp>
        <p:nvSpPr>
          <p:cNvPr id="16" name="Text 13"/>
          <p:cNvSpPr txBox="1"/>
          <p:nvPr/>
        </p:nvSpPr>
        <p:spPr>
          <a:xfrm>
            <a:off x="78638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87325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Competencia digital</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5: respuesta</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21</a:t>
            </a:fld>
            <a:endParaRPr lang="en-US"/>
          </a:p>
        </p:txBody>
      </p:sp>
      <p:sp>
        <p:nvSpPr>
          <p:cNvPr id="26" name="Situación"/>
          <p:cNvSpPr txBox="1"/>
          <p:nvPr/>
        </p:nvSpPr>
        <p:spPr>
          <a:xfrm>
            <a:off x="548640" y="1325880"/>
            <a:ext cx="11094415" cy="685800"/>
          </a:xfrm>
          <a:prstGeom prst="rect">
            <a:avLst/>
          </a:prstGeom>
          <a:noFill/>
        </p:spPr>
        <p:txBody>
          <a:bodyPr wrap="square" lIns="0" tIns="0" rIns="0" bIns="0" anchor="ctr">
            <a:spAutoFit/>
          </a:bodyPr>
          <a:lstStyle/>
          <a:p>
            <a:r>
              <a:rPr sz="1800" b="0" i="1">
                <a:solidFill>
                  <a:schemeClr val="tx2"/>
                </a:solidFill>
              </a:rPr>
              <a:t>«A un empleado se le ocurre usar las cajas de los pedidos como expositor en el mostrador.»</a:t>
            </a:r>
          </a:p>
        </p:txBody>
      </p:sp>
      <p:sp>
        <p:nvSpPr>
          <p:cNvPr id="27" name="Respuesta"/>
          <p:cNvSpPr/>
          <p:nvPr/>
        </p:nvSpPr>
        <p:spPr>
          <a:xfrm>
            <a:off x="548640" y="2194560"/>
            <a:ext cx="11094415" cy="1463040"/>
          </a:xfrm>
          <a:prstGeom prst="roundRect">
            <a:avLst>
              <a:gd name="adj" fmla="val 9374"/>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Número"/>
          <p:cNvSpPr/>
          <p:nvPr/>
        </p:nvSpPr>
        <p:spPr>
          <a:xfrm>
            <a:off x="868680" y="2377440"/>
            <a:ext cx="1097280" cy="109728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Número de la opción"/>
          <p:cNvSpPr txBox="1"/>
          <p:nvPr/>
        </p:nvSpPr>
        <p:spPr>
          <a:xfrm>
            <a:off x="868680" y="2377440"/>
            <a:ext cx="1097280" cy="1097280"/>
          </a:xfrm>
          <a:prstGeom prst="rect">
            <a:avLst/>
          </a:prstGeom>
          <a:noFill/>
        </p:spPr>
        <p:txBody>
          <a:bodyPr wrap="square" lIns="0" tIns="0" rIns="0" bIns="0" anchor="ctr">
            <a:spAutoFit/>
          </a:bodyPr>
          <a:lstStyle/>
          <a:p>
            <a:pPr algn="ctr"/>
            <a:r>
              <a:rPr sz="4800" b="1" i="0">
                <a:solidFill>
                  <a:schemeClr val="accent1"/>
                </a:solidFill>
              </a:rPr>
              <a:t>1</a:t>
            </a:r>
          </a:p>
        </p:txBody>
      </p:sp>
      <p:sp>
        <p:nvSpPr>
          <p:cNvPr id="30" name="Nombre de la respuesta"/>
          <p:cNvSpPr txBox="1"/>
          <p:nvPr/>
        </p:nvSpPr>
        <p:spPr>
          <a:xfrm>
            <a:off x="2286000" y="2194560"/>
            <a:ext cx="9082735" cy="1463040"/>
          </a:xfrm>
          <a:prstGeom prst="rect">
            <a:avLst/>
          </a:prstGeom>
          <a:noFill/>
        </p:spPr>
        <p:txBody>
          <a:bodyPr wrap="square" lIns="0" tIns="0" rIns="0" bIns="0" anchor="ctr">
            <a:spAutoFit/>
          </a:bodyPr>
          <a:lstStyle/>
          <a:p>
            <a:r>
              <a:rPr sz="4000" b="1" i="0">
                <a:solidFill>
                  <a:schemeClr val="tx1"/>
                </a:solidFill>
              </a:rPr>
              <a:t>Creatividad</a:t>
            </a:r>
          </a:p>
        </p:txBody>
      </p:sp>
      <p:sp>
        <p:nvSpPr>
          <p:cNvPr id="31" name="Por qué"/>
          <p:cNvSpPr/>
          <p:nvPr/>
        </p:nvSpPr>
        <p:spPr>
          <a:xfrm>
            <a:off x="548640" y="3931920"/>
            <a:ext cx="11094415" cy="1600200"/>
          </a:xfrm>
          <a:prstGeom prst="roundRect">
            <a:avLst>
              <a:gd name="adj" fmla="val 8571"/>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Explicación"/>
          <p:cNvSpPr txBox="1"/>
          <p:nvPr/>
        </p:nvSpPr>
        <p:spPr>
          <a:xfrm>
            <a:off x="914400" y="3931920"/>
            <a:ext cx="10362895" cy="1600200"/>
          </a:xfrm>
          <a:prstGeom prst="rect">
            <a:avLst/>
          </a:prstGeom>
          <a:noFill/>
        </p:spPr>
        <p:txBody>
          <a:bodyPr wrap="square" lIns="0" tIns="0" rIns="0" bIns="0" anchor="ctr">
            <a:spAutoFit/>
          </a:bodyPr>
          <a:lstStyle/>
          <a:p>
            <a:r>
              <a:rPr sz="1600" b="1" i="0">
                <a:solidFill>
                  <a:schemeClr val="tx2"/>
                </a:solidFill>
              </a:rPr>
              <a:t>Por qué</a:t>
            </a:r>
          </a:p>
          <a:p>
            <a:pPr>
              <a:spcBef>
                <a:spcPts val="600"/>
              </a:spcBef>
            </a:pPr>
            <a:r>
              <a:rPr sz="2200" b="0" i="0">
                <a:solidFill>
                  <a:schemeClr val="tx1"/>
                </a:solidFill>
              </a:rPr>
              <a:t>Por ahora es solo una idea. Si se pone en práctica y funciona, pasa a ser innovación.</a:t>
            </a:r>
          </a:p>
        </p:txBody>
      </p:sp>
      <p:sp>
        <p:nvSpPr>
          <p:cNvPr id="33" name="Aviso"/>
          <p:cNvSpPr txBox="1"/>
          <p:nvPr/>
        </p:nvSpPr>
        <p:spPr>
          <a:xfrm>
            <a:off x="548640" y="5669280"/>
            <a:ext cx="11094415" cy="411480"/>
          </a:xfrm>
          <a:prstGeom prst="rect">
            <a:avLst/>
          </a:prstGeom>
          <a:noFill/>
        </p:spPr>
        <p:txBody>
          <a:bodyPr wrap="square" lIns="0" tIns="0" rIns="0" bIns="0" anchor="ctr">
            <a:spAutoFit/>
          </a:bodyPr>
          <a:lstStyle/>
          <a:p>
            <a:r>
              <a:rPr sz="1600" b="1" i="1">
                <a:solidFill>
                  <a:schemeClr val="accent3"/>
                </a:solidFill>
              </a:rPr>
              <a:t>Situación discutible a propósito: lo importante es el razonamiento, no acertar.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6 de 6</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arjeta"/>
          <p:cNvSpPr/>
          <p:nvPr/>
        </p:nvSpPr>
        <p:spPr>
          <a:xfrm>
            <a:off x="548640" y="1554480"/>
            <a:ext cx="11094415" cy="2651760"/>
          </a:xfrm>
          <a:prstGeom prst="roundRect">
            <a:avLst>
              <a:gd name="adj" fmla="val 5172"/>
            </a:avLst>
          </a:prstGeom>
          <a:solidFill>
            <a:schemeClr val="bg2"/>
          </a:solidFill>
          <a:ln/>
        </p:spPr>
      </p:sp>
      <p:sp>
        <p:nvSpPr>
          <p:cNvPr id="6" name="Situación"/>
          <p:cNvSpPr/>
          <p:nvPr/>
        </p:nvSpPr>
        <p:spPr>
          <a:xfrm>
            <a:off x="960120" y="2194560"/>
            <a:ext cx="1371600" cy="1371600"/>
          </a:xfrm>
          <a:prstGeom prst="ellipse">
            <a:avLst/>
          </a:prstGeom>
          <a:solidFill>
            <a:schemeClr val="tx2"/>
          </a:solidFill>
          <a:ln/>
        </p:spPr>
      </p:sp>
      <p:pic>
        <p:nvPicPr>
          <p:cNvPr id="7" name="Image 0" descr="Situación"/>
          <p:cNvPicPr>
            <a:picLocks noChangeAspect="1"/>
          </p:cNvPicPr>
          <p:nvPr/>
        </p:nvPicPr>
        <p:blipFill>
          <a:blip r:embed="rId3"/>
          <a:stretch>
            <a:fillRect/>
          </a:stretch>
        </p:blipFill>
        <p:spPr>
          <a:xfrm>
            <a:off x="1289304" y="2523744"/>
            <a:ext cx="713232" cy="713232"/>
          </a:xfrm>
          <a:prstGeom prst="rect">
            <a:avLst/>
          </a:prstGeom>
        </p:spPr>
      </p:pic>
      <p:sp>
        <p:nvSpPr>
          <p:cNvPr id="8" name="Text 5"/>
          <p:cNvSpPr txBox="1"/>
          <p:nvPr/>
        </p:nvSpPr>
        <p:spPr>
          <a:xfrm>
            <a:off x="2697480" y="1554480"/>
            <a:ext cx="8579815" cy="2651760"/>
          </a:xfrm>
          <a:prstGeom prst="rect">
            <a:avLst/>
          </a:prstGeom>
          <a:noFill/>
          <a:ln/>
        </p:spPr>
        <p:txBody>
          <a:bodyPr wrap="square" lIns="0" tIns="0" rIns="0" bIns="0" rtlCol="0" anchor="ctr"/>
          <a:lstStyle/>
          <a:p>
            <a:pPr marL="0" indent="0">
              <a:buNone/>
            </a:pPr>
            <a:r>
              <a:rPr lang="en-US" sz="3000" dirty="0">
                <a:solidFill>
                  <a:schemeClr val="tx1"/>
                </a:solidFill>
              </a:rPr>
              <a:t>Una camarera usa una IA para traducir la carta al inglés.</a:t>
            </a:r>
            <a:endParaRPr lang="en-US" sz="3000" dirty="0"/>
          </a:p>
        </p:txBody>
      </p:sp>
      <p:sp>
        <p:nvSpPr>
          <p:cNvPr id="9" name="Opción 1"/>
          <p:cNvSpPr/>
          <p:nvPr/>
        </p:nvSpPr>
        <p:spPr>
          <a:xfrm>
            <a:off x="548640" y="4709160"/>
            <a:ext cx="731520" cy="731520"/>
          </a:xfrm>
          <a:prstGeom prst="ellipse">
            <a:avLst/>
          </a:prstGeom>
          <a:solidFill>
            <a:schemeClr val="accent1"/>
          </a:solidFill>
          <a:ln/>
        </p:spPr>
      </p:sp>
      <p:sp>
        <p:nvSpPr>
          <p:cNvPr id="10" name="Text 7"/>
          <p:cNvSpPr txBox="1"/>
          <p:nvPr/>
        </p:nvSpPr>
        <p:spPr>
          <a:xfrm>
            <a:off x="548640" y="4709160"/>
            <a:ext cx="731520" cy="731520"/>
          </a:xfrm>
          <a:prstGeom prst="rect">
            <a:avLst/>
          </a:prstGeom>
          <a:no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11" name="Text 8"/>
          <p:cNvSpPr txBox="1"/>
          <p:nvPr/>
        </p:nvSpPr>
        <p:spPr>
          <a:xfrm>
            <a:off x="14173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Creatividad</a:t>
            </a:r>
            <a:endParaRPr lang="en-US" sz="2000" dirty="0"/>
          </a:p>
        </p:txBody>
      </p:sp>
      <p:sp>
        <p:nvSpPr>
          <p:cNvPr id="12" name="Opción 2"/>
          <p:cNvSpPr/>
          <p:nvPr/>
        </p:nvSpPr>
        <p:spPr>
          <a:xfrm>
            <a:off x="4206240" y="4709160"/>
            <a:ext cx="731520" cy="731520"/>
          </a:xfrm>
          <a:prstGeom prst="ellipse">
            <a:avLst/>
          </a:prstGeom>
          <a:solidFill>
            <a:schemeClr val="accent3"/>
          </a:solidFill>
          <a:ln/>
        </p:spPr>
      </p:sp>
      <p:sp>
        <p:nvSpPr>
          <p:cNvPr id="13" name="Text 10"/>
          <p:cNvSpPr txBox="1"/>
          <p:nvPr/>
        </p:nvSpPr>
        <p:spPr>
          <a:xfrm>
            <a:off x="42062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4" name="Text 11"/>
          <p:cNvSpPr txBox="1"/>
          <p:nvPr/>
        </p:nvSpPr>
        <p:spPr>
          <a:xfrm>
            <a:off x="50749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Innovación</a:t>
            </a:r>
            <a:endParaRPr lang="en-US" sz="2000" dirty="0"/>
          </a:p>
        </p:txBody>
      </p:sp>
      <p:sp>
        <p:nvSpPr>
          <p:cNvPr id="15" name="Opción 3"/>
          <p:cNvSpPr/>
          <p:nvPr/>
        </p:nvSpPr>
        <p:spPr>
          <a:xfrm>
            <a:off x="7863840" y="4709160"/>
            <a:ext cx="731520" cy="731520"/>
          </a:xfrm>
          <a:prstGeom prst="ellipse">
            <a:avLst/>
          </a:prstGeom>
          <a:solidFill>
            <a:schemeClr val="accent4"/>
          </a:solidFill>
          <a:ln/>
        </p:spPr>
      </p:sp>
      <p:sp>
        <p:nvSpPr>
          <p:cNvPr id="16" name="Text 13"/>
          <p:cNvSpPr txBox="1"/>
          <p:nvPr/>
        </p:nvSpPr>
        <p:spPr>
          <a:xfrm>
            <a:off x="78638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87325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Competencia digital</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6: respuesta</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23</a:t>
            </a:fld>
            <a:endParaRPr lang="en-US"/>
          </a:p>
        </p:txBody>
      </p:sp>
      <p:sp>
        <p:nvSpPr>
          <p:cNvPr id="26" name="Situación"/>
          <p:cNvSpPr txBox="1"/>
          <p:nvPr/>
        </p:nvSpPr>
        <p:spPr>
          <a:xfrm>
            <a:off x="548640" y="1325880"/>
            <a:ext cx="11094415" cy="685800"/>
          </a:xfrm>
          <a:prstGeom prst="rect">
            <a:avLst/>
          </a:prstGeom>
          <a:noFill/>
        </p:spPr>
        <p:txBody>
          <a:bodyPr wrap="square" lIns="0" tIns="0" rIns="0" bIns="0" anchor="ctr">
            <a:spAutoFit/>
          </a:bodyPr>
          <a:lstStyle/>
          <a:p>
            <a:r>
              <a:rPr sz="1800" b="0" i="1">
                <a:solidFill>
                  <a:schemeClr val="tx2"/>
                </a:solidFill>
              </a:rPr>
              <a:t>«Una camarera usa una IA para traducir la carta al inglés.»</a:t>
            </a:r>
          </a:p>
        </p:txBody>
      </p:sp>
      <p:sp>
        <p:nvSpPr>
          <p:cNvPr id="27" name="Respuesta"/>
          <p:cNvSpPr/>
          <p:nvPr/>
        </p:nvSpPr>
        <p:spPr>
          <a:xfrm>
            <a:off x="548640" y="2194560"/>
            <a:ext cx="11094415" cy="1463040"/>
          </a:xfrm>
          <a:prstGeom prst="roundRect">
            <a:avLst>
              <a:gd name="adj" fmla="val 9374"/>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Número"/>
          <p:cNvSpPr/>
          <p:nvPr/>
        </p:nvSpPr>
        <p:spPr>
          <a:xfrm>
            <a:off x="868680" y="2377440"/>
            <a:ext cx="1097280" cy="109728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Número de la opción"/>
          <p:cNvSpPr txBox="1"/>
          <p:nvPr/>
        </p:nvSpPr>
        <p:spPr>
          <a:xfrm>
            <a:off x="868680" y="2377440"/>
            <a:ext cx="1097280" cy="1097280"/>
          </a:xfrm>
          <a:prstGeom prst="rect">
            <a:avLst/>
          </a:prstGeom>
          <a:noFill/>
        </p:spPr>
        <p:txBody>
          <a:bodyPr wrap="square" lIns="0" tIns="0" rIns="0" bIns="0" anchor="ctr">
            <a:spAutoFit/>
          </a:bodyPr>
          <a:lstStyle/>
          <a:p>
            <a:pPr algn="ctr"/>
            <a:r>
              <a:rPr sz="4800" b="1" i="0">
                <a:solidFill>
                  <a:schemeClr val="accent4"/>
                </a:solidFill>
              </a:rPr>
              <a:t>3</a:t>
            </a:r>
          </a:p>
        </p:txBody>
      </p:sp>
      <p:sp>
        <p:nvSpPr>
          <p:cNvPr id="30" name="Nombre de la respuesta"/>
          <p:cNvSpPr txBox="1"/>
          <p:nvPr/>
        </p:nvSpPr>
        <p:spPr>
          <a:xfrm>
            <a:off x="2286000" y="2194560"/>
            <a:ext cx="9082735" cy="1463040"/>
          </a:xfrm>
          <a:prstGeom prst="rect">
            <a:avLst/>
          </a:prstGeom>
          <a:noFill/>
        </p:spPr>
        <p:txBody>
          <a:bodyPr wrap="square" lIns="0" tIns="0" rIns="0" bIns="0" anchor="ctr">
            <a:spAutoFit/>
          </a:bodyPr>
          <a:lstStyle/>
          <a:p>
            <a:r>
              <a:rPr sz="4000" b="1" i="0">
                <a:solidFill>
                  <a:schemeClr val="bg1"/>
                </a:solidFill>
              </a:rPr>
              <a:t>Competencia digital</a:t>
            </a:r>
          </a:p>
        </p:txBody>
      </p:sp>
      <p:sp>
        <p:nvSpPr>
          <p:cNvPr id="31" name="Por qué"/>
          <p:cNvSpPr/>
          <p:nvPr/>
        </p:nvSpPr>
        <p:spPr>
          <a:xfrm>
            <a:off x="548640" y="3931920"/>
            <a:ext cx="11094415" cy="1600200"/>
          </a:xfrm>
          <a:prstGeom prst="roundRect">
            <a:avLst>
              <a:gd name="adj" fmla="val 8571"/>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Explicación"/>
          <p:cNvSpPr txBox="1"/>
          <p:nvPr/>
        </p:nvSpPr>
        <p:spPr>
          <a:xfrm>
            <a:off x="914400" y="3931920"/>
            <a:ext cx="10362895" cy="1600200"/>
          </a:xfrm>
          <a:prstGeom prst="rect">
            <a:avLst/>
          </a:prstGeom>
          <a:noFill/>
        </p:spPr>
        <p:txBody>
          <a:bodyPr wrap="square" lIns="0" tIns="0" rIns="0" bIns="0" anchor="ctr">
            <a:spAutoFit/>
          </a:bodyPr>
          <a:lstStyle/>
          <a:p>
            <a:r>
              <a:rPr sz="1600" b="1" i="0">
                <a:solidFill>
                  <a:schemeClr val="tx2"/>
                </a:solidFill>
              </a:rPr>
              <a:t>Por qué</a:t>
            </a:r>
          </a:p>
          <a:p>
            <a:pPr>
              <a:spcBef>
                <a:spcPts val="600"/>
              </a:spcBef>
            </a:pPr>
            <a:r>
              <a:rPr sz="2200" b="0" i="0">
                <a:solidFill>
                  <a:schemeClr val="tx1"/>
                </a:solidFill>
              </a:rPr>
              <a:t>Usa la IA para una tarea concreta, sin cambiar cómo se atiende. Sería innovación si cambiara la forma de atender a los clientes extranjeros.</a:t>
            </a:r>
          </a:p>
        </p:txBody>
      </p:sp>
      <p:sp>
        <p:nvSpPr>
          <p:cNvPr id="33" name="Aviso"/>
          <p:cNvSpPr txBox="1"/>
          <p:nvPr/>
        </p:nvSpPr>
        <p:spPr>
          <a:xfrm>
            <a:off x="548640" y="5669280"/>
            <a:ext cx="11094415" cy="411480"/>
          </a:xfrm>
          <a:prstGeom prst="rect">
            <a:avLst/>
          </a:prstGeom>
          <a:noFill/>
        </p:spPr>
        <p:txBody>
          <a:bodyPr wrap="square" lIns="0" tIns="0" rIns="0" bIns="0" anchor="ctr">
            <a:spAutoFit/>
          </a:bodyPr>
          <a:lstStyle/>
          <a:p>
            <a:r>
              <a:rPr sz="1600" b="1" i="1">
                <a:solidFill>
                  <a:schemeClr val="accent3"/>
                </a:solidFill>
              </a:rPr>
              <a:t>Situación discutible a propósito: lo importante es el razonamiento, no acertar.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Criterio para resolver las dudas</a:t>
            </a:r>
            <a:endParaRPr lang="en-US" sz="3200" dirty="0"/>
          </a:p>
        </p:txBody>
      </p:sp>
      <p:sp>
        <p:nvSpPr>
          <p:cNvPr id="3" name="Etiqueta de tiempo"/>
          <p:cNvSpPr/>
          <p:nvPr/>
        </p:nvSpPr>
        <p:spPr>
          <a:xfrm>
            <a:off x="10180015" y="548640"/>
            <a:ext cx="1463040" cy="457200"/>
          </a:xfrm>
          <a:prstGeom prst="roundRect">
            <a:avLst>
              <a:gd name="adj" fmla="val 50000"/>
            </a:avLst>
          </a:prstGeom>
          <a:solidFill>
            <a:schemeClr val="bg2"/>
          </a:solidFill>
          <a:ln/>
        </p:spPr>
      </p:sp>
      <p:sp>
        <p:nvSpPr>
          <p:cNvPr id="4" name="Text 2"/>
          <p:cNvSpPr txBox="1"/>
          <p:nvPr/>
        </p:nvSpPr>
        <p:spPr>
          <a:xfrm>
            <a:off x="10180015" y="548640"/>
            <a:ext cx="146304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a:t>
            </a:r>
            <a:endParaRPr lang="en-US" sz="1400" dirty="0"/>
          </a:p>
        </p:txBody>
      </p:sp>
      <p:sp>
        <p:nvSpPr>
          <p:cNvPr id="5" name="Una idea nueva"/>
          <p:cNvSpPr/>
          <p:nvPr/>
        </p:nvSpPr>
        <p:spPr>
          <a:xfrm>
            <a:off x="548640" y="1828800"/>
            <a:ext cx="2331720" cy="1371600"/>
          </a:xfrm>
          <a:prstGeom prst="roundRect">
            <a:avLst>
              <a:gd name="adj" fmla="val 10000"/>
            </a:avLst>
          </a:prstGeom>
          <a:solidFill>
            <a:schemeClr val="accent1"/>
          </a:solidFill>
          <a:ln/>
        </p:spPr>
      </p:sp>
      <p:sp>
        <p:nvSpPr>
          <p:cNvPr id="6" name="Text 4"/>
          <p:cNvSpPr txBox="1"/>
          <p:nvPr/>
        </p:nvSpPr>
        <p:spPr>
          <a:xfrm>
            <a:off x="685800" y="1828800"/>
            <a:ext cx="2057400" cy="1371600"/>
          </a:xfrm>
          <a:prstGeom prst="rect">
            <a:avLst/>
          </a:prstGeom>
          <a:noFill/>
          <a:ln/>
        </p:spPr>
        <p:txBody>
          <a:bodyPr wrap="square" lIns="0" tIns="0" rIns="0" bIns="0" rtlCol="0" anchor="ctr"/>
          <a:lstStyle/>
          <a:p>
            <a:pPr marL="0" indent="0" algn="ctr">
              <a:buNone/>
            </a:pPr>
            <a:r>
              <a:rPr lang="en-US" sz="2100" b="1" dirty="0">
                <a:solidFill>
                  <a:schemeClr val="tx1"/>
                </a:solidFill>
              </a:rPr>
              <a:t>Una idea nueva</a:t>
            </a:r>
            <a:endParaRPr lang="en-US" sz="2100" dirty="0"/>
          </a:p>
        </p:txBody>
      </p:sp>
      <p:sp>
        <p:nvSpPr>
          <p:cNvPr id="7" name="Shape 5"/>
          <p:cNvSpPr/>
          <p:nvPr/>
        </p:nvSpPr>
        <p:spPr>
          <a:xfrm>
            <a:off x="2990088" y="2514600"/>
            <a:ext cx="369722" cy="0"/>
          </a:xfrm>
          <a:prstGeom prst="line">
            <a:avLst/>
          </a:prstGeom>
          <a:noFill/>
          <a:ln w="31750">
            <a:solidFill>
              <a:srgbClr val="3A4664"/>
            </a:solidFill>
            <a:prstDash val="solid"/>
            <a:tailEnd type="triangle"/>
          </a:ln>
        </p:spPr>
      </p:sp>
      <p:sp>
        <p:nvSpPr>
          <p:cNvPr id="8" name="Text 6"/>
          <p:cNvSpPr txBox="1"/>
          <p:nvPr/>
        </p:nvSpPr>
        <p:spPr>
          <a:xfrm>
            <a:off x="2880360" y="2057400"/>
            <a:ext cx="589178" cy="365760"/>
          </a:xfrm>
          <a:prstGeom prst="rect">
            <a:avLst/>
          </a:prstGeom>
          <a:noFill/>
          <a:ln/>
        </p:spPr>
        <p:txBody>
          <a:bodyPr wrap="square" lIns="0" tIns="0" rIns="0" bIns="0" rtlCol="0" anchor="ctr"/>
          <a:lstStyle/>
          <a:p>
            <a:pPr marL="0" indent="0" algn="ctr">
              <a:buNone/>
            </a:pPr>
            <a:r>
              <a:rPr lang="en-US" sz="1400" b="1" dirty="0">
                <a:solidFill>
                  <a:schemeClr val="tx2"/>
                </a:solidFill>
              </a:rPr>
              <a:t>Sí</a:t>
            </a:r>
            <a:endParaRPr lang="en-US" sz="1400" dirty="0"/>
          </a:p>
        </p:txBody>
      </p:sp>
      <p:sp>
        <p:nvSpPr>
          <p:cNvPr id="9" name="¿Se ha puesto en práctica?"/>
          <p:cNvSpPr/>
          <p:nvPr/>
        </p:nvSpPr>
        <p:spPr>
          <a:xfrm>
            <a:off x="3469538" y="1828800"/>
            <a:ext cx="2331720" cy="1371600"/>
          </a:xfrm>
          <a:prstGeom prst="roundRect">
            <a:avLst>
              <a:gd name="adj" fmla="val 10000"/>
            </a:avLst>
          </a:prstGeom>
          <a:solidFill>
            <a:schemeClr val="bg2"/>
          </a:solidFill>
          <a:ln/>
        </p:spPr>
      </p:sp>
      <p:sp>
        <p:nvSpPr>
          <p:cNvPr id="10" name="Text 8"/>
          <p:cNvSpPr txBox="1"/>
          <p:nvPr/>
        </p:nvSpPr>
        <p:spPr>
          <a:xfrm>
            <a:off x="3606698" y="1828800"/>
            <a:ext cx="2057400" cy="1371600"/>
          </a:xfrm>
          <a:prstGeom prst="rect">
            <a:avLst/>
          </a:prstGeom>
          <a:noFill/>
          <a:ln/>
        </p:spPr>
        <p:txBody>
          <a:bodyPr wrap="square" lIns="0" tIns="0" rIns="0" bIns="0" rtlCol="0" anchor="ctr"/>
          <a:lstStyle/>
          <a:p>
            <a:pPr marL="0" indent="0" algn="ctr">
              <a:buNone/>
            </a:pPr>
            <a:r>
              <a:rPr lang="en-US" sz="2100" b="1" dirty="0">
                <a:solidFill>
                  <a:schemeClr val="tx1"/>
                </a:solidFill>
              </a:rPr>
              <a:t>¿Se ha puesto en práctica?</a:t>
            </a:r>
            <a:endParaRPr lang="en-US" sz="2100" dirty="0"/>
          </a:p>
        </p:txBody>
      </p:sp>
      <p:sp>
        <p:nvSpPr>
          <p:cNvPr id="11" name="Shape 9"/>
          <p:cNvSpPr/>
          <p:nvPr/>
        </p:nvSpPr>
        <p:spPr>
          <a:xfrm>
            <a:off x="5910986" y="2514600"/>
            <a:ext cx="369722" cy="0"/>
          </a:xfrm>
          <a:prstGeom prst="line">
            <a:avLst/>
          </a:prstGeom>
          <a:noFill/>
          <a:ln w="31750">
            <a:solidFill>
              <a:srgbClr val="3A4664"/>
            </a:solidFill>
            <a:prstDash val="solid"/>
            <a:tailEnd type="triangle"/>
          </a:ln>
        </p:spPr>
      </p:sp>
      <p:sp>
        <p:nvSpPr>
          <p:cNvPr id="12" name="Text 10"/>
          <p:cNvSpPr txBox="1"/>
          <p:nvPr/>
        </p:nvSpPr>
        <p:spPr>
          <a:xfrm>
            <a:off x="5801258" y="2057400"/>
            <a:ext cx="589178" cy="365760"/>
          </a:xfrm>
          <a:prstGeom prst="rect">
            <a:avLst/>
          </a:prstGeom>
          <a:noFill/>
          <a:ln/>
        </p:spPr>
        <p:txBody>
          <a:bodyPr wrap="square" lIns="0" tIns="0" rIns="0" bIns="0" rtlCol="0" anchor="ctr"/>
          <a:lstStyle/>
          <a:p>
            <a:pPr marL="0" indent="0" algn="ctr">
              <a:buNone/>
            </a:pPr>
            <a:r>
              <a:rPr lang="en-US" sz="1400" b="1" dirty="0">
                <a:solidFill>
                  <a:schemeClr val="tx2"/>
                </a:solidFill>
              </a:rPr>
              <a:t>Sí</a:t>
            </a:r>
            <a:endParaRPr lang="en-US" sz="1400" dirty="0"/>
          </a:p>
        </p:txBody>
      </p:sp>
      <p:sp>
        <p:nvSpPr>
          <p:cNvPr id="13" name="¿Aporta valor?"/>
          <p:cNvSpPr/>
          <p:nvPr/>
        </p:nvSpPr>
        <p:spPr>
          <a:xfrm>
            <a:off x="6390437" y="1828800"/>
            <a:ext cx="2331720" cy="1371600"/>
          </a:xfrm>
          <a:prstGeom prst="roundRect">
            <a:avLst>
              <a:gd name="adj" fmla="val 10000"/>
            </a:avLst>
          </a:prstGeom>
          <a:solidFill>
            <a:schemeClr val="bg2"/>
          </a:solidFill>
          <a:ln/>
        </p:spPr>
      </p:sp>
      <p:sp>
        <p:nvSpPr>
          <p:cNvPr id="14" name="Text 12"/>
          <p:cNvSpPr txBox="1"/>
          <p:nvPr/>
        </p:nvSpPr>
        <p:spPr>
          <a:xfrm>
            <a:off x="6527597" y="1828800"/>
            <a:ext cx="2057400" cy="1371600"/>
          </a:xfrm>
          <a:prstGeom prst="rect">
            <a:avLst/>
          </a:prstGeom>
          <a:noFill/>
          <a:ln/>
        </p:spPr>
        <p:txBody>
          <a:bodyPr wrap="square" lIns="0" tIns="0" rIns="0" bIns="0" rtlCol="0" anchor="ctr"/>
          <a:lstStyle/>
          <a:p>
            <a:pPr marL="0" indent="0" algn="ctr">
              <a:buNone/>
            </a:pPr>
            <a:r>
              <a:rPr lang="en-US" sz="2100" b="1" dirty="0">
                <a:solidFill>
                  <a:schemeClr val="tx1"/>
                </a:solidFill>
              </a:rPr>
              <a:t>¿Aporta valor?</a:t>
            </a:r>
            <a:endParaRPr lang="en-US" sz="2100" dirty="0"/>
          </a:p>
        </p:txBody>
      </p:sp>
      <p:sp>
        <p:nvSpPr>
          <p:cNvPr id="15" name="Shape 13"/>
          <p:cNvSpPr/>
          <p:nvPr/>
        </p:nvSpPr>
        <p:spPr>
          <a:xfrm>
            <a:off x="8831885" y="2514600"/>
            <a:ext cx="369722" cy="0"/>
          </a:xfrm>
          <a:prstGeom prst="line">
            <a:avLst/>
          </a:prstGeom>
          <a:noFill/>
          <a:ln w="31750">
            <a:solidFill>
              <a:srgbClr val="3A4664"/>
            </a:solidFill>
            <a:prstDash val="solid"/>
            <a:tailEnd type="triangle"/>
          </a:ln>
        </p:spPr>
      </p:sp>
      <p:sp>
        <p:nvSpPr>
          <p:cNvPr id="16" name="Text 14"/>
          <p:cNvSpPr txBox="1"/>
          <p:nvPr/>
        </p:nvSpPr>
        <p:spPr>
          <a:xfrm>
            <a:off x="8722157" y="2057400"/>
            <a:ext cx="589178" cy="365760"/>
          </a:xfrm>
          <a:prstGeom prst="rect">
            <a:avLst/>
          </a:prstGeom>
          <a:noFill/>
          <a:ln/>
        </p:spPr>
        <p:txBody>
          <a:bodyPr wrap="square" lIns="0" tIns="0" rIns="0" bIns="0" rtlCol="0" anchor="ctr"/>
          <a:lstStyle/>
          <a:p>
            <a:pPr marL="0" indent="0" algn="ctr">
              <a:buNone/>
            </a:pPr>
            <a:r>
              <a:rPr lang="en-US" sz="1400" b="1" dirty="0">
                <a:solidFill>
                  <a:schemeClr val="tx2"/>
                </a:solidFill>
              </a:rPr>
              <a:t>Sí</a:t>
            </a:r>
            <a:endParaRPr lang="en-US" sz="1400" dirty="0"/>
          </a:p>
        </p:txBody>
      </p:sp>
      <p:sp>
        <p:nvSpPr>
          <p:cNvPr id="17" name="Innovación"/>
          <p:cNvSpPr/>
          <p:nvPr/>
        </p:nvSpPr>
        <p:spPr>
          <a:xfrm>
            <a:off x="9311335" y="1828800"/>
            <a:ext cx="2331720" cy="1371600"/>
          </a:xfrm>
          <a:prstGeom prst="roundRect">
            <a:avLst>
              <a:gd name="adj" fmla="val 10000"/>
            </a:avLst>
          </a:prstGeom>
          <a:solidFill>
            <a:schemeClr val="accent3"/>
          </a:solidFill>
          <a:ln/>
        </p:spPr>
      </p:sp>
      <p:sp>
        <p:nvSpPr>
          <p:cNvPr id="18" name="Text 16"/>
          <p:cNvSpPr txBox="1"/>
          <p:nvPr/>
        </p:nvSpPr>
        <p:spPr>
          <a:xfrm>
            <a:off x="9448495" y="1828800"/>
            <a:ext cx="2057400" cy="1371600"/>
          </a:xfrm>
          <a:prstGeom prst="rect">
            <a:avLst/>
          </a:prstGeom>
          <a:noFill/>
          <a:ln/>
        </p:spPr>
        <p:txBody>
          <a:bodyPr wrap="square" lIns="0" tIns="0" rIns="0" bIns="0" rtlCol="0" anchor="ctr"/>
          <a:lstStyle/>
          <a:p>
            <a:pPr marL="0" indent="0" algn="ctr">
              <a:buNone/>
            </a:pPr>
            <a:r>
              <a:rPr lang="en-US" sz="2100" b="1" dirty="0">
                <a:solidFill>
                  <a:schemeClr val="bg1"/>
                </a:solidFill>
              </a:rPr>
              <a:t>Innovación</a:t>
            </a:r>
            <a:endParaRPr lang="en-US" sz="2100" dirty="0"/>
          </a:p>
        </p:txBody>
      </p:sp>
      <p:sp>
        <p:nvSpPr>
          <p:cNvPr id="19" name="Shape 17"/>
          <p:cNvSpPr/>
          <p:nvPr/>
        </p:nvSpPr>
        <p:spPr>
          <a:xfrm>
            <a:off x="4635398" y="3246120"/>
            <a:ext cx="914" cy="548640"/>
          </a:xfrm>
          <a:prstGeom prst="line">
            <a:avLst/>
          </a:prstGeom>
          <a:noFill/>
          <a:ln w="31750">
            <a:solidFill>
              <a:srgbClr val="3A4664"/>
            </a:solidFill>
            <a:prstDash val="solid"/>
            <a:tailEnd type="triangle"/>
          </a:ln>
        </p:spPr>
      </p:sp>
      <p:sp>
        <p:nvSpPr>
          <p:cNvPr id="20" name="Text 18"/>
          <p:cNvSpPr txBox="1"/>
          <p:nvPr/>
        </p:nvSpPr>
        <p:spPr>
          <a:xfrm>
            <a:off x="3103778" y="3840480"/>
            <a:ext cx="3063240" cy="457200"/>
          </a:xfrm>
          <a:prstGeom prst="rect">
            <a:avLst/>
          </a:prstGeom>
          <a:noFill/>
          <a:ln/>
        </p:spPr>
        <p:txBody>
          <a:bodyPr wrap="square" lIns="0" tIns="0" rIns="0" bIns="0" rtlCol="0" anchor="ctr"/>
          <a:lstStyle/>
          <a:p>
            <a:pPr marL="0" indent="0" algn="ctr">
              <a:buNone/>
            </a:pPr>
            <a:r>
              <a:rPr lang="en-US" sz="1700" b="1" dirty="0">
                <a:solidFill>
                  <a:schemeClr val="tx1"/>
                </a:solidFill>
              </a:rPr>
              <a:t>No: </a:t>
            </a:r>
            <a:r>
              <a:rPr lang="en-US" sz="1700" dirty="0">
                <a:solidFill>
                  <a:schemeClr val="tx1"/>
                </a:solidFill>
              </a:rPr>
              <a:t>sigue siendo creatividad</a:t>
            </a:r>
            <a:endParaRPr lang="en-US" sz="1700" dirty="0"/>
          </a:p>
        </p:txBody>
      </p:sp>
      <p:sp>
        <p:nvSpPr>
          <p:cNvPr id="21" name="Tarjeta"/>
          <p:cNvSpPr/>
          <p:nvPr/>
        </p:nvSpPr>
        <p:spPr>
          <a:xfrm>
            <a:off x="548640" y="4572000"/>
            <a:ext cx="11094415" cy="960120"/>
          </a:xfrm>
          <a:prstGeom prst="roundRect">
            <a:avLst>
              <a:gd name="adj" fmla="val 14286"/>
            </a:avLst>
          </a:prstGeom>
          <a:solidFill>
            <a:schemeClr val="bg2"/>
          </a:solidFill>
          <a:ln/>
        </p:spPr>
      </p:sp>
      <p:sp>
        <p:nvSpPr>
          <p:cNvPr id="22" name="Competencia digital"/>
          <p:cNvSpPr/>
          <p:nvPr/>
        </p:nvSpPr>
        <p:spPr>
          <a:xfrm>
            <a:off x="777240" y="4727448"/>
            <a:ext cx="640080" cy="640080"/>
          </a:xfrm>
          <a:prstGeom prst="ellipse">
            <a:avLst/>
          </a:prstGeom>
          <a:solidFill>
            <a:schemeClr val="accent4"/>
          </a:solidFill>
          <a:ln/>
        </p:spPr>
      </p:sp>
      <p:pic>
        <p:nvPicPr>
          <p:cNvPr id="23" name="Image 0" descr="Competencia digital"/>
          <p:cNvPicPr>
            <a:picLocks noChangeAspect="1"/>
          </p:cNvPicPr>
          <p:nvPr/>
        </p:nvPicPr>
        <p:blipFill>
          <a:blip r:embed="rId3"/>
          <a:stretch>
            <a:fillRect/>
          </a:stretch>
        </p:blipFill>
        <p:spPr>
          <a:xfrm>
            <a:off x="930859" y="4881067"/>
            <a:ext cx="332842" cy="332842"/>
          </a:xfrm>
          <a:prstGeom prst="rect">
            <a:avLst/>
          </a:prstGeom>
        </p:spPr>
      </p:pic>
      <p:sp>
        <p:nvSpPr>
          <p:cNvPr id="24" name="Text 21"/>
          <p:cNvSpPr txBox="1"/>
          <p:nvPr/>
        </p:nvSpPr>
        <p:spPr>
          <a:xfrm>
            <a:off x="1645920" y="4572000"/>
            <a:ext cx="9722815" cy="960120"/>
          </a:xfrm>
          <a:prstGeom prst="rect">
            <a:avLst/>
          </a:prstGeom>
          <a:noFill/>
          <a:ln/>
        </p:spPr>
        <p:txBody>
          <a:bodyPr wrap="square" lIns="0" tIns="0" rIns="0" bIns="0" rtlCol="0" anchor="ctr"/>
          <a:lstStyle/>
          <a:p>
            <a:pPr marL="0" indent="0">
              <a:buNone/>
            </a:pPr>
            <a:r>
              <a:rPr lang="en-US" sz="1900" dirty="0">
                <a:solidFill>
                  <a:schemeClr val="tx1"/>
                </a:solidFill>
              </a:rPr>
              <a:t>Usar una herramienta digital sin cambiar cómo se trabaja es competencia digital.</a:t>
            </a:r>
            <a:endParaRPr lang="en-US" sz="1900" dirty="0"/>
          </a:p>
        </p:txBody>
      </p:sp>
      <p:sp>
        <p:nvSpPr>
          <p:cNvPr id="25" name="Text 22"/>
          <p:cNvSpPr txBox="1"/>
          <p:nvPr/>
        </p:nvSpPr>
        <p:spPr>
          <a:xfrm>
            <a:off x="548640" y="5669280"/>
            <a:ext cx="11094415" cy="457200"/>
          </a:xfrm>
          <a:prstGeom prst="rect">
            <a:avLst/>
          </a:prstGeom>
          <a:noFill/>
          <a:ln/>
        </p:spPr>
        <p:txBody>
          <a:bodyPr wrap="square" lIns="0" tIns="0" rIns="0" bIns="0" rtlCol="0" anchor="ctr"/>
          <a:lstStyle/>
          <a:p>
            <a:pPr marL="0" indent="0">
              <a:buNone/>
            </a:pPr>
            <a:r>
              <a:rPr lang="en-US" sz="1900" b="1" dirty="0">
                <a:solidFill>
                  <a:schemeClr val="accent3"/>
                </a:solidFill>
              </a:rPr>
              <a:t>Lo importante es el razonamiento, no acertar.</a:t>
            </a:r>
            <a:endParaRPr lang="en-US" sz="1900" dirty="0"/>
          </a:p>
        </p:txBody>
      </p:sp>
      <p:sp>
        <p:nvSpPr>
          <p:cNvPr id="26"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Abrid el cuaderno de ejercicios</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10 · Cada persona</a:t>
            </a:r>
            <a:endParaRPr lang="en-US" sz="1400" dirty="0"/>
          </a:p>
        </p:txBody>
      </p:sp>
      <p:sp>
        <p:nvSpPr>
          <p:cNvPr id="5" name="Archivo"/>
          <p:cNvSpPr/>
          <p:nvPr/>
        </p:nvSpPr>
        <p:spPr>
          <a:xfrm>
            <a:off x="548640" y="1554480"/>
            <a:ext cx="4572000" cy="4206240"/>
          </a:xfrm>
          <a:prstGeom prst="roundRect">
            <a:avLst>
              <a:gd name="adj" fmla="val 3261"/>
            </a:avLst>
          </a:prstGeom>
          <a:solidFill>
            <a:schemeClr val="bg2"/>
          </a:solidFill>
          <a:ln/>
        </p:spPr>
      </p:sp>
      <p:sp>
        <p:nvSpPr>
          <p:cNvPr id="6" name="Icono del archivo"/>
          <p:cNvSpPr/>
          <p:nvPr/>
        </p:nvSpPr>
        <p:spPr>
          <a:xfrm>
            <a:off x="2103120" y="2011680"/>
            <a:ext cx="1463040" cy="1463040"/>
          </a:xfrm>
          <a:prstGeom prst="ellipse">
            <a:avLst/>
          </a:prstGeom>
          <a:solidFill>
            <a:schemeClr val="accent1"/>
          </a:solidFill>
          <a:ln/>
        </p:spPr>
      </p:sp>
      <p:pic>
        <p:nvPicPr>
          <p:cNvPr id="7" name="Image 0" descr="Icono del archivo"/>
          <p:cNvPicPr>
            <a:picLocks noChangeAspect="1"/>
          </p:cNvPicPr>
          <p:nvPr/>
        </p:nvPicPr>
        <p:blipFill>
          <a:blip r:embed="rId3"/>
          <a:stretch>
            <a:fillRect/>
          </a:stretch>
        </p:blipFill>
        <p:spPr>
          <a:xfrm>
            <a:off x="2454250" y="2362810"/>
            <a:ext cx="760781" cy="760781"/>
          </a:xfrm>
          <a:prstGeom prst="rect">
            <a:avLst/>
          </a:prstGeom>
        </p:spPr>
      </p:pic>
      <p:sp>
        <p:nvSpPr>
          <p:cNvPr id="8" name="Text 5"/>
          <p:cNvSpPr txBox="1"/>
          <p:nvPr/>
        </p:nvSpPr>
        <p:spPr>
          <a:xfrm>
            <a:off x="731520" y="3749040"/>
            <a:ext cx="4206240" cy="731520"/>
          </a:xfrm>
          <a:prstGeom prst="rect">
            <a:avLst/>
          </a:prstGeom>
          <a:noFill/>
          <a:ln/>
        </p:spPr>
        <p:txBody>
          <a:bodyPr wrap="square" lIns="0" tIns="0" rIns="0" bIns="0" rtlCol="0" anchor="ctr">
            <a:normAutofit/>
          </a:bodyPr>
          <a:lstStyle/>
          <a:p>
            <a:pPr marL="0" indent="0" algn="ctr">
              <a:buNone/>
            </a:pPr>
            <a:r>
              <a:rPr lang="en-US" sz="2200" b="1" dirty="0">
                <a:solidFill>
                  <a:schemeClr val="tx1"/>
                </a:solidFill>
              </a:rPr>
              <a:t>cuaderno_ejercicios.docx</a:t>
            </a:r>
            <a:endParaRPr lang="en-US" sz="2200" dirty="0"/>
          </a:p>
        </p:txBody>
      </p:sp>
      <p:sp>
        <p:nvSpPr>
          <p:cNvPr id="9" name="Text 6"/>
          <p:cNvSpPr txBox="1"/>
          <p:nvPr/>
        </p:nvSpPr>
        <p:spPr>
          <a:xfrm>
            <a:off x="731520" y="4526280"/>
            <a:ext cx="4206240" cy="457200"/>
          </a:xfrm>
          <a:prstGeom prst="rect">
            <a:avLst/>
          </a:prstGeom>
          <a:noFill/>
          <a:ln/>
        </p:spPr>
        <p:txBody>
          <a:bodyPr wrap="square" lIns="0" tIns="0" rIns="0" bIns="0" rtlCol="0" anchor="ctr"/>
          <a:lstStyle/>
          <a:p>
            <a:pPr marL="0" indent="0" algn="ctr">
              <a:buNone/>
            </a:pPr>
            <a:r>
              <a:rPr lang="en-US" sz="1600" dirty="0">
                <a:solidFill>
                  <a:schemeClr val="accent5"/>
                </a:solidFill>
              </a:rPr>
              <a:t>Word o Google Docs</a:t>
            </a:r>
            <a:endParaRPr lang="en-US" sz="1600" dirty="0"/>
          </a:p>
        </p:txBody>
      </p:sp>
      <p:sp>
        <p:nvSpPr>
          <p:cNvPr id="10" name="Paso 1"/>
          <p:cNvSpPr/>
          <p:nvPr/>
        </p:nvSpPr>
        <p:spPr>
          <a:xfrm>
            <a:off x="5577840" y="1737360"/>
            <a:ext cx="640080" cy="640080"/>
          </a:xfrm>
          <a:prstGeom prst="ellipse">
            <a:avLst/>
          </a:prstGeom>
          <a:solidFill>
            <a:schemeClr val="accent1"/>
          </a:solidFill>
          <a:ln/>
        </p:spPr>
      </p:sp>
      <p:sp>
        <p:nvSpPr>
          <p:cNvPr id="11" name="Text 8"/>
          <p:cNvSpPr txBox="1"/>
          <p:nvPr/>
        </p:nvSpPr>
        <p:spPr>
          <a:xfrm>
            <a:off x="5577840" y="17373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12" name="Text 9"/>
          <p:cNvSpPr txBox="1"/>
          <p:nvPr/>
        </p:nvSpPr>
        <p:spPr>
          <a:xfrm>
            <a:off x="6446520" y="1600200"/>
            <a:ext cx="5196535" cy="914400"/>
          </a:xfrm>
          <a:prstGeom prst="rect">
            <a:avLst/>
          </a:prstGeom>
          <a:noFill/>
          <a:ln/>
        </p:spPr>
        <p:txBody>
          <a:bodyPr wrap="square" lIns="0" tIns="0" rIns="0" bIns="0" rtlCol="0" anchor="ctr"/>
          <a:lstStyle/>
          <a:p>
            <a:pPr marL="0" indent="0">
              <a:buNone/>
            </a:pPr>
            <a:r>
              <a:rPr lang="en-US" sz="2000" dirty="0">
                <a:solidFill>
                  <a:schemeClr val="tx1"/>
                </a:solidFill>
              </a:rPr>
              <a:t>Escribid vuestro nombre en la portada.</a:t>
            </a:r>
            <a:endParaRPr lang="en-US" sz="2000" dirty="0"/>
          </a:p>
        </p:txBody>
      </p:sp>
      <p:sp>
        <p:nvSpPr>
          <p:cNvPr id="13" name="Paso 2"/>
          <p:cNvSpPr/>
          <p:nvPr/>
        </p:nvSpPr>
        <p:spPr>
          <a:xfrm>
            <a:off x="5577840" y="3108960"/>
            <a:ext cx="640080" cy="640080"/>
          </a:xfrm>
          <a:prstGeom prst="ellipse">
            <a:avLst/>
          </a:prstGeom>
          <a:solidFill>
            <a:schemeClr val="accent1"/>
          </a:solidFill>
          <a:ln/>
        </p:spPr>
      </p:sp>
      <p:sp>
        <p:nvSpPr>
          <p:cNvPr id="14" name="Text 11"/>
          <p:cNvSpPr txBox="1"/>
          <p:nvPr/>
        </p:nvSpPr>
        <p:spPr>
          <a:xfrm>
            <a:off x="5577840" y="31089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2</a:t>
            </a:r>
            <a:endParaRPr lang="en-US" sz="2200" dirty="0"/>
          </a:p>
        </p:txBody>
      </p:sp>
      <p:sp>
        <p:nvSpPr>
          <p:cNvPr id="15" name="Text 12"/>
          <p:cNvSpPr txBox="1"/>
          <p:nvPr/>
        </p:nvSpPr>
        <p:spPr>
          <a:xfrm>
            <a:off x="6446520" y="2971800"/>
            <a:ext cx="5196535" cy="914400"/>
          </a:xfrm>
          <a:prstGeom prst="rect">
            <a:avLst/>
          </a:prstGeom>
          <a:noFill/>
          <a:ln/>
        </p:spPr>
        <p:txBody>
          <a:bodyPr wrap="square" lIns="0" tIns="0" rIns="0" bIns="0" rtlCol="0" anchor="ctr"/>
          <a:lstStyle/>
          <a:p>
            <a:pPr marL="0" indent="0">
              <a:buNone/>
            </a:pPr>
            <a:r>
              <a:rPr lang="en-US" sz="2000" dirty="0">
                <a:solidFill>
                  <a:schemeClr val="tx1"/>
                </a:solidFill>
              </a:rPr>
              <a:t>Id al «Bloque 1»: el clip y el Ejercicio 1 se anotan ahí.</a:t>
            </a:r>
            <a:endParaRPr lang="en-US" sz="2000" dirty="0"/>
          </a:p>
        </p:txBody>
      </p:sp>
      <p:sp>
        <p:nvSpPr>
          <p:cNvPr id="16" name="Paso 3"/>
          <p:cNvSpPr/>
          <p:nvPr/>
        </p:nvSpPr>
        <p:spPr>
          <a:xfrm>
            <a:off x="5577840" y="4480560"/>
            <a:ext cx="640080" cy="640080"/>
          </a:xfrm>
          <a:prstGeom prst="ellipse">
            <a:avLst/>
          </a:prstGeom>
          <a:solidFill>
            <a:schemeClr val="accent1"/>
          </a:solidFill>
          <a:ln/>
        </p:spPr>
      </p:sp>
      <p:sp>
        <p:nvSpPr>
          <p:cNvPr id="17" name="Text 14"/>
          <p:cNvSpPr txBox="1"/>
          <p:nvPr/>
        </p:nvSpPr>
        <p:spPr>
          <a:xfrm>
            <a:off x="5577840" y="44805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18" name="Text 15"/>
          <p:cNvSpPr txBox="1"/>
          <p:nvPr/>
        </p:nvSpPr>
        <p:spPr>
          <a:xfrm>
            <a:off x="6446520" y="4343400"/>
            <a:ext cx="5196535" cy="914400"/>
          </a:xfrm>
          <a:prstGeom prst="rect">
            <a:avLst/>
          </a:prstGeom>
          <a:noFill/>
          <a:ln/>
        </p:spPr>
        <p:txBody>
          <a:bodyPr wrap="square" lIns="0" tIns="0" rIns="0" bIns="0" rtlCol="0" anchor="ctr"/>
          <a:lstStyle/>
          <a:p>
            <a:pPr marL="0" indent="0">
              <a:buNone/>
            </a:pPr>
            <a:r>
              <a:rPr lang="en-US" sz="2000" dirty="0">
                <a:solidFill>
                  <a:schemeClr val="tx1"/>
                </a:solidFill>
              </a:rPr>
              <a:t>Lo vuestro va en los recuadros ámbar; lo que diga la IA, en los verdes.</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¿Para </a:t>
            </a:r>
            <a:r>
              <a:rPr lang="en-US" sz="3200" b="1" dirty="0" err="1">
                <a:solidFill>
                  <a:schemeClr val="tx1"/>
                </a:solidFill>
              </a:rPr>
              <a:t>qué</a:t>
            </a:r>
            <a:r>
              <a:rPr lang="en-US" sz="3200" b="1" dirty="0">
                <a:solidFill>
                  <a:schemeClr val="tx1"/>
                </a:solidFill>
              </a:rPr>
              <a:t> se </a:t>
            </a:r>
            <a:r>
              <a:rPr lang="en-US" sz="3200" b="1" dirty="0" err="1">
                <a:solidFill>
                  <a:schemeClr val="tx1"/>
                </a:solidFill>
              </a:rPr>
              <a:t>podría</a:t>
            </a:r>
            <a:r>
              <a:rPr lang="en-US" sz="3200" b="1">
                <a:solidFill>
                  <a:schemeClr val="tx1"/>
                </a:solidFill>
              </a:rPr>
              <a:t> usar un </a:t>
            </a:r>
            <a:r>
              <a:rPr lang="en-US" sz="3200" b="1" dirty="0">
                <a:solidFill>
                  <a:schemeClr val="tx1"/>
                </a:solidFill>
              </a:rPr>
              <a:t>clip?</a:t>
            </a:r>
            <a:endParaRPr lang="en-US" sz="3200" dirty="0"/>
          </a:p>
        </p:txBody>
      </p:sp>
      <p:sp>
        <p:nvSpPr>
          <p:cNvPr id="3" name="Etiqueta de tiempo"/>
          <p:cNvSpPr/>
          <p:nvPr/>
        </p:nvSpPr>
        <p:spPr>
          <a:xfrm>
            <a:off x="8767267" y="548640"/>
            <a:ext cx="2875788" cy="457200"/>
          </a:xfrm>
          <a:prstGeom prst="roundRect">
            <a:avLst>
              <a:gd name="adj" fmla="val 50000"/>
            </a:avLst>
          </a:prstGeom>
          <a:solidFill>
            <a:schemeClr val="accent1"/>
          </a:solidFill>
          <a:ln/>
        </p:spPr>
      </p:sp>
      <p:sp>
        <p:nvSpPr>
          <p:cNvPr id="4" name="Text 2"/>
          <p:cNvSpPr txBox="1"/>
          <p:nvPr/>
        </p:nvSpPr>
        <p:spPr>
          <a:xfrm>
            <a:off x="8767267" y="548640"/>
            <a:ext cx="2875788" cy="457200"/>
          </a:xfrm>
          <a:prstGeom prst="rect">
            <a:avLst/>
          </a:prstGeom>
          <a:noFill/>
          <a:ln/>
        </p:spPr>
        <p:txBody>
          <a:bodyPr wrap="square" lIns="0" tIns="0" rIns="0" bIns="0" rtlCol="0" anchor="ctr"/>
          <a:lstStyle/>
          <a:p>
            <a:pPr marL="0" indent="0" algn="ctr">
              <a:buNone/>
            </a:pPr>
            <a:r>
              <a:rPr lang="en-US" sz="1400" b="1" dirty="0">
                <a:solidFill>
                  <a:schemeClr val="tx1"/>
                </a:solidFill>
              </a:rPr>
              <a:t>Min. 10–12 · Individual</a:t>
            </a:r>
            <a:endParaRPr lang="en-US" sz="1400" dirty="0"/>
          </a:p>
        </p:txBody>
      </p:sp>
      <p:sp>
        <p:nvSpPr>
          <p:cNvPr id="5" name="Clip"/>
          <p:cNvSpPr/>
          <p:nvPr/>
        </p:nvSpPr>
        <p:spPr>
          <a:xfrm>
            <a:off x="914400" y="1645920"/>
            <a:ext cx="3291840" cy="3291840"/>
          </a:xfrm>
          <a:prstGeom prst="ellipse">
            <a:avLst/>
          </a:prstGeom>
          <a:solidFill>
            <a:schemeClr val="accent1"/>
          </a:solidFill>
          <a:ln/>
        </p:spPr>
      </p:sp>
      <p:pic>
        <p:nvPicPr>
          <p:cNvPr id="6" name="Image 0" descr="Clip"/>
          <p:cNvPicPr>
            <a:picLocks noChangeAspect="1"/>
          </p:cNvPicPr>
          <p:nvPr/>
        </p:nvPicPr>
        <p:blipFill>
          <a:blip r:embed="rId3"/>
          <a:stretch>
            <a:fillRect/>
          </a:stretch>
        </p:blipFill>
        <p:spPr>
          <a:xfrm>
            <a:off x="1704442" y="2435962"/>
            <a:ext cx="1711757" cy="1711757"/>
          </a:xfrm>
          <a:prstGeom prst="rect">
            <a:avLst/>
          </a:prstGeom>
        </p:spPr>
      </p:pic>
      <p:sp>
        <p:nvSpPr>
          <p:cNvPr id="7" name="90 segundos"/>
          <p:cNvSpPr/>
          <p:nvPr/>
        </p:nvSpPr>
        <p:spPr>
          <a:xfrm>
            <a:off x="5029200" y="1828800"/>
            <a:ext cx="777240" cy="777240"/>
          </a:xfrm>
          <a:prstGeom prst="ellipse">
            <a:avLst/>
          </a:prstGeom>
          <a:solidFill>
            <a:schemeClr val="tx2"/>
          </a:solidFill>
          <a:ln/>
        </p:spPr>
      </p:sp>
      <p:pic>
        <p:nvPicPr>
          <p:cNvPr id="8" name="Image 1" descr="90 segundos"/>
          <p:cNvPicPr>
            <a:picLocks noChangeAspect="1"/>
          </p:cNvPicPr>
          <p:nvPr/>
        </p:nvPicPr>
        <p:blipFill>
          <a:blip r:embed="rId4"/>
          <a:stretch>
            <a:fillRect/>
          </a:stretch>
        </p:blipFill>
        <p:spPr>
          <a:xfrm>
            <a:off x="5215738" y="2015338"/>
            <a:ext cx="404165" cy="404165"/>
          </a:xfrm>
          <a:prstGeom prst="rect">
            <a:avLst/>
          </a:prstGeom>
        </p:spPr>
      </p:pic>
      <p:sp>
        <p:nvSpPr>
          <p:cNvPr id="9" name="Text 5"/>
          <p:cNvSpPr txBox="1"/>
          <p:nvPr/>
        </p:nvSpPr>
        <p:spPr>
          <a:xfrm>
            <a:off x="6035040" y="1828800"/>
            <a:ext cx="5577840" cy="777240"/>
          </a:xfrm>
          <a:prstGeom prst="rect">
            <a:avLst/>
          </a:prstGeom>
          <a:noFill/>
          <a:ln/>
        </p:spPr>
        <p:txBody>
          <a:bodyPr wrap="square" lIns="0" tIns="0" rIns="0" bIns="0" rtlCol="0" anchor="ctr"/>
          <a:lstStyle/>
          <a:p>
            <a:pPr marL="0" indent="0">
              <a:buNone/>
            </a:pPr>
            <a:r>
              <a:rPr lang="en-US" sz="2400" dirty="0">
                <a:solidFill>
                  <a:schemeClr val="tx1"/>
                </a:solidFill>
              </a:rPr>
              <a:t>No </a:t>
            </a:r>
            <a:r>
              <a:rPr lang="en-US" sz="2400" dirty="0" err="1">
                <a:solidFill>
                  <a:schemeClr val="tx1"/>
                </a:solidFill>
              </a:rPr>
              <a:t>más</a:t>
            </a:r>
            <a:r>
              <a:rPr lang="en-US" sz="2400" dirty="0">
                <a:solidFill>
                  <a:schemeClr val="tx1"/>
                </a:solidFill>
              </a:rPr>
              <a:t> de 5 </a:t>
            </a:r>
            <a:r>
              <a:rPr lang="en-US" sz="2400" dirty="0" err="1">
                <a:solidFill>
                  <a:schemeClr val="tx1"/>
                </a:solidFill>
              </a:rPr>
              <a:t>minutos</a:t>
            </a:r>
            <a:endParaRPr lang="en-US" sz="2400" dirty="0"/>
          </a:p>
        </p:txBody>
      </p:sp>
      <p:sp>
        <p:nvSpPr>
          <p:cNvPr id="10" name="En silencio"/>
          <p:cNvSpPr/>
          <p:nvPr/>
        </p:nvSpPr>
        <p:spPr>
          <a:xfrm>
            <a:off x="5029200" y="2880360"/>
            <a:ext cx="777240" cy="777240"/>
          </a:xfrm>
          <a:prstGeom prst="ellipse">
            <a:avLst/>
          </a:prstGeom>
          <a:solidFill>
            <a:schemeClr val="tx2"/>
          </a:solidFill>
          <a:ln/>
        </p:spPr>
      </p:sp>
      <p:pic>
        <p:nvPicPr>
          <p:cNvPr id="11" name="Image 2" descr="En silencio"/>
          <p:cNvPicPr>
            <a:picLocks noChangeAspect="1"/>
          </p:cNvPicPr>
          <p:nvPr/>
        </p:nvPicPr>
        <p:blipFill>
          <a:blip r:embed="rId5"/>
          <a:stretch>
            <a:fillRect/>
          </a:stretch>
        </p:blipFill>
        <p:spPr>
          <a:xfrm>
            <a:off x="5215738" y="3066898"/>
            <a:ext cx="404165" cy="404165"/>
          </a:xfrm>
          <a:prstGeom prst="rect">
            <a:avLst/>
          </a:prstGeom>
        </p:spPr>
      </p:pic>
      <p:sp>
        <p:nvSpPr>
          <p:cNvPr id="12" name="Text 7"/>
          <p:cNvSpPr txBox="1"/>
          <p:nvPr/>
        </p:nvSpPr>
        <p:spPr>
          <a:xfrm>
            <a:off x="6035040" y="2880360"/>
            <a:ext cx="5577840" cy="777240"/>
          </a:xfrm>
          <a:prstGeom prst="rect">
            <a:avLst/>
          </a:prstGeom>
          <a:noFill/>
          <a:ln/>
        </p:spPr>
        <p:txBody>
          <a:bodyPr wrap="square" lIns="0" tIns="0" rIns="0" bIns="0" rtlCol="0" anchor="ctr"/>
          <a:lstStyle/>
          <a:p>
            <a:pPr marL="0" indent="0">
              <a:buNone/>
            </a:pPr>
            <a:r>
              <a:rPr lang="en-US" sz="2400" dirty="0">
                <a:solidFill>
                  <a:schemeClr val="tx1"/>
                </a:solidFill>
              </a:rPr>
              <a:t>En silencio</a:t>
            </a:r>
            <a:endParaRPr lang="en-US" sz="2400" dirty="0"/>
          </a:p>
        </p:txBody>
      </p:sp>
      <p:sp>
        <p:nvSpPr>
          <p:cNvPr id="13" name="Por escrito: todos los usos que se os ocurran"/>
          <p:cNvSpPr/>
          <p:nvPr/>
        </p:nvSpPr>
        <p:spPr>
          <a:xfrm>
            <a:off x="5029200" y="3931920"/>
            <a:ext cx="777240" cy="777240"/>
          </a:xfrm>
          <a:prstGeom prst="ellipse">
            <a:avLst/>
          </a:prstGeom>
          <a:solidFill>
            <a:schemeClr val="tx2"/>
          </a:solidFill>
          <a:ln/>
        </p:spPr>
      </p:sp>
      <p:pic>
        <p:nvPicPr>
          <p:cNvPr id="14" name="Image 3" descr="Por escrito: todos los usos que se os ocurran"/>
          <p:cNvPicPr>
            <a:picLocks noChangeAspect="1"/>
          </p:cNvPicPr>
          <p:nvPr/>
        </p:nvPicPr>
        <p:blipFill>
          <a:blip r:embed="rId6"/>
          <a:stretch>
            <a:fillRect/>
          </a:stretch>
        </p:blipFill>
        <p:spPr>
          <a:xfrm>
            <a:off x="5215738" y="4118458"/>
            <a:ext cx="404165" cy="404165"/>
          </a:xfrm>
          <a:prstGeom prst="rect">
            <a:avLst/>
          </a:prstGeom>
        </p:spPr>
      </p:pic>
      <p:sp>
        <p:nvSpPr>
          <p:cNvPr id="15" name="Text 9"/>
          <p:cNvSpPr txBox="1"/>
          <p:nvPr/>
        </p:nvSpPr>
        <p:spPr>
          <a:xfrm>
            <a:off x="6035040" y="3931920"/>
            <a:ext cx="5577840" cy="777240"/>
          </a:xfrm>
          <a:prstGeom prst="rect">
            <a:avLst/>
          </a:prstGeom>
          <a:noFill/>
          <a:ln/>
        </p:spPr>
        <p:txBody>
          <a:bodyPr wrap="square" lIns="0" tIns="0" rIns="0" bIns="0" rtlCol="0" anchor="ctr"/>
          <a:lstStyle/>
          <a:p>
            <a:pPr marL="0" indent="0">
              <a:buNone/>
            </a:pPr>
            <a:r>
              <a:rPr lang="en-US" sz="2400" dirty="0">
                <a:solidFill>
                  <a:schemeClr val="tx1"/>
                </a:solidFill>
              </a:rPr>
              <a:t>Por escrito: todos los usos que se os ocurran</a:t>
            </a:r>
            <a:endParaRPr lang="en-US" sz="2400" dirty="0"/>
          </a:p>
        </p:txBody>
      </p:sp>
      <p:sp>
        <p:nvSpPr>
          <p:cNvPr id="16" name="Text 10"/>
          <p:cNvSpPr txBox="1"/>
          <p:nvPr/>
        </p:nvSpPr>
        <p:spPr>
          <a:xfrm>
            <a:off x="5029200" y="5166360"/>
            <a:ext cx="6583680" cy="548640"/>
          </a:xfrm>
          <a:prstGeom prst="rect">
            <a:avLst/>
          </a:prstGeom>
          <a:noFill/>
          <a:ln/>
        </p:spPr>
        <p:txBody>
          <a:bodyPr wrap="square" lIns="0" tIns="0" rIns="0" bIns="0" rtlCol="0" anchor="ctr"/>
          <a:lstStyle/>
          <a:p>
            <a:pPr marL="0" indent="0">
              <a:buNone/>
            </a:pPr>
            <a:r>
              <a:rPr lang="en-US" sz="2000" b="1" dirty="0">
                <a:solidFill>
                  <a:schemeClr val="tx2"/>
                </a:solidFill>
              </a:rPr>
              <a:t>Después: ¿cuántos usos habéis escrito?</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26</a:t>
            </a:fld>
            <a:endParaRPr lang="en-US"/>
          </a:p>
        </p:txBody>
      </p:sp>
      <p:sp>
        <p:nvSpPr>
          <p:cNvPr id="26" name="Dónde escribir"/>
          <p:cNvSpPr/>
          <p:nvPr/>
        </p:nvSpPr>
        <p:spPr>
          <a:xfrm>
            <a:off x="6404457" y="6291072"/>
            <a:ext cx="4522622"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1  ›  Calentamiento</a:t>
            </a:r>
          </a:p>
        </p:txBody>
      </p:sp>
      <p:sp>
        <p:nvSpPr>
          <p:cNvPr id="27" name="Dónde escribir: círculo"/>
          <p:cNvSpPr/>
          <p:nvPr/>
        </p:nvSpPr>
        <p:spPr>
          <a:xfrm>
            <a:off x="6459321"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7"/>
          <a:stretch>
            <a:fillRect/>
          </a:stretch>
        </p:blipFill>
        <p:spPr>
          <a:xfrm>
            <a:off x="6532473" y="6409944"/>
            <a:ext cx="146304" cy="14630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No vendemos el clip: vendemos su idea</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12–14</a:t>
            </a:r>
            <a:endParaRPr lang="en-US" sz="1400" dirty="0"/>
          </a:p>
        </p:txBody>
      </p:sp>
      <p:sp>
        <p:nvSpPr>
          <p:cNvPr id="5" name="Text 3"/>
          <p:cNvSpPr txBox="1"/>
          <p:nvPr/>
        </p:nvSpPr>
        <p:spPr>
          <a:xfrm>
            <a:off x="548640" y="1325880"/>
            <a:ext cx="3108960" cy="457200"/>
          </a:xfrm>
          <a:prstGeom prst="rect">
            <a:avLst/>
          </a:prstGeom>
          <a:noFill/>
          <a:ln/>
        </p:spPr>
        <p:txBody>
          <a:bodyPr wrap="square" lIns="0" tIns="0" rIns="0" bIns="0" rtlCol="0" anchor="ctr"/>
          <a:lstStyle/>
          <a:p>
            <a:pPr marL="0" indent="0">
              <a:buNone/>
            </a:pPr>
            <a:r>
              <a:rPr lang="en-US" sz="1800" b="1" dirty="0">
                <a:solidFill>
                  <a:schemeClr val="tx1"/>
                </a:solidFill>
              </a:rPr>
              <a:t>Del clip tomamos el concepto:</a:t>
            </a:r>
            <a:endParaRPr lang="en-US" sz="1800" dirty="0"/>
          </a:p>
        </p:txBody>
      </p:sp>
      <p:sp>
        <p:nvSpPr>
          <p:cNvPr id="6" name="Sujetar por presión"/>
          <p:cNvSpPr/>
          <p:nvPr/>
        </p:nvSpPr>
        <p:spPr>
          <a:xfrm>
            <a:off x="3520440" y="1325880"/>
            <a:ext cx="2514600" cy="457200"/>
          </a:xfrm>
          <a:prstGeom prst="roundRect">
            <a:avLst>
              <a:gd name="adj" fmla="val 50000"/>
            </a:avLst>
          </a:prstGeom>
          <a:solidFill>
            <a:schemeClr val="accent3"/>
          </a:solidFill>
          <a:ln/>
        </p:spPr>
      </p:sp>
      <p:sp>
        <p:nvSpPr>
          <p:cNvPr id="7" name="Text 5"/>
          <p:cNvSpPr txBox="1"/>
          <p:nvPr/>
        </p:nvSpPr>
        <p:spPr>
          <a:xfrm>
            <a:off x="3520440" y="1325880"/>
            <a:ext cx="2514600" cy="457200"/>
          </a:xfrm>
          <a:prstGeom prst="rect">
            <a:avLst/>
          </a:prstGeom>
          <a:noFill/>
          <a:ln/>
        </p:spPr>
        <p:txBody>
          <a:bodyPr wrap="square" lIns="0" tIns="0" rIns="0" bIns="0" rtlCol="0" anchor="ctr"/>
          <a:lstStyle/>
          <a:p>
            <a:pPr marL="0" indent="0" algn="ctr">
              <a:buNone/>
            </a:pPr>
            <a:r>
              <a:rPr lang="en-US" sz="1500" b="1" dirty="0">
                <a:solidFill>
                  <a:schemeClr val="bg1"/>
                </a:solidFill>
              </a:rPr>
              <a:t>Sujetar por presión</a:t>
            </a:r>
            <a:endParaRPr lang="en-US" sz="1500" dirty="0"/>
          </a:p>
        </p:txBody>
      </p:sp>
      <p:sp>
        <p:nvSpPr>
          <p:cNvPr id="8" name="Doblarse sin romperse"/>
          <p:cNvSpPr/>
          <p:nvPr/>
        </p:nvSpPr>
        <p:spPr>
          <a:xfrm>
            <a:off x="6217920" y="1325880"/>
            <a:ext cx="2514600" cy="457200"/>
          </a:xfrm>
          <a:prstGeom prst="roundRect">
            <a:avLst>
              <a:gd name="adj" fmla="val 50000"/>
            </a:avLst>
          </a:prstGeom>
          <a:solidFill>
            <a:schemeClr val="accent4"/>
          </a:solidFill>
          <a:ln/>
        </p:spPr>
      </p:sp>
      <p:sp>
        <p:nvSpPr>
          <p:cNvPr id="9" name="Text 7"/>
          <p:cNvSpPr txBox="1"/>
          <p:nvPr/>
        </p:nvSpPr>
        <p:spPr>
          <a:xfrm>
            <a:off x="6217920" y="1325880"/>
            <a:ext cx="2514600" cy="457200"/>
          </a:xfrm>
          <a:prstGeom prst="rect">
            <a:avLst/>
          </a:prstGeom>
          <a:noFill/>
          <a:ln/>
        </p:spPr>
        <p:txBody>
          <a:bodyPr wrap="square" lIns="0" tIns="0" rIns="0" bIns="0" rtlCol="0" anchor="ctr"/>
          <a:lstStyle/>
          <a:p>
            <a:pPr marL="0" indent="0" algn="ctr">
              <a:buNone/>
            </a:pPr>
            <a:r>
              <a:rPr lang="en-US" sz="1500" b="1" dirty="0">
                <a:solidFill>
                  <a:schemeClr val="bg1"/>
                </a:solidFill>
              </a:rPr>
              <a:t>Doblarse sin romperse</a:t>
            </a:r>
            <a:endParaRPr lang="en-US" sz="1500" dirty="0"/>
          </a:p>
        </p:txBody>
      </p:sp>
      <p:sp>
        <p:nvSpPr>
          <p:cNvPr id="10" name="Unir y separar fácilmente"/>
          <p:cNvSpPr/>
          <p:nvPr/>
        </p:nvSpPr>
        <p:spPr>
          <a:xfrm>
            <a:off x="8915400" y="1325880"/>
            <a:ext cx="2514600" cy="457200"/>
          </a:xfrm>
          <a:prstGeom prst="roundRect">
            <a:avLst>
              <a:gd name="adj" fmla="val 50000"/>
            </a:avLst>
          </a:prstGeom>
          <a:solidFill>
            <a:schemeClr val="tx2"/>
          </a:solidFill>
          <a:ln/>
        </p:spPr>
      </p:sp>
      <p:sp>
        <p:nvSpPr>
          <p:cNvPr id="11" name="Text 9"/>
          <p:cNvSpPr txBox="1"/>
          <p:nvPr/>
        </p:nvSpPr>
        <p:spPr>
          <a:xfrm>
            <a:off x="8915400" y="1325880"/>
            <a:ext cx="2514600" cy="457200"/>
          </a:xfrm>
          <a:prstGeom prst="rect">
            <a:avLst/>
          </a:prstGeom>
          <a:noFill/>
          <a:ln/>
        </p:spPr>
        <p:txBody>
          <a:bodyPr wrap="square" lIns="0" tIns="0" rIns="0" bIns="0" rtlCol="0" anchor="ctr"/>
          <a:lstStyle/>
          <a:p>
            <a:pPr marL="0" indent="0" algn="ctr">
              <a:buNone/>
            </a:pPr>
            <a:r>
              <a:rPr lang="en-US" sz="1500" b="1" dirty="0">
                <a:solidFill>
                  <a:schemeClr val="bg1"/>
                </a:solidFill>
              </a:rPr>
              <a:t>Unir y separar fácilmente</a:t>
            </a:r>
            <a:endParaRPr lang="en-US" sz="1500" dirty="0"/>
          </a:p>
        </p:txBody>
      </p:sp>
      <p:sp>
        <p:nvSpPr>
          <p:cNvPr id="12" name="Organizador de cables"/>
          <p:cNvSpPr/>
          <p:nvPr/>
        </p:nvSpPr>
        <p:spPr>
          <a:xfrm>
            <a:off x="548640" y="2057400"/>
            <a:ext cx="3515258" cy="1828800"/>
          </a:xfrm>
          <a:prstGeom prst="roundRect">
            <a:avLst>
              <a:gd name="adj" fmla="val 7500"/>
            </a:avLst>
          </a:prstGeom>
          <a:solidFill>
            <a:schemeClr val="bg2"/>
          </a:solidFill>
          <a:ln/>
        </p:spPr>
      </p:sp>
      <p:sp>
        <p:nvSpPr>
          <p:cNvPr id="13" name="Organizador de cables"/>
          <p:cNvSpPr/>
          <p:nvPr/>
        </p:nvSpPr>
        <p:spPr>
          <a:xfrm>
            <a:off x="777240" y="2258568"/>
            <a:ext cx="640080" cy="640080"/>
          </a:xfrm>
          <a:prstGeom prst="ellipse">
            <a:avLst/>
          </a:prstGeom>
          <a:solidFill>
            <a:schemeClr val="accent4"/>
          </a:solidFill>
          <a:ln/>
        </p:spPr>
      </p:sp>
      <p:pic>
        <p:nvPicPr>
          <p:cNvPr id="14" name="Image 0" descr="Organizador de cables"/>
          <p:cNvPicPr>
            <a:picLocks noChangeAspect="1"/>
          </p:cNvPicPr>
          <p:nvPr/>
        </p:nvPicPr>
        <p:blipFill>
          <a:blip r:embed="rId3"/>
          <a:stretch>
            <a:fillRect/>
          </a:stretch>
        </p:blipFill>
        <p:spPr>
          <a:xfrm>
            <a:off x="930859" y="2412187"/>
            <a:ext cx="332842" cy="332842"/>
          </a:xfrm>
          <a:prstGeom prst="rect">
            <a:avLst/>
          </a:prstGeom>
        </p:spPr>
      </p:pic>
      <p:sp>
        <p:nvSpPr>
          <p:cNvPr id="15" name="Text 12"/>
          <p:cNvSpPr txBox="1"/>
          <p:nvPr/>
        </p:nvSpPr>
        <p:spPr>
          <a:xfrm>
            <a:off x="1554480" y="2258568"/>
            <a:ext cx="2326538" cy="640080"/>
          </a:xfrm>
          <a:prstGeom prst="rect">
            <a:avLst/>
          </a:prstGeom>
          <a:noFill/>
          <a:ln/>
        </p:spPr>
        <p:txBody>
          <a:bodyPr wrap="square" lIns="0" tIns="0" rIns="0" bIns="0" rtlCol="0" anchor="ctr"/>
          <a:lstStyle/>
          <a:p>
            <a:pPr marL="0" indent="0">
              <a:buNone/>
            </a:pPr>
            <a:r>
              <a:rPr lang="en-US" sz="1800" b="1" dirty="0">
                <a:solidFill>
                  <a:schemeClr val="tx1"/>
                </a:solidFill>
              </a:rPr>
              <a:t>Organizador de cables</a:t>
            </a:r>
            <a:endParaRPr lang="en-US" sz="1800" dirty="0"/>
          </a:p>
        </p:txBody>
      </p:sp>
      <p:sp>
        <p:nvSpPr>
          <p:cNvPr id="16" name="Text 13"/>
          <p:cNvSpPr txBox="1"/>
          <p:nvPr/>
        </p:nvSpPr>
        <p:spPr>
          <a:xfrm>
            <a:off x="777240" y="2971800"/>
            <a:ext cx="3058058" cy="566928"/>
          </a:xfrm>
          <a:prstGeom prst="rect">
            <a:avLst/>
          </a:prstGeom>
          <a:noFill/>
          <a:ln/>
        </p:spPr>
        <p:txBody>
          <a:bodyPr wrap="square" lIns="0" tIns="0" rIns="0" bIns="0" rtlCol="0" anchor="t"/>
          <a:lstStyle/>
          <a:p>
            <a:pPr marL="0" indent="0">
              <a:buNone/>
            </a:pPr>
            <a:r>
              <a:rPr lang="en-US" sz="1400" dirty="0">
                <a:solidFill>
                  <a:schemeClr val="tx1"/>
                </a:solidFill>
              </a:rPr>
              <a:t>Pieza de silicona que agrupa los cargadores y evita enredos.</a:t>
            </a:r>
            <a:endParaRPr lang="en-US" sz="1400" dirty="0"/>
          </a:p>
        </p:txBody>
      </p:sp>
      <p:sp>
        <p:nvSpPr>
          <p:cNvPr id="17" name="Text 14"/>
          <p:cNvSpPr txBox="1"/>
          <p:nvPr/>
        </p:nvSpPr>
        <p:spPr>
          <a:xfrm>
            <a:off x="777240" y="3520440"/>
            <a:ext cx="3058058" cy="292608"/>
          </a:xfrm>
          <a:prstGeom prst="rect">
            <a:avLst/>
          </a:prstGeom>
          <a:noFill/>
          <a:ln/>
        </p:spPr>
        <p:txBody>
          <a:bodyPr wrap="square" lIns="0" tIns="0" rIns="0" bIns="0" rtlCol="0" anchor="t"/>
          <a:lstStyle/>
          <a:p>
            <a:pPr marL="0" indent="0">
              <a:buNone/>
            </a:pPr>
            <a:r>
              <a:rPr lang="en-US" sz="1200" b="1" i="1" dirty="0">
                <a:solidFill>
                  <a:schemeClr val="tx2"/>
                </a:solidFill>
              </a:rPr>
              <a:t>Para: </a:t>
            </a:r>
            <a:r>
              <a:rPr lang="en-US" sz="1200" i="1" dirty="0">
                <a:solidFill>
                  <a:schemeClr val="tx2"/>
                </a:solidFill>
              </a:rPr>
              <a:t>Teletrabajadores y viajeros</a:t>
            </a:r>
            <a:endParaRPr lang="en-US" sz="1200" dirty="0"/>
          </a:p>
        </p:txBody>
      </p:sp>
      <p:sp>
        <p:nvSpPr>
          <p:cNvPr id="18" name="Cierre para alimentos"/>
          <p:cNvSpPr/>
          <p:nvPr/>
        </p:nvSpPr>
        <p:spPr>
          <a:xfrm>
            <a:off x="4338218" y="2057400"/>
            <a:ext cx="3515258" cy="1828800"/>
          </a:xfrm>
          <a:prstGeom prst="roundRect">
            <a:avLst>
              <a:gd name="adj" fmla="val 7500"/>
            </a:avLst>
          </a:prstGeom>
          <a:solidFill>
            <a:schemeClr val="bg2"/>
          </a:solidFill>
          <a:ln/>
        </p:spPr>
      </p:sp>
      <p:sp>
        <p:nvSpPr>
          <p:cNvPr id="19" name="Cierre para alimentos"/>
          <p:cNvSpPr/>
          <p:nvPr/>
        </p:nvSpPr>
        <p:spPr>
          <a:xfrm>
            <a:off x="4566818" y="2258568"/>
            <a:ext cx="640080" cy="640080"/>
          </a:xfrm>
          <a:prstGeom prst="ellipse">
            <a:avLst/>
          </a:prstGeom>
          <a:solidFill>
            <a:schemeClr val="accent3"/>
          </a:solidFill>
          <a:ln/>
        </p:spPr>
      </p:sp>
      <p:pic>
        <p:nvPicPr>
          <p:cNvPr id="20" name="Image 1" descr="Cierre para alimentos"/>
          <p:cNvPicPr>
            <a:picLocks noChangeAspect="1"/>
          </p:cNvPicPr>
          <p:nvPr/>
        </p:nvPicPr>
        <p:blipFill>
          <a:blip r:embed="rId4"/>
          <a:stretch>
            <a:fillRect/>
          </a:stretch>
        </p:blipFill>
        <p:spPr>
          <a:xfrm>
            <a:off x="4720438" y="2412187"/>
            <a:ext cx="332842" cy="332842"/>
          </a:xfrm>
          <a:prstGeom prst="rect">
            <a:avLst/>
          </a:prstGeom>
        </p:spPr>
      </p:pic>
      <p:sp>
        <p:nvSpPr>
          <p:cNvPr id="21" name="Text 17"/>
          <p:cNvSpPr txBox="1"/>
          <p:nvPr/>
        </p:nvSpPr>
        <p:spPr>
          <a:xfrm>
            <a:off x="5344058" y="2258568"/>
            <a:ext cx="2326538" cy="640080"/>
          </a:xfrm>
          <a:prstGeom prst="rect">
            <a:avLst/>
          </a:prstGeom>
          <a:noFill/>
          <a:ln/>
        </p:spPr>
        <p:txBody>
          <a:bodyPr wrap="square" lIns="0" tIns="0" rIns="0" bIns="0" rtlCol="0" anchor="ctr"/>
          <a:lstStyle/>
          <a:p>
            <a:pPr marL="0" indent="0">
              <a:buNone/>
            </a:pPr>
            <a:r>
              <a:rPr lang="en-US" sz="1800" b="1" dirty="0">
                <a:solidFill>
                  <a:schemeClr val="tx1"/>
                </a:solidFill>
              </a:rPr>
              <a:t>Cierre para alimentos</a:t>
            </a:r>
            <a:endParaRPr lang="en-US" sz="1800" dirty="0"/>
          </a:p>
        </p:txBody>
      </p:sp>
      <p:sp>
        <p:nvSpPr>
          <p:cNvPr id="22" name="Text 18"/>
          <p:cNvSpPr txBox="1"/>
          <p:nvPr/>
        </p:nvSpPr>
        <p:spPr>
          <a:xfrm>
            <a:off x="4566818" y="2971800"/>
            <a:ext cx="3058058" cy="566928"/>
          </a:xfrm>
          <a:prstGeom prst="rect">
            <a:avLst/>
          </a:prstGeom>
          <a:noFill/>
          <a:ln/>
        </p:spPr>
        <p:txBody>
          <a:bodyPr wrap="square" lIns="0" tIns="0" rIns="0" bIns="0" rtlCol="0" anchor="t"/>
          <a:lstStyle/>
          <a:p>
            <a:pPr marL="0" indent="0">
              <a:buNone/>
            </a:pPr>
            <a:r>
              <a:rPr lang="en-US" sz="1400" dirty="0">
                <a:solidFill>
                  <a:schemeClr val="tx1"/>
                </a:solidFill>
              </a:rPr>
              <a:t>Pinza grande y reutilizable que mantiene cerrados los envases abiertos.</a:t>
            </a:r>
            <a:endParaRPr lang="en-US" sz="1400" dirty="0"/>
          </a:p>
        </p:txBody>
      </p:sp>
      <p:sp>
        <p:nvSpPr>
          <p:cNvPr id="23" name="Text 19"/>
          <p:cNvSpPr txBox="1"/>
          <p:nvPr/>
        </p:nvSpPr>
        <p:spPr>
          <a:xfrm>
            <a:off x="4566818" y="3520440"/>
            <a:ext cx="3058058" cy="292608"/>
          </a:xfrm>
          <a:prstGeom prst="rect">
            <a:avLst/>
          </a:prstGeom>
          <a:noFill/>
          <a:ln/>
        </p:spPr>
        <p:txBody>
          <a:bodyPr wrap="square" lIns="0" tIns="0" rIns="0" bIns="0" rtlCol="0" anchor="t"/>
          <a:lstStyle/>
          <a:p>
            <a:pPr marL="0" indent="0">
              <a:buNone/>
            </a:pPr>
            <a:r>
              <a:rPr lang="en-US" sz="1200" b="1" i="1" dirty="0">
                <a:solidFill>
                  <a:schemeClr val="tx2"/>
                </a:solidFill>
              </a:rPr>
              <a:t>Para: </a:t>
            </a:r>
            <a:r>
              <a:rPr lang="en-US" sz="1200" i="1" dirty="0">
                <a:solidFill>
                  <a:schemeClr val="tx2"/>
                </a:solidFill>
              </a:rPr>
              <a:t>Familias y tiendas de alimentación</a:t>
            </a:r>
            <a:endParaRPr lang="en-US" sz="1200" dirty="0"/>
          </a:p>
        </p:txBody>
      </p:sp>
      <p:sp>
        <p:nvSpPr>
          <p:cNvPr id="24" name="Conectores para muebles"/>
          <p:cNvSpPr/>
          <p:nvPr/>
        </p:nvSpPr>
        <p:spPr>
          <a:xfrm>
            <a:off x="8127797" y="2057400"/>
            <a:ext cx="3515258" cy="1828800"/>
          </a:xfrm>
          <a:prstGeom prst="roundRect">
            <a:avLst>
              <a:gd name="adj" fmla="val 7500"/>
            </a:avLst>
          </a:prstGeom>
          <a:solidFill>
            <a:schemeClr val="bg2"/>
          </a:solidFill>
          <a:ln/>
        </p:spPr>
      </p:sp>
      <p:sp>
        <p:nvSpPr>
          <p:cNvPr id="25" name="Conectores para muebles"/>
          <p:cNvSpPr/>
          <p:nvPr/>
        </p:nvSpPr>
        <p:spPr>
          <a:xfrm>
            <a:off x="8356397" y="2258568"/>
            <a:ext cx="640080" cy="640080"/>
          </a:xfrm>
          <a:prstGeom prst="ellipse">
            <a:avLst/>
          </a:prstGeom>
          <a:solidFill>
            <a:schemeClr val="tx2"/>
          </a:solidFill>
          <a:ln/>
        </p:spPr>
      </p:sp>
      <p:pic>
        <p:nvPicPr>
          <p:cNvPr id="26" name="Image 2" descr="Conectores para muebles"/>
          <p:cNvPicPr>
            <a:picLocks noChangeAspect="1"/>
          </p:cNvPicPr>
          <p:nvPr/>
        </p:nvPicPr>
        <p:blipFill>
          <a:blip r:embed="rId5"/>
          <a:stretch>
            <a:fillRect/>
          </a:stretch>
        </p:blipFill>
        <p:spPr>
          <a:xfrm>
            <a:off x="8510016" y="2412187"/>
            <a:ext cx="332842" cy="332842"/>
          </a:xfrm>
          <a:prstGeom prst="rect">
            <a:avLst/>
          </a:prstGeom>
        </p:spPr>
      </p:pic>
      <p:sp>
        <p:nvSpPr>
          <p:cNvPr id="27" name="Text 22"/>
          <p:cNvSpPr txBox="1"/>
          <p:nvPr/>
        </p:nvSpPr>
        <p:spPr>
          <a:xfrm>
            <a:off x="9133637" y="2258568"/>
            <a:ext cx="2326538" cy="640080"/>
          </a:xfrm>
          <a:prstGeom prst="rect">
            <a:avLst/>
          </a:prstGeom>
          <a:noFill/>
          <a:ln/>
        </p:spPr>
        <p:txBody>
          <a:bodyPr wrap="square" lIns="0" tIns="0" rIns="0" bIns="0" rtlCol="0" anchor="ctr"/>
          <a:lstStyle/>
          <a:p>
            <a:pPr marL="0" indent="0">
              <a:buNone/>
            </a:pPr>
            <a:r>
              <a:rPr lang="en-US" sz="1800" b="1" dirty="0">
                <a:solidFill>
                  <a:schemeClr val="tx1"/>
                </a:solidFill>
              </a:rPr>
              <a:t>Conectores para muebles</a:t>
            </a:r>
            <a:endParaRPr lang="en-US" sz="1800" dirty="0"/>
          </a:p>
        </p:txBody>
      </p:sp>
      <p:sp>
        <p:nvSpPr>
          <p:cNvPr id="28" name="Text 23"/>
          <p:cNvSpPr txBox="1"/>
          <p:nvPr/>
        </p:nvSpPr>
        <p:spPr>
          <a:xfrm>
            <a:off x="8356397" y="2971800"/>
            <a:ext cx="3058058" cy="566928"/>
          </a:xfrm>
          <a:prstGeom prst="rect">
            <a:avLst/>
          </a:prstGeom>
          <a:noFill/>
          <a:ln/>
        </p:spPr>
        <p:txBody>
          <a:bodyPr wrap="square" lIns="0" tIns="0" rIns="0" bIns="0" rtlCol="0" anchor="t"/>
          <a:lstStyle/>
          <a:p>
            <a:pPr marL="0" indent="0">
              <a:buNone/>
            </a:pPr>
            <a:r>
              <a:rPr lang="en-US" sz="1400" dirty="0">
                <a:solidFill>
                  <a:schemeClr val="tx1"/>
                </a:solidFill>
              </a:rPr>
              <a:t>Piezas de presión para montar y desmontar estructuras sin tornillos.</a:t>
            </a:r>
            <a:endParaRPr lang="en-US" sz="1400" dirty="0"/>
          </a:p>
        </p:txBody>
      </p:sp>
      <p:sp>
        <p:nvSpPr>
          <p:cNvPr id="29" name="Text 24"/>
          <p:cNvSpPr txBox="1"/>
          <p:nvPr/>
        </p:nvSpPr>
        <p:spPr>
          <a:xfrm>
            <a:off x="8356397" y="3520440"/>
            <a:ext cx="3058058" cy="292608"/>
          </a:xfrm>
          <a:prstGeom prst="rect">
            <a:avLst/>
          </a:prstGeom>
          <a:noFill/>
          <a:ln/>
        </p:spPr>
        <p:txBody>
          <a:bodyPr wrap="square" lIns="0" tIns="0" rIns="0" bIns="0" rtlCol="0" anchor="t"/>
          <a:lstStyle/>
          <a:p>
            <a:pPr marL="0" indent="0">
              <a:buNone/>
            </a:pPr>
            <a:r>
              <a:rPr lang="en-US" sz="1200" b="1" i="1" dirty="0">
                <a:solidFill>
                  <a:schemeClr val="tx2"/>
                </a:solidFill>
              </a:rPr>
              <a:t>Para: </a:t>
            </a:r>
            <a:r>
              <a:rPr lang="en-US" sz="1200" i="1" dirty="0">
                <a:solidFill>
                  <a:schemeClr val="tx2"/>
                </a:solidFill>
              </a:rPr>
              <a:t>Feriantes y pequeños comercios</a:t>
            </a:r>
            <a:endParaRPr lang="en-US" sz="1200" dirty="0"/>
          </a:p>
        </p:txBody>
      </p:sp>
      <p:sp>
        <p:nvSpPr>
          <p:cNvPr id="30" name="Sujetaplantas"/>
          <p:cNvSpPr/>
          <p:nvPr/>
        </p:nvSpPr>
        <p:spPr>
          <a:xfrm>
            <a:off x="548640" y="4069080"/>
            <a:ext cx="3515258" cy="1828800"/>
          </a:xfrm>
          <a:prstGeom prst="roundRect">
            <a:avLst>
              <a:gd name="adj" fmla="val 7500"/>
            </a:avLst>
          </a:prstGeom>
          <a:solidFill>
            <a:schemeClr val="bg2"/>
          </a:solidFill>
          <a:ln/>
        </p:spPr>
      </p:sp>
      <p:sp>
        <p:nvSpPr>
          <p:cNvPr id="31" name="Sujetaplantas"/>
          <p:cNvSpPr/>
          <p:nvPr/>
        </p:nvSpPr>
        <p:spPr>
          <a:xfrm>
            <a:off x="777240" y="4270248"/>
            <a:ext cx="640080" cy="640080"/>
          </a:xfrm>
          <a:prstGeom prst="ellipse">
            <a:avLst/>
          </a:prstGeom>
          <a:solidFill>
            <a:schemeClr val="accent3"/>
          </a:solidFill>
          <a:ln/>
        </p:spPr>
      </p:sp>
      <p:pic>
        <p:nvPicPr>
          <p:cNvPr id="32" name="Image 3" descr="Sujetaplantas"/>
          <p:cNvPicPr>
            <a:picLocks noChangeAspect="1"/>
          </p:cNvPicPr>
          <p:nvPr/>
        </p:nvPicPr>
        <p:blipFill>
          <a:blip r:embed="rId6"/>
          <a:stretch>
            <a:fillRect/>
          </a:stretch>
        </p:blipFill>
        <p:spPr>
          <a:xfrm>
            <a:off x="930859" y="4423867"/>
            <a:ext cx="332842" cy="332842"/>
          </a:xfrm>
          <a:prstGeom prst="rect">
            <a:avLst/>
          </a:prstGeom>
        </p:spPr>
      </p:pic>
      <p:sp>
        <p:nvSpPr>
          <p:cNvPr id="33" name="Text 27"/>
          <p:cNvSpPr txBox="1"/>
          <p:nvPr/>
        </p:nvSpPr>
        <p:spPr>
          <a:xfrm>
            <a:off x="1554480" y="4270248"/>
            <a:ext cx="2326538" cy="640080"/>
          </a:xfrm>
          <a:prstGeom prst="rect">
            <a:avLst/>
          </a:prstGeom>
          <a:noFill/>
          <a:ln/>
        </p:spPr>
        <p:txBody>
          <a:bodyPr wrap="square" lIns="0" tIns="0" rIns="0" bIns="0" rtlCol="0" anchor="ctr"/>
          <a:lstStyle/>
          <a:p>
            <a:pPr marL="0" indent="0">
              <a:buNone/>
            </a:pPr>
            <a:r>
              <a:rPr lang="en-US" sz="1800" b="1" dirty="0">
                <a:solidFill>
                  <a:schemeClr val="tx1"/>
                </a:solidFill>
              </a:rPr>
              <a:t>Sujetaplantas</a:t>
            </a:r>
            <a:endParaRPr lang="en-US" sz="1800" dirty="0"/>
          </a:p>
        </p:txBody>
      </p:sp>
      <p:sp>
        <p:nvSpPr>
          <p:cNvPr id="34" name="Text 28"/>
          <p:cNvSpPr txBox="1"/>
          <p:nvPr/>
        </p:nvSpPr>
        <p:spPr>
          <a:xfrm>
            <a:off x="777240" y="4983480"/>
            <a:ext cx="3058058" cy="566928"/>
          </a:xfrm>
          <a:prstGeom prst="rect">
            <a:avLst/>
          </a:prstGeom>
          <a:noFill/>
          <a:ln/>
        </p:spPr>
        <p:txBody>
          <a:bodyPr wrap="square" lIns="0" tIns="0" rIns="0" bIns="0" rtlCol="0" anchor="t"/>
          <a:lstStyle/>
          <a:p>
            <a:pPr marL="0" indent="0">
              <a:buNone/>
            </a:pPr>
            <a:r>
              <a:rPr lang="en-US" sz="1400" dirty="0">
                <a:solidFill>
                  <a:schemeClr val="tx1"/>
                </a:solidFill>
              </a:rPr>
              <a:t>Abrazadera que guía los tallos sin dañarlos.</a:t>
            </a:r>
            <a:endParaRPr lang="en-US" sz="1400" dirty="0"/>
          </a:p>
        </p:txBody>
      </p:sp>
      <p:sp>
        <p:nvSpPr>
          <p:cNvPr id="35" name="Text 29"/>
          <p:cNvSpPr txBox="1"/>
          <p:nvPr/>
        </p:nvSpPr>
        <p:spPr>
          <a:xfrm>
            <a:off x="777240" y="5532120"/>
            <a:ext cx="3058058" cy="292608"/>
          </a:xfrm>
          <a:prstGeom prst="rect">
            <a:avLst/>
          </a:prstGeom>
          <a:noFill/>
          <a:ln/>
        </p:spPr>
        <p:txBody>
          <a:bodyPr wrap="square" lIns="0" tIns="0" rIns="0" bIns="0" rtlCol="0" anchor="t"/>
          <a:lstStyle/>
          <a:p>
            <a:pPr marL="0" indent="0">
              <a:buNone/>
            </a:pPr>
            <a:r>
              <a:rPr lang="en-US" sz="1200" b="1" i="1" dirty="0">
                <a:solidFill>
                  <a:schemeClr val="tx2"/>
                </a:solidFill>
              </a:rPr>
              <a:t>Para: </a:t>
            </a:r>
            <a:r>
              <a:rPr lang="en-US" sz="1200" i="1" dirty="0">
                <a:solidFill>
                  <a:schemeClr val="tx2"/>
                </a:solidFill>
              </a:rPr>
              <a:t>Jardinería y viveros</a:t>
            </a:r>
            <a:endParaRPr lang="en-US" sz="1200" dirty="0"/>
          </a:p>
        </p:txBody>
      </p:sp>
      <p:sp>
        <p:nvSpPr>
          <p:cNvPr id="36" name="Soporte para el móvil"/>
          <p:cNvSpPr/>
          <p:nvPr/>
        </p:nvSpPr>
        <p:spPr>
          <a:xfrm>
            <a:off x="4338218" y="4069080"/>
            <a:ext cx="3515258" cy="1828800"/>
          </a:xfrm>
          <a:prstGeom prst="roundRect">
            <a:avLst>
              <a:gd name="adj" fmla="val 7500"/>
            </a:avLst>
          </a:prstGeom>
          <a:solidFill>
            <a:schemeClr val="bg2"/>
          </a:solidFill>
          <a:ln/>
        </p:spPr>
      </p:sp>
      <p:sp>
        <p:nvSpPr>
          <p:cNvPr id="37" name="Soporte para el móvil"/>
          <p:cNvSpPr/>
          <p:nvPr/>
        </p:nvSpPr>
        <p:spPr>
          <a:xfrm>
            <a:off x="4566818" y="4270248"/>
            <a:ext cx="640080" cy="640080"/>
          </a:xfrm>
          <a:prstGeom prst="ellipse">
            <a:avLst/>
          </a:prstGeom>
          <a:solidFill>
            <a:schemeClr val="accent4"/>
          </a:solidFill>
          <a:ln/>
        </p:spPr>
      </p:sp>
      <p:pic>
        <p:nvPicPr>
          <p:cNvPr id="38" name="Image 4" descr="Soporte para el móvil"/>
          <p:cNvPicPr>
            <a:picLocks noChangeAspect="1"/>
          </p:cNvPicPr>
          <p:nvPr/>
        </p:nvPicPr>
        <p:blipFill>
          <a:blip r:embed="rId7"/>
          <a:stretch>
            <a:fillRect/>
          </a:stretch>
        </p:blipFill>
        <p:spPr>
          <a:xfrm>
            <a:off x="4720438" y="4423867"/>
            <a:ext cx="332842" cy="332842"/>
          </a:xfrm>
          <a:prstGeom prst="rect">
            <a:avLst/>
          </a:prstGeom>
        </p:spPr>
      </p:pic>
      <p:sp>
        <p:nvSpPr>
          <p:cNvPr id="39" name="Text 32"/>
          <p:cNvSpPr txBox="1"/>
          <p:nvPr/>
        </p:nvSpPr>
        <p:spPr>
          <a:xfrm>
            <a:off x="5344058" y="4270248"/>
            <a:ext cx="2326538" cy="640080"/>
          </a:xfrm>
          <a:prstGeom prst="rect">
            <a:avLst/>
          </a:prstGeom>
          <a:noFill/>
          <a:ln/>
        </p:spPr>
        <p:txBody>
          <a:bodyPr wrap="square" lIns="0" tIns="0" rIns="0" bIns="0" rtlCol="0" anchor="ctr"/>
          <a:lstStyle/>
          <a:p>
            <a:pPr marL="0" indent="0">
              <a:buNone/>
            </a:pPr>
            <a:r>
              <a:rPr lang="en-US" sz="1800" b="1" dirty="0">
                <a:solidFill>
                  <a:schemeClr val="tx1"/>
                </a:solidFill>
              </a:rPr>
              <a:t>Soporte para el móvil</a:t>
            </a:r>
            <a:endParaRPr lang="en-US" sz="1800" dirty="0"/>
          </a:p>
        </p:txBody>
      </p:sp>
      <p:sp>
        <p:nvSpPr>
          <p:cNvPr id="40" name="Text 33"/>
          <p:cNvSpPr txBox="1"/>
          <p:nvPr/>
        </p:nvSpPr>
        <p:spPr>
          <a:xfrm>
            <a:off x="4566818" y="4983480"/>
            <a:ext cx="3058058" cy="566928"/>
          </a:xfrm>
          <a:prstGeom prst="rect">
            <a:avLst/>
          </a:prstGeom>
          <a:noFill/>
          <a:ln/>
        </p:spPr>
        <p:txBody>
          <a:bodyPr wrap="square" lIns="0" tIns="0" rIns="0" bIns="0" rtlCol="0" anchor="t"/>
          <a:lstStyle/>
          <a:p>
            <a:pPr marL="0" indent="0">
              <a:buNone/>
            </a:pPr>
            <a:r>
              <a:rPr lang="en-US" sz="1400" dirty="0">
                <a:solidFill>
                  <a:schemeClr val="tx1"/>
                </a:solidFill>
              </a:rPr>
              <a:t>Alambre flexible recubierto que mantiene el teléfono inclinado.</a:t>
            </a:r>
            <a:endParaRPr lang="en-US" sz="1400" dirty="0"/>
          </a:p>
        </p:txBody>
      </p:sp>
      <p:sp>
        <p:nvSpPr>
          <p:cNvPr id="41" name="Text 34"/>
          <p:cNvSpPr txBox="1"/>
          <p:nvPr/>
        </p:nvSpPr>
        <p:spPr>
          <a:xfrm>
            <a:off x="4566818" y="5532120"/>
            <a:ext cx="3058058" cy="292608"/>
          </a:xfrm>
          <a:prstGeom prst="rect">
            <a:avLst/>
          </a:prstGeom>
          <a:noFill/>
          <a:ln/>
        </p:spPr>
        <p:txBody>
          <a:bodyPr wrap="square" lIns="0" tIns="0" rIns="0" bIns="0" rtlCol="0" anchor="t"/>
          <a:lstStyle/>
          <a:p>
            <a:pPr marL="0" indent="0">
              <a:buNone/>
            </a:pPr>
            <a:r>
              <a:rPr lang="en-US" sz="1200" b="1" i="1" dirty="0">
                <a:solidFill>
                  <a:schemeClr val="tx2"/>
                </a:solidFill>
              </a:rPr>
              <a:t>Para: </a:t>
            </a:r>
            <a:r>
              <a:rPr lang="en-US" sz="1200" i="1" dirty="0">
                <a:solidFill>
                  <a:schemeClr val="tx2"/>
                </a:solidFill>
              </a:rPr>
              <a:t>Estudiantes y profesionales</a:t>
            </a:r>
            <a:endParaRPr lang="en-US" sz="1200" dirty="0"/>
          </a:p>
        </p:txBody>
      </p:sp>
      <p:sp>
        <p:nvSpPr>
          <p:cNvPr id="42" name="Carteles sin agujeros"/>
          <p:cNvSpPr/>
          <p:nvPr/>
        </p:nvSpPr>
        <p:spPr>
          <a:xfrm>
            <a:off x="8127797" y="4069080"/>
            <a:ext cx="3515258" cy="1828800"/>
          </a:xfrm>
          <a:prstGeom prst="roundRect">
            <a:avLst>
              <a:gd name="adj" fmla="val 7500"/>
            </a:avLst>
          </a:prstGeom>
          <a:solidFill>
            <a:schemeClr val="bg2"/>
          </a:solidFill>
          <a:ln/>
        </p:spPr>
      </p:sp>
      <p:sp>
        <p:nvSpPr>
          <p:cNvPr id="43" name="Carteles sin agujeros"/>
          <p:cNvSpPr/>
          <p:nvPr/>
        </p:nvSpPr>
        <p:spPr>
          <a:xfrm>
            <a:off x="8356397" y="4270248"/>
            <a:ext cx="640080" cy="640080"/>
          </a:xfrm>
          <a:prstGeom prst="ellipse">
            <a:avLst/>
          </a:prstGeom>
          <a:solidFill>
            <a:schemeClr val="tx2"/>
          </a:solidFill>
          <a:ln/>
        </p:spPr>
      </p:sp>
      <p:pic>
        <p:nvPicPr>
          <p:cNvPr id="44" name="Image 5" descr="Carteles sin agujeros"/>
          <p:cNvPicPr>
            <a:picLocks noChangeAspect="1"/>
          </p:cNvPicPr>
          <p:nvPr/>
        </p:nvPicPr>
        <p:blipFill>
          <a:blip r:embed="rId8"/>
          <a:stretch>
            <a:fillRect/>
          </a:stretch>
        </p:blipFill>
        <p:spPr>
          <a:xfrm>
            <a:off x="8510016" y="4423867"/>
            <a:ext cx="332842" cy="332842"/>
          </a:xfrm>
          <a:prstGeom prst="rect">
            <a:avLst/>
          </a:prstGeom>
        </p:spPr>
      </p:pic>
      <p:sp>
        <p:nvSpPr>
          <p:cNvPr id="45" name="Text 37"/>
          <p:cNvSpPr txBox="1"/>
          <p:nvPr/>
        </p:nvSpPr>
        <p:spPr>
          <a:xfrm>
            <a:off x="9133637" y="4270248"/>
            <a:ext cx="2326538" cy="640080"/>
          </a:xfrm>
          <a:prstGeom prst="rect">
            <a:avLst/>
          </a:prstGeom>
          <a:noFill/>
          <a:ln/>
        </p:spPr>
        <p:txBody>
          <a:bodyPr wrap="square" lIns="0" tIns="0" rIns="0" bIns="0" rtlCol="0" anchor="ctr"/>
          <a:lstStyle/>
          <a:p>
            <a:pPr marL="0" indent="0">
              <a:buNone/>
            </a:pPr>
            <a:r>
              <a:rPr lang="en-US" sz="1800" b="1" dirty="0">
                <a:solidFill>
                  <a:schemeClr val="tx1"/>
                </a:solidFill>
              </a:rPr>
              <a:t>Carteles sin agujeros</a:t>
            </a:r>
            <a:endParaRPr lang="en-US" sz="1800" dirty="0"/>
          </a:p>
        </p:txBody>
      </p:sp>
      <p:sp>
        <p:nvSpPr>
          <p:cNvPr id="46" name="Text 38"/>
          <p:cNvSpPr txBox="1"/>
          <p:nvPr/>
        </p:nvSpPr>
        <p:spPr>
          <a:xfrm>
            <a:off x="8356397" y="4983480"/>
            <a:ext cx="3058058" cy="566928"/>
          </a:xfrm>
          <a:prstGeom prst="rect">
            <a:avLst/>
          </a:prstGeom>
          <a:noFill/>
          <a:ln/>
        </p:spPr>
        <p:txBody>
          <a:bodyPr wrap="square" lIns="0" tIns="0" rIns="0" bIns="0" rtlCol="0" anchor="t"/>
          <a:lstStyle/>
          <a:p>
            <a:pPr marL="0" indent="0">
              <a:buNone/>
            </a:pPr>
            <a:r>
              <a:rPr lang="en-US" sz="1400" dirty="0">
                <a:solidFill>
                  <a:schemeClr val="tx1"/>
                </a:solidFill>
              </a:rPr>
              <a:t>Pinzas grandes para cambiar carteles sin perforar paredes ni mostradores.</a:t>
            </a:r>
            <a:endParaRPr lang="en-US" sz="1400" dirty="0"/>
          </a:p>
        </p:txBody>
      </p:sp>
      <p:sp>
        <p:nvSpPr>
          <p:cNvPr id="47" name="Text 39"/>
          <p:cNvSpPr txBox="1"/>
          <p:nvPr/>
        </p:nvSpPr>
        <p:spPr>
          <a:xfrm>
            <a:off x="8356397" y="5532120"/>
            <a:ext cx="3058058" cy="292608"/>
          </a:xfrm>
          <a:prstGeom prst="rect">
            <a:avLst/>
          </a:prstGeom>
          <a:noFill/>
          <a:ln/>
        </p:spPr>
        <p:txBody>
          <a:bodyPr wrap="square" lIns="0" tIns="0" rIns="0" bIns="0" rtlCol="0" anchor="t"/>
          <a:lstStyle/>
          <a:p>
            <a:pPr marL="0" indent="0">
              <a:buNone/>
            </a:pPr>
            <a:r>
              <a:rPr lang="en-US" sz="1200" b="1" i="1" dirty="0">
                <a:solidFill>
                  <a:schemeClr val="tx2"/>
                </a:solidFill>
              </a:rPr>
              <a:t>Para: </a:t>
            </a:r>
            <a:r>
              <a:rPr lang="en-US" sz="1200" i="1" dirty="0">
                <a:solidFill>
                  <a:schemeClr val="tx2"/>
                </a:solidFill>
              </a:rPr>
              <a:t>Comercios y ferias</a:t>
            </a:r>
            <a:endParaRPr lang="en-US" sz="1200" dirty="0"/>
          </a:p>
        </p:txBody>
      </p:sp>
      <p:sp>
        <p:nvSpPr>
          <p:cNvPr id="48" name="Text 40"/>
          <p:cNvSpPr txBox="1"/>
          <p:nvPr/>
        </p:nvSpPr>
        <p:spPr>
          <a:xfrm>
            <a:off x="548640" y="5943600"/>
            <a:ext cx="11094415" cy="347472"/>
          </a:xfrm>
          <a:prstGeom prst="rect">
            <a:avLst/>
          </a:prstGeom>
          <a:noFill/>
          <a:ln/>
        </p:spPr>
        <p:txBody>
          <a:bodyPr wrap="square" lIns="0" tIns="0" rIns="0" bIns="0" rtlCol="0" anchor="ctr"/>
          <a:lstStyle/>
          <a:p>
            <a:pPr marL="0" indent="0">
              <a:buNone/>
            </a:pPr>
            <a:r>
              <a:rPr lang="en-US" sz="1600" b="1" dirty="0">
                <a:solidFill>
                  <a:schemeClr val="accent3"/>
                </a:solidFill>
              </a:rPr>
              <a:t>Casi todos tienen ya productos parecidos a la venta: el concepto de clip sí se vende.</a:t>
            </a:r>
            <a:endParaRPr lang="en-US" sz="1600" dirty="0"/>
          </a:p>
        </p:txBody>
      </p:sp>
      <p:sp>
        <p:nvSpPr>
          <p:cNvPr id="49"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Y ahora, elegimos uno</a:t>
            </a:r>
            <a:endParaRPr lang="en-US" sz="3200" dirty="0"/>
          </a:p>
        </p:txBody>
      </p:sp>
      <p:sp>
        <p:nvSpPr>
          <p:cNvPr id="3" name="Etiqueta de tiempo"/>
          <p:cNvSpPr/>
          <p:nvPr/>
        </p:nvSpPr>
        <p:spPr>
          <a:xfrm>
            <a:off x="8451799" y="548640"/>
            <a:ext cx="3191256" cy="457200"/>
          </a:xfrm>
          <a:prstGeom prst="roundRect">
            <a:avLst>
              <a:gd name="adj" fmla="val 50000"/>
            </a:avLst>
          </a:prstGeom>
          <a:solidFill>
            <a:schemeClr val="accent1"/>
          </a:solidFill>
          <a:ln/>
        </p:spPr>
      </p:sp>
      <p:sp>
        <p:nvSpPr>
          <p:cNvPr id="4" name="Text 2"/>
          <p:cNvSpPr txBox="1"/>
          <p:nvPr/>
        </p:nvSpPr>
        <p:spPr>
          <a:xfrm>
            <a:off x="8451799" y="548640"/>
            <a:ext cx="3191256" cy="457200"/>
          </a:xfrm>
          <a:prstGeom prst="rect">
            <a:avLst/>
          </a:prstGeom>
          <a:noFill/>
          <a:ln/>
        </p:spPr>
        <p:txBody>
          <a:bodyPr wrap="square" lIns="0" tIns="0" rIns="0" bIns="0" rtlCol="0" anchor="ctr"/>
          <a:lstStyle/>
          <a:p>
            <a:pPr marL="0" indent="0" algn="ctr">
              <a:buNone/>
            </a:pPr>
            <a:r>
              <a:rPr lang="en-US" sz="1400" b="1" dirty="0">
                <a:solidFill>
                  <a:schemeClr val="tx1"/>
                </a:solidFill>
              </a:rPr>
              <a:t>Min. 12–14 · Todo el grupo</a:t>
            </a:r>
            <a:endParaRPr lang="en-US" sz="1400" dirty="0"/>
          </a:p>
        </p:txBody>
      </p:sp>
      <p:sp>
        <p:nvSpPr>
          <p:cNvPr id="5" name="Tarjeta"/>
          <p:cNvSpPr/>
          <p:nvPr/>
        </p:nvSpPr>
        <p:spPr>
          <a:xfrm>
            <a:off x="548640" y="1645920"/>
            <a:ext cx="11094415" cy="2743200"/>
          </a:xfrm>
          <a:prstGeom prst="roundRect">
            <a:avLst>
              <a:gd name="adj" fmla="val 5000"/>
            </a:avLst>
          </a:prstGeom>
          <a:solidFill>
            <a:schemeClr val="bg2"/>
          </a:solidFill>
          <a:ln/>
        </p:spPr>
      </p:sp>
      <p:sp>
        <p:nvSpPr>
          <p:cNvPr id="6" name="Producto"/>
          <p:cNvSpPr/>
          <p:nvPr/>
        </p:nvSpPr>
        <p:spPr>
          <a:xfrm>
            <a:off x="1005840" y="2331720"/>
            <a:ext cx="1371600" cy="1371600"/>
          </a:xfrm>
          <a:prstGeom prst="ellipse">
            <a:avLst/>
          </a:prstGeom>
          <a:solidFill>
            <a:schemeClr val="accent1"/>
          </a:solidFill>
          <a:ln/>
        </p:spPr>
      </p:sp>
      <p:pic>
        <p:nvPicPr>
          <p:cNvPr id="7" name="Image 0" descr="Producto"/>
          <p:cNvPicPr>
            <a:picLocks noChangeAspect="1"/>
          </p:cNvPicPr>
          <p:nvPr/>
        </p:nvPicPr>
        <p:blipFill>
          <a:blip r:embed="rId3"/>
          <a:stretch>
            <a:fillRect/>
          </a:stretch>
        </p:blipFill>
        <p:spPr>
          <a:xfrm>
            <a:off x="1335024" y="2660904"/>
            <a:ext cx="713232" cy="713232"/>
          </a:xfrm>
          <a:prstGeom prst="rect">
            <a:avLst/>
          </a:prstGeom>
        </p:spPr>
      </p:pic>
      <p:sp>
        <p:nvSpPr>
          <p:cNvPr id="8" name="Text 5"/>
          <p:cNvSpPr txBox="1"/>
          <p:nvPr/>
        </p:nvSpPr>
        <p:spPr>
          <a:xfrm>
            <a:off x="2743200" y="1645920"/>
            <a:ext cx="8534095" cy="2743200"/>
          </a:xfrm>
          <a:prstGeom prst="rect">
            <a:avLst/>
          </a:prstGeom>
          <a:noFill/>
          <a:ln/>
        </p:spPr>
        <p:txBody>
          <a:bodyPr wrap="square" lIns="0" tIns="0" rIns="0" bIns="0" rtlCol="0" anchor="ctr"/>
          <a:lstStyle/>
          <a:p>
            <a:pPr marL="0" indent="0">
              <a:buNone/>
            </a:pPr>
            <a:r>
              <a:rPr lang="en-US" sz="3200" dirty="0">
                <a:solidFill>
                  <a:schemeClr val="tx1"/>
                </a:solidFill>
              </a:rPr>
              <a:t>De todos esos usos, ¿cuál podría convertirse en un producto que alguien compraría?</a:t>
            </a:r>
            <a:endParaRPr lang="en-US" sz="3200" dirty="0"/>
          </a:p>
        </p:txBody>
      </p:sp>
      <p:sp>
        <p:nvSpPr>
          <p:cNvPr id="9" name="Votación"/>
          <p:cNvSpPr/>
          <p:nvPr/>
        </p:nvSpPr>
        <p:spPr>
          <a:xfrm>
            <a:off x="548640" y="4800600"/>
            <a:ext cx="548640" cy="548640"/>
          </a:xfrm>
          <a:prstGeom prst="ellipse">
            <a:avLst/>
          </a:prstGeom>
          <a:solidFill>
            <a:schemeClr val="tx2"/>
          </a:solidFill>
          <a:ln/>
        </p:spPr>
      </p:sp>
      <p:pic>
        <p:nvPicPr>
          <p:cNvPr id="10" name="Image 1" descr="Votación"/>
          <p:cNvPicPr>
            <a:picLocks noChangeAspect="1"/>
          </p:cNvPicPr>
          <p:nvPr/>
        </p:nvPicPr>
        <p:blipFill>
          <a:blip r:embed="rId4"/>
          <a:stretch>
            <a:fillRect/>
          </a:stretch>
        </p:blipFill>
        <p:spPr>
          <a:xfrm>
            <a:off x="680314" y="4932274"/>
            <a:ext cx="285293" cy="285293"/>
          </a:xfrm>
          <a:prstGeom prst="rect">
            <a:avLst/>
          </a:prstGeom>
        </p:spPr>
      </p:pic>
      <p:sp>
        <p:nvSpPr>
          <p:cNvPr id="11" name="Text 7"/>
          <p:cNvSpPr txBox="1"/>
          <p:nvPr/>
        </p:nvSpPr>
        <p:spPr>
          <a:xfrm>
            <a:off x="1280160" y="4800600"/>
            <a:ext cx="7315200" cy="548640"/>
          </a:xfrm>
          <a:prstGeom prst="rect">
            <a:avLst/>
          </a:prstGeom>
          <a:noFill/>
          <a:ln/>
        </p:spPr>
        <p:txBody>
          <a:bodyPr wrap="square" lIns="0" tIns="0" rIns="0" bIns="0" rtlCol="0" anchor="ctr"/>
          <a:lstStyle/>
          <a:p>
            <a:pPr marL="0" indent="0">
              <a:buNone/>
            </a:pPr>
            <a:r>
              <a:rPr lang="en-US" sz="1800" dirty="0">
                <a:solidFill>
                  <a:schemeClr val="tx1"/>
                </a:solidFill>
              </a:rPr>
              <a:t>Votación a mano alzada</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Primero abrir, después cerrar</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14–15</a:t>
            </a:r>
            <a:endParaRPr lang="en-US" sz="1400" dirty="0"/>
          </a:p>
        </p:txBody>
      </p:sp>
      <p:sp>
        <p:nvSpPr>
          <p:cNvPr id="5" name="Shape 3"/>
          <p:cNvSpPr/>
          <p:nvPr/>
        </p:nvSpPr>
        <p:spPr>
          <a:xfrm flipV="1">
            <a:off x="1005840" y="1691640"/>
            <a:ext cx="3108960" cy="1280160"/>
          </a:xfrm>
          <a:prstGeom prst="line">
            <a:avLst/>
          </a:prstGeom>
          <a:noFill/>
          <a:ln w="19050">
            <a:solidFill>
              <a:srgbClr val="8A94A6"/>
            </a:solidFill>
            <a:prstDash val="solid"/>
          </a:ln>
        </p:spPr>
      </p:sp>
      <p:sp>
        <p:nvSpPr>
          <p:cNvPr id="6" name="Shape 4"/>
          <p:cNvSpPr/>
          <p:nvPr/>
        </p:nvSpPr>
        <p:spPr>
          <a:xfrm>
            <a:off x="4114800" y="1691640"/>
            <a:ext cx="3017520" cy="1280160"/>
          </a:xfrm>
          <a:prstGeom prst="line">
            <a:avLst/>
          </a:prstGeom>
          <a:noFill/>
          <a:ln w="19050">
            <a:solidFill>
              <a:srgbClr val="8A94A6"/>
            </a:solidFill>
            <a:prstDash val="solid"/>
          </a:ln>
        </p:spPr>
      </p:sp>
      <p:sp>
        <p:nvSpPr>
          <p:cNvPr id="7" name="Shape 5"/>
          <p:cNvSpPr/>
          <p:nvPr/>
        </p:nvSpPr>
        <p:spPr>
          <a:xfrm flipV="1">
            <a:off x="1005840" y="2121408"/>
            <a:ext cx="3108960" cy="850392"/>
          </a:xfrm>
          <a:prstGeom prst="line">
            <a:avLst/>
          </a:prstGeom>
          <a:noFill/>
          <a:ln w="19050">
            <a:solidFill>
              <a:srgbClr val="8A94A6"/>
            </a:solidFill>
            <a:prstDash val="solid"/>
          </a:ln>
        </p:spPr>
      </p:sp>
      <p:sp>
        <p:nvSpPr>
          <p:cNvPr id="8" name="Shape 6"/>
          <p:cNvSpPr/>
          <p:nvPr/>
        </p:nvSpPr>
        <p:spPr>
          <a:xfrm>
            <a:off x="4114800" y="2121408"/>
            <a:ext cx="3017520" cy="850392"/>
          </a:xfrm>
          <a:prstGeom prst="line">
            <a:avLst/>
          </a:prstGeom>
          <a:noFill/>
          <a:ln w="19050">
            <a:solidFill>
              <a:srgbClr val="8A94A6"/>
            </a:solidFill>
            <a:prstDash val="solid"/>
          </a:ln>
        </p:spPr>
      </p:sp>
      <p:sp>
        <p:nvSpPr>
          <p:cNvPr id="9" name="Shape 7"/>
          <p:cNvSpPr/>
          <p:nvPr/>
        </p:nvSpPr>
        <p:spPr>
          <a:xfrm flipV="1">
            <a:off x="1005840" y="2551176"/>
            <a:ext cx="3108960" cy="420624"/>
          </a:xfrm>
          <a:prstGeom prst="line">
            <a:avLst/>
          </a:prstGeom>
          <a:noFill/>
          <a:ln w="19050">
            <a:solidFill>
              <a:srgbClr val="8A94A6"/>
            </a:solidFill>
            <a:prstDash val="solid"/>
          </a:ln>
        </p:spPr>
      </p:sp>
      <p:sp>
        <p:nvSpPr>
          <p:cNvPr id="10" name="Shape 8"/>
          <p:cNvSpPr/>
          <p:nvPr/>
        </p:nvSpPr>
        <p:spPr>
          <a:xfrm>
            <a:off x="4114800" y="2551176"/>
            <a:ext cx="3017520" cy="420624"/>
          </a:xfrm>
          <a:prstGeom prst="line">
            <a:avLst/>
          </a:prstGeom>
          <a:noFill/>
          <a:ln w="19050">
            <a:solidFill>
              <a:srgbClr val="8A94A6"/>
            </a:solidFill>
            <a:prstDash val="solid"/>
          </a:ln>
        </p:spPr>
      </p:sp>
      <p:sp>
        <p:nvSpPr>
          <p:cNvPr id="11" name="Shape 9"/>
          <p:cNvSpPr/>
          <p:nvPr/>
        </p:nvSpPr>
        <p:spPr>
          <a:xfrm>
            <a:off x="1005840" y="2971800"/>
            <a:ext cx="3108960" cy="0"/>
          </a:xfrm>
          <a:prstGeom prst="line">
            <a:avLst/>
          </a:prstGeom>
          <a:noFill/>
          <a:ln w="19050">
            <a:solidFill>
              <a:srgbClr val="8A94A6"/>
            </a:solidFill>
            <a:prstDash val="solid"/>
          </a:ln>
        </p:spPr>
      </p:sp>
      <p:sp>
        <p:nvSpPr>
          <p:cNvPr id="12" name="Shape 10"/>
          <p:cNvSpPr/>
          <p:nvPr/>
        </p:nvSpPr>
        <p:spPr>
          <a:xfrm>
            <a:off x="4114800" y="2971800"/>
            <a:ext cx="3017520" cy="0"/>
          </a:xfrm>
          <a:prstGeom prst="line">
            <a:avLst/>
          </a:prstGeom>
          <a:noFill/>
          <a:ln w="19050">
            <a:solidFill>
              <a:srgbClr val="8A94A6"/>
            </a:solidFill>
            <a:prstDash val="solid"/>
          </a:ln>
        </p:spPr>
      </p:sp>
      <p:sp>
        <p:nvSpPr>
          <p:cNvPr id="13" name="Shape 11"/>
          <p:cNvSpPr/>
          <p:nvPr/>
        </p:nvSpPr>
        <p:spPr>
          <a:xfrm>
            <a:off x="1005840" y="2971800"/>
            <a:ext cx="3108960" cy="420624"/>
          </a:xfrm>
          <a:prstGeom prst="line">
            <a:avLst/>
          </a:prstGeom>
          <a:noFill/>
          <a:ln w="19050">
            <a:solidFill>
              <a:srgbClr val="8A94A6"/>
            </a:solidFill>
            <a:prstDash val="solid"/>
          </a:ln>
        </p:spPr>
      </p:sp>
      <p:sp>
        <p:nvSpPr>
          <p:cNvPr id="14" name="Shape 12"/>
          <p:cNvSpPr/>
          <p:nvPr/>
        </p:nvSpPr>
        <p:spPr>
          <a:xfrm flipV="1">
            <a:off x="4114800" y="2971800"/>
            <a:ext cx="3017520" cy="420624"/>
          </a:xfrm>
          <a:prstGeom prst="line">
            <a:avLst/>
          </a:prstGeom>
          <a:noFill/>
          <a:ln w="19050">
            <a:solidFill>
              <a:srgbClr val="8A94A6"/>
            </a:solidFill>
            <a:prstDash val="solid"/>
          </a:ln>
        </p:spPr>
      </p:sp>
      <p:sp>
        <p:nvSpPr>
          <p:cNvPr id="15" name="Shape 13"/>
          <p:cNvSpPr/>
          <p:nvPr/>
        </p:nvSpPr>
        <p:spPr>
          <a:xfrm>
            <a:off x="1005840" y="2971800"/>
            <a:ext cx="3108960" cy="850392"/>
          </a:xfrm>
          <a:prstGeom prst="line">
            <a:avLst/>
          </a:prstGeom>
          <a:noFill/>
          <a:ln w="19050">
            <a:solidFill>
              <a:srgbClr val="8A94A6"/>
            </a:solidFill>
            <a:prstDash val="solid"/>
          </a:ln>
        </p:spPr>
      </p:sp>
      <p:sp>
        <p:nvSpPr>
          <p:cNvPr id="16" name="Shape 14"/>
          <p:cNvSpPr/>
          <p:nvPr/>
        </p:nvSpPr>
        <p:spPr>
          <a:xfrm flipV="1">
            <a:off x="4114800" y="2971800"/>
            <a:ext cx="3017520" cy="850392"/>
          </a:xfrm>
          <a:prstGeom prst="line">
            <a:avLst/>
          </a:prstGeom>
          <a:noFill/>
          <a:ln w="19050">
            <a:solidFill>
              <a:srgbClr val="8A94A6"/>
            </a:solidFill>
            <a:prstDash val="solid"/>
          </a:ln>
        </p:spPr>
      </p:sp>
      <p:sp>
        <p:nvSpPr>
          <p:cNvPr id="17" name="Shape 15"/>
          <p:cNvSpPr/>
          <p:nvPr/>
        </p:nvSpPr>
        <p:spPr>
          <a:xfrm>
            <a:off x="1005840" y="2971800"/>
            <a:ext cx="3108960" cy="1280160"/>
          </a:xfrm>
          <a:prstGeom prst="line">
            <a:avLst/>
          </a:prstGeom>
          <a:noFill/>
          <a:ln w="19050">
            <a:solidFill>
              <a:srgbClr val="8A94A6"/>
            </a:solidFill>
            <a:prstDash val="solid"/>
          </a:ln>
        </p:spPr>
      </p:sp>
      <p:sp>
        <p:nvSpPr>
          <p:cNvPr id="18" name="Shape 16"/>
          <p:cNvSpPr/>
          <p:nvPr/>
        </p:nvSpPr>
        <p:spPr>
          <a:xfrm flipV="1">
            <a:off x="4114800" y="2971800"/>
            <a:ext cx="3017520" cy="1280160"/>
          </a:xfrm>
          <a:prstGeom prst="line">
            <a:avLst/>
          </a:prstGeom>
          <a:noFill/>
          <a:ln w="19050">
            <a:solidFill>
              <a:srgbClr val="8A94A6"/>
            </a:solidFill>
            <a:prstDash val="solid"/>
          </a:ln>
        </p:spPr>
      </p:sp>
      <p:sp>
        <p:nvSpPr>
          <p:cNvPr id="19" name="Idea"/>
          <p:cNvSpPr/>
          <p:nvPr/>
        </p:nvSpPr>
        <p:spPr>
          <a:xfrm>
            <a:off x="3968496" y="1545336"/>
            <a:ext cx="292608" cy="292608"/>
          </a:xfrm>
          <a:prstGeom prst="ellipse">
            <a:avLst/>
          </a:prstGeom>
          <a:solidFill>
            <a:schemeClr val="accent1"/>
          </a:solidFill>
          <a:ln/>
        </p:spPr>
      </p:sp>
      <p:sp>
        <p:nvSpPr>
          <p:cNvPr id="20" name="Idea"/>
          <p:cNvSpPr/>
          <p:nvPr/>
        </p:nvSpPr>
        <p:spPr>
          <a:xfrm>
            <a:off x="3968496" y="1975104"/>
            <a:ext cx="292608" cy="292608"/>
          </a:xfrm>
          <a:prstGeom prst="ellipse">
            <a:avLst/>
          </a:prstGeom>
          <a:solidFill>
            <a:schemeClr val="accent1"/>
          </a:solidFill>
          <a:ln/>
        </p:spPr>
      </p:sp>
      <p:sp>
        <p:nvSpPr>
          <p:cNvPr id="21" name="Idea"/>
          <p:cNvSpPr/>
          <p:nvPr/>
        </p:nvSpPr>
        <p:spPr>
          <a:xfrm>
            <a:off x="3968496" y="2404872"/>
            <a:ext cx="292608" cy="292608"/>
          </a:xfrm>
          <a:prstGeom prst="ellipse">
            <a:avLst/>
          </a:prstGeom>
          <a:solidFill>
            <a:schemeClr val="accent1"/>
          </a:solidFill>
          <a:ln/>
        </p:spPr>
      </p:sp>
      <p:sp>
        <p:nvSpPr>
          <p:cNvPr id="22" name="Idea"/>
          <p:cNvSpPr/>
          <p:nvPr/>
        </p:nvSpPr>
        <p:spPr>
          <a:xfrm>
            <a:off x="3968496" y="2825496"/>
            <a:ext cx="292608" cy="292608"/>
          </a:xfrm>
          <a:prstGeom prst="ellipse">
            <a:avLst/>
          </a:prstGeom>
          <a:solidFill>
            <a:schemeClr val="accent1"/>
          </a:solidFill>
          <a:ln/>
        </p:spPr>
      </p:sp>
      <p:sp>
        <p:nvSpPr>
          <p:cNvPr id="23" name="Idea"/>
          <p:cNvSpPr/>
          <p:nvPr/>
        </p:nvSpPr>
        <p:spPr>
          <a:xfrm>
            <a:off x="3968496" y="3246120"/>
            <a:ext cx="292608" cy="292608"/>
          </a:xfrm>
          <a:prstGeom prst="ellipse">
            <a:avLst/>
          </a:prstGeom>
          <a:solidFill>
            <a:schemeClr val="accent1"/>
          </a:solidFill>
          <a:ln/>
        </p:spPr>
      </p:sp>
      <p:sp>
        <p:nvSpPr>
          <p:cNvPr id="24" name="Idea"/>
          <p:cNvSpPr/>
          <p:nvPr/>
        </p:nvSpPr>
        <p:spPr>
          <a:xfrm>
            <a:off x="3968496" y="3675888"/>
            <a:ext cx="292608" cy="292608"/>
          </a:xfrm>
          <a:prstGeom prst="ellipse">
            <a:avLst/>
          </a:prstGeom>
          <a:solidFill>
            <a:schemeClr val="accent1"/>
          </a:solidFill>
          <a:ln/>
        </p:spPr>
      </p:sp>
      <p:sp>
        <p:nvSpPr>
          <p:cNvPr id="25" name="Idea"/>
          <p:cNvSpPr/>
          <p:nvPr/>
        </p:nvSpPr>
        <p:spPr>
          <a:xfrm>
            <a:off x="3968496" y="4105656"/>
            <a:ext cx="292608" cy="292608"/>
          </a:xfrm>
          <a:prstGeom prst="ellipse">
            <a:avLst/>
          </a:prstGeom>
          <a:solidFill>
            <a:schemeClr val="accent1"/>
          </a:solidFill>
          <a:ln/>
        </p:spPr>
      </p:sp>
      <p:sp>
        <p:nvSpPr>
          <p:cNvPr id="26" name="Reto"/>
          <p:cNvSpPr/>
          <p:nvPr/>
        </p:nvSpPr>
        <p:spPr>
          <a:xfrm>
            <a:off x="777240" y="2743200"/>
            <a:ext cx="457200" cy="457200"/>
          </a:xfrm>
          <a:prstGeom prst="ellipse">
            <a:avLst/>
          </a:prstGeom>
          <a:solidFill>
            <a:schemeClr val="tx1"/>
          </a:solidFill>
          <a:ln/>
        </p:spPr>
      </p:sp>
      <p:sp>
        <p:nvSpPr>
          <p:cNvPr id="27" name="Idea elegida"/>
          <p:cNvSpPr/>
          <p:nvPr/>
        </p:nvSpPr>
        <p:spPr>
          <a:xfrm>
            <a:off x="6720840" y="2560320"/>
            <a:ext cx="822960" cy="822960"/>
          </a:xfrm>
          <a:prstGeom prst="ellipse">
            <a:avLst/>
          </a:prstGeom>
          <a:solidFill>
            <a:schemeClr val="accent3"/>
          </a:solidFill>
          <a:ln/>
        </p:spPr>
      </p:sp>
      <p:pic>
        <p:nvPicPr>
          <p:cNvPr id="28" name="Image 0" descr="Idea elegida"/>
          <p:cNvPicPr>
            <a:picLocks noChangeAspect="1"/>
          </p:cNvPicPr>
          <p:nvPr/>
        </p:nvPicPr>
        <p:blipFill>
          <a:blip r:embed="rId3"/>
          <a:stretch>
            <a:fillRect/>
          </a:stretch>
        </p:blipFill>
        <p:spPr>
          <a:xfrm>
            <a:off x="6918350" y="2757830"/>
            <a:ext cx="427939" cy="427939"/>
          </a:xfrm>
          <a:prstGeom prst="rect">
            <a:avLst/>
          </a:prstGeom>
        </p:spPr>
      </p:pic>
      <p:sp>
        <p:nvSpPr>
          <p:cNvPr id="29" name="Text 26"/>
          <p:cNvSpPr txBox="1"/>
          <p:nvPr/>
        </p:nvSpPr>
        <p:spPr>
          <a:xfrm>
            <a:off x="457200" y="3291840"/>
            <a:ext cx="1097280" cy="365760"/>
          </a:xfrm>
          <a:prstGeom prst="rect">
            <a:avLst/>
          </a:prstGeom>
          <a:noFill/>
          <a:ln/>
        </p:spPr>
        <p:txBody>
          <a:bodyPr wrap="square" lIns="0" tIns="0" rIns="0" bIns="0" rtlCol="0" anchor="ctr"/>
          <a:lstStyle/>
          <a:p>
            <a:pPr marL="0" indent="0" algn="ctr">
              <a:buNone/>
            </a:pPr>
            <a:r>
              <a:rPr lang="en-US" sz="1500" b="1" dirty="0">
                <a:solidFill>
                  <a:schemeClr val="tx1"/>
                </a:solidFill>
              </a:rPr>
              <a:t>Reto</a:t>
            </a:r>
            <a:endParaRPr lang="en-US" sz="1500" dirty="0"/>
          </a:p>
        </p:txBody>
      </p:sp>
      <p:sp>
        <p:nvSpPr>
          <p:cNvPr id="30" name="Text 27"/>
          <p:cNvSpPr txBox="1"/>
          <p:nvPr/>
        </p:nvSpPr>
        <p:spPr>
          <a:xfrm>
            <a:off x="548640" y="4617720"/>
            <a:ext cx="3383280" cy="1097280"/>
          </a:xfrm>
          <a:prstGeom prst="rect">
            <a:avLst/>
          </a:prstGeom>
          <a:noFill/>
          <a:ln/>
        </p:spPr>
        <p:txBody>
          <a:bodyPr wrap="square" lIns="0" tIns="0" rIns="0" bIns="0" rtlCol="0" anchor="t"/>
          <a:lstStyle/>
          <a:p>
            <a:pPr marL="0" indent="0">
              <a:buNone/>
            </a:pPr>
            <a:r>
              <a:rPr lang="en-US" sz="2100" b="1" dirty="0">
                <a:solidFill>
                  <a:schemeClr val="tx1"/>
                </a:solidFill>
              </a:rPr>
              <a:t>Divergente</a:t>
            </a:r>
            <a:endParaRPr lang="en-US" sz="1600" dirty="0"/>
          </a:p>
          <a:p>
            <a:pPr marL="0" indent="0">
              <a:buNone/>
            </a:pPr>
            <a:r>
              <a:rPr lang="en-US" sz="1600" dirty="0">
                <a:solidFill>
                  <a:schemeClr val="tx1"/>
                </a:solidFill>
              </a:rPr>
              <a:t>Proponer tantas soluciones distintas como sea posible, sin juzgar.</a:t>
            </a:r>
            <a:endParaRPr lang="en-US" sz="1600" dirty="0"/>
          </a:p>
        </p:txBody>
      </p:sp>
      <p:sp>
        <p:nvSpPr>
          <p:cNvPr id="31" name="Text 28"/>
          <p:cNvSpPr txBox="1"/>
          <p:nvPr/>
        </p:nvSpPr>
        <p:spPr>
          <a:xfrm>
            <a:off x="4206240" y="4617720"/>
            <a:ext cx="3383280" cy="1097280"/>
          </a:xfrm>
          <a:prstGeom prst="rect">
            <a:avLst/>
          </a:prstGeom>
          <a:noFill/>
          <a:ln/>
        </p:spPr>
        <p:txBody>
          <a:bodyPr wrap="square" lIns="0" tIns="0" rIns="0" bIns="0" rtlCol="0" anchor="t"/>
          <a:lstStyle/>
          <a:p>
            <a:pPr marL="0" indent="0">
              <a:buNone/>
            </a:pPr>
            <a:r>
              <a:rPr lang="en-US" sz="2100" b="1" dirty="0">
                <a:solidFill>
                  <a:schemeClr val="tx1"/>
                </a:solidFill>
              </a:rPr>
              <a:t>Convergente</a:t>
            </a:r>
            <a:endParaRPr lang="en-US" sz="1600" dirty="0"/>
          </a:p>
          <a:p>
            <a:pPr marL="0" indent="0">
              <a:buNone/>
            </a:pPr>
            <a:r>
              <a:rPr lang="en-US" sz="1600" dirty="0">
                <a:solidFill>
                  <a:schemeClr val="tx1"/>
                </a:solidFill>
              </a:rPr>
              <a:t>Comparar coste, viabilidad e impacto para elegir qué probar.</a:t>
            </a:r>
            <a:endParaRPr lang="en-US" sz="1600" dirty="0"/>
          </a:p>
        </p:txBody>
      </p:sp>
      <p:sp>
        <p:nvSpPr>
          <p:cNvPr id="32" name="Tarjeta"/>
          <p:cNvSpPr/>
          <p:nvPr/>
        </p:nvSpPr>
        <p:spPr>
          <a:xfrm>
            <a:off x="8092440" y="1463040"/>
            <a:ext cx="3550615" cy="4251960"/>
          </a:xfrm>
          <a:prstGeom prst="roundRect">
            <a:avLst>
              <a:gd name="adj" fmla="val 3863"/>
            </a:avLst>
          </a:prstGeom>
          <a:solidFill>
            <a:schemeClr val="bg2"/>
          </a:solidFill>
          <a:ln/>
        </p:spPr>
      </p:sp>
      <p:sp>
        <p:nvSpPr>
          <p:cNvPr id="33" name="Text 30"/>
          <p:cNvSpPr txBox="1"/>
          <p:nvPr/>
        </p:nvSpPr>
        <p:spPr>
          <a:xfrm>
            <a:off x="8366760" y="1691640"/>
            <a:ext cx="3001975" cy="3840480"/>
          </a:xfrm>
          <a:prstGeom prst="rect">
            <a:avLst/>
          </a:prstGeom>
          <a:noFill/>
          <a:ln/>
        </p:spPr>
        <p:txBody>
          <a:bodyPr wrap="square" lIns="0" tIns="0" rIns="0" bIns="0" rtlCol="0" anchor="t"/>
          <a:lstStyle/>
          <a:p>
            <a:pPr marL="0" indent="0">
              <a:spcAft>
                <a:spcPts val="400"/>
              </a:spcAft>
              <a:buNone/>
            </a:pPr>
            <a:r>
              <a:rPr lang="en-US" sz="2100" b="1" dirty="0">
                <a:solidFill>
                  <a:schemeClr val="tx1"/>
                </a:solidFill>
              </a:rPr>
              <a:t>En este curso</a:t>
            </a:r>
            <a:endParaRPr lang="en-US" sz="1800" dirty="0"/>
          </a:p>
          <a:p>
            <a:pPr marL="0" indent="0">
              <a:spcAft>
                <a:spcPts val="400"/>
              </a:spcAft>
              <a:buNone/>
            </a:pPr>
            <a:r>
              <a:rPr lang="en-US" sz="800" dirty="0">
                <a:solidFill>
                  <a:schemeClr val="tx1"/>
                </a:solidFill>
              </a:rPr>
              <a:t> </a:t>
            </a:r>
            <a:endParaRPr lang="en-US" sz="1800" dirty="0"/>
          </a:p>
          <a:p>
            <a:pPr marL="0" indent="0">
              <a:spcAft>
                <a:spcPts val="400"/>
              </a:spcAft>
              <a:buNone/>
            </a:pPr>
            <a:r>
              <a:rPr lang="en-US" sz="1800" b="1" dirty="0">
                <a:solidFill>
                  <a:schemeClr val="tx2"/>
                </a:solidFill>
              </a:rPr>
              <a:t>Abren el abanico:</a:t>
            </a:r>
            <a:endParaRPr lang="en-US" sz="1800" dirty="0"/>
          </a:p>
          <a:p>
            <a:pPr marL="342900" indent="-342900">
              <a:spcAft>
                <a:spcPts val="400"/>
              </a:spcAft>
              <a:buSzPct val="100000"/>
              <a:buChar char="•"/>
            </a:pPr>
            <a:r>
              <a:rPr lang="en-US" sz="1800" dirty="0">
                <a:solidFill>
                  <a:schemeClr val="tx1"/>
                </a:solidFill>
              </a:rPr>
              <a:t>Brainstorming</a:t>
            </a:r>
            <a:endParaRPr lang="en-US" sz="1800" dirty="0"/>
          </a:p>
          <a:p>
            <a:pPr marL="342900" indent="-342900">
              <a:spcAft>
                <a:spcPts val="400"/>
              </a:spcAft>
              <a:buSzPct val="100000"/>
              <a:buChar char="•"/>
            </a:pPr>
            <a:r>
              <a:rPr lang="en-US" sz="1800" dirty="0">
                <a:solidFill>
                  <a:schemeClr val="tx1"/>
                </a:solidFill>
              </a:rPr>
              <a:t>SCAMPER</a:t>
            </a:r>
            <a:endParaRPr lang="en-US" sz="1800" dirty="0"/>
          </a:p>
          <a:p>
            <a:pPr marL="342900" indent="-342900">
              <a:spcAft>
                <a:spcPts val="400"/>
              </a:spcAft>
              <a:buSzPct val="100000"/>
              <a:buChar char="•"/>
            </a:pPr>
            <a:r>
              <a:rPr lang="en-US" sz="1800" dirty="0">
                <a:solidFill>
                  <a:schemeClr val="tx1"/>
                </a:solidFill>
              </a:rPr>
              <a:t>Provocación</a:t>
            </a:r>
            <a:endParaRPr lang="en-US" sz="1800" dirty="0"/>
          </a:p>
          <a:p>
            <a:pPr marL="0" indent="0">
              <a:spcAft>
                <a:spcPts val="400"/>
              </a:spcAft>
              <a:buNone/>
            </a:pPr>
            <a:r>
              <a:rPr lang="en-US" sz="800" dirty="0">
                <a:solidFill>
                  <a:schemeClr val="tx1"/>
                </a:solidFill>
              </a:rPr>
              <a:t> </a:t>
            </a:r>
            <a:endParaRPr lang="en-US" sz="1800" dirty="0"/>
          </a:p>
          <a:p>
            <a:pPr marL="0" indent="0">
              <a:spcAft>
                <a:spcPts val="400"/>
              </a:spcAft>
              <a:buNone/>
            </a:pPr>
            <a:r>
              <a:rPr lang="en-US" sz="1800" b="1" dirty="0">
                <a:solidFill>
                  <a:schemeClr val="tx2"/>
                </a:solidFill>
              </a:rPr>
              <a:t>Lo cierra:</a:t>
            </a:r>
            <a:endParaRPr lang="en-US" sz="1800" dirty="0"/>
          </a:p>
          <a:p>
            <a:pPr marL="342900" indent="-342900">
              <a:spcAft>
                <a:spcPts val="400"/>
              </a:spcAft>
              <a:buSzPct val="100000"/>
              <a:buChar char="•"/>
            </a:pPr>
            <a:r>
              <a:rPr lang="en-US" sz="1800" dirty="0">
                <a:solidFill>
                  <a:schemeClr val="tx1"/>
                </a:solidFill>
              </a:rPr>
              <a:t>La matriz de decisión (bloque 3)</a:t>
            </a:r>
            <a:endParaRPr lang="en-US" sz="1800" dirty="0"/>
          </a:p>
        </p:txBody>
      </p:sp>
      <p:sp>
        <p:nvSpPr>
          <p:cNvPr id="34" name="Text 31"/>
          <p:cNvSpPr txBox="1"/>
          <p:nvPr/>
        </p:nvSpPr>
        <p:spPr>
          <a:xfrm>
            <a:off x="548640" y="5806440"/>
            <a:ext cx="11094415" cy="457200"/>
          </a:xfrm>
          <a:prstGeom prst="rect">
            <a:avLst/>
          </a:prstGeom>
          <a:noFill/>
          <a:ln/>
        </p:spPr>
        <p:txBody>
          <a:bodyPr wrap="square" lIns="0" tIns="0" rIns="0" bIns="0" rtlCol="0" anchor="ctr"/>
          <a:lstStyle/>
          <a:p>
            <a:pPr marL="0" indent="0">
              <a:buNone/>
            </a:pPr>
            <a:r>
              <a:rPr lang="en-US" sz="1800" b="1" dirty="0">
                <a:solidFill>
                  <a:schemeClr val="accent3"/>
                </a:solidFill>
              </a:rPr>
              <a:t>Si se mezclan los dos pasos, se juzga demasiado pronto y salen pocas ideas.</a:t>
            </a:r>
            <a:endParaRPr lang="en-US" sz="1800" dirty="0"/>
          </a:p>
        </p:txBody>
      </p:sp>
      <p:sp>
        <p:nvSpPr>
          <p:cNvPr id="3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La regla de todo el curso</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15–20</a:t>
            </a:r>
            <a:endParaRPr lang="en-US" sz="1400" dirty="0"/>
          </a:p>
        </p:txBody>
      </p:sp>
      <p:sp>
        <p:nvSpPr>
          <p:cNvPr id="5" name="Tarjeta"/>
          <p:cNvSpPr/>
          <p:nvPr/>
        </p:nvSpPr>
        <p:spPr>
          <a:xfrm>
            <a:off x="548640" y="1554480"/>
            <a:ext cx="5212080" cy="1828800"/>
          </a:xfrm>
          <a:prstGeom prst="roundRect">
            <a:avLst>
              <a:gd name="adj" fmla="val 7500"/>
            </a:avLst>
          </a:prstGeom>
          <a:solidFill>
            <a:schemeClr val="bg2"/>
          </a:solidFill>
          <a:ln/>
        </p:spPr>
      </p:sp>
      <p:sp>
        <p:nvSpPr>
          <p:cNvPr id="6" name="Primero, las personas"/>
          <p:cNvSpPr/>
          <p:nvPr/>
        </p:nvSpPr>
        <p:spPr>
          <a:xfrm>
            <a:off x="868680" y="1828800"/>
            <a:ext cx="1280160" cy="1280160"/>
          </a:xfrm>
          <a:prstGeom prst="ellipse">
            <a:avLst/>
          </a:prstGeom>
          <a:solidFill>
            <a:schemeClr val="accent1"/>
          </a:solidFill>
          <a:ln/>
        </p:spPr>
      </p:sp>
      <p:pic>
        <p:nvPicPr>
          <p:cNvPr id="7" name="Image 0" descr="Primero, las personas"/>
          <p:cNvPicPr>
            <a:picLocks noChangeAspect="1"/>
          </p:cNvPicPr>
          <p:nvPr/>
        </p:nvPicPr>
        <p:blipFill>
          <a:blip r:embed="rId3"/>
          <a:stretch>
            <a:fillRect/>
          </a:stretch>
        </p:blipFill>
        <p:spPr>
          <a:xfrm>
            <a:off x="1175918" y="2136038"/>
            <a:ext cx="665683" cy="665683"/>
          </a:xfrm>
          <a:prstGeom prst="rect">
            <a:avLst/>
          </a:prstGeom>
        </p:spPr>
      </p:pic>
      <p:sp>
        <p:nvSpPr>
          <p:cNvPr id="8" name="Text 5"/>
          <p:cNvSpPr txBox="1"/>
          <p:nvPr/>
        </p:nvSpPr>
        <p:spPr>
          <a:xfrm>
            <a:off x="2377440" y="1554480"/>
            <a:ext cx="3200400" cy="1828800"/>
          </a:xfrm>
          <a:prstGeom prst="rect">
            <a:avLst/>
          </a:prstGeom>
          <a:noFill/>
          <a:ln/>
        </p:spPr>
        <p:txBody>
          <a:bodyPr wrap="square" lIns="0" tIns="0" rIns="0" bIns="0" rtlCol="0" anchor="ctr"/>
          <a:lstStyle/>
          <a:p>
            <a:pPr marL="0" indent="0">
              <a:buNone/>
            </a:pPr>
            <a:r>
              <a:rPr lang="en-US" sz="2800" b="1" dirty="0">
                <a:solidFill>
                  <a:schemeClr val="accent5"/>
                </a:solidFill>
              </a:rPr>
              <a:t>1</a:t>
            </a:r>
            <a:endParaRPr lang="en-US" sz="2800" dirty="0"/>
          </a:p>
          <a:p>
            <a:pPr marL="0" indent="0">
              <a:buNone/>
            </a:pPr>
            <a:r>
              <a:rPr lang="en-US" sz="2800" b="1" dirty="0">
                <a:solidFill>
                  <a:schemeClr val="tx1"/>
                </a:solidFill>
              </a:rPr>
              <a:t>Primero, las personas</a:t>
            </a:r>
            <a:endParaRPr lang="en-US" sz="2800" dirty="0"/>
          </a:p>
        </p:txBody>
      </p:sp>
      <p:sp>
        <p:nvSpPr>
          <p:cNvPr id="9" name="Tarjeta"/>
          <p:cNvSpPr/>
          <p:nvPr/>
        </p:nvSpPr>
        <p:spPr>
          <a:xfrm>
            <a:off x="6400800" y="1554480"/>
            <a:ext cx="5212080" cy="1828800"/>
          </a:xfrm>
          <a:prstGeom prst="roundRect">
            <a:avLst>
              <a:gd name="adj" fmla="val 7500"/>
            </a:avLst>
          </a:prstGeom>
          <a:solidFill>
            <a:schemeClr val="bg2"/>
          </a:solidFill>
          <a:ln/>
        </p:spPr>
      </p:sp>
      <p:sp>
        <p:nvSpPr>
          <p:cNvPr id="10" name="Después, la IA"/>
          <p:cNvSpPr/>
          <p:nvPr/>
        </p:nvSpPr>
        <p:spPr>
          <a:xfrm>
            <a:off x="6720840" y="1828800"/>
            <a:ext cx="1280160" cy="1280160"/>
          </a:xfrm>
          <a:prstGeom prst="ellipse">
            <a:avLst/>
          </a:prstGeom>
          <a:solidFill>
            <a:schemeClr val="accent2"/>
          </a:solidFill>
          <a:ln/>
        </p:spPr>
      </p:sp>
      <p:pic>
        <p:nvPicPr>
          <p:cNvPr id="11" name="Image 1" descr="Después, la IA"/>
          <p:cNvPicPr>
            <a:picLocks noChangeAspect="1"/>
          </p:cNvPicPr>
          <p:nvPr/>
        </p:nvPicPr>
        <p:blipFill>
          <a:blip r:embed="rId4"/>
          <a:stretch>
            <a:fillRect/>
          </a:stretch>
        </p:blipFill>
        <p:spPr>
          <a:xfrm>
            <a:off x="7028078" y="2136038"/>
            <a:ext cx="665683" cy="665683"/>
          </a:xfrm>
          <a:prstGeom prst="rect">
            <a:avLst/>
          </a:prstGeom>
        </p:spPr>
      </p:pic>
      <p:sp>
        <p:nvSpPr>
          <p:cNvPr id="12" name="Text 8"/>
          <p:cNvSpPr txBox="1"/>
          <p:nvPr/>
        </p:nvSpPr>
        <p:spPr>
          <a:xfrm>
            <a:off x="8229600" y="1554480"/>
            <a:ext cx="3200400" cy="1828800"/>
          </a:xfrm>
          <a:prstGeom prst="rect">
            <a:avLst/>
          </a:prstGeom>
          <a:noFill/>
          <a:ln/>
        </p:spPr>
        <p:txBody>
          <a:bodyPr wrap="square" lIns="0" tIns="0" rIns="0" bIns="0" rtlCol="0" anchor="ctr"/>
          <a:lstStyle/>
          <a:p>
            <a:pPr marL="0" indent="0">
              <a:buNone/>
            </a:pPr>
            <a:r>
              <a:rPr lang="en-US" sz="2800" b="1" dirty="0">
                <a:solidFill>
                  <a:schemeClr val="accent5"/>
                </a:solidFill>
              </a:rPr>
              <a:t>2</a:t>
            </a:r>
            <a:endParaRPr lang="en-US" sz="2800" dirty="0"/>
          </a:p>
          <a:p>
            <a:pPr marL="0" indent="0">
              <a:buNone/>
            </a:pPr>
            <a:r>
              <a:rPr lang="en-US" sz="2800" b="1" dirty="0">
                <a:solidFill>
                  <a:schemeClr val="tx1"/>
                </a:solidFill>
              </a:rPr>
              <a:t>Después, la IA</a:t>
            </a:r>
            <a:endParaRPr lang="en-US" sz="2800" dirty="0"/>
          </a:p>
        </p:txBody>
      </p:sp>
      <p:sp>
        <p:nvSpPr>
          <p:cNvPr id="13" name="Shape 9"/>
          <p:cNvSpPr/>
          <p:nvPr/>
        </p:nvSpPr>
        <p:spPr>
          <a:xfrm>
            <a:off x="5852160" y="2468880"/>
            <a:ext cx="457200" cy="0"/>
          </a:xfrm>
          <a:prstGeom prst="line">
            <a:avLst/>
          </a:prstGeom>
          <a:noFill/>
          <a:ln w="38100">
            <a:solidFill>
              <a:srgbClr val="3A4664"/>
            </a:solidFill>
            <a:prstDash val="solid"/>
            <a:tailEnd type="triangle"/>
          </a:ln>
        </p:spPr>
      </p:sp>
      <p:sp>
        <p:nvSpPr>
          <p:cNvPr id="14" name="Razón"/>
          <p:cNvSpPr/>
          <p:nvPr/>
        </p:nvSpPr>
        <p:spPr>
          <a:xfrm>
            <a:off x="548640" y="3931920"/>
            <a:ext cx="685800" cy="685800"/>
          </a:xfrm>
          <a:prstGeom prst="ellipse">
            <a:avLst/>
          </a:prstGeom>
          <a:solidFill>
            <a:schemeClr val="tx2"/>
          </a:solidFill>
          <a:ln/>
        </p:spPr>
      </p:sp>
      <p:pic>
        <p:nvPicPr>
          <p:cNvPr id="15" name="Image 2" descr="Razón"/>
          <p:cNvPicPr>
            <a:picLocks noChangeAspect="1"/>
          </p:cNvPicPr>
          <p:nvPr/>
        </p:nvPicPr>
        <p:blipFill>
          <a:blip r:embed="rId5"/>
          <a:stretch>
            <a:fillRect/>
          </a:stretch>
        </p:blipFill>
        <p:spPr>
          <a:xfrm>
            <a:off x="713232" y="4096512"/>
            <a:ext cx="356616" cy="356616"/>
          </a:xfrm>
          <a:prstGeom prst="rect">
            <a:avLst/>
          </a:prstGeom>
        </p:spPr>
      </p:pic>
      <p:sp>
        <p:nvSpPr>
          <p:cNvPr id="16" name="Text 11"/>
          <p:cNvSpPr txBox="1"/>
          <p:nvPr/>
        </p:nvSpPr>
        <p:spPr>
          <a:xfrm>
            <a:off x="1463040" y="3931920"/>
            <a:ext cx="10058400" cy="685800"/>
          </a:xfrm>
          <a:prstGeom prst="rect">
            <a:avLst/>
          </a:prstGeom>
          <a:noFill/>
          <a:ln/>
        </p:spPr>
        <p:txBody>
          <a:bodyPr wrap="square" lIns="0" tIns="0" rIns="0" bIns="0" rtlCol="0" anchor="ctr"/>
          <a:lstStyle/>
          <a:p>
            <a:pPr marL="0" indent="0">
              <a:buNone/>
            </a:pPr>
            <a:r>
              <a:rPr lang="en-US" sz="2000" dirty="0">
                <a:solidFill>
                  <a:schemeClr val="tx1"/>
                </a:solidFill>
              </a:rPr>
              <a:t>Si la IA va primero, el grupo se «ancla» en sus ideas y deja de pensar por su cuenta.</a:t>
            </a:r>
            <a:endParaRPr lang="en-US" sz="2000" dirty="0"/>
          </a:p>
        </p:txBody>
      </p:sp>
      <p:sp>
        <p:nvSpPr>
          <p:cNvPr id="17" name="Razón"/>
          <p:cNvSpPr/>
          <p:nvPr/>
        </p:nvSpPr>
        <p:spPr>
          <a:xfrm>
            <a:off x="548640" y="4846320"/>
            <a:ext cx="685800" cy="685800"/>
          </a:xfrm>
          <a:prstGeom prst="ellipse">
            <a:avLst/>
          </a:prstGeom>
          <a:solidFill>
            <a:schemeClr val="tx2"/>
          </a:solidFill>
          <a:ln/>
        </p:spPr>
      </p:sp>
      <p:pic>
        <p:nvPicPr>
          <p:cNvPr id="18" name="Image 3" descr="Razón"/>
          <p:cNvPicPr>
            <a:picLocks noChangeAspect="1"/>
          </p:cNvPicPr>
          <p:nvPr/>
        </p:nvPicPr>
        <p:blipFill>
          <a:blip r:embed="rId6"/>
          <a:stretch>
            <a:fillRect/>
          </a:stretch>
        </p:blipFill>
        <p:spPr>
          <a:xfrm>
            <a:off x="713232" y="5010912"/>
            <a:ext cx="356616" cy="356616"/>
          </a:xfrm>
          <a:prstGeom prst="rect">
            <a:avLst/>
          </a:prstGeom>
        </p:spPr>
      </p:pic>
      <p:sp>
        <p:nvSpPr>
          <p:cNvPr id="19" name="Text 13"/>
          <p:cNvSpPr txBox="1"/>
          <p:nvPr/>
        </p:nvSpPr>
        <p:spPr>
          <a:xfrm>
            <a:off x="1463040" y="4846320"/>
            <a:ext cx="10058400" cy="685800"/>
          </a:xfrm>
          <a:prstGeom prst="rect">
            <a:avLst/>
          </a:prstGeom>
          <a:noFill/>
          <a:ln/>
        </p:spPr>
        <p:txBody>
          <a:bodyPr wrap="square" lIns="0" tIns="0" rIns="0" bIns="0" rtlCol="0" anchor="ctr"/>
          <a:lstStyle/>
          <a:p>
            <a:pPr marL="0" indent="0">
              <a:buNone/>
            </a:pPr>
            <a:r>
              <a:rPr lang="en-US" sz="2000" dirty="0">
                <a:solidFill>
                  <a:schemeClr val="tx1"/>
                </a:solidFill>
              </a:rPr>
              <a:t>Así podemos comparar qué aporta cada uno.</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Misma herramienta, mismo resultado</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15–20</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31</a:t>
            </a:fld>
            <a:endParaRPr lang="en-US"/>
          </a:p>
        </p:txBody>
      </p:sp>
      <p:sp>
        <p:nvSpPr>
          <p:cNvPr id="6" name="Text 0">
            <a:extLst>
              <a:ext uri="{FF2B5EF4-FFF2-40B4-BE49-F238E27FC236}">
                <a16:creationId xmlns:a16="http://schemas.microsoft.com/office/drawing/2014/main" id="{A283B16A-A781-DFDA-EEC3-BD382FEE5646}"/>
              </a:ext>
            </a:extLst>
          </p:cNvPr>
          <p:cNvSpPr txBox="1">
            <a:spLocks/>
          </p:cNvSpPr>
          <p:nvPr/>
        </p:nvSpPr>
        <p:spPr>
          <a:xfrm>
            <a:off x="868309" y="2994660"/>
            <a:ext cx="11094415" cy="777240"/>
          </a:xfrm>
          <a:prstGeom prst="rect">
            <a:avLst/>
          </a:prstGeom>
          <a:noFill/>
          <a:ln/>
        </p:spPr>
        <p:txBody>
          <a:bodyPr wrap="square" lIns="0" tIns="0" rIns="0" bIns="0" rtlCol="0" anchor="ctr"/>
          <a:lstStyle>
            <a:lvl1pPr marL="0" indent="0" algn="l" defTabSz="914400" rtl="0" eaLnBrk="1" latinLnBrk="0" hangingPunct="1">
              <a:spcBef>
                <a:spcPct val="0"/>
              </a:spcBef>
              <a:buNone/>
              <a:defRPr lang="en-US" sz="3200" b="1" kern="1200" dirty="0">
                <a:solidFill>
                  <a:schemeClr val="tx1"/>
                </a:solidFill>
                <a:latin typeface="+mj-lt"/>
                <a:ea typeface="+mj-ea"/>
                <a:cs typeface="+mj-cs"/>
              </a:defRPr>
            </a:lvl1pPr>
          </a:lstStyle>
          <a:p>
            <a:r>
              <a:rPr lang="es-ES" dirty="0"/>
              <a:t>Ver casos:</a:t>
            </a:r>
            <a:br>
              <a:rPr lang="es-ES" dirty="0"/>
            </a:br>
            <a:r>
              <a:rPr lang="es-ES" dirty="0" err="1"/>
              <a:t>Unreal</a:t>
            </a:r>
            <a:r>
              <a:rPr lang="es-ES" dirty="0"/>
              <a:t> </a:t>
            </a:r>
            <a:r>
              <a:rPr lang="es-ES" dirty="0" err="1"/>
              <a:t>Engine</a:t>
            </a:r>
            <a:r>
              <a:rPr lang="es-ES" dirty="0"/>
              <a:t> 5 y Relatos cortos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Nuestro ejemplo: una peluquería de barrio</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15–20</a:t>
            </a:r>
            <a:endParaRPr lang="en-US" sz="1400" dirty="0"/>
          </a:p>
        </p:txBody>
      </p:sp>
      <p:sp>
        <p:nvSpPr>
          <p:cNvPr id="5" name="Peluquería"/>
          <p:cNvSpPr/>
          <p:nvPr/>
        </p:nvSpPr>
        <p:spPr>
          <a:xfrm>
            <a:off x="548640" y="1554480"/>
            <a:ext cx="1097280" cy="1097280"/>
          </a:xfrm>
          <a:prstGeom prst="ellipse">
            <a:avLst/>
          </a:prstGeom>
          <a:solidFill>
            <a:schemeClr val="tx1"/>
          </a:solidFill>
          <a:ln/>
        </p:spPr>
      </p:sp>
      <p:pic>
        <p:nvPicPr>
          <p:cNvPr id="6" name="Image 0" descr="Peluquería"/>
          <p:cNvPicPr>
            <a:picLocks noChangeAspect="1"/>
          </p:cNvPicPr>
          <p:nvPr/>
        </p:nvPicPr>
        <p:blipFill>
          <a:blip r:embed="rId3"/>
          <a:stretch>
            <a:fillRect/>
          </a:stretch>
        </p:blipFill>
        <p:spPr>
          <a:xfrm>
            <a:off x="811987" y="1817827"/>
            <a:ext cx="570586" cy="570586"/>
          </a:xfrm>
          <a:prstGeom prst="rect">
            <a:avLst/>
          </a:prstGeom>
        </p:spPr>
      </p:pic>
      <p:sp>
        <p:nvSpPr>
          <p:cNvPr id="7" name="Text 4"/>
          <p:cNvSpPr txBox="1"/>
          <p:nvPr/>
        </p:nvSpPr>
        <p:spPr>
          <a:xfrm>
            <a:off x="1874520" y="1554480"/>
            <a:ext cx="8229600" cy="1097280"/>
          </a:xfrm>
          <a:prstGeom prst="rect">
            <a:avLst/>
          </a:prstGeom>
          <a:noFill/>
          <a:ln/>
        </p:spPr>
        <p:txBody>
          <a:bodyPr wrap="square" lIns="0" tIns="0" rIns="0" bIns="0" rtlCol="0" anchor="ctr"/>
          <a:lstStyle/>
          <a:p>
            <a:pPr marL="0" indent="0">
              <a:buNone/>
            </a:pPr>
            <a:r>
              <a:rPr lang="en-US" sz="2600" b="1" dirty="0">
                <a:solidFill>
                  <a:schemeClr val="tx1"/>
                </a:solidFill>
              </a:rPr>
              <a:t>Da las citas solo por teléfono</a:t>
            </a:r>
            <a:endParaRPr lang="en-US" sz="2600" dirty="0"/>
          </a:p>
        </p:txBody>
      </p:sp>
      <p:sp>
        <p:nvSpPr>
          <p:cNvPr id="8" name="Tarjeta"/>
          <p:cNvSpPr/>
          <p:nvPr/>
        </p:nvSpPr>
        <p:spPr>
          <a:xfrm>
            <a:off x="548640" y="2971800"/>
            <a:ext cx="3454298" cy="2148840"/>
          </a:xfrm>
          <a:prstGeom prst="roundRect">
            <a:avLst>
              <a:gd name="adj" fmla="val 6383"/>
            </a:avLst>
          </a:prstGeom>
          <a:solidFill>
            <a:schemeClr val="bg2"/>
          </a:solidFill>
          <a:ln/>
        </p:spPr>
      </p:sp>
      <p:sp>
        <p:nvSpPr>
          <p:cNvPr id="9" name="Problema"/>
          <p:cNvSpPr/>
          <p:nvPr/>
        </p:nvSpPr>
        <p:spPr>
          <a:xfrm>
            <a:off x="868680" y="3246120"/>
            <a:ext cx="822960" cy="822960"/>
          </a:xfrm>
          <a:prstGeom prst="ellipse">
            <a:avLst/>
          </a:prstGeom>
          <a:solidFill>
            <a:schemeClr val="accent3"/>
          </a:solidFill>
          <a:ln/>
        </p:spPr>
      </p:sp>
      <p:pic>
        <p:nvPicPr>
          <p:cNvPr id="10" name="Image 1" descr="Problema"/>
          <p:cNvPicPr>
            <a:picLocks noChangeAspect="1"/>
          </p:cNvPicPr>
          <p:nvPr/>
        </p:nvPicPr>
        <p:blipFill>
          <a:blip r:embed="rId4"/>
          <a:stretch>
            <a:fillRect/>
          </a:stretch>
        </p:blipFill>
        <p:spPr>
          <a:xfrm>
            <a:off x="1066190" y="3443630"/>
            <a:ext cx="427939" cy="427939"/>
          </a:xfrm>
          <a:prstGeom prst="rect">
            <a:avLst/>
          </a:prstGeom>
        </p:spPr>
      </p:pic>
      <p:sp>
        <p:nvSpPr>
          <p:cNvPr id="11" name="Text 7"/>
          <p:cNvSpPr txBox="1"/>
          <p:nvPr/>
        </p:nvSpPr>
        <p:spPr>
          <a:xfrm>
            <a:off x="868680" y="4160520"/>
            <a:ext cx="2814218" cy="868680"/>
          </a:xfrm>
          <a:prstGeom prst="rect">
            <a:avLst/>
          </a:prstGeom>
          <a:noFill/>
          <a:ln/>
        </p:spPr>
        <p:txBody>
          <a:bodyPr wrap="square" lIns="0" tIns="0" rIns="0" bIns="0" rtlCol="0" anchor="t"/>
          <a:lstStyle/>
          <a:p>
            <a:pPr marL="0" indent="0">
              <a:buNone/>
            </a:pPr>
            <a:r>
              <a:rPr lang="en-US" sz="1900" dirty="0">
                <a:solidFill>
                  <a:schemeClr val="tx1"/>
                </a:solidFill>
              </a:rPr>
              <a:t>El teléfono suena mientras se atiende a los clientes.</a:t>
            </a:r>
            <a:endParaRPr lang="en-US" sz="1900" dirty="0"/>
          </a:p>
        </p:txBody>
      </p:sp>
      <p:sp>
        <p:nvSpPr>
          <p:cNvPr id="12" name="Tarjeta"/>
          <p:cNvSpPr/>
          <p:nvPr/>
        </p:nvSpPr>
        <p:spPr>
          <a:xfrm>
            <a:off x="4368698" y="2971800"/>
            <a:ext cx="3454298" cy="2148840"/>
          </a:xfrm>
          <a:prstGeom prst="roundRect">
            <a:avLst>
              <a:gd name="adj" fmla="val 6383"/>
            </a:avLst>
          </a:prstGeom>
          <a:solidFill>
            <a:schemeClr val="bg2"/>
          </a:solidFill>
          <a:ln/>
        </p:spPr>
      </p:sp>
      <p:sp>
        <p:nvSpPr>
          <p:cNvPr id="13" name="Problema"/>
          <p:cNvSpPr/>
          <p:nvPr/>
        </p:nvSpPr>
        <p:spPr>
          <a:xfrm>
            <a:off x="4688738" y="3246120"/>
            <a:ext cx="822960" cy="822960"/>
          </a:xfrm>
          <a:prstGeom prst="ellipse">
            <a:avLst/>
          </a:prstGeom>
          <a:solidFill>
            <a:schemeClr val="accent3"/>
          </a:solidFill>
          <a:ln/>
        </p:spPr>
      </p:sp>
      <p:pic>
        <p:nvPicPr>
          <p:cNvPr id="14" name="Image 2" descr="Problema"/>
          <p:cNvPicPr>
            <a:picLocks noChangeAspect="1"/>
          </p:cNvPicPr>
          <p:nvPr/>
        </p:nvPicPr>
        <p:blipFill>
          <a:blip r:embed="rId5"/>
          <a:stretch>
            <a:fillRect/>
          </a:stretch>
        </p:blipFill>
        <p:spPr>
          <a:xfrm>
            <a:off x="4886249" y="3443630"/>
            <a:ext cx="427939" cy="427939"/>
          </a:xfrm>
          <a:prstGeom prst="rect">
            <a:avLst/>
          </a:prstGeom>
        </p:spPr>
      </p:pic>
      <p:sp>
        <p:nvSpPr>
          <p:cNvPr id="15" name="Text 10"/>
          <p:cNvSpPr txBox="1"/>
          <p:nvPr/>
        </p:nvSpPr>
        <p:spPr>
          <a:xfrm>
            <a:off x="4688738" y="4160520"/>
            <a:ext cx="2814218" cy="868680"/>
          </a:xfrm>
          <a:prstGeom prst="rect">
            <a:avLst/>
          </a:prstGeom>
          <a:noFill/>
          <a:ln/>
        </p:spPr>
        <p:txBody>
          <a:bodyPr wrap="square" lIns="0" tIns="0" rIns="0" bIns="0" rtlCol="0" anchor="t"/>
          <a:lstStyle/>
          <a:p>
            <a:pPr marL="0" indent="0">
              <a:buNone/>
            </a:pPr>
            <a:r>
              <a:rPr lang="en-US" sz="1900" dirty="0">
                <a:solidFill>
                  <a:schemeClr val="tx1"/>
                </a:solidFill>
              </a:rPr>
              <a:t>Hay clientes que olvidan su cita.</a:t>
            </a:r>
            <a:endParaRPr lang="en-US" sz="1900" dirty="0"/>
          </a:p>
        </p:txBody>
      </p:sp>
      <p:sp>
        <p:nvSpPr>
          <p:cNvPr id="16" name="Tarjeta"/>
          <p:cNvSpPr/>
          <p:nvPr/>
        </p:nvSpPr>
        <p:spPr>
          <a:xfrm>
            <a:off x="8188757" y="2971800"/>
            <a:ext cx="3454298" cy="2148840"/>
          </a:xfrm>
          <a:prstGeom prst="roundRect">
            <a:avLst>
              <a:gd name="adj" fmla="val 6383"/>
            </a:avLst>
          </a:prstGeom>
          <a:solidFill>
            <a:schemeClr val="bg2"/>
          </a:solidFill>
          <a:ln/>
        </p:spPr>
      </p:sp>
      <p:sp>
        <p:nvSpPr>
          <p:cNvPr id="17" name="Problema"/>
          <p:cNvSpPr/>
          <p:nvPr/>
        </p:nvSpPr>
        <p:spPr>
          <a:xfrm>
            <a:off x="8508797" y="3246120"/>
            <a:ext cx="822960" cy="822960"/>
          </a:xfrm>
          <a:prstGeom prst="ellipse">
            <a:avLst/>
          </a:prstGeom>
          <a:solidFill>
            <a:schemeClr val="accent3"/>
          </a:solidFill>
          <a:ln/>
        </p:spPr>
      </p:sp>
      <p:pic>
        <p:nvPicPr>
          <p:cNvPr id="18" name="Image 3" descr="Problema"/>
          <p:cNvPicPr>
            <a:picLocks noChangeAspect="1"/>
          </p:cNvPicPr>
          <p:nvPr/>
        </p:nvPicPr>
        <p:blipFill>
          <a:blip r:embed="rId6"/>
          <a:stretch>
            <a:fillRect/>
          </a:stretch>
        </p:blipFill>
        <p:spPr>
          <a:xfrm>
            <a:off x="8706307" y="3443630"/>
            <a:ext cx="427939" cy="427939"/>
          </a:xfrm>
          <a:prstGeom prst="rect">
            <a:avLst/>
          </a:prstGeom>
        </p:spPr>
      </p:pic>
      <p:sp>
        <p:nvSpPr>
          <p:cNvPr id="19" name="Text 13"/>
          <p:cNvSpPr txBox="1"/>
          <p:nvPr/>
        </p:nvSpPr>
        <p:spPr>
          <a:xfrm>
            <a:off x="8508797" y="4160520"/>
            <a:ext cx="2814218" cy="868680"/>
          </a:xfrm>
          <a:prstGeom prst="rect">
            <a:avLst/>
          </a:prstGeom>
          <a:noFill/>
          <a:ln/>
        </p:spPr>
        <p:txBody>
          <a:bodyPr wrap="square" lIns="0" tIns="0" rIns="0" bIns="0" rtlCol="0" anchor="t"/>
          <a:lstStyle/>
          <a:p>
            <a:pPr marL="0" indent="0">
              <a:buNone/>
            </a:pPr>
            <a:r>
              <a:rPr lang="en-US" sz="1900" dirty="0">
                <a:solidFill>
                  <a:schemeClr val="tx1"/>
                </a:solidFill>
              </a:rPr>
              <a:t>Los lunes por la mañana está vacía.</a:t>
            </a:r>
            <a:endParaRPr lang="en-US" sz="1900" dirty="0"/>
          </a:p>
        </p:txBody>
      </p:sp>
      <p:sp>
        <p:nvSpPr>
          <p:cNvPr id="20" name="Text 14"/>
          <p:cNvSpPr txBox="1"/>
          <p:nvPr/>
        </p:nvSpPr>
        <p:spPr>
          <a:xfrm>
            <a:off x="548640" y="5440680"/>
            <a:ext cx="11094415" cy="457200"/>
          </a:xfrm>
          <a:prstGeom prst="rect">
            <a:avLst/>
          </a:prstGeom>
          <a:noFill/>
          <a:ln/>
        </p:spPr>
        <p:txBody>
          <a:bodyPr wrap="square" lIns="0" tIns="0" rIns="0" bIns="0" rtlCol="0" anchor="ctr"/>
          <a:lstStyle/>
          <a:p>
            <a:pPr marL="0" indent="0">
              <a:buNone/>
            </a:pPr>
            <a:r>
              <a:rPr lang="en-US" sz="1800" i="1" dirty="0">
                <a:solidFill>
                  <a:schemeClr val="tx2"/>
                </a:solidFill>
              </a:rPr>
              <a:t>La usaremos para explicar las tres técnicas: brainstorming, SCAMPER y provocación.</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Brainstorming: cuatro reglas</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15–20</a:t>
            </a:r>
            <a:endParaRPr lang="en-US" sz="1400" dirty="0"/>
          </a:p>
        </p:txBody>
      </p:sp>
      <p:sp>
        <p:nvSpPr>
          <p:cNvPr id="5" name="Text 3"/>
          <p:cNvSpPr txBox="1"/>
          <p:nvPr/>
        </p:nvSpPr>
        <p:spPr>
          <a:xfrm>
            <a:off x="548640" y="1371600"/>
            <a:ext cx="11094415" cy="548640"/>
          </a:xfrm>
          <a:prstGeom prst="rect">
            <a:avLst/>
          </a:prstGeom>
          <a:noFill/>
          <a:ln/>
        </p:spPr>
        <p:txBody>
          <a:bodyPr wrap="square" lIns="0" tIns="0" rIns="0" bIns="0" rtlCol="0" anchor="ctr"/>
          <a:lstStyle/>
          <a:p>
            <a:pPr marL="0" indent="0">
              <a:buNone/>
            </a:pPr>
            <a:r>
              <a:rPr lang="en-US" sz="2000" i="1" dirty="0">
                <a:solidFill>
                  <a:schemeClr val="tx2"/>
                </a:solidFill>
              </a:rPr>
              <a:t>Generar en grupo el mayor número posible de ideas sobre un reto, dejando el juicio para después.</a:t>
            </a:r>
            <a:endParaRPr lang="en-US" sz="2000" dirty="0"/>
          </a:p>
        </p:txBody>
      </p:sp>
      <p:sp>
        <p:nvSpPr>
          <p:cNvPr id="6" name="Tarjeta"/>
          <p:cNvSpPr/>
          <p:nvPr/>
        </p:nvSpPr>
        <p:spPr>
          <a:xfrm>
            <a:off x="548640" y="2194560"/>
            <a:ext cx="5364328" cy="1554480"/>
          </a:xfrm>
          <a:prstGeom prst="roundRect">
            <a:avLst>
              <a:gd name="adj" fmla="val 8824"/>
            </a:avLst>
          </a:prstGeom>
          <a:solidFill>
            <a:schemeClr val="bg2"/>
          </a:solidFill>
          <a:ln/>
        </p:spPr>
      </p:sp>
      <p:sp>
        <p:nvSpPr>
          <p:cNvPr id="7" name="Regla 1"/>
          <p:cNvSpPr/>
          <p:nvPr/>
        </p:nvSpPr>
        <p:spPr>
          <a:xfrm>
            <a:off x="822960" y="2560320"/>
            <a:ext cx="822960" cy="822960"/>
          </a:xfrm>
          <a:prstGeom prst="ellipse">
            <a:avLst/>
          </a:prstGeom>
          <a:solidFill>
            <a:schemeClr val="accent1"/>
          </a:solidFill>
          <a:ln/>
        </p:spPr>
      </p:sp>
      <p:sp>
        <p:nvSpPr>
          <p:cNvPr id="8" name="Text 6"/>
          <p:cNvSpPr txBox="1"/>
          <p:nvPr/>
        </p:nvSpPr>
        <p:spPr>
          <a:xfrm>
            <a:off x="822960" y="2560320"/>
            <a:ext cx="822960" cy="822960"/>
          </a:xfrm>
          <a:prstGeom prst="rect">
            <a:avLst/>
          </a:prstGeom>
          <a:noFill/>
          <a:ln/>
        </p:spPr>
        <p:txBody>
          <a:bodyPr wrap="square" lIns="0" tIns="0" rIns="0" bIns="0" rtlCol="0" anchor="ctr"/>
          <a:lstStyle/>
          <a:p>
            <a:pPr marL="0" indent="0" algn="ctr">
              <a:buNone/>
            </a:pPr>
            <a:r>
              <a:rPr lang="en-US" sz="3000" b="1" dirty="0">
                <a:solidFill>
                  <a:schemeClr val="tx1"/>
                </a:solidFill>
              </a:rPr>
              <a:t>1</a:t>
            </a:r>
            <a:endParaRPr lang="en-US" sz="3000" dirty="0"/>
          </a:p>
        </p:txBody>
      </p:sp>
      <p:sp>
        <p:nvSpPr>
          <p:cNvPr id="9" name="Text 7"/>
          <p:cNvSpPr txBox="1"/>
          <p:nvPr/>
        </p:nvSpPr>
        <p:spPr>
          <a:xfrm>
            <a:off x="1874520" y="2194560"/>
            <a:ext cx="3809848" cy="1554480"/>
          </a:xfrm>
          <a:prstGeom prst="rect">
            <a:avLst/>
          </a:prstGeom>
          <a:noFill/>
          <a:ln/>
        </p:spPr>
        <p:txBody>
          <a:bodyPr wrap="square" lIns="0" tIns="0" rIns="0" bIns="0" rtlCol="0" anchor="ctr"/>
          <a:lstStyle/>
          <a:p>
            <a:pPr marL="0" indent="0">
              <a:buNone/>
            </a:pPr>
            <a:r>
              <a:rPr lang="en-US" sz="2100" dirty="0">
                <a:solidFill>
                  <a:schemeClr val="tx1"/>
                </a:solidFill>
              </a:rPr>
              <a:t>Cantidad antes que calidad.</a:t>
            </a:r>
            <a:endParaRPr lang="en-US" sz="2100" dirty="0"/>
          </a:p>
        </p:txBody>
      </p:sp>
      <p:sp>
        <p:nvSpPr>
          <p:cNvPr id="10" name="Tarjeta"/>
          <p:cNvSpPr/>
          <p:nvPr/>
        </p:nvSpPr>
        <p:spPr>
          <a:xfrm>
            <a:off x="6278728" y="2194560"/>
            <a:ext cx="5364328" cy="1554480"/>
          </a:xfrm>
          <a:prstGeom prst="roundRect">
            <a:avLst>
              <a:gd name="adj" fmla="val 8824"/>
            </a:avLst>
          </a:prstGeom>
          <a:solidFill>
            <a:schemeClr val="bg2"/>
          </a:solidFill>
          <a:ln/>
        </p:spPr>
      </p:sp>
      <p:sp>
        <p:nvSpPr>
          <p:cNvPr id="11" name="Regla 2"/>
          <p:cNvSpPr/>
          <p:nvPr/>
        </p:nvSpPr>
        <p:spPr>
          <a:xfrm>
            <a:off x="6553048" y="2560320"/>
            <a:ext cx="822960" cy="822960"/>
          </a:xfrm>
          <a:prstGeom prst="ellipse">
            <a:avLst/>
          </a:prstGeom>
          <a:solidFill>
            <a:schemeClr val="accent1"/>
          </a:solidFill>
          <a:ln/>
        </p:spPr>
      </p:sp>
      <p:sp>
        <p:nvSpPr>
          <p:cNvPr id="12" name="Text 10"/>
          <p:cNvSpPr txBox="1"/>
          <p:nvPr/>
        </p:nvSpPr>
        <p:spPr>
          <a:xfrm>
            <a:off x="6553048" y="2560320"/>
            <a:ext cx="822960" cy="822960"/>
          </a:xfrm>
          <a:prstGeom prst="rect">
            <a:avLst/>
          </a:prstGeom>
          <a:noFill/>
          <a:ln/>
        </p:spPr>
        <p:txBody>
          <a:bodyPr wrap="square" lIns="0" tIns="0" rIns="0" bIns="0" rtlCol="0" anchor="ctr"/>
          <a:lstStyle/>
          <a:p>
            <a:pPr marL="0" indent="0" algn="ctr">
              <a:buNone/>
            </a:pPr>
            <a:r>
              <a:rPr lang="en-US" sz="3000" b="1" dirty="0">
                <a:solidFill>
                  <a:schemeClr val="tx1"/>
                </a:solidFill>
              </a:rPr>
              <a:t>2</a:t>
            </a:r>
            <a:endParaRPr lang="en-US" sz="3000" dirty="0"/>
          </a:p>
        </p:txBody>
      </p:sp>
      <p:sp>
        <p:nvSpPr>
          <p:cNvPr id="13" name="Text 11"/>
          <p:cNvSpPr txBox="1"/>
          <p:nvPr/>
        </p:nvSpPr>
        <p:spPr>
          <a:xfrm>
            <a:off x="7604608" y="2194560"/>
            <a:ext cx="3809848" cy="1554480"/>
          </a:xfrm>
          <a:prstGeom prst="rect">
            <a:avLst/>
          </a:prstGeom>
          <a:noFill/>
          <a:ln/>
        </p:spPr>
        <p:txBody>
          <a:bodyPr wrap="square" lIns="0" tIns="0" rIns="0" bIns="0" rtlCol="0" anchor="ctr"/>
          <a:lstStyle/>
          <a:p>
            <a:pPr marL="0" indent="0">
              <a:buNone/>
            </a:pPr>
            <a:r>
              <a:rPr lang="en-US" sz="2100" dirty="0">
                <a:solidFill>
                  <a:schemeClr val="tx1"/>
                </a:solidFill>
              </a:rPr>
              <a:t>No se critica ninguna idea durante la sesión.</a:t>
            </a:r>
            <a:endParaRPr lang="en-US" sz="2100" dirty="0"/>
          </a:p>
        </p:txBody>
      </p:sp>
      <p:sp>
        <p:nvSpPr>
          <p:cNvPr id="14" name="Tarjeta"/>
          <p:cNvSpPr/>
          <p:nvPr/>
        </p:nvSpPr>
        <p:spPr>
          <a:xfrm>
            <a:off x="548640" y="4023360"/>
            <a:ext cx="5364328" cy="1554480"/>
          </a:xfrm>
          <a:prstGeom prst="roundRect">
            <a:avLst>
              <a:gd name="adj" fmla="val 8824"/>
            </a:avLst>
          </a:prstGeom>
          <a:solidFill>
            <a:schemeClr val="bg2"/>
          </a:solidFill>
          <a:ln/>
        </p:spPr>
      </p:sp>
      <p:sp>
        <p:nvSpPr>
          <p:cNvPr id="15" name="Regla 3"/>
          <p:cNvSpPr/>
          <p:nvPr/>
        </p:nvSpPr>
        <p:spPr>
          <a:xfrm>
            <a:off x="822960" y="4389120"/>
            <a:ext cx="822960" cy="822960"/>
          </a:xfrm>
          <a:prstGeom prst="ellipse">
            <a:avLst/>
          </a:prstGeom>
          <a:solidFill>
            <a:schemeClr val="accent1"/>
          </a:solidFill>
          <a:ln/>
        </p:spPr>
      </p:sp>
      <p:sp>
        <p:nvSpPr>
          <p:cNvPr id="16" name="Text 14"/>
          <p:cNvSpPr txBox="1"/>
          <p:nvPr/>
        </p:nvSpPr>
        <p:spPr>
          <a:xfrm>
            <a:off x="822960" y="4389120"/>
            <a:ext cx="822960" cy="822960"/>
          </a:xfrm>
          <a:prstGeom prst="rect">
            <a:avLst/>
          </a:prstGeom>
          <a:noFill/>
          <a:ln/>
        </p:spPr>
        <p:txBody>
          <a:bodyPr wrap="square" lIns="0" tIns="0" rIns="0" bIns="0" rtlCol="0" anchor="ctr"/>
          <a:lstStyle/>
          <a:p>
            <a:pPr marL="0" indent="0" algn="ctr">
              <a:buNone/>
            </a:pPr>
            <a:r>
              <a:rPr lang="en-US" sz="3000" b="1" dirty="0">
                <a:solidFill>
                  <a:schemeClr val="tx1"/>
                </a:solidFill>
              </a:rPr>
              <a:t>3</a:t>
            </a:r>
            <a:endParaRPr lang="en-US" sz="3000" dirty="0"/>
          </a:p>
        </p:txBody>
      </p:sp>
      <p:sp>
        <p:nvSpPr>
          <p:cNvPr id="17" name="Text 15"/>
          <p:cNvSpPr txBox="1"/>
          <p:nvPr/>
        </p:nvSpPr>
        <p:spPr>
          <a:xfrm>
            <a:off x="1874520" y="4023360"/>
            <a:ext cx="3809848" cy="1554480"/>
          </a:xfrm>
          <a:prstGeom prst="rect">
            <a:avLst/>
          </a:prstGeom>
          <a:noFill/>
          <a:ln/>
        </p:spPr>
        <p:txBody>
          <a:bodyPr wrap="square" lIns="0" tIns="0" rIns="0" bIns="0" rtlCol="0" anchor="ctr"/>
          <a:lstStyle/>
          <a:p>
            <a:pPr marL="0" indent="0">
              <a:buNone/>
            </a:pPr>
            <a:r>
              <a:rPr lang="en-US" sz="2100" dirty="0">
                <a:solidFill>
                  <a:schemeClr val="tx1"/>
                </a:solidFill>
              </a:rPr>
              <a:t>Se vale construir sobre la idea de otra persona: «y además…».</a:t>
            </a:r>
            <a:endParaRPr lang="en-US" sz="2100" dirty="0"/>
          </a:p>
        </p:txBody>
      </p:sp>
      <p:sp>
        <p:nvSpPr>
          <p:cNvPr id="18" name="Tarjeta"/>
          <p:cNvSpPr/>
          <p:nvPr/>
        </p:nvSpPr>
        <p:spPr>
          <a:xfrm>
            <a:off x="6278728" y="4023360"/>
            <a:ext cx="5364328" cy="1554480"/>
          </a:xfrm>
          <a:prstGeom prst="roundRect">
            <a:avLst>
              <a:gd name="adj" fmla="val 8824"/>
            </a:avLst>
          </a:prstGeom>
          <a:solidFill>
            <a:schemeClr val="bg2"/>
          </a:solidFill>
          <a:ln/>
        </p:spPr>
      </p:sp>
      <p:sp>
        <p:nvSpPr>
          <p:cNvPr id="19" name="Regla 4"/>
          <p:cNvSpPr/>
          <p:nvPr/>
        </p:nvSpPr>
        <p:spPr>
          <a:xfrm>
            <a:off x="6553048" y="4389120"/>
            <a:ext cx="822960" cy="822960"/>
          </a:xfrm>
          <a:prstGeom prst="ellipse">
            <a:avLst/>
          </a:prstGeom>
          <a:solidFill>
            <a:schemeClr val="accent1"/>
          </a:solidFill>
          <a:ln/>
        </p:spPr>
      </p:sp>
      <p:sp>
        <p:nvSpPr>
          <p:cNvPr id="20" name="Text 18"/>
          <p:cNvSpPr txBox="1"/>
          <p:nvPr/>
        </p:nvSpPr>
        <p:spPr>
          <a:xfrm>
            <a:off x="6553048" y="4389120"/>
            <a:ext cx="822960" cy="822960"/>
          </a:xfrm>
          <a:prstGeom prst="rect">
            <a:avLst/>
          </a:prstGeom>
          <a:noFill/>
          <a:ln/>
        </p:spPr>
        <p:txBody>
          <a:bodyPr wrap="square" lIns="0" tIns="0" rIns="0" bIns="0" rtlCol="0" anchor="ctr"/>
          <a:lstStyle/>
          <a:p>
            <a:pPr marL="0" indent="0" algn="ctr">
              <a:buNone/>
            </a:pPr>
            <a:r>
              <a:rPr lang="en-US" sz="3000" b="1" dirty="0">
                <a:solidFill>
                  <a:schemeClr val="tx1"/>
                </a:solidFill>
              </a:rPr>
              <a:t>4</a:t>
            </a:r>
            <a:endParaRPr lang="en-US" sz="3000" dirty="0"/>
          </a:p>
        </p:txBody>
      </p:sp>
      <p:sp>
        <p:nvSpPr>
          <p:cNvPr id="21" name="Text 19"/>
          <p:cNvSpPr txBox="1"/>
          <p:nvPr/>
        </p:nvSpPr>
        <p:spPr>
          <a:xfrm>
            <a:off x="7604608" y="4023360"/>
            <a:ext cx="3809848" cy="1554480"/>
          </a:xfrm>
          <a:prstGeom prst="rect">
            <a:avLst/>
          </a:prstGeom>
          <a:noFill/>
          <a:ln/>
        </p:spPr>
        <p:txBody>
          <a:bodyPr wrap="square" lIns="0" tIns="0" rIns="0" bIns="0" rtlCol="0" anchor="ctr"/>
          <a:lstStyle/>
          <a:p>
            <a:pPr marL="0" indent="0">
              <a:buNone/>
            </a:pPr>
            <a:r>
              <a:rPr lang="en-US" sz="2100" dirty="0">
                <a:solidFill>
                  <a:schemeClr val="tx1"/>
                </a:solidFill>
              </a:rPr>
              <a:t>Las ideas disparatadas son bienvenidas: a menudo llevan a ideas buenas.</a:t>
            </a:r>
            <a:endParaRPr lang="en-US" sz="2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Ejemplo: brainstorming en la peluquería</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15–20</a:t>
            </a:r>
            <a:endParaRPr lang="en-US" sz="1400" dirty="0"/>
          </a:p>
        </p:txBody>
      </p:sp>
      <p:sp>
        <p:nvSpPr>
          <p:cNvPr id="5" name="Text 3"/>
          <p:cNvSpPr txBox="1"/>
          <p:nvPr/>
        </p:nvSpPr>
        <p:spPr>
          <a:xfrm>
            <a:off x="548640" y="1325880"/>
            <a:ext cx="11094415" cy="548640"/>
          </a:xfrm>
          <a:prstGeom prst="rect">
            <a:avLst/>
          </a:prstGeom>
          <a:noFill/>
          <a:ln/>
        </p:spPr>
        <p:txBody>
          <a:bodyPr wrap="square" lIns="0" tIns="0" rIns="0" bIns="0" rtlCol="0" anchor="ctr"/>
          <a:lstStyle/>
          <a:p>
            <a:pPr marL="0" indent="0">
              <a:buNone/>
            </a:pPr>
            <a:r>
              <a:rPr lang="en-US" sz="2000" b="1" i="1" dirty="0">
                <a:solidFill>
                  <a:schemeClr val="tx2"/>
                </a:solidFill>
              </a:rPr>
              <a:t>¿Cómo podríamos conseguir que la peluquería tenga clientes los lunes por la mañana?</a:t>
            </a:r>
            <a:endParaRPr lang="en-US" sz="2000" dirty="0"/>
          </a:p>
        </p:txBody>
      </p:sp>
      <p:sp>
        <p:nvSpPr>
          <p:cNvPr id="6" name="Idea"/>
          <p:cNvSpPr/>
          <p:nvPr/>
        </p:nvSpPr>
        <p:spPr>
          <a:xfrm>
            <a:off x="548640" y="2103120"/>
            <a:ext cx="5943600" cy="603504"/>
          </a:xfrm>
          <a:prstGeom prst="roundRect">
            <a:avLst>
              <a:gd name="adj" fmla="val 22727"/>
            </a:avLst>
          </a:prstGeom>
          <a:solidFill>
            <a:schemeClr val="bg2"/>
          </a:solidFill>
          <a:ln/>
        </p:spPr>
      </p:sp>
      <p:sp>
        <p:nvSpPr>
          <p:cNvPr id="7" name="Text 5"/>
          <p:cNvSpPr txBox="1"/>
          <p:nvPr/>
        </p:nvSpPr>
        <p:spPr>
          <a:xfrm>
            <a:off x="777240" y="2103120"/>
            <a:ext cx="5577840" cy="603504"/>
          </a:xfrm>
          <a:prstGeom prst="rect">
            <a:avLst/>
          </a:prstGeom>
          <a:noFill/>
          <a:ln/>
        </p:spPr>
        <p:txBody>
          <a:bodyPr wrap="square" lIns="0" tIns="0" rIns="0" bIns="0" rtlCol="0" anchor="ctr"/>
          <a:lstStyle/>
          <a:p>
            <a:pPr marL="0" indent="0">
              <a:buNone/>
            </a:pPr>
            <a:r>
              <a:rPr lang="en-US" sz="1600" dirty="0">
                <a:solidFill>
                  <a:schemeClr val="tx1"/>
                </a:solidFill>
              </a:rPr>
              <a:t>Descuento para quien reserve los lunes.</a:t>
            </a:r>
            <a:endParaRPr lang="en-US" sz="1600" dirty="0"/>
          </a:p>
        </p:txBody>
      </p:sp>
      <p:sp>
        <p:nvSpPr>
          <p:cNvPr id="8" name="Idea"/>
          <p:cNvSpPr/>
          <p:nvPr/>
        </p:nvSpPr>
        <p:spPr>
          <a:xfrm>
            <a:off x="548640" y="2852928"/>
            <a:ext cx="5943600" cy="603504"/>
          </a:xfrm>
          <a:prstGeom prst="roundRect">
            <a:avLst>
              <a:gd name="adj" fmla="val 22727"/>
            </a:avLst>
          </a:prstGeom>
          <a:solidFill>
            <a:schemeClr val="bg2"/>
          </a:solidFill>
          <a:ln/>
        </p:spPr>
      </p:sp>
      <p:sp>
        <p:nvSpPr>
          <p:cNvPr id="9" name="Text 7"/>
          <p:cNvSpPr txBox="1"/>
          <p:nvPr/>
        </p:nvSpPr>
        <p:spPr>
          <a:xfrm>
            <a:off x="777240" y="2852928"/>
            <a:ext cx="5577840" cy="603504"/>
          </a:xfrm>
          <a:prstGeom prst="rect">
            <a:avLst/>
          </a:prstGeom>
          <a:noFill/>
          <a:ln/>
        </p:spPr>
        <p:txBody>
          <a:bodyPr wrap="square" lIns="0" tIns="0" rIns="0" bIns="0" rtlCol="0" anchor="ctr"/>
          <a:lstStyle/>
          <a:p>
            <a:pPr marL="0" indent="0">
              <a:buNone/>
            </a:pPr>
            <a:r>
              <a:rPr lang="en-US" sz="1600" dirty="0">
                <a:solidFill>
                  <a:schemeClr val="tx1"/>
                </a:solidFill>
              </a:rPr>
              <a:t>Lunes reservado a personas mayores, con café incluido.</a:t>
            </a:r>
            <a:endParaRPr lang="en-US" sz="1600" dirty="0"/>
          </a:p>
        </p:txBody>
      </p:sp>
      <p:sp>
        <p:nvSpPr>
          <p:cNvPr id="10" name="Idea"/>
          <p:cNvSpPr/>
          <p:nvPr/>
        </p:nvSpPr>
        <p:spPr>
          <a:xfrm>
            <a:off x="548640" y="3602736"/>
            <a:ext cx="5943600" cy="603504"/>
          </a:xfrm>
          <a:prstGeom prst="roundRect">
            <a:avLst>
              <a:gd name="adj" fmla="val 22727"/>
            </a:avLst>
          </a:prstGeom>
          <a:solidFill>
            <a:schemeClr val="bg2"/>
          </a:solidFill>
          <a:ln/>
        </p:spPr>
      </p:sp>
      <p:sp>
        <p:nvSpPr>
          <p:cNvPr id="11" name="Text 9"/>
          <p:cNvSpPr txBox="1"/>
          <p:nvPr/>
        </p:nvSpPr>
        <p:spPr>
          <a:xfrm>
            <a:off x="777240" y="3602736"/>
            <a:ext cx="5577840" cy="603504"/>
          </a:xfrm>
          <a:prstGeom prst="rect">
            <a:avLst/>
          </a:prstGeom>
          <a:noFill/>
          <a:ln/>
        </p:spPr>
        <p:txBody>
          <a:bodyPr wrap="square" lIns="0" tIns="0" rIns="0" bIns="0" rtlCol="0" anchor="ctr"/>
          <a:lstStyle/>
          <a:p>
            <a:pPr marL="0" indent="0">
              <a:buNone/>
            </a:pPr>
            <a:r>
              <a:rPr lang="en-US" sz="1600" dirty="0">
                <a:solidFill>
                  <a:schemeClr val="tx1"/>
                </a:solidFill>
              </a:rPr>
              <a:t>Cortes gratis de estudiantes de peluquería, que practican supervisados.</a:t>
            </a:r>
            <a:endParaRPr lang="en-US" sz="1600" dirty="0"/>
          </a:p>
        </p:txBody>
      </p:sp>
      <p:sp>
        <p:nvSpPr>
          <p:cNvPr id="12" name="Idea"/>
          <p:cNvSpPr/>
          <p:nvPr/>
        </p:nvSpPr>
        <p:spPr>
          <a:xfrm>
            <a:off x="548640" y="4352544"/>
            <a:ext cx="5943600" cy="603504"/>
          </a:xfrm>
          <a:prstGeom prst="roundRect">
            <a:avLst>
              <a:gd name="adj" fmla="val 22727"/>
            </a:avLst>
          </a:prstGeom>
          <a:solidFill>
            <a:schemeClr val="bg2"/>
          </a:solidFill>
          <a:ln/>
        </p:spPr>
      </p:sp>
      <p:sp>
        <p:nvSpPr>
          <p:cNvPr id="13" name="Text 11"/>
          <p:cNvSpPr txBox="1"/>
          <p:nvPr/>
        </p:nvSpPr>
        <p:spPr>
          <a:xfrm>
            <a:off x="777240" y="4352544"/>
            <a:ext cx="5577840" cy="603504"/>
          </a:xfrm>
          <a:prstGeom prst="rect">
            <a:avLst/>
          </a:prstGeom>
          <a:noFill/>
          <a:ln/>
        </p:spPr>
        <p:txBody>
          <a:bodyPr wrap="square" lIns="0" tIns="0" rIns="0" bIns="0" rtlCol="0" anchor="ctr"/>
          <a:lstStyle/>
          <a:p>
            <a:pPr marL="0" indent="0">
              <a:buNone/>
            </a:pPr>
            <a:r>
              <a:rPr lang="en-US" sz="1600" dirty="0">
                <a:solidFill>
                  <a:schemeClr val="tx1"/>
                </a:solidFill>
              </a:rPr>
              <a:t>Ofrecer el lunes a domicilio para residencias cercanas.</a:t>
            </a:r>
            <a:endParaRPr lang="en-US" sz="1600" dirty="0"/>
          </a:p>
        </p:txBody>
      </p:sp>
      <p:sp>
        <p:nvSpPr>
          <p:cNvPr id="14" name="Idea"/>
          <p:cNvSpPr/>
          <p:nvPr/>
        </p:nvSpPr>
        <p:spPr>
          <a:xfrm>
            <a:off x="548640" y="5102352"/>
            <a:ext cx="5943600" cy="603504"/>
          </a:xfrm>
          <a:prstGeom prst="roundRect">
            <a:avLst>
              <a:gd name="adj" fmla="val 22727"/>
            </a:avLst>
          </a:prstGeom>
          <a:solidFill>
            <a:schemeClr val="bg2"/>
          </a:solidFill>
          <a:ln/>
        </p:spPr>
      </p:sp>
      <p:sp>
        <p:nvSpPr>
          <p:cNvPr id="15" name="Text 13"/>
          <p:cNvSpPr txBox="1"/>
          <p:nvPr/>
        </p:nvSpPr>
        <p:spPr>
          <a:xfrm>
            <a:off x="777240" y="5102352"/>
            <a:ext cx="5577840" cy="603504"/>
          </a:xfrm>
          <a:prstGeom prst="rect">
            <a:avLst/>
          </a:prstGeom>
          <a:noFill/>
          <a:ln/>
        </p:spPr>
        <p:txBody>
          <a:bodyPr wrap="square" lIns="0" tIns="0" rIns="0" bIns="0" rtlCol="0" anchor="ctr"/>
          <a:lstStyle/>
          <a:p>
            <a:pPr marL="0" indent="0">
              <a:buNone/>
            </a:pPr>
            <a:r>
              <a:rPr lang="en-US" sz="1600" dirty="0">
                <a:solidFill>
                  <a:schemeClr val="tx1"/>
                </a:solidFill>
              </a:rPr>
              <a:t>Sorteo mensual entre los clientes del lunes.</a:t>
            </a:r>
            <a:endParaRPr lang="en-US" sz="1600" dirty="0"/>
          </a:p>
        </p:txBody>
      </p:sp>
      <p:sp>
        <p:nvSpPr>
          <p:cNvPr id="16" name="Idea disparatada"/>
          <p:cNvSpPr/>
          <p:nvPr/>
        </p:nvSpPr>
        <p:spPr>
          <a:xfrm>
            <a:off x="6903720" y="2103120"/>
            <a:ext cx="4739335" cy="1325880"/>
          </a:xfrm>
          <a:prstGeom prst="roundRect">
            <a:avLst>
              <a:gd name="adj" fmla="val 10345"/>
            </a:avLst>
          </a:prstGeom>
          <a:solidFill>
            <a:schemeClr val="accent3"/>
          </a:solidFill>
          <a:ln/>
        </p:spPr>
      </p:sp>
      <p:sp>
        <p:nvSpPr>
          <p:cNvPr id="17" name="Text 15"/>
          <p:cNvSpPr txBox="1"/>
          <p:nvPr/>
        </p:nvSpPr>
        <p:spPr>
          <a:xfrm>
            <a:off x="7178040" y="2103120"/>
            <a:ext cx="4190695" cy="1325880"/>
          </a:xfrm>
          <a:prstGeom prst="rect">
            <a:avLst/>
          </a:prstGeom>
          <a:noFill/>
          <a:ln/>
        </p:spPr>
        <p:txBody>
          <a:bodyPr wrap="square" lIns="0" tIns="0" rIns="0" bIns="0" rtlCol="0" anchor="ctr"/>
          <a:lstStyle/>
          <a:p>
            <a:pPr marL="0" indent="0">
              <a:buNone/>
            </a:pPr>
            <a:r>
              <a:rPr lang="en-US" sz="1500" b="1" dirty="0">
                <a:solidFill>
                  <a:schemeClr val="bg1"/>
                </a:solidFill>
              </a:rPr>
              <a:t>Idea disparatada</a:t>
            </a:r>
            <a:endParaRPr lang="en-US" sz="2100" dirty="0"/>
          </a:p>
          <a:p>
            <a:pPr marL="0" indent="0">
              <a:buNone/>
            </a:pPr>
            <a:r>
              <a:rPr lang="en-US" sz="2100" dirty="0">
                <a:solidFill>
                  <a:schemeClr val="bg1"/>
                </a:solidFill>
              </a:rPr>
              <a:t>Cerrar los sábados y abrir los lunes.</a:t>
            </a:r>
            <a:endParaRPr lang="en-US" sz="2100" dirty="0"/>
          </a:p>
        </p:txBody>
      </p:sp>
      <p:sp>
        <p:nvSpPr>
          <p:cNvPr id="18" name="Shape 16"/>
          <p:cNvSpPr/>
          <p:nvPr/>
        </p:nvSpPr>
        <p:spPr>
          <a:xfrm>
            <a:off x="9273388" y="3520440"/>
            <a:ext cx="914" cy="457200"/>
          </a:xfrm>
          <a:prstGeom prst="line">
            <a:avLst/>
          </a:prstGeom>
          <a:noFill/>
          <a:ln w="38100">
            <a:solidFill>
              <a:srgbClr val="3A4664"/>
            </a:solidFill>
            <a:prstDash val="solid"/>
            <a:tailEnd type="triangle"/>
          </a:ln>
        </p:spPr>
      </p:sp>
      <p:sp>
        <p:nvSpPr>
          <p:cNvPr id="19" name="Idea sensata"/>
          <p:cNvSpPr/>
          <p:nvPr/>
        </p:nvSpPr>
        <p:spPr>
          <a:xfrm>
            <a:off x="6903720" y="4069080"/>
            <a:ext cx="4739335" cy="1655064"/>
          </a:xfrm>
          <a:prstGeom prst="roundRect">
            <a:avLst>
              <a:gd name="adj" fmla="val 8287"/>
            </a:avLst>
          </a:prstGeom>
          <a:solidFill>
            <a:schemeClr val="tx1"/>
          </a:solidFill>
          <a:ln/>
        </p:spPr>
      </p:sp>
      <p:sp>
        <p:nvSpPr>
          <p:cNvPr id="20" name="Text 18"/>
          <p:cNvSpPr txBox="1"/>
          <p:nvPr/>
        </p:nvSpPr>
        <p:spPr>
          <a:xfrm>
            <a:off x="7178040" y="4069080"/>
            <a:ext cx="4190695" cy="1655064"/>
          </a:xfrm>
          <a:prstGeom prst="rect">
            <a:avLst/>
          </a:prstGeom>
          <a:noFill/>
          <a:ln/>
        </p:spPr>
        <p:txBody>
          <a:bodyPr wrap="square" lIns="0" tIns="0" rIns="0" bIns="0" rtlCol="0" anchor="ctr"/>
          <a:lstStyle/>
          <a:p>
            <a:pPr marL="0" indent="0">
              <a:buNone/>
            </a:pPr>
            <a:r>
              <a:rPr lang="en-US" sz="1500" b="1" dirty="0">
                <a:solidFill>
                  <a:schemeClr val="accent1"/>
                </a:solidFill>
              </a:rPr>
              <a:t>Construyendo sobre ella</a:t>
            </a:r>
            <a:endParaRPr lang="en-US" sz="1800" dirty="0"/>
          </a:p>
          <a:p>
            <a:pPr marL="0" indent="0">
              <a:buNone/>
            </a:pPr>
            <a:r>
              <a:rPr lang="en-US" sz="1800" dirty="0">
                <a:solidFill>
                  <a:schemeClr val="bg1"/>
                </a:solidFill>
              </a:rPr>
              <a:t>Repartir la demanda: precio más bajo en los días flojos y más alto en los de más demanda.</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Ejercicio 1: brainstorming entre todos</a:t>
            </a:r>
            <a:endParaRPr lang="en-US" sz="3200" dirty="0"/>
          </a:p>
        </p:txBody>
      </p:sp>
      <p:sp>
        <p:nvSpPr>
          <p:cNvPr id="3" name="Etiqueta de tiempo"/>
          <p:cNvSpPr/>
          <p:nvPr/>
        </p:nvSpPr>
        <p:spPr>
          <a:xfrm>
            <a:off x="9187891" y="548640"/>
            <a:ext cx="2455164" cy="457200"/>
          </a:xfrm>
          <a:prstGeom prst="roundRect">
            <a:avLst>
              <a:gd name="adj" fmla="val 50000"/>
            </a:avLst>
          </a:prstGeom>
          <a:solidFill>
            <a:schemeClr val="accent1"/>
          </a:solidFill>
          <a:ln/>
        </p:spPr>
      </p:sp>
      <p:sp>
        <p:nvSpPr>
          <p:cNvPr id="4" name="Text 2"/>
          <p:cNvSpPr txBox="1"/>
          <p:nvPr/>
        </p:nvSpPr>
        <p:spPr>
          <a:xfrm>
            <a:off x="9187891" y="548640"/>
            <a:ext cx="2455164" cy="457200"/>
          </a:xfrm>
          <a:prstGeom prst="rect">
            <a:avLst/>
          </a:prstGeom>
          <a:noFill/>
          <a:ln/>
        </p:spPr>
        <p:txBody>
          <a:bodyPr wrap="square" lIns="0" tIns="0" rIns="0" bIns="0" rtlCol="0" anchor="ctr"/>
          <a:lstStyle/>
          <a:p>
            <a:pPr marL="0" indent="0" algn="ctr">
              <a:buNone/>
            </a:pPr>
            <a:r>
              <a:rPr lang="en-US" sz="1400" b="1" dirty="0">
                <a:solidFill>
                  <a:schemeClr val="tx1"/>
                </a:solidFill>
              </a:rPr>
              <a:t>Min. 20–30 · Sin IA</a:t>
            </a:r>
            <a:endParaRPr lang="en-US" sz="1400" dirty="0"/>
          </a:p>
        </p:txBody>
      </p:sp>
      <p:sp>
        <p:nvSpPr>
          <p:cNvPr id="5" name="Reto"/>
          <p:cNvSpPr/>
          <p:nvPr/>
        </p:nvSpPr>
        <p:spPr>
          <a:xfrm>
            <a:off x="548640" y="1463040"/>
            <a:ext cx="11094415" cy="1600200"/>
          </a:xfrm>
          <a:prstGeom prst="roundRect">
            <a:avLst>
              <a:gd name="adj" fmla="val 8571"/>
            </a:avLst>
          </a:prstGeom>
          <a:solidFill>
            <a:schemeClr val="tx1"/>
          </a:solidFill>
          <a:ln/>
        </p:spPr>
      </p:sp>
      <p:sp>
        <p:nvSpPr>
          <p:cNvPr id="6" name="Text 4"/>
          <p:cNvSpPr txBox="1"/>
          <p:nvPr/>
        </p:nvSpPr>
        <p:spPr>
          <a:xfrm>
            <a:off x="914400" y="1463040"/>
            <a:ext cx="10362895" cy="1600200"/>
          </a:xfrm>
          <a:prstGeom prst="rect">
            <a:avLst/>
          </a:prstGeom>
          <a:noFill/>
          <a:ln/>
        </p:spPr>
        <p:txBody>
          <a:bodyPr wrap="square" lIns="0" tIns="0" rIns="0" bIns="0" rtlCol="0" anchor="ctr"/>
          <a:lstStyle/>
          <a:p>
            <a:pPr marL="0" indent="0">
              <a:buNone/>
            </a:pPr>
            <a:r>
              <a:rPr lang="en-US" sz="1500" b="1" i="1" dirty="0">
                <a:solidFill>
                  <a:schemeClr val="accent1"/>
                </a:solidFill>
              </a:rPr>
              <a:t>El reto</a:t>
            </a:r>
            <a:endParaRPr lang="en-US" sz="2300" dirty="0"/>
          </a:p>
          <a:p>
            <a:pPr marL="0" indent="0">
              <a:buNone/>
            </a:pPr>
            <a:r>
              <a:rPr lang="en-US" sz="2300" i="1" dirty="0">
                <a:solidFill>
                  <a:schemeClr val="bg1"/>
                </a:solidFill>
              </a:rPr>
              <a:t>¿Cómo podríamos conseguir que más personas pidan información sobre los cursos de una academia de formación que recibe pocas solicitudes?</a:t>
            </a:r>
            <a:endParaRPr lang="en-US" sz="2300" dirty="0"/>
          </a:p>
        </p:txBody>
      </p:sp>
      <p:sp>
        <p:nvSpPr>
          <p:cNvPr id="7" name="Instrucción"/>
          <p:cNvSpPr/>
          <p:nvPr/>
        </p:nvSpPr>
        <p:spPr>
          <a:xfrm>
            <a:off x="548640" y="3429000"/>
            <a:ext cx="685800" cy="685800"/>
          </a:xfrm>
          <a:prstGeom prst="ellipse">
            <a:avLst/>
          </a:prstGeom>
          <a:solidFill>
            <a:schemeClr val="accent1"/>
          </a:solidFill>
          <a:ln/>
        </p:spPr>
      </p:sp>
      <p:pic>
        <p:nvPicPr>
          <p:cNvPr id="8" name="Image 0" descr="Instrucción"/>
          <p:cNvPicPr>
            <a:picLocks noChangeAspect="1"/>
          </p:cNvPicPr>
          <p:nvPr/>
        </p:nvPicPr>
        <p:blipFill>
          <a:blip r:embed="rId3"/>
          <a:stretch>
            <a:fillRect/>
          </a:stretch>
        </p:blipFill>
        <p:spPr>
          <a:xfrm>
            <a:off x="713232" y="3593592"/>
            <a:ext cx="356616" cy="356616"/>
          </a:xfrm>
          <a:prstGeom prst="rect">
            <a:avLst/>
          </a:prstGeom>
        </p:spPr>
      </p:pic>
      <p:sp>
        <p:nvSpPr>
          <p:cNvPr id="9" name="Text 6"/>
          <p:cNvSpPr txBox="1"/>
          <p:nvPr/>
        </p:nvSpPr>
        <p:spPr>
          <a:xfrm>
            <a:off x="1463040" y="3429000"/>
            <a:ext cx="10058400" cy="685800"/>
          </a:xfrm>
          <a:prstGeom prst="rect">
            <a:avLst/>
          </a:prstGeom>
          <a:noFill/>
          <a:ln/>
        </p:spPr>
        <p:txBody>
          <a:bodyPr wrap="square" lIns="0" tIns="0" rIns="0" bIns="0" rtlCol="0" anchor="ctr"/>
          <a:lstStyle/>
          <a:p>
            <a:pPr marL="0" indent="0">
              <a:buNone/>
            </a:pPr>
            <a:r>
              <a:rPr lang="en-US" sz="2000" dirty="0">
                <a:solidFill>
                  <a:schemeClr val="tx1"/>
                </a:solidFill>
              </a:rPr>
              <a:t>Turno en rueda: habla todo el mundo. Si no tienes idea, di «paso».</a:t>
            </a:r>
            <a:endParaRPr lang="en-US" sz="2000" dirty="0"/>
          </a:p>
        </p:txBody>
      </p:sp>
      <p:sp>
        <p:nvSpPr>
          <p:cNvPr id="10" name="Instrucción"/>
          <p:cNvSpPr/>
          <p:nvPr/>
        </p:nvSpPr>
        <p:spPr>
          <a:xfrm>
            <a:off x="548640" y="4297680"/>
            <a:ext cx="685800" cy="685800"/>
          </a:xfrm>
          <a:prstGeom prst="ellipse">
            <a:avLst/>
          </a:prstGeom>
          <a:solidFill>
            <a:schemeClr val="accent1"/>
          </a:solidFill>
          <a:ln/>
        </p:spPr>
      </p:sp>
      <p:pic>
        <p:nvPicPr>
          <p:cNvPr id="11" name="Image 1" descr="Instrucción"/>
          <p:cNvPicPr>
            <a:picLocks noChangeAspect="1"/>
          </p:cNvPicPr>
          <p:nvPr/>
        </p:nvPicPr>
        <p:blipFill>
          <a:blip r:embed="rId4"/>
          <a:stretch>
            <a:fillRect/>
          </a:stretch>
        </p:blipFill>
        <p:spPr>
          <a:xfrm>
            <a:off x="713232" y="4462272"/>
            <a:ext cx="356616" cy="356616"/>
          </a:xfrm>
          <a:prstGeom prst="rect">
            <a:avLst/>
          </a:prstGeom>
        </p:spPr>
      </p:pic>
      <p:sp>
        <p:nvSpPr>
          <p:cNvPr id="12" name="Text 8"/>
          <p:cNvSpPr txBox="1"/>
          <p:nvPr/>
        </p:nvSpPr>
        <p:spPr>
          <a:xfrm>
            <a:off x="1463040" y="4297680"/>
            <a:ext cx="10058400" cy="685800"/>
          </a:xfrm>
          <a:prstGeom prst="rect">
            <a:avLst/>
          </a:prstGeom>
          <a:noFill/>
          <a:ln/>
        </p:spPr>
        <p:txBody>
          <a:bodyPr wrap="square" lIns="0" tIns="0" rIns="0" bIns="0" rtlCol="0" anchor="ctr"/>
          <a:lstStyle/>
          <a:p>
            <a:pPr marL="0" indent="0">
              <a:buNone/>
            </a:pPr>
            <a:r>
              <a:rPr lang="en-US" sz="2000" dirty="0">
                <a:solidFill>
                  <a:schemeClr val="tx1"/>
                </a:solidFill>
              </a:rPr>
              <a:t>Se apuntan todas las ideas, numeradas y sin comentarlas.</a:t>
            </a:r>
            <a:endParaRPr lang="en-US" sz="2000" dirty="0"/>
          </a:p>
        </p:txBody>
      </p:sp>
      <p:sp>
        <p:nvSpPr>
          <p:cNvPr id="13" name="Instrucción"/>
          <p:cNvSpPr/>
          <p:nvPr/>
        </p:nvSpPr>
        <p:spPr>
          <a:xfrm>
            <a:off x="548640" y="5166360"/>
            <a:ext cx="685800" cy="685800"/>
          </a:xfrm>
          <a:prstGeom prst="ellipse">
            <a:avLst/>
          </a:prstGeom>
          <a:solidFill>
            <a:schemeClr val="accent1"/>
          </a:solidFill>
          <a:ln/>
        </p:spPr>
      </p:sp>
      <p:pic>
        <p:nvPicPr>
          <p:cNvPr id="14" name="Image 2" descr="Instrucción"/>
          <p:cNvPicPr>
            <a:picLocks noChangeAspect="1"/>
          </p:cNvPicPr>
          <p:nvPr/>
        </p:nvPicPr>
        <p:blipFill>
          <a:blip r:embed="rId5"/>
          <a:stretch>
            <a:fillRect/>
          </a:stretch>
        </p:blipFill>
        <p:spPr>
          <a:xfrm>
            <a:off x="713232" y="5330952"/>
            <a:ext cx="356616" cy="356616"/>
          </a:xfrm>
          <a:prstGeom prst="rect">
            <a:avLst/>
          </a:prstGeom>
        </p:spPr>
      </p:pic>
      <p:sp>
        <p:nvSpPr>
          <p:cNvPr id="15" name="Text 10"/>
          <p:cNvSpPr txBox="1"/>
          <p:nvPr/>
        </p:nvSpPr>
        <p:spPr>
          <a:xfrm>
            <a:off x="1463040" y="5166360"/>
            <a:ext cx="10058400" cy="685800"/>
          </a:xfrm>
          <a:prstGeom prst="rect">
            <a:avLst/>
          </a:prstGeom>
          <a:noFill/>
          <a:ln/>
        </p:spPr>
        <p:txBody>
          <a:bodyPr wrap="square" lIns="0" tIns="0" rIns="0" bIns="0" rtlCol="0" anchor="ctr"/>
          <a:lstStyle/>
          <a:p>
            <a:pPr marL="0" indent="0">
              <a:buNone/>
            </a:pPr>
            <a:r>
              <a:rPr lang="en-US" sz="2000" dirty="0">
                <a:solidFill>
                  <a:schemeClr val="tx1"/>
                </a:solidFill>
              </a:rPr>
              <a:t>Al final, contamos cuántas ideas hemos generado.</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35</a:t>
            </a:fld>
            <a:endParaRPr lang="en-US"/>
          </a:p>
        </p:txBody>
      </p:sp>
      <p:sp>
        <p:nvSpPr>
          <p:cNvPr id="26" name="Dónde escribir"/>
          <p:cNvSpPr/>
          <p:nvPr/>
        </p:nvSpPr>
        <p:spPr>
          <a:xfrm>
            <a:off x="6559905" y="6291072"/>
            <a:ext cx="4367174"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1  ›  Ronda sin IA</a:t>
            </a:r>
          </a:p>
        </p:txBody>
      </p:sp>
      <p:sp>
        <p:nvSpPr>
          <p:cNvPr id="27" name="Dónde escribir: círculo"/>
          <p:cNvSpPr/>
          <p:nvPr/>
        </p:nvSpPr>
        <p:spPr>
          <a:xfrm>
            <a:off x="6614769"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4"/>
          <a:stretch>
            <a:fillRect/>
          </a:stretch>
        </p:blipFill>
        <p:spPr>
          <a:xfrm>
            <a:off x="6687921" y="6409944"/>
            <a:ext cx="146304" cy="14630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1C157-5BF1-068C-44E4-96E0189EFD0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50E45F-F7A9-F415-62DF-B564E5E32E7E}"/>
              </a:ext>
            </a:extLst>
          </p:cNvPr>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Ejercicio 1: brainstorming entre todos</a:t>
            </a:r>
            <a:endParaRPr lang="en-US" sz="3200" dirty="0"/>
          </a:p>
        </p:txBody>
      </p:sp>
      <p:sp>
        <p:nvSpPr>
          <p:cNvPr id="3" name="Etiqueta de tiempo">
            <a:extLst>
              <a:ext uri="{FF2B5EF4-FFF2-40B4-BE49-F238E27FC236}">
                <a16:creationId xmlns:a16="http://schemas.microsoft.com/office/drawing/2014/main" id="{13192E66-AB85-DE66-C4FF-058EFD35EEFB}"/>
              </a:ext>
            </a:extLst>
          </p:cNvPr>
          <p:cNvSpPr/>
          <p:nvPr/>
        </p:nvSpPr>
        <p:spPr>
          <a:xfrm>
            <a:off x="9187891" y="548640"/>
            <a:ext cx="2455164" cy="457200"/>
          </a:xfrm>
          <a:prstGeom prst="roundRect">
            <a:avLst>
              <a:gd name="adj" fmla="val 50000"/>
            </a:avLst>
          </a:prstGeom>
          <a:solidFill>
            <a:schemeClr val="accent1"/>
          </a:solidFill>
          <a:ln/>
        </p:spPr>
      </p:sp>
      <p:sp>
        <p:nvSpPr>
          <p:cNvPr id="4" name="Text 2">
            <a:extLst>
              <a:ext uri="{FF2B5EF4-FFF2-40B4-BE49-F238E27FC236}">
                <a16:creationId xmlns:a16="http://schemas.microsoft.com/office/drawing/2014/main" id="{E2F56FB2-259E-D9C6-7954-61A7B332E9BC}"/>
              </a:ext>
            </a:extLst>
          </p:cNvPr>
          <p:cNvSpPr txBox="1"/>
          <p:nvPr/>
        </p:nvSpPr>
        <p:spPr>
          <a:xfrm>
            <a:off x="9187891" y="548640"/>
            <a:ext cx="2455164" cy="457200"/>
          </a:xfrm>
          <a:prstGeom prst="rect">
            <a:avLst/>
          </a:prstGeom>
          <a:noFill/>
          <a:ln/>
        </p:spPr>
        <p:txBody>
          <a:bodyPr wrap="square" lIns="0" tIns="0" rIns="0" bIns="0" rtlCol="0" anchor="ctr"/>
          <a:lstStyle/>
          <a:p>
            <a:pPr marL="0" indent="0" algn="ctr">
              <a:buNone/>
            </a:pPr>
            <a:r>
              <a:rPr lang="en-US" sz="1400" b="1" dirty="0">
                <a:solidFill>
                  <a:schemeClr val="tx1"/>
                </a:solidFill>
              </a:rPr>
              <a:t>Min. 20–30 · Sin IA</a:t>
            </a:r>
            <a:endParaRPr lang="en-US" sz="1400" dirty="0"/>
          </a:p>
        </p:txBody>
      </p:sp>
      <p:sp>
        <p:nvSpPr>
          <p:cNvPr id="5" name="Reto">
            <a:extLst>
              <a:ext uri="{FF2B5EF4-FFF2-40B4-BE49-F238E27FC236}">
                <a16:creationId xmlns:a16="http://schemas.microsoft.com/office/drawing/2014/main" id="{8A1AC13D-B64D-FA10-DA67-135898C3FC12}"/>
              </a:ext>
            </a:extLst>
          </p:cNvPr>
          <p:cNvSpPr/>
          <p:nvPr/>
        </p:nvSpPr>
        <p:spPr>
          <a:xfrm>
            <a:off x="548640" y="1463040"/>
            <a:ext cx="11094415" cy="1600200"/>
          </a:xfrm>
          <a:prstGeom prst="roundRect">
            <a:avLst>
              <a:gd name="adj" fmla="val 8571"/>
            </a:avLst>
          </a:prstGeom>
          <a:solidFill>
            <a:schemeClr val="tx1"/>
          </a:solidFill>
          <a:ln/>
        </p:spPr>
      </p:sp>
      <p:sp>
        <p:nvSpPr>
          <p:cNvPr id="6" name="Text 4">
            <a:extLst>
              <a:ext uri="{FF2B5EF4-FFF2-40B4-BE49-F238E27FC236}">
                <a16:creationId xmlns:a16="http://schemas.microsoft.com/office/drawing/2014/main" id="{B0867E15-DC7F-411C-B61D-A0D0F7BF5D22}"/>
              </a:ext>
            </a:extLst>
          </p:cNvPr>
          <p:cNvSpPr txBox="1"/>
          <p:nvPr/>
        </p:nvSpPr>
        <p:spPr>
          <a:xfrm>
            <a:off x="914400" y="1463040"/>
            <a:ext cx="10362895" cy="1600200"/>
          </a:xfrm>
          <a:prstGeom prst="rect">
            <a:avLst/>
          </a:prstGeom>
          <a:noFill/>
          <a:ln/>
        </p:spPr>
        <p:txBody>
          <a:bodyPr wrap="square" lIns="0" tIns="0" rIns="0" bIns="0" rtlCol="0" anchor="ctr"/>
          <a:lstStyle/>
          <a:p>
            <a:pPr marL="0" indent="0">
              <a:buNone/>
            </a:pPr>
            <a:r>
              <a:rPr lang="en-US" sz="1500" b="1" i="1" dirty="0">
                <a:solidFill>
                  <a:schemeClr val="accent1"/>
                </a:solidFill>
              </a:rPr>
              <a:t>Las ideas</a:t>
            </a:r>
            <a:endParaRPr lang="en-US" sz="2300" dirty="0"/>
          </a:p>
          <a:p>
            <a:pPr marL="0" indent="0">
              <a:buNone/>
            </a:pPr>
            <a:r>
              <a:rPr lang="en-US" sz="2300" i="1" dirty="0" err="1">
                <a:solidFill>
                  <a:schemeClr val="bg1"/>
                </a:solidFill>
              </a:rPr>
              <a:t>Agrupar</a:t>
            </a:r>
            <a:r>
              <a:rPr lang="en-US" sz="2300" i="1" dirty="0">
                <a:solidFill>
                  <a:schemeClr val="bg1"/>
                </a:solidFill>
              </a:rPr>
              <a:t> las ideas </a:t>
            </a:r>
            <a:r>
              <a:rPr lang="en-US" sz="2300" i="1" dirty="0" err="1">
                <a:solidFill>
                  <a:schemeClr val="bg1"/>
                </a:solidFill>
              </a:rPr>
              <a:t>según</a:t>
            </a:r>
            <a:r>
              <a:rPr lang="en-US" sz="2300" i="1" dirty="0">
                <a:solidFill>
                  <a:schemeClr val="bg1"/>
                </a:solidFill>
              </a:rPr>
              <a:t> </a:t>
            </a:r>
            <a:r>
              <a:rPr lang="en-US" sz="2300" i="1" dirty="0" err="1">
                <a:solidFill>
                  <a:schemeClr val="bg1"/>
                </a:solidFill>
              </a:rPr>
              <a:t>categorías</a:t>
            </a:r>
            <a:r>
              <a:rPr lang="en-US" sz="2300" i="1" dirty="0">
                <a:solidFill>
                  <a:schemeClr val="bg1"/>
                </a:solidFill>
              </a:rPr>
              <a:t>. Eso </a:t>
            </a:r>
            <a:r>
              <a:rPr lang="en-US" sz="2300" i="1" dirty="0" err="1">
                <a:solidFill>
                  <a:schemeClr val="bg1"/>
                </a:solidFill>
              </a:rPr>
              <a:t>ayuda</a:t>
            </a:r>
            <a:r>
              <a:rPr lang="en-US" sz="2300" i="1" dirty="0">
                <a:solidFill>
                  <a:schemeClr val="bg1"/>
                </a:solidFill>
              </a:rPr>
              <a:t> a fomenter </a:t>
            </a:r>
            <a:r>
              <a:rPr lang="en-US" sz="2300" i="1" dirty="0" err="1">
                <a:solidFill>
                  <a:schemeClr val="bg1"/>
                </a:solidFill>
              </a:rPr>
              <a:t>nuevas</a:t>
            </a:r>
            <a:r>
              <a:rPr lang="en-US" sz="2300" i="1" dirty="0">
                <a:solidFill>
                  <a:schemeClr val="bg1"/>
                </a:solidFill>
              </a:rPr>
              <a:t> ideas</a:t>
            </a:r>
            <a:endParaRPr lang="en-US" sz="2300" dirty="0"/>
          </a:p>
        </p:txBody>
      </p:sp>
      <p:grpSp>
        <p:nvGrpSpPr>
          <p:cNvPr id="16" name="Grupo 15">
            <a:extLst>
              <a:ext uri="{FF2B5EF4-FFF2-40B4-BE49-F238E27FC236}">
                <a16:creationId xmlns:a16="http://schemas.microsoft.com/office/drawing/2014/main" id="{4B5B82EB-27D5-BDC6-FF57-36BE1E05844D}"/>
              </a:ext>
            </a:extLst>
          </p:cNvPr>
          <p:cNvGrpSpPr/>
          <p:nvPr/>
        </p:nvGrpSpPr>
        <p:grpSpPr>
          <a:xfrm>
            <a:off x="548639" y="3429000"/>
            <a:ext cx="556591" cy="521208"/>
            <a:chOff x="548640" y="3429000"/>
            <a:chExt cx="685800" cy="685800"/>
          </a:xfrm>
        </p:grpSpPr>
        <p:sp>
          <p:nvSpPr>
            <p:cNvPr id="7" name="Instrucción">
              <a:extLst>
                <a:ext uri="{FF2B5EF4-FFF2-40B4-BE49-F238E27FC236}">
                  <a16:creationId xmlns:a16="http://schemas.microsoft.com/office/drawing/2014/main" id="{7C5C656A-5C42-49B4-842E-AFCF11101760}"/>
                </a:ext>
              </a:extLst>
            </p:cNvPr>
            <p:cNvSpPr/>
            <p:nvPr/>
          </p:nvSpPr>
          <p:spPr>
            <a:xfrm>
              <a:off x="548640" y="3429000"/>
              <a:ext cx="685800" cy="685800"/>
            </a:xfrm>
            <a:prstGeom prst="ellipse">
              <a:avLst/>
            </a:prstGeom>
            <a:solidFill>
              <a:schemeClr val="accent1"/>
            </a:solidFill>
            <a:ln/>
          </p:spPr>
        </p:sp>
        <p:pic>
          <p:nvPicPr>
            <p:cNvPr id="8" name="Image 0" descr="Instrucción">
              <a:extLst>
                <a:ext uri="{FF2B5EF4-FFF2-40B4-BE49-F238E27FC236}">
                  <a16:creationId xmlns:a16="http://schemas.microsoft.com/office/drawing/2014/main" id="{2DAC96DE-0330-03D0-89FD-BF8FA9236CEE}"/>
                </a:ext>
              </a:extLst>
            </p:cNvPr>
            <p:cNvPicPr>
              <a:picLocks noChangeAspect="1"/>
            </p:cNvPicPr>
            <p:nvPr/>
          </p:nvPicPr>
          <p:blipFill>
            <a:blip r:embed="rId3"/>
            <a:stretch>
              <a:fillRect/>
            </a:stretch>
          </p:blipFill>
          <p:spPr>
            <a:xfrm>
              <a:off x="713232" y="3593592"/>
              <a:ext cx="356616" cy="356616"/>
            </a:xfrm>
            <a:prstGeom prst="rect">
              <a:avLst/>
            </a:prstGeom>
          </p:spPr>
        </p:pic>
      </p:grpSp>
      <p:sp>
        <p:nvSpPr>
          <p:cNvPr id="9" name="Text 6">
            <a:extLst>
              <a:ext uri="{FF2B5EF4-FFF2-40B4-BE49-F238E27FC236}">
                <a16:creationId xmlns:a16="http://schemas.microsoft.com/office/drawing/2014/main" id="{C6E5E876-BF4D-437A-2968-9B3B8924CB5C}"/>
              </a:ext>
            </a:extLst>
          </p:cNvPr>
          <p:cNvSpPr txBox="1"/>
          <p:nvPr/>
        </p:nvSpPr>
        <p:spPr>
          <a:xfrm>
            <a:off x="1288112" y="3337560"/>
            <a:ext cx="10058400" cy="685800"/>
          </a:xfrm>
          <a:prstGeom prst="rect">
            <a:avLst/>
          </a:prstGeom>
          <a:noFill/>
          <a:ln/>
        </p:spPr>
        <p:txBody>
          <a:bodyPr wrap="square" lIns="0" tIns="0" rIns="0" bIns="0" rtlCol="0" anchor="ctr"/>
          <a:lstStyle/>
          <a:p>
            <a:r>
              <a:rPr lang="es-ES" sz="2000" dirty="0"/>
              <a:t>Visibilidad y captación</a:t>
            </a:r>
            <a:endParaRPr lang="en-US" sz="2000" dirty="0"/>
          </a:p>
        </p:txBody>
      </p:sp>
      <p:grpSp>
        <p:nvGrpSpPr>
          <p:cNvPr id="17" name="Grupo 16">
            <a:extLst>
              <a:ext uri="{FF2B5EF4-FFF2-40B4-BE49-F238E27FC236}">
                <a16:creationId xmlns:a16="http://schemas.microsoft.com/office/drawing/2014/main" id="{600700F3-8B53-F616-8B99-2C3E6AEA5D9D}"/>
              </a:ext>
            </a:extLst>
          </p:cNvPr>
          <p:cNvGrpSpPr/>
          <p:nvPr/>
        </p:nvGrpSpPr>
        <p:grpSpPr>
          <a:xfrm>
            <a:off x="567192" y="4023360"/>
            <a:ext cx="556591" cy="521208"/>
            <a:chOff x="548640" y="4297680"/>
            <a:chExt cx="685800" cy="685800"/>
          </a:xfrm>
        </p:grpSpPr>
        <p:sp>
          <p:nvSpPr>
            <p:cNvPr id="10" name="Instrucción">
              <a:extLst>
                <a:ext uri="{FF2B5EF4-FFF2-40B4-BE49-F238E27FC236}">
                  <a16:creationId xmlns:a16="http://schemas.microsoft.com/office/drawing/2014/main" id="{F02C3D60-68BC-AD5C-5CAF-D96EFFF31F05}"/>
                </a:ext>
              </a:extLst>
            </p:cNvPr>
            <p:cNvSpPr/>
            <p:nvPr/>
          </p:nvSpPr>
          <p:spPr>
            <a:xfrm>
              <a:off x="548640" y="4297680"/>
              <a:ext cx="685800" cy="685800"/>
            </a:xfrm>
            <a:prstGeom prst="ellipse">
              <a:avLst/>
            </a:prstGeom>
            <a:solidFill>
              <a:schemeClr val="accent1"/>
            </a:solidFill>
            <a:ln/>
          </p:spPr>
        </p:sp>
        <p:pic>
          <p:nvPicPr>
            <p:cNvPr id="11" name="Image 1" descr="Instrucción">
              <a:extLst>
                <a:ext uri="{FF2B5EF4-FFF2-40B4-BE49-F238E27FC236}">
                  <a16:creationId xmlns:a16="http://schemas.microsoft.com/office/drawing/2014/main" id="{3EB6B9E4-DF8D-E150-6186-78820B9D45C0}"/>
                </a:ext>
              </a:extLst>
            </p:cNvPr>
            <p:cNvPicPr>
              <a:picLocks noChangeAspect="1"/>
            </p:cNvPicPr>
            <p:nvPr/>
          </p:nvPicPr>
          <p:blipFill>
            <a:blip r:embed="rId4"/>
            <a:stretch>
              <a:fillRect/>
            </a:stretch>
          </p:blipFill>
          <p:spPr>
            <a:xfrm>
              <a:off x="713232" y="4462272"/>
              <a:ext cx="356616" cy="356616"/>
            </a:xfrm>
            <a:prstGeom prst="rect">
              <a:avLst/>
            </a:prstGeom>
          </p:spPr>
        </p:pic>
      </p:grpSp>
      <p:sp>
        <p:nvSpPr>
          <p:cNvPr id="12" name="Text 8">
            <a:extLst>
              <a:ext uri="{FF2B5EF4-FFF2-40B4-BE49-F238E27FC236}">
                <a16:creationId xmlns:a16="http://schemas.microsoft.com/office/drawing/2014/main" id="{BD0DF7C1-EFE9-A852-AB12-909ADCF0BF0C}"/>
              </a:ext>
            </a:extLst>
          </p:cNvPr>
          <p:cNvSpPr txBox="1"/>
          <p:nvPr/>
        </p:nvSpPr>
        <p:spPr>
          <a:xfrm>
            <a:off x="1257365" y="3898127"/>
            <a:ext cx="10058400" cy="685800"/>
          </a:xfrm>
          <a:prstGeom prst="rect">
            <a:avLst/>
          </a:prstGeom>
          <a:noFill/>
          <a:ln/>
        </p:spPr>
        <p:txBody>
          <a:bodyPr wrap="square" lIns="0" tIns="0" rIns="0" bIns="0" rtlCol="0" anchor="ctr"/>
          <a:lstStyle/>
          <a:p>
            <a:r>
              <a:rPr lang="es-ES" sz="2000" dirty="0"/>
              <a:t>Ofrecer algo antes de vender</a:t>
            </a:r>
            <a:endParaRPr lang="en-US" sz="2000" dirty="0"/>
          </a:p>
        </p:txBody>
      </p:sp>
      <p:sp>
        <p:nvSpPr>
          <p:cNvPr id="15" name="Text 10">
            <a:extLst>
              <a:ext uri="{FF2B5EF4-FFF2-40B4-BE49-F238E27FC236}">
                <a16:creationId xmlns:a16="http://schemas.microsoft.com/office/drawing/2014/main" id="{8E9447C0-588A-3220-74C8-762ED63D88AE}"/>
              </a:ext>
            </a:extLst>
          </p:cNvPr>
          <p:cNvSpPr txBox="1"/>
          <p:nvPr/>
        </p:nvSpPr>
        <p:spPr>
          <a:xfrm>
            <a:off x="1257365" y="4544568"/>
            <a:ext cx="10058400" cy="685800"/>
          </a:xfrm>
          <a:prstGeom prst="rect">
            <a:avLst/>
          </a:prstGeom>
          <a:noFill/>
          <a:ln/>
        </p:spPr>
        <p:txBody>
          <a:bodyPr wrap="square" lIns="0" tIns="0" rIns="0" bIns="0" rtlCol="0" anchor="ctr"/>
          <a:lstStyle/>
          <a:p>
            <a:r>
              <a:rPr lang="es-ES" sz="2000" dirty="0"/>
              <a:t>Facilitar el contacto</a:t>
            </a:r>
            <a:endParaRPr lang="en-US" sz="2000" dirty="0"/>
          </a:p>
        </p:txBody>
      </p:sp>
      <p:sp>
        <p:nvSpPr>
          <p:cNvPr id="25" name="Slide Number Placeholder 0">
            <a:extLst>
              <a:ext uri="{FF2B5EF4-FFF2-40B4-BE49-F238E27FC236}">
                <a16:creationId xmlns:a16="http://schemas.microsoft.com/office/drawing/2014/main" id="{D7F9C04F-7B15-CCEC-10FA-C3FC293DB6A7}"/>
              </a:ext>
            </a:extLst>
          </p:cNvPr>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36</a:t>
            </a:fld>
            <a:endParaRPr lang="en-US"/>
          </a:p>
        </p:txBody>
      </p:sp>
      <p:grpSp>
        <p:nvGrpSpPr>
          <p:cNvPr id="26" name="Grupo 25">
            <a:extLst>
              <a:ext uri="{FF2B5EF4-FFF2-40B4-BE49-F238E27FC236}">
                <a16:creationId xmlns:a16="http://schemas.microsoft.com/office/drawing/2014/main" id="{CB3DE359-162F-F021-8250-AEA5366D0C63}"/>
              </a:ext>
            </a:extLst>
          </p:cNvPr>
          <p:cNvGrpSpPr/>
          <p:nvPr/>
        </p:nvGrpSpPr>
        <p:grpSpPr>
          <a:xfrm>
            <a:off x="567192" y="5259248"/>
            <a:ext cx="556591" cy="521208"/>
            <a:chOff x="526900" y="5384338"/>
            <a:chExt cx="556591" cy="521208"/>
          </a:xfrm>
        </p:grpSpPr>
        <p:sp>
          <p:nvSpPr>
            <p:cNvPr id="20" name="Instrucción">
              <a:extLst>
                <a:ext uri="{FF2B5EF4-FFF2-40B4-BE49-F238E27FC236}">
                  <a16:creationId xmlns:a16="http://schemas.microsoft.com/office/drawing/2014/main" id="{887F219A-5147-EECF-1A6B-1209C695311C}"/>
                </a:ext>
              </a:extLst>
            </p:cNvPr>
            <p:cNvSpPr/>
            <p:nvPr/>
          </p:nvSpPr>
          <p:spPr>
            <a:xfrm>
              <a:off x="526900" y="5384338"/>
              <a:ext cx="556591" cy="521208"/>
            </a:xfrm>
            <a:prstGeom prst="ellipse">
              <a:avLst/>
            </a:prstGeom>
            <a:solidFill>
              <a:schemeClr val="accent1"/>
            </a:solidFill>
            <a:ln/>
          </p:spPr>
        </p:sp>
        <p:pic>
          <p:nvPicPr>
            <p:cNvPr id="21" name="Image 2" descr="Instrucción">
              <a:extLst>
                <a:ext uri="{FF2B5EF4-FFF2-40B4-BE49-F238E27FC236}">
                  <a16:creationId xmlns:a16="http://schemas.microsoft.com/office/drawing/2014/main" id="{71DAB963-B98C-001F-D2B1-90F17BD99CFC}"/>
                </a:ext>
              </a:extLst>
            </p:cNvPr>
            <p:cNvPicPr>
              <a:picLocks noChangeAspect="1"/>
            </p:cNvPicPr>
            <p:nvPr/>
          </p:nvPicPr>
          <p:blipFill>
            <a:blip r:embed="rId5"/>
            <a:stretch>
              <a:fillRect/>
            </a:stretch>
          </p:blipFill>
          <p:spPr>
            <a:xfrm>
              <a:off x="660482" y="5509428"/>
              <a:ext cx="289427" cy="271028"/>
            </a:xfrm>
            <a:prstGeom prst="rect">
              <a:avLst/>
            </a:prstGeom>
          </p:spPr>
        </p:pic>
      </p:grpSp>
      <p:grpSp>
        <p:nvGrpSpPr>
          <p:cNvPr id="24" name="Grupo 23">
            <a:extLst>
              <a:ext uri="{FF2B5EF4-FFF2-40B4-BE49-F238E27FC236}">
                <a16:creationId xmlns:a16="http://schemas.microsoft.com/office/drawing/2014/main" id="{31CD4B49-0EEF-41F2-63E3-C0772F3E58C4}"/>
              </a:ext>
            </a:extLst>
          </p:cNvPr>
          <p:cNvGrpSpPr/>
          <p:nvPr/>
        </p:nvGrpSpPr>
        <p:grpSpPr>
          <a:xfrm>
            <a:off x="553940" y="4617720"/>
            <a:ext cx="556591" cy="521208"/>
            <a:chOff x="540154" y="4703849"/>
            <a:chExt cx="556591" cy="521208"/>
          </a:xfrm>
        </p:grpSpPr>
        <p:sp>
          <p:nvSpPr>
            <p:cNvPr id="13" name="Instrucción">
              <a:extLst>
                <a:ext uri="{FF2B5EF4-FFF2-40B4-BE49-F238E27FC236}">
                  <a16:creationId xmlns:a16="http://schemas.microsoft.com/office/drawing/2014/main" id="{92BCD082-ECB9-4289-9BB3-7B2DA02D3013}"/>
                </a:ext>
              </a:extLst>
            </p:cNvPr>
            <p:cNvSpPr/>
            <p:nvPr/>
          </p:nvSpPr>
          <p:spPr>
            <a:xfrm>
              <a:off x="540154" y="4703849"/>
              <a:ext cx="556591" cy="521208"/>
            </a:xfrm>
            <a:prstGeom prst="ellipse">
              <a:avLst/>
            </a:prstGeom>
            <a:solidFill>
              <a:schemeClr val="accent1"/>
            </a:solidFill>
            <a:ln/>
          </p:spPr>
        </p:sp>
        <p:pic>
          <p:nvPicPr>
            <p:cNvPr id="23" name="Image 1" descr="Problema">
              <a:extLst>
                <a:ext uri="{FF2B5EF4-FFF2-40B4-BE49-F238E27FC236}">
                  <a16:creationId xmlns:a16="http://schemas.microsoft.com/office/drawing/2014/main" id="{A8CB38C2-DB7D-922C-AC09-2FEC75F0D151}"/>
                </a:ext>
              </a:extLst>
            </p:cNvPr>
            <p:cNvPicPr>
              <a:picLocks noChangeAspect="1"/>
            </p:cNvPicPr>
            <p:nvPr/>
          </p:nvPicPr>
          <p:blipFill>
            <a:blip r:embed="rId6"/>
            <a:stretch>
              <a:fillRect/>
            </a:stretch>
          </p:blipFill>
          <p:spPr>
            <a:xfrm>
              <a:off x="674988" y="4820992"/>
              <a:ext cx="286922" cy="286922"/>
            </a:xfrm>
            <a:prstGeom prst="rect">
              <a:avLst/>
            </a:prstGeom>
          </p:spPr>
        </p:pic>
      </p:grpSp>
      <p:sp>
        <p:nvSpPr>
          <p:cNvPr id="28" name="CuadroTexto 27">
            <a:extLst>
              <a:ext uri="{FF2B5EF4-FFF2-40B4-BE49-F238E27FC236}">
                <a16:creationId xmlns:a16="http://schemas.microsoft.com/office/drawing/2014/main" id="{56587CBF-2FBF-0E07-CB43-1938064A9ECC}"/>
              </a:ext>
            </a:extLst>
          </p:cNvPr>
          <p:cNvSpPr txBox="1"/>
          <p:nvPr/>
        </p:nvSpPr>
        <p:spPr>
          <a:xfrm>
            <a:off x="1172818" y="5320022"/>
            <a:ext cx="6096000" cy="369332"/>
          </a:xfrm>
          <a:prstGeom prst="rect">
            <a:avLst/>
          </a:prstGeom>
          <a:noFill/>
        </p:spPr>
        <p:txBody>
          <a:bodyPr wrap="square">
            <a:spAutoFit/>
          </a:bodyPr>
          <a:lstStyle/>
          <a:p>
            <a:r>
              <a:rPr lang="es-ES" dirty="0"/>
              <a:t>Confianza y recomendaciones</a:t>
            </a:r>
          </a:p>
        </p:txBody>
      </p:sp>
      <p:sp>
        <p:nvSpPr>
          <p:cNvPr id="29" name="Dónde escribir"/>
          <p:cNvSpPr/>
          <p:nvPr/>
        </p:nvSpPr>
        <p:spPr>
          <a:xfrm>
            <a:off x="6559905" y="6291072"/>
            <a:ext cx="4367174"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1  ›  Ronda sin IA</a:t>
            </a:r>
          </a:p>
        </p:txBody>
      </p:sp>
      <p:sp>
        <p:nvSpPr>
          <p:cNvPr id="30" name="Dónde escribir: círculo"/>
          <p:cNvSpPr/>
          <p:nvPr/>
        </p:nvSpPr>
        <p:spPr>
          <a:xfrm>
            <a:off x="6614769" y="6336792"/>
            <a:ext cx="292608" cy="292608"/>
          </a:xfrm>
          <a:prstGeom prst="ellipse">
            <a:avLst/>
          </a:prstGeom>
          <a:solidFill>
            <a:schemeClr val="accent1"/>
          </a:solidFill>
          <a:ln>
            <a:noFill/>
          </a:ln>
        </p:spPr>
      </p:sp>
      <p:pic>
        <p:nvPicPr>
          <p:cNvPr id="31" name="Dónde escribir: lápiz" descr="Lápiz"/>
          <p:cNvPicPr>
            <a:picLocks noChangeAspect="1"/>
          </p:cNvPicPr>
          <p:nvPr/>
        </p:nvPicPr>
        <p:blipFill>
          <a:blip r:embed="rId4"/>
          <a:stretch>
            <a:fillRect/>
          </a:stretch>
        </p:blipFill>
        <p:spPr>
          <a:xfrm>
            <a:off x="6687921" y="6409944"/>
            <a:ext cx="146304" cy="146304"/>
          </a:xfrm>
          <a:prstGeom prst="rect">
            <a:avLst/>
          </a:prstGeom>
        </p:spPr>
      </p:pic>
    </p:spTree>
    <p:extLst>
      <p:ext uri="{BB962C8B-B14F-4D97-AF65-F5344CB8AC3E}">
        <p14:creationId xmlns:p14="http://schemas.microsoft.com/office/powerpoint/2010/main" val="3482379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Ronda con IA: el prompt</a:t>
            </a:r>
            <a:endParaRPr lang="en-US" sz="3200" dirty="0"/>
          </a:p>
        </p:txBody>
      </p:sp>
      <p:sp>
        <p:nvSpPr>
          <p:cNvPr id="3" name="Etiqueta de tiempo"/>
          <p:cNvSpPr/>
          <p:nvPr/>
        </p:nvSpPr>
        <p:spPr>
          <a:xfrm>
            <a:off x="9187891" y="548640"/>
            <a:ext cx="2455164" cy="457200"/>
          </a:xfrm>
          <a:prstGeom prst="roundRect">
            <a:avLst>
              <a:gd name="adj" fmla="val 50000"/>
            </a:avLst>
          </a:prstGeom>
          <a:solidFill>
            <a:schemeClr val="accent2"/>
          </a:solidFill>
          <a:ln/>
        </p:spPr>
      </p:sp>
      <p:sp>
        <p:nvSpPr>
          <p:cNvPr id="4" name="Text 2"/>
          <p:cNvSpPr txBox="1"/>
          <p:nvPr/>
        </p:nvSpPr>
        <p:spPr>
          <a:xfrm>
            <a:off x="9187891" y="548640"/>
            <a:ext cx="2455164" cy="457200"/>
          </a:xfrm>
          <a:prstGeom prst="rect">
            <a:avLst/>
          </a:prstGeom>
          <a:noFill/>
          <a:ln/>
        </p:spPr>
        <p:txBody>
          <a:bodyPr wrap="square" lIns="0" tIns="0" rIns="0" bIns="0" rtlCol="0" anchor="ctr"/>
          <a:lstStyle/>
          <a:p>
            <a:pPr marL="0" indent="0" algn="ctr">
              <a:buNone/>
            </a:pPr>
            <a:r>
              <a:rPr lang="en-US" sz="1400" b="1" dirty="0">
                <a:solidFill>
                  <a:schemeClr val="bg1"/>
                </a:solidFill>
              </a:rPr>
              <a:t>Min. 30–38 · Con IA</a:t>
            </a:r>
            <a:endParaRPr lang="en-US" sz="1400" dirty="0"/>
          </a:p>
        </p:txBody>
      </p:sp>
      <p:sp>
        <p:nvSpPr>
          <p:cNvPr id="5" name="Prompt"/>
          <p:cNvSpPr/>
          <p:nvPr/>
        </p:nvSpPr>
        <p:spPr>
          <a:xfrm>
            <a:off x="548640" y="1325880"/>
            <a:ext cx="6858000" cy="4846320"/>
          </a:xfrm>
          <a:prstGeom prst="roundRect">
            <a:avLst>
              <a:gd name="adj" fmla="val 2264"/>
            </a:avLst>
          </a:prstGeom>
          <a:solidFill>
            <a:schemeClr val="tx1"/>
          </a:solidFill>
          <a:ln/>
        </p:spPr>
      </p:sp>
      <p:sp>
        <p:nvSpPr>
          <p:cNvPr id="6" name="Text 4"/>
          <p:cNvSpPr txBox="1"/>
          <p:nvPr/>
        </p:nvSpPr>
        <p:spPr>
          <a:xfrm>
            <a:off x="822960" y="1508760"/>
            <a:ext cx="6309360" cy="4480560"/>
          </a:xfrm>
          <a:prstGeom prst="rect">
            <a:avLst/>
          </a:prstGeom>
          <a:noFill/>
          <a:ln/>
        </p:spPr>
        <p:txBody>
          <a:bodyPr wrap="square" lIns="0" tIns="0" rIns="0" bIns="0" rtlCol="0" anchor="t"/>
          <a:lstStyle/>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Actúa como facilitador experto en sesiones de</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brainstorming para pequeñas empresas.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Contexto: una academia de formación con cinco</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trabajadores y poco presupuesto recibe pocas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solicitudes de información de posibles alumnos.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Reto: ¿cómo podríamos conseguir que más personas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pidan información sobre nuestros cursos?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Nuestro grupo ya ha propuesto estas ideas:</a:t>
            </a:r>
            <a:endParaRPr lang="en-US" sz="1400" dirty="0"/>
          </a:p>
          <a:p>
            <a:pPr marL="0" indent="0">
              <a:lnSpc>
                <a:spcPct val="95000"/>
              </a:lnSpc>
              <a:buNone/>
            </a:pPr>
            <a:r>
              <a:rPr lang="en-US" sz="1400" b="1" dirty="0">
                <a:solidFill>
                  <a:schemeClr val="accent1"/>
                </a:solidFill>
                <a:latin typeface="Courier New" pitchFamily="34" charset="0"/>
                <a:ea typeface="Courier New" pitchFamily="34" charset="-122"/>
                <a:cs typeface="Courier New" pitchFamily="34" charset="-120"/>
              </a:rPr>
              <a:t>[pegar la lista del grupo]</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Tu tarea:</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1. Propón 15 ideas nuevas que no repitan ni</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reformulen las nuestras.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2. Repártelas así: 5 de bajo coste que puedan</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aplicarse esta semana, 5 digitales y 5 poco</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convencionales o atrevidas.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3. Escribe una sola línea por idea, sin explicaciones.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4. No inventes cifras ni resultados.</a:t>
            </a:r>
            <a:endParaRPr lang="en-US" sz="1400" dirty="0"/>
          </a:p>
        </p:txBody>
      </p:sp>
      <p:sp>
        <p:nvSpPr>
          <p:cNvPr id="7" name="Text 5"/>
          <p:cNvSpPr txBox="1"/>
          <p:nvPr/>
        </p:nvSpPr>
        <p:spPr>
          <a:xfrm>
            <a:off x="7772400" y="1371600"/>
            <a:ext cx="3870655" cy="502920"/>
          </a:xfrm>
          <a:prstGeom prst="rect">
            <a:avLst/>
          </a:prstGeom>
          <a:noFill/>
          <a:ln/>
        </p:spPr>
        <p:txBody>
          <a:bodyPr wrap="square" lIns="0" tIns="0" rIns="0" bIns="0" rtlCol="0" anchor="ctr"/>
          <a:lstStyle/>
          <a:p>
            <a:pPr marL="0" indent="0">
              <a:buNone/>
            </a:pPr>
            <a:r>
              <a:rPr lang="en-US" sz="2200" b="1" dirty="0">
                <a:solidFill>
                  <a:schemeClr val="tx1"/>
                </a:solidFill>
              </a:rPr>
              <a:t>Por qué funciona</a:t>
            </a:r>
            <a:endParaRPr lang="en-US" sz="2200" dirty="0"/>
          </a:p>
        </p:txBody>
      </p:sp>
      <p:sp>
        <p:nvSpPr>
          <p:cNvPr id="8" name="Razón 1"/>
          <p:cNvSpPr/>
          <p:nvPr/>
        </p:nvSpPr>
        <p:spPr>
          <a:xfrm>
            <a:off x="7772400" y="2103120"/>
            <a:ext cx="457200" cy="457200"/>
          </a:xfrm>
          <a:prstGeom prst="ellipse">
            <a:avLst/>
          </a:prstGeom>
          <a:solidFill>
            <a:schemeClr val="accent2"/>
          </a:solidFill>
          <a:ln/>
        </p:spPr>
      </p:sp>
      <p:sp>
        <p:nvSpPr>
          <p:cNvPr id="9" name="Text 7"/>
          <p:cNvSpPr txBox="1"/>
          <p:nvPr/>
        </p:nvSpPr>
        <p:spPr>
          <a:xfrm>
            <a:off x="7772400" y="21031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0" name="Text 8"/>
          <p:cNvSpPr txBox="1"/>
          <p:nvPr/>
        </p:nvSpPr>
        <p:spPr>
          <a:xfrm>
            <a:off x="8412480" y="2057400"/>
            <a:ext cx="3230575" cy="914400"/>
          </a:xfrm>
          <a:prstGeom prst="rect">
            <a:avLst/>
          </a:prstGeom>
          <a:noFill/>
          <a:ln/>
        </p:spPr>
        <p:txBody>
          <a:bodyPr wrap="square" lIns="0" tIns="0" rIns="0" bIns="0" rtlCol="0" anchor="t"/>
          <a:lstStyle/>
          <a:p>
            <a:pPr marL="0" indent="0">
              <a:buNone/>
            </a:pPr>
            <a:r>
              <a:rPr lang="en-US" sz="1600" dirty="0">
                <a:solidFill>
                  <a:schemeClr val="tx1"/>
                </a:solidFill>
              </a:rPr>
              <a:t>Da un rol y un contexto concretos.</a:t>
            </a:r>
            <a:endParaRPr lang="en-US" sz="1600" dirty="0"/>
          </a:p>
        </p:txBody>
      </p:sp>
      <p:sp>
        <p:nvSpPr>
          <p:cNvPr id="11" name="Razón 2"/>
          <p:cNvSpPr/>
          <p:nvPr/>
        </p:nvSpPr>
        <p:spPr>
          <a:xfrm>
            <a:off x="7772400" y="3127248"/>
            <a:ext cx="457200" cy="457200"/>
          </a:xfrm>
          <a:prstGeom prst="ellipse">
            <a:avLst/>
          </a:prstGeom>
          <a:solidFill>
            <a:schemeClr val="accent2"/>
          </a:solidFill>
          <a:ln/>
        </p:spPr>
      </p:sp>
      <p:sp>
        <p:nvSpPr>
          <p:cNvPr id="12" name="Text 10"/>
          <p:cNvSpPr txBox="1"/>
          <p:nvPr/>
        </p:nvSpPr>
        <p:spPr>
          <a:xfrm>
            <a:off x="7772400" y="31272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1"/>
          <p:cNvSpPr txBox="1"/>
          <p:nvPr/>
        </p:nvSpPr>
        <p:spPr>
          <a:xfrm>
            <a:off x="8412480" y="3081528"/>
            <a:ext cx="3230575" cy="914400"/>
          </a:xfrm>
          <a:prstGeom prst="rect">
            <a:avLst/>
          </a:prstGeom>
          <a:noFill/>
          <a:ln/>
        </p:spPr>
        <p:txBody>
          <a:bodyPr wrap="square" lIns="0" tIns="0" rIns="0" bIns="0" rtlCol="0" anchor="t"/>
          <a:lstStyle/>
          <a:p>
            <a:pPr marL="0" indent="0">
              <a:buNone/>
            </a:pPr>
            <a:r>
              <a:rPr lang="en-US" sz="1600" dirty="0">
                <a:solidFill>
                  <a:schemeClr val="tx1"/>
                </a:solidFill>
              </a:rPr>
              <a:t>Incluye nuestras ideas para que la IA no las repita.</a:t>
            </a:r>
            <a:endParaRPr lang="en-US" sz="1600" dirty="0"/>
          </a:p>
        </p:txBody>
      </p:sp>
      <p:sp>
        <p:nvSpPr>
          <p:cNvPr id="14" name="Razón 3"/>
          <p:cNvSpPr/>
          <p:nvPr/>
        </p:nvSpPr>
        <p:spPr>
          <a:xfrm>
            <a:off x="7772400" y="4151376"/>
            <a:ext cx="457200" cy="457200"/>
          </a:xfrm>
          <a:prstGeom prst="ellipse">
            <a:avLst/>
          </a:prstGeom>
          <a:solidFill>
            <a:schemeClr val="accent2"/>
          </a:solidFill>
          <a:ln/>
        </p:spPr>
      </p:sp>
      <p:sp>
        <p:nvSpPr>
          <p:cNvPr id="15" name="Text 13"/>
          <p:cNvSpPr txBox="1"/>
          <p:nvPr/>
        </p:nvSpPr>
        <p:spPr>
          <a:xfrm>
            <a:off x="7772400" y="4151376"/>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8412480" y="4105656"/>
            <a:ext cx="3230575" cy="914400"/>
          </a:xfrm>
          <a:prstGeom prst="rect">
            <a:avLst/>
          </a:prstGeom>
          <a:noFill/>
          <a:ln/>
        </p:spPr>
        <p:txBody>
          <a:bodyPr wrap="square" lIns="0" tIns="0" rIns="0" bIns="0" rtlCol="0" anchor="t"/>
          <a:lstStyle/>
          <a:p>
            <a:pPr marL="0" indent="0">
              <a:buNone/>
            </a:pPr>
            <a:r>
              <a:rPr lang="en-US" sz="1600" dirty="0">
                <a:solidFill>
                  <a:schemeClr val="tx1"/>
                </a:solidFill>
              </a:rPr>
              <a:t>Pide categorías para forzar la variedad: sin ellas, la IA da ideas muy parecidas.</a:t>
            </a:r>
            <a:endParaRPr lang="en-US" sz="1600" dirty="0"/>
          </a:p>
        </p:txBody>
      </p:sp>
      <p:sp>
        <p:nvSpPr>
          <p:cNvPr id="17" name="Razón 4"/>
          <p:cNvSpPr/>
          <p:nvPr/>
        </p:nvSpPr>
        <p:spPr>
          <a:xfrm>
            <a:off x="7772400" y="5175504"/>
            <a:ext cx="457200" cy="457200"/>
          </a:xfrm>
          <a:prstGeom prst="ellipse">
            <a:avLst/>
          </a:prstGeom>
          <a:solidFill>
            <a:schemeClr val="accent2"/>
          </a:solidFill>
          <a:ln/>
        </p:spPr>
      </p:sp>
      <p:sp>
        <p:nvSpPr>
          <p:cNvPr id="18" name="Text 16"/>
          <p:cNvSpPr txBox="1"/>
          <p:nvPr/>
        </p:nvSpPr>
        <p:spPr>
          <a:xfrm>
            <a:off x="7772400" y="517550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7"/>
          <p:cNvSpPr txBox="1"/>
          <p:nvPr/>
        </p:nvSpPr>
        <p:spPr>
          <a:xfrm>
            <a:off x="8412480" y="5129784"/>
            <a:ext cx="3230575" cy="914400"/>
          </a:xfrm>
          <a:prstGeom prst="rect">
            <a:avLst/>
          </a:prstGeom>
          <a:noFill/>
          <a:ln/>
        </p:spPr>
        <p:txBody>
          <a:bodyPr wrap="square" lIns="0" tIns="0" rIns="0" bIns="0" rtlCol="0" anchor="t"/>
          <a:lstStyle/>
          <a:p>
            <a:pPr marL="0" indent="0">
              <a:buNone/>
            </a:pPr>
            <a:r>
              <a:rPr lang="en-US" sz="1600" dirty="0">
                <a:solidFill>
                  <a:schemeClr val="tx1"/>
                </a:solidFill>
              </a:rPr>
              <a:t>Formato corto, para leerlo en voz alta.</a:t>
            </a:r>
            <a:endParaRPr lang="en-US" sz="1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37</a:t>
            </a:fld>
            <a:endParaRPr lang="en-US"/>
          </a:p>
        </p:txBody>
      </p:sp>
      <p:sp>
        <p:nvSpPr>
          <p:cNvPr id="26" name="Dónde escribir"/>
          <p:cNvSpPr/>
          <p:nvPr/>
        </p:nvSpPr>
        <p:spPr>
          <a:xfrm>
            <a:off x="6506870" y="6291072"/>
            <a:ext cx="4420209"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1  ›  Ronda con IA</a:t>
            </a:r>
          </a:p>
        </p:txBody>
      </p:sp>
      <p:sp>
        <p:nvSpPr>
          <p:cNvPr id="27" name="Dónde escribir: círculo"/>
          <p:cNvSpPr/>
          <p:nvPr/>
        </p:nvSpPr>
        <p:spPr>
          <a:xfrm>
            <a:off x="6561734"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3"/>
          <a:stretch>
            <a:fillRect/>
          </a:stretch>
        </p:blipFill>
        <p:spPr>
          <a:xfrm>
            <a:off x="6634886" y="6409944"/>
            <a:ext cx="146304" cy="14630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Segundo prompt: combinar ideas</a:t>
            </a:r>
            <a:endParaRPr lang="en-US" sz="3200" dirty="0"/>
          </a:p>
        </p:txBody>
      </p:sp>
      <p:sp>
        <p:nvSpPr>
          <p:cNvPr id="3" name="Etiqueta de tiempo"/>
          <p:cNvSpPr/>
          <p:nvPr/>
        </p:nvSpPr>
        <p:spPr>
          <a:xfrm>
            <a:off x="9187891" y="548640"/>
            <a:ext cx="2455164" cy="457200"/>
          </a:xfrm>
          <a:prstGeom prst="roundRect">
            <a:avLst>
              <a:gd name="adj" fmla="val 50000"/>
            </a:avLst>
          </a:prstGeom>
          <a:solidFill>
            <a:schemeClr val="accent2"/>
          </a:solidFill>
          <a:ln/>
        </p:spPr>
      </p:sp>
      <p:sp>
        <p:nvSpPr>
          <p:cNvPr id="4" name="Text 2"/>
          <p:cNvSpPr txBox="1"/>
          <p:nvPr/>
        </p:nvSpPr>
        <p:spPr>
          <a:xfrm>
            <a:off x="9187891" y="548640"/>
            <a:ext cx="2455164" cy="457200"/>
          </a:xfrm>
          <a:prstGeom prst="rect">
            <a:avLst/>
          </a:prstGeom>
          <a:noFill/>
          <a:ln/>
        </p:spPr>
        <p:txBody>
          <a:bodyPr wrap="square" lIns="0" tIns="0" rIns="0" bIns="0" rtlCol="0" anchor="ctr"/>
          <a:lstStyle/>
          <a:p>
            <a:pPr marL="0" indent="0" algn="ctr">
              <a:buNone/>
            </a:pPr>
            <a:r>
              <a:rPr lang="en-US" sz="1400" b="1" dirty="0">
                <a:solidFill>
                  <a:schemeClr val="bg1"/>
                </a:solidFill>
              </a:rPr>
              <a:t>Min. 30–38 · Con IA</a:t>
            </a:r>
            <a:endParaRPr lang="en-US" sz="1400" dirty="0"/>
          </a:p>
        </p:txBody>
      </p:sp>
      <p:sp>
        <p:nvSpPr>
          <p:cNvPr id="5" name="Nuestras ideas"/>
          <p:cNvSpPr/>
          <p:nvPr/>
        </p:nvSpPr>
        <p:spPr>
          <a:xfrm>
            <a:off x="2011680" y="1417320"/>
            <a:ext cx="1188720" cy="1188720"/>
          </a:xfrm>
          <a:prstGeom prst="ellipse">
            <a:avLst/>
          </a:prstGeom>
          <a:solidFill>
            <a:schemeClr val="accent1"/>
          </a:solidFill>
          <a:ln/>
        </p:spPr>
      </p:sp>
      <p:pic>
        <p:nvPicPr>
          <p:cNvPr id="6" name="Image 0" descr="Nuestras ideas"/>
          <p:cNvPicPr>
            <a:picLocks noChangeAspect="1"/>
          </p:cNvPicPr>
          <p:nvPr/>
        </p:nvPicPr>
        <p:blipFill>
          <a:blip r:embed="rId3"/>
          <a:stretch>
            <a:fillRect/>
          </a:stretch>
        </p:blipFill>
        <p:spPr>
          <a:xfrm>
            <a:off x="2296973" y="1702613"/>
            <a:ext cx="618134" cy="618134"/>
          </a:xfrm>
          <a:prstGeom prst="rect">
            <a:avLst/>
          </a:prstGeom>
        </p:spPr>
      </p:pic>
      <p:sp>
        <p:nvSpPr>
          <p:cNvPr id="7" name="Text 4"/>
          <p:cNvSpPr txBox="1"/>
          <p:nvPr/>
        </p:nvSpPr>
        <p:spPr>
          <a:xfrm>
            <a:off x="1463040" y="2697480"/>
            <a:ext cx="2286000" cy="411480"/>
          </a:xfrm>
          <a:prstGeom prst="rect">
            <a:avLst/>
          </a:prstGeom>
          <a:noFill/>
          <a:ln/>
        </p:spPr>
        <p:txBody>
          <a:bodyPr wrap="square" lIns="0" tIns="0" rIns="0" bIns="0" rtlCol="0" anchor="ctr"/>
          <a:lstStyle/>
          <a:p>
            <a:pPr marL="0" indent="0" algn="ctr">
              <a:buNone/>
            </a:pPr>
            <a:r>
              <a:rPr lang="en-US" sz="1700" b="1" dirty="0">
                <a:solidFill>
                  <a:schemeClr val="tx1"/>
                </a:solidFill>
              </a:rPr>
              <a:t>Nuestras ideas</a:t>
            </a:r>
            <a:endParaRPr lang="en-US" sz="1700" dirty="0"/>
          </a:p>
        </p:txBody>
      </p:sp>
      <p:sp>
        <p:nvSpPr>
          <p:cNvPr id="8" name="Ideas de la IA"/>
          <p:cNvSpPr/>
          <p:nvPr/>
        </p:nvSpPr>
        <p:spPr>
          <a:xfrm>
            <a:off x="5394960" y="1417320"/>
            <a:ext cx="1188720" cy="1188720"/>
          </a:xfrm>
          <a:prstGeom prst="ellipse">
            <a:avLst/>
          </a:prstGeom>
          <a:solidFill>
            <a:schemeClr val="accent2"/>
          </a:solidFill>
          <a:ln/>
        </p:spPr>
      </p:sp>
      <p:pic>
        <p:nvPicPr>
          <p:cNvPr id="9" name="Image 1" descr="Ideas de la IA"/>
          <p:cNvPicPr>
            <a:picLocks noChangeAspect="1"/>
          </p:cNvPicPr>
          <p:nvPr/>
        </p:nvPicPr>
        <p:blipFill>
          <a:blip r:embed="rId4"/>
          <a:stretch>
            <a:fillRect/>
          </a:stretch>
        </p:blipFill>
        <p:spPr>
          <a:xfrm>
            <a:off x="5680253" y="1702613"/>
            <a:ext cx="618134" cy="618134"/>
          </a:xfrm>
          <a:prstGeom prst="rect">
            <a:avLst/>
          </a:prstGeom>
        </p:spPr>
      </p:pic>
      <p:sp>
        <p:nvSpPr>
          <p:cNvPr id="10" name="Text 6"/>
          <p:cNvSpPr txBox="1"/>
          <p:nvPr/>
        </p:nvSpPr>
        <p:spPr>
          <a:xfrm>
            <a:off x="4846320" y="2697480"/>
            <a:ext cx="2286000" cy="411480"/>
          </a:xfrm>
          <a:prstGeom prst="rect">
            <a:avLst/>
          </a:prstGeom>
          <a:noFill/>
          <a:ln/>
        </p:spPr>
        <p:txBody>
          <a:bodyPr wrap="square" lIns="0" tIns="0" rIns="0" bIns="0" rtlCol="0" anchor="ctr"/>
          <a:lstStyle/>
          <a:p>
            <a:pPr marL="0" indent="0" algn="ctr">
              <a:buNone/>
            </a:pPr>
            <a:r>
              <a:rPr lang="en-US" sz="1700" b="1" dirty="0">
                <a:solidFill>
                  <a:schemeClr val="tx1"/>
                </a:solidFill>
              </a:rPr>
              <a:t>Ideas de la IA</a:t>
            </a:r>
            <a:endParaRPr lang="en-US" sz="1700" dirty="0"/>
          </a:p>
        </p:txBody>
      </p:sp>
      <p:sp>
        <p:nvSpPr>
          <p:cNvPr id="11" name="Ideas mejores"/>
          <p:cNvSpPr/>
          <p:nvPr/>
        </p:nvSpPr>
        <p:spPr>
          <a:xfrm>
            <a:off x="8778240" y="1417320"/>
            <a:ext cx="1188720" cy="1188720"/>
          </a:xfrm>
          <a:prstGeom prst="ellipse">
            <a:avLst/>
          </a:prstGeom>
          <a:solidFill>
            <a:schemeClr val="accent3"/>
          </a:solidFill>
          <a:ln/>
        </p:spPr>
      </p:sp>
      <p:pic>
        <p:nvPicPr>
          <p:cNvPr id="12" name="Image 2" descr="Ideas mejores"/>
          <p:cNvPicPr>
            <a:picLocks noChangeAspect="1"/>
          </p:cNvPicPr>
          <p:nvPr/>
        </p:nvPicPr>
        <p:blipFill>
          <a:blip r:embed="rId5"/>
          <a:stretch>
            <a:fillRect/>
          </a:stretch>
        </p:blipFill>
        <p:spPr>
          <a:xfrm>
            <a:off x="9063533" y="1702613"/>
            <a:ext cx="618134" cy="618134"/>
          </a:xfrm>
          <a:prstGeom prst="rect">
            <a:avLst/>
          </a:prstGeom>
        </p:spPr>
      </p:pic>
      <p:sp>
        <p:nvSpPr>
          <p:cNvPr id="13" name="Text 8"/>
          <p:cNvSpPr txBox="1"/>
          <p:nvPr/>
        </p:nvSpPr>
        <p:spPr>
          <a:xfrm>
            <a:off x="8229600" y="2697480"/>
            <a:ext cx="2286000" cy="411480"/>
          </a:xfrm>
          <a:prstGeom prst="rect">
            <a:avLst/>
          </a:prstGeom>
          <a:noFill/>
          <a:ln/>
        </p:spPr>
        <p:txBody>
          <a:bodyPr wrap="square" lIns="0" tIns="0" rIns="0" bIns="0" rtlCol="0" anchor="ctr"/>
          <a:lstStyle/>
          <a:p>
            <a:pPr marL="0" indent="0" algn="ctr">
              <a:buNone/>
            </a:pPr>
            <a:r>
              <a:rPr lang="en-US" sz="1700" b="1" dirty="0">
                <a:solidFill>
                  <a:schemeClr val="tx1"/>
                </a:solidFill>
              </a:rPr>
              <a:t>Ideas mejores</a:t>
            </a:r>
            <a:endParaRPr lang="en-US" sz="1700" dirty="0"/>
          </a:p>
        </p:txBody>
      </p:sp>
      <p:sp>
        <p:nvSpPr>
          <p:cNvPr id="14" name="Text 9"/>
          <p:cNvSpPr txBox="1"/>
          <p:nvPr/>
        </p:nvSpPr>
        <p:spPr>
          <a:xfrm>
            <a:off x="3200400" y="1417320"/>
            <a:ext cx="2194560" cy="1188720"/>
          </a:xfrm>
          <a:prstGeom prst="rect">
            <a:avLst/>
          </a:prstGeom>
          <a:noFill/>
          <a:ln/>
        </p:spPr>
        <p:txBody>
          <a:bodyPr wrap="square" lIns="0" tIns="0" rIns="0" bIns="0" rtlCol="0" anchor="ctr"/>
          <a:lstStyle/>
          <a:p>
            <a:pPr marL="0" indent="0" algn="ctr">
              <a:buNone/>
            </a:pPr>
            <a:r>
              <a:rPr lang="en-US" sz="4800" b="1" dirty="0">
                <a:solidFill>
                  <a:schemeClr val="tx2"/>
                </a:solidFill>
              </a:rPr>
              <a:t>+</a:t>
            </a:r>
            <a:endParaRPr lang="en-US" sz="4800" dirty="0"/>
          </a:p>
        </p:txBody>
      </p:sp>
      <p:sp>
        <p:nvSpPr>
          <p:cNvPr id="15" name="Text 10"/>
          <p:cNvSpPr txBox="1"/>
          <p:nvPr/>
        </p:nvSpPr>
        <p:spPr>
          <a:xfrm>
            <a:off x="6583680" y="1417320"/>
            <a:ext cx="2194560" cy="1188720"/>
          </a:xfrm>
          <a:prstGeom prst="rect">
            <a:avLst/>
          </a:prstGeom>
          <a:noFill/>
          <a:ln/>
        </p:spPr>
        <p:txBody>
          <a:bodyPr wrap="square" lIns="0" tIns="0" rIns="0" bIns="0" rtlCol="0" anchor="ctr"/>
          <a:lstStyle/>
          <a:p>
            <a:pPr marL="0" indent="0" algn="ctr">
              <a:buNone/>
            </a:pPr>
            <a:r>
              <a:rPr lang="en-US" sz="4800" b="1" dirty="0">
                <a:solidFill>
                  <a:schemeClr val="tx2"/>
                </a:solidFill>
              </a:rPr>
              <a:t>=</a:t>
            </a:r>
            <a:endParaRPr lang="en-US" sz="4800" dirty="0"/>
          </a:p>
        </p:txBody>
      </p:sp>
      <p:sp>
        <p:nvSpPr>
          <p:cNvPr id="16" name="Prompt"/>
          <p:cNvSpPr/>
          <p:nvPr/>
        </p:nvSpPr>
        <p:spPr>
          <a:xfrm>
            <a:off x="548640" y="3383280"/>
            <a:ext cx="11094415" cy="1691640"/>
          </a:xfrm>
          <a:prstGeom prst="roundRect">
            <a:avLst>
              <a:gd name="adj" fmla="val 6486"/>
            </a:avLst>
          </a:prstGeom>
          <a:solidFill>
            <a:schemeClr val="tx1"/>
          </a:solidFill>
          <a:ln/>
        </p:spPr>
      </p:sp>
      <p:sp>
        <p:nvSpPr>
          <p:cNvPr id="17" name="Text 12"/>
          <p:cNvSpPr txBox="1"/>
          <p:nvPr/>
        </p:nvSpPr>
        <p:spPr>
          <a:xfrm>
            <a:off x="822960" y="3566160"/>
            <a:ext cx="10545775" cy="1325880"/>
          </a:xfrm>
          <a:prstGeom prst="rect">
            <a:avLst/>
          </a:prstGeom>
          <a:noFill/>
          <a:ln/>
        </p:spPr>
        <p:txBody>
          <a:bodyPr wrap="square" lIns="0" tIns="0" rIns="0" bIns="0" rtlCol="0" anchor="t"/>
          <a:lstStyle/>
          <a:p>
            <a:pPr marL="0" indent="0">
              <a:lnSpc>
                <a:spcPct val="95000"/>
              </a:lnSpc>
              <a:buNone/>
            </a:pPr>
            <a:r>
              <a:rPr lang="en-US" sz="1800" dirty="0">
                <a:solidFill>
                  <a:schemeClr val="bg1"/>
                </a:solidFill>
                <a:latin typeface="Courier New" pitchFamily="34" charset="0"/>
                <a:ea typeface="Courier New" pitchFamily="34" charset="-122"/>
                <a:cs typeface="Courier New" pitchFamily="34" charset="-120"/>
              </a:rPr>
              <a:t>Elige tres ideas de nuestro grupo y combina cada una con </a:t>
            </a:r>
            <a:r>
              <a:rPr lang="en-US" sz="1800" dirty="0" err="1">
                <a:solidFill>
                  <a:schemeClr val="bg1"/>
                </a:solidFill>
                <a:latin typeface="Courier New" pitchFamily="34" charset="0"/>
                <a:ea typeface="Courier New" pitchFamily="34" charset="-122"/>
                <a:cs typeface="Courier New" pitchFamily="34" charset="-120"/>
              </a:rPr>
              <a:t>una</a:t>
            </a:r>
            <a:r>
              <a:rPr lang="en-US" sz="1800" dirty="0">
                <a:solidFill>
                  <a:schemeClr val="bg1"/>
                </a:solidFill>
                <a:latin typeface="Courier New" pitchFamily="34" charset="0"/>
                <a:ea typeface="Courier New" pitchFamily="34" charset="-122"/>
                <a:cs typeface="Courier New" pitchFamily="34" charset="-120"/>
              </a:rPr>
              <a:t> de</a:t>
            </a:r>
            <a:endParaRPr lang="en-US" sz="1800" dirty="0"/>
          </a:p>
          <a:p>
            <a:pPr marL="0" indent="0">
              <a:lnSpc>
                <a:spcPct val="95000"/>
              </a:lnSpc>
              <a:buNone/>
            </a:pPr>
            <a:r>
              <a:rPr lang="en-US" sz="1800" dirty="0">
                <a:solidFill>
                  <a:schemeClr val="bg1"/>
                </a:solidFill>
                <a:latin typeface="Courier New" pitchFamily="34" charset="0"/>
                <a:ea typeface="Courier New" pitchFamily="34" charset="-122"/>
                <a:cs typeface="Courier New" pitchFamily="34" charset="-120"/>
              </a:rPr>
              <a:t>las </a:t>
            </a:r>
            <a:r>
              <a:rPr lang="en-US" sz="1800" dirty="0" err="1">
                <a:solidFill>
                  <a:schemeClr val="bg1"/>
                </a:solidFill>
                <a:latin typeface="Courier New" pitchFamily="34" charset="0"/>
                <a:ea typeface="Courier New" pitchFamily="34" charset="-122"/>
                <a:cs typeface="Courier New" pitchFamily="34" charset="-120"/>
              </a:rPr>
              <a:t>tuyas</a:t>
            </a:r>
            <a:r>
              <a:rPr lang="en-US" sz="1800" dirty="0">
                <a:solidFill>
                  <a:schemeClr val="bg1"/>
                </a:solidFill>
                <a:latin typeface="Courier New" pitchFamily="34" charset="0"/>
                <a:ea typeface="Courier New" pitchFamily="34" charset="-122"/>
                <a:cs typeface="Courier New" pitchFamily="34" charset="-120"/>
              </a:rPr>
              <a:t> para crear tres ideas mejores que las originales.</a:t>
            </a:r>
            <a:endParaRPr lang="en-US" sz="1800" dirty="0"/>
          </a:p>
          <a:p>
            <a:pPr marL="0" indent="0">
              <a:lnSpc>
                <a:spcPct val="95000"/>
              </a:lnSpc>
              <a:buNone/>
            </a:pPr>
            <a:r>
              <a:rPr lang="en-US" sz="1800" dirty="0">
                <a:solidFill>
                  <a:schemeClr val="bg1"/>
                </a:solidFill>
                <a:latin typeface="Courier New" pitchFamily="34" charset="0"/>
                <a:ea typeface="Courier New" pitchFamily="34" charset="-122"/>
                <a:cs typeface="Courier New" pitchFamily="34" charset="-120"/>
              </a:rPr>
              <a:t>Indica de qué dos ideas parte cada combinación y qué mejora aporta.</a:t>
            </a:r>
            <a:endParaRPr lang="en-US" sz="1800" dirty="0"/>
          </a:p>
        </p:txBody>
      </p:sp>
      <p:sp>
        <p:nvSpPr>
          <p:cNvPr id="18" name="Text 13"/>
          <p:cNvSpPr txBox="1"/>
          <p:nvPr/>
        </p:nvSpPr>
        <p:spPr>
          <a:xfrm>
            <a:off x="548640" y="5349240"/>
            <a:ext cx="11094415" cy="457200"/>
          </a:xfrm>
          <a:prstGeom prst="rect">
            <a:avLst/>
          </a:prstGeom>
          <a:noFill/>
          <a:ln/>
        </p:spPr>
        <p:txBody>
          <a:bodyPr wrap="square" lIns="0" tIns="0" rIns="0" bIns="0" rtlCol="0" anchor="ctr"/>
          <a:lstStyle/>
          <a:p>
            <a:pPr marL="0" indent="0">
              <a:buNone/>
            </a:pPr>
            <a:r>
              <a:rPr lang="en-US" sz="1800" i="1" dirty="0">
                <a:solidFill>
                  <a:schemeClr val="tx2"/>
                </a:solidFill>
              </a:rPr>
              <a:t>Es la regla 3 del brainstorming —construir sobre otras ideas— aplicada a personas + IA.</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38</a:t>
            </a:fld>
            <a:endParaRPr lang="en-US"/>
          </a:p>
        </p:txBody>
      </p:sp>
      <p:sp>
        <p:nvSpPr>
          <p:cNvPr id="26" name="Dónde escribir"/>
          <p:cNvSpPr/>
          <p:nvPr/>
        </p:nvSpPr>
        <p:spPr>
          <a:xfrm>
            <a:off x="6506870" y="6291072"/>
            <a:ext cx="4420209"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1  ›  Ronda con IA</a:t>
            </a:r>
          </a:p>
        </p:txBody>
      </p:sp>
      <p:sp>
        <p:nvSpPr>
          <p:cNvPr id="27" name="Dónde escribir: círculo"/>
          <p:cNvSpPr/>
          <p:nvPr/>
        </p:nvSpPr>
        <p:spPr>
          <a:xfrm>
            <a:off x="6561734"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6"/>
          <a:stretch>
            <a:fillRect/>
          </a:stretch>
        </p:blipFill>
        <p:spPr>
          <a:xfrm>
            <a:off x="6634886" y="6409944"/>
            <a:ext cx="146304" cy="14630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Votad las tres ideas más originales</a:t>
            </a:r>
            <a:endParaRPr lang="en-US" sz="3200" dirty="0"/>
          </a:p>
        </p:txBody>
      </p:sp>
      <p:sp>
        <p:nvSpPr>
          <p:cNvPr id="3" name="Etiqueta de tiempo"/>
          <p:cNvSpPr/>
          <p:nvPr/>
        </p:nvSpPr>
        <p:spPr>
          <a:xfrm>
            <a:off x="8451799" y="548640"/>
            <a:ext cx="3191256" cy="457200"/>
          </a:xfrm>
          <a:prstGeom prst="roundRect">
            <a:avLst>
              <a:gd name="adj" fmla="val 50000"/>
            </a:avLst>
          </a:prstGeom>
          <a:solidFill>
            <a:schemeClr val="accent1"/>
          </a:solidFill>
          <a:ln/>
        </p:spPr>
      </p:sp>
      <p:sp>
        <p:nvSpPr>
          <p:cNvPr id="4" name="Text 2"/>
          <p:cNvSpPr txBox="1"/>
          <p:nvPr/>
        </p:nvSpPr>
        <p:spPr>
          <a:xfrm>
            <a:off x="8451799" y="548640"/>
            <a:ext cx="3191256" cy="457200"/>
          </a:xfrm>
          <a:prstGeom prst="rect">
            <a:avLst/>
          </a:prstGeom>
          <a:noFill/>
          <a:ln/>
        </p:spPr>
        <p:txBody>
          <a:bodyPr wrap="square" lIns="0" tIns="0" rIns="0" bIns="0" rtlCol="0" anchor="ctr"/>
          <a:lstStyle/>
          <a:p>
            <a:pPr marL="0" indent="0" algn="ctr">
              <a:buNone/>
            </a:pPr>
            <a:r>
              <a:rPr lang="en-US" sz="1400" b="1" dirty="0">
                <a:solidFill>
                  <a:schemeClr val="tx1"/>
                </a:solidFill>
              </a:rPr>
              <a:t>Min. 38–45 · Todo el grupo</a:t>
            </a:r>
            <a:endParaRPr lang="en-US" sz="1400" dirty="0"/>
          </a:p>
        </p:txBody>
      </p:sp>
      <p:sp>
        <p:nvSpPr>
          <p:cNvPr id="5" name="Instrucción"/>
          <p:cNvSpPr/>
          <p:nvPr/>
        </p:nvSpPr>
        <p:spPr>
          <a:xfrm>
            <a:off x="548640" y="1737360"/>
            <a:ext cx="777240" cy="777240"/>
          </a:xfrm>
          <a:prstGeom prst="ellipse">
            <a:avLst/>
          </a:prstGeom>
          <a:solidFill>
            <a:schemeClr val="tx2"/>
          </a:solidFill>
          <a:ln/>
        </p:spPr>
      </p:sp>
      <p:pic>
        <p:nvPicPr>
          <p:cNvPr id="6" name="Image 0" descr="Instrucción"/>
          <p:cNvPicPr>
            <a:picLocks noChangeAspect="1"/>
          </p:cNvPicPr>
          <p:nvPr/>
        </p:nvPicPr>
        <p:blipFill>
          <a:blip r:embed="rId3"/>
          <a:stretch>
            <a:fillRect/>
          </a:stretch>
        </p:blipFill>
        <p:spPr>
          <a:xfrm>
            <a:off x="735178" y="1923898"/>
            <a:ext cx="404165" cy="404165"/>
          </a:xfrm>
          <a:prstGeom prst="rect">
            <a:avLst/>
          </a:prstGeom>
        </p:spPr>
      </p:pic>
      <p:sp>
        <p:nvSpPr>
          <p:cNvPr id="7" name="Text 4"/>
          <p:cNvSpPr txBox="1"/>
          <p:nvPr/>
        </p:nvSpPr>
        <p:spPr>
          <a:xfrm>
            <a:off x="1554480" y="1737360"/>
            <a:ext cx="4114800" cy="777240"/>
          </a:xfrm>
          <a:prstGeom prst="rect">
            <a:avLst/>
          </a:prstGeom>
          <a:noFill/>
          <a:ln/>
        </p:spPr>
        <p:txBody>
          <a:bodyPr wrap="square" lIns="0" tIns="0" rIns="0" bIns="0" rtlCol="0" anchor="ctr"/>
          <a:lstStyle/>
          <a:p>
            <a:pPr marL="0" indent="0">
              <a:buNone/>
            </a:pPr>
            <a:r>
              <a:rPr lang="en-US" sz="2000" dirty="0">
                <a:solidFill>
                  <a:schemeClr val="tx1"/>
                </a:solidFill>
              </a:rPr>
              <a:t>Cada persona marca tres ideas.</a:t>
            </a:r>
            <a:endParaRPr lang="en-US" sz="2000" dirty="0"/>
          </a:p>
        </p:txBody>
      </p:sp>
      <p:sp>
        <p:nvSpPr>
          <p:cNvPr id="8" name="Instrucción"/>
          <p:cNvSpPr/>
          <p:nvPr/>
        </p:nvSpPr>
        <p:spPr>
          <a:xfrm>
            <a:off x="548640" y="2834640"/>
            <a:ext cx="777240" cy="777240"/>
          </a:xfrm>
          <a:prstGeom prst="ellipse">
            <a:avLst/>
          </a:prstGeom>
          <a:solidFill>
            <a:schemeClr val="tx2"/>
          </a:solidFill>
          <a:ln/>
        </p:spPr>
      </p:sp>
      <p:pic>
        <p:nvPicPr>
          <p:cNvPr id="9" name="Image 1" descr="Instrucción"/>
          <p:cNvPicPr>
            <a:picLocks noChangeAspect="1"/>
          </p:cNvPicPr>
          <p:nvPr/>
        </p:nvPicPr>
        <p:blipFill>
          <a:blip r:embed="rId4"/>
          <a:stretch>
            <a:fillRect/>
          </a:stretch>
        </p:blipFill>
        <p:spPr>
          <a:xfrm>
            <a:off x="735178" y="3021178"/>
            <a:ext cx="404165" cy="404165"/>
          </a:xfrm>
          <a:prstGeom prst="rect">
            <a:avLst/>
          </a:prstGeom>
        </p:spPr>
      </p:pic>
      <p:sp>
        <p:nvSpPr>
          <p:cNvPr id="10" name="Text 6"/>
          <p:cNvSpPr txBox="1"/>
          <p:nvPr/>
        </p:nvSpPr>
        <p:spPr>
          <a:xfrm>
            <a:off x="1554480" y="2834640"/>
            <a:ext cx="4114800" cy="777240"/>
          </a:xfrm>
          <a:prstGeom prst="rect">
            <a:avLst/>
          </a:prstGeom>
          <a:noFill/>
          <a:ln/>
        </p:spPr>
        <p:txBody>
          <a:bodyPr wrap="square" lIns="0" tIns="0" rIns="0" bIns="0" rtlCol="0" anchor="ctr"/>
          <a:lstStyle/>
          <a:p>
            <a:pPr marL="0" indent="0">
              <a:buNone/>
            </a:pPr>
            <a:r>
              <a:rPr lang="en-US" sz="2000" dirty="0">
                <a:solidFill>
                  <a:schemeClr val="tx1"/>
                </a:solidFill>
              </a:rPr>
              <a:t>Sin fijarse en si vienen del grupo o de la IA.</a:t>
            </a:r>
            <a:endParaRPr lang="en-US" sz="2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943600" y="1737360"/>
          <a:ext cx="5513832" cy="3108960"/>
        </p:xfrm>
        <a:graphic>
          <a:graphicData uri="http://schemas.openxmlformats.org/drawingml/2006/table">
            <a:tbl>
              <a:tblPr/>
              <a:tblGrid>
                <a:gridCol w="2587752">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731520">
                <a:tc>
                  <a:txBody>
                    <a:bodyPr/>
                    <a:lstStyle/>
                    <a:p>
                      <a:pPr marL="0" indent="0" algn="ctr">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tx1"/>
                          </a:solidFill>
                        </a:rPr>
                        <a:t>Sin IA</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accent1"/>
                    </a:solidFill>
                  </a:tcPr>
                </a:tc>
                <a:tc>
                  <a:txBody>
                    <a:bodyPr/>
                    <a:lstStyle/>
                    <a:p>
                      <a:pPr marL="0" indent="0" algn="ctr">
                        <a:buNone/>
                      </a:pPr>
                      <a:r>
                        <a:rPr lang="en-US" sz="1800" b="1" dirty="0">
                          <a:solidFill>
                            <a:schemeClr val="bg1"/>
                          </a:solidFill>
                        </a:rPr>
                        <a:t>Con IA</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188720">
                <a:tc>
                  <a:txBody>
                    <a:bodyPr/>
                    <a:lstStyle/>
                    <a:p>
                      <a:pPr marL="0" indent="0">
                        <a:buNone/>
                      </a:pPr>
                      <a:r>
                        <a:rPr lang="en-US" sz="1800" b="1" dirty="0">
                          <a:solidFill>
                            <a:schemeClr val="tx1"/>
                          </a:solidFill>
                        </a:rPr>
                        <a:t>Número de ideas</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extLst>
                  <a:ext uri="{0D108BD9-81ED-4DB2-BD59-A6C34878D82A}">
                    <a16:rowId xmlns:a16="http://schemas.microsoft.com/office/drawing/2014/main" val="10001"/>
                  </a:ext>
                </a:extLst>
              </a:tr>
              <a:tr h="1188720">
                <a:tc>
                  <a:txBody>
                    <a:bodyPr/>
                    <a:lstStyle/>
                    <a:p>
                      <a:pPr marL="0" indent="0">
                        <a:buNone/>
                      </a:pPr>
                      <a:r>
                        <a:rPr lang="en-US" sz="1800" b="1" dirty="0">
                          <a:solidFill>
                            <a:schemeClr val="tx1"/>
                          </a:solidFill>
                        </a:rPr>
                        <a:t>Ideas entre las más votadas</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 7"/>
          <p:cNvSpPr txBox="1"/>
          <p:nvPr/>
        </p:nvSpPr>
        <p:spPr>
          <a:xfrm>
            <a:off x="5943600" y="5120640"/>
            <a:ext cx="5699455" cy="457200"/>
          </a:xfrm>
          <a:prstGeom prst="rect">
            <a:avLst/>
          </a:prstGeom>
          <a:noFill/>
          <a:ln/>
        </p:spPr>
        <p:txBody>
          <a:bodyPr wrap="square" lIns="0" tIns="0" rIns="0" bIns="0" rtlCol="0" anchor="ctr"/>
          <a:lstStyle/>
          <a:p>
            <a:pPr marL="0" indent="0">
              <a:buNone/>
            </a:pPr>
            <a:r>
              <a:rPr lang="en-US" sz="1600" i="1" dirty="0">
                <a:solidFill>
                  <a:schemeClr val="tx2"/>
                </a:solidFill>
              </a:rPr>
              <a:t>Rellenamos la tabla entre todos con el recuento.</a:t>
            </a:r>
            <a:endParaRPr lang="en-US" sz="1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39</a:t>
            </a:fld>
            <a:endParaRPr lang="en-US"/>
          </a:p>
        </p:txBody>
      </p:sp>
      <p:sp>
        <p:nvSpPr>
          <p:cNvPr id="28" name="Dónde escribir"/>
          <p:cNvSpPr/>
          <p:nvPr/>
        </p:nvSpPr>
        <p:spPr>
          <a:xfrm>
            <a:off x="6501383" y="6291072"/>
            <a:ext cx="4425696"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1  ›  Comparación</a:t>
            </a:r>
          </a:p>
        </p:txBody>
      </p:sp>
      <p:sp>
        <p:nvSpPr>
          <p:cNvPr id="29" name="Dónde escribir: círculo"/>
          <p:cNvSpPr/>
          <p:nvPr/>
        </p:nvSpPr>
        <p:spPr>
          <a:xfrm>
            <a:off x="6556247" y="6336792"/>
            <a:ext cx="292608" cy="292608"/>
          </a:xfrm>
          <a:prstGeom prst="ellipse">
            <a:avLst/>
          </a:prstGeom>
          <a:solidFill>
            <a:schemeClr val="accent1"/>
          </a:solidFill>
          <a:ln>
            <a:noFill/>
          </a:ln>
        </p:spPr>
      </p:sp>
      <p:pic>
        <p:nvPicPr>
          <p:cNvPr id="30" name="Dónde escribir: lápiz" descr="Lápiz"/>
          <p:cNvPicPr>
            <a:picLocks noChangeAspect="1"/>
          </p:cNvPicPr>
          <p:nvPr/>
        </p:nvPicPr>
        <p:blipFill>
          <a:blip r:embed="rId5"/>
          <a:stretch>
            <a:fillRect/>
          </a:stretch>
        </p:blipFill>
        <p:spPr>
          <a:xfrm>
            <a:off x="6629399" y="6409944"/>
            <a:ext cx="146304" cy="14630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¿Qué ha aportado la IA?</a:t>
            </a:r>
            <a:endParaRPr lang="en-US" sz="3200" dirty="0"/>
          </a:p>
        </p:txBody>
      </p:sp>
      <p:sp>
        <p:nvSpPr>
          <p:cNvPr id="3" name="Etiqueta de tiempo"/>
          <p:cNvSpPr/>
          <p:nvPr/>
        </p:nvSpPr>
        <p:spPr>
          <a:xfrm>
            <a:off x="8451799" y="548640"/>
            <a:ext cx="3191256" cy="457200"/>
          </a:xfrm>
          <a:prstGeom prst="roundRect">
            <a:avLst>
              <a:gd name="adj" fmla="val 50000"/>
            </a:avLst>
          </a:prstGeom>
          <a:solidFill>
            <a:schemeClr val="accent1"/>
          </a:solidFill>
          <a:ln/>
        </p:spPr>
      </p:sp>
      <p:sp>
        <p:nvSpPr>
          <p:cNvPr id="4" name="Text 2"/>
          <p:cNvSpPr txBox="1"/>
          <p:nvPr/>
        </p:nvSpPr>
        <p:spPr>
          <a:xfrm>
            <a:off x="8451799" y="548640"/>
            <a:ext cx="3191256" cy="457200"/>
          </a:xfrm>
          <a:prstGeom prst="rect">
            <a:avLst/>
          </a:prstGeom>
          <a:noFill/>
          <a:ln/>
        </p:spPr>
        <p:txBody>
          <a:bodyPr wrap="square" lIns="0" tIns="0" rIns="0" bIns="0" rtlCol="0" anchor="ctr"/>
          <a:lstStyle/>
          <a:p>
            <a:pPr marL="0" indent="0" algn="ctr">
              <a:buNone/>
            </a:pPr>
            <a:r>
              <a:rPr lang="en-US" sz="1400" b="1" dirty="0">
                <a:solidFill>
                  <a:schemeClr val="tx1"/>
                </a:solidFill>
              </a:rPr>
              <a:t>Min. 38–45 · Todo el grupo</a:t>
            </a:r>
            <a:endParaRPr lang="en-US" sz="1400" dirty="0"/>
          </a:p>
        </p:txBody>
      </p:sp>
      <p:sp>
        <p:nvSpPr>
          <p:cNvPr id="5" name="Tarjeta"/>
          <p:cNvSpPr/>
          <p:nvPr/>
        </p:nvSpPr>
        <p:spPr>
          <a:xfrm>
            <a:off x="548640" y="1600200"/>
            <a:ext cx="3454298" cy="3566160"/>
          </a:xfrm>
          <a:prstGeom prst="roundRect">
            <a:avLst>
              <a:gd name="adj" fmla="val 3971"/>
            </a:avLst>
          </a:prstGeom>
          <a:solidFill>
            <a:schemeClr val="bg2"/>
          </a:solidFill>
          <a:ln/>
        </p:spPr>
      </p:sp>
      <p:sp>
        <p:nvSpPr>
          <p:cNvPr id="6" name="Pregunta"/>
          <p:cNvSpPr/>
          <p:nvPr/>
        </p:nvSpPr>
        <p:spPr>
          <a:xfrm>
            <a:off x="1681429" y="1965960"/>
            <a:ext cx="1188720" cy="1188720"/>
          </a:xfrm>
          <a:prstGeom prst="ellipse">
            <a:avLst/>
          </a:prstGeom>
          <a:solidFill>
            <a:schemeClr val="tx2"/>
          </a:solidFill>
          <a:ln/>
        </p:spPr>
      </p:sp>
      <p:pic>
        <p:nvPicPr>
          <p:cNvPr id="7" name="Image 0" descr="Pregunta"/>
          <p:cNvPicPr>
            <a:picLocks noChangeAspect="1"/>
          </p:cNvPicPr>
          <p:nvPr/>
        </p:nvPicPr>
        <p:blipFill>
          <a:blip r:embed="rId3"/>
          <a:stretch>
            <a:fillRect/>
          </a:stretch>
        </p:blipFill>
        <p:spPr>
          <a:xfrm>
            <a:off x="1966722" y="2251253"/>
            <a:ext cx="618134" cy="618134"/>
          </a:xfrm>
          <a:prstGeom prst="rect">
            <a:avLst/>
          </a:prstGeom>
        </p:spPr>
      </p:pic>
      <p:sp>
        <p:nvSpPr>
          <p:cNvPr id="8" name="Text 5"/>
          <p:cNvSpPr txBox="1"/>
          <p:nvPr/>
        </p:nvSpPr>
        <p:spPr>
          <a:xfrm>
            <a:off x="868680" y="3429000"/>
            <a:ext cx="2814218" cy="1554480"/>
          </a:xfrm>
          <a:prstGeom prst="rect">
            <a:avLst/>
          </a:prstGeom>
          <a:noFill/>
          <a:ln/>
        </p:spPr>
        <p:txBody>
          <a:bodyPr wrap="square" lIns="0" tIns="0" rIns="0" bIns="0" rtlCol="0" anchor="t"/>
          <a:lstStyle/>
          <a:p>
            <a:pPr marL="0" indent="0" algn="ctr">
              <a:buNone/>
            </a:pPr>
            <a:r>
              <a:rPr lang="en-US" sz="2400" dirty="0">
                <a:solidFill>
                  <a:schemeClr val="tx1"/>
                </a:solidFill>
              </a:rPr>
              <a:t>¿La IA ha dado ideas mejores o solo más ideas?</a:t>
            </a:r>
            <a:endParaRPr lang="en-US" sz="2400" dirty="0"/>
          </a:p>
        </p:txBody>
      </p:sp>
      <p:sp>
        <p:nvSpPr>
          <p:cNvPr id="9" name="Tarjeta"/>
          <p:cNvSpPr/>
          <p:nvPr/>
        </p:nvSpPr>
        <p:spPr>
          <a:xfrm>
            <a:off x="4368698" y="1600200"/>
            <a:ext cx="3454298" cy="3566160"/>
          </a:xfrm>
          <a:prstGeom prst="roundRect">
            <a:avLst>
              <a:gd name="adj" fmla="val 3971"/>
            </a:avLst>
          </a:prstGeom>
          <a:solidFill>
            <a:schemeClr val="bg2"/>
          </a:solidFill>
          <a:ln/>
        </p:spPr>
      </p:sp>
      <p:sp>
        <p:nvSpPr>
          <p:cNvPr id="10" name="Pregunta"/>
          <p:cNvSpPr/>
          <p:nvPr/>
        </p:nvSpPr>
        <p:spPr>
          <a:xfrm>
            <a:off x="5501488" y="1965960"/>
            <a:ext cx="1188720" cy="1188720"/>
          </a:xfrm>
          <a:prstGeom prst="ellipse">
            <a:avLst/>
          </a:prstGeom>
          <a:solidFill>
            <a:schemeClr val="tx2"/>
          </a:solidFill>
          <a:ln/>
        </p:spPr>
      </p:sp>
      <p:pic>
        <p:nvPicPr>
          <p:cNvPr id="11" name="Image 1" descr="Pregunta"/>
          <p:cNvPicPr>
            <a:picLocks noChangeAspect="1"/>
          </p:cNvPicPr>
          <p:nvPr/>
        </p:nvPicPr>
        <p:blipFill>
          <a:blip r:embed="rId4"/>
          <a:stretch>
            <a:fillRect/>
          </a:stretch>
        </p:blipFill>
        <p:spPr>
          <a:xfrm>
            <a:off x="5786780" y="2251253"/>
            <a:ext cx="618134" cy="618134"/>
          </a:xfrm>
          <a:prstGeom prst="rect">
            <a:avLst/>
          </a:prstGeom>
        </p:spPr>
      </p:pic>
      <p:sp>
        <p:nvSpPr>
          <p:cNvPr id="12" name="Text 8"/>
          <p:cNvSpPr txBox="1"/>
          <p:nvPr/>
        </p:nvSpPr>
        <p:spPr>
          <a:xfrm>
            <a:off x="4688738" y="3429000"/>
            <a:ext cx="2814218" cy="1554480"/>
          </a:xfrm>
          <a:prstGeom prst="rect">
            <a:avLst/>
          </a:prstGeom>
          <a:noFill/>
          <a:ln/>
        </p:spPr>
        <p:txBody>
          <a:bodyPr wrap="square" lIns="0" tIns="0" rIns="0" bIns="0" rtlCol="0" anchor="t"/>
          <a:lstStyle/>
          <a:p>
            <a:pPr marL="0" indent="0" algn="ctr">
              <a:buNone/>
            </a:pPr>
            <a:r>
              <a:rPr lang="en-US" sz="2400" dirty="0">
                <a:solidFill>
                  <a:schemeClr val="tx1"/>
                </a:solidFill>
              </a:rPr>
              <a:t>¿Las combinaciones han mejorado las ideas de partida?</a:t>
            </a:r>
            <a:endParaRPr lang="en-US" sz="2400" dirty="0"/>
          </a:p>
        </p:txBody>
      </p:sp>
      <p:sp>
        <p:nvSpPr>
          <p:cNvPr id="13" name="Tarjeta"/>
          <p:cNvSpPr/>
          <p:nvPr/>
        </p:nvSpPr>
        <p:spPr>
          <a:xfrm>
            <a:off x="8188757" y="1600200"/>
            <a:ext cx="3454298" cy="3566160"/>
          </a:xfrm>
          <a:prstGeom prst="roundRect">
            <a:avLst>
              <a:gd name="adj" fmla="val 3971"/>
            </a:avLst>
          </a:prstGeom>
          <a:solidFill>
            <a:schemeClr val="bg2"/>
          </a:solidFill>
          <a:ln/>
        </p:spPr>
      </p:sp>
      <p:sp>
        <p:nvSpPr>
          <p:cNvPr id="14" name="Pregunta"/>
          <p:cNvSpPr/>
          <p:nvPr/>
        </p:nvSpPr>
        <p:spPr>
          <a:xfrm>
            <a:off x="9321546" y="1965960"/>
            <a:ext cx="1188720" cy="1188720"/>
          </a:xfrm>
          <a:prstGeom prst="ellipse">
            <a:avLst/>
          </a:prstGeom>
          <a:solidFill>
            <a:schemeClr val="tx2"/>
          </a:solidFill>
          <a:ln/>
        </p:spPr>
      </p:sp>
      <p:pic>
        <p:nvPicPr>
          <p:cNvPr id="15" name="Image 2" descr="Pregunta"/>
          <p:cNvPicPr>
            <a:picLocks noChangeAspect="1"/>
          </p:cNvPicPr>
          <p:nvPr/>
        </p:nvPicPr>
        <p:blipFill>
          <a:blip r:embed="rId5"/>
          <a:stretch>
            <a:fillRect/>
          </a:stretch>
        </p:blipFill>
        <p:spPr>
          <a:xfrm>
            <a:off x="9606839" y="2251253"/>
            <a:ext cx="618134" cy="618134"/>
          </a:xfrm>
          <a:prstGeom prst="rect">
            <a:avLst/>
          </a:prstGeom>
        </p:spPr>
      </p:pic>
      <p:sp>
        <p:nvSpPr>
          <p:cNvPr id="16" name="Text 11"/>
          <p:cNvSpPr txBox="1"/>
          <p:nvPr/>
        </p:nvSpPr>
        <p:spPr>
          <a:xfrm>
            <a:off x="8508797" y="3429000"/>
            <a:ext cx="2814218" cy="1554480"/>
          </a:xfrm>
          <a:prstGeom prst="rect">
            <a:avLst/>
          </a:prstGeom>
          <a:noFill/>
          <a:ln/>
        </p:spPr>
        <p:txBody>
          <a:bodyPr wrap="square" lIns="0" tIns="0" rIns="0" bIns="0" rtlCol="0" anchor="t"/>
          <a:lstStyle/>
          <a:p>
            <a:pPr marL="0" indent="0" algn="ctr">
              <a:buNone/>
            </a:pPr>
            <a:r>
              <a:rPr lang="en-US" sz="2400" dirty="0">
                <a:solidFill>
                  <a:schemeClr val="tx1"/>
                </a:solidFill>
              </a:rPr>
              <a:t>¿Qué propuestas podrían aplicarse con pocos recursos?</a:t>
            </a:r>
            <a:endParaRPr lang="en-US" sz="2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40</a:t>
            </a:fld>
            <a:endParaRPr lang="en-US"/>
          </a:p>
        </p:txBody>
      </p:sp>
      <p:sp>
        <p:nvSpPr>
          <p:cNvPr id="26" name="Dónde escribir"/>
          <p:cNvSpPr/>
          <p:nvPr/>
        </p:nvSpPr>
        <p:spPr>
          <a:xfrm>
            <a:off x="6501383" y="6291072"/>
            <a:ext cx="4425696"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1  ›  Comparación</a:t>
            </a:r>
          </a:p>
        </p:txBody>
      </p:sp>
      <p:sp>
        <p:nvSpPr>
          <p:cNvPr id="27" name="Dónde escribir: círculo"/>
          <p:cNvSpPr/>
          <p:nvPr/>
        </p:nvSpPr>
        <p:spPr>
          <a:xfrm>
            <a:off x="6556247"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6"/>
          <a:stretch>
            <a:fillRect/>
          </a:stretch>
        </p:blipFill>
        <p:spPr>
          <a:xfrm>
            <a:off x="6629399" y="6409944"/>
            <a:ext cx="146304" cy="14630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1097280" y="1097280"/>
            <a:ext cx="7315200" cy="457200"/>
          </a:xfrm>
          <a:prstGeom prst="rect">
            <a:avLst/>
          </a:prstGeom>
          <a:noFill/>
          <a:ln/>
        </p:spPr>
        <p:txBody>
          <a:bodyPr wrap="square" lIns="0" tIns="0" rIns="0" bIns="0" rtlCol="0" anchor="ctr"/>
          <a:lstStyle/>
          <a:p>
            <a:pPr marL="0" indent="0">
              <a:buNone/>
            </a:pPr>
            <a:r>
              <a:rPr lang="en-US" sz="1800" b="1" dirty="0">
                <a:solidFill>
                  <a:schemeClr val="accent1"/>
                </a:solidFill>
              </a:rPr>
              <a:t>Idea clave del bloque 1</a:t>
            </a:r>
            <a:endParaRPr lang="en-US" sz="1800" dirty="0"/>
          </a:p>
        </p:txBody>
      </p:sp>
      <p:sp>
        <p:nvSpPr>
          <p:cNvPr id="3" name="Text 0"/>
          <p:cNvSpPr>
            <a:spLocks noGrp="1"/>
          </p:cNvSpPr>
          <p:nvPr>
            <p:ph type="body" idx="100" hasCustomPrompt="1"/>
          </p:nvPr>
        </p:nvSpPr>
        <p:spPr>
          <a:xfrm>
            <a:off x="1097280" y="1554480"/>
            <a:ext cx="9966960" cy="3108960"/>
          </a:xfrm>
          <a:prstGeom prst="rect">
            <a:avLst/>
          </a:prstGeom>
          <a:noFill/>
          <a:ln/>
        </p:spPr>
        <p:txBody>
          <a:bodyPr wrap="square" lIns="0" tIns="0" rIns="0" bIns="0" rtlCol="0" anchor="ctr"/>
          <a:lstStyle/>
          <a:p>
            <a:pPr marL="0" indent="0">
              <a:buNone/>
            </a:pPr>
            <a:r>
              <a:rPr lang="en-US" sz="3400" dirty="0">
                <a:solidFill>
                  <a:schemeClr val="bg1"/>
                </a:solidFill>
              </a:rPr>
              <a:t>La creatividad produce posibilidades.</a:t>
            </a:r>
            <a:endParaRPr lang="en-US" sz="3400" dirty="0"/>
          </a:p>
          <a:p>
            <a:pPr marL="0" indent="0">
              <a:buNone/>
            </a:pPr>
            <a:r>
              <a:rPr lang="en-US" sz="3400" dirty="0">
                <a:solidFill>
                  <a:schemeClr val="accent1"/>
                </a:solidFill>
              </a:rPr>
              <a:t>La innovación exige elegirlas, probarlas y convertirlas en mejoras reales.</a:t>
            </a:r>
            <a:endParaRPr lang="en-US" sz="3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737360"/>
            <a:ext cx="2194560" cy="2743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0" b="1" i="0" u="none" strike="noStrike" kern="1200" cap="none" spc="0" normalizeH="0" baseline="0" noProof="0" dirty="0">
                <a:ln>
                  <a:noFill/>
                </a:ln>
                <a:solidFill>
                  <a:srgbClr val="F4A300"/>
                </a:solidFill>
                <a:effectLst/>
                <a:uLnTx/>
                <a:uFillTx/>
                <a:latin typeface="Arial" pitchFamily="34" charset="0"/>
                <a:ea typeface="Arial" pitchFamily="34" charset="-122"/>
                <a:cs typeface="Arial" pitchFamily="34" charset="-120"/>
              </a:rPr>
              <a:t>2</a:t>
            </a:r>
            <a:endParaRPr kumimoji="0" lang="en-US" sz="20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3" name="Text 0"/>
          <p:cNvSpPr>
            <a:spLocks noGrp="1"/>
          </p:cNvSpPr>
          <p:nvPr>
            <p:ph type="title" idx="100" hasCustomPrompt="1"/>
          </p:nvPr>
        </p:nvSpPr>
        <p:spPr>
          <a:xfrm>
            <a:off x="3108960" y="2103120"/>
            <a:ext cx="8503920" cy="1463040"/>
          </a:xfrm>
          <a:prstGeom prst="rect">
            <a:avLst/>
          </a:prstGeom>
          <a:noFill/>
          <a:ln/>
        </p:spPr>
        <p:txBody>
          <a:bodyPr wrap="square" lIns="0" tIns="0" rIns="0" bIns="0" rtlCol="0" anchor="b"/>
          <a:lstStyle/>
          <a:p>
            <a:pPr marL="0" indent="0" algn="l">
              <a:buNone/>
            </a:pPr>
            <a:r>
              <a:rPr lang="en-US" sz="4000" b="1" dirty="0">
                <a:solidFill>
                  <a:schemeClr val="bg1"/>
                </a:solidFill>
              </a:rPr>
              <a:t>SCAMPER y provocación con IA</a:t>
            </a:r>
            <a:endParaRPr lang="en-US" sz="4000" dirty="0"/>
          </a:p>
        </p:txBody>
      </p:sp>
      <p:sp>
        <p:nvSpPr>
          <p:cNvPr id="4" name="Text 0"/>
          <p:cNvSpPr>
            <a:spLocks noGrp="1"/>
          </p:cNvSpPr>
          <p:nvPr>
            <p:ph type="body" idx="101" hasCustomPrompt="1"/>
          </p:nvPr>
        </p:nvSpPr>
        <p:spPr>
          <a:xfrm>
            <a:off x="3108960" y="3749040"/>
            <a:ext cx="8503920" cy="731520"/>
          </a:xfrm>
          <a:prstGeom prst="rect">
            <a:avLst/>
          </a:prstGeom>
          <a:noFill/>
          <a:ln/>
        </p:spPr>
        <p:txBody>
          <a:bodyPr wrap="square" lIns="0" tIns="0" rIns="0" bIns="0" rtlCol="0" anchor="t"/>
          <a:lstStyle/>
          <a:p>
            <a:pPr marL="0" indent="0">
              <a:buNone/>
            </a:pPr>
            <a:r>
              <a:rPr lang="en-US" sz="2200" dirty="0">
                <a:solidFill>
                  <a:schemeClr val="accent1"/>
                </a:solidFill>
              </a:rPr>
              <a:t>60 minutos · por parejas</a:t>
            </a:r>
            <a:endParaRPr lang="en-US" sz="2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Seguimos en el cuaderno</a:t>
            </a:r>
            <a:endParaRPr lang="en-US" sz="3200" dirty="0"/>
          </a:p>
        </p:txBody>
      </p:sp>
      <p:sp>
        <p:nvSpPr>
          <p:cNvPr id="3" name="Etiqueta de tiempo"/>
          <p:cNvSpPr/>
          <p:nvPr/>
        </p:nvSpPr>
        <p:spPr>
          <a:xfrm>
            <a:off x="9398203" y="548640"/>
            <a:ext cx="2244852" cy="457200"/>
          </a:xfrm>
          <a:prstGeom prst="roundRect">
            <a:avLst>
              <a:gd name="adj" fmla="val 50000"/>
            </a:avLst>
          </a:prstGeom>
          <a:solidFill>
            <a:schemeClr val="accent1"/>
          </a:solidFill>
          <a:ln/>
        </p:spPr>
      </p:sp>
      <p:sp>
        <p:nvSpPr>
          <p:cNvPr id="4" name="Text 2"/>
          <p:cNvSpPr txBox="1"/>
          <p:nvPr/>
        </p:nvSpPr>
        <p:spPr>
          <a:xfrm>
            <a:off x="9398203" y="548640"/>
            <a:ext cx="2244852" cy="457200"/>
          </a:xfrm>
          <a:prstGeom prst="rect">
            <a:avLst/>
          </a:prstGeom>
          <a:noFill/>
          <a:ln/>
        </p:spPr>
        <p:txBody>
          <a:bodyPr wrap="square" lIns="0" tIns="0" rIns="0" bIns="0" rtlCol="0" anchor="ctr"/>
          <a:lstStyle/>
          <a:p>
            <a:pPr marL="0" indent="0" algn="ctr">
              <a:buNone/>
            </a:pPr>
            <a:r>
              <a:rPr lang="en-US" sz="1400" b="1" dirty="0">
                <a:solidFill>
                  <a:schemeClr val="tx1"/>
                </a:solidFill>
              </a:rPr>
              <a:t>Min. 45 · Parejas</a:t>
            </a:r>
            <a:endParaRPr lang="en-US" sz="1400" dirty="0"/>
          </a:p>
        </p:txBody>
      </p:sp>
      <p:sp>
        <p:nvSpPr>
          <p:cNvPr id="5" name="Archivo"/>
          <p:cNvSpPr/>
          <p:nvPr/>
        </p:nvSpPr>
        <p:spPr>
          <a:xfrm>
            <a:off x="548640" y="1554480"/>
            <a:ext cx="4572000" cy="4206240"/>
          </a:xfrm>
          <a:prstGeom prst="roundRect">
            <a:avLst>
              <a:gd name="adj" fmla="val 3261"/>
            </a:avLst>
          </a:prstGeom>
          <a:solidFill>
            <a:schemeClr val="bg2"/>
          </a:solidFill>
          <a:ln/>
        </p:spPr>
      </p:sp>
      <p:sp>
        <p:nvSpPr>
          <p:cNvPr id="6" name="Icono del archivo"/>
          <p:cNvSpPr/>
          <p:nvPr/>
        </p:nvSpPr>
        <p:spPr>
          <a:xfrm>
            <a:off x="2103120" y="2011680"/>
            <a:ext cx="1463040" cy="1463040"/>
          </a:xfrm>
          <a:prstGeom prst="ellipse">
            <a:avLst/>
          </a:prstGeom>
          <a:solidFill>
            <a:schemeClr val="accent1"/>
          </a:solidFill>
          <a:ln/>
        </p:spPr>
      </p:sp>
      <p:pic>
        <p:nvPicPr>
          <p:cNvPr id="7" name="Image 0" descr="Icono del archivo"/>
          <p:cNvPicPr>
            <a:picLocks noChangeAspect="1"/>
          </p:cNvPicPr>
          <p:nvPr/>
        </p:nvPicPr>
        <p:blipFill>
          <a:blip r:embed="rId3"/>
          <a:stretch>
            <a:fillRect/>
          </a:stretch>
        </p:blipFill>
        <p:spPr>
          <a:xfrm>
            <a:off x="2454250" y="2362810"/>
            <a:ext cx="760781" cy="760781"/>
          </a:xfrm>
          <a:prstGeom prst="rect">
            <a:avLst/>
          </a:prstGeom>
        </p:spPr>
      </p:pic>
      <p:sp>
        <p:nvSpPr>
          <p:cNvPr id="8" name="Text 5"/>
          <p:cNvSpPr txBox="1"/>
          <p:nvPr/>
        </p:nvSpPr>
        <p:spPr>
          <a:xfrm>
            <a:off x="731520" y="3749040"/>
            <a:ext cx="4206240" cy="731520"/>
          </a:xfrm>
          <a:prstGeom prst="rect">
            <a:avLst/>
          </a:prstGeom>
          <a:noFill/>
          <a:ln/>
        </p:spPr>
        <p:txBody>
          <a:bodyPr wrap="square" lIns="0" tIns="0" rIns="0" bIns="0" rtlCol="0" anchor="ctr">
            <a:normAutofit/>
          </a:bodyPr>
          <a:lstStyle/>
          <a:p>
            <a:pPr marL="0" indent="0" algn="ctr">
              <a:buNone/>
            </a:pPr>
            <a:r>
              <a:rPr lang="en-US" sz="2200" b="1" dirty="0">
                <a:solidFill>
                  <a:schemeClr val="tx1"/>
                </a:solidFill>
              </a:rPr>
              <a:t>cuaderno_ejercicios.docx</a:t>
            </a:r>
            <a:endParaRPr lang="en-US" sz="2200" dirty="0"/>
          </a:p>
        </p:txBody>
      </p:sp>
      <p:sp>
        <p:nvSpPr>
          <p:cNvPr id="9" name="Text 6"/>
          <p:cNvSpPr txBox="1"/>
          <p:nvPr/>
        </p:nvSpPr>
        <p:spPr>
          <a:xfrm>
            <a:off x="731520" y="4526280"/>
            <a:ext cx="4206240" cy="457200"/>
          </a:xfrm>
          <a:prstGeom prst="rect">
            <a:avLst/>
          </a:prstGeom>
          <a:noFill/>
          <a:ln/>
        </p:spPr>
        <p:txBody>
          <a:bodyPr wrap="square" lIns="0" tIns="0" rIns="0" bIns="0" rtlCol="0" anchor="ctr"/>
          <a:lstStyle/>
          <a:p>
            <a:pPr marL="0" indent="0" algn="ctr">
              <a:buNone/>
            </a:pPr>
            <a:r>
              <a:rPr lang="en-US" sz="1600" dirty="0">
                <a:solidFill>
                  <a:schemeClr val="accent5"/>
                </a:solidFill>
              </a:rPr>
              <a:t>Word o Google Docs</a:t>
            </a:r>
            <a:endParaRPr lang="en-US" sz="1600" dirty="0"/>
          </a:p>
        </p:txBody>
      </p:sp>
      <p:sp>
        <p:nvSpPr>
          <p:cNvPr id="10" name="Paso 1"/>
          <p:cNvSpPr/>
          <p:nvPr/>
        </p:nvSpPr>
        <p:spPr>
          <a:xfrm>
            <a:off x="5577840" y="1737360"/>
            <a:ext cx="640080" cy="640080"/>
          </a:xfrm>
          <a:prstGeom prst="ellipse">
            <a:avLst/>
          </a:prstGeom>
          <a:solidFill>
            <a:schemeClr val="accent1"/>
          </a:solidFill>
          <a:ln/>
        </p:spPr>
      </p:sp>
      <p:sp>
        <p:nvSpPr>
          <p:cNvPr id="11" name="Text 8"/>
          <p:cNvSpPr txBox="1"/>
          <p:nvPr/>
        </p:nvSpPr>
        <p:spPr>
          <a:xfrm>
            <a:off x="5577840" y="17373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12" name="Text 9"/>
          <p:cNvSpPr txBox="1"/>
          <p:nvPr/>
        </p:nvSpPr>
        <p:spPr>
          <a:xfrm>
            <a:off x="6446520" y="1600200"/>
            <a:ext cx="5196535" cy="914400"/>
          </a:xfrm>
          <a:prstGeom prst="rect">
            <a:avLst/>
          </a:prstGeom>
          <a:noFill/>
          <a:ln/>
        </p:spPr>
        <p:txBody>
          <a:bodyPr wrap="square" lIns="0" tIns="0" rIns="0" bIns="0" rtlCol="0" anchor="ctr"/>
          <a:lstStyle/>
          <a:p>
            <a:pPr marL="0" indent="0">
              <a:buNone/>
            </a:pPr>
            <a:r>
              <a:rPr lang="en-US" sz="2000" dirty="0">
                <a:solidFill>
                  <a:schemeClr val="tx1"/>
                </a:solidFill>
              </a:rPr>
              <a:t>Por parejas: un solo cuaderno para los dos.</a:t>
            </a:r>
            <a:endParaRPr lang="en-US" sz="2000" dirty="0"/>
          </a:p>
        </p:txBody>
      </p:sp>
      <p:sp>
        <p:nvSpPr>
          <p:cNvPr id="13" name="Paso 2"/>
          <p:cNvSpPr/>
          <p:nvPr/>
        </p:nvSpPr>
        <p:spPr>
          <a:xfrm>
            <a:off x="5577840" y="3108960"/>
            <a:ext cx="640080" cy="640080"/>
          </a:xfrm>
          <a:prstGeom prst="ellipse">
            <a:avLst/>
          </a:prstGeom>
          <a:solidFill>
            <a:schemeClr val="accent1"/>
          </a:solidFill>
          <a:ln/>
        </p:spPr>
      </p:sp>
      <p:sp>
        <p:nvSpPr>
          <p:cNvPr id="14" name="Text 11"/>
          <p:cNvSpPr txBox="1"/>
          <p:nvPr/>
        </p:nvSpPr>
        <p:spPr>
          <a:xfrm>
            <a:off x="5577840" y="31089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2</a:t>
            </a:r>
            <a:endParaRPr lang="en-US" sz="2200" dirty="0"/>
          </a:p>
        </p:txBody>
      </p:sp>
      <p:sp>
        <p:nvSpPr>
          <p:cNvPr id="15" name="Text 12"/>
          <p:cNvSpPr txBox="1"/>
          <p:nvPr/>
        </p:nvSpPr>
        <p:spPr>
          <a:xfrm>
            <a:off x="6446520" y="2971800"/>
            <a:ext cx="5196535" cy="914400"/>
          </a:xfrm>
          <a:prstGeom prst="rect">
            <a:avLst/>
          </a:prstGeom>
          <a:noFill/>
          <a:ln/>
        </p:spPr>
        <p:txBody>
          <a:bodyPr wrap="square" lIns="0" tIns="0" rIns="0" bIns="0" rtlCol="0" anchor="ctr"/>
          <a:lstStyle/>
          <a:p>
            <a:pPr marL="0" indent="0">
              <a:buNone/>
            </a:pPr>
            <a:r>
              <a:rPr lang="en-US" sz="2000" dirty="0">
                <a:solidFill>
                  <a:schemeClr val="tx1"/>
                </a:solidFill>
              </a:rPr>
              <a:t>Id al «Bloque 2» y marcad vuestro caso.</a:t>
            </a:r>
            <a:endParaRPr lang="en-US" sz="2000" dirty="0"/>
          </a:p>
        </p:txBody>
      </p:sp>
      <p:sp>
        <p:nvSpPr>
          <p:cNvPr id="16" name="Paso 3"/>
          <p:cNvSpPr/>
          <p:nvPr/>
        </p:nvSpPr>
        <p:spPr>
          <a:xfrm>
            <a:off x="5577840" y="4480560"/>
            <a:ext cx="640080" cy="640080"/>
          </a:xfrm>
          <a:prstGeom prst="ellipse">
            <a:avLst/>
          </a:prstGeom>
          <a:solidFill>
            <a:schemeClr val="accent1"/>
          </a:solidFill>
          <a:ln/>
        </p:spPr>
      </p:sp>
      <p:sp>
        <p:nvSpPr>
          <p:cNvPr id="17" name="Text 14"/>
          <p:cNvSpPr txBox="1"/>
          <p:nvPr/>
        </p:nvSpPr>
        <p:spPr>
          <a:xfrm>
            <a:off x="5577840" y="44805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18" name="Text 15"/>
          <p:cNvSpPr txBox="1"/>
          <p:nvPr/>
        </p:nvSpPr>
        <p:spPr>
          <a:xfrm>
            <a:off x="6446520" y="4343400"/>
            <a:ext cx="5196535" cy="914400"/>
          </a:xfrm>
          <a:prstGeom prst="rect">
            <a:avLst/>
          </a:prstGeom>
          <a:noFill/>
          <a:ln/>
        </p:spPr>
        <p:txBody>
          <a:bodyPr wrap="square" lIns="0" tIns="0" rIns="0" bIns="0" rtlCol="0" anchor="ctr"/>
          <a:lstStyle/>
          <a:p>
            <a:pPr marL="0" indent="0">
              <a:buNone/>
            </a:pPr>
            <a:r>
              <a:rPr lang="en-US" sz="2000" dirty="0">
                <a:solidFill>
                  <a:schemeClr val="tx1"/>
                </a:solidFill>
              </a:rPr>
              <a:t>Los prompts están en el cuaderno: copiadlos y completad lo que va entre corchetes.</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Por parejas: elegid un caso</a:t>
            </a:r>
            <a:endParaRPr lang="en-US" sz="3200" dirty="0"/>
          </a:p>
        </p:txBody>
      </p:sp>
      <p:sp>
        <p:nvSpPr>
          <p:cNvPr id="3" name="Etiqueta de tiempo"/>
          <p:cNvSpPr/>
          <p:nvPr/>
        </p:nvSpPr>
        <p:spPr>
          <a:xfrm>
            <a:off x="9398203" y="548640"/>
            <a:ext cx="2244852" cy="457200"/>
          </a:xfrm>
          <a:prstGeom prst="roundRect">
            <a:avLst>
              <a:gd name="adj" fmla="val 50000"/>
            </a:avLst>
          </a:prstGeom>
          <a:solidFill>
            <a:schemeClr val="accent1"/>
          </a:solidFill>
          <a:ln/>
        </p:spPr>
      </p:sp>
      <p:sp>
        <p:nvSpPr>
          <p:cNvPr id="4" name="Text 2"/>
          <p:cNvSpPr txBox="1"/>
          <p:nvPr/>
        </p:nvSpPr>
        <p:spPr>
          <a:xfrm>
            <a:off x="9398203" y="548640"/>
            <a:ext cx="224485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A44"/>
                </a:solidFill>
                <a:effectLst/>
                <a:uLnTx/>
                <a:uFillTx/>
                <a:latin typeface="Calibri"/>
                <a:ea typeface="+mn-ea"/>
                <a:cs typeface="+mn-cs"/>
              </a:rPr>
              <a:t>Min. 45 · Parejas</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Tarjeta"/>
          <p:cNvSpPr/>
          <p:nvPr/>
        </p:nvSpPr>
        <p:spPr>
          <a:xfrm>
            <a:off x="548640" y="1463040"/>
            <a:ext cx="3454298" cy="3749040"/>
          </a:xfrm>
          <a:prstGeom prst="roundRect">
            <a:avLst>
              <a:gd name="adj" fmla="val 3971"/>
            </a:avLst>
          </a:prstGeom>
          <a:solidFill>
            <a:schemeClr val="bg2"/>
          </a:solidFill>
          <a:ln/>
        </p:spPr>
      </p:sp>
      <p:sp>
        <p:nvSpPr>
          <p:cNvPr id="6" name="Text 4"/>
          <p:cNvSpPr txBox="1"/>
          <p:nvPr/>
        </p:nvSpPr>
        <p:spPr>
          <a:xfrm>
            <a:off x="3225698" y="1600200"/>
            <a:ext cx="548640" cy="5486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8A94A6"/>
                </a:solidFill>
                <a:effectLst/>
                <a:uLnTx/>
                <a:uFillTx/>
                <a:latin typeface="Calibri"/>
                <a:ea typeface="+mn-ea"/>
                <a:cs typeface="+mn-cs"/>
              </a:rPr>
              <a:t>1</a:t>
            </a:r>
            <a:endParaRPr kumimoji="0" lang="en-US" sz="2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7" name="Un comercio que pierde pedidos"/>
          <p:cNvSpPr/>
          <p:nvPr/>
        </p:nvSpPr>
        <p:spPr>
          <a:xfrm>
            <a:off x="868680" y="1737360"/>
            <a:ext cx="914400" cy="914400"/>
          </a:xfrm>
          <a:prstGeom prst="ellipse">
            <a:avLst/>
          </a:prstGeom>
          <a:solidFill>
            <a:schemeClr val="tx2"/>
          </a:solidFill>
          <a:ln/>
        </p:spPr>
      </p:sp>
      <p:pic>
        <p:nvPicPr>
          <p:cNvPr id="8" name="Image 0" descr="Un comercio que pierde pedidos"/>
          <p:cNvPicPr>
            <a:picLocks noChangeAspect="1"/>
          </p:cNvPicPr>
          <p:nvPr/>
        </p:nvPicPr>
        <p:blipFill>
          <a:blip r:embed="rId3"/>
          <a:stretch>
            <a:fillRect/>
          </a:stretch>
        </p:blipFill>
        <p:spPr>
          <a:xfrm>
            <a:off x="1088136" y="1956816"/>
            <a:ext cx="475488" cy="475488"/>
          </a:xfrm>
          <a:prstGeom prst="rect">
            <a:avLst/>
          </a:prstGeom>
        </p:spPr>
      </p:pic>
      <p:sp>
        <p:nvSpPr>
          <p:cNvPr id="9" name="Text 6"/>
          <p:cNvSpPr txBox="1"/>
          <p:nvPr/>
        </p:nvSpPr>
        <p:spPr>
          <a:xfrm>
            <a:off x="868680" y="2788920"/>
            <a:ext cx="2814218"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F2A44"/>
                </a:solidFill>
                <a:effectLst/>
                <a:uLnTx/>
                <a:uFillTx/>
                <a:latin typeface="Calibri"/>
                <a:ea typeface="+mn-ea"/>
                <a:cs typeface="+mn-cs"/>
              </a:rPr>
              <a:t>Un comercio que pierde pedidos</a:t>
            </a:r>
            <a:endParaRPr kumimoji="0" lang="en-US" sz="21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0" name="Text 7"/>
          <p:cNvSpPr txBox="1"/>
          <p:nvPr/>
        </p:nvSpPr>
        <p:spPr>
          <a:xfrm>
            <a:off x="868680" y="3566160"/>
            <a:ext cx="2814218" cy="1554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Los pedidos llegan por teléfono, WhatsApp y en el mostrador; se apuntan en una libreta y a veces se olvidan o se sirven tarde.</a:t>
            </a:r>
          </a:p>
        </p:txBody>
      </p:sp>
      <p:sp>
        <p:nvSpPr>
          <p:cNvPr id="11" name="Tarjeta"/>
          <p:cNvSpPr/>
          <p:nvPr/>
        </p:nvSpPr>
        <p:spPr>
          <a:xfrm>
            <a:off x="4368698" y="1463040"/>
            <a:ext cx="3454298" cy="3749040"/>
          </a:xfrm>
          <a:prstGeom prst="roundRect">
            <a:avLst>
              <a:gd name="adj" fmla="val 3971"/>
            </a:avLst>
          </a:prstGeom>
          <a:solidFill>
            <a:schemeClr val="bg2"/>
          </a:solidFill>
          <a:ln/>
        </p:spPr>
      </p:sp>
      <p:sp>
        <p:nvSpPr>
          <p:cNvPr id="12" name="Text 9"/>
          <p:cNvSpPr txBox="1"/>
          <p:nvPr/>
        </p:nvSpPr>
        <p:spPr>
          <a:xfrm>
            <a:off x="7045757" y="1600200"/>
            <a:ext cx="548640" cy="5486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8A94A6"/>
                </a:solidFill>
                <a:effectLst/>
                <a:uLnTx/>
                <a:uFillTx/>
                <a:latin typeface="Calibri"/>
                <a:ea typeface="+mn-ea"/>
                <a:cs typeface="+mn-cs"/>
              </a:rPr>
              <a:t>2</a:t>
            </a:r>
            <a:endParaRPr kumimoji="0" lang="en-US" sz="2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3" name="Una asociación que pierde tiempo"/>
          <p:cNvSpPr/>
          <p:nvPr/>
        </p:nvSpPr>
        <p:spPr>
          <a:xfrm>
            <a:off x="4688738" y="1737360"/>
            <a:ext cx="914400" cy="914400"/>
          </a:xfrm>
          <a:prstGeom prst="ellipse">
            <a:avLst/>
          </a:prstGeom>
          <a:solidFill>
            <a:schemeClr val="tx2"/>
          </a:solidFill>
          <a:ln/>
        </p:spPr>
      </p:sp>
      <p:pic>
        <p:nvPicPr>
          <p:cNvPr id="14" name="Image 1" descr="Una asociación que pierde tiempo"/>
          <p:cNvPicPr>
            <a:picLocks noChangeAspect="1"/>
          </p:cNvPicPr>
          <p:nvPr/>
        </p:nvPicPr>
        <p:blipFill>
          <a:blip r:embed="rId4"/>
          <a:stretch>
            <a:fillRect/>
          </a:stretch>
        </p:blipFill>
        <p:spPr>
          <a:xfrm>
            <a:off x="4908194" y="1956816"/>
            <a:ext cx="475488" cy="475488"/>
          </a:xfrm>
          <a:prstGeom prst="rect">
            <a:avLst/>
          </a:prstGeom>
        </p:spPr>
      </p:pic>
      <p:sp>
        <p:nvSpPr>
          <p:cNvPr id="15" name="Text 11"/>
          <p:cNvSpPr txBox="1"/>
          <p:nvPr/>
        </p:nvSpPr>
        <p:spPr>
          <a:xfrm>
            <a:off x="4688738" y="2788920"/>
            <a:ext cx="2814218"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F2A44"/>
                </a:solidFill>
                <a:effectLst/>
                <a:uLnTx/>
                <a:uFillTx/>
                <a:latin typeface="Calibri"/>
                <a:ea typeface="+mn-ea"/>
                <a:cs typeface="+mn-cs"/>
              </a:rPr>
              <a:t>Una asociación que </a:t>
            </a:r>
            <a:r>
              <a:rPr kumimoji="0" lang="en-US" sz="2100" b="1" i="0" u="none" strike="noStrike" kern="1200" cap="none" spc="0" normalizeH="0" baseline="0" noProof="0" dirty="0" err="1">
                <a:ln>
                  <a:noFill/>
                </a:ln>
                <a:solidFill>
                  <a:srgbClr val="1F2A44"/>
                </a:solidFill>
                <a:effectLst/>
                <a:uLnTx/>
                <a:uFillTx/>
                <a:latin typeface="Calibri"/>
                <a:ea typeface="+mn-ea"/>
                <a:cs typeface="+mn-cs"/>
              </a:rPr>
              <a:t>pierde</a:t>
            </a:r>
            <a:r>
              <a:rPr kumimoji="0" lang="en-US" sz="2100" b="1" i="0" u="none" strike="noStrike" kern="1200" cap="none" spc="0" normalizeH="0" baseline="0" noProof="0" dirty="0">
                <a:ln>
                  <a:noFill/>
                </a:ln>
                <a:solidFill>
                  <a:srgbClr val="1F2A44"/>
                </a:solidFill>
                <a:effectLst/>
                <a:uLnTx/>
                <a:uFillTx/>
                <a:latin typeface="Calibri"/>
                <a:ea typeface="+mn-ea"/>
                <a:cs typeface="+mn-cs"/>
              </a:rPr>
              <a:t> </a:t>
            </a:r>
            <a:r>
              <a:rPr kumimoji="0" lang="en-US" sz="2100" b="1" i="0" u="none" strike="noStrike" kern="1200" cap="none" spc="0" normalizeH="0" baseline="0" noProof="0" dirty="0" err="1">
                <a:ln>
                  <a:noFill/>
                </a:ln>
                <a:solidFill>
                  <a:srgbClr val="1F2A44"/>
                </a:solidFill>
                <a:effectLst/>
                <a:uLnTx/>
                <a:uFillTx/>
                <a:latin typeface="Calibri"/>
                <a:ea typeface="+mn-ea"/>
                <a:cs typeface="+mn-cs"/>
              </a:rPr>
              <a:t>gente</a:t>
            </a:r>
            <a:endParaRPr kumimoji="0" lang="en-US" sz="21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6" name="Text 12"/>
          <p:cNvSpPr txBox="1"/>
          <p:nvPr/>
        </p:nvSpPr>
        <p:spPr>
          <a:xfrm>
            <a:off x="4688738" y="3566160"/>
            <a:ext cx="2814218" cy="1554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Las actividades se anuncian por WhatsApp y las inscripciones se apuntan en un Excel que solo actualiza una persona; se pierden inscripciones y quedan plazas libres.</a:t>
            </a:r>
          </a:p>
        </p:txBody>
      </p:sp>
      <p:sp>
        <p:nvSpPr>
          <p:cNvPr id="17" name="Tarjeta"/>
          <p:cNvSpPr/>
          <p:nvPr/>
        </p:nvSpPr>
        <p:spPr>
          <a:xfrm>
            <a:off x="8188757" y="1463040"/>
            <a:ext cx="3454298" cy="3749040"/>
          </a:xfrm>
          <a:prstGeom prst="roundRect">
            <a:avLst>
              <a:gd name="adj" fmla="val 3971"/>
            </a:avLst>
          </a:prstGeom>
          <a:solidFill>
            <a:schemeClr val="bg2"/>
          </a:solidFill>
          <a:ln/>
        </p:spPr>
      </p:sp>
      <p:sp>
        <p:nvSpPr>
          <p:cNvPr id="18" name="Text 14"/>
          <p:cNvSpPr txBox="1"/>
          <p:nvPr/>
        </p:nvSpPr>
        <p:spPr>
          <a:xfrm>
            <a:off x="10865815" y="1600200"/>
            <a:ext cx="548640" cy="5486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8A94A6"/>
                </a:solidFill>
                <a:effectLst/>
                <a:uLnTx/>
                <a:uFillTx/>
                <a:latin typeface="Calibri"/>
                <a:ea typeface="+mn-ea"/>
                <a:cs typeface="+mn-cs"/>
              </a:rPr>
              <a:t>3</a:t>
            </a:r>
            <a:endParaRPr kumimoji="0" lang="en-US" sz="2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9" name="Una oficina con las mismas preguntas"/>
          <p:cNvSpPr/>
          <p:nvPr/>
        </p:nvSpPr>
        <p:spPr>
          <a:xfrm>
            <a:off x="8508797" y="1737360"/>
            <a:ext cx="914400" cy="914400"/>
          </a:xfrm>
          <a:prstGeom prst="ellipse">
            <a:avLst/>
          </a:prstGeom>
          <a:solidFill>
            <a:schemeClr val="tx2"/>
          </a:solidFill>
          <a:ln/>
        </p:spPr>
      </p:sp>
      <p:pic>
        <p:nvPicPr>
          <p:cNvPr id="20" name="Image 2" descr="Una oficina con las mismas preguntas"/>
          <p:cNvPicPr>
            <a:picLocks noChangeAspect="1"/>
          </p:cNvPicPr>
          <p:nvPr/>
        </p:nvPicPr>
        <p:blipFill>
          <a:blip r:embed="rId5"/>
          <a:stretch>
            <a:fillRect/>
          </a:stretch>
        </p:blipFill>
        <p:spPr>
          <a:xfrm>
            <a:off x="8728253" y="1956816"/>
            <a:ext cx="475488" cy="475488"/>
          </a:xfrm>
          <a:prstGeom prst="rect">
            <a:avLst/>
          </a:prstGeom>
        </p:spPr>
      </p:pic>
      <p:sp>
        <p:nvSpPr>
          <p:cNvPr id="21" name="Text 16"/>
          <p:cNvSpPr txBox="1"/>
          <p:nvPr/>
        </p:nvSpPr>
        <p:spPr>
          <a:xfrm>
            <a:off x="8508797" y="2788920"/>
            <a:ext cx="2814218"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F2A44"/>
                </a:solidFill>
                <a:effectLst/>
                <a:uLnTx/>
                <a:uFillTx/>
                <a:latin typeface="Calibri"/>
                <a:ea typeface="+mn-ea"/>
                <a:cs typeface="+mn-cs"/>
              </a:rPr>
              <a:t>Una oficina con las mismas preguntas</a:t>
            </a:r>
            <a:endParaRPr kumimoji="0" lang="en-US" sz="21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2" name="Text 17"/>
          <p:cNvSpPr txBox="1"/>
          <p:nvPr/>
        </p:nvSpPr>
        <p:spPr>
          <a:xfrm>
            <a:off x="8508797" y="3566160"/>
            <a:ext cx="2814218" cy="1554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Por teléfono y por correo llegan a diario las mismas consultas (horarios, documentación, plazos) y se responden una a una.</a:t>
            </a:r>
          </a:p>
        </p:txBody>
      </p:sp>
      <p:sp>
        <p:nvSpPr>
          <p:cNvPr id="23" name="Text 18"/>
          <p:cNvSpPr txBox="1"/>
          <p:nvPr/>
        </p:nvSpPr>
        <p:spPr>
          <a:xfrm>
            <a:off x="548640" y="5440680"/>
            <a:ext cx="11094415"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A4664"/>
                </a:solidFill>
                <a:effectLst/>
                <a:uLnTx/>
                <a:uFillTx/>
                <a:latin typeface="Calibri"/>
                <a:ea typeface="+mn-ea"/>
                <a:cs typeface="+mn-cs"/>
              </a:rPr>
              <a:t>Trabajaréis con el mismo caso todo el bloque. Vuestras tres mejores propuestas pasarán a la matriz del bloque 3.</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
        <p:nvSpPr>
          <p:cNvPr id="26" name="Dónde escribir"/>
          <p:cNvSpPr/>
          <p:nvPr/>
        </p:nvSpPr>
        <p:spPr>
          <a:xfrm>
            <a:off x="6515099" y="6291072"/>
            <a:ext cx="4411980"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2  ›  Nuestro caso</a:t>
            </a:r>
          </a:p>
        </p:txBody>
      </p:sp>
      <p:sp>
        <p:nvSpPr>
          <p:cNvPr id="27" name="Dónde escribir: círculo"/>
          <p:cNvSpPr/>
          <p:nvPr/>
        </p:nvSpPr>
        <p:spPr>
          <a:xfrm>
            <a:off x="6569963"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6"/>
          <a:stretch>
            <a:fillRect/>
          </a:stretch>
        </p:blipFill>
        <p:spPr>
          <a:xfrm>
            <a:off x="6643115" y="6409944"/>
            <a:ext cx="146304" cy="14630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SCAMPER: siete preguntas</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A44"/>
                </a:solidFill>
                <a:effectLst/>
                <a:uLnTx/>
                <a:uFillTx/>
                <a:latin typeface="Calibri"/>
                <a:ea typeface="+mn-ea"/>
                <a:cs typeface="+mn-cs"/>
              </a:rPr>
              <a:t>Min. 45–50</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Text 3"/>
          <p:cNvSpPr txBox="1"/>
          <p:nvPr/>
        </p:nvSpPr>
        <p:spPr>
          <a:xfrm>
            <a:off x="548640" y="1325880"/>
            <a:ext cx="11094415"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3A4664"/>
                </a:solidFill>
                <a:effectLst/>
                <a:uLnTx/>
                <a:uFillTx/>
                <a:latin typeface="Calibri"/>
                <a:ea typeface="+mn-ea"/>
                <a:cs typeface="+mn-cs"/>
              </a:rPr>
              <a:t>Para transformar algo que ya existe, mirándolo desde siete ángulos.</a:t>
            </a:r>
            <a:endParaRPr kumimoji="0" lang="en-US" sz="2100" b="0" i="0" u="none" strike="noStrike" kern="1200" cap="none" spc="0" normalizeH="0" baseline="0" noProof="0" dirty="0">
              <a:ln>
                <a:noFill/>
              </a:ln>
              <a:solidFill>
                <a:srgbClr val="1F2A44"/>
              </a:solidFill>
              <a:effectLst/>
              <a:uLnTx/>
              <a:uFillTx/>
              <a:latin typeface="Calibri"/>
              <a:ea typeface="+mn-ea"/>
              <a:cs typeface="+mn-cs"/>
            </a:endParaRPr>
          </a:p>
        </p:txBody>
      </p:sp>
      <p:sp>
        <p:nvSpPr>
          <p:cNvPr id="6" name="Letra S"/>
          <p:cNvSpPr/>
          <p:nvPr/>
        </p:nvSpPr>
        <p:spPr>
          <a:xfrm>
            <a:off x="548640" y="2103120"/>
            <a:ext cx="1428162" cy="1428162"/>
          </a:xfrm>
          <a:prstGeom prst="roundRect">
            <a:avLst>
              <a:gd name="adj" fmla="val 9604"/>
            </a:avLst>
          </a:prstGeom>
          <a:solidFill>
            <a:schemeClr val="accent1"/>
          </a:solidFill>
          <a:ln/>
        </p:spPr>
      </p:sp>
      <p:sp>
        <p:nvSpPr>
          <p:cNvPr id="7" name="Text 5"/>
          <p:cNvSpPr txBox="1"/>
          <p:nvPr/>
        </p:nvSpPr>
        <p:spPr>
          <a:xfrm>
            <a:off x="548640" y="2103120"/>
            <a:ext cx="1428162" cy="142816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1F2A44"/>
                </a:solidFill>
                <a:effectLst/>
                <a:uLnTx/>
                <a:uFillTx/>
                <a:latin typeface="Arial" pitchFamily="34" charset="0"/>
                <a:ea typeface="Arial" pitchFamily="34" charset="-122"/>
                <a:cs typeface="Arial" pitchFamily="34" charset="-120"/>
              </a:rPr>
              <a:t>S</a:t>
            </a:r>
            <a:endParaRPr kumimoji="0" lang="en-US" sz="6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8" name="Text 6"/>
          <p:cNvSpPr txBox="1"/>
          <p:nvPr/>
        </p:nvSpPr>
        <p:spPr>
          <a:xfrm>
            <a:off x="502920" y="3622722"/>
            <a:ext cx="1519602"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2A44"/>
                </a:solidFill>
                <a:effectLst/>
                <a:uLnTx/>
                <a:uFillTx/>
                <a:latin typeface="Calibri"/>
                <a:ea typeface="+mn-ea"/>
                <a:cs typeface="+mn-cs"/>
              </a:rPr>
              <a:t>Sustituir</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9" name="Text 7"/>
          <p:cNvSpPr txBox="1"/>
          <p:nvPr/>
        </p:nvSpPr>
        <p:spPr>
          <a:xfrm>
            <a:off x="502920" y="4308522"/>
            <a:ext cx="1519602" cy="9144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A4664"/>
                </a:solidFill>
                <a:effectLst/>
                <a:uLnTx/>
                <a:uFillTx/>
                <a:latin typeface="Calibri"/>
                <a:ea typeface="+mn-ea"/>
                <a:cs typeface="+mn-cs"/>
              </a:rPr>
              <a:t>¿Qué podemos cambiar por otra cosa?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0" name="Letra C"/>
          <p:cNvSpPr/>
          <p:nvPr/>
        </p:nvSpPr>
        <p:spPr>
          <a:xfrm>
            <a:off x="2159682" y="2103120"/>
            <a:ext cx="1428162" cy="1428162"/>
          </a:xfrm>
          <a:prstGeom prst="roundRect">
            <a:avLst>
              <a:gd name="adj" fmla="val 9604"/>
            </a:avLst>
          </a:prstGeom>
          <a:solidFill>
            <a:schemeClr val="accent1"/>
          </a:solidFill>
          <a:ln/>
        </p:spPr>
      </p:sp>
      <p:sp>
        <p:nvSpPr>
          <p:cNvPr id="11" name="Text 9"/>
          <p:cNvSpPr txBox="1"/>
          <p:nvPr/>
        </p:nvSpPr>
        <p:spPr>
          <a:xfrm>
            <a:off x="2159682" y="2103120"/>
            <a:ext cx="1428162" cy="142816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1F2A44"/>
                </a:solidFill>
                <a:effectLst/>
                <a:uLnTx/>
                <a:uFillTx/>
                <a:latin typeface="Arial" pitchFamily="34" charset="0"/>
                <a:ea typeface="Arial" pitchFamily="34" charset="-122"/>
                <a:cs typeface="Arial" pitchFamily="34" charset="-120"/>
              </a:rPr>
              <a:t>C</a:t>
            </a:r>
            <a:endParaRPr kumimoji="0" lang="en-US" sz="6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2" name="Text 10"/>
          <p:cNvSpPr txBox="1"/>
          <p:nvPr/>
        </p:nvSpPr>
        <p:spPr>
          <a:xfrm>
            <a:off x="2113962" y="3622722"/>
            <a:ext cx="1519602"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2A44"/>
                </a:solidFill>
                <a:effectLst/>
                <a:uLnTx/>
                <a:uFillTx/>
                <a:latin typeface="Calibri"/>
                <a:ea typeface="+mn-ea"/>
                <a:cs typeface="+mn-cs"/>
              </a:rPr>
              <a:t>Combinar</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3" name="Text 11"/>
          <p:cNvSpPr txBox="1"/>
          <p:nvPr/>
        </p:nvSpPr>
        <p:spPr>
          <a:xfrm>
            <a:off x="2113962" y="4308522"/>
            <a:ext cx="1519602" cy="9144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A4664"/>
                </a:solidFill>
                <a:effectLst/>
                <a:uLnTx/>
                <a:uFillTx/>
                <a:latin typeface="Calibri"/>
                <a:ea typeface="+mn-ea"/>
                <a:cs typeface="+mn-cs"/>
              </a:rPr>
              <a:t>¿Qué elementos podemos unir?</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4" name="Letra A"/>
          <p:cNvSpPr/>
          <p:nvPr/>
        </p:nvSpPr>
        <p:spPr>
          <a:xfrm>
            <a:off x="3770724" y="2103120"/>
            <a:ext cx="1428162" cy="1428162"/>
          </a:xfrm>
          <a:prstGeom prst="roundRect">
            <a:avLst>
              <a:gd name="adj" fmla="val 9604"/>
            </a:avLst>
          </a:prstGeom>
          <a:solidFill>
            <a:schemeClr val="accent1"/>
          </a:solidFill>
          <a:ln/>
        </p:spPr>
      </p:sp>
      <p:sp>
        <p:nvSpPr>
          <p:cNvPr id="15" name="Text 13"/>
          <p:cNvSpPr txBox="1"/>
          <p:nvPr/>
        </p:nvSpPr>
        <p:spPr>
          <a:xfrm>
            <a:off x="3770724" y="2103120"/>
            <a:ext cx="1428162" cy="142816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1F2A44"/>
                </a:solidFill>
                <a:effectLst/>
                <a:uLnTx/>
                <a:uFillTx/>
                <a:latin typeface="Arial" pitchFamily="34" charset="0"/>
                <a:ea typeface="Arial" pitchFamily="34" charset="-122"/>
                <a:cs typeface="Arial" pitchFamily="34" charset="-120"/>
              </a:rPr>
              <a:t>A</a:t>
            </a:r>
            <a:endParaRPr kumimoji="0" lang="en-US" sz="6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6" name="Text 14"/>
          <p:cNvSpPr txBox="1"/>
          <p:nvPr/>
        </p:nvSpPr>
        <p:spPr>
          <a:xfrm>
            <a:off x="3725004" y="3622722"/>
            <a:ext cx="1519602"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2A44"/>
                </a:solidFill>
                <a:effectLst/>
                <a:uLnTx/>
                <a:uFillTx/>
                <a:latin typeface="Calibri"/>
                <a:ea typeface="+mn-ea"/>
                <a:cs typeface="+mn-cs"/>
              </a:rPr>
              <a:t>Adaptar</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7" name="Text 15"/>
          <p:cNvSpPr txBox="1"/>
          <p:nvPr/>
        </p:nvSpPr>
        <p:spPr>
          <a:xfrm>
            <a:off x="3725004" y="4308522"/>
            <a:ext cx="1519602" cy="9144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A4664"/>
                </a:solidFill>
                <a:effectLst/>
                <a:uLnTx/>
                <a:uFillTx/>
                <a:latin typeface="Calibri"/>
                <a:ea typeface="+mn-ea"/>
                <a:cs typeface="+mn-cs"/>
              </a:rPr>
              <a:t>¿Qué funciona en otro sector?</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8" name="Letra M"/>
          <p:cNvSpPr/>
          <p:nvPr/>
        </p:nvSpPr>
        <p:spPr>
          <a:xfrm>
            <a:off x="5381767" y="2103120"/>
            <a:ext cx="1428162" cy="1428162"/>
          </a:xfrm>
          <a:prstGeom prst="roundRect">
            <a:avLst>
              <a:gd name="adj" fmla="val 9604"/>
            </a:avLst>
          </a:prstGeom>
          <a:solidFill>
            <a:schemeClr val="accent1"/>
          </a:solidFill>
          <a:ln/>
        </p:spPr>
      </p:sp>
      <p:sp>
        <p:nvSpPr>
          <p:cNvPr id="19" name="Text 17"/>
          <p:cNvSpPr txBox="1"/>
          <p:nvPr/>
        </p:nvSpPr>
        <p:spPr>
          <a:xfrm>
            <a:off x="5381767" y="2103120"/>
            <a:ext cx="1428162" cy="142816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1F2A44"/>
                </a:solidFill>
                <a:effectLst/>
                <a:uLnTx/>
                <a:uFillTx/>
                <a:latin typeface="Arial" pitchFamily="34" charset="0"/>
                <a:ea typeface="Arial" pitchFamily="34" charset="-122"/>
                <a:cs typeface="Arial" pitchFamily="34" charset="-120"/>
              </a:rPr>
              <a:t>M</a:t>
            </a:r>
            <a:endParaRPr kumimoji="0" lang="en-US" sz="6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0" name="Text 18"/>
          <p:cNvSpPr txBox="1"/>
          <p:nvPr/>
        </p:nvSpPr>
        <p:spPr>
          <a:xfrm>
            <a:off x="5336047" y="3622722"/>
            <a:ext cx="1519602"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2A44"/>
                </a:solidFill>
                <a:effectLst/>
                <a:uLnTx/>
                <a:uFillTx/>
                <a:latin typeface="Calibri"/>
                <a:ea typeface="+mn-ea"/>
                <a:cs typeface="+mn-cs"/>
              </a:rPr>
              <a:t>Modificar</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1" name="Text 19"/>
          <p:cNvSpPr txBox="1"/>
          <p:nvPr/>
        </p:nvSpPr>
        <p:spPr>
          <a:xfrm>
            <a:off x="5336047" y="4308522"/>
            <a:ext cx="1519602" cy="9144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A4664"/>
                </a:solidFill>
                <a:effectLst/>
                <a:uLnTx/>
                <a:uFillTx/>
                <a:latin typeface="Calibri"/>
                <a:ea typeface="+mn-ea"/>
                <a:cs typeface="+mn-cs"/>
              </a:rPr>
              <a:t>¿Qué podemos ampliar o reducir?</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2" name="Letra P"/>
          <p:cNvSpPr/>
          <p:nvPr/>
        </p:nvSpPr>
        <p:spPr>
          <a:xfrm>
            <a:off x="6992809" y="2103120"/>
            <a:ext cx="1428162" cy="1428162"/>
          </a:xfrm>
          <a:prstGeom prst="roundRect">
            <a:avLst>
              <a:gd name="adj" fmla="val 9604"/>
            </a:avLst>
          </a:prstGeom>
          <a:solidFill>
            <a:schemeClr val="accent1"/>
          </a:solidFill>
          <a:ln/>
        </p:spPr>
      </p:sp>
      <p:sp>
        <p:nvSpPr>
          <p:cNvPr id="23" name="Text 21"/>
          <p:cNvSpPr txBox="1"/>
          <p:nvPr/>
        </p:nvSpPr>
        <p:spPr>
          <a:xfrm>
            <a:off x="6992809" y="2103120"/>
            <a:ext cx="1428162" cy="142816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1F2A44"/>
                </a:solidFill>
                <a:effectLst/>
                <a:uLnTx/>
                <a:uFillTx/>
                <a:latin typeface="Arial" pitchFamily="34" charset="0"/>
                <a:ea typeface="Arial" pitchFamily="34" charset="-122"/>
                <a:cs typeface="Arial" pitchFamily="34" charset="-120"/>
              </a:rPr>
              <a:t>P</a:t>
            </a:r>
            <a:endParaRPr kumimoji="0" lang="en-US" sz="6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4" name="Text 22"/>
          <p:cNvSpPr txBox="1"/>
          <p:nvPr/>
        </p:nvSpPr>
        <p:spPr>
          <a:xfrm>
            <a:off x="6947089" y="3622722"/>
            <a:ext cx="1519602"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2A44"/>
                </a:solidFill>
                <a:effectLst/>
                <a:uLnTx/>
                <a:uFillTx/>
                <a:latin typeface="Calibri"/>
                <a:ea typeface="+mn-ea"/>
                <a:cs typeface="+mn-cs"/>
              </a:rPr>
              <a:t>Proponer otros usos</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5" name="Text 23"/>
          <p:cNvSpPr txBox="1"/>
          <p:nvPr/>
        </p:nvSpPr>
        <p:spPr>
          <a:xfrm>
            <a:off x="6947089" y="4308522"/>
            <a:ext cx="1519602" cy="9144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A4664"/>
                </a:solidFill>
                <a:effectLst/>
                <a:uLnTx/>
                <a:uFillTx/>
                <a:latin typeface="Calibri"/>
                <a:ea typeface="+mn-ea"/>
                <a:cs typeface="+mn-cs"/>
              </a:rPr>
              <a:t>¿Para qué más puede servir?</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6" name="Letra E"/>
          <p:cNvSpPr/>
          <p:nvPr/>
        </p:nvSpPr>
        <p:spPr>
          <a:xfrm>
            <a:off x="8603851" y="2103120"/>
            <a:ext cx="1428162" cy="1428162"/>
          </a:xfrm>
          <a:prstGeom prst="roundRect">
            <a:avLst>
              <a:gd name="adj" fmla="val 9604"/>
            </a:avLst>
          </a:prstGeom>
          <a:solidFill>
            <a:schemeClr val="accent1"/>
          </a:solidFill>
          <a:ln/>
        </p:spPr>
      </p:sp>
      <p:sp>
        <p:nvSpPr>
          <p:cNvPr id="27" name="Text 25"/>
          <p:cNvSpPr txBox="1"/>
          <p:nvPr/>
        </p:nvSpPr>
        <p:spPr>
          <a:xfrm>
            <a:off x="8603851" y="2103120"/>
            <a:ext cx="1428162" cy="142816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1F2A44"/>
                </a:solidFill>
                <a:effectLst/>
                <a:uLnTx/>
                <a:uFillTx/>
                <a:latin typeface="Arial" pitchFamily="34" charset="0"/>
                <a:ea typeface="Arial" pitchFamily="34" charset="-122"/>
                <a:cs typeface="Arial" pitchFamily="34" charset="-120"/>
              </a:rPr>
              <a:t>E</a:t>
            </a:r>
            <a:endParaRPr kumimoji="0" lang="en-US" sz="6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8" name="Text 26"/>
          <p:cNvSpPr txBox="1"/>
          <p:nvPr/>
        </p:nvSpPr>
        <p:spPr>
          <a:xfrm>
            <a:off x="8558131" y="3622722"/>
            <a:ext cx="1519602"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2A44"/>
                </a:solidFill>
                <a:effectLst/>
                <a:uLnTx/>
                <a:uFillTx/>
                <a:latin typeface="Calibri"/>
                <a:ea typeface="+mn-ea"/>
                <a:cs typeface="+mn-cs"/>
              </a:rPr>
              <a:t>Eliminar</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9" name="Text 27"/>
          <p:cNvSpPr txBox="1"/>
          <p:nvPr/>
        </p:nvSpPr>
        <p:spPr>
          <a:xfrm>
            <a:off x="8558131" y="4308522"/>
            <a:ext cx="1519602" cy="9144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A4664"/>
                </a:solidFill>
                <a:effectLst/>
                <a:uLnTx/>
                <a:uFillTx/>
                <a:latin typeface="Calibri"/>
                <a:ea typeface="+mn-ea"/>
                <a:cs typeface="+mn-cs"/>
              </a:rPr>
              <a:t>¿Qué pasos sobran?</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30" name="Letra R"/>
          <p:cNvSpPr/>
          <p:nvPr/>
        </p:nvSpPr>
        <p:spPr>
          <a:xfrm>
            <a:off x="10214893" y="2103120"/>
            <a:ext cx="1428162" cy="1428162"/>
          </a:xfrm>
          <a:prstGeom prst="roundRect">
            <a:avLst>
              <a:gd name="adj" fmla="val 9604"/>
            </a:avLst>
          </a:prstGeom>
          <a:solidFill>
            <a:schemeClr val="accent1"/>
          </a:solidFill>
          <a:ln/>
        </p:spPr>
      </p:sp>
      <p:sp>
        <p:nvSpPr>
          <p:cNvPr id="31" name="Text 29"/>
          <p:cNvSpPr txBox="1"/>
          <p:nvPr/>
        </p:nvSpPr>
        <p:spPr>
          <a:xfrm>
            <a:off x="10214893" y="2103120"/>
            <a:ext cx="1428162" cy="142816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1F2A44"/>
                </a:solidFill>
                <a:effectLst/>
                <a:uLnTx/>
                <a:uFillTx/>
                <a:latin typeface="Arial" pitchFamily="34" charset="0"/>
                <a:ea typeface="Arial" pitchFamily="34" charset="-122"/>
                <a:cs typeface="Arial" pitchFamily="34" charset="-120"/>
              </a:rPr>
              <a:t>R</a:t>
            </a:r>
            <a:endParaRPr kumimoji="0" lang="en-US" sz="6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32" name="Text 30"/>
          <p:cNvSpPr txBox="1"/>
          <p:nvPr/>
        </p:nvSpPr>
        <p:spPr>
          <a:xfrm>
            <a:off x="10169173" y="3622722"/>
            <a:ext cx="1519602"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2A44"/>
                </a:solidFill>
                <a:effectLst/>
                <a:uLnTx/>
                <a:uFillTx/>
                <a:latin typeface="Calibri"/>
                <a:ea typeface="+mn-ea"/>
                <a:cs typeface="+mn-cs"/>
              </a:rPr>
              <a:t>Reorganizar</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33" name="Text 31"/>
          <p:cNvSpPr txBox="1"/>
          <p:nvPr/>
        </p:nvSpPr>
        <p:spPr>
          <a:xfrm>
            <a:off x="10169173" y="4308522"/>
            <a:ext cx="1519602" cy="9144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A4664"/>
                </a:solidFill>
                <a:effectLst/>
                <a:uLnTx/>
                <a:uFillTx/>
                <a:latin typeface="Calibri"/>
                <a:ea typeface="+mn-ea"/>
                <a:cs typeface="+mn-cs"/>
              </a:rPr>
              <a:t>¿Qué orden podemos cambiar?</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34" name="Tarjeta"/>
          <p:cNvSpPr/>
          <p:nvPr/>
        </p:nvSpPr>
        <p:spPr>
          <a:xfrm>
            <a:off x="548640" y="5349240"/>
            <a:ext cx="11094415" cy="731520"/>
          </a:xfrm>
          <a:prstGeom prst="roundRect">
            <a:avLst>
              <a:gd name="adj" fmla="val 18750"/>
            </a:avLst>
          </a:prstGeom>
          <a:solidFill>
            <a:schemeClr val="bg2"/>
          </a:solidFill>
          <a:ln/>
        </p:spPr>
      </p:sp>
      <p:sp>
        <p:nvSpPr>
          <p:cNvPr id="35" name="Text 33"/>
          <p:cNvSpPr txBox="1"/>
          <p:nvPr/>
        </p:nvSpPr>
        <p:spPr>
          <a:xfrm>
            <a:off x="868680" y="5349240"/>
            <a:ext cx="10454335"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1F2A44"/>
                </a:solidFill>
                <a:effectLst/>
                <a:uLnTx/>
                <a:uFillTx/>
                <a:latin typeface="Calibri"/>
                <a:ea typeface="+mn-ea"/>
                <a:cs typeface="+mn-cs"/>
              </a:rPr>
              <a:t>El brainstorming parte de cero. </a:t>
            </a:r>
            <a:r>
              <a:rPr kumimoji="0" lang="en-US" sz="1900" b="1" i="0" u="none" strike="noStrike" kern="1200" cap="none" spc="0" normalizeH="0" baseline="0" noProof="0" dirty="0">
                <a:ln>
                  <a:noFill/>
                </a:ln>
                <a:solidFill>
                  <a:srgbClr val="1F2A44"/>
                </a:solidFill>
                <a:effectLst/>
                <a:uLnTx/>
                <a:uFillTx/>
                <a:latin typeface="Calibri"/>
                <a:ea typeface="+mn-ea"/>
                <a:cs typeface="+mn-cs"/>
              </a:rPr>
              <a:t>SCAMPER parte de cómo se hace hoy.</a:t>
            </a:r>
            <a:endParaRPr kumimoji="0" lang="en-US" sz="1900" b="0" i="0" u="none" strike="noStrike" kern="1200" cap="none" spc="0" normalizeH="0" baseline="0" noProof="0" dirty="0">
              <a:ln>
                <a:noFill/>
              </a:ln>
              <a:solidFill>
                <a:srgbClr val="1F2A44"/>
              </a:solidFill>
              <a:effectLst/>
              <a:uLnTx/>
              <a:uFillTx/>
              <a:latin typeface="Calibri"/>
              <a:ea typeface="+mn-ea"/>
              <a:cs typeface="+mn-cs"/>
            </a:endParaRPr>
          </a:p>
        </p:txBody>
      </p:sp>
      <p:sp>
        <p:nvSpPr>
          <p:cNvPr id="36"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SCAMPER en la peluquería</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A44"/>
                </a:solidFill>
                <a:effectLst/>
                <a:uLnTx/>
                <a:uFillTx/>
                <a:latin typeface="Calibri"/>
                <a:ea typeface="+mn-ea"/>
                <a:cs typeface="+mn-cs"/>
              </a:rPr>
              <a:t>Min. 45–50</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Peluquería"/>
          <p:cNvSpPr/>
          <p:nvPr/>
        </p:nvSpPr>
        <p:spPr>
          <a:xfrm>
            <a:off x="548640" y="1325880"/>
            <a:ext cx="548640" cy="548640"/>
          </a:xfrm>
          <a:prstGeom prst="ellipse">
            <a:avLst/>
          </a:prstGeom>
          <a:solidFill>
            <a:schemeClr val="tx1"/>
          </a:solidFill>
          <a:ln/>
        </p:spPr>
      </p:sp>
      <p:pic>
        <p:nvPicPr>
          <p:cNvPr id="6" name="Image 0" descr="Peluquería"/>
          <p:cNvPicPr>
            <a:picLocks noChangeAspect="1"/>
          </p:cNvPicPr>
          <p:nvPr/>
        </p:nvPicPr>
        <p:blipFill>
          <a:blip r:embed="rId3"/>
          <a:stretch>
            <a:fillRect/>
          </a:stretch>
        </p:blipFill>
        <p:spPr>
          <a:xfrm>
            <a:off x="680314" y="1457554"/>
            <a:ext cx="285293" cy="285293"/>
          </a:xfrm>
          <a:prstGeom prst="rect">
            <a:avLst/>
          </a:prstGeom>
        </p:spPr>
      </p:pic>
      <p:sp>
        <p:nvSpPr>
          <p:cNvPr id="7" name="Text 4"/>
          <p:cNvSpPr txBox="1"/>
          <p:nvPr/>
        </p:nvSpPr>
        <p:spPr>
          <a:xfrm>
            <a:off x="1280160" y="1325880"/>
            <a:ext cx="10058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F2A44"/>
                </a:solidFill>
                <a:effectLst/>
                <a:uLnTx/>
                <a:uFillTx/>
                <a:latin typeface="Calibri"/>
                <a:ea typeface="+mn-ea"/>
                <a:cs typeface="+mn-cs"/>
              </a:rPr>
              <a:t>Proceso actual: </a:t>
            </a:r>
            <a:r>
              <a:rPr kumimoji="0" lang="en-US" sz="1900" b="0" i="0" u="none" strike="noStrike" kern="1200" cap="none" spc="0" normalizeH="0" baseline="0" noProof="0" dirty="0">
                <a:ln>
                  <a:noFill/>
                </a:ln>
                <a:solidFill>
                  <a:srgbClr val="1F2A44"/>
                </a:solidFill>
                <a:effectLst/>
                <a:uLnTx/>
                <a:uFillTx/>
                <a:latin typeface="Calibri"/>
                <a:ea typeface="+mn-ea"/>
                <a:cs typeface="+mn-cs"/>
              </a:rPr>
              <a:t>los clientes llaman por teléfono para pedir cita.</a:t>
            </a:r>
          </a:p>
        </p:txBody>
      </p:sp>
      <p:graphicFrame>
        <p:nvGraphicFramePr>
          <p:cNvPr id="8" name="Table 0"/>
          <p:cNvGraphicFramePr>
            <a:graphicFrameLocks noGrp="1"/>
          </p:cNvGraphicFramePr>
          <p:nvPr/>
        </p:nvGraphicFramePr>
        <p:xfrm>
          <a:off x="548640" y="1965960"/>
          <a:ext cx="11094415" cy="3700272"/>
        </p:xfrm>
        <a:graphic>
          <a:graphicData uri="http://schemas.openxmlformats.org/drawingml/2006/table">
            <a:tbl>
              <a:tblPr/>
              <a:tblGrid>
                <a:gridCol w="224028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5882335">
                  <a:extLst>
                    <a:ext uri="{9D8B030D-6E8A-4147-A177-3AD203B41FA5}">
                      <a16:colId xmlns:a16="http://schemas.microsoft.com/office/drawing/2014/main" val="20002"/>
                    </a:ext>
                  </a:extLst>
                </a:gridCol>
              </a:tblGrid>
              <a:tr h="384048">
                <a:tc>
                  <a:txBody>
                    <a:bodyPr/>
                    <a:lstStyle/>
                    <a:p>
                      <a:pPr marL="0" indent="0">
                        <a:buNone/>
                      </a:pP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Pregunta</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Ejemplo en la peluquería</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lgn="l">
                        <a:buNone/>
                      </a:pPr>
                      <a:r>
                        <a:rPr lang="en-US" sz="2000" b="1" dirty="0">
                          <a:solidFill>
                            <a:schemeClr val="tx1"/>
                          </a:solidFill>
                        </a:rPr>
                        <a:t>S</a:t>
                      </a:r>
                      <a:r>
                        <a:rPr lang="en-US" sz="1300" b="1" dirty="0">
                          <a:solidFill>
                            <a:schemeClr val="tx1"/>
                          </a:solidFill>
                        </a:rPr>
                        <a:t>  Sustituir</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¿Qué podemos cambiar por otra cosa?</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400" dirty="0">
                          <a:solidFill>
                            <a:schemeClr val="tx1"/>
                          </a:solidFill>
                        </a:rPr>
                        <a:t>Sustituir la llamada por una reserva por internet sencilla.</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2000" b="1" dirty="0">
                          <a:solidFill>
                            <a:schemeClr val="tx1"/>
                          </a:solidFill>
                        </a:rPr>
                        <a:t>C</a:t>
                      </a:r>
                      <a:r>
                        <a:rPr lang="en-US" sz="1300" b="1" dirty="0">
                          <a:solidFill>
                            <a:schemeClr val="tx1"/>
                          </a:solidFill>
                        </a:rPr>
                        <a:t>  Combinar</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¿Qué elementos podemos unir?</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400" dirty="0">
                          <a:solidFill>
                            <a:schemeClr val="tx1"/>
                          </a:solidFill>
                        </a:rPr>
                        <a:t>Combinar la confirmación de la cita con un recordatorio el día anterior.</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2000" b="1" dirty="0">
                          <a:solidFill>
                            <a:schemeClr val="tx1"/>
                          </a:solidFill>
                        </a:rPr>
                        <a:t>A</a:t>
                      </a:r>
                      <a:r>
                        <a:rPr lang="en-US" sz="1300" b="1" dirty="0">
                          <a:solidFill>
                            <a:schemeClr val="tx1"/>
                          </a:solidFill>
                        </a:rPr>
                        <a:t>  Adaptar</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¿Qué funciona en otro sector?</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400" dirty="0">
                          <a:solidFill>
                            <a:schemeClr val="tx1"/>
                          </a:solidFill>
                        </a:rPr>
                        <a:t>Adaptar la lista de espera de los restaurantes: avisar si queda un hueco libre.</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2000" b="1" dirty="0">
                          <a:solidFill>
                            <a:schemeClr val="tx1"/>
                          </a:solidFill>
                        </a:rPr>
                        <a:t>M</a:t>
                      </a:r>
                      <a:r>
                        <a:rPr lang="en-US" sz="1300" b="1" dirty="0">
                          <a:solidFill>
                            <a:schemeClr val="tx1"/>
                          </a:solidFill>
                        </a:rPr>
                        <a:t>  Modificar</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¿Qué podemos ampliar o reducir?</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400" dirty="0">
                          <a:solidFill>
                            <a:schemeClr val="tx1"/>
                          </a:solidFill>
                        </a:rPr>
                        <a:t>Reducir la llamada a tres preguntas fijas: servicio, día y hora.</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a:buNone/>
                      </a:pPr>
                      <a:r>
                        <a:rPr lang="en-US" sz="2000" b="1" dirty="0">
                          <a:solidFill>
                            <a:schemeClr val="tx1"/>
                          </a:solidFill>
                        </a:rPr>
                        <a:t>P</a:t>
                      </a:r>
                      <a:r>
                        <a:rPr lang="en-US" sz="1300" b="1" dirty="0">
                          <a:solidFill>
                            <a:schemeClr val="tx1"/>
                          </a:solidFill>
                        </a:rPr>
                        <a:t>  Proponer otros usos</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¿Para qué más puede servir?</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400" dirty="0">
                          <a:solidFill>
                            <a:schemeClr val="tx1"/>
                          </a:solidFill>
                        </a:rPr>
                        <a:t>Usar el recordatorio también para pedir una valoración del servicio.</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l">
                        <a:buNone/>
                      </a:pPr>
                      <a:r>
                        <a:rPr lang="en-US" sz="2000" b="1" dirty="0">
                          <a:solidFill>
                            <a:schemeClr val="tx1"/>
                          </a:solidFill>
                        </a:rPr>
                        <a:t>E</a:t>
                      </a:r>
                      <a:r>
                        <a:rPr lang="en-US" sz="1300" b="1" dirty="0">
                          <a:solidFill>
                            <a:schemeClr val="tx1"/>
                          </a:solidFill>
                        </a:rPr>
                        <a:t>  Eliminar</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¿Qué pasos sobran?</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400" dirty="0">
                          <a:solidFill>
                            <a:schemeClr val="tx1"/>
                          </a:solidFill>
                        </a:rPr>
                        <a:t>Eliminar la llamada para confirmar la cita.</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lgn="l">
                        <a:buNone/>
                      </a:pPr>
                      <a:r>
                        <a:rPr lang="en-US" sz="2000" b="1" dirty="0">
                          <a:solidFill>
                            <a:schemeClr val="tx1"/>
                          </a:solidFill>
                        </a:rPr>
                        <a:t>R</a:t>
                      </a:r>
                      <a:r>
                        <a:rPr lang="en-US" sz="1300" b="1" dirty="0">
                          <a:solidFill>
                            <a:schemeClr val="tx1"/>
                          </a:solidFill>
                        </a:rPr>
                        <a:t>  Reorganizar</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¿Qué orden podemos cambiar?</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400" dirty="0">
                          <a:solidFill>
                            <a:schemeClr val="tx1"/>
                          </a:solidFill>
                        </a:rPr>
                        <a:t>Preguntar el servicio al reservar, para preparar el material antes de que llegue el cliente.</a:t>
                      </a:r>
                      <a:endParaRPr lang="en-US" sz="1400" dirty="0"/>
                    </a:p>
                  </a:txBody>
                  <a:tcPr marL="73152" marR="73152" marT="73152" marB="73152"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Ejercicio 2: SCAMPER en vuestro caso</a:t>
            </a:r>
            <a:endParaRPr lang="en-US" sz="3200" dirty="0"/>
          </a:p>
        </p:txBody>
      </p:sp>
      <p:sp>
        <p:nvSpPr>
          <p:cNvPr id="3" name="Etiqueta de tiempo"/>
          <p:cNvSpPr/>
          <p:nvPr/>
        </p:nvSpPr>
        <p:spPr>
          <a:xfrm>
            <a:off x="9187891" y="548640"/>
            <a:ext cx="2455164" cy="457200"/>
          </a:xfrm>
          <a:prstGeom prst="roundRect">
            <a:avLst>
              <a:gd name="adj" fmla="val 50000"/>
            </a:avLst>
          </a:prstGeom>
          <a:solidFill>
            <a:schemeClr val="accent1"/>
          </a:solidFill>
          <a:ln/>
        </p:spPr>
      </p:sp>
      <p:sp>
        <p:nvSpPr>
          <p:cNvPr id="4" name="Text 2"/>
          <p:cNvSpPr txBox="1"/>
          <p:nvPr/>
        </p:nvSpPr>
        <p:spPr>
          <a:xfrm>
            <a:off x="9187891" y="548640"/>
            <a:ext cx="2455164"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A44"/>
                </a:solidFill>
                <a:effectLst/>
                <a:uLnTx/>
                <a:uFillTx/>
                <a:latin typeface="Calibri"/>
                <a:ea typeface="+mn-ea"/>
                <a:cs typeface="+mn-cs"/>
              </a:rPr>
              <a:t>Min. 50–62 · Sin IA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Instrucción"/>
          <p:cNvSpPr/>
          <p:nvPr/>
        </p:nvSpPr>
        <p:spPr>
          <a:xfrm>
            <a:off x="548640" y="1508760"/>
            <a:ext cx="685800" cy="685800"/>
          </a:xfrm>
          <a:prstGeom prst="ellipse">
            <a:avLst/>
          </a:prstGeom>
          <a:solidFill>
            <a:schemeClr val="accent1"/>
          </a:solidFill>
          <a:ln/>
        </p:spPr>
      </p:sp>
      <p:pic>
        <p:nvPicPr>
          <p:cNvPr id="6" name="Image 0" descr="Instrucción"/>
          <p:cNvPicPr>
            <a:picLocks noChangeAspect="1"/>
          </p:cNvPicPr>
          <p:nvPr/>
        </p:nvPicPr>
        <p:blipFill>
          <a:blip r:embed="rId3"/>
          <a:stretch>
            <a:fillRect/>
          </a:stretch>
        </p:blipFill>
        <p:spPr>
          <a:xfrm>
            <a:off x="713232" y="1673352"/>
            <a:ext cx="356616" cy="356616"/>
          </a:xfrm>
          <a:prstGeom prst="rect">
            <a:avLst/>
          </a:prstGeom>
        </p:spPr>
      </p:pic>
      <p:sp>
        <p:nvSpPr>
          <p:cNvPr id="7" name="Text 4"/>
          <p:cNvSpPr txBox="1"/>
          <p:nvPr/>
        </p:nvSpPr>
        <p:spPr>
          <a:xfrm>
            <a:off x="1463040" y="150876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2A44"/>
                </a:solidFill>
                <a:effectLst/>
                <a:uLnTx/>
                <a:uFillTx/>
                <a:latin typeface="Calibri"/>
                <a:ea typeface="+mn-ea"/>
                <a:cs typeface="+mn-cs"/>
              </a:rPr>
              <a:t>Describid en tres o cuatro líneas cómo funciona hoy el proceso.</a:t>
            </a:r>
          </a:p>
        </p:txBody>
      </p:sp>
      <p:sp>
        <p:nvSpPr>
          <p:cNvPr id="8" name="Instrucción"/>
          <p:cNvSpPr/>
          <p:nvPr/>
        </p:nvSpPr>
        <p:spPr>
          <a:xfrm>
            <a:off x="548640" y="2468880"/>
            <a:ext cx="685800" cy="685800"/>
          </a:xfrm>
          <a:prstGeom prst="ellipse">
            <a:avLst/>
          </a:prstGeom>
          <a:solidFill>
            <a:schemeClr val="accent1"/>
          </a:solidFill>
          <a:ln/>
        </p:spPr>
      </p:sp>
      <p:pic>
        <p:nvPicPr>
          <p:cNvPr id="9" name="Image 1" descr="Instrucción"/>
          <p:cNvPicPr>
            <a:picLocks noChangeAspect="1"/>
          </p:cNvPicPr>
          <p:nvPr/>
        </p:nvPicPr>
        <p:blipFill>
          <a:blip r:embed="rId4"/>
          <a:stretch>
            <a:fillRect/>
          </a:stretch>
        </p:blipFill>
        <p:spPr>
          <a:xfrm>
            <a:off x="713232" y="2633472"/>
            <a:ext cx="356616" cy="356616"/>
          </a:xfrm>
          <a:prstGeom prst="rect">
            <a:avLst/>
          </a:prstGeom>
        </p:spPr>
      </p:pic>
      <p:sp>
        <p:nvSpPr>
          <p:cNvPr id="10" name="Text 6"/>
          <p:cNvSpPr txBox="1"/>
          <p:nvPr/>
        </p:nvSpPr>
        <p:spPr>
          <a:xfrm>
            <a:off x="1463040" y="246888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2A44"/>
                </a:solidFill>
                <a:effectLst/>
                <a:uLnTx/>
                <a:uFillTx/>
                <a:latin typeface="Calibri"/>
                <a:ea typeface="+mn-ea"/>
                <a:cs typeface="+mn-cs"/>
              </a:rPr>
              <a:t>Escribid al menos una idea por cada letra de SCAMPER.</a:t>
            </a:r>
          </a:p>
        </p:txBody>
      </p:sp>
      <p:sp>
        <p:nvSpPr>
          <p:cNvPr id="11" name="Letra S"/>
          <p:cNvSpPr/>
          <p:nvPr/>
        </p:nvSpPr>
        <p:spPr>
          <a:xfrm>
            <a:off x="548640" y="3611880"/>
            <a:ext cx="1428162" cy="1554480"/>
          </a:xfrm>
          <a:prstGeom prst="roundRect">
            <a:avLst>
              <a:gd name="adj" fmla="val 9604"/>
            </a:avLst>
          </a:prstGeom>
          <a:solidFill>
            <a:schemeClr val="bg2"/>
          </a:solidFill>
          <a:ln w="25400">
            <a:solidFill>
              <a:srgbClr val="F4A300"/>
            </a:solidFill>
            <a:prstDash val="solid"/>
          </a:ln>
        </p:spPr>
      </p:sp>
      <p:sp>
        <p:nvSpPr>
          <p:cNvPr id="12" name="Text 8"/>
          <p:cNvSpPr txBox="1"/>
          <p:nvPr/>
        </p:nvSpPr>
        <p:spPr>
          <a:xfrm>
            <a:off x="548640" y="3703320"/>
            <a:ext cx="1428162"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4A300"/>
                </a:solidFill>
                <a:effectLst/>
                <a:uLnTx/>
                <a:uFillTx/>
                <a:latin typeface="Arial" pitchFamily="34" charset="0"/>
                <a:ea typeface="Arial" pitchFamily="34" charset="-122"/>
                <a:cs typeface="Arial" pitchFamily="34" charset="-120"/>
              </a:rPr>
              <a:t>S</a:t>
            </a:r>
            <a:endParaRPr kumimoji="0" lang="en-US" sz="4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3" name="Text 9"/>
          <p:cNvSpPr txBox="1"/>
          <p:nvPr/>
        </p:nvSpPr>
        <p:spPr>
          <a:xfrm>
            <a:off x="594360" y="4526280"/>
            <a:ext cx="1336722"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2A44"/>
                </a:solidFill>
                <a:effectLst/>
                <a:uLnTx/>
                <a:uFillTx/>
                <a:latin typeface="Calibri"/>
                <a:ea typeface="+mn-ea"/>
                <a:cs typeface="+mn-cs"/>
              </a:rPr>
              <a:t>Sustituir</a:t>
            </a:r>
            <a:endParaRPr kumimoji="0" lang="en-US" sz="13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4" name="Letra C"/>
          <p:cNvSpPr/>
          <p:nvPr/>
        </p:nvSpPr>
        <p:spPr>
          <a:xfrm>
            <a:off x="2159682" y="3611880"/>
            <a:ext cx="1428162" cy="1554480"/>
          </a:xfrm>
          <a:prstGeom prst="roundRect">
            <a:avLst>
              <a:gd name="adj" fmla="val 9604"/>
            </a:avLst>
          </a:prstGeom>
          <a:solidFill>
            <a:schemeClr val="bg2"/>
          </a:solidFill>
          <a:ln w="25400">
            <a:solidFill>
              <a:srgbClr val="F4A300"/>
            </a:solidFill>
            <a:prstDash val="solid"/>
          </a:ln>
        </p:spPr>
      </p:sp>
      <p:sp>
        <p:nvSpPr>
          <p:cNvPr id="15" name="Text 11"/>
          <p:cNvSpPr txBox="1"/>
          <p:nvPr/>
        </p:nvSpPr>
        <p:spPr>
          <a:xfrm>
            <a:off x="2159682" y="3703320"/>
            <a:ext cx="1428162"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4A300"/>
                </a:solidFill>
                <a:effectLst/>
                <a:uLnTx/>
                <a:uFillTx/>
                <a:latin typeface="Arial" pitchFamily="34" charset="0"/>
                <a:ea typeface="Arial" pitchFamily="34" charset="-122"/>
                <a:cs typeface="Arial" pitchFamily="34" charset="-120"/>
              </a:rPr>
              <a:t>C</a:t>
            </a:r>
            <a:endParaRPr kumimoji="0" lang="en-US" sz="4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6" name="Text 12"/>
          <p:cNvSpPr txBox="1"/>
          <p:nvPr/>
        </p:nvSpPr>
        <p:spPr>
          <a:xfrm>
            <a:off x="2205402" y="4526280"/>
            <a:ext cx="1336722"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2A44"/>
                </a:solidFill>
                <a:effectLst/>
                <a:uLnTx/>
                <a:uFillTx/>
                <a:latin typeface="Calibri"/>
                <a:ea typeface="+mn-ea"/>
                <a:cs typeface="+mn-cs"/>
              </a:rPr>
              <a:t>Combinar</a:t>
            </a:r>
            <a:endParaRPr kumimoji="0" lang="en-US" sz="13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7" name="Letra A"/>
          <p:cNvSpPr/>
          <p:nvPr/>
        </p:nvSpPr>
        <p:spPr>
          <a:xfrm>
            <a:off x="3770724" y="3611880"/>
            <a:ext cx="1428162" cy="1554480"/>
          </a:xfrm>
          <a:prstGeom prst="roundRect">
            <a:avLst>
              <a:gd name="adj" fmla="val 9604"/>
            </a:avLst>
          </a:prstGeom>
          <a:solidFill>
            <a:schemeClr val="bg2"/>
          </a:solidFill>
          <a:ln w="25400">
            <a:solidFill>
              <a:srgbClr val="F4A300"/>
            </a:solidFill>
            <a:prstDash val="solid"/>
          </a:ln>
        </p:spPr>
      </p:sp>
      <p:sp>
        <p:nvSpPr>
          <p:cNvPr id="18" name="Text 14"/>
          <p:cNvSpPr txBox="1"/>
          <p:nvPr/>
        </p:nvSpPr>
        <p:spPr>
          <a:xfrm>
            <a:off x="3770724" y="3703320"/>
            <a:ext cx="1428162"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4A300"/>
                </a:solidFill>
                <a:effectLst/>
                <a:uLnTx/>
                <a:uFillTx/>
                <a:latin typeface="Arial" pitchFamily="34" charset="0"/>
                <a:ea typeface="Arial" pitchFamily="34" charset="-122"/>
                <a:cs typeface="Arial" pitchFamily="34" charset="-120"/>
              </a:rPr>
              <a:t>A</a:t>
            </a:r>
            <a:endParaRPr kumimoji="0" lang="en-US" sz="4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9" name="Text 15"/>
          <p:cNvSpPr txBox="1"/>
          <p:nvPr/>
        </p:nvSpPr>
        <p:spPr>
          <a:xfrm>
            <a:off x="3816444" y="4526280"/>
            <a:ext cx="1336722"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2A44"/>
                </a:solidFill>
                <a:effectLst/>
                <a:uLnTx/>
                <a:uFillTx/>
                <a:latin typeface="Calibri"/>
                <a:ea typeface="+mn-ea"/>
                <a:cs typeface="+mn-cs"/>
              </a:rPr>
              <a:t>Adaptar</a:t>
            </a:r>
            <a:endParaRPr kumimoji="0" lang="en-US" sz="13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0" name="Letra M"/>
          <p:cNvSpPr/>
          <p:nvPr/>
        </p:nvSpPr>
        <p:spPr>
          <a:xfrm>
            <a:off x="5381767" y="3611880"/>
            <a:ext cx="1428162" cy="1554480"/>
          </a:xfrm>
          <a:prstGeom prst="roundRect">
            <a:avLst>
              <a:gd name="adj" fmla="val 9604"/>
            </a:avLst>
          </a:prstGeom>
          <a:solidFill>
            <a:schemeClr val="bg2"/>
          </a:solidFill>
          <a:ln w="25400">
            <a:solidFill>
              <a:srgbClr val="F4A300"/>
            </a:solidFill>
            <a:prstDash val="solid"/>
          </a:ln>
        </p:spPr>
      </p:sp>
      <p:sp>
        <p:nvSpPr>
          <p:cNvPr id="21" name="Text 17"/>
          <p:cNvSpPr txBox="1"/>
          <p:nvPr/>
        </p:nvSpPr>
        <p:spPr>
          <a:xfrm>
            <a:off x="5381767" y="3703320"/>
            <a:ext cx="1428162"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4A300"/>
                </a:solidFill>
                <a:effectLst/>
                <a:uLnTx/>
                <a:uFillTx/>
                <a:latin typeface="Arial" pitchFamily="34" charset="0"/>
                <a:ea typeface="Arial" pitchFamily="34" charset="-122"/>
                <a:cs typeface="Arial" pitchFamily="34" charset="-120"/>
              </a:rPr>
              <a:t>M</a:t>
            </a:r>
            <a:endParaRPr kumimoji="0" lang="en-US" sz="4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2" name="Text 18"/>
          <p:cNvSpPr txBox="1"/>
          <p:nvPr/>
        </p:nvSpPr>
        <p:spPr>
          <a:xfrm>
            <a:off x="5427487" y="4526280"/>
            <a:ext cx="1336722"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2A44"/>
                </a:solidFill>
                <a:effectLst/>
                <a:uLnTx/>
                <a:uFillTx/>
                <a:latin typeface="Calibri"/>
                <a:ea typeface="+mn-ea"/>
                <a:cs typeface="+mn-cs"/>
              </a:rPr>
              <a:t>Modificar</a:t>
            </a:r>
            <a:endParaRPr kumimoji="0" lang="en-US" sz="13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3" name="Letra P"/>
          <p:cNvSpPr/>
          <p:nvPr/>
        </p:nvSpPr>
        <p:spPr>
          <a:xfrm>
            <a:off x="6992809" y="3611880"/>
            <a:ext cx="1428162" cy="1554480"/>
          </a:xfrm>
          <a:prstGeom prst="roundRect">
            <a:avLst>
              <a:gd name="adj" fmla="val 9604"/>
            </a:avLst>
          </a:prstGeom>
          <a:solidFill>
            <a:schemeClr val="bg2"/>
          </a:solidFill>
          <a:ln w="25400">
            <a:solidFill>
              <a:srgbClr val="F4A300"/>
            </a:solidFill>
            <a:prstDash val="solid"/>
          </a:ln>
        </p:spPr>
      </p:sp>
      <p:sp>
        <p:nvSpPr>
          <p:cNvPr id="24" name="Text 20"/>
          <p:cNvSpPr txBox="1"/>
          <p:nvPr/>
        </p:nvSpPr>
        <p:spPr>
          <a:xfrm>
            <a:off x="6992809" y="3703320"/>
            <a:ext cx="1428162"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4A300"/>
                </a:solidFill>
                <a:effectLst/>
                <a:uLnTx/>
                <a:uFillTx/>
                <a:latin typeface="Arial" pitchFamily="34" charset="0"/>
                <a:ea typeface="Arial" pitchFamily="34" charset="-122"/>
                <a:cs typeface="Arial" pitchFamily="34" charset="-120"/>
              </a:rPr>
              <a:t>P</a:t>
            </a:r>
            <a:endParaRPr kumimoji="0" lang="en-US" sz="4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5" name="Text 21"/>
          <p:cNvSpPr txBox="1"/>
          <p:nvPr/>
        </p:nvSpPr>
        <p:spPr>
          <a:xfrm>
            <a:off x="7038529" y="4526280"/>
            <a:ext cx="1336722"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2A44"/>
                </a:solidFill>
                <a:effectLst/>
                <a:uLnTx/>
                <a:uFillTx/>
                <a:latin typeface="Calibri"/>
                <a:ea typeface="+mn-ea"/>
                <a:cs typeface="+mn-cs"/>
              </a:rPr>
              <a:t>Proponer otros usos</a:t>
            </a:r>
            <a:endParaRPr kumimoji="0" lang="en-US" sz="13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6" name="Letra E"/>
          <p:cNvSpPr/>
          <p:nvPr/>
        </p:nvSpPr>
        <p:spPr>
          <a:xfrm>
            <a:off x="8603851" y="3611880"/>
            <a:ext cx="1428162" cy="1554480"/>
          </a:xfrm>
          <a:prstGeom prst="roundRect">
            <a:avLst>
              <a:gd name="adj" fmla="val 9604"/>
            </a:avLst>
          </a:prstGeom>
          <a:solidFill>
            <a:schemeClr val="bg2"/>
          </a:solidFill>
          <a:ln w="25400">
            <a:solidFill>
              <a:srgbClr val="F4A300"/>
            </a:solidFill>
            <a:prstDash val="solid"/>
          </a:ln>
        </p:spPr>
      </p:sp>
      <p:sp>
        <p:nvSpPr>
          <p:cNvPr id="27" name="Text 23"/>
          <p:cNvSpPr txBox="1"/>
          <p:nvPr/>
        </p:nvSpPr>
        <p:spPr>
          <a:xfrm>
            <a:off x="8603851" y="3703320"/>
            <a:ext cx="1428162"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4A300"/>
                </a:solidFill>
                <a:effectLst/>
                <a:uLnTx/>
                <a:uFillTx/>
                <a:latin typeface="Arial" pitchFamily="34" charset="0"/>
                <a:ea typeface="Arial" pitchFamily="34" charset="-122"/>
                <a:cs typeface="Arial" pitchFamily="34" charset="-120"/>
              </a:rPr>
              <a:t>E</a:t>
            </a:r>
            <a:endParaRPr kumimoji="0" lang="en-US" sz="4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8" name="Text 24"/>
          <p:cNvSpPr txBox="1"/>
          <p:nvPr/>
        </p:nvSpPr>
        <p:spPr>
          <a:xfrm>
            <a:off x="8649571" y="4526280"/>
            <a:ext cx="1336722"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2A44"/>
                </a:solidFill>
                <a:effectLst/>
                <a:uLnTx/>
                <a:uFillTx/>
                <a:latin typeface="Calibri"/>
                <a:ea typeface="+mn-ea"/>
                <a:cs typeface="+mn-cs"/>
              </a:rPr>
              <a:t>Eliminar</a:t>
            </a:r>
            <a:endParaRPr kumimoji="0" lang="en-US" sz="13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9" name="Letra R"/>
          <p:cNvSpPr/>
          <p:nvPr/>
        </p:nvSpPr>
        <p:spPr>
          <a:xfrm>
            <a:off x="10214893" y="3611880"/>
            <a:ext cx="1428162" cy="1554480"/>
          </a:xfrm>
          <a:prstGeom prst="roundRect">
            <a:avLst>
              <a:gd name="adj" fmla="val 9604"/>
            </a:avLst>
          </a:prstGeom>
          <a:solidFill>
            <a:schemeClr val="bg2"/>
          </a:solidFill>
          <a:ln w="25400">
            <a:solidFill>
              <a:srgbClr val="F4A300"/>
            </a:solidFill>
            <a:prstDash val="solid"/>
          </a:ln>
        </p:spPr>
      </p:sp>
      <p:sp>
        <p:nvSpPr>
          <p:cNvPr id="30" name="Text 26"/>
          <p:cNvSpPr txBox="1"/>
          <p:nvPr/>
        </p:nvSpPr>
        <p:spPr>
          <a:xfrm>
            <a:off x="10214893" y="3703320"/>
            <a:ext cx="1428162"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4A300"/>
                </a:solidFill>
                <a:effectLst/>
                <a:uLnTx/>
                <a:uFillTx/>
                <a:latin typeface="Arial" pitchFamily="34" charset="0"/>
                <a:ea typeface="Arial" pitchFamily="34" charset="-122"/>
                <a:cs typeface="Arial" pitchFamily="34" charset="-120"/>
              </a:rPr>
              <a:t>R</a:t>
            </a:r>
            <a:endParaRPr kumimoji="0" lang="en-US" sz="4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31" name="Text 27"/>
          <p:cNvSpPr txBox="1"/>
          <p:nvPr/>
        </p:nvSpPr>
        <p:spPr>
          <a:xfrm>
            <a:off x="10260613" y="4526280"/>
            <a:ext cx="1336722"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2A44"/>
                </a:solidFill>
                <a:effectLst/>
                <a:uLnTx/>
                <a:uFillTx/>
                <a:latin typeface="Calibri"/>
                <a:ea typeface="+mn-ea"/>
                <a:cs typeface="+mn-cs"/>
              </a:rPr>
              <a:t>Reorganizar</a:t>
            </a:r>
            <a:endParaRPr kumimoji="0" lang="en-US" sz="1300" b="0" i="0" u="none" strike="noStrike" kern="1200" cap="none" spc="0" normalizeH="0" baseline="0" noProof="0" dirty="0">
              <a:ln>
                <a:noFill/>
              </a:ln>
              <a:solidFill>
                <a:srgbClr val="1F2A44"/>
              </a:solidFill>
              <a:effectLst/>
              <a:uLnTx/>
              <a:uFillTx/>
              <a:latin typeface="Calibri"/>
              <a:ea typeface="+mn-ea"/>
              <a:cs typeface="+mn-cs"/>
            </a:endParaRPr>
          </a:p>
        </p:txBody>
      </p:sp>
      <p:sp>
        <p:nvSpPr>
          <p:cNvPr id="32" name="Text 28"/>
          <p:cNvSpPr txBox="1"/>
          <p:nvPr/>
        </p:nvSpPr>
        <p:spPr>
          <a:xfrm>
            <a:off x="548640" y="5486400"/>
            <a:ext cx="11094415"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3A4664"/>
                </a:solidFill>
                <a:effectLst/>
                <a:uLnTx/>
                <a:uFillTx/>
                <a:latin typeface="Calibri"/>
                <a:ea typeface="+mn-ea"/>
                <a:cs typeface="+mn-cs"/>
              </a:rPr>
              <a:t>Guardad vuestras ideas: las usaréis en el prompt.</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33"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
        <p:nvSpPr>
          <p:cNvPr id="34" name="Dónde escribir"/>
          <p:cNvSpPr/>
          <p:nvPr/>
        </p:nvSpPr>
        <p:spPr>
          <a:xfrm>
            <a:off x="4376318" y="6291072"/>
            <a:ext cx="6550761"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2  ›  Proceso, problema y tabla SCAMPER (ámbar)</a:t>
            </a:r>
          </a:p>
        </p:txBody>
      </p:sp>
      <p:sp>
        <p:nvSpPr>
          <p:cNvPr id="35" name="Dónde escribir: círculo"/>
          <p:cNvSpPr/>
          <p:nvPr/>
        </p:nvSpPr>
        <p:spPr>
          <a:xfrm>
            <a:off x="4431182" y="6336792"/>
            <a:ext cx="292608" cy="292608"/>
          </a:xfrm>
          <a:prstGeom prst="ellipse">
            <a:avLst/>
          </a:prstGeom>
          <a:solidFill>
            <a:schemeClr val="accent1"/>
          </a:solidFill>
          <a:ln>
            <a:noFill/>
          </a:ln>
        </p:spPr>
      </p:sp>
      <p:pic>
        <p:nvPicPr>
          <p:cNvPr id="36" name="Dónde escribir: lápiz" descr="Lápiz"/>
          <p:cNvPicPr>
            <a:picLocks noChangeAspect="1"/>
          </p:cNvPicPr>
          <p:nvPr/>
        </p:nvPicPr>
        <p:blipFill>
          <a:blip r:embed="rId3"/>
          <a:stretch>
            <a:fillRect/>
          </a:stretch>
        </p:blipFill>
        <p:spPr>
          <a:xfrm>
            <a:off x="4504334" y="6409944"/>
            <a:ext cx="146304" cy="14630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Ronda con IA: el prompt</a:t>
            </a:r>
            <a:endParaRPr lang="en-US" sz="3200" dirty="0"/>
          </a:p>
        </p:txBody>
      </p:sp>
      <p:sp>
        <p:nvSpPr>
          <p:cNvPr id="3" name="Etiqueta de tiempo"/>
          <p:cNvSpPr/>
          <p:nvPr/>
        </p:nvSpPr>
        <p:spPr>
          <a:xfrm>
            <a:off x="9187891" y="548640"/>
            <a:ext cx="2455164" cy="457200"/>
          </a:xfrm>
          <a:prstGeom prst="roundRect">
            <a:avLst>
              <a:gd name="adj" fmla="val 50000"/>
            </a:avLst>
          </a:prstGeom>
          <a:solidFill>
            <a:schemeClr val="accent2"/>
          </a:solidFill>
          <a:ln/>
        </p:spPr>
      </p:sp>
      <p:sp>
        <p:nvSpPr>
          <p:cNvPr id="4" name="Text 2"/>
          <p:cNvSpPr txBox="1"/>
          <p:nvPr/>
        </p:nvSpPr>
        <p:spPr>
          <a:xfrm>
            <a:off x="9187891" y="548640"/>
            <a:ext cx="2455164"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Min. 62–72 · Con IA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Prompt"/>
          <p:cNvSpPr/>
          <p:nvPr/>
        </p:nvSpPr>
        <p:spPr>
          <a:xfrm>
            <a:off x="548640" y="1325880"/>
            <a:ext cx="6858000" cy="4572000"/>
          </a:xfrm>
          <a:prstGeom prst="roundRect">
            <a:avLst>
              <a:gd name="adj" fmla="val 2400"/>
            </a:avLst>
          </a:prstGeom>
          <a:solidFill>
            <a:schemeClr val="tx1"/>
          </a:solidFill>
          <a:ln/>
        </p:spPr>
      </p:sp>
      <p:sp>
        <p:nvSpPr>
          <p:cNvPr id="6" name="Text 4"/>
          <p:cNvSpPr txBox="1"/>
          <p:nvPr/>
        </p:nvSpPr>
        <p:spPr>
          <a:xfrm>
            <a:off x="822960" y="1508760"/>
            <a:ext cx="6309360" cy="4206240"/>
          </a:xfrm>
          <a:prstGeom prst="rect">
            <a:avLst/>
          </a:prstGeom>
          <a:noFill/>
          <a:ln/>
        </p:spPr>
        <p:txBody>
          <a:bodyPr wrap="square" lIns="0" tIns="0" rIns="0" bIns="0"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Actúa como especialista en mejora de procesos de</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pequeñas empresas y organizaciones.</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Proceso actual: </a:t>
            </a:r>
            <a:r>
              <a:rPr kumimoji="0" lang="en-US" sz="1400" b="1" i="0" u="none" strike="noStrike" kern="1200" cap="none" spc="0" normalizeH="0" baseline="0" noProof="0" dirty="0">
                <a:ln>
                  <a:noFill/>
                </a:ln>
                <a:solidFill>
                  <a:srgbClr val="F4A300"/>
                </a:solidFill>
                <a:effectLst/>
                <a:uLnTx/>
                <a:uFillTx/>
                <a:latin typeface="Courier New" pitchFamily="34" charset="0"/>
                <a:ea typeface="Courier New" pitchFamily="34" charset="-122"/>
                <a:cs typeface="Courier New" pitchFamily="34" charset="-120"/>
              </a:rPr>
              <a:t>[describir en 3 o 4 líneas cómo se</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4A300"/>
                </a:solidFill>
                <a:effectLst/>
                <a:uLnTx/>
                <a:uFillTx/>
                <a:latin typeface="Courier New" pitchFamily="34" charset="0"/>
                <a:ea typeface="Courier New" pitchFamily="34" charset="-122"/>
                <a:cs typeface="Courier New" pitchFamily="34" charset="-120"/>
              </a:rPr>
              <a:t>hace hoy, sin nombres ni datos personales]</a:t>
            </a: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Problema: </a:t>
            </a:r>
            <a:r>
              <a:rPr kumimoji="0" lang="en-US" sz="1400" b="1" i="0" u="none" strike="noStrike" kern="1200" cap="none" spc="0" normalizeH="0" baseline="0" noProof="0" dirty="0">
                <a:ln>
                  <a:noFill/>
                </a:ln>
                <a:solidFill>
                  <a:srgbClr val="F4A300"/>
                </a:solidFill>
                <a:effectLst/>
                <a:uLnTx/>
                <a:uFillTx/>
                <a:latin typeface="Courier New" pitchFamily="34" charset="0"/>
                <a:ea typeface="Courier New" pitchFamily="34" charset="-122"/>
                <a:cs typeface="Courier New" pitchFamily="34" charset="-120"/>
              </a:rPr>
              <a:t>[qué falla y a quién afecta]</a:t>
            </a: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Restricciones: sin comprar software caro, sin</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contratar personal y que pueda probarse en un mes.</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Ya hemos aplicado SCAMPER y tenemos estas ideas:</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4A300"/>
                </a:solidFill>
                <a:effectLst/>
                <a:uLnTx/>
                <a:uFillTx/>
                <a:latin typeface="Courier New" pitchFamily="34" charset="0"/>
                <a:ea typeface="Courier New" pitchFamily="34" charset="-122"/>
                <a:cs typeface="Courier New" pitchFamily="34" charset="-120"/>
              </a:rPr>
              <a:t>[pegar las ideas de la pareja, indicando la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4A300"/>
                </a:solidFill>
                <a:effectLst/>
                <a:uLnTx/>
                <a:uFillTx/>
                <a:latin typeface="Courier New" pitchFamily="34" charset="0"/>
                <a:ea typeface="Courier New" pitchFamily="34" charset="-122"/>
                <a:cs typeface="Courier New" pitchFamily="34" charset="-120"/>
              </a:rPr>
              <a:t>letra de cada una]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Aplica SCAMPER al proceso: para cada una de las siete</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letras, propón dos ideas que no repitan las nuestras.</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Preséntalo en una tabla con estas columnas: letra,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idea, qué cambia en el proceso, beneficio principal y</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dificultad (baja, media o alta).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No inventes cifras de ahorro ni de resultados.</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7" name="Text 5"/>
          <p:cNvSpPr txBox="1"/>
          <p:nvPr/>
        </p:nvSpPr>
        <p:spPr>
          <a:xfrm>
            <a:off x="7772400" y="1371600"/>
            <a:ext cx="3870655"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2A44"/>
                </a:solidFill>
                <a:effectLst/>
                <a:uLnTx/>
                <a:uFillTx/>
                <a:latin typeface="Calibri"/>
                <a:ea typeface="+mn-ea"/>
                <a:cs typeface="+mn-cs"/>
              </a:rPr>
              <a:t>Por qué funciona</a:t>
            </a:r>
            <a:endParaRPr kumimoji="0" lang="en-US" sz="2200" b="0" i="0" u="none" strike="noStrike" kern="1200" cap="none" spc="0" normalizeH="0" baseline="0" noProof="0" dirty="0">
              <a:ln>
                <a:noFill/>
              </a:ln>
              <a:solidFill>
                <a:srgbClr val="1F2A44"/>
              </a:solidFill>
              <a:effectLst/>
              <a:uLnTx/>
              <a:uFillTx/>
              <a:latin typeface="Calibri"/>
              <a:ea typeface="+mn-ea"/>
              <a:cs typeface="+mn-cs"/>
            </a:endParaRPr>
          </a:p>
        </p:txBody>
      </p:sp>
      <p:sp>
        <p:nvSpPr>
          <p:cNvPr id="8" name="Razón 1"/>
          <p:cNvSpPr/>
          <p:nvPr/>
        </p:nvSpPr>
        <p:spPr>
          <a:xfrm>
            <a:off x="7772400" y="2103120"/>
            <a:ext cx="457200" cy="457200"/>
          </a:xfrm>
          <a:prstGeom prst="ellipse">
            <a:avLst/>
          </a:prstGeom>
          <a:solidFill>
            <a:schemeClr val="accent2"/>
          </a:solidFill>
          <a:ln/>
        </p:spPr>
      </p:sp>
      <p:sp>
        <p:nvSpPr>
          <p:cNvPr id="9" name="Text 7"/>
          <p:cNvSpPr txBox="1"/>
          <p:nvPr/>
        </p:nvSpPr>
        <p:spPr>
          <a:xfrm>
            <a:off x="7772400" y="210312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a:ea typeface="+mn-ea"/>
                <a:cs typeface="+mn-cs"/>
              </a:rPr>
              <a:t>1</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0" name="Text 8"/>
          <p:cNvSpPr txBox="1"/>
          <p:nvPr/>
        </p:nvSpPr>
        <p:spPr>
          <a:xfrm>
            <a:off x="8412480" y="2057400"/>
            <a:ext cx="3230575"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Describe el proceso actual: la materia prima de SCAMPER.</a:t>
            </a:r>
          </a:p>
        </p:txBody>
      </p:sp>
      <p:sp>
        <p:nvSpPr>
          <p:cNvPr id="11" name="Razón 2"/>
          <p:cNvSpPr/>
          <p:nvPr/>
        </p:nvSpPr>
        <p:spPr>
          <a:xfrm>
            <a:off x="7772400" y="3127248"/>
            <a:ext cx="457200" cy="457200"/>
          </a:xfrm>
          <a:prstGeom prst="ellipse">
            <a:avLst/>
          </a:prstGeom>
          <a:solidFill>
            <a:schemeClr val="accent2"/>
          </a:solidFill>
          <a:ln/>
        </p:spPr>
      </p:sp>
      <p:sp>
        <p:nvSpPr>
          <p:cNvPr id="12" name="Text 10"/>
          <p:cNvSpPr txBox="1"/>
          <p:nvPr/>
        </p:nvSpPr>
        <p:spPr>
          <a:xfrm>
            <a:off x="7772400" y="3127248"/>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a:ea typeface="+mn-ea"/>
                <a:cs typeface="+mn-cs"/>
              </a:rPr>
              <a:t>2</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3" name="Text 11"/>
          <p:cNvSpPr txBox="1"/>
          <p:nvPr/>
        </p:nvSpPr>
        <p:spPr>
          <a:xfrm>
            <a:off x="8412480" y="3081528"/>
            <a:ext cx="3230575"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Incluye vuestras ideas para que la IA no las repita.</a:t>
            </a:r>
          </a:p>
        </p:txBody>
      </p:sp>
      <p:sp>
        <p:nvSpPr>
          <p:cNvPr id="14" name="Razón 3"/>
          <p:cNvSpPr/>
          <p:nvPr/>
        </p:nvSpPr>
        <p:spPr>
          <a:xfrm>
            <a:off x="7772400" y="4151376"/>
            <a:ext cx="457200" cy="457200"/>
          </a:xfrm>
          <a:prstGeom prst="ellipse">
            <a:avLst/>
          </a:prstGeom>
          <a:solidFill>
            <a:schemeClr val="accent2"/>
          </a:solidFill>
          <a:ln/>
        </p:spPr>
      </p:sp>
      <p:sp>
        <p:nvSpPr>
          <p:cNvPr id="15" name="Text 13"/>
          <p:cNvSpPr txBox="1"/>
          <p:nvPr/>
        </p:nvSpPr>
        <p:spPr>
          <a:xfrm>
            <a:off x="7772400" y="4151376"/>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a:ea typeface="+mn-ea"/>
                <a:cs typeface="+mn-cs"/>
              </a:rPr>
              <a:t>3</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6" name="Text 14"/>
          <p:cNvSpPr txBox="1"/>
          <p:nvPr/>
        </p:nvSpPr>
        <p:spPr>
          <a:xfrm>
            <a:off x="8412480" y="4105656"/>
            <a:ext cx="3230575"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Las restricciones evitan soluciones caras o irreales.</a:t>
            </a:r>
          </a:p>
        </p:txBody>
      </p:sp>
      <p:sp>
        <p:nvSpPr>
          <p:cNvPr id="17" name="Razón 4"/>
          <p:cNvSpPr/>
          <p:nvPr/>
        </p:nvSpPr>
        <p:spPr>
          <a:xfrm>
            <a:off x="7772400" y="5175504"/>
            <a:ext cx="457200" cy="457200"/>
          </a:xfrm>
          <a:prstGeom prst="ellipse">
            <a:avLst/>
          </a:prstGeom>
          <a:solidFill>
            <a:schemeClr val="accent2"/>
          </a:solidFill>
          <a:ln/>
        </p:spPr>
      </p:sp>
      <p:sp>
        <p:nvSpPr>
          <p:cNvPr id="18" name="Text 16"/>
          <p:cNvSpPr txBox="1"/>
          <p:nvPr/>
        </p:nvSpPr>
        <p:spPr>
          <a:xfrm>
            <a:off x="7772400" y="5175504"/>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a:ea typeface="+mn-ea"/>
                <a:cs typeface="+mn-cs"/>
              </a:rPr>
              <a:t>4</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9" name="Text 17"/>
          <p:cNvSpPr txBox="1"/>
          <p:nvPr/>
        </p:nvSpPr>
        <p:spPr>
          <a:xfrm>
            <a:off x="8412480" y="5129784"/>
            <a:ext cx="3230575"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La tabla obliga a concretar cada idea y facilita compararla con las vuestras.</a:t>
            </a:r>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
        <p:nvSpPr>
          <p:cNvPr id="26" name="Dónde escribir"/>
          <p:cNvSpPr/>
          <p:nvPr/>
        </p:nvSpPr>
        <p:spPr>
          <a:xfrm>
            <a:off x="4707331" y="6291072"/>
            <a:ext cx="6219748"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Ejercicio 2  ›  prompt bajo la tabla; su idea, en verde</a:t>
            </a:r>
          </a:p>
        </p:txBody>
      </p:sp>
      <p:sp>
        <p:nvSpPr>
          <p:cNvPr id="27" name="Dónde escribir: círculo"/>
          <p:cNvSpPr/>
          <p:nvPr/>
        </p:nvSpPr>
        <p:spPr>
          <a:xfrm>
            <a:off x="4762195"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3"/>
          <a:stretch>
            <a:fillRect/>
          </a:stretch>
        </p:blipFill>
        <p:spPr>
          <a:xfrm>
            <a:off x="4835347" y="6409944"/>
            <a:ext cx="146304" cy="14630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No os quedéis en el primer prompt</a:t>
            </a:r>
            <a:endParaRPr lang="en-US" sz="3200" dirty="0"/>
          </a:p>
        </p:txBody>
      </p:sp>
      <p:sp>
        <p:nvSpPr>
          <p:cNvPr id="3" name="Etiqueta de tiempo"/>
          <p:cNvSpPr/>
          <p:nvPr/>
        </p:nvSpPr>
        <p:spPr>
          <a:xfrm>
            <a:off x="9187891" y="548640"/>
            <a:ext cx="2455164" cy="457200"/>
          </a:xfrm>
          <a:prstGeom prst="roundRect">
            <a:avLst>
              <a:gd name="adj" fmla="val 50000"/>
            </a:avLst>
          </a:prstGeom>
          <a:solidFill>
            <a:schemeClr val="accent2"/>
          </a:solidFill>
          <a:ln/>
        </p:spPr>
      </p:sp>
      <p:sp>
        <p:nvSpPr>
          <p:cNvPr id="4" name="Text 2"/>
          <p:cNvSpPr txBox="1"/>
          <p:nvPr/>
        </p:nvSpPr>
        <p:spPr>
          <a:xfrm>
            <a:off x="9187891" y="548640"/>
            <a:ext cx="2455164"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Min. 62–72 · Con IA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Text 3"/>
          <p:cNvSpPr txBox="1"/>
          <p:nvPr/>
        </p:nvSpPr>
        <p:spPr>
          <a:xfrm>
            <a:off x="548640" y="1371600"/>
            <a:ext cx="11094415"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A4664"/>
                </a:solidFill>
                <a:effectLst/>
                <a:uLnTx/>
                <a:uFillTx/>
                <a:latin typeface="Calibri"/>
                <a:ea typeface="+mn-ea"/>
                <a:cs typeface="+mn-cs"/>
              </a:rPr>
              <a:t>Seguid la conversación con al menos una de estas peticiones:</a:t>
            </a:r>
            <a:endParaRPr kumimoji="0" lang="en-US" sz="2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6" name="Petición"/>
          <p:cNvSpPr/>
          <p:nvPr/>
        </p:nvSpPr>
        <p:spPr>
          <a:xfrm>
            <a:off x="548640" y="2103120"/>
            <a:ext cx="731520" cy="731520"/>
          </a:xfrm>
          <a:prstGeom prst="ellipse">
            <a:avLst/>
          </a:prstGeom>
          <a:solidFill>
            <a:schemeClr val="accent2"/>
          </a:solidFill>
          <a:ln/>
        </p:spPr>
      </p:sp>
      <p:pic>
        <p:nvPicPr>
          <p:cNvPr id="7" name="Image 0" descr="Petición"/>
          <p:cNvPicPr>
            <a:picLocks noChangeAspect="1"/>
          </p:cNvPicPr>
          <p:nvPr/>
        </p:nvPicPr>
        <p:blipFill>
          <a:blip r:embed="rId3"/>
          <a:stretch>
            <a:fillRect/>
          </a:stretch>
        </p:blipFill>
        <p:spPr>
          <a:xfrm>
            <a:off x="724205" y="2278685"/>
            <a:ext cx="380390" cy="380390"/>
          </a:xfrm>
          <a:prstGeom prst="rect">
            <a:avLst/>
          </a:prstGeom>
        </p:spPr>
      </p:pic>
      <p:sp>
        <p:nvSpPr>
          <p:cNvPr id="8" name="Petición"/>
          <p:cNvSpPr/>
          <p:nvPr/>
        </p:nvSpPr>
        <p:spPr>
          <a:xfrm>
            <a:off x="1554480" y="2057400"/>
            <a:ext cx="10088575" cy="822960"/>
          </a:xfrm>
          <a:prstGeom prst="roundRect">
            <a:avLst>
              <a:gd name="adj" fmla="val 13333"/>
            </a:avLst>
          </a:prstGeom>
          <a:solidFill>
            <a:schemeClr val="tx1"/>
          </a:solidFill>
          <a:ln/>
        </p:spPr>
      </p:sp>
      <p:sp>
        <p:nvSpPr>
          <p:cNvPr id="9" name="Text 6"/>
          <p:cNvSpPr txBox="1"/>
          <p:nvPr/>
        </p:nvSpPr>
        <p:spPr>
          <a:xfrm>
            <a:off x="1828800" y="2057400"/>
            <a:ext cx="9539935"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Descarta las ideas que requieran más de 100 € o conocimientos técnicos.</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0" name="Petición"/>
          <p:cNvSpPr/>
          <p:nvPr/>
        </p:nvSpPr>
        <p:spPr>
          <a:xfrm>
            <a:off x="548640" y="3154680"/>
            <a:ext cx="731520" cy="731520"/>
          </a:xfrm>
          <a:prstGeom prst="ellipse">
            <a:avLst/>
          </a:prstGeom>
          <a:solidFill>
            <a:schemeClr val="accent2"/>
          </a:solidFill>
          <a:ln/>
        </p:spPr>
      </p:sp>
      <p:pic>
        <p:nvPicPr>
          <p:cNvPr id="11" name="Image 1" descr="Petición"/>
          <p:cNvPicPr>
            <a:picLocks noChangeAspect="1"/>
          </p:cNvPicPr>
          <p:nvPr/>
        </p:nvPicPr>
        <p:blipFill>
          <a:blip r:embed="rId4"/>
          <a:stretch>
            <a:fillRect/>
          </a:stretch>
        </p:blipFill>
        <p:spPr>
          <a:xfrm>
            <a:off x="724205" y="3330245"/>
            <a:ext cx="380390" cy="380390"/>
          </a:xfrm>
          <a:prstGeom prst="rect">
            <a:avLst/>
          </a:prstGeom>
        </p:spPr>
      </p:pic>
      <p:sp>
        <p:nvSpPr>
          <p:cNvPr id="12" name="Petición"/>
          <p:cNvSpPr/>
          <p:nvPr/>
        </p:nvSpPr>
        <p:spPr>
          <a:xfrm>
            <a:off x="1554480" y="3108960"/>
            <a:ext cx="10088575" cy="822960"/>
          </a:xfrm>
          <a:prstGeom prst="roundRect">
            <a:avLst>
              <a:gd name="adj" fmla="val 13333"/>
            </a:avLst>
          </a:prstGeom>
          <a:solidFill>
            <a:schemeClr val="tx1"/>
          </a:solidFill>
          <a:ln/>
        </p:spPr>
      </p:sp>
      <p:sp>
        <p:nvSpPr>
          <p:cNvPr id="13" name="Text 9"/>
          <p:cNvSpPr txBox="1"/>
          <p:nvPr/>
        </p:nvSpPr>
        <p:spPr>
          <a:xfrm>
            <a:off x="1828800" y="3108960"/>
            <a:ext cx="9539935"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Prioriza las ideas que puedan probarse en una semana.</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4" name="Petición"/>
          <p:cNvSpPr/>
          <p:nvPr/>
        </p:nvSpPr>
        <p:spPr>
          <a:xfrm>
            <a:off x="548640" y="4206240"/>
            <a:ext cx="731520" cy="731520"/>
          </a:xfrm>
          <a:prstGeom prst="ellipse">
            <a:avLst/>
          </a:prstGeom>
          <a:solidFill>
            <a:schemeClr val="accent2"/>
          </a:solidFill>
          <a:ln/>
        </p:spPr>
      </p:sp>
      <p:pic>
        <p:nvPicPr>
          <p:cNvPr id="15" name="Image 2" descr="Petición"/>
          <p:cNvPicPr>
            <a:picLocks noChangeAspect="1"/>
          </p:cNvPicPr>
          <p:nvPr/>
        </p:nvPicPr>
        <p:blipFill>
          <a:blip r:embed="rId5"/>
          <a:stretch>
            <a:fillRect/>
          </a:stretch>
        </p:blipFill>
        <p:spPr>
          <a:xfrm>
            <a:off x="724205" y="4381805"/>
            <a:ext cx="380390" cy="380390"/>
          </a:xfrm>
          <a:prstGeom prst="rect">
            <a:avLst/>
          </a:prstGeom>
        </p:spPr>
      </p:pic>
      <p:sp>
        <p:nvSpPr>
          <p:cNvPr id="16" name="Petición"/>
          <p:cNvSpPr/>
          <p:nvPr/>
        </p:nvSpPr>
        <p:spPr>
          <a:xfrm>
            <a:off x="1554480" y="4160520"/>
            <a:ext cx="10088575" cy="822960"/>
          </a:xfrm>
          <a:prstGeom prst="roundRect">
            <a:avLst>
              <a:gd name="adj" fmla="val 13333"/>
            </a:avLst>
          </a:prstGeom>
          <a:solidFill>
            <a:schemeClr val="tx1"/>
          </a:solidFill>
          <a:ln/>
        </p:spPr>
      </p:sp>
      <p:sp>
        <p:nvSpPr>
          <p:cNvPr id="17" name="Text 12"/>
          <p:cNvSpPr txBox="1"/>
          <p:nvPr/>
        </p:nvSpPr>
        <p:spPr>
          <a:xfrm>
            <a:off x="1828800" y="4160520"/>
            <a:ext cx="9539935"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Señala los inconvenientes de las tres mejores ideas.</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8" name="Iterar"/>
          <p:cNvSpPr/>
          <p:nvPr/>
        </p:nvSpPr>
        <p:spPr>
          <a:xfrm>
            <a:off x="548640" y="5349240"/>
            <a:ext cx="640080" cy="640080"/>
          </a:xfrm>
          <a:prstGeom prst="ellipse">
            <a:avLst/>
          </a:prstGeom>
          <a:solidFill>
            <a:schemeClr val="tx2"/>
          </a:solidFill>
          <a:ln/>
        </p:spPr>
      </p:sp>
      <p:pic>
        <p:nvPicPr>
          <p:cNvPr id="19" name="Image 3" descr="Iterar"/>
          <p:cNvPicPr>
            <a:picLocks noChangeAspect="1"/>
          </p:cNvPicPr>
          <p:nvPr/>
        </p:nvPicPr>
        <p:blipFill>
          <a:blip r:embed="rId6"/>
          <a:stretch>
            <a:fillRect/>
          </a:stretch>
        </p:blipFill>
        <p:spPr>
          <a:xfrm>
            <a:off x="702259" y="5502859"/>
            <a:ext cx="332842" cy="332842"/>
          </a:xfrm>
          <a:prstGeom prst="rect">
            <a:avLst/>
          </a:prstGeom>
        </p:spPr>
      </p:pic>
      <p:sp>
        <p:nvSpPr>
          <p:cNvPr id="20" name="Text 14"/>
          <p:cNvSpPr txBox="1"/>
          <p:nvPr/>
        </p:nvSpPr>
        <p:spPr>
          <a:xfrm>
            <a:off x="1417320" y="5349240"/>
            <a:ext cx="10058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F2A44"/>
                </a:solidFill>
                <a:effectLst/>
                <a:uLnTx/>
                <a:uFillTx/>
                <a:latin typeface="Calibri"/>
                <a:ea typeface="+mn-ea"/>
                <a:cs typeface="+mn-cs"/>
              </a:rPr>
              <a:t>Un buen trabajo con IA es iterativo: no termina en el primer prompt.</a:t>
            </a:r>
            <a:endParaRPr kumimoji="0" lang="en-US" sz="21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Conclusiones de SCAMPER</a:t>
            </a:r>
            <a:endParaRPr lang="en-US" sz="3200" dirty="0"/>
          </a:p>
        </p:txBody>
      </p:sp>
      <p:sp>
        <p:nvSpPr>
          <p:cNvPr id="3" name="Etiqueta de tiempo"/>
          <p:cNvSpPr/>
          <p:nvPr/>
        </p:nvSpPr>
        <p:spPr>
          <a:xfrm>
            <a:off x="9082735" y="548640"/>
            <a:ext cx="2560320" cy="457200"/>
          </a:xfrm>
          <a:prstGeom prst="roundRect">
            <a:avLst>
              <a:gd name="adj" fmla="val 50000"/>
            </a:avLst>
          </a:prstGeom>
          <a:solidFill>
            <a:schemeClr val="accent1"/>
          </a:solidFill>
          <a:ln/>
        </p:spPr>
      </p:sp>
      <p:sp>
        <p:nvSpPr>
          <p:cNvPr id="4" name="Text 2"/>
          <p:cNvSpPr txBox="1"/>
          <p:nvPr/>
        </p:nvSpPr>
        <p:spPr>
          <a:xfrm>
            <a:off x="9082735" y="548640"/>
            <a:ext cx="25603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A44"/>
                </a:solidFill>
                <a:effectLst/>
                <a:uLnTx/>
                <a:uFillTx/>
                <a:latin typeface="Calibri"/>
                <a:ea typeface="+mn-ea"/>
                <a:cs typeface="+mn-cs"/>
              </a:rPr>
              <a:t>Min. 62–72 · Parejas</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Text 3"/>
          <p:cNvSpPr txBox="1"/>
          <p:nvPr/>
        </p:nvSpPr>
        <p:spPr>
          <a:xfrm>
            <a:off x="548640" y="1325880"/>
            <a:ext cx="11094415"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3A4664"/>
                </a:solidFill>
                <a:effectLst/>
                <a:uLnTx/>
                <a:uFillTx/>
                <a:latin typeface="Calibri"/>
                <a:ea typeface="+mn-ea"/>
                <a:cs typeface="+mn-cs"/>
              </a:rPr>
              <a:t>Cada pareja </a:t>
            </a:r>
            <a:r>
              <a:rPr kumimoji="0" lang="en-US" sz="1900" b="0" i="0" u="none" strike="noStrike" kern="1200" cap="none" spc="0" normalizeH="0" baseline="0" noProof="0" dirty="0" err="1">
                <a:ln>
                  <a:noFill/>
                </a:ln>
                <a:solidFill>
                  <a:srgbClr val="3A4664"/>
                </a:solidFill>
                <a:effectLst/>
                <a:uLnTx/>
                <a:uFillTx/>
                <a:latin typeface="Calibri"/>
                <a:ea typeface="+mn-ea"/>
                <a:cs typeface="+mn-cs"/>
              </a:rPr>
              <a:t>cuenta</a:t>
            </a:r>
            <a:r>
              <a:rPr kumimoji="0" lang="en-US" sz="1900" b="0" i="0" u="none" strike="noStrike" kern="1200" cap="none" spc="0" normalizeH="0" baseline="0" noProof="0" dirty="0">
                <a:ln>
                  <a:noFill/>
                </a:ln>
                <a:solidFill>
                  <a:srgbClr val="3A4664"/>
                </a:solidFill>
                <a:effectLst/>
                <a:uLnTx/>
                <a:uFillTx/>
                <a:latin typeface="Calibri"/>
                <a:ea typeface="+mn-ea"/>
                <a:cs typeface="+mn-cs"/>
              </a:rPr>
              <a:t> lo que ha sacado de SCAMPER:</a:t>
            </a:r>
            <a:endParaRPr kumimoji="0" lang="en-US" sz="19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2" name="Idea práctica"/>
          <p:cNvSpPr/>
          <p:nvPr/>
        </p:nvSpPr>
        <p:spPr>
          <a:xfrm>
            <a:off x="548640" y="2057400"/>
            <a:ext cx="3454298" cy="548640"/>
          </a:xfrm>
          <a:prstGeom prst="roundRect">
            <a:avLst>
              <a:gd name="adj" fmla="val 16667"/>
            </a:avLst>
          </a:prstGeom>
          <a:solidFill>
            <a:schemeClr val="accent1"/>
          </a:solidFill>
          <a:ln/>
        </p:spPr>
      </p:sp>
      <p:sp>
        <p:nvSpPr>
          <p:cNvPr id="23" name="Text 21"/>
          <p:cNvSpPr txBox="1"/>
          <p:nvPr/>
        </p:nvSpPr>
        <p:spPr>
          <a:xfrm>
            <a:off x="548640" y="2057400"/>
            <a:ext cx="3454298"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F2A44"/>
                </a:solidFill>
                <a:effectLst/>
                <a:uLnTx/>
                <a:uFillTx/>
                <a:latin typeface="Calibri"/>
                <a:ea typeface="+mn-ea"/>
                <a:cs typeface="+mn-cs"/>
              </a:rPr>
              <a:t>Nuestra mejor idea sin IA</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8" name="Hueco"/>
          <p:cNvSpPr/>
          <p:nvPr/>
        </p:nvSpPr>
        <p:spPr>
          <a:xfrm>
            <a:off x="548640" y="2788920"/>
            <a:ext cx="3454298" cy="2423160"/>
          </a:xfrm>
          <a:prstGeom prst="roundRect">
            <a:avLst>
              <a:gd name="adj" fmla="val 10526"/>
            </a:avLst>
          </a:prstGeom>
          <a:solidFill>
            <a:schemeClr val="bg2"/>
          </a:solidFill>
          <a:ln w="12700">
            <a:solidFill>
              <a:srgbClr val="8A94A6"/>
            </a:solidFill>
            <a:prstDash val="dash"/>
          </a:ln>
        </p:spPr>
      </p:sp>
      <p:sp>
        <p:nvSpPr>
          <p:cNvPr id="14" name="Principio útil"/>
          <p:cNvSpPr/>
          <p:nvPr/>
        </p:nvSpPr>
        <p:spPr>
          <a:xfrm>
            <a:off x="4368698" y="2057400"/>
            <a:ext cx="3454298" cy="548640"/>
          </a:xfrm>
          <a:prstGeom prst="roundRect">
            <a:avLst>
              <a:gd name="adj" fmla="val 16667"/>
            </a:avLst>
          </a:prstGeom>
          <a:solidFill>
            <a:schemeClr val="accent2"/>
          </a:solidFill>
          <a:ln/>
        </p:spPr>
      </p:sp>
      <p:sp>
        <p:nvSpPr>
          <p:cNvPr id="15" name="Text 13"/>
          <p:cNvSpPr txBox="1"/>
          <p:nvPr/>
        </p:nvSpPr>
        <p:spPr>
          <a:xfrm>
            <a:off x="4368698" y="2057400"/>
            <a:ext cx="3454298"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a:ea typeface="+mn-ea"/>
                <a:cs typeface="+mn-cs"/>
              </a:rPr>
              <a:t>La mejor idea de la IA</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9" name="Hueco"/>
          <p:cNvSpPr/>
          <p:nvPr/>
        </p:nvSpPr>
        <p:spPr>
          <a:xfrm>
            <a:off x="4368698" y="2788920"/>
            <a:ext cx="3454298" cy="2423160"/>
          </a:xfrm>
          <a:prstGeom prst="roundRect">
            <a:avLst>
              <a:gd name="adj" fmla="val 10526"/>
            </a:avLst>
          </a:prstGeom>
          <a:solidFill>
            <a:schemeClr val="bg2"/>
          </a:solidFill>
          <a:ln w="12700">
            <a:solidFill>
              <a:srgbClr val="8A94A6"/>
            </a:solidFill>
            <a:prstDash val="dash"/>
          </a:ln>
        </p:spPr>
      </p:sp>
      <p:sp>
        <p:nvSpPr>
          <p:cNvPr id="6" name="Provocación"/>
          <p:cNvSpPr/>
          <p:nvPr/>
        </p:nvSpPr>
        <p:spPr>
          <a:xfrm>
            <a:off x="8188756" y="2057400"/>
            <a:ext cx="3454298" cy="548640"/>
          </a:xfrm>
          <a:prstGeom prst="roundRect">
            <a:avLst>
              <a:gd name="adj" fmla="val 16667"/>
            </a:avLst>
          </a:prstGeom>
          <a:solidFill>
            <a:schemeClr val="accent3"/>
          </a:solidFill>
          <a:ln/>
        </p:spPr>
      </p:sp>
      <p:sp>
        <p:nvSpPr>
          <p:cNvPr id="7" name="Text 5"/>
          <p:cNvSpPr txBox="1"/>
          <p:nvPr/>
        </p:nvSpPr>
        <p:spPr>
          <a:xfrm>
            <a:off x="8188756" y="2057400"/>
            <a:ext cx="3454298"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a:ea typeface="+mn-ea"/>
                <a:cs typeface="+mn-cs"/>
              </a:rPr>
              <a:t>Lo que la IA no entendió</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0" name="Hueco"/>
          <p:cNvSpPr/>
          <p:nvPr/>
        </p:nvSpPr>
        <p:spPr>
          <a:xfrm>
            <a:off x="8188756" y="2788920"/>
            <a:ext cx="3454298" cy="2423160"/>
          </a:xfrm>
          <a:prstGeom prst="roundRect">
            <a:avLst>
              <a:gd name="adj" fmla="val 10526"/>
            </a:avLst>
          </a:prstGeom>
          <a:solidFill>
            <a:schemeClr val="bg2"/>
          </a:solidFill>
          <a:ln w="12700">
            <a:solidFill>
              <a:srgbClr val="8A94A6"/>
            </a:solidFill>
            <a:prstDash val="dash"/>
          </a:ln>
        </p:spPr>
      </p:sp>
      <p:sp>
        <p:nvSpPr>
          <p:cNvPr id="11" name="Text 3"/>
          <p:cNvSpPr txBox="1"/>
          <p:nvPr/>
        </p:nvSpPr>
        <p:spPr>
          <a:xfrm>
            <a:off x="548640" y="5440680"/>
            <a:ext cx="11094415"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3A4664"/>
                </a:solidFill>
                <a:effectLst/>
                <a:uLnTx/>
                <a:uFillTx/>
                <a:latin typeface="Calibri"/>
                <a:ea typeface="+mn-ea"/>
                <a:cs typeface="+mn-cs"/>
              </a:rPr>
              <a:t>Para todos: ¿qué ha aportado la IA que no se os hubiera ocurrido? ¿Y qué no ha entendido de vuestro caso?</a:t>
            </a:r>
            <a:endParaRPr kumimoji="0" lang="en-US" sz="19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
        <p:nvSpPr>
          <p:cNvPr id="26" name="Dónde escribir"/>
          <p:cNvSpPr/>
          <p:nvPr/>
        </p:nvSpPr>
        <p:spPr>
          <a:xfrm>
            <a:off x="5517489" y="6291072"/>
            <a:ext cx="5409590"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Ejercicio 2  ›  Conclusiones de SCAMPER</a:t>
            </a:r>
          </a:p>
        </p:txBody>
      </p:sp>
      <p:sp>
        <p:nvSpPr>
          <p:cNvPr id="27" name="Dónde escribir: círculo"/>
          <p:cNvSpPr/>
          <p:nvPr/>
        </p:nvSpPr>
        <p:spPr>
          <a:xfrm>
            <a:off x="5572353"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3"/>
          <a:stretch>
            <a:fillRect/>
          </a:stretch>
        </p:blipFill>
        <p:spPr>
          <a:xfrm>
            <a:off x="5645505" y="6409944"/>
            <a:ext cx="146304" cy="14630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Provocación: salir de lo de siempre</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A44"/>
                </a:solidFill>
                <a:effectLst/>
                <a:uLnTx/>
                <a:uFillTx/>
                <a:latin typeface="Calibri"/>
                <a:ea typeface="+mn-ea"/>
                <a:cs typeface="+mn-cs"/>
              </a:rPr>
              <a:t>Min. 72–77</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Text 3"/>
          <p:cNvSpPr txBox="1"/>
          <p:nvPr/>
        </p:nvSpPr>
        <p:spPr>
          <a:xfrm>
            <a:off x="548640" y="1325880"/>
            <a:ext cx="11094415"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A4664"/>
                </a:solidFill>
                <a:effectLst/>
                <a:uLnTx/>
                <a:uFillTx/>
                <a:latin typeface="Calibri"/>
                <a:ea typeface="+mn-ea"/>
                <a:cs typeface="+mn-cs"/>
              </a:rPr>
              <a:t>Una técnica de pensamiento lateral de Edward de Bono, en tres pasos:</a:t>
            </a:r>
            <a:endParaRPr kumimoji="0" lang="en-US" sz="2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6" name="Tarjeta"/>
          <p:cNvSpPr/>
          <p:nvPr/>
        </p:nvSpPr>
        <p:spPr>
          <a:xfrm>
            <a:off x="548640" y="2011680"/>
            <a:ext cx="3332378" cy="2880360"/>
          </a:xfrm>
          <a:prstGeom prst="roundRect">
            <a:avLst>
              <a:gd name="adj" fmla="val 4762"/>
            </a:avLst>
          </a:prstGeom>
          <a:solidFill>
            <a:schemeClr val="bg2"/>
          </a:solidFill>
          <a:ln/>
        </p:spPr>
      </p:sp>
      <p:sp>
        <p:nvSpPr>
          <p:cNvPr id="7" name="1. Provocación"/>
          <p:cNvSpPr/>
          <p:nvPr/>
        </p:nvSpPr>
        <p:spPr>
          <a:xfrm>
            <a:off x="868680" y="2240280"/>
            <a:ext cx="914400" cy="914400"/>
          </a:xfrm>
          <a:prstGeom prst="ellipse">
            <a:avLst/>
          </a:prstGeom>
          <a:solidFill>
            <a:schemeClr val="accent3"/>
          </a:solidFill>
          <a:ln/>
        </p:spPr>
      </p:sp>
      <p:pic>
        <p:nvPicPr>
          <p:cNvPr id="8" name="Image 0" descr="1. Provocación"/>
          <p:cNvPicPr>
            <a:picLocks noChangeAspect="1"/>
          </p:cNvPicPr>
          <p:nvPr/>
        </p:nvPicPr>
        <p:blipFill>
          <a:blip r:embed="rId3"/>
          <a:stretch>
            <a:fillRect/>
          </a:stretch>
        </p:blipFill>
        <p:spPr>
          <a:xfrm>
            <a:off x="1088136" y="2459736"/>
            <a:ext cx="475488" cy="475488"/>
          </a:xfrm>
          <a:prstGeom prst="rect">
            <a:avLst/>
          </a:prstGeom>
        </p:spPr>
      </p:pic>
      <p:sp>
        <p:nvSpPr>
          <p:cNvPr id="9" name="Text 6"/>
          <p:cNvSpPr txBox="1"/>
          <p:nvPr/>
        </p:nvSpPr>
        <p:spPr>
          <a:xfrm>
            <a:off x="868680" y="3291840"/>
            <a:ext cx="2692298"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2A44"/>
                </a:solidFill>
                <a:effectLst/>
                <a:uLnTx/>
                <a:uFillTx/>
                <a:latin typeface="Calibri"/>
                <a:ea typeface="+mn-ea"/>
                <a:cs typeface="+mn-cs"/>
              </a:rPr>
              <a:t>1. Provocación</a:t>
            </a:r>
            <a:endParaRPr kumimoji="0" lang="en-US" sz="22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0" name="Text 7"/>
          <p:cNvSpPr txBox="1"/>
          <p:nvPr/>
        </p:nvSpPr>
        <p:spPr>
          <a:xfrm>
            <a:off x="868680" y="3794760"/>
            <a:ext cx="2692298" cy="10058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Una afirmación deliberadamente absurda o imposible, que rompe algo que damos por hecho.</a:t>
            </a:r>
          </a:p>
        </p:txBody>
      </p:sp>
      <p:sp>
        <p:nvSpPr>
          <p:cNvPr id="11" name="Shape 8"/>
          <p:cNvSpPr/>
          <p:nvPr/>
        </p:nvSpPr>
        <p:spPr>
          <a:xfrm>
            <a:off x="3972458" y="3429000"/>
            <a:ext cx="365760" cy="0"/>
          </a:xfrm>
          <a:prstGeom prst="line">
            <a:avLst/>
          </a:prstGeom>
          <a:noFill/>
          <a:ln w="38100">
            <a:solidFill>
              <a:srgbClr val="3A4664"/>
            </a:solidFill>
            <a:prstDash val="solid"/>
            <a:tailEnd type="triangle"/>
          </a:ln>
        </p:spPr>
      </p:sp>
      <p:sp>
        <p:nvSpPr>
          <p:cNvPr id="12" name="Tarjeta"/>
          <p:cNvSpPr/>
          <p:nvPr/>
        </p:nvSpPr>
        <p:spPr>
          <a:xfrm>
            <a:off x="4429658" y="2011680"/>
            <a:ext cx="3332378" cy="2880360"/>
          </a:xfrm>
          <a:prstGeom prst="roundRect">
            <a:avLst>
              <a:gd name="adj" fmla="val 4762"/>
            </a:avLst>
          </a:prstGeom>
          <a:solidFill>
            <a:schemeClr val="bg2"/>
          </a:solidFill>
          <a:ln/>
        </p:spPr>
      </p:sp>
      <p:sp>
        <p:nvSpPr>
          <p:cNvPr id="13" name="2. Movimiento"/>
          <p:cNvSpPr/>
          <p:nvPr/>
        </p:nvSpPr>
        <p:spPr>
          <a:xfrm>
            <a:off x="4749698" y="2240280"/>
            <a:ext cx="914400" cy="914400"/>
          </a:xfrm>
          <a:prstGeom prst="ellipse">
            <a:avLst/>
          </a:prstGeom>
          <a:solidFill>
            <a:schemeClr val="tx2"/>
          </a:solidFill>
          <a:ln/>
        </p:spPr>
      </p:sp>
      <p:pic>
        <p:nvPicPr>
          <p:cNvPr id="14" name="Image 1" descr="2. Movimiento"/>
          <p:cNvPicPr>
            <a:picLocks noChangeAspect="1"/>
          </p:cNvPicPr>
          <p:nvPr/>
        </p:nvPicPr>
        <p:blipFill>
          <a:blip r:embed="rId4"/>
          <a:stretch>
            <a:fillRect/>
          </a:stretch>
        </p:blipFill>
        <p:spPr>
          <a:xfrm>
            <a:off x="4969154" y="2459736"/>
            <a:ext cx="475488" cy="475488"/>
          </a:xfrm>
          <a:prstGeom prst="rect">
            <a:avLst/>
          </a:prstGeom>
        </p:spPr>
      </p:pic>
      <p:sp>
        <p:nvSpPr>
          <p:cNvPr id="15" name="Text 11"/>
          <p:cNvSpPr txBox="1"/>
          <p:nvPr/>
        </p:nvSpPr>
        <p:spPr>
          <a:xfrm>
            <a:off x="4749698" y="3291840"/>
            <a:ext cx="2692298"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2A44"/>
                </a:solidFill>
                <a:effectLst/>
                <a:uLnTx/>
                <a:uFillTx/>
                <a:latin typeface="Calibri"/>
                <a:ea typeface="+mn-ea"/>
                <a:cs typeface="+mn-cs"/>
              </a:rPr>
              <a:t>2. Movimiento</a:t>
            </a:r>
            <a:endParaRPr kumimoji="0" lang="en-US" sz="22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6" name="Text 12"/>
          <p:cNvSpPr txBox="1"/>
          <p:nvPr/>
        </p:nvSpPr>
        <p:spPr>
          <a:xfrm>
            <a:off x="4749698" y="3794760"/>
            <a:ext cx="2692298" cy="10058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Buscar qué principio útil se esconde en ese absurdo.</a:t>
            </a:r>
          </a:p>
        </p:txBody>
      </p:sp>
      <p:sp>
        <p:nvSpPr>
          <p:cNvPr id="17" name="Shape 13"/>
          <p:cNvSpPr/>
          <p:nvPr/>
        </p:nvSpPr>
        <p:spPr>
          <a:xfrm>
            <a:off x="7853477" y="3429000"/>
            <a:ext cx="365760" cy="0"/>
          </a:xfrm>
          <a:prstGeom prst="line">
            <a:avLst/>
          </a:prstGeom>
          <a:noFill/>
          <a:ln w="38100">
            <a:solidFill>
              <a:srgbClr val="3A4664"/>
            </a:solidFill>
            <a:prstDash val="solid"/>
            <a:tailEnd type="triangle"/>
          </a:ln>
        </p:spPr>
      </p:sp>
      <p:sp>
        <p:nvSpPr>
          <p:cNvPr id="18" name="Tarjeta"/>
          <p:cNvSpPr/>
          <p:nvPr/>
        </p:nvSpPr>
        <p:spPr>
          <a:xfrm>
            <a:off x="8310677" y="2011680"/>
            <a:ext cx="3332378" cy="2880360"/>
          </a:xfrm>
          <a:prstGeom prst="roundRect">
            <a:avLst>
              <a:gd name="adj" fmla="val 4762"/>
            </a:avLst>
          </a:prstGeom>
          <a:solidFill>
            <a:schemeClr val="bg2"/>
          </a:solidFill>
          <a:ln/>
        </p:spPr>
      </p:sp>
      <p:sp>
        <p:nvSpPr>
          <p:cNvPr id="19" name="3. Idea práctica"/>
          <p:cNvSpPr/>
          <p:nvPr/>
        </p:nvSpPr>
        <p:spPr>
          <a:xfrm>
            <a:off x="8630717" y="2240280"/>
            <a:ext cx="914400" cy="914400"/>
          </a:xfrm>
          <a:prstGeom prst="ellipse">
            <a:avLst/>
          </a:prstGeom>
          <a:solidFill>
            <a:schemeClr val="accent1"/>
          </a:solidFill>
          <a:ln/>
        </p:spPr>
      </p:sp>
      <p:pic>
        <p:nvPicPr>
          <p:cNvPr id="20" name="Image 2" descr="3. Idea práctica"/>
          <p:cNvPicPr>
            <a:picLocks noChangeAspect="1"/>
          </p:cNvPicPr>
          <p:nvPr/>
        </p:nvPicPr>
        <p:blipFill>
          <a:blip r:embed="rId5"/>
          <a:stretch>
            <a:fillRect/>
          </a:stretch>
        </p:blipFill>
        <p:spPr>
          <a:xfrm>
            <a:off x="8850173" y="2459736"/>
            <a:ext cx="475488" cy="475488"/>
          </a:xfrm>
          <a:prstGeom prst="rect">
            <a:avLst/>
          </a:prstGeom>
        </p:spPr>
      </p:pic>
      <p:sp>
        <p:nvSpPr>
          <p:cNvPr id="21" name="Text 16"/>
          <p:cNvSpPr txBox="1"/>
          <p:nvPr/>
        </p:nvSpPr>
        <p:spPr>
          <a:xfrm>
            <a:off x="8630717" y="3291840"/>
            <a:ext cx="2692298"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2A44"/>
                </a:solidFill>
                <a:effectLst/>
                <a:uLnTx/>
                <a:uFillTx/>
                <a:latin typeface="Calibri"/>
                <a:ea typeface="+mn-ea"/>
                <a:cs typeface="+mn-cs"/>
              </a:rPr>
              <a:t>3. Idea práctica</a:t>
            </a:r>
            <a:endParaRPr kumimoji="0" lang="en-US" sz="22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2" name="Text 17"/>
          <p:cNvSpPr txBox="1"/>
          <p:nvPr/>
        </p:nvSpPr>
        <p:spPr>
          <a:xfrm>
            <a:off x="8630717" y="3794760"/>
            <a:ext cx="2692298" cy="10058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Convertir ese principio en algo que se pueda hacer de verdad.</a:t>
            </a:r>
          </a:p>
        </p:txBody>
      </p:sp>
      <p:sp>
        <p:nvSpPr>
          <p:cNvPr id="23" name="Tarjeta"/>
          <p:cNvSpPr/>
          <p:nvPr/>
        </p:nvSpPr>
        <p:spPr>
          <a:xfrm>
            <a:off x="548640" y="5212080"/>
            <a:ext cx="11094415" cy="777240"/>
          </a:xfrm>
          <a:prstGeom prst="roundRect">
            <a:avLst>
              <a:gd name="adj" fmla="val 17647"/>
            </a:avLst>
          </a:prstGeom>
          <a:solidFill>
            <a:schemeClr val="bg2"/>
          </a:solidFill>
          <a:ln/>
        </p:spPr>
      </p:sp>
      <p:sp>
        <p:nvSpPr>
          <p:cNvPr id="24" name="Text 19"/>
          <p:cNvSpPr txBox="1"/>
          <p:nvPr/>
        </p:nvSpPr>
        <p:spPr>
          <a:xfrm>
            <a:off x="868680" y="5212080"/>
            <a:ext cx="10454335"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1F2A44"/>
                </a:solidFill>
                <a:effectLst/>
                <a:uLnTx/>
                <a:uFillTx/>
                <a:latin typeface="Calibri"/>
                <a:ea typeface="+mn-ea"/>
                <a:cs typeface="+mn-cs"/>
              </a:rPr>
              <a:t>SCAMPER mejora lo que existe. </a:t>
            </a:r>
            <a:r>
              <a:rPr kumimoji="0" lang="en-US" sz="1900" b="1" i="0" u="none" strike="noStrike" kern="1200" cap="none" spc="0" normalizeH="0" baseline="0" noProof="0" dirty="0">
                <a:ln>
                  <a:noFill/>
                </a:ln>
                <a:solidFill>
                  <a:srgbClr val="1F2A44"/>
                </a:solidFill>
                <a:effectLst/>
                <a:uLnTx/>
                <a:uFillTx/>
                <a:latin typeface="Calibri"/>
                <a:ea typeface="+mn-ea"/>
                <a:cs typeface="+mn-cs"/>
              </a:rPr>
              <a:t>La provocación rompe lo que damos por hecho.</a:t>
            </a:r>
            <a:endParaRPr kumimoji="0" lang="en-US" sz="19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Cuatro tipos de provocación, en la peluquería</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A44"/>
                </a:solidFill>
                <a:effectLst/>
                <a:uLnTx/>
                <a:uFillTx/>
                <a:latin typeface="Calibri"/>
                <a:ea typeface="+mn-ea"/>
                <a:cs typeface="+mn-cs"/>
              </a:rPr>
              <a:t>Min. 72–77</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graphicFrame>
        <p:nvGraphicFramePr>
          <p:cNvPr id="11" name="Table 0"/>
          <p:cNvGraphicFramePr>
            <a:graphicFrameLocks noGrp="1"/>
          </p:cNvGraphicFramePr>
          <p:nvPr/>
        </p:nvGraphicFramePr>
        <p:xfrm>
          <a:off x="548640" y="1417320"/>
          <a:ext cx="11094415" cy="4206240"/>
        </p:xfrm>
        <a:graphic>
          <a:graphicData uri="http://schemas.openxmlformats.org/drawingml/2006/table">
            <a:tbl>
              <a:tblPr/>
              <a:tblGrid>
                <a:gridCol w="19202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230575">
                  <a:extLst>
                    <a:ext uri="{9D8B030D-6E8A-4147-A177-3AD203B41FA5}">
                      <a16:colId xmlns:a16="http://schemas.microsoft.com/office/drawing/2014/main" val="20003"/>
                    </a:ext>
                  </a:extLst>
                </a:gridCol>
              </a:tblGrid>
              <a:tr h="457200">
                <a:tc>
                  <a:txBody>
                    <a:bodyPr/>
                    <a:lstStyle/>
                    <a:p>
                      <a:pPr marL="0" indent="0">
                        <a:buNone/>
                      </a:pPr>
                      <a:r>
                        <a:rPr lang="en-US" sz="1500" b="1" dirty="0">
                          <a:solidFill>
                            <a:schemeClr val="bg1"/>
                          </a:solidFill>
                        </a:rPr>
                        <a:t>Tipo</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Provocación</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3"/>
                    </a:solidFill>
                  </a:tcPr>
                </a:tc>
                <a:tc>
                  <a:txBody>
                    <a:bodyPr/>
                    <a:lstStyle/>
                    <a:p>
                      <a:pPr marL="0" indent="0">
                        <a:buNone/>
                      </a:pPr>
                      <a:r>
                        <a:rPr lang="en-US" sz="1500" b="1" dirty="0">
                          <a:solidFill>
                            <a:schemeClr val="bg1"/>
                          </a:solidFill>
                        </a:rPr>
                        <a:t>Movimiento: principio útil</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2"/>
                    </a:solidFill>
                  </a:tcPr>
                </a:tc>
                <a:tc>
                  <a:txBody>
                    <a:bodyPr/>
                    <a:lstStyle/>
                    <a:p>
                      <a:pPr marL="0" indent="0">
                        <a:buNone/>
                      </a:pPr>
                      <a:r>
                        <a:rPr lang="en-US" sz="1500" b="1" dirty="0">
                          <a:solidFill>
                            <a:schemeClr val="tx1"/>
                          </a:solidFill>
                        </a:rPr>
                        <a:t>Idea práctica</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960120">
                <a:tc>
                  <a:txBody>
                    <a:bodyPr/>
                    <a:lstStyle/>
                    <a:p>
                      <a:pPr marL="0" indent="0">
                        <a:buNone/>
                      </a:pPr>
                      <a:r>
                        <a:rPr lang="en-US" sz="1500" b="1" dirty="0">
                          <a:solidFill>
                            <a:schemeClr val="tx1"/>
                          </a:solidFill>
                        </a:rPr>
                        <a:t>Inversión</a:t>
                      </a:r>
                      <a:endParaRPr lang="en-US" sz="1500" dirty="0"/>
                    </a:p>
                    <a:p>
                      <a:pPr marL="0" indent="0">
                        <a:buNone/>
                      </a:pPr>
                      <a:r>
                        <a:rPr lang="en-US" sz="1200" i="1" dirty="0">
                          <a:solidFill>
                            <a:schemeClr val="tx1"/>
                          </a:solidFill>
                        </a:rPr>
                        <a:t>darle la vuelta</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bg2"/>
                    </a:solidFill>
                  </a:tcPr>
                </a:tc>
                <a:tc>
                  <a:txBody>
                    <a:bodyPr/>
                    <a:lstStyle/>
                    <a:p>
                      <a:pPr marL="0" indent="0">
                        <a:buNone/>
                      </a:pPr>
                      <a:r>
                        <a:rPr lang="en-US" sz="1500" i="1" dirty="0">
                          <a:solidFill>
                            <a:schemeClr val="tx1"/>
                          </a:solidFill>
                        </a:rPr>
                        <a:t>«La peluquería llama a los clientes, y no al revés».</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500" dirty="0">
                          <a:solidFill>
                            <a:schemeClr val="tx1"/>
                          </a:solidFill>
                        </a:rPr>
                        <a:t>La peluquería puede tomar la iniciativa.</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500" dirty="0">
                          <a:solidFill>
                            <a:schemeClr val="tx1"/>
                          </a:solidFill>
                        </a:rPr>
                        <a:t>Al terminar cada servicio, proponer ya la fecha de la siguiente cita.</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1"/>
                  </a:ext>
                </a:extLst>
              </a:tr>
              <a:tr h="914400">
                <a:tc>
                  <a:txBody>
                    <a:bodyPr/>
                    <a:lstStyle/>
                    <a:p>
                      <a:pPr marL="0" indent="0">
                        <a:buNone/>
                      </a:pPr>
                      <a:r>
                        <a:rPr lang="en-US" sz="1500" b="1" dirty="0">
                          <a:solidFill>
                            <a:schemeClr val="tx1"/>
                          </a:solidFill>
                        </a:rPr>
                        <a:t>Exageración</a:t>
                      </a:r>
                      <a:endParaRPr lang="en-US" sz="1500" dirty="0"/>
                    </a:p>
                    <a:p>
                      <a:pPr marL="0" indent="0">
                        <a:buNone/>
                      </a:pPr>
                      <a:r>
                        <a:rPr lang="en-US" sz="1200" i="1" dirty="0">
                          <a:solidFill>
                            <a:schemeClr val="tx1"/>
                          </a:solidFill>
                        </a:rPr>
                        <a:t>llevarlo al extremo</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bg2"/>
                    </a:solidFill>
                  </a:tcPr>
                </a:tc>
                <a:tc>
                  <a:txBody>
                    <a:bodyPr/>
                    <a:lstStyle/>
                    <a:p>
                      <a:pPr marL="0" indent="0">
                        <a:buNone/>
                      </a:pPr>
                      <a:r>
                        <a:rPr lang="en-US" sz="1500" i="1" dirty="0">
                          <a:solidFill>
                            <a:schemeClr val="tx1"/>
                          </a:solidFill>
                        </a:rPr>
                        <a:t>«Cada cliente viene todos los días».</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500" dirty="0">
                          <a:solidFill>
                            <a:schemeClr val="tx1"/>
                          </a:solidFill>
                        </a:rPr>
                        <a:t>Clientes con citas fijas y recurrentes.</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500" dirty="0">
                          <a:solidFill>
                            <a:schemeClr val="tx1"/>
                          </a:solidFill>
                        </a:rPr>
                        <a:t>Abono mensual con cita fija para clientes habituales.</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2"/>
                  </a:ext>
                </a:extLst>
              </a:tr>
              <a:tr h="914400">
                <a:tc>
                  <a:txBody>
                    <a:bodyPr/>
                    <a:lstStyle/>
                    <a:p>
                      <a:pPr marL="0" indent="0">
                        <a:buNone/>
                      </a:pPr>
                      <a:r>
                        <a:rPr lang="en-US" sz="1500" b="1" dirty="0">
                          <a:solidFill>
                            <a:schemeClr val="tx1"/>
                          </a:solidFill>
                        </a:rPr>
                        <a:t>Eliminación</a:t>
                      </a:r>
                      <a:endParaRPr lang="en-US" sz="1500" dirty="0"/>
                    </a:p>
                    <a:p>
                      <a:pPr marL="0" indent="0">
                        <a:buNone/>
                      </a:pPr>
                      <a:r>
                        <a:rPr lang="en-US" sz="1200" i="1" dirty="0">
                          <a:solidFill>
                            <a:schemeClr val="tx1"/>
                          </a:solidFill>
                        </a:rPr>
                        <a:t>quitar lo imprescindible</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bg2"/>
                    </a:solidFill>
                  </a:tcPr>
                </a:tc>
                <a:tc>
                  <a:txBody>
                    <a:bodyPr/>
                    <a:lstStyle/>
                    <a:p>
                      <a:pPr marL="0" indent="0">
                        <a:buNone/>
                      </a:pPr>
                      <a:r>
                        <a:rPr lang="en-US" sz="1500" i="1" dirty="0">
                          <a:solidFill>
                            <a:schemeClr val="tx1"/>
                          </a:solidFill>
                        </a:rPr>
                        <a:t>«La peluquería no tiene teléfono».</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500" dirty="0">
                          <a:solidFill>
                            <a:schemeClr val="tx1"/>
                          </a:solidFill>
                        </a:rPr>
                        <a:t>El teléfono no tiene por qué ser el canal principal.</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500" dirty="0">
                          <a:solidFill>
                            <a:schemeClr val="tx1"/>
                          </a:solidFill>
                        </a:rPr>
                        <a:t>Reservas por otros canales; el teléfono, solo para imprevistos.</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3"/>
                  </a:ext>
                </a:extLst>
              </a:tr>
              <a:tr h="960120">
                <a:tc>
                  <a:txBody>
                    <a:bodyPr/>
                    <a:lstStyle/>
                    <a:p>
                      <a:pPr marL="0" indent="0">
                        <a:buNone/>
                      </a:pPr>
                      <a:r>
                        <a:rPr lang="en-US" sz="1500" b="1" dirty="0">
                          <a:solidFill>
                            <a:schemeClr val="tx1"/>
                          </a:solidFill>
                        </a:rPr>
                        <a:t>Deseo</a:t>
                      </a:r>
                      <a:endParaRPr lang="en-US" sz="1500" dirty="0"/>
                    </a:p>
                    <a:p>
                      <a:pPr marL="0" indent="0">
                        <a:buNone/>
                      </a:pPr>
                      <a:r>
                        <a:rPr lang="en-US" sz="1200" i="1" dirty="0">
                          <a:solidFill>
                            <a:schemeClr val="tx1"/>
                          </a:solidFill>
                        </a:rPr>
                        <a:t>¿y si…? imposible</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bg2"/>
                    </a:solidFill>
                  </a:tcPr>
                </a:tc>
                <a:tc>
                  <a:txBody>
                    <a:bodyPr/>
                    <a:lstStyle/>
                    <a:p>
                      <a:pPr marL="0" indent="0">
                        <a:buNone/>
                      </a:pPr>
                      <a:r>
                        <a:rPr lang="en-US" sz="1500" i="1" dirty="0">
                          <a:solidFill>
                            <a:schemeClr val="tx1"/>
                          </a:solidFill>
                        </a:rPr>
                        <a:t>«¿Y si el cliente supiera exactamente cuándo le toca, aunque llegue sin cita?».</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500" dirty="0">
                          <a:solidFill>
                            <a:schemeClr val="tx1"/>
                          </a:solidFill>
                        </a:rPr>
                        <a:t>Hacer visible la espera.</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buNone/>
                      </a:pPr>
                      <a:r>
                        <a:rPr lang="en-US" sz="1500" dirty="0">
                          <a:solidFill>
                            <a:schemeClr val="tx1"/>
                          </a:solidFill>
                        </a:rPr>
                        <a:t>Turno visible en el móvil o en una pantalla en la puerta.</a:t>
                      </a:r>
                      <a:endParaRPr lang="en-US" sz="15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97280" y="109728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4A300"/>
                </a:solidFill>
                <a:effectLst/>
                <a:uLnTx/>
                <a:uFillTx/>
                <a:latin typeface="Calibri"/>
                <a:ea typeface="+mn-ea"/>
                <a:cs typeface="+mn-cs"/>
              </a:rPr>
              <a:t>El error típico</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3" name="Text 0"/>
          <p:cNvSpPr>
            <a:spLocks noGrp="1"/>
          </p:cNvSpPr>
          <p:nvPr>
            <p:ph type="body" idx="100" hasCustomPrompt="1"/>
          </p:nvPr>
        </p:nvSpPr>
        <p:spPr>
          <a:xfrm>
            <a:off x="1097280" y="1554480"/>
            <a:ext cx="9966960" cy="3108960"/>
          </a:xfrm>
          <a:prstGeom prst="rect">
            <a:avLst/>
          </a:prstGeom>
          <a:noFill/>
          <a:ln/>
        </p:spPr>
        <p:txBody>
          <a:bodyPr wrap="square" lIns="0" tIns="0" rIns="0" bIns="0" rtlCol="0" anchor="ctr"/>
          <a:lstStyle/>
          <a:p>
            <a:pPr marL="0" indent="0">
              <a:buNone/>
            </a:pPr>
            <a:r>
              <a:rPr lang="en-US" sz="3400" dirty="0">
                <a:solidFill>
                  <a:schemeClr val="bg1"/>
                </a:solidFill>
              </a:rPr>
              <a:t>Quedarse en la provocación y reírse.</a:t>
            </a:r>
            <a:endParaRPr lang="en-US" sz="3400" dirty="0"/>
          </a:p>
          <a:p>
            <a:pPr marL="0" indent="0">
              <a:buNone/>
            </a:pPr>
            <a:r>
              <a:rPr lang="en-US" sz="3400" b="1" dirty="0">
                <a:solidFill>
                  <a:schemeClr val="accent1"/>
                </a:solidFill>
              </a:rPr>
              <a:t>Sin movimiento no hay idea: ¿qué principio útil sacamos de esto?</a:t>
            </a:r>
            <a:endParaRPr lang="en-US" sz="3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Ejercicio 3: provocación en vuestro caso</a:t>
            </a:r>
            <a:endParaRPr lang="en-US" sz="3200" dirty="0"/>
          </a:p>
        </p:txBody>
      </p:sp>
      <p:sp>
        <p:nvSpPr>
          <p:cNvPr id="3" name="Etiqueta de tiempo"/>
          <p:cNvSpPr/>
          <p:nvPr/>
        </p:nvSpPr>
        <p:spPr>
          <a:xfrm>
            <a:off x="9187891" y="548640"/>
            <a:ext cx="2455164" cy="457200"/>
          </a:xfrm>
          <a:prstGeom prst="roundRect">
            <a:avLst>
              <a:gd name="adj" fmla="val 50000"/>
            </a:avLst>
          </a:prstGeom>
          <a:solidFill>
            <a:schemeClr val="accent1"/>
          </a:solidFill>
          <a:ln/>
        </p:spPr>
      </p:sp>
      <p:sp>
        <p:nvSpPr>
          <p:cNvPr id="4" name="Text 2"/>
          <p:cNvSpPr txBox="1"/>
          <p:nvPr/>
        </p:nvSpPr>
        <p:spPr>
          <a:xfrm>
            <a:off x="9187891" y="548640"/>
            <a:ext cx="2455164"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A44"/>
                </a:solidFill>
                <a:effectLst/>
                <a:uLnTx/>
                <a:uFillTx/>
                <a:latin typeface="Calibri"/>
                <a:ea typeface="+mn-ea"/>
                <a:cs typeface="+mn-cs"/>
              </a:rPr>
              <a:t>Min. 77–85 · Sin IA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Text 3"/>
          <p:cNvSpPr txBox="1"/>
          <p:nvPr/>
        </p:nvSpPr>
        <p:spPr>
          <a:xfrm>
            <a:off x="548640" y="1325880"/>
            <a:ext cx="11094415"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3A4664"/>
                </a:solidFill>
                <a:effectLst/>
                <a:uLnTx/>
                <a:uFillTx/>
                <a:latin typeface="Calibri"/>
                <a:ea typeface="+mn-ea"/>
                <a:cs typeface="+mn-cs"/>
              </a:rPr>
              <a:t>Tres provocaciones de tipos distintos, sobre el mismo caso. Para cada una, llegad hasta la idea práctica:</a:t>
            </a:r>
            <a:endParaRPr kumimoji="0" lang="en-US" sz="1900" b="0" i="0" u="none" strike="noStrike" kern="1200" cap="none" spc="0" normalizeH="0" baseline="0" noProof="0" dirty="0">
              <a:ln>
                <a:noFill/>
              </a:ln>
              <a:solidFill>
                <a:srgbClr val="1F2A44"/>
              </a:solidFill>
              <a:effectLst/>
              <a:uLnTx/>
              <a:uFillTx/>
              <a:latin typeface="Calibri"/>
              <a:ea typeface="+mn-ea"/>
              <a:cs typeface="+mn-cs"/>
            </a:endParaRPr>
          </a:p>
        </p:txBody>
      </p:sp>
      <p:sp>
        <p:nvSpPr>
          <p:cNvPr id="6" name="Provocación"/>
          <p:cNvSpPr/>
          <p:nvPr/>
        </p:nvSpPr>
        <p:spPr>
          <a:xfrm>
            <a:off x="548640" y="2057400"/>
            <a:ext cx="3362858" cy="548640"/>
          </a:xfrm>
          <a:prstGeom prst="roundRect">
            <a:avLst>
              <a:gd name="adj" fmla="val 16667"/>
            </a:avLst>
          </a:prstGeom>
          <a:solidFill>
            <a:schemeClr val="accent3"/>
          </a:solidFill>
          <a:ln/>
        </p:spPr>
      </p:sp>
      <p:sp>
        <p:nvSpPr>
          <p:cNvPr id="7" name="Text 5"/>
          <p:cNvSpPr txBox="1"/>
          <p:nvPr/>
        </p:nvSpPr>
        <p:spPr>
          <a:xfrm>
            <a:off x="548640" y="2057400"/>
            <a:ext cx="3362858"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a:ea typeface="+mn-ea"/>
                <a:cs typeface="+mn-cs"/>
              </a:rPr>
              <a:t>Provocación</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8" name="Hueco"/>
          <p:cNvSpPr/>
          <p:nvPr/>
        </p:nvSpPr>
        <p:spPr>
          <a:xfrm>
            <a:off x="548640" y="2788920"/>
            <a:ext cx="3362858" cy="868680"/>
          </a:xfrm>
          <a:prstGeom prst="roundRect">
            <a:avLst>
              <a:gd name="adj" fmla="val 10526"/>
            </a:avLst>
          </a:prstGeom>
          <a:solidFill>
            <a:schemeClr val="bg2"/>
          </a:solidFill>
          <a:ln w="12700">
            <a:solidFill>
              <a:srgbClr val="8A94A6"/>
            </a:solidFill>
            <a:prstDash val="dash"/>
          </a:ln>
        </p:spPr>
      </p:sp>
      <p:sp>
        <p:nvSpPr>
          <p:cNvPr id="9" name="Shape 7"/>
          <p:cNvSpPr/>
          <p:nvPr/>
        </p:nvSpPr>
        <p:spPr>
          <a:xfrm>
            <a:off x="3984650" y="3218688"/>
            <a:ext cx="356616" cy="0"/>
          </a:xfrm>
          <a:prstGeom prst="line">
            <a:avLst/>
          </a:prstGeom>
          <a:noFill/>
          <a:ln w="31750">
            <a:solidFill>
              <a:srgbClr val="3A4664"/>
            </a:solidFill>
            <a:prstDash val="solid"/>
            <a:tailEnd type="triangle"/>
          </a:ln>
        </p:spPr>
      </p:sp>
      <p:sp>
        <p:nvSpPr>
          <p:cNvPr id="10" name="Hueco"/>
          <p:cNvSpPr/>
          <p:nvPr/>
        </p:nvSpPr>
        <p:spPr>
          <a:xfrm>
            <a:off x="548640" y="3840480"/>
            <a:ext cx="3362858" cy="868680"/>
          </a:xfrm>
          <a:prstGeom prst="roundRect">
            <a:avLst>
              <a:gd name="adj" fmla="val 10526"/>
            </a:avLst>
          </a:prstGeom>
          <a:solidFill>
            <a:schemeClr val="bg2"/>
          </a:solidFill>
          <a:ln w="12700">
            <a:solidFill>
              <a:srgbClr val="8A94A6"/>
            </a:solidFill>
            <a:prstDash val="dash"/>
          </a:ln>
        </p:spPr>
      </p:sp>
      <p:sp>
        <p:nvSpPr>
          <p:cNvPr id="11" name="Shape 9"/>
          <p:cNvSpPr/>
          <p:nvPr/>
        </p:nvSpPr>
        <p:spPr>
          <a:xfrm>
            <a:off x="3984650" y="4270248"/>
            <a:ext cx="356616" cy="0"/>
          </a:xfrm>
          <a:prstGeom prst="line">
            <a:avLst/>
          </a:prstGeom>
          <a:noFill/>
          <a:ln w="31750">
            <a:solidFill>
              <a:srgbClr val="3A4664"/>
            </a:solidFill>
            <a:prstDash val="solid"/>
            <a:tailEnd type="triangle"/>
          </a:ln>
        </p:spPr>
      </p:sp>
      <p:sp>
        <p:nvSpPr>
          <p:cNvPr id="12" name="Hueco"/>
          <p:cNvSpPr/>
          <p:nvPr/>
        </p:nvSpPr>
        <p:spPr>
          <a:xfrm>
            <a:off x="548640" y="4892040"/>
            <a:ext cx="3362858" cy="868680"/>
          </a:xfrm>
          <a:prstGeom prst="roundRect">
            <a:avLst>
              <a:gd name="adj" fmla="val 10526"/>
            </a:avLst>
          </a:prstGeom>
          <a:solidFill>
            <a:schemeClr val="bg2"/>
          </a:solidFill>
          <a:ln w="12700">
            <a:solidFill>
              <a:srgbClr val="8A94A6"/>
            </a:solidFill>
            <a:prstDash val="dash"/>
          </a:ln>
        </p:spPr>
      </p:sp>
      <p:sp>
        <p:nvSpPr>
          <p:cNvPr id="13" name="Shape 11"/>
          <p:cNvSpPr/>
          <p:nvPr/>
        </p:nvSpPr>
        <p:spPr>
          <a:xfrm>
            <a:off x="3984650" y="5321808"/>
            <a:ext cx="356616" cy="0"/>
          </a:xfrm>
          <a:prstGeom prst="line">
            <a:avLst/>
          </a:prstGeom>
          <a:noFill/>
          <a:ln w="31750">
            <a:solidFill>
              <a:srgbClr val="3A4664"/>
            </a:solidFill>
            <a:prstDash val="solid"/>
            <a:tailEnd type="triangle"/>
          </a:ln>
        </p:spPr>
      </p:sp>
      <p:sp>
        <p:nvSpPr>
          <p:cNvPr id="14" name="Principio útil"/>
          <p:cNvSpPr/>
          <p:nvPr/>
        </p:nvSpPr>
        <p:spPr>
          <a:xfrm>
            <a:off x="4414418" y="2057400"/>
            <a:ext cx="3362858" cy="548640"/>
          </a:xfrm>
          <a:prstGeom prst="roundRect">
            <a:avLst>
              <a:gd name="adj" fmla="val 16667"/>
            </a:avLst>
          </a:prstGeom>
          <a:solidFill>
            <a:schemeClr val="tx2"/>
          </a:solidFill>
          <a:ln/>
        </p:spPr>
      </p:sp>
      <p:sp>
        <p:nvSpPr>
          <p:cNvPr id="15" name="Text 13"/>
          <p:cNvSpPr txBox="1"/>
          <p:nvPr/>
        </p:nvSpPr>
        <p:spPr>
          <a:xfrm>
            <a:off x="4414418" y="2057400"/>
            <a:ext cx="3362858"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a:ea typeface="+mn-ea"/>
                <a:cs typeface="+mn-cs"/>
              </a:rPr>
              <a:t>Principio útil</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6" name="Hueco"/>
          <p:cNvSpPr/>
          <p:nvPr/>
        </p:nvSpPr>
        <p:spPr>
          <a:xfrm>
            <a:off x="4414418" y="2788920"/>
            <a:ext cx="3362858" cy="868680"/>
          </a:xfrm>
          <a:prstGeom prst="roundRect">
            <a:avLst>
              <a:gd name="adj" fmla="val 10526"/>
            </a:avLst>
          </a:prstGeom>
          <a:solidFill>
            <a:schemeClr val="bg2"/>
          </a:solidFill>
          <a:ln w="12700">
            <a:solidFill>
              <a:srgbClr val="8A94A6"/>
            </a:solidFill>
            <a:prstDash val="dash"/>
          </a:ln>
        </p:spPr>
      </p:sp>
      <p:sp>
        <p:nvSpPr>
          <p:cNvPr id="17" name="Shape 15"/>
          <p:cNvSpPr/>
          <p:nvPr/>
        </p:nvSpPr>
        <p:spPr>
          <a:xfrm>
            <a:off x="7850429" y="3218688"/>
            <a:ext cx="356616" cy="0"/>
          </a:xfrm>
          <a:prstGeom prst="line">
            <a:avLst/>
          </a:prstGeom>
          <a:noFill/>
          <a:ln w="31750">
            <a:solidFill>
              <a:srgbClr val="3A4664"/>
            </a:solidFill>
            <a:prstDash val="solid"/>
            <a:tailEnd type="triangle"/>
          </a:ln>
        </p:spPr>
      </p:sp>
      <p:sp>
        <p:nvSpPr>
          <p:cNvPr id="18" name="Hueco"/>
          <p:cNvSpPr/>
          <p:nvPr/>
        </p:nvSpPr>
        <p:spPr>
          <a:xfrm>
            <a:off x="4414418" y="3840480"/>
            <a:ext cx="3362858" cy="868680"/>
          </a:xfrm>
          <a:prstGeom prst="roundRect">
            <a:avLst>
              <a:gd name="adj" fmla="val 10526"/>
            </a:avLst>
          </a:prstGeom>
          <a:solidFill>
            <a:schemeClr val="bg2"/>
          </a:solidFill>
          <a:ln w="12700">
            <a:solidFill>
              <a:srgbClr val="8A94A6"/>
            </a:solidFill>
            <a:prstDash val="dash"/>
          </a:ln>
        </p:spPr>
      </p:sp>
      <p:sp>
        <p:nvSpPr>
          <p:cNvPr id="19" name="Shape 17"/>
          <p:cNvSpPr/>
          <p:nvPr/>
        </p:nvSpPr>
        <p:spPr>
          <a:xfrm>
            <a:off x="7850429" y="4270248"/>
            <a:ext cx="356616" cy="0"/>
          </a:xfrm>
          <a:prstGeom prst="line">
            <a:avLst/>
          </a:prstGeom>
          <a:noFill/>
          <a:ln w="31750">
            <a:solidFill>
              <a:srgbClr val="3A4664"/>
            </a:solidFill>
            <a:prstDash val="solid"/>
            <a:tailEnd type="triangle"/>
          </a:ln>
        </p:spPr>
      </p:sp>
      <p:sp>
        <p:nvSpPr>
          <p:cNvPr id="20" name="Hueco"/>
          <p:cNvSpPr/>
          <p:nvPr/>
        </p:nvSpPr>
        <p:spPr>
          <a:xfrm>
            <a:off x="4414418" y="4892040"/>
            <a:ext cx="3362858" cy="868680"/>
          </a:xfrm>
          <a:prstGeom prst="roundRect">
            <a:avLst>
              <a:gd name="adj" fmla="val 10526"/>
            </a:avLst>
          </a:prstGeom>
          <a:solidFill>
            <a:schemeClr val="bg2"/>
          </a:solidFill>
          <a:ln w="12700">
            <a:solidFill>
              <a:srgbClr val="8A94A6"/>
            </a:solidFill>
            <a:prstDash val="dash"/>
          </a:ln>
        </p:spPr>
      </p:sp>
      <p:sp>
        <p:nvSpPr>
          <p:cNvPr id="21" name="Shape 19"/>
          <p:cNvSpPr/>
          <p:nvPr/>
        </p:nvSpPr>
        <p:spPr>
          <a:xfrm>
            <a:off x="7850429" y="5321808"/>
            <a:ext cx="356616" cy="0"/>
          </a:xfrm>
          <a:prstGeom prst="line">
            <a:avLst/>
          </a:prstGeom>
          <a:noFill/>
          <a:ln w="31750">
            <a:solidFill>
              <a:srgbClr val="3A4664"/>
            </a:solidFill>
            <a:prstDash val="solid"/>
            <a:tailEnd type="triangle"/>
          </a:ln>
        </p:spPr>
      </p:sp>
      <p:sp>
        <p:nvSpPr>
          <p:cNvPr id="22" name="Idea práctica"/>
          <p:cNvSpPr/>
          <p:nvPr/>
        </p:nvSpPr>
        <p:spPr>
          <a:xfrm>
            <a:off x="8280197" y="2057400"/>
            <a:ext cx="3362858" cy="548640"/>
          </a:xfrm>
          <a:prstGeom prst="roundRect">
            <a:avLst>
              <a:gd name="adj" fmla="val 16667"/>
            </a:avLst>
          </a:prstGeom>
          <a:solidFill>
            <a:schemeClr val="accent1"/>
          </a:solidFill>
          <a:ln/>
        </p:spPr>
      </p:sp>
      <p:sp>
        <p:nvSpPr>
          <p:cNvPr id="23" name="Text 21"/>
          <p:cNvSpPr txBox="1"/>
          <p:nvPr/>
        </p:nvSpPr>
        <p:spPr>
          <a:xfrm>
            <a:off x="8280197" y="2057400"/>
            <a:ext cx="3362858"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F2A44"/>
                </a:solidFill>
                <a:effectLst/>
                <a:uLnTx/>
                <a:uFillTx/>
                <a:latin typeface="Calibri"/>
                <a:ea typeface="+mn-ea"/>
                <a:cs typeface="+mn-cs"/>
              </a:rPr>
              <a:t>Idea práctica</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4" name="Hueco"/>
          <p:cNvSpPr/>
          <p:nvPr/>
        </p:nvSpPr>
        <p:spPr>
          <a:xfrm>
            <a:off x="8280197" y="2788920"/>
            <a:ext cx="3362858" cy="868680"/>
          </a:xfrm>
          <a:prstGeom prst="roundRect">
            <a:avLst>
              <a:gd name="adj" fmla="val 10526"/>
            </a:avLst>
          </a:prstGeom>
          <a:solidFill>
            <a:schemeClr val="bg2"/>
          </a:solidFill>
          <a:ln w="12700">
            <a:solidFill>
              <a:srgbClr val="8A94A6"/>
            </a:solidFill>
            <a:prstDash val="dash"/>
          </a:ln>
        </p:spPr>
      </p:sp>
      <p:sp>
        <p:nvSpPr>
          <p:cNvPr id="25" name="Hueco"/>
          <p:cNvSpPr/>
          <p:nvPr/>
        </p:nvSpPr>
        <p:spPr>
          <a:xfrm>
            <a:off x="8280197" y="3840480"/>
            <a:ext cx="3362858" cy="868680"/>
          </a:xfrm>
          <a:prstGeom prst="roundRect">
            <a:avLst>
              <a:gd name="adj" fmla="val 10526"/>
            </a:avLst>
          </a:prstGeom>
          <a:solidFill>
            <a:schemeClr val="bg2"/>
          </a:solidFill>
          <a:ln w="12700">
            <a:solidFill>
              <a:srgbClr val="8A94A6"/>
            </a:solidFill>
            <a:prstDash val="dash"/>
          </a:ln>
        </p:spPr>
      </p:sp>
      <p:sp>
        <p:nvSpPr>
          <p:cNvPr id="26" name="Hueco"/>
          <p:cNvSpPr/>
          <p:nvPr/>
        </p:nvSpPr>
        <p:spPr>
          <a:xfrm>
            <a:off x="8280197" y="4892040"/>
            <a:ext cx="3362858" cy="868680"/>
          </a:xfrm>
          <a:prstGeom prst="roundRect">
            <a:avLst>
              <a:gd name="adj" fmla="val 10526"/>
            </a:avLst>
          </a:prstGeom>
          <a:solidFill>
            <a:schemeClr val="bg2"/>
          </a:solidFill>
          <a:ln w="12700">
            <a:solidFill>
              <a:srgbClr val="8A94A6"/>
            </a:solidFill>
            <a:prstDash val="dash"/>
          </a:ln>
        </p:spPr>
      </p:sp>
      <p:sp>
        <p:nvSpPr>
          <p:cNvPr id="27"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
        <p:nvSpPr>
          <p:cNvPr id="28" name="Dónde escribir"/>
          <p:cNvSpPr/>
          <p:nvPr/>
        </p:nvSpPr>
        <p:spPr>
          <a:xfrm>
            <a:off x="5763463" y="6291072"/>
            <a:ext cx="5163616"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Ejercicio 3  ›  tabla de la ronda sin IA</a:t>
            </a:r>
          </a:p>
        </p:txBody>
      </p:sp>
      <p:sp>
        <p:nvSpPr>
          <p:cNvPr id="29" name="Dónde escribir: círculo"/>
          <p:cNvSpPr/>
          <p:nvPr/>
        </p:nvSpPr>
        <p:spPr>
          <a:xfrm>
            <a:off x="5818327" y="6336792"/>
            <a:ext cx="292608" cy="292608"/>
          </a:xfrm>
          <a:prstGeom prst="ellipse">
            <a:avLst/>
          </a:prstGeom>
          <a:solidFill>
            <a:schemeClr val="accent1"/>
          </a:solidFill>
          <a:ln>
            <a:noFill/>
          </a:ln>
        </p:spPr>
      </p:sp>
      <p:pic>
        <p:nvPicPr>
          <p:cNvPr id="30" name="Dónde escribir: lápiz" descr="Lápiz"/>
          <p:cNvPicPr>
            <a:picLocks noChangeAspect="1"/>
          </p:cNvPicPr>
          <p:nvPr/>
        </p:nvPicPr>
        <p:blipFill>
          <a:blip r:embed="rId3"/>
          <a:stretch>
            <a:fillRect/>
          </a:stretch>
        </p:blipFill>
        <p:spPr>
          <a:xfrm>
            <a:off x="5891479" y="6409944"/>
            <a:ext cx="146304" cy="146304"/>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Ronda con IA: el prompt</a:t>
            </a:r>
            <a:endParaRPr lang="en-US" sz="3200" dirty="0"/>
          </a:p>
        </p:txBody>
      </p:sp>
      <p:sp>
        <p:nvSpPr>
          <p:cNvPr id="3" name="Etiqueta de tiempo"/>
          <p:cNvSpPr/>
          <p:nvPr/>
        </p:nvSpPr>
        <p:spPr>
          <a:xfrm>
            <a:off x="9187891" y="548640"/>
            <a:ext cx="2455164" cy="457200"/>
          </a:xfrm>
          <a:prstGeom prst="roundRect">
            <a:avLst>
              <a:gd name="adj" fmla="val 50000"/>
            </a:avLst>
          </a:prstGeom>
          <a:solidFill>
            <a:schemeClr val="accent2"/>
          </a:solidFill>
          <a:ln/>
        </p:spPr>
      </p:sp>
      <p:sp>
        <p:nvSpPr>
          <p:cNvPr id="4" name="Text 2"/>
          <p:cNvSpPr txBox="1"/>
          <p:nvPr/>
        </p:nvSpPr>
        <p:spPr>
          <a:xfrm>
            <a:off x="9187891" y="548640"/>
            <a:ext cx="2455164"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Min. 85–92 · Con IA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Prompt"/>
          <p:cNvSpPr/>
          <p:nvPr/>
        </p:nvSpPr>
        <p:spPr>
          <a:xfrm>
            <a:off x="548640" y="1325880"/>
            <a:ext cx="6858000" cy="4754880"/>
          </a:xfrm>
          <a:prstGeom prst="roundRect">
            <a:avLst>
              <a:gd name="adj" fmla="val 2308"/>
            </a:avLst>
          </a:prstGeom>
          <a:solidFill>
            <a:schemeClr val="tx1"/>
          </a:solidFill>
          <a:ln/>
        </p:spPr>
      </p:sp>
      <p:sp>
        <p:nvSpPr>
          <p:cNvPr id="6" name="Text 4"/>
          <p:cNvSpPr txBox="1"/>
          <p:nvPr/>
        </p:nvSpPr>
        <p:spPr>
          <a:xfrm>
            <a:off x="822960" y="1508760"/>
            <a:ext cx="6309360" cy="4389120"/>
          </a:xfrm>
          <a:prstGeom prst="rect">
            <a:avLst/>
          </a:prstGeom>
          <a:noFill/>
          <a:ln/>
        </p:spPr>
        <p:txBody>
          <a:bodyPr wrap="square" lIns="0" tIns="0" rIns="0" bIns="0"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Actúa como experto en pensamiento lateral y en la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técnica de provocación de Edward de Bono.</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Situación: </a:t>
            </a:r>
            <a:r>
              <a:rPr kumimoji="0" lang="en-US" sz="1400" b="1" i="0" u="none" strike="noStrike" kern="1200" cap="none" spc="0" normalizeH="0" baseline="0" noProof="0" dirty="0">
                <a:ln>
                  <a:noFill/>
                </a:ln>
                <a:solidFill>
                  <a:srgbClr val="F4A300"/>
                </a:solidFill>
                <a:effectLst/>
                <a:uLnTx/>
                <a:uFillTx/>
                <a:latin typeface="Courier New" pitchFamily="34" charset="0"/>
                <a:ea typeface="Courier New" pitchFamily="34" charset="-122"/>
                <a:cs typeface="Courier New" pitchFamily="34" charset="-120"/>
              </a:rPr>
              <a:t>[describir el proceso actual y el</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4A300"/>
                </a:solidFill>
                <a:effectLst/>
                <a:uLnTx/>
                <a:uFillTx/>
                <a:latin typeface="Courier New" pitchFamily="34" charset="0"/>
                <a:ea typeface="Courier New" pitchFamily="34" charset="-122"/>
                <a:cs typeface="Courier New" pitchFamily="34" charset="-120"/>
              </a:rPr>
              <a:t>problema, sin nombres ni datos personales]</a:t>
            </a: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Paso 1. Escribe 6 provocaciones: afirmaciones</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deliberadamente absurdas o imposibles que rompan</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una suposición sobre esta situación. Incluye al</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menos una de cada tipo: inversión, exageración,</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eliminación y deseo («¿Y si…?»).</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Paso 2. Para cada provocación, haz el movimiento:</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explica qué principio útil puede extraerse de ella.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Paso 3. Convierte cada principio en una idea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práctica, realista y de bajo coste.</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Preséntalo en una tabla con cuatro columnas: tipo,</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provocación, principio útil e idea práctica.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No repitas estas provocaciones nuestras:</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4A300"/>
                </a:solidFill>
                <a:effectLst/>
                <a:uLnTx/>
                <a:uFillTx/>
                <a:latin typeface="Courier New" pitchFamily="34" charset="0"/>
                <a:ea typeface="Courier New" pitchFamily="34" charset="-122"/>
                <a:cs typeface="Courier New" pitchFamily="34" charset="-120"/>
              </a:rPr>
              <a:t>[pegar las de la pareja]</a:t>
            </a:r>
            <a:r>
              <a:rPr kumimoji="0" lang="en-US" sz="14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7" name="Text 5"/>
          <p:cNvSpPr txBox="1"/>
          <p:nvPr/>
        </p:nvSpPr>
        <p:spPr>
          <a:xfrm>
            <a:off x="7772400" y="1371600"/>
            <a:ext cx="3870655"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2A44"/>
                </a:solidFill>
                <a:effectLst/>
                <a:uLnTx/>
                <a:uFillTx/>
                <a:latin typeface="Calibri"/>
                <a:ea typeface="+mn-ea"/>
                <a:cs typeface="+mn-cs"/>
              </a:rPr>
              <a:t>Por qué funciona</a:t>
            </a:r>
            <a:endParaRPr kumimoji="0" lang="en-US" sz="2200" b="0" i="0" u="none" strike="noStrike" kern="1200" cap="none" spc="0" normalizeH="0" baseline="0" noProof="0" dirty="0">
              <a:ln>
                <a:noFill/>
              </a:ln>
              <a:solidFill>
                <a:srgbClr val="1F2A44"/>
              </a:solidFill>
              <a:effectLst/>
              <a:uLnTx/>
              <a:uFillTx/>
              <a:latin typeface="Calibri"/>
              <a:ea typeface="+mn-ea"/>
              <a:cs typeface="+mn-cs"/>
            </a:endParaRPr>
          </a:p>
        </p:txBody>
      </p:sp>
      <p:sp>
        <p:nvSpPr>
          <p:cNvPr id="8" name="Razón 1"/>
          <p:cNvSpPr/>
          <p:nvPr/>
        </p:nvSpPr>
        <p:spPr>
          <a:xfrm>
            <a:off x="7772400" y="2103120"/>
            <a:ext cx="457200" cy="457200"/>
          </a:xfrm>
          <a:prstGeom prst="ellipse">
            <a:avLst/>
          </a:prstGeom>
          <a:solidFill>
            <a:schemeClr val="accent2"/>
          </a:solidFill>
          <a:ln/>
        </p:spPr>
      </p:sp>
      <p:sp>
        <p:nvSpPr>
          <p:cNvPr id="9" name="Text 7"/>
          <p:cNvSpPr txBox="1"/>
          <p:nvPr/>
        </p:nvSpPr>
        <p:spPr>
          <a:xfrm>
            <a:off x="7772400" y="210312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a:ea typeface="+mn-ea"/>
                <a:cs typeface="+mn-cs"/>
              </a:rPr>
              <a:t>1</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0" name="Text 8"/>
          <p:cNvSpPr txBox="1"/>
          <p:nvPr/>
        </p:nvSpPr>
        <p:spPr>
          <a:xfrm>
            <a:off x="8412480" y="2057400"/>
            <a:ext cx="3230575"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Separa los tres pasos de la técnica: la IA no salta directamente a una idea convencional.</a:t>
            </a:r>
          </a:p>
        </p:txBody>
      </p:sp>
      <p:sp>
        <p:nvSpPr>
          <p:cNvPr id="11" name="Razón 2"/>
          <p:cNvSpPr/>
          <p:nvPr/>
        </p:nvSpPr>
        <p:spPr>
          <a:xfrm>
            <a:off x="7772400" y="3127248"/>
            <a:ext cx="457200" cy="457200"/>
          </a:xfrm>
          <a:prstGeom prst="ellipse">
            <a:avLst/>
          </a:prstGeom>
          <a:solidFill>
            <a:schemeClr val="accent2"/>
          </a:solidFill>
          <a:ln/>
        </p:spPr>
      </p:sp>
      <p:sp>
        <p:nvSpPr>
          <p:cNvPr id="12" name="Text 10"/>
          <p:cNvSpPr txBox="1"/>
          <p:nvPr/>
        </p:nvSpPr>
        <p:spPr>
          <a:xfrm>
            <a:off x="7772400" y="3127248"/>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a:ea typeface="+mn-ea"/>
                <a:cs typeface="+mn-cs"/>
              </a:rPr>
              <a:t>2</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3" name="Text 11"/>
          <p:cNvSpPr txBox="1"/>
          <p:nvPr/>
        </p:nvSpPr>
        <p:spPr>
          <a:xfrm>
            <a:off x="8412480" y="3081528"/>
            <a:ext cx="3230575"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Exige los cuatro tipos para forzar la variedad.</a:t>
            </a:r>
          </a:p>
        </p:txBody>
      </p:sp>
      <p:sp>
        <p:nvSpPr>
          <p:cNvPr id="14" name="Razón 3"/>
          <p:cNvSpPr/>
          <p:nvPr/>
        </p:nvSpPr>
        <p:spPr>
          <a:xfrm>
            <a:off x="7772400" y="4151376"/>
            <a:ext cx="457200" cy="457200"/>
          </a:xfrm>
          <a:prstGeom prst="ellipse">
            <a:avLst/>
          </a:prstGeom>
          <a:solidFill>
            <a:schemeClr val="accent2"/>
          </a:solidFill>
          <a:ln/>
        </p:spPr>
      </p:sp>
      <p:sp>
        <p:nvSpPr>
          <p:cNvPr id="15" name="Text 13"/>
          <p:cNvSpPr txBox="1"/>
          <p:nvPr/>
        </p:nvSpPr>
        <p:spPr>
          <a:xfrm>
            <a:off x="7772400" y="4151376"/>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a:ea typeface="+mn-ea"/>
                <a:cs typeface="+mn-cs"/>
              </a:rPr>
              <a:t>3</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6" name="Text 14"/>
          <p:cNvSpPr txBox="1"/>
          <p:nvPr/>
        </p:nvSpPr>
        <p:spPr>
          <a:xfrm>
            <a:off x="8412480" y="4105656"/>
            <a:ext cx="3230575"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La tabla permite comprobar si el movimiento tiene sentido o solo suena bien.</a:t>
            </a:r>
          </a:p>
        </p:txBody>
      </p:sp>
      <p:sp>
        <p:nvSpPr>
          <p:cNvPr id="17" name="Razón 4"/>
          <p:cNvSpPr/>
          <p:nvPr/>
        </p:nvSpPr>
        <p:spPr>
          <a:xfrm>
            <a:off x="7772400" y="5175504"/>
            <a:ext cx="457200" cy="457200"/>
          </a:xfrm>
          <a:prstGeom prst="ellipse">
            <a:avLst/>
          </a:prstGeom>
          <a:solidFill>
            <a:schemeClr val="accent2"/>
          </a:solidFill>
          <a:ln/>
        </p:spPr>
      </p:sp>
      <p:sp>
        <p:nvSpPr>
          <p:cNvPr id="18" name="Text 16"/>
          <p:cNvSpPr txBox="1"/>
          <p:nvPr/>
        </p:nvSpPr>
        <p:spPr>
          <a:xfrm>
            <a:off x="7772400" y="5175504"/>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a:ea typeface="+mn-ea"/>
                <a:cs typeface="+mn-cs"/>
              </a:rPr>
              <a:t>4</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9" name="Text 17"/>
          <p:cNvSpPr txBox="1"/>
          <p:nvPr/>
        </p:nvSpPr>
        <p:spPr>
          <a:xfrm>
            <a:off x="8412480" y="5129784"/>
            <a:ext cx="3230575"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Incluye vuestras provocaciones para que no las repita.</a:t>
            </a:r>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
        <p:nvSpPr>
          <p:cNvPr id="26" name="Dónde escribir"/>
          <p:cNvSpPr/>
          <p:nvPr/>
        </p:nvSpPr>
        <p:spPr>
          <a:xfrm>
            <a:off x="5082235" y="6291072"/>
            <a:ext cx="5844844"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Ejercicio 3  ›  el prompt está debajo de la tabla</a:t>
            </a:r>
          </a:p>
        </p:txBody>
      </p:sp>
      <p:sp>
        <p:nvSpPr>
          <p:cNvPr id="27" name="Dónde escribir: círculo"/>
          <p:cNvSpPr/>
          <p:nvPr/>
        </p:nvSpPr>
        <p:spPr>
          <a:xfrm>
            <a:off x="5137099"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3"/>
          <a:stretch>
            <a:fillRect/>
          </a:stretch>
        </p:blipFill>
        <p:spPr>
          <a:xfrm>
            <a:off x="5210251" y="6409944"/>
            <a:ext cx="146304" cy="14630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Revisad lo que dice la IA</a:t>
            </a:r>
            <a:endParaRPr lang="en-US" sz="3200" dirty="0"/>
          </a:p>
        </p:txBody>
      </p:sp>
      <p:sp>
        <p:nvSpPr>
          <p:cNvPr id="3" name="Etiqueta de tiempo"/>
          <p:cNvSpPr/>
          <p:nvPr/>
        </p:nvSpPr>
        <p:spPr>
          <a:xfrm>
            <a:off x="9187891" y="548640"/>
            <a:ext cx="2455164" cy="457200"/>
          </a:xfrm>
          <a:prstGeom prst="roundRect">
            <a:avLst>
              <a:gd name="adj" fmla="val 50000"/>
            </a:avLst>
          </a:prstGeom>
          <a:solidFill>
            <a:schemeClr val="accent2"/>
          </a:solidFill>
          <a:ln/>
        </p:spPr>
      </p:sp>
      <p:sp>
        <p:nvSpPr>
          <p:cNvPr id="4" name="Text 2"/>
          <p:cNvSpPr txBox="1"/>
          <p:nvPr/>
        </p:nvSpPr>
        <p:spPr>
          <a:xfrm>
            <a:off x="9187891" y="548640"/>
            <a:ext cx="2455164"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Min. 85–92 · Con IA</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Tarjeta"/>
          <p:cNvSpPr/>
          <p:nvPr/>
        </p:nvSpPr>
        <p:spPr>
          <a:xfrm>
            <a:off x="548640" y="1554480"/>
            <a:ext cx="5364328" cy="3291840"/>
          </a:xfrm>
          <a:prstGeom prst="roundRect">
            <a:avLst>
              <a:gd name="adj" fmla="val 4167"/>
            </a:avLst>
          </a:prstGeom>
          <a:solidFill>
            <a:schemeClr val="bg2"/>
          </a:solidFill>
          <a:ln/>
        </p:spPr>
      </p:sp>
      <p:sp>
        <p:nvSpPr>
          <p:cNvPr id="6" name="Pregunta"/>
          <p:cNvSpPr/>
          <p:nvPr/>
        </p:nvSpPr>
        <p:spPr>
          <a:xfrm>
            <a:off x="914400" y="1828800"/>
            <a:ext cx="1097280" cy="1097280"/>
          </a:xfrm>
          <a:prstGeom prst="ellipse">
            <a:avLst/>
          </a:prstGeom>
          <a:solidFill>
            <a:schemeClr val="accent2"/>
          </a:solidFill>
          <a:ln/>
        </p:spPr>
      </p:sp>
      <p:pic>
        <p:nvPicPr>
          <p:cNvPr id="7" name="Image 0" descr="Pregunta"/>
          <p:cNvPicPr>
            <a:picLocks noChangeAspect="1"/>
          </p:cNvPicPr>
          <p:nvPr/>
        </p:nvPicPr>
        <p:blipFill>
          <a:blip r:embed="rId3"/>
          <a:stretch>
            <a:fillRect/>
          </a:stretch>
        </p:blipFill>
        <p:spPr>
          <a:xfrm>
            <a:off x="1177747" y="2092147"/>
            <a:ext cx="570586" cy="570586"/>
          </a:xfrm>
          <a:prstGeom prst="rect">
            <a:avLst/>
          </a:prstGeom>
        </p:spPr>
      </p:pic>
      <p:sp>
        <p:nvSpPr>
          <p:cNvPr id="8" name="Text 5"/>
          <p:cNvSpPr txBox="1"/>
          <p:nvPr/>
        </p:nvSpPr>
        <p:spPr>
          <a:xfrm>
            <a:off x="914400" y="3108960"/>
            <a:ext cx="4632808"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2A44"/>
                </a:solidFill>
                <a:effectLst/>
                <a:uLnTx/>
                <a:uFillTx/>
                <a:latin typeface="Calibri"/>
                <a:ea typeface="+mn-ea"/>
                <a:cs typeface="+mn-cs"/>
              </a:rPr>
              <a:t>¿El principio útil se deduce de verdad de la provocación?</a:t>
            </a:r>
            <a:endParaRPr kumimoji="0" lang="en-US" sz="2200" b="0" i="0" u="none" strike="noStrike" kern="1200" cap="none" spc="0" normalizeH="0" baseline="0" noProof="0" dirty="0">
              <a:ln>
                <a:noFill/>
              </a:ln>
              <a:solidFill>
                <a:srgbClr val="1F2A44"/>
              </a:solidFill>
              <a:effectLst/>
              <a:uLnTx/>
              <a:uFillTx/>
              <a:latin typeface="Calibri"/>
              <a:ea typeface="+mn-ea"/>
              <a:cs typeface="+mn-cs"/>
            </a:endParaRPr>
          </a:p>
        </p:txBody>
      </p:sp>
      <p:sp>
        <p:nvSpPr>
          <p:cNvPr id="9" name="Text 6"/>
          <p:cNvSpPr txBox="1"/>
          <p:nvPr/>
        </p:nvSpPr>
        <p:spPr>
          <a:xfrm>
            <a:off x="914400" y="4069080"/>
            <a:ext cx="4632808"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3A4664"/>
                </a:solidFill>
                <a:effectLst/>
                <a:uLnTx/>
                <a:uFillTx/>
                <a:latin typeface="Calibri"/>
                <a:ea typeface="+mn-ea"/>
                <a:cs typeface="+mn-cs"/>
              </a:rPr>
              <a:t>¿O la IA se ha inventado la conexión?</a:t>
            </a:r>
            <a:endParaRPr kumimoji="0" lang="en-US" sz="17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0" name="Tarjeta"/>
          <p:cNvSpPr/>
          <p:nvPr/>
        </p:nvSpPr>
        <p:spPr>
          <a:xfrm>
            <a:off x="6278728" y="1554480"/>
            <a:ext cx="5364328" cy="3291840"/>
          </a:xfrm>
          <a:prstGeom prst="roundRect">
            <a:avLst>
              <a:gd name="adj" fmla="val 4167"/>
            </a:avLst>
          </a:prstGeom>
          <a:solidFill>
            <a:schemeClr val="bg2"/>
          </a:solidFill>
          <a:ln/>
        </p:spPr>
      </p:sp>
      <p:sp>
        <p:nvSpPr>
          <p:cNvPr id="11" name="Pregunta"/>
          <p:cNvSpPr/>
          <p:nvPr/>
        </p:nvSpPr>
        <p:spPr>
          <a:xfrm>
            <a:off x="6644488" y="1828800"/>
            <a:ext cx="1097280" cy="1097280"/>
          </a:xfrm>
          <a:prstGeom prst="ellipse">
            <a:avLst/>
          </a:prstGeom>
          <a:solidFill>
            <a:schemeClr val="accent2"/>
          </a:solidFill>
          <a:ln/>
        </p:spPr>
      </p:sp>
      <p:pic>
        <p:nvPicPr>
          <p:cNvPr id="12" name="Image 1" descr="Pregunta"/>
          <p:cNvPicPr>
            <a:picLocks noChangeAspect="1"/>
          </p:cNvPicPr>
          <p:nvPr/>
        </p:nvPicPr>
        <p:blipFill>
          <a:blip r:embed="rId4"/>
          <a:stretch>
            <a:fillRect/>
          </a:stretch>
        </p:blipFill>
        <p:spPr>
          <a:xfrm>
            <a:off x="6907835" y="2092147"/>
            <a:ext cx="570586" cy="570586"/>
          </a:xfrm>
          <a:prstGeom prst="rect">
            <a:avLst/>
          </a:prstGeom>
        </p:spPr>
      </p:pic>
      <p:sp>
        <p:nvSpPr>
          <p:cNvPr id="13" name="Text 9"/>
          <p:cNvSpPr txBox="1"/>
          <p:nvPr/>
        </p:nvSpPr>
        <p:spPr>
          <a:xfrm>
            <a:off x="6644488" y="3108960"/>
            <a:ext cx="4632808"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2A44"/>
                </a:solidFill>
                <a:effectLst/>
                <a:uLnTx/>
                <a:uFillTx/>
                <a:latin typeface="Calibri"/>
                <a:ea typeface="+mn-ea"/>
                <a:cs typeface="+mn-cs"/>
              </a:rPr>
              <a:t>¿La idea práctica es aplicable, o es un tópico?</a:t>
            </a:r>
            <a:endParaRPr kumimoji="0" lang="en-US" sz="22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4" name="Text 10"/>
          <p:cNvSpPr txBox="1"/>
          <p:nvPr/>
        </p:nvSpPr>
        <p:spPr>
          <a:xfrm>
            <a:off x="6644488" y="4069080"/>
            <a:ext cx="4632808"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3A4664"/>
                </a:solidFill>
                <a:effectLst/>
                <a:uLnTx/>
                <a:uFillTx/>
                <a:latin typeface="Calibri"/>
                <a:ea typeface="+mn-ea"/>
                <a:cs typeface="+mn-cs"/>
              </a:rPr>
              <a:t>¿Se podría probar en vuestro caso con pocos recursos?</a:t>
            </a:r>
            <a:endParaRPr kumimoji="0" lang="en-US" sz="17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5" name="Text 11"/>
          <p:cNvSpPr txBox="1"/>
          <p:nvPr/>
        </p:nvSpPr>
        <p:spPr>
          <a:xfrm>
            <a:off x="548640" y="5212080"/>
            <a:ext cx="11094415"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D64933"/>
                </a:solidFill>
                <a:effectLst/>
                <a:uLnTx/>
                <a:uFillTx/>
                <a:latin typeface="Calibri"/>
                <a:ea typeface="+mn-ea"/>
                <a:cs typeface="+mn-cs"/>
              </a:rPr>
              <a:t>La IA es muy atrevida provocando. Lo difícil es el movimiento: ahí, vuestro criterio.</a:t>
            </a:r>
            <a:endParaRPr kumimoji="0" lang="en-US" sz="19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
        <p:nvSpPr>
          <p:cNvPr id="26" name="Dónde escribir"/>
          <p:cNvSpPr/>
          <p:nvPr/>
        </p:nvSpPr>
        <p:spPr>
          <a:xfrm>
            <a:off x="5466283" y="6291072"/>
            <a:ext cx="5460796"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Ejercicio 3  ›  Revisión de la tabla de la IA</a:t>
            </a:r>
          </a:p>
        </p:txBody>
      </p:sp>
      <p:sp>
        <p:nvSpPr>
          <p:cNvPr id="27" name="Dónde escribir: círculo"/>
          <p:cNvSpPr/>
          <p:nvPr/>
        </p:nvSpPr>
        <p:spPr>
          <a:xfrm>
            <a:off x="5521147"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5"/>
          <a:stretch>
            <a:fillRect/>
          </a:stretch>
        </p:blipFill>
        <p:spPr>
          <a:xfrm>
            <a:off x="5594299" y="6409944"/>
            <a:ext cx="146304" cy="14630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Elegid vuestras tres mejores propuestas</a:t>
            </a:r>
            <a:endParaRPr lang="en-US" sz="3200" dirty="0"/>
          </a:p>
        </p:txBody>
      </p:sp>
      <p:sp>
        <p:nvSpPr>
          <p:cNvPr id="3" name="Etiqueta de tiempo"/>
          <p:cNvSpPr/>
          <p:nvPr/>
        </p:nvSpPr>
        <p:spPr>
          <a:xfrm>
            <a:off x="8977579" y="548640"/>
            <a:ext cx="2665476" cy="457200"/>
          </a:xfrm>
          <a:prstGeom prst="roundRect">
            <a:avLst>
              <a:gd name="adj" fmla="val 50000"/>
            </a:avLst>
          </a:prstGeom>
          <a:solidFill>
            <a:schemeClr val="accent1"/>
          </a:solidFill>
          <a:ln/>
        </p:spPr>
      </p:sp>
      <p:sp>
        <p:nvSpPr>
          <p:cNvPr id="4" name="Text 2"/>
          <p:cNvSpPr txBox="1"/>
          <p:nvPr/>
        </p:nvSpPr>
        <p:spPr>
          <a:xfrm>
            <a:off x="8977579" y="548640"/>
            <a:ext cx="2665476"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A44"/>
                </a:solidFill>
                <a:effectLst/>
                <a:uLnTx/>
                <a:uFillTx/>
                <a:latin typeface="Calibri"/>
                <a:ea typeface="+mn-ea"/>
                <a:cs typeface="+mn-cs"/>
              </a:rPr>
              <a:t>Min. 92–100 · Parejas</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Text 3"/>
          <p:cNvSpPr txBox="1"/>
          <p:nvPr/>
        </p:nvSpPr>
        <p:spPr>
          <a:xfrm>
            <a:off x="548640" y="1325880"/>
            <a:ext cx="11094415"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3A4664"/>
                </a:solidFill>
                <a:effectLst/>
                <a:uLnTx/>
                <a:uFillTx/>
                <a:latin typeface="Calibri"/>
                <a:ea typeface="+mn-ea"/>
                <a:cs typeface="+mn-cs"/>
              </a:rPr>
              <a:t>Juntad las ideas de SCAMPER y de la provocación, vuestras y de la IA. Justificad cada elección:</a:t>
            </a:r>
            <a:endParaRPr kumimoji="0" lang="en-US" sz="1900" b="0" i="0" u="none" strike="noStrike" kern="1200" cap="none" spc="0" normalizeH="0" baseline="0" noProof="0" dirty="0">
              <a:ln>
                <a:noFill/>
              </a:ln>
              <a:solidFill>
                <a:srgbClr val="1F2A44"/>
              </a:solidFill>
              <a:effectLst/>
              <a:uLnTx/>
              <a:uFillTx/>
              <a:latin typeface="Calibri"/>
              <a:ea typeface="+mn-ea"/>
              <a:cs typeface="+mn-cs"/>
            </a:endParaRPr>
          </a:p>
        </p:txBody>
      </p:sp>
      <p:sp>
        <p:nvSpPr>
          <p:cNvPr id="6" name="Coste"/>
          <p:cNvSpPr/>
          <p:nvPr/>
        </p:nvSpPr>
        <p:spPr>
          <a:xfrm>
            <a:off x="548640" y="2011680"/>
            <a:ext cx="640080" cy="640080"/>
          </a:xfrm>
          <a:prstGeom prst="ellipse">
            <a:avLst/>
          </a:prstGeom>
          <a:solidFill>
            <a:schemeClr val="accent1"/>
          </a:solidFill>
          <a:ln/>
        </p:spPr>
      </p:sp>
      <p:pic>
        <p:nvPicPr>
          <p:cNvPr id="7" name="Image 0" descr="Coste"/>
          <p:cNvPicPr>
            <a:picLocks noChangeAspect="1"/>
          </p:cNvPicPr>
          <p:nvPr/>
        </p:nvPicPr>
        <p:blipFill>
          <a:blip r:embed="rId3"/>
          <a:stretch>
            <a:fillRect/>
          </a:stretch>
        </p:blipFill>
        <p:spPr>
          <a:xfrm>
            <a:off x="702259" y="2165299"/>
            <a:ext cx="332842" cy="332842"/>
          </a:xfrm>
          <a:prstGeom prst="rect">
            <a:avLst/>
          </a:prstGeom>
        </p:spPr>
      </p:pic>
      <p:sp>
        <p:nvSpPr>
          <p:cNvPr id="8" name="Text 5"/>
          <p:cNvSpPr txBox="1"/>
          <p:nvPr/>
        </p:nvSpPr>
        <p:spPr>
          <a:xfrm>
            <a:off x="1325880" y="2011680"/>
            <a:ext cx="2103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F2A44"/>
                </a:solidFill>
                <a:effectLst/>
                <a:uLnTx/>
                <a:uFillTx/>
                <a:latin typeface="Calibri"/>
                <a:ea typeface="+mn-ea"/>
                <a:cs typeface="+mn-cs"/>
              </a:rPr>
              <a:t>Coste</a:t>
            </a:r>
            <a:endParaRPr kumimoji="0" lang="en-US" sz="1900" b="0" i="0" u="none" strike="noStrike" kern="1200" cap="none" spc="0" normalizeH="0" baseline="0" noProof="0" dirty="0">
              <a:ln>
                <a:noFill/>
              </a:ln>
              <a:solidFill>
                <a:srgbClr val="1F2A44"/>
              </a:solidFill>
              <a:effectLst/>
              <a:uLnTx/>
              <a:uFillTx/>
              <a:latin typeface="Calibri"/>
              <a:ea typeface="+mn-ea"/>
              <a:cs typeface="+mn-cs"/>
            </a:endParaRPr>
          </a:p>
        </p:txBody>
      </p:sp>
      <p:sp>
        <p:nvSpPr>
          <p:cNvPr id="9" name="Beneficio"/>
          <p:cNvSpPr/>
          <p:nvPr/>
        </p:nvSpPr>
        <p:spPr>
          <a:xfrm>
            <a:off x="3474720" y="2011680"/>
            <a:ext cx="640080" cy="640080"/>
          </a:xfrm>
          <a:prstGeom prst="ellipse">
            <a:avLst/>
          </a:prstGeom>
          <a:solidFill>
            <a:schemeClr val="accent1"/>
          </a:solidFill>
          <a:ln/>
        </p:spPr>
      </p:sp>
      <p:pic>
        <p:nvPicPr>
          <p:cNvPr id="10" name="Image 1" descr="Beneficio"/>
          <p:cNvPicPr>
            <a:picLocks noChangeAspect="1"/>
          </p:cNvPicPr>
          <p:nvPr/>
        </p:nvPicPr>
        <p:blipFill>
          <a:blip r:embed="rId4"/>
          <a:stretch>
            <a:fillRect/>
          </a:stretch>
        </p:blipFill>
        <p:spPr>
          <a:xfrm>
            <a:off x="3628339" y="2165299"/>
            <a:ext cx="332842" cy="332842"/>
          </a:xfrm>
          <a:prstGeom prst="rect">
            <a:avLst/>
          </a:prstGeom>
        </p:spPr>
      </p:pic>
      <p:sp>
        <p:nvSpPr>
          <p:cNvPr id="11" name="Text 7"/>
          <p:cNvSpPr txBox="1"/>
          <p:nvPr/>
        </p:nvSpPr>
        <p:spPr>
          <a:xfrm>
            <a:off x="4251960" y="2011680"/>
            <a:ext cx="2103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F2A44"/>
                </a:solidFill>
                <a:effectLst/>
                <a:uLnTx/>
                <a:uFillTx/>
                <a:latin typeface="Calibri"/>
                <a:ea typeface="+mn-ea"/>
                <a:cs typeface="+mn-cs"/>
              </a:rPr>
              <a:t>Beneficio</a:t>
            </a:r>
            <a:endParaRPr kumimoji="0" lang="en-US" sz="19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2" name="Facilidad de aplicación"/>
          <p:cNvSpPr/>
          <p:nvPr/>
        </p:nvSpPr>
        <p:spPr>
          <a:xfrm>
            <a:off x="6400800" y="2011680"/>
            <a:ext cx="640080" cy="640080"/>
          </a:xfrm>
          <a:prstGeom prst="ellipse">
            <a:avLst/>
          </a:prstGeom>
          <a:solidFill>
            <a:schemeClr val="accent1"/>
          </a:solidFill>
          <a:ln/>
        </p:spPr>
      </p:sp>
      <p:pic>
        <p:nvPicPr>
          <p:cNvPr id="13" name="Image 2" descr="Facilidad de aplicación"/>
          <p:cNvPicPr>
            <a:picLocks noChangeAspect="1"/>
          </p:cNvPicPr>
          <p:nvPr/>
        </p:nvPicPr>
        <p:blipFill>
          <a:blip r:embed="rId5"/>
          <a:stretch>
            <a:fillRect/>
          </a:stretch>
        </p:blipFill>
        <p:spPr>
          <a:xfrm>
            <a:off x="6554419" y="2165299"/>
            <a:ext cx="332842" cy="332842"/>
          </a:xfrm>
          <a:prstGeom prst="rect">
            <a:avLst/>
          </a:prstGeom>
        </p:spPr>
      </p:pic>
      <p:sp>
        <p:nvSpPr>
          <p:cNvPr id="14" name="Text 9"/>
          <p:cNvSpPr txBox="1"/>
          <p:nvPr/>
        </p:nvSpPr>
        <p:spPr>
          <a:xfrm>
            <a:off x="7178040" y="2011680"/>
            <a:ext cx="2103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F2A44"/>
                </a:solidFill>
                <a:effectLst/>
                <a:uLnTx/>
                <a:uFillTx/>
                <a:latin typeface="Calibri"/>
                <a:ea typeface="+mn-ea"/>
                <a:cs typeface="+mn-cs"/>
              </a:rPr>
              <a:t>Facilidad de aplicación</a:t>
            </a:r>
            <a:endParaRPr kumimoji="0" lang="en-US" sz="1900" b="0" i="0" u="none" strike="noStrike" kern="1200" cap="none" spc="0" normalizeH="0" baseline="0" noProof="0" dirty="0">
              <a:ln>
                <a:noFill/>
              </a:ln>
              <a:solidFill>
                <a:srgbClr val="1F2A44"/>
              </a:solidFill>
              <a:effectLst/>
              <a:uLnTx/>
              <a:uFillTx/>
              <a:latin typeface="Calibri"/>
              <a:ea typeface="+mn-ea"/>
              <a:cs typeface="+mn-cs"/>
            </a:endParaRPr>
          </a:p>
        </p:txBody>
      </p:sp>
      <p:graphicFrame>
        <p:nvGraphicFramePr>
          <p:cNvPr id="16" name="Table 0"/>
          <p:cNvGraphicFramePr>
            <a:graphicFrameLocks noGrp="1"/>
          </p:cNvGraphicFramePr>
          <p:nvPr/>
        </p:nvGraphicFramePr>
        <p:xfrm>
          <a:off x="548640" y="2971800"/>
          <a:ext cx="11094415" cy="2651760"/>
        </p:xfrm>
        <a:graphic>
          <a:graphicData uri="http://schemas.openxmlformats.org/drawingml/2006/table">
            <a:tbl>
              <a:tblPr/>
              <a:tblGrid>
                <a:gridCol w="3840480">
                  <a:extLst>
                    <a:ext uri="{9D8B030D-6E8A-4147-A177-3AD203B41FA5}">
                      <a16:colId xmlns:a16="http://schemas.microsoft.com/office/drawing/2014/main" val="20000"/>
                    </a:ext>
                  </a:extLst>
                </a:gridCol>
                <a:gridCol w="4967935">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57200">
                <a:tc>
                  <a:txBody>
                    <a:bodyPr/>
                    <a:lstStyle/>
                    <a:p>
                      <a:pPr marL="0" indent="0">
                        <a:buNone/>
                      </a:pPr>
                      <a:r>
                        <a:rPr lang="en-US" sz="1600" b="1" dirty="0">
                          <a:solidFill>
                            <a:schemeClr val="bg1"/>
                          </a:solidFill>
                        </a:rPr>
                        <a:t>Propuesta</a:t>
                      </a:r>
                      <a:endParaRPr lang="en-US" sz="16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Por qué la elegimos</a:t>
                      </a:r>
                      <a:endParaRPr lang="en-US" sz="16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Origen</a:t>
                      </a:r>
                      <a:endParaRPr lang="en-US" sz="16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31520">
                <a:tc>
                  <a:txBody>
                    <a:bodyPr/>
                    <a:lstStyle/>
                    <a:p>
                      <a:pPr marL="0" indent="0">
                        <a:buNone/>
                      </a:pPr>
                      <a:r>
                        <a:rPr lang="en-US" sz="1600" dirty="0">
                          <a:solidFill>
                            <a:schemeClr val="tx1"/>
                          </a:solidFill>
                        </a:rPr>
                        <a:t>1.</a:t>
                      </a:r>
                      <a:endParaRPr lang="en-US" sz="16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6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6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600" dirty="0">
                          <a:solidFill>
                            <a:schemeClr val="tx1"/>
                          </a:solidFill>
                        </a:rPr>
                        <a:t>2.</a:t>
                      </a:r>
                      <a:endParaRPr lang="en-US" sz="16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6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6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600" dirty="0">
                          <a:solidFill>
                            <a:schemeClr val="tx1"/>
                          </a:solidFill>
                        </a:rPr>
                        <a:t>3.</a:t>
                      </a:r>
                      <a:endParaRPr lang="en-US" sz="16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6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6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5" name="Text 10"/>
          <p:cNvSpPr txBox="1"/>
          <p:nvPr/>
        </p:nvSpPr>
        <p:spPr>
          <a:xfrm>
            <a:off x="548640" y="5715000"/>
            <a:ext cx="11094415"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3A4664"/>
                </a:solidFill>
                <a:effectLst/>
                <a:uLnTx/>
                <a:uFillTx/>
                <a:latin typeface="Calibri"/>
                <a:ea typeface="+mn-ea"/>
                <a:cs typeface="+mn-cs"/>
              </a:rPr>
              <a:t>Origen: pareja, IA o combinación de las dos.</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
        <p:nvSpPr>
          <p:cNvPr id="26" name="Dónde escribir"/>
          <p:cNvSpPr/>
          <p:nvPr/>
        </p:nvSpPr>
        <p:spPr>
          <a:xfrm>
            <a:off x="5512003" y="6291072"/>
            <a:ext cx="5415076"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2  ›  Las tres mejores propuestas</a:t>
            </a:r>
          </a:p>
        </p:txBody>
      </p:sp>
      <p:sp>
        <p:nvSpPr>
          <p:cNvPr id="27" name="Dónde escribir: círculo"/>
          <p:cNvSpPr/>
          <p:nvPr/>
        </p:nvSpPr>
        <p:spPr>
          <a:xfrm>
            <a:off x="5566867"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6"/>
          <a:stretch>
            <a:fillRect/>
          </a:stretch>
        </p:blipFill>
        <p:spPr>
          <a:xfrm>
            <a:off x="5640019" y="6409944"/>
            <a:ext cx="146304" cy="146304"/>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Puesta en común</a:t>
            </a:r>
            <a:endParaRPr lang="en-US" sz="3200" dirty="0"/>
          </a:p>
        </p:txBody>
      </p:sp>
      <p:sp>
        <p:nvSpPr>
          <p:cNvPr id="3" name="Etiqueta de tiempo"/>
          <p:cNvSpPr/>
          <p:nvPr/>
        </p:nvSpPr>
        <p:spPr>
          <a:xfrm>
            <a:off x="8346643" y="548640"/>
            <a:ext cx="3296412" cy="457200"/>
          </a:xfrm>
          <a:prstGeom prst="roundRect">
            <a:avLst>
              <a:gd name="adj" fmla="val 50000"/>
            </a:avLst>
          </a:prstGeom>
          <a:solidFill>
            <a:schemeClr val="accent1"/>
          </a:solidFill>
          <a:ln/>
        </p:spPr>
      </p:sp>
      <p:sp>
        <p:nvSpPr>
          <p:cNvPr id="4" name="Text 2"/>
          <p:cNvSpPr txBox="1"/>
          <p:nvPr/>
        </p:nvSpPr>
        <p:spPr>
          <a:xfrm>
            <a:off x="8346643" y="548640"/>
            <a:ext cx="329641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A44"/>
                </a:solidFill>
                <a:effectLst/>
                <a:uLnTx/>
                <a:uFillTx/>
                <a:latin typeface="Calibri"/>
                <a:ea typeface="+mn-ea"/>
                <a:cs typeface="+mn-cs"/>
              </a:rPr>
              <a:t>Min. 92–100 · Todo el grupo</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Tarjeta"/>
          <p:cNvSpPr/>
          <p:nvPr/>
        </p:nvSpPr>
        <p:spPr>
          <a:xfrm>
            <a:off x="548640" y="1600200"/>
            <a:ext cx="3454298" cy="3566160"/>
          </a:xfrm>
          <a:prstGeom prst="roundRect">
            <a:avLst>
              <a:gd name="adj" fmla="val 3971"/>
            </a:avLst>
          </a:prstGeom>
          <a:solidFill>
            <a:schemeClr val="bg2"/>
          </a:solidFill>
          <a:ln/>
        </p:spPr>
      </p:sp>
      <p:sp>
        <p:nvSpPr>
          <p:cNvPr id="6" name="Pregunta"/>
          <p:cNvSpPr/>
          <p:nvPr/>
        </p:nvSpPr>
        <p:spPr>
          <a:xfrm>
            <a:off x="1681429" y="1965960"/>
            <a:ext cx="1188720" cy="1188720"/>
          </a:xfrm>
          <a:prstGeom prst="ellipse">
            <a:avLst/>
          </a:prstGeom>
          <a:solidFill>
            <a:schemeClr val="tx2"/>
          </a:solidFill>
          <a:ln/>
        </p:spPr>
      </p:sp>
      <p:pic>
        <p:nvPicPr>
          <p:cNvPr id="7" name="Image 0" descr="Pregunta"/>
          <p:cNvPicPr>
            <a:picLocks noChangeAspect="1"/>
          </p:cNvPicPr>
          <p:nvPr/>
        </p:nvPicPr>
        <p:blipFill>
          <a:blip r:embed="rId3"/>
          <a:stretch>
            <a:fillRect/>
          </a:stretch>
        </p:blipFill>
        <p:spPr>
          <a:xfrm>
            <a:off x="1966722" y="2251253"/>
            <a:ext cx="618134" cy="618134"/>
          </a:xfrm>
          <a:prstGeom prst="rect">
            <a:avLst/>
          </a:prstGeom>
        </p:spPr>
      </p:pic>
      <p:sp>
        <p:nvSpPr>
          <p:cNvPr id="8" name="Text 5"/>
          <p:cNvSpPr txBox="1"/>
          <p:nvPr/>
        </p:nvSpPr>
        <p:spPr>
          <a:xfrm>
            <a:off x="868680" y="3429000"/>
            <a:ext cx="2814218" cy="155448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1F2A44"/>
                </a:solidFill>
                <a:effectLst/>
                <a:uLnTx/>
                <a:uFillTx/>
                <a:latin typeface="Calibri"/>
                <a:ea typeface="+mn-ea"/>
                <a:cs typeface="+mn-cs"/>
              </a:rPr>
              <a:t>¿De dónde han salido las propuestas elegidas: de la pareja, de la IA o de una combinación?</a:t>
            </a:r>
          </a:p>
        </p:txBody>
      </p:sp>
      <p:sp>
        <p:nvSpPr>
          <p:cNvPr id="9" name="Tarjeta"/>
          <p:cNvSpPr/>
          <p:nvPr/>
        </p:nvSpPr>
        <p:spPr>
          <a:xfrm>
            <a:off x="4368698" y="1600200"/>
            <a:ext cx="3454298" cy="3566160"/>
          </a:xfrm>
          <a:prstGeom prst="roundRect">
            <a:avLst>
              <a:gd name="adj" fmla="val 3971"/>
            </a:avLst>
          </a:prstGeom>
          <a:solidFill>
            <a:schemeClr val="bg2"/>
          </a:solidFill>
          <a:ln/>
        </p:spPr>
      </p:sp>
      <p:sp>
        <p:nvSpPr>
          <p:cNvPr id="10" name="Pregunta"/>
          <p:cNvSpPr/>
          <p:nvPr/>
        </p:nvSpPr>
        <p:spPr>
          <a:xfrm>
            <a:off x="5501488" y="1965960"/>
            <a:ext cx="1188720" cy="1188720"/>
          </a:xfrm>
          <a:prstGeom prst="ellipse">
            <a:avLst/>
          </a:prstGeom>
          <a:solidFill>
            <a:schemeClr val="tx2"/>
          </a:solidFill>
          <a:ln/>
        </p:spPr>
      </p:sp>
      <p:pic>
        <p:nvPicPr>
          <p:cNvPr id="11" name="Image 1" descr="Pregunta"/>
          <p:cNvPicPr>
            <a:picLocks noChangeAspect="1"/>
          </p:cNvPicPr>
          <p:nvPr/>
        </p:nvPicPr>
        <p:blipFill>
          <a:blip r:embed="rId4"/>
          <a:stretch>
            <a:fillRect/>
          </a:stretch>
        </p:blipFill>
        <p:spPr>
          <a:xfrm>
            <a:off x="5786780" y="2251253"/>
            <a:ext cx="618134" cy="618134"/>
          </a:xfrm>
          <a:prstGeom prst="rect">
            <a:avLst/>
          </a:prstGeom>
        </p:spPr>
      </p:pic>
      <p:sp>
        <p:nvSpPr>
          <p:cNvPr id="12" name="Text 8"/>
          <p:cNvSpPr txBox="1"/>
          <p:nvPr/>
        </p:nvSpPr>
        <p:spPr>
          <a:xfrm>
            <a:off x="4688738" y="3429000"/>
            <a:ext cx="2814218" cy="155448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1F2A44"/>
                </a:solidFill>
                <a:effectLst/>
                <a:uLnTx/>
                <a:uFillTx/>
                <a:latin typeface="Calibri"/>
                <a:ea typeface="+mn-ea"/>
                <a:cs typeface="+mn-cs"/>
              </a:rPr>
              <a:t>¿Qué técnica ha dado ideas más aplicables?</a:t>
            </a:r>
          </a:p>
        </p:txBody>
      </p:sp>
      <p:sp>
        <p:nvSpPr>
          <p:cNvPr id="13" name="Tarjeta"/>
          <p:cNvSpPr/>
          <p:nvPr/>
        </p:nvSpPr>
        <p:spPr>
          <a:xfrm>
            <a:off x="8188757" y="1600200"/>
            <a:ext cx="3454298" cy="3566160"/>
          </a:xfrm>
          <a:prstGeom prst="roundRect">
            <a:avLst>
              <a:gd name="adj" fmla="val 3971"/>
            </a:avLst>
          </a:prstGeom>
          <a:solidFill>
            <a:schemeClr val="bg2"/>
          </a:solidFill>
          <a:ln/>
        </p:spPr>
      </p:sp>
      <p:sp>
        <p:nvSpPr>
          <p:cNvPr id="14" name="Pregunta"/>
          <p:cNvSpPr/>
          <p:nvPr/>
        </p:nvSpPr>
        <p:spPr>
          <a:xfrm>
            <a:off x="9321546" y="1965960"/>
            <a:ext cx="1188720" cy="1188720"/>
          </a:xfrm>
          <a:prstGeom prst="ellipse">
            <a:avLst/>
          </a:prstGeom>
          <a:solidFill>
            <a:schemeClr val="tx2"/>
          </a:solidFill>
          <a:ln/>
        </p:spPr>
      </p:sp>
      <p:pic>
        <p:nvPicPr>
          <p:cNvPr id="15" name="Image 2" descr="Pregunta"/>
          <p:cNvPicPr>
            <a:picLocks noChangeAspect="1"/>
          </p:cNvPicPr>
          <p:nvPr/>
        </p:nvPicPr>
        <p:blipFill>
          <a:blip r:embed="rId5"/>
          <a:stretch>
            <a:fillRect/>
          </a:stretch>
        </p:blipFill>
        <p:spPr>
          <a:xfrm>
            <a:off x="9606839" y="2251253"/>
            <a:ext cx="618134" cy="618134"/>
          </a:xfrm>
          <a:prstGeom prst="rect">
            <a:avLst/>
          </a:prstGeom>
        </p:spPr>
      </p:pic>
      <p:sp>
        <p:nvSpPr>
          <p:cNvPr id="16" name="Text 11"/>
          <p:cNvSpPr txBox="1"/>
          <p:nvPr/>
        </p:nvSpPr>
        <p:spPr>
          <a:xfrm>
            <a:off x="8508797" y="3429000"/>
            <a:ext cx="2814218" cy="155448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1F2A44"/>
                </a:solidFill>
                <a:effectLst/>
                <a:uLnTx/>
                <a:uFillTx/>
                <a:latin typeface="Calibri"/>
                <a:ea typeface="+mn-ea"/>
                <a:cs typeface="+mn-cs"/>
              </a:rPr>
              <a:t>¿Y más originales?</a:t>
            </a:r>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
        <p:nvSpPr>
          <p:cNvPr id="26" name="Dónde escribir"/>
          <p:cNvSpPr/>
          <p:nvPr/>
        </p:nvSpPr>
        <p:spPr>
          <a:xfrm>
            <a:off x="6229807" y="6291072"/>
            <a:ext cx="4697272"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2  ›  Puesta en común</a:t>
            </a:r>
          </a:p>
        </p:txBody>
      </p:sp>
      <p:sp>
        <p:nvSpPr>
          <p:cNvPr id="27" name="Dónde escribir: círculo"/>
          <p:cNvSpPr/>
          <p:nvPr/>
        </p:nvSpPr>
        <p:spPr>
          <a:xfrm>
            <a:off x="6284671"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6"/>
          <a:stretch>
            <a:fillRect/>
          </a:stretch>
        </p:blipFill>
        <p:spPr>
          <a:xfrm>
            <a:off x="6357823" y="6409944"/>
            <a:ext cx="146304" cy="146304"/>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¿Qué falla aquí?</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A44"/>
                </a:solidFill>
                <a:effectLst/>
                <a:uLnTx/>
                <a:uFillTx/>
                <a:latin typeface="Calibri"/>
                <a:ea typeface="+mn-ea"/>
                <a:cs typeface="+mn-cs"/>
              </a:rPr>
              <a:t>Min. 100–103 · Parejas</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Prompt"/>
          <p:cNvSpPr/>
          <p:nvPr/>
        </p:nvSpPr>
        <p:spPr>
          <a:xfrm>
            <a:off x="548640" y="1463040"/>
            <a:ext cx="5364328" cy="4023360"/>
          </a:xfrm>
          <a:prstGeom prst="roundRect">
            <a:avLst>
              <a:gd name="adj" fmla="val 3409"/>
            </a:avLst>
          </a:prstGeom>
          <a:solidFill>
            <a:schemeClr val="tx1"/>
          </a:solidFill>
          <a:ln/>
        </p:spPr>
      </p:sp>
      <p:sp>
        <p:nvSpPr>
          <p:cNvPr id="6" name="Prompt"/>
          <p:cNvSpPr/>
          <p:nvPr/>
        </p:nvSpPr>
        <p:spPr>
          <a:xfrm>
            <a:off x="868680" y="1691640"/>
            <a:ext cx="640080" cy="640080"/>
          </a:xfrm>
          <a:prstGeom prst="ellipse">
            <a:avLst/>
          </a:prstGeom>
          <a:solidFill>
            <a:schemeClr val="accent1"/>
          </a:solidFill>
          <a:ln/>
        </p:spPr>
      </p:sp>
      <p:pic>
        <p:nvPicPr>
          <p:cNvPr id="7" name="Image 0" descr="Prompt"/>
          <p:cNvPicPr>
            <a:picLocks noChangeAspect="1"/>
          </p:cNvPicPr>
          <p:nvPr/>
        </p:nvPicPr>
        <p:blipFill>
          <a:blip r:embed="rId3"/>
          <a:stretch>
            <a:fillRect/>
          </a:stretch>
        </p:blipFill>
        <p:spPr>
          <a:xfrm>
            <a:off x="1022299" y="1845259"/>
            <a:ext cx="332842" cy="332842"/>
          </a:xfrm>
          <a:prstGeom prst="rect">
            <a:avLst/>
          </a:prstGeom>
        </p:spPr>
      </p:pic>
      <p:sp>
        <p:nvSpPr>
          <p:cNvPr id="8" name="Text 5"/>
          <p:cNvSpPr txBox="1"/>
          <p:nvPr/>
        </p:nvSpPr>
        <p:spPr>
          <a:xfrm>
            <a:off x="1691640" y="1691640"/>
            <a:ext cx="3901288"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4A300"/>
                </a:solidFill>
                <a:effectLst/>
                <a:uLnTx/>
                <a:uFillTx/>
                <a:latin typeface="Calibri"/>
                <a:ea typeface="+mn-ea"/>
                <a:cs typeface="+mn-cs"/>
              </a:rPr>
              <a:t>El prompt</a:t>
            </a:r>
            <a:endParaRPr kumimoji="0" lang="en-US" sz="2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9" name="Text 6"/>
          <p:cNvSpPr txBox="1"/>
          <p:nvPr/>
        </p:nvSpPr>
        <p:spPr>
          <a:xfrm>
            <a:off x="868680" y="2514600"/>
            <a:ext cx="4724248" cy="2743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1" u="none" strike="noStrike" kern="1200" cap="none" spc="0" normalizeH="0" baseline="0" noProof="0" dirty="0">
                <a:ln>
                  <a:noFill/>
                </a:ln>
                <a:solidFill>
                  <a:srgbClr val="FFFFFF"/>
                </a:solidFill>
                <a:effectLst/>
                <a:uLnTx/>
                <a:uFillTx/>
                <a:latin typeface="Calibri"/>
                <a:ea typeface="+mn-ea"/>
                <a:cs typeface="+mn-cs"/>
              </a:rPr>
              <a:t>«Nuestra clienta María García Ruiz, de la calle Mayor 12, falta siempre a sus citas y no paga las anulaciones. ¿Cómo reducimos las ausencias?»</a:t>
            </a:r>
            <a:endParaRPr kumimoji="0" lang="en-US" sz="19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0" name="Tarjeta"/>
          <p:cNvSpPr/>
          <p:nvPr/>
        </p:nvSpPr>
        <p:spPr>
          <a:xfrm>
            <a:off x="6278728" y="1463040"/>
            <a:ext cx="5364328" cy="4023360"/>
          </a:xfrm>
          <a:prstGeom prst="roundRect">
            <a:avLst>
              <a:gd name="adj" fmla="val 3409"/>
            </a:avLst>
          </a:prstGeom>
          <a:solidFill>
            <a:schemeClr val="bg2"/>
          </a:solidFill>
          <a:ln/>
        </p:spPr>
      </p:sp>
      <p:sp>
        <p:nvSpPr>
          <p:cNvPr id="11" name="IA"/>
          <p:cNvSpPr/>
          <p:nvPr/>
        </p:nvSpPr>
        <p:spPr>
          <a:xfrm>
            <a:off x="6598768" y="1691640"/>
            <a:ext cx="640080" cy="640080"/>
          </a:xfrm>
          <a:prstGeom prst="ellipse">
            <a:avLst/>
          </a:prstGeom>
          <a:solidFill>
            <a:schemeClr val="accent2"/>
          </a:solidFill>
          <a:ln/>
        </p:spPr>
      </p:sp>
      <p:pic>
        <p:nvPicPr>
          <p:cNvPr id="12" name="Image 1" descr="IA"/>
          <p:cNvPicPr>
            <a:picLocks noChangeAspect="1"/>
          </p:cNvPicPr>
          <p:nvPr/>
        </p:nvPicPr>
        <p:blipFill>
          <a:blip r:embed="rId4"/>
          <a:stretch>
            <a:fillRect/>
          </a:stretch>
        </p:blipFill>
        <p:spPr>
          <a:xfrm>
            <a:off x="6752387" y="1845259"/>
            <a:ext cx="332842" cy="332842"/>
          </a:xfrm>
          <a:prstGeom prst="rect">
            <a:avLst/>
          </a:prstGeom>
        </p:spPr>
      </p:pic>
      <p:sp>
        <p:nvSpPr>
          <p:cNvPr id="13" name="Text 9"/>
          <p:cNvSpPr txBox="1"/>
          <p:nvPr/>
        </p:nvSpPr>
        <p:spPr>
          <a:xfrm>
            <a:off x="7421728" y="1691640"/>
            <a:ext cx="3901288"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F7C70"/>
                </a:solidFill>
                <a:effectLst/>
                <a:uLnTx/>
                <a:uFillTx/>
                <a:latin typeface="Calibri"/>
                <a:ea typeface="+mn-ea"/>
                <a:cs typeface="+mn-cs"/>
              </a:rPr>
              <a:t>La respuesta de la IA</a:t>
            </a:r>
            <a:endParaRPr kumimoji="0" lang="en-US" sz="2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4" name="Text 10"/>
          <p:cNvSpPr txBox="1"/>
          <p:nvPr/>
        </p:nvSpPr>
        <p:spPr>
          <a:xfrm>
            <a:off x="6598768" y="2514600"/>
            <a:ext cx="4724248" cy="2834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1F2A44"/>
                </a:solidFill>
                <a:effectLst/>
                <a:uLnTx/>
                <a:uFillTx/>
                <a:latin typeface="Calibri"/>
                <a:ea typeface="+mn-ea"/>
                <a:cs typeface="+mn-cs"/>
              </a:rPr>
              <a:t>«Según un estudio de la Universidad de Salamanca de 2023, enviar recordatorios reduce las ausencias un 47 %. Os recomiendo activar la función de recordatorios automáticos gratuita que incluye vuestra aplicación de mensajería. También podéis cobrar una fianza del 50 % al reservar; es la práctica habitual en todas las peluquerías».</a:t>
            </a:r>
            <a:endParaRPr kumimoji="0" lang="en-US" sz="16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5" name="Text 11"/>
          <p:cNvSpPr txBox="1"/>
          <p:nvPr/>
        </p:nvSpPr>
        <p:spPr>
          <a:xfrm>
            <a:off x="548640" y="5669280"/>
            <a:ext cx="11094415"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F2A44"/>
                </a:solidFill>
                <a:effectLst/>
                <a:uLnTx/>
                <a:uFillTx/>
                <a:latin typeface="Calibri"/>
                <a:ea typeface="+mn-ea"/>
                <a:cs typeface="+mn-cs"/>
              </a:rPr>
              <a:t>Por parejas: encontrad todos los problemas.</a:t>
            </a:r>
            <a:endParaRPr kumimoji="0" lang="en-US" sz="19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
        <p:nvSpPr>
          <p:cNvPr id="26" name="Dónde escribir"/>
          <p:cNvSpPr/>
          <p:nvPr/>
        </p:nvSpPr>
        <p:spPr>
          <a:xfrm>
            <a:off x="6305702" y="6291072"/>
            <a:ext cx="4621377"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2  ›  ¿Qué falla aquí?</a:t>
            </a:r>
          </a:p>
        </p:txBody>
      </p:sp>
      <p:sp>
        <p:nvSpPr>
          <p:cNvPr id="27" name="Dónde escribir: círculo"/>
          <p:cNvSpPr/>
          <p:nvPr/>
        </p:nvSpPr>
        <p:spPr>
          <a:xfrm>
            <a:off x="6360566"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5"/>
          <a:stretch>
            <a:fillRect/>
          </a:stretch>
        </p:blipFill>
        <p:spPr>
          <a:xfrm>
            <a:off x="6433718" y="6409944"/>
            <a:ext cx="146304" cy="14630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Cuatro problemas</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A44"/>
                </a:solidFill>
                <a:effectLst/>
                <a:uLnTx/>
                <a:uFillTx/>
                <a:latin typeface="Calibri"/>
                <a:ea typeface="+mn-ea"/>
                <a:cs typeface="+mn-cs"/>
              </a:rPr>
              <a:t>Min. 103–105</a:t>
            </a:r>
            <a:endParaRPr kumimoji="0" lang="en-US" sz="1400" b="0" i="0" u="none" strike="noStrike" kern="1200" cap="none" spc="0" normalizeH="0" baseline="0" noProof="0" dirty="0">
              <a:ln>
                <a:noFill/>
              </a:ln>
              <a:solidFill>
                <a:srgbClr val="1F2A44"/>
              </a:solidFill>
              <a:effectLst/>
              <a:uLnTx/>
              <a:uFillTx/>
              <a:latin typeface="Calibri"/>
              <a:ea typeface="+mn-ea"/>
              <a:cs typeface="+mn-cs"/>
            </a:endParaRPr>
          </a:p>
        </p:txBody>
      </p:sp>
      <p:sp>
        <p:nvSpPr>
          <p:cNvPr id="5" name="Tarjeta"/>
          <p:cNvSpPr/>
          <p:nvPr/>
        </p:nvSpPr>
        <p:spPr>
          <a:xfrm>
            <a:off x="548640" y="1463040"/>
            <a:ext cx="5364328" cy="1737360"/>
          </a:xfrm>
          <a:prstGeom prst="roundRect">
            <a:avLst>
              <a:gd name="adj" fmla="val 7895"/>
            </a:avLst>
          </a:prstGeom>
          <a:solidFill>
            <a:schemeClr val="bg2"/>
          </a:solidFill>
          <a:ln/>
        </p:spPr>
      </p:sp>
      <p:sp>
        <p:nvSpPr>
          <p:cNvPr id="6" name="Datos personales en el prompt"/>
          <p:cNvSpPr/>
          <p:nvPr/>
        </p:nvSpPr>
        <p:spPr>
          <a:xfrm>
            <a:off x="822960" y="1737360"/>
            <a:ext cx="777240" cy="777240"/>
          </a:xfrm>
          <a:prstGeom prst="ellipse">
            <a:avLst/>
          </a:prstGeom>
          <a:solidFill>
            <a:schemeClr val="accent3"/>
          </a:solidFill>
          <a:ln/>
        </p:spPr>
      </p:sp>
      <p:pic>
        <p:nvPicPr>
          <p:cNvPr id="7" name="Image 0" descr="Datos personales en el prompt"/>
          <p:cNvPicPr>
            <a:picLocks noChangeAspect="1"/>
          </p:cNvPicPr>
          <p:nvPr/>
        </p:nvPicPr>
        <p:blipFill>
          <a:blip r:embed="rId3"/>
          <a:stretch>
            <a:fillRect/>
          </a:stretch>
        </p:blipFill>
        <p:spPr>
          <a:xfrm>
            <a:off x="1009498" y="1923898"/>
            <a:ext cx="404165" cy="404165"/>
          </a:xfrm>
          <a:prstGeom prst="rect">
            <a:avLst/>
          </a:prstGeom>
        </p:spPr>
      </p:pic>
      <p:sp>
        <p:nvSpPr>
          <p:cNvPr id="8" name="Text 5"/>
          <p:cNvSpPr txBox="1"/>
          <p:nvPr/>
        </p:nvSpPr>
        <p:spPr>
          <a:xfrm>
            <a:off x="1828800" y="1691640"/>
            <a:ext cx="3855568"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2A44"/>
                </a:solidFill>
                <a:effectLst/>
                <a:uLnTx/>
                <a:uFillTx/>
                <a:latin typeface="Calibri"/>
                <a:ea typeface="+mn-ea"/>
                <a:cs typeface="+mn-cs"/>
              </a:rPr>
              <a:t>Datos personales en el prompt</a:t>
            </a:r>
            <a:endParaRPr kumimoji="0" lang="en-US" sz="2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9" name="Text 6"/>
          <p:cNvSpPr txBox="1"/>
          <p:nvPr/>
        </p:nvSpPr>
        <p:spPr>
          <a:xfrm>
            <a:off x="1828800" y="2194560"/>
            <a:ext cx="3855568"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Nombre, apellidos y dirección de una clienta. Bastaba con «algunos clientes faltan a sus citas».</a:t>
            </a:r>
          </a:p>
        </p:txBody>
      </p:sp>
      <p:sp>
        <p:nvSpPr>
          <p:cNvPr id="10" name="Tarjeta"/>
          <p:cNvSpPr/>
          <p:nvPr/>
        </p:nvSpPr>
        <p:spPr>
          <a:xfrm>
            <a:off x="6278728" y="1463040"/>
            <a:ext cx="5364328" cy="1737360"/>
          </a:xfrm>
          <a:prstGeom prst="roundRect">
            <a:avLst>
              <a:gd name="adj" fmla="val 7895"/>
            </a:avLst>
          </a:prstGeom>
          <a:solidFill>
            <a:schemeClr val="bg2"/>
          </a:solidFill>
          <a:ln/>
        </p:spPr>
      </p:sp>
      <p:sp>
        <p:nvSpPr>
          <p:cNvPr id="11" name="Estudio y cifra sin verificar"/>
          <p:cNvSpPr/>
          <p:nvPr/>
        </p:nvSpPr>
        <p:spPr>
          <a:xfrm>
            <a:off x="6553048" y="1737360"/>
            <a:ext cx="777240" cy="777240"/>
          </a:xfrm>
          <a:prstGeom prst="ellipse">
            <a:avLst/>
          </a:prstGeom>
          <a:solidFill>
            <a:schemeClr val="accent3"/>
          </a:solidFill>
          <a:ln/>
        </p:spPr>
      </p:sp>
      <p:pic>
        <p:nvPicPr>
          <p:cNvPr id="12" name="Image 1" descr="Estudio y cifra sin verificar"/>
          <p:cNvPicPr>
            <a:picLocks noChangeAspect="1"/>
          </p:cNvPicPr>
          <p:nvPr/>
        </p:nvPicPr>
        <p:blipFill>
          <a:blip r:embed="rId4"/>
          <a:stretch>
            <a:fillRect/>
          </a:stretch>
        </p:blipFill>
        <p:spPr>
          <a:xfrm>
            <a:off x="6739585" y="1923898"/>
            <a:ext cx="404165" cy="404165"/>
          </a:xfrm>
          <a:prstGeom prst="rect">
            <a:avLst/>
          </a:prstGeom>
        </p:spPr>
      </p:pic>
      <p:sp>
        <p:nvSpPr>
          <p:cNvPr id="13" name="Text 9"/>
          <p:cNvSpPr txBox="1"/>
          <p:nvPr/>
        </p:nvSpPr>
        <p:spPr>
          <a:xfrm>
            <a:off x="7558888" y="1691640"/>
            <a:ext cx="3855568"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2A44"/>
                </a:solidFill>
                <a:effectLst/>
                <a:uLnTx/>
                <a:uFillTx/>
                <a:latin typeface="Calibri"/>
                <a:ea typeface="+mn-ea"/>
                <a:cs typeface="+mn-cs"/>
              </a:rPr>
              <a:t>Estudio y cifra sin verificar</a:t>
            </a:r>
            <a:endParaRPr kumimoji="0" lang="en-US" sz="2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4" name="Text 10"/>
          <p:cNvSpPr txBox="1"/>
          <p:nvPr/>
        </p:nvSpPr>
        <p:spPr>
          <a:xfrm>
            <a:off x="7558888" y="2194560"/>
            <a:ext cx="3855568"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Pueden ser inventados. Hay que comprobar la fuente antes de usarlos.</a:t>
            </a:r>
          </a:p>
        </p:txBody>
      </p:sp>
      <p:sp>
        <p:nvSpPr>
          <p:cNvPr id="15" name="Tarjeta"/>
          <p:cNvSpPr/>
          <p:nvPr/>
        </p:nvSpPr>
        <p:spPr>
          <a:xfrm>
            <a:off x="548640" y="3429000"/>
            <a:ext cx="5364328" cy="1737360"/>
          </a:xfrm>
          <a:prstGeom prst="roundRect">
            <a:avLst>
              <a:gd name="adj" fmla="val 7895"/>
            </a:avLst>
          </a:prstGeom>
          <a:solidFill>
            <a:schemeClr val="bg2"/>
          </a:solidFill>
          <a:ln/>
        </p:spPr>
      </p:sp>
      <p:sp>
        <p:nvSpPr>
          <p:cNvPr id="16" name="Una función que puede no existir"/>
          <p:cNvSpPr/>
          <p:nvPr/>
        </p:nvSpPr>
        <p:spPr>
          <a:xfrm>
            <a:off x="822960" y="3703320"/>
            <a:ext cx="777240" cy="777240"/>
          </a:xfrm>
          <a:prstGeom prst="ellipse">
            <a:avLst/>
          </a:prstGeom>
          <a:solidFill>
            <a:schemeClr val="accent3"/>
          </a:solidFill>
          <a:ln/>
        </p:spPr>
      </p:sp>
      <p:pic>
        <p:nvPicPr>
          <p:cNvPr id="17" name="Image 2" descr="Una función que puede no existir"/>
          <p:cNvPicPr>
            <a:picLocks noChangeAspect="1"/>
          </p:cNvPicPr>
          <p:nvPr/>
        </p:nvPicPr>
        <p:blipFill>
          <a:blip r:embed="rId5"/>
          <a:stretch>
            <a:fillRect/>
          </a:stretch>
        </p:blipFill>
        <p:spPr>
          <a:xfrm>
            <a:off x="1009498" y="3889858"/>
            <a:ext cx="404165" cy="404165"/>
          </a:xfrm>
          <a:prstGeom prst="rect">
            <a:avLst/>
          </a:prstGeom>
        </p:spPr>
      </p:pic>
      <p:sp>
        <p:nvSpPr>
          <p:cNvPr id="18" name="Text 13"/>
          <p:cNvSpPr txBox="1"/>
          <p:nvPr/>
        </p:nvSpPr>
        <p:spPr>
          <a:xfrm>
            <a:off x="1828800" y="3657600"/>
            <a:ext cx="3855568"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2A44"/>
                </a:solidFill>
                <a:effectLst/>
                <a:uLnTx/>
                <a:uFillTx/>
                <a:latin typeface="Calibri"/>
                <a:ea typeface="+mn-ea"/>
                <a:cs typeface="+mn-cs"/>
              </a:rPr>
              <a:t>Una función que puede no existir</a:t>
            </a:r>
            <a:endParaRPr kumimoji="0" lang="en-US" sz="2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19" name="Text 14"/>
          <p:cNvSpPr txBox="1"/>
          <p:nvPr/>
        </p:nvSpPr>
        <p:spPr>
          <a:xfrm>
            <a:off x="1828800" y="4160520"/>
            <a:ext cx="3855568"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Antes de proponerla, comprobar que la herramienta la tiene y que es gratuita.</a:t>
            </a:r>
          </a:p>
        </p:txBody>
      </p:sp>
      <p:sp>
        <p:nvSpPr>
          <p:cNvPr id="20" name="Tarjeta"/>
          <p:cNvSpPr/>
          <p:nvPr/>
        </p:nvSpPr>
        <p:spPr>
          <a:xfrm>
            <a:off x="6278728" y="3429000"/>
            <a:ext cx="5364328" cy="1737360"/>
          </a:xfrm>
          <a:prstGeom prst="roundRect">
            <a:avLst>
              <a:gd name="adj" fmla="val 7895"/>
            </a:avLst>
          </a:prstGeom>
          <a:solidFill>
            <a:schemeClr val="bg2"/>
          </a:solidFill>
          <a:ln/>
        </p:spPr>
      </p:sp>
      <p:sp>
        <p:nvSpPr>
          <p:cNvPr id="21" name="Una generalización falsa"/>
          <p:cNvSpPr/>
          <p:nvPr/>
        </p:nvSpPr>
        <p:spPr>
          <a:xfrm>
            <a:off x="6553048" y="3703320"/>
            <a:ext cx="777240" cy="777240"/>
          </a:xfrm>
          <a:prstGeom prst="ellipse">
            <a:avLst/>
          </a:prstGeom>
          <a:solidFill>
            <a:schemeClr val="accent3"/>
          </a:solidFill>
          <a:ln/>
        </p:spPr>
      </p:sp>
      <p:pic>
        <p:nvPicPr>
          <p:cNvPr id="22" name="Image 3" descr="Una generalización falsa"/>
          <p:cNvPicPr>
            <a:picLocks noChangeAspect="1"/>
          </p:cNvPicPr>
          <p:nvPr/>
        </p:nvPicPr>
        <p:blipFill>
          <a:blip r:embed="rId6"/>
          <a:stretch>
            <a:fillRect/>
          </a:stretch>
        </p:blipFill>
        <p:spPr>
          <a:xfrm>
            <a:off x="6739585" y="3889858"/>
            <a:ext cx="404165" cy="404165"/>
          </a:xfrm>
          <a:prstGeom prst="rect">
            <a:avLst/>
          </a:prstGeom>
        </p:spPr>
      </p:pic>
      <p:sp>
        <p:nvSpPr>
          <p:cNvPr id="23" name="Text 17"/>
          <p:cNvSpPr txBox="1"/>
          <p:nvPr/>
        </p:nvSpPr>
        <p:spPr>
          <a:xfrm>
            <a:off x="7558888" y="3657600"/>
            <a:ext cx="3855568"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2A44"/>
                </a:solidFill>
                <a:effectLst/>
                <a:uLnTx/>
                <a:uFillTx/>
                <a:latin typeface="Calibri"/>
                <a:ea typeface="+mn-ea"/>
                <a:cs typeface="+mn-cs"/>
              </a:rPr>
              <a:t>Una generalización falsa</a:t>
            </a:r>
            <a:endParaRPr kumimoji="0" lang="en-US" sz="2000" b="0" i="0" u="none" strike="noStrike" kern="1200" cap="none" spc="0" normalizeH="0" baseline="0" noProof="0" dirty="0">
              <a:ln>
                <a:noFill/>
              </a:ln>
              <a:solidFill>
                <a:srgbClr val="1F2A44"/>
              </a:solidFill>
              <a:effectLst/>
              <a:uLnTx/>
              <a:uFillTx/>
              <a:latin typeface="Calibri"/>
              <a:ea typeface="+mn-ea"/>
              <a:cs typeface="+mn-cs"/>
            </a:endParaRPr>
          </a:p>
        </p:txBody>
      </p:sp>
      <p:sp>
        <p:nvSpPr>
          <p:cNvPr id="24" name="Text 18"/>
          <p:cNvSpPr txBox="1"/>
          <p:nvPr/>
        </p:nvSpPr>
        <p:spPr>
          <a:xfrm>
            <a:off x="7558888" y="4160520"/>
            <a:ext cx="3855568"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2A44"/>
                </a:solidFill>
                <a:effectLst/>
                <a:uLnTx/>
                <a:uFillTx/>
                <a:latin typeface="Calibri"/>
                <a:ea typeface="+mn-ea"/>
                <a:cs typeface="+mn-cs"/>
              </a:rPr>
              <a:t>«La práctica habitual en todas las peluquerías» no está demostrado, y una fianza puede ahuyentar clientes.</a:t>
            </a:r>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97280" y="109728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4A300"/>
                </a:solidFill>
                <a:effectLst/>
                <a:uLnTx/>
                <a:uFillTx/>
                <a:latin typeface="Calibri"/>
                <a:ea typeface="+mn-ea"/>
                <a:cs typeface="+mn-cs"/>
              </a:rPr>
              <a:t>Idea clave del bloque 2</a:t>
            </a:r>
            <a:endParaRPr kumimoji="0" lang="en-US" sz="1800" b="0" i="0" u="none" strike="noStrike" kern="1200" cap="none" spc="0" normalizeH="0" baseline="0" noProof="0" dirty="0">
              <a:ln>
                <a:noFill/>
              </a:ln>
              <a:solidFill>
                <a:srgbClr val="1F2A44"/>
              </a:solidFill>
              <a:effectLst/>
              <a:uLnTx/>
              <a:uFillTx/>
              <a:latin typeface="Calibri"/>
              <a:ea typeface="+mn-ea"/>
              <a:cs typeface="+mn-cs"/>
            </a:endParaRPr>
          </a:p>
        </p:txBody>
      </p:sp>
      <p:sp>
        <p:nvSpPr>
          <p:cNvPr id="3" name="Text 0"/>
          <p:cNvSpPr>
            <a:spLocks noGrp="1"/>
          </p:cNvSpPr>
          <p:nvPr>
            <p:ph type="body" idx="100" hasCustomPrompt="1"/>
          </p:nvPr>
        </p:nvSpPr>
        <p:spPr>
          <a:xfrm>
            <a:off x="1097280" y="1554480"/>
            <a:ext cx="9966960" cy="3108960"/>
          </a:xfrm>
          <a:prstGeom prst="rect">
            <a:avLst/>
          </a:prstGeom>
          <a:noFill/>
          <a:ln/>
        </p:spPr>
        <p:txBody>
          <a:bodyPr wrap="square" lIns="0" tIns="0" rIns="0" bIns="0" rtlCol="0" anchor="ctr"/>
          <a:lstStyle/>
          <a:p>
            <a:pPr marL="0" indent="0">
              <a:buNone/>
            </a:pPr>
            <a:r>
              <a:rPr lang="en-US" sz="3400" dirty="0">
                <a:solidFill>
                  <a:schemeClr val="bg1"/>
                </a:solidFill>
              </a:rPr>
              <a:t>La IA puede inventar funciones, cifras o estudios: cada idea se revisa antes de aceptarla.</a:t>
            </a:r>
            <a:endParaRPr lang="en-US" sz="3400" dirty="0"/>
          </a:p>
          <a:p>
            <a:pPr marL="0" indent="0">
              <a:buNone/>
            </a:pPr>
            <a:r>
              <a:rPr lang="en-US" sz="3400" b="1" dirty="0">
                <a:solidFill>
                  <a:schemeClr val="accent1"/>
                </a:solidFill>
              </a:rPr>
              <a:t>En los prompts se describe el proceso, nunca a las personas.</a:t>
            </a:r>
            <a:endParaRPr lang="en-US" sz="3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0" i="0" u="none" strike="noStrike" kern="1200" cap="none" spc="0" normalizeH="0" baseline="0" noProof="0">
                <a:ln>
                  <a:noFill/>
                </a:ln>
                <a:solidFill>
                  <a:srgbClr val="8A94A6"/>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1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737360"/>
            <a:ext cx="2194560" cy="2743200"/>
          </a:xfrm>
          <a:prstGeom prst="rect">
            <a:avLst/>
          </a:prstGeom>
          <a:noFill/>
          <a:ln/>
        </p:spPr>
        <p:txBody>
          <a:bodyPr wrap="square" lIns="0" tIns="0" rIns="0" bIns="0" rtlCol="0" anchor="ctr"/>
          <a:lstStyle/>
          <a:p>
            <a:pPr marL="0" indent="0" algn="ctr">
              <a:buNone/>
            </a:pPr>
            <a:r>
              <a:rPr lang="en-US" sz="20000" b="1" dirty="0">
                <a:solidFill>
                  <a:schemeClr val="accent1"/>
                </a:solidFill>
                <a:latin typeface="Arial" pitchFamily="34" charset="0"/>
                <a:ea typeface="Arial" pitchFamily="34" charset="-122"/>
                <a:cs typeface="Arial" pitchFamily="34" charset="-120"/>
              </a:rPr>
              <a:t>3</a:t>
            </a:r>
            <a:endParaRPr lang="en-US" sz="20000" dirty="0"/>
          </a:p>
        </p:txBody>
      </p:sp>
      <p:sp>
        <p:nvSpPr>
          <p:cNvPr id="3" name="Text 0"/>
          <p:cNvSpPr>
            <a:spLocks noGrp="1"/>
          </p:cNvSpPr>
          <p:nvPr>
            <p:ph type="title" idx="100" hasCustomPrompt="1"/>
          </p:nvPr>
        </p:nvSpPr>
        <p:spPr>
          <a:xfrm>
            <a:off x="3108960" y="2103120"/>
            <a:ext cx="8503920" cy="1463040"/>
          </a:xfrm>
          <a:prstGeom prst="rect">
            <a:avLst/>
          </a:prstGeom>
          <a:noFill/>
          <a:ln/>
        </p:spPr>
        <p:txBody>
          <a:bodyPr wrap="square" lIns="0" tIns="0" rIns="0" bIns="0" rtlCol="0" anchor="b"/>
          <a:lstStyle/>
          <a:p>
            <a:pPr marL="0" indent="0" algn="l">
              <a:buNone/>
            </a:pPr>
            <a:r>
              <a:rPr lang="en-US" sz="4000" b="1" dirty="0">
                <a:solidFill>
                  <a:schemeClr val="bg1"/>
                </a:solidFill>
              </a:rPr>
              <a:t>Comparar, decidir y documentar</a:t>
            </a:r>
            <a:endParaRPr lang="en-US" sz="4000" dirty="0"/>
          </a:p>
        </p:txBody>
      </p:sp>
      <p:sp>
        <p:nvSpPr>
          <p:cNvPr id="4" name="Text 0"/>
          <p:cNvSpPr>
            <a:spLocks noGrp="1"/>
          </p:cNvSpPr>
          <p:nvPr>
            <p:ph type="body" idx="101" hasCustomPrompt="1"/>
          </p:nvPr>
        </p:nvSpPr>
        <p:spPr>
          <a:xfrm>
            <a:off x="3108960" y="3749040"/>
            <a:ext cx="8503920" cy="731520"/>
          </a:xfrm>
          <a:prstGeom prst="rect">
            <a:avLst/>
          </a:prstGeom>
          <a:noFill/>
          <a:ln/>
        </p:spPr>
        <p:txBody>
          <a:bodyPr wrap="square" lIns="0" tIns="0" rIns="0" bIns="0" rtlCol="0" anchor="t"/>
          <a:lstStyle/>
          <a:p>
            <a:pPr marL="0" indent="0">
              <a:buNone/>
            </a:pPr>
            <a:r>
              <a:rPr lang="en-US" sz="2200" dirty="0">
                <a:solidFill>
                  <a:schemeClr val="accent1"/>
                </a:solidFill>
              </a:rPr>
              <a:t>60 minutos · por parejas</a:t>
            </a:r>
            <a:endParaRPr lang="en-US" sz="2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Qué vamos a hacer en este bloque</a:t>
            </a:r>
            <a:endParaRPr lang="en-US" sz="3200" dirty="0"/>
          </a:p>
        </p:txBody>
      </p:sp>
      <p:sp>
        <p:nvSpPr>
          <p:cNvPr id="3" name="Shape 1"/>
          <p:cNvSpPr/>
          <p:nvPr/>
        </p:nvSpPr>
        <p:spPr>
          <a:xfrm>
            <a:off x="1658082" y="2377440"/>
            <a:ext cx="8875532" cy="0"/>
          </a:xfrm>
          <a:prstGeom prst="line">
            <a:avLst/>
          </a:prstGeom>
          <a:noFill/>
          <a:ln w="50800">
            <a:solidFill>
              <a:srgbClr val="F2F4F8"/>
            </a:solidFill>
            <a:prstDash val="solid"/>
          </a:ln>
        </p:spPr>
      </p:sp>
      <p:sp>
        <p:nvSpPr>
          <p:cNvPr id="4" name="Paso 1"/>
          <p:cNvSpPr/>
          <p:nvPr/>
        </p:nvSpPr>
        <p:spPr>
          <a:xfrm>
            <a:off x="1040862" y="1760220"/>
            <a:ext cx="1234440" cy="1234440"/>
          </a:xfrm>
          <a:prstGeom prst="ellipse">
            <a:avLst/>
          </a:prstGeom>
          <a:solidFill>
            <a:schemeClr val="tx2"/>
          </a:solidFill>
          <a:ln/>
        </p:spPr>
      </p:sp>
      <p:sp>
        <p:nvSpPr>
          <p:cNvPr id="5" name="Text 3"/>
          <p:cNvSpPr txBox="1"/>
          <p:nvPr/>
        </p:nvSpPr>
        <p:spPr>
          <a:xfrm>
            <a:off x="1040862" y="1760220"/>
            <a:ext cx="1234440" cy="1234440"/>
          </a:xfrm>
          <a:prstGeom prst="rect">
            <a:avLst/>
          </a:prstGeom>
          <a:noFill/>
          <a:ln/>
        </p:spPr>
        <p:txBody>
          <a:bodyPr wrap="square" lIns="0" tIns="0" rIns="0" bIns="0" rtlCol="0" anchor="ctr"/>
          <a:lstStyle/>
          <a:p>
            <a:pPr marL="0" indent="0" algn="ctr">
              <a:buNone/>
            </a:pPr>
            <a:r>
              <a:rPr lang="en-US" sz="1700" b="1" dirty="0">
                <a:solidFill>
                  <a:schemeClr val="bg1"/>
                </a:solidFill>
              </a:rPr>
              <a:t>105–113</a:t>
            </a:r>
            <a:endParaRPr lang="en-US" sz="1700" dirty="0"/>
          </a:p>
        </p:txBody>
      </p:sp>
      <p:sp>
        <p:nvSpPr>
          <p:cNvPr id="6" name="Text 4"/>
          <p:cNvSpPr txBox="1"/>
          <p:nvPr/>
        </p:nvSpPr>
        <p:spPr>
          <a:xfrm>
            <a:off x="640080"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La matriz de decisión</a:t>
            </a:r>
            <a:endParaRPr lang="en-US" sz="1700" dirty="0"/>
          </a:p>
        </p:txBody>
      </p:sp>
      <p:sp>
        <p:nvSpPr>
          <p:cNvPr id="7" name="Paso 2"/>
          <p:cNvSpPr/>
          <p:nvPr/>
        </p:nvSpPr>
        <p:spPr>
          <a:xfrm>
            <a:off x="3259745" y="1760220"/>
            <a:ext cx="1234440" cy="1234440"/>
          </a:xfrm>
          <a:prstGeom prst="ellipse">
            <a:avLst/>
          </a:prstGeom>
          <a:solidFill>
            <a:schemeClr val="accent1"/>
          </a:solidFill>
          <a:ln/>
        </p:spPr>
      </p:sp>
      <p:sp>
        <p:nvSpPr>
          <p:cNvPr id="8" name="Text 6"/>
          <p:cNvSpPr txBox="1"/>
          <p:nvPr/>
        </p:nvSpPr>
        <p:spPr>
          <a:xfrm>
            <a:off x="3259745" y="1760220"/>
            <a:ext cx="1234440" cy="1234440"/>
          </a:xfrm>
          <a:prstGeom prst="rect">
            <a:avLst/>
          </a:prstGeom>
          <a:noFill/>
          <a:ln/>
        </p:spPr>
        <p:txBody>
          <a:bodyPr wrap="square" lIns="0" tIns="0" rIns="0" bIns="0" rtlCol="0" anchor="ctr"/>
          <a:lstStyle/>
          <a:p>
            <a:pPr marL="0" indent="0" algn="ctr">
              <a:buNone/>
            </a:pPr>
            <a:r>
              <a:rPr lang="en-US" sz="1700" b="1" dirty="0">
                <a:solidFill>
                  <a:schemeClr val="tx1"/>
                </a:solidFill>
              </a:rPr>
              <a:t>113–140</a:t>
            </a:r>
            <a:endParaRPr lang="en-US" sz="1700" dirty="0"/>
          </a:p>
        </p:txBody>
      </p:sp>
      <p:sp>
        <p:nvSpPr>
          <p:cNvPr id="9" name="Text 7"/>
          <p:cNvSpPr txBox="1"/>
          <p:nvPr/>
        </p:nvSpPr>
        <p:spPr>
          <a:xfrm>
            <a:off x="2858963"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Ejercicio 4: elegir la ganadora</a:t>
            </a:r>
            <a:endParaRPr lang="en-US" sz="1700" dirty="0"/>
          </a:p>
        </p:txBody>
      </p:sp>
      <p:sp>
        <p:nvSpPr>
          <p:cNvPr id="10" name="Paso 3"/>
          <p:cNvSpPr/>
          <p:nvPr/>
        </p:nvSpPr>
        <p:spPr>
          <a:xfrm>
            <a:off x="5478628" y="1760220"/>
            <a:ext cx="1234440" cy="1234440"/>
          </a:xfrm>
          <a:prstGeom prst="ellipse">
            <a:avLst/>
          </a:prstGeom>
          <a:solidFill>
            <a:schemeClr val="tx2"/>
          </a:solidFill>
          <a:ln/>
        </p:spPr>
      </p:sp>
      <p:sp>
        <p:nvSpPr>
          <p:cNvPr id="11" name="Text 9"/>
          <p:cNvSpPr txBox="1"/>
          <p:nvPr/>
        </p:nvSpPr>
        <p:spPr>
          <a:xfrm>
            <a:off x="5478628" y="1760220"/>
            <a:ext cx="1234440" cy="1234440"/>
          </a:xfrm>
          <a:prstGeom prst="rect">
            <a:avLst/>
          </a:prstGeom>
          <a:noFill/>
          <a:ln/>
        </p:spPr>
        <p:txBody>
          <a:bodyPr wrap="square" lIns="0" tIns="0" rIns="0" bIns="0" rtlCol="0" anchor="ctr"/>
          <a:lstStyle/>
          <a:p>
            <a:pPr marL="0" indent="0" algn="ctr">
              <a:buNone/>
            </a:pPr>
            <a:r>
              <a:rPr lang="en-US" sz="1700" b="1" dirty="0">
                <a:solidFill>
                  <a:schemeClr val="bg1"/>
                </a:solidFill>
              </a:rPr>
              <a:t>140–145</a:t>
            </a:r>
            <a:endParaRPr lang="en-US" sz="1700" dirty="0"/>
          </a:p>
        </p:txBody>
      </p:sp>
      <p:sp>
        <p:nvSpPr>
          <p:cNvPr id="12" name="Text 10"/>
          <p:cNvSpPr txBox="1"/>
          <p:nvPr/>
        </p:nvSpPr>
        <p:spPr>
          <a:xfrm>
            <a:off x="5077846"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Una propuesta en una página</a:t>
            </a:r>
            <a:endParaRPr lang="en-US" sz="1700" dirty="0"/>
          </a:p>
        </p:txBody>
      </p:sp>
      <p:sp>
        <p:nvSpPr>
          <p:cNvPr id="13" name="Paso 4"/>
          <p:cNvSpPr/>
          <p:nvPr/>
        </p:nvSpPr>
        <p:spPr>
          <a:xfrm>
            <a:off x="7697511" y="1760220"/>
            <a:ext cx="1234440" cy="1234440"/>
          </a:xfrm>
          <a:prstGeom prst="ellipse">
            <a:avLst/>
          </a:prstGeom>
          <a:solidFill>
            <a:schemeClr val="accent2"/>
          </a:solidFill>
          <a:ln/>
        </p:spPr>
      </p:sp>
      <p:sp>
        <p:nvSpPr>
          <p:cNvPr id="14" name="Text 12"/>
          <p:cNvSpPr txBox="1"/>
          <p:nvPr/>
        </p:nvSpPr>
        <p:spPr>
          <a:xfrm>
            <a:off x="7697511" y="1760220"/>
            <a:ext cx="1234440" cy="1234440"/>
          </a:xfrm>
          <a:prstGeom prst="rect">
            <a:avLst/>
          </a:prstGeom>
          <a:noFill/>
          <a:ln/>
        </p:spPr>
        <p:txBody>
          <a:bodyPr wrap="square" lIns="0" tIns="0" rIns="0" bIns="0" rtlCol="0" anchor="ctr"/>
          <a:lstStyle/>
          <a:p>
            <a:pPr marL="0" indent="0" algn="ctr">
              <a:buNone/>
            </a:pPr>
            <a:r>
              <a:rPr lang="en-US" sz="1700" b="1" dirty="0">
                <a:solidFill>
                  <a:schemeClr val="bg1"/>
                </a:solidFill>
              </a:rPr>
              <a:t>145–160</a:t>
            </a:r>
            <a:endParaRPr lang="en-US" sz="1700" dirty="0"/>
          </a:p>
        </p:txBody>
      </p:sp>
      <p:sp>
        <p:nvSpPr>
          <p:cNvPr id="15" name="Text 13"/>
          <p:cNvSpPr txBox="1"/>
          <p:nvPr/>
        </p:nvSpPr>
        <p:spPr>
          <a:xfrm>
            <a:off x="7296729"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Ficha exprés de la ganadora</a:t>
            </a:r>
            <a:endParaRPr lang="en-US" sz="1700" dirty="0"/>
          </a:p>
        </p:txBody>
      </p:sp>
      <p:sp>
        <p:nvSpPr>
          <p:cNvPr id="16" name="Paso 5"/>
          <p:cNvSpPr/>
          <p:nvPr/>
        </p:nvSpPr>
        <p:spPr>
          <a:xfrm>
            <a:off x="9916394" y="1760220"/>
            <a:ext cx="1234440" cy="1234440"/>
          </a:xfrm>
          <a:prstGeom prst="ellipse">
            <a:avLst/>
          </a:prstGeom>
          <a:solidFill>
            <a:schemeClr val="tx2"/>
          </a:solidFill>
          <a:ln/>
        </p:spPr>
      </p:sp>
      <p:sp>
        <p:nvSpPr>
          <p:cNvPr id="17" name="Text 15"/>
          <p:cNvSpPr txBox="1"/>
          <p:nvPr/>
        </p:nvSpPr>
        <p:spPr>
          <a:xfrm>
            <a:off x="9916394" y="1760220"/>
            <a:ext cx="1234440" cy="1234440"/>
          </a:xfrm>
          <a:prstGeom prst="rect">
            <a:avLst/>
          </a:prstGeom>
          <a:noFill/>
          <a:ln/>
        </p:spPr>
        <p:txBody>
          <a:bodyPr wrap="square" lIns="0" tIns="0" rIns="0" bIns="0" rtlCol="0" anchor="ctr"/>
          <a:lstStyle/>
          <a:p>
            <a:pPr marL="0" indent="0" algn="ctr">
              <a:buNone/>
            </a:pPr>
            <a:r>
              <a:rPr lang="en-US" sz="1700" b="1" dirty="0">
                <a:solidFill>
                  <a:schemeClr val="bg1"/>
                </a:solidFill>
              </a:rPr>
              <a:t>160–165</a:t>
            </a:r>
            <a:endParaRPr lang="en-US" sz="1700" dirty="0"/>
          </a:p>
        </p:txBody>
      </p:sp>
      <p:sp>
        <p:nvSpPr>
          <p:cNvPr id="18" name="Text 16"/>
          <p:cNvSpPr txBox="1"/>
          <p:nvPr/>
        </p:nvSpPr>
        <p:spPr>
          <a:xfrm>
            <a:off x="9515612"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Síntesis</a:t>
            </a:r>
            <a:endParaRPr lang="en-US" sz="1700" dirty="0"/>
          </a:p>
        </p:txBody>
      </p:sp>
      <p:sp>
        <p:nvSpPr>
          <p:cNvPr id="19" name="Personas"/>
          <p:cNvSpPr/>
          <p:nvPr/>
        </p:nvSpPr>
        <p:spPr>
          <a:xfrm>
            <a:off x="548640" y="4846320"/>
            <a:ext cx="548640" cy="548640"/>
          </a:xfrm>
          <a:prstGeom prst="ellipse">
            <a:avLst/>
          </a:prstGeom>
          <a:solidFill>
            <a:schemeClr val="accent1"/>
          </a:solidFill>
          <a:ln/>
        </p:spPr>
      </p:sp>
      <p:pic>
        <p:nvPicPr>
          <p:cNvPr id="20" name="Image 0" descr="Personas"/>
          <p:cNvPicPr>
            <a:picLocks noChangeAspect="1"/>
          </p:cNvPicPr>
          <p:nvPr/>
        </p:nvPicPr>
        <p:blipFill>
          <a:blip r:embed="rId3"/>
          <a:stretch>
            <a:fillRect/>
          </a:stretch>
        </p:blipFill>
        <p:spPr>
          <a:xfrm>
            <a:off x="680314" y="4977994"/>
            <a:ext cx="285293" cy="285293"/>
          </a:xfrm>
          <a:prstGeom prst="rect">
            <a:avLst/>
          </a:prstGeom>
        </p:spPr>
      </p:pic>
      <p:sp>
        <p:nvSpPr>
          <p:cNvPr id="21" name="Text 18"/>
          <p:cNvSpPr txBox="1"/>
          <p:nvPr/>
        </p:nvSpPr>
        <p:spPr>
          <a:xfrm>
            <a:off x="1234440" y="4846320"/>
            <a:ext cx="3840480" cy="548640"/>
          </a:xfrm>
          <a:prstGeom prst="rect">
            <a:avLst/>
          </a:prstGeom>
          <a:noFill/>
          <a:ln/>
        </p:spPr>
        <p:txBody>
          <a:bodyPr wrap="square" lIns="0" tIns="0" rIns="0" bIns="0" rtlCol="0" anchor="ctr"/>
          <a:lstStyle/>
          <a:p>
            <a:pPr marL="0" indent="0">
              <a:buNone/>
            </a:pPr>
            <a:r>
              <a:rPr lang="en-US" sz="1600" dirty="0">
                <a:solidFill>
                  <a:schemeClr val="tx1"/>
                </a:solidFill>
              </a:rPr>
              <a:t>Ámbar: piensa la pareja</a:t>
            </a:r>
            <a:endParaRPr lang="en-US" sz="1600" dirty="0"/>
          </a:p>
        </p:txBody>
      </p:sp>
      <p:sp>
        <p:nvSpPr>
          <p:cNvPr id="22" name="IA"/>
          <p:cNvSpPr/>
          <p:nvPr/>
        </p:nvSpPr>
        <p:spPr>
          <a:xfrm>
            <a:off x="5394960" y="4846320"/>
            <a:ext cx="548640" cy="548640"/>
          </a:xfrm>
          <a:prstGeom prst="ellipse">
            <a:avLst/>
          </a:prstGeom>
          <a:solidFill>
            <a:schemeClr val="accent2"/>
          </a:solidFill>
          <a:ln/>
        </p:spPr>
      </p:sp>
      <p:pic>
        <p:nvPicPr>
          <p:cNvPr id="23" name="Image 1" descr="IA"/>
          <p:cNvPicPr>
            <a:picLocks noChangeAspect="1"/>
          </p:cNvPicPr>
          <p:nvPr/>
        </p:nvPicPr>
        <p:blipFill>
          <a:blip r:embed="rId4"/>
          <a:stretch>
            <a:fillRect/>
          </a:stretch>
        </p:blipFill>
        <p:spPr>
          <a:xfrm>
            <a:off x="5526634" y="4977994"/>
            <a:ext cx="285293" cy="285293"/>
          </a:xfrm>
          <a:prstGeom prst="rect">
            <a:avLst/>
          </a:prstGeom>
        </p:spPr>
      </p:pic>
      <p:sp>
        <p:nvSpPr>
          <p:cNvPr id="24" name="Text 20"/>
          <p:cNvSpPr txBox="1"/>
          <p:nvPr/>
        </p:nvSpPr>
        <p:spPr>
          <a:xfrm>
            <a:off x="6080760" y="4846320"/>
            <a:ext cx="3840480" cy="548640"/>
          </a:xfrm>
          <a:prstGeom prst="rect">
            <a:avLst/>
          </a:prstGeom>
          <a:noFill/>
          <a:ln/>
        </p:spPr>
        <p:txBody>
          <a:bodyPr wrap="square" lIns="0" tIns="0" rIns="0" bIns="0" rtlCol="0" anchor="ctr"/>
          <a:lstStyle/>
          <a:p>
            <a:pPr marL="0" indent="0">
              <a:buNone/>
            </a:pPr>
            <a:r>
              <a:rPr lang="en-US" sz="1600" dirty="0">
                <a:solidFill>
                  <a:schemeClr val="tx1"/>
                </a:solidFill>
              </a:rPr>
              <a:t>Verde: trabajamos con la IA</a:t>
            </a:r>
            <a:endParaRPr lang="en-US" sz="1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La matriz de decisión</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marL="0" indent="0" algn="ctr">
              <a:buNone/>
            </a:pPr>
            <a:r>
              <a:rPr lang="en-US" sz="1400" b="1" dirty="0">
                <a:solidFill>
                  <a:schemeClr val="tx1"/>
                </a:solidFill>
              </a:rPr>
              <a:t>Min. 105–113</a:t>
            </a:r>
            <a:endParaRPr lang="en-US" sz="1400" dirty="0"/>
          </a:p>
        </p:txBody>
      </p:sp>
      <p:sp>
        <p:nvSpPr>
          <p:cNvPr id="5" name="Text 3"/>
          <p:cNvSpPr txBox="1"/>
          <p:nvPr/>
        </p:nvSpPr>
        <p:spPr>
          <a:xfrm>
            <a:off x="548640" y="1371600"/>
            <a:ext cx="11094415" cy="457200"/>
          </a:xfrm>
          <a:prstGeom prst="rect">
            <a:avLst/>
          </a:prstGeom>
          <a:noFill/>
          <a:ln/>
        </p:spPr>
        <p:txBody>
          <a:bodyPr wrap="square" lIns="0" tIns="0" rIns="0" bIns="0" rtlCol="0" anchor="ctr"/>
          <a:lstStyle/>
          <a:p>
            <a:pPr marL="0" indent="0">
              <a:buNone/>
            </a:pPr>
            <a:r>
              <a:rPr lang="en-US" sz="1900" dirty="0">
                <a:solidFill>
                  <a:schemeClr val="tx2"/>
                </a:solidFill>
              </a:rPr>
              <a:t>Cada propuesta se puntúa del 1 al 5 en cuatro criterios. Cada criterio pesa distinto:</a:t>
            </a:r>
            <a:endParaRPr lang="en-US" sz="1900" dirty="0"/>
          </a:p>
        </p:txBody>
      </p:sp>
      <p:sp>
        <p:nvSpPr>
          <p:cNvPr id="6" name="Impacto"/>
          <p:cNvSpPr/>
          <p:nvPr/>
        </p:nvSpPr>
        <p:spPr>
          <a:xfrm>
            <a:off x="548640" y="2148840"/>
            <a:ext cx="3883045" cy="1463040"/>
          </a:xfrm>
          <a:prstGeom prst="rect">
            <a:avLst/>
          </a:prstGeom>
          <a:solidFill>
            <a:schemeClr val="accent1"/>
          </a:solidFill>
          <a:ln w="25400">
            <a:solidFill>
              <a:srgbClr val="FFFFFF"/>
            </a:solidFill>
            <a:prstDash val="solid"/>
          </a:ln>
        </p:spPr>
      </p:sp>
      <p:sp>
        <p:nvSpPr>
          <p:cNvPr id="7" name="Text 5"/>
          <p:cNvSpPr txBox="1"/>
          <p:nvPr/>
        </p:nvSpPr>
        <p:spPr>
          <a:xfrm>
            <a:off x="640080" y="2148840"/>
            <a:ext cx="3700165" cy="1463040"/>
          </a:xfrm>
          <a:prstGeom prst="rect">
            <a:avLst/>
          </a:prstGeom>
          <a:noFill/>
          <a:ln/>
        </p:spPr>
        <p:txBody>
          <a:bodyPr wrap="square" lIns="0" tIns="0" rIns="0" bIns="0" rtlCol="0" anchor="ctr"/>
          <a:lstStyle/>
          <a:p>
            <a:pPr marL="0" indent="0" algn="ctr">
              <a:buNone/>
            </a:pPr>
            <a:r>
              <a:rPr lang="en-US" sz="4000" b="1" dirty="0">
                <a:solidFill>
                  <a:schemeClr val="tx1"/>
                </a:solidFill>
              </a:rPr>
              <a:t>35 %</a:t>
            </a:r>
            <a:endParaRPr lang="en-US" sz="4000" dirty="0"/>
          </a:p>
          <a:p>
            <a:pPr marL="0" indent="0" algn="ctr">
              <a:buNone/>
            </a:pPr>
            <a:r>
              <a:rPr lang="en-US" sz="1900" b="1" dirty="0">
                <a:solidFill>
                  <a:schemeClr val="tx1"/>
                </a:solidFill>
              </a:rPr>
              <a:t>Impacto</a:t>
            </a:r>
            <a:endParaRPr lang="en-US" sz="4000" dirty="0"/>
          </a:p>
        </p:txBody>
      </p:sp>
      <p:sp>
        <p:nvSpPr>
          <p:cNvPr id="8" name="Viabilidad"/>
          <p:cNvSpPr/>
          <p:nvPr/>
        </p:nvSpPr>
        <p:spPr>
          <a:xfrm>
            <a:off x="4431685" y="2148840"/>
            <a:ext cx="3328325" cy="1463040"/>
          </a:xfrm>
          <a:prstGeom prst="rect">
            <a:avLst/>
          </a:prstGeom>
          <a:solidFill>
            <a:schemeClr val="accent2"/>
          </a:solidFill>
          <a:ln w="25400">
            <a:solidFill>
              <a:srgbClr val="FFFFFF"/>
            </a:solidFill>
            <a:prstDash val="solid"/>
          </a:ln>
        </p:spPr>
      </p:sp>
      <p:sp>
        <p:nvSpPr>
          <p:cNvPr id="9" name="Text 7"/>
          <p:cNvSpPr txBox="1"/>
          <p:nvPr/>
        </p:nvSpPr>
        <p:spPr>
          <a:xfrm>
            <a:off x="4523125" y="2148840"/>
            <a:ext cx="3145445" cy="1463040"/>
          </a:xfrm>
          <a:prstGeom prst="rect">
            <a:avLst/>
          </a:prstGeom>
          <a:noFill/>
          <a:ln/>
        </p:spPr>
        <p:txBody>
          <a:bodyPr wrap="square" lIns="0" tIns="0" rIns="0" bIns="0" rtlCol="0" anchor="ctr"/>
          <a:lstStyle/>
          <a:p>
            <a:pPr marL="0" indent="0" algn="ctr">
              <a:buNone/>
            </a:pPr>
            <a:r>
              <a:rPr lang="en-US" sz="4000" b="1" dirty="0">
                <a:solidFill>
                  <a:schemeClr val="bg1"/>
                </a:solidFill>
              </a:rPr>
              <a:t>30 %</a:t>
            </a:r>
            <a:endParaRPr lang="en-US" sz="4000" dirty="0"/>
          </a:p>
          <a:p>
            <a:pPr marL="0" indent="0" algn="ctr">
              <a:buNone/>
            </a:pPr>
            <a:r>
              <a:rPr lang="en-US" sz="1900" b="1" dirty="0">
                <a:solidFill>
                  <a:schemeClr val="bg1"/>
                </a:solidFill>
              </a:rPr>
              <a:t>Viabilidad</a:t>
            </a:r>
            <a:endParaRPr lang="en-US" sz="4000" dirty="0"/>
          </a:p>
        </p:txBody>
      </p:sp>
      <p:sp>
        <p:nvSpPr>
          <p:cNvPr id="10" name="Bajo coste"/>
          <p:cNvSpPr/>
          <p:nvPr/>
        </p:nvSpPr>
        <p:spPr>
          <a:xfrm>
            <a:off x="7760010" y="2148840"/>
            <a:ext cx="2218883" cy="1463040"/>
          </a:xfrm>
          <a:prstGeom prst="rect">
            <a:avLst/>
          </a:prstGeom>
          <a:solidFill>
            <a:schemeClr val="accent4"/>
          </a:solidFill>
          <a:ln w="25400">
            <a:solidFill>
              <a:srgbClr val="FFFFFF"/>
            </a:solidFill>
            <a:prstDash val="solid"/>
          </a:ln>
        </p:spPr>
      </p:sp>
      <p:sp>
        <p:nvSpPr>
          <p:cNvPr id="11" name="Text 9"/>
          <p:cNvSpPr txBox="1"/>
          <p:nvPr/>
        </p:nvSpPr>
        <p:spPr>
          <a:xfrm>
            <a:off x="7851450" y="2148840"/>
            <a:ext cx="2036003" cy="1463040"/>
          </a:xfrm>
          <a:prstGeom prst="rect">
            <a:avLst/>
          </a:prstGeom>
          <a:noFill/>
          <a:ln/>
        </p:spPr>
        <p:txBody>
          <a:bodyPr wrap="square" lIns="0" tIns="0" rIns="0" bIns="0" rtlCol="0" anchor="ctr"/>
          <a:lstStyle/>
          <a:p>
            <a:pPr marL="0" indent="0" algn="ctr">
              <a:buNone/>
            </a:pPr>
            <a:r>
              <a:rPr lang="en-US" sz="4000" b="1" dirty="0">
                <a:solidFill>
                  <a:schemeClr val="bg1"/>
                </a:solidFill>
              </a:rPr>
              <a:t>20 %</a:t>
            </a:r>
            <a:endParaRPr lang="en-US" sz="4000" dirty="0"/>
          </a:p>
          <a:p>
            <a:pPr marL="0" indent="0" algn="ctr">
              <a:buNone/>
            </a:pPr>
            <a:r>
              <a:rPr lang="en-US" sz="1900" b="1" dirty="0">
                <a:solidFill>
                  <a:schemeClr val="bg1"/>
                </a:solidFill>
              </a:rPr>
              <a:t>Bajo coste</a:t>
            </a:r>
            <a:endParaRPr lang="en-US" sz="4000" dirty="0"/>
          </a:p>
        </p:txBody>
      </p:sp>
      <p:sp>
        <p:nvSpPr>
          <p:cNvPr id="12" name="Originalidad"/>
          <p:cNvSpPr/>
          <p:nvPr/>
        </p:nvSpPr>
        <p:spPr>
          <a:xfrm>
            <a:off x="9978893" y="2148840"/>
            <a:ext cx="1664162" cy="1463040"/>
          </a:xfrm>
          <a:prstGeom prst="rect">
            <a:avLst/>
          </a:prstGeom>
          <a:solidFill>
            <a:schemeClr val="accent3"/>
          </a:solidFill>
          <a:ln w="25400">
            <a:solidFill>
              <a:srgbClr val="FFFFFF"/>
            </a:solidFill>
            <a:prstDash val="solid"/>
          </a:ln>
        </p:spPr>
      </p:sp>
      <p:sp>
        <p:nvSpPr>
          <p:cNvPr id="13" name="Text 11"/>
          <p:cNvSpPr txBox="1"/>
          <p:nvPr/>
        </p:nvSpPr>
        <p:spPr>
          <a:xfrm>
            <a:off x="10070333" y="2148840"/>
            <a:ext cx="1481282" cy="1463040"/>
          </a:xfrm>
          <a:prstGeom prst="rect">
            <a:avLst/>
          </a:prstGeom>
          <a:noFill/>
          <a:ln/>
        </p:spPr>
        <p:txBody>
          <a:bodyPr wrap="square" lIns="0" tIns="0" rIns="0" bIns="0" rtlCol="0" anchor="ctr"/>
          <a:lstStyle/>
          <a:p>
            <a:pPr marL="0" indent="0" algn="ctr">
              <a:buNone/>
            </a:pPr>
            <a:r>
              <a:rPr lang="en-US" sz="4000" b="1" dirty="0">
                <a:solidFill>
                  <a:schemeClr val="bg1"/>
                </a:solidFill>
              </a:rPr>
              <a:t>15 %</a:t>
            </a:r>
            <a:endParaRPr lang="en-US" sz="4000" dirty="0"/>
          </a:p>
          <a:p>
            <a:pPr marL="0" indent="0" algn="ctr">
              <a:buNone/>
            </a:pPr>
            <a:r>
              <a:rPr lang="en-US" sz="1900" b="1" dirty="0">
                <a:solidFill>
                  <a:schemeClr val="bg1"/>
                </a:solidFill>
              </a:rPr>
              <a:t>Originalidad</a:t>
            </a:r>
            <a:endParaRPr lang="en-US" sz="4000" dirty="0"/>
          </a:p>
        </p:txBody>
      </p:sp>
      <p:sp>
        <p:nvSpPr>
          <p:cNvPr id="14" name="Text 12"/>
          <p:cNvSpPr txBox="1"/>
          <p:nvPr/>
        </p:nvSpPr>
        <p:spPr>
          <a:xfrm>
            <a:off x="548640" y="3749040"/>
            <a:ext cx="11094415" cy="411480"/>
          </a:xfrm>
          <a:prstGeom prst="rect">
            <a:avLst/>
          </a:prstGeom>
          <a:noFill/>
          <a:ln/>
        </p:spPr>
        <p:txBody>
          <a:bodyPr wrap="square" lIns="0" tIns="0" rIns="0" bIns="0" rtlCol="0" anchor="ctr"/>
          <a:lstStyle/>
          <a:p>
            <a:pPr marL="0" indent="0" algn="r">
              <a:buNone/>
            </a:pPr>
            <a:r>
              <a:rPr lang="en-US" sz="1600" i="1" dirty="0">
                <a:solidFill>
                  <a:schemeClr val="tx2"/>
                </a:solidFill>
              </a:rPr>
              <a:t>Total: 100 %</a:t>
            </a:r>
            <a:endParaRPr lang="en-US" sz="1600" dirty="0"/>
          </a:p>
        </p:txBody>
      </p:sp>
      <p:sp>
        <p:nvSpPr>
          <p:cNvPr id="15" name="Tarjeta"/>
          <p:cNvSpPr/>
          <p:nvPr/>
        </p:nvSpPr>
        <p:spPr>
          <a:xfrm>
            <a:off x="548640" y="4343400"/>
            <a:ext cx="11094415" cy="960120"/>
          </a:xfrm>
          <a:prstGeom prst="roundRect">
            <a:avLst>
              <a:gd name="adj" fmla="val 14286"/>
            </a:avLst>
          </a:prstGeom>
          <a:solidFill>
            <a:schemeClr val="bg2"/>
          </a:solidFill>
          <a:ln/>
        </p:spPr>
      </p:sp>
      <p:sp>
        <p:nvSpPr>
          <p:cNvPr id="16" name="Atención"/>
          <p:cNvSpPr/>
          <p:nvPr/>
        </p:nvSpPr>
        <p:spPr>
          <a:xfrm>
            <a:off x="822960" y="4498848"/>
            <a:ext cx="640080" cy="640080"/>
          </a:xfrm>
          <a:prstGeom prst="ellipse">
            <a:avLst/>
          </a:prstGeom>
          <a:solidFill>
            <a:schemeClr val="accent4"/>
          </a:solidFill>
          <a:ln/>
        </p:spPr>
      </p:sp>
      <p:pic>
        <p:nvPicPr>
          <p:cNvPr id="17" name="Image 0" descr="Atención"/>
          <p:cNvPicPr>
            <a:picLocks noChangeAspect="1"/>
          </p:cNvPicPr>
          <p:nvPr/>
        </p:nvPicPr>
        <p:blipFill>
          <a:blip r:embed="rId3"/>
          <a:stretch>
            <a:fillRect/>
          </a:stretch>
        </p:blipFill>
        <p:spPr>
          <a:xfrm>
            <a:off x="976579" y="4652467"/>
            <a:ext cx="332842" cy="332842"/>
          </a:xfrm>
          <a:prstGeom prst="rect">
            <a:avLst/>
          </a:prstGeom>
        </p:spPr>
      </p:pic>
      <p:sp>
        <p:nvSpPr>
          <p:cNvPr id="18" name="Text 15"/>
          <p:cNvSpPr txBox="1"/>
          <p:nvPr/>
        </p:nvSpPr>
        <p:spPr>
          <a:xfrm>
            <a:off x="1645920" y="4343400"/>
            <a:ext cx="9722815" cy="960120"/>
          </a:xfrm>
          <a:prstGeom prst="rect">
            <a:avLst/>
          </a:prstGeom>
          <a:noFill/>
          <a:ln/>
        </p:spPr>
        <p:txBody>
          <a:bodyPr wrap="square" lIns="0" tIns="0" rIns="0" bIns="0" rtlCol="0" anchor="ctr"/>
          <a:lstStyle/>
          <a:p>
            <a:pPr marL="0" indent="0">
              <a:buNone/>
            </a:pPr>
            <a:r>
              <a:rPr lang="en-US" sz="1900" b="1" dirty="0">
                <a:solidFill>
                  <a:schemeClr val="tx1"/>
                </a:solidFill>
              </a:rPr>
              <a:t>Ojo con «Bajo coste»: </a:t>
            </a:r>
            <a:r>
              <a:rPr lang="en-US" sz="1900" dirty="0">
                <a:solidFill>
                  <a:schemeClr val="tx1"/>
                </a:solidFill>
              </a:rPr>
              <a:t>un 5 significa muy económica, no muy cara.</a:t>
            </a:r>
            <a:endParaRPr lang="en-US" sz="1900" dirty="0"/>
          </a:p>
        </p:txBody>
      </p:sp>
      <p:sp>
        <p:nvSpPr>
          <p:cNvPr id="19" name="Text 16"/>
          <p:cNvSpPr txBox="1"/>
          <p:nvPr/>
        </p:nvSpPr>
        <p:spPr>
          <a:xfrm>
            <a:off x="548640" y="5532120"/>
            <a:ext cx="11094415" cy="457200"/>
          </a:xfrm>
          <a:prstGeom prst="rect">
            <a:avLst/>
          </a:prstGeom>
          <a:noFill/>
          <a:ln/>
        </p:spPr>
        <p:txBody>
          <a:bodyPr wrap="square" lIns="0" tIns="0" rIns="0" bIns="0" rtlCol="0" anchor="ctr"/>
          <a:lstStyle/>
          <a:p>
            <a:pPr marL="0" indent="0">
              <a:buNone/>
            </a:pPr>
            <a:r>
              <a:rPr lang="en-US" sz="1900" b="1" dirty="0">
                <a:solidFill>
                  <a:schemeClr val="accent3"/>
                </a:solidFill>
              </a:rPr>
              <a:t>La matriz es una ayuda para razonar, no una prueba objetiva.</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Calculadlo vosotros</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105–113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Con la calculadora del móvil, calculad el resultado de la propuesta que os toque:</a:t>
            </a:r>
            <a:endParaRPr lang="en-US" sz="1900" dirty="0"/>
          </a:p>
        </p:txBody>
      </p:sp>
      <p:graphicFrame>
        <p:nvGraphicFramePr>
          <p:cNvPr id="6" name="Table 0"/>
          <p:cNvGraphicFramePr>
            <a:graphicFrameLocks noGrp="1"/>
          </p:cNvGraphicFramePr>
          <p:nvPr/>
        </p:nvGraphicFramePr>
        <p:xfrm>
          <a:off x="548640" y="1965960"/>
          <a:ext cx="11094415" cy="2697480"/>
        </p:xfrm>
        <a:graphic>
          <a:graphicData uri="http://schemas.openxmlformats.org/drawingml/2006/table">
            <a:tbl>
              <a:tblPr/>
              <a:tblGrid>
                <a:gridCol w="3047695">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777240">
                <a:tc>
                  <a:txBody>
                    <a:bodyPr/>
                    <a:lstStyle/>
                    <a:p>
                      <a:pPr marL="0" indent="0" algn="ctr">
                        <a:buNone/>
                      </a:pPr>
                      <a:r>
                        <a:rPr lang="en-US" sz="1800" b="1" dirty="0">
                          <a:solidFill>
                            <a:schemeClr val="bg1"/>
                          </a:solidFill>
                        </a:rPr>
                        <a:t>Propuesta</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tc>
                  <a:txBody>
                    <a:bodyPr/>
                    <a:lstStyle/>
                    <a:p>
                      <a:pPr marL="0" indent="0" algn="ctr">
                        <a:buNone/>
                      </a:pPr>
                      <a:r>
                        <a:rPr lang="en-US" sz="1800" b="1" dirty="0">
                          <a:solidFill>
                            <a:schemeClr val="tx1"/>
                          </a:solidFill>
                        </a:rPr>
                        <a:t>Impacto</a:t>
                      </a:r>
                      <a:endParaRPr lang="en-US" sz="1800" dirty="0"/>
                    </a:p>
                    <a:p>
                      <a:pPr marL="0" indent="0" algn="ctr">
                        <a:buNone/>
                      </a:pPr>
                      <a:r>
                        <a:rPr lang="en-US" sz="1800" b="1" dirty="0">
                          <a:solidFill>
                            <a:schemeClr val="tx1"/>
                          </a:solidFill>
                        </a:rPr>
                        <a:t>35 %</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1"/>
                    </a:solidFill>
                  </a:tcPr>
                </a:tc>
                <a:tc>
                  <a:txBody>
                    <a:bodyPr/>
                    <a:lstStyle/>
                    <a:p>
                      <a:pPr marL="0" indent="0" algn="ctr">
                        <a:buNone/>
                      </a:pPr>
                      <a:r>
                        <a:rPr lang="en-US" sz="1800" b="1" dirty="0">
                          <a:solidFill>
                            <a:schemeClr val="bg1"/>
                          </a:solidFill>
                        </a:rPr>
                        <a:t>Viabilidad</a:t>
                      </a:r>
                      <a:endParaRPr lang="en-US" sz="1800" dirty="0"/>
                    </a:p>
                    <a:p>
                      <a:pPr marL="0" indent="0" algn="ctr">
                        <a:buNone/>
                      </a:pPr>
                      <a:r>
                        <a:rPr lang="en-US" sz="1800" b="1" dirty="0">
                          <a:solidFill>
                            <a:schemeClr val="bg1"/>
                          </a:solidFill>
                        </a:rPr>
                        <a:t>30 %</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2"/>
                    </a:solidFill>
                  </a:tcPr>
                </a:tc>
                <a:tc>
                  <a:txBody>
                    <a:bodyPr/>
                    <a:lstStyle/>
                    <a:p>
                      <a:pPr marL="0" indent="0" algn="ctr">
                        <a:buNone/>
                      </a:pPr>
                      <a:r>
                        <a:rPr lang="en-US" sz="1800" b="1" dirty="0">
                          <a:solidFill>
                            <a:schemeClr val="bg1"/>
                          </a:solidFill>
                        </a:rPr>
                        <a:t>Bajo coste</a:t>
                      </a:r>
                      <a:endParaRPr lang="en-US" sz="1800" dirty="0"/>
                    </a:p>
                    <a:p>
                      <a:pPr marL="0" indent="0" algn="ctr">
                        <a:buNone/>
                      </a:pPr>
                      <a:r>
                        <a:rPr lang="en-US" sz="1800" b="1" dirty="0">
                          <a:solidFill>
                            <a:schemeClr val="bg1"/>
                          </a:solidFill>
                        </a:rPr>
                        <a:t>20 %</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4"/>
                    </a:solidFill>
                  </a:tcPr>
                </a:tc>
                <a:tc>
                  <a:txBody>
                    <a:bodyPr/>
                    <a:lstStyle/>
                    <a:p>
                      <a:pPr marL="0" indent="0" algn="ctr">
                        <a:buNone/>
                      </a:pPr>
                      <a:r>
                        <a:rPr lang="en-US" sz="1800" b="1" dirty="0">
                          <a:solidFill>
                            <a:schemeClr val="bg1"/>
                          </a:solidFill>
                        </a:rPr>
                        <a:t>Originalidad</a:t>
                      </a:r>
                      <a:endParaRPr lang="en-US" sz="1800" dirty="0"/>
                    </a:p>
                    <a:p>
                      <a:pPr marL="0" indent="0" algn="ctr">
                        <a:buNone/>
                      </a:pPr>
                      <a:r>
                        <a:rPr lang="en-US" sz="1800" b="1" dirty="0">
                          <a:solidFill>
                            <a:schemeClr val="bg1"/>
                          </a:solidFill>
                        </a:rPr>
                        <a:t>15 %</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3"/>
                    </a:solidFill>
                  </a:tcPr>
                </a:tc>
                <a:tc>
                  <a:txBody>
                    <a:bodyPr/>
                    <a:lstStyle/>
                    <a:p>
                      <a:pPr marL="0" indent="0" algn="ctr">
                        <a:buNone/>
                      </a:pPr>
                      <a:r>
                        <a:rPr lang="en-US" sz="1800" b="1" dirty="0">
                          <a:solidFill>
                            <a:schemeClr val="bg1"/>
                          </a:solidFill>
                        </a:rPr>
                        <a:t>Resultado</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40080">
                <a:tc>
                  <a:txBody>
                    <a:bodyPr/>
                    <a:lstStyle/>
                    <a:p>
                      <a:pPr marL="0" indent="0">
                        <a:buNone/>
                      </a:pPr>
                      <a:r>
                        <a:rPr lang="en-US" sz="1800" b="1" dirty="0">
                          <a:solidFill>
                            <a:schemeClr val="tx1"/>
                          </a:solidFill>
                        </a:rPr>
                        <a:t>Formulario digital</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4</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5</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5</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3</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2200" b="1" dirty="0">
                          <a:solidFill>
                            <a:schemeClr val="accent5"/>
                          </a:solidFill>
                        </a:rPr>
                        <a:t>?</a:t>
                      </a:r>
                      <a:endParaRPr lang="en-US" sz="22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800" b="1" dirty="0">
                          <a:solidFill>
                            <a:schemeClr val="tx1"/>
                          </a:solidFill>
                        </a:rPr>
                        <a:t>Chatbot informativo</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4</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3</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2</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4</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2200" b="1" dirty="0">
                          <a:solidFill>
                            <a:schemeClr val="accent5"/>
                          </a:solidFill>
                        </a:rPr>
                        <a:t>?</a:t>
                      </a:r>
                      <a:endParaRPr lang="en-US" sz="22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800" b="1" dirty="0">
                          <a:solidFill>
                            <a:schemeClr val="tx1"/>
                          </a:solidFill>
                        </a:rPr>
                        <a:t>Panel de seguimiento</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5</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4</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4</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3</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2200" b="1" dirty="0">
                          <a:solidFill>
                            <a:schemeClr val="accent5"/>
                          </a:solidFill>
                        </a:rPr>
                        <a:t>?</a:t>
                      </a:r>
                      <a:endParaRPr lang="en-US" sz="22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arjeta"/>
          <p:cNvSpPr/>
          <p:nvPr/>
        </p:nvSpPr>
        <p:spPr>
          <a:xfrm>
            <a:off x="548640" y="4983480"/>
            <a:ext cx="11094415" cy="960120"/>
          </a:xfrm>
          <a:prstGeom prst="roundRect">
            <a:avLst>
              <a:gd name="adj" fmla="val 14286"/>
            </a:avLst>
          </a:prstGeom>
          <a:solidFill>
            <a:schemeClr val="bg2"/>
          </a:solidFill>
          <a:ln/>
        </p:spPr>
      </p:sp>
      <p:sp>
        <p:nvSpPr>
          <p:cNvPr id="8" name="Calculadora"/>
          <p:cNvSpPr/>
          <p:nvPr/>
        </p:nvSpPr>
        <p:spPr>
          <a:xfrm>
            <a:off x="822960" y="5138928"/>
            <a:ext cx="640080" cy="640080"/>
          </a:xfrm>
          <a:prstGeom prst="ellipse">
            <a:avLst/>
          </a:prstGeom>
          <a:solidFill>
            <a:schemeClr val="accent1"/>
          </a:solidFill>
          <a:ln/>
        </p:spPr>
      </p:sp>
      <p:pic>
        <p:nvPicPr>
          <p:cNvPr id="9" name="Image 0" descr="Calculadora"/>
          <p:cNvPicPr>
            <a:picLocks noChangeAspect="1"/>
          </p:cNvPicPr>
          <p:nvPr/>
        </p:nvPicPr>
        <p:blipFill>
          <a:blip r:embed="rId3"/>
          <a:stretch>
            <a:fillRect/>
          </a:stretch>
        </p:blipFill>
        <p:spPr>
          <a:xfrm>
            <a:off x="976579" y="5292547"/>
            <a:ext cx="332842" cy="332842"/>
          </a:xfrm>
          <a:prstGeom prst="rect">
            <a:avLst/>
          </a:prstGeom>
        </p:spPr>
      </p:pic>
      <p:sp>
        <p:nvSpPr>
          <p:cNvPr id="10" name="Text 6"/>
          <p:cNvSpPr txBox="1"/>
          <p:nvPr/>
        </p:nvSpPr>
        <p:spPr>
          <a:xfrm>
            <a:off x="1645920" y="4983480"/>
            <a:ext cx="9722815" cy="960120"/>
          </a:xfrm>
          <a:prstGeom prst="rect">
            <a:avLst/>
          </a:prstGeom>
          <a:noFill/>
          <a:ln/>
        </p:spPr>
        <p:txBody>
          <a:bodyPr wrap="square" lIns="0" tIns="0" rIns="0" bIns="0" rtlCol="0" anchor="ctr"/>
          <a:lstStyle/>
          <a:p>
            <a:pPr marL="0" indent="0">
              <a:buNone/>
            </a:pPr>
            <a:r>
              <a:rPr lang="en-US" sz="2000" b="1" dirty="0">
                <a:solidFill>
                  <a:schemeClr val="tx1"/>
                </a:solidFill>
              </a:rPr>
              <a:t>Impacto × 0,35  +  Viabilidad × 0,30  +  Bajo coste × 0,20  +  Originalidad × 0,15</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Los resultados</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marL="0" indent="0" algn="ctr">
              <a:buNone/>
            </a:pPr>
            <a:r>
              <a:rPr lang="en-US" sz="1400" b="1" dirty="0">
                <a:solidFill>
                  <a:schemeClr val="tx1"/>
                </a:solidFill>
              </a:rPr>
              <a:t>Min. 105–113</a:t>
            </a:r>
            <a:endParaRPr lang="en-US" sz="1400" dirty="0"/>
          </a:p>
        </p:txBody>
      </p:sp>
      <p:graphicFrame>
        <p:nvGraphicFramePr>
          <p:cNvPr id="6" name="Table 0"/>
          <p:cNvGraphicFramePr>
            <a:graphicFrameLocks noGrp="1"/>
          </p:cNvGraphicFramePr>
          <p:nvPr/>
        </p:nvGraphicFramePr>
        <p:xfrm>
          <a:off x="548640" y="1417320"/>
          <a:ext cx="11094415" cy="2697480"/>
        </p:xfrm>
        <a:graphic>
          <a:graphicData uri="http://schemas.openxmlformats.org/drawingml/2006/table">
            <a:tbl>
              <a:tblPr/>
              <a:tblGrid>
                <a:gridCol w="3047695">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777240">
                <a:tc>
                  <a:txBody>
                    <a:bodyPr/>
                    <a:lstStyle/>
                    <a:p>
                      <a:pPr marL="0" indent="0" algn="ctr">
                        <a:buNone/>
                      </a:pPr>
                      <a:r>
                        <a:rPr lang="en-US" sz="1800" b="1" dirty="0">
                          <a:solidFill>
                            <a:schemeClr val="bg1"/>
                          </a:solidFill>
                        </a:rPr>
                        <a:t>Propuesta</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tc>
                  <a:txBody>
                    <a:bodyPr/>
                    <a:lstStyle/>
                    <a:p>
                      <a:pPr marL="0" indent="0" algn="ctr">
                        <a:buNone/>
                      </a:pPr>
                      <a:r>
                        <a:rPr lang="en-US" sz="1800" b="1" dirty="0">
                          <a:solidFill>
                            <a:schemeClr val="tx1"/>
                          </a:solidFill>
                        </a:rPr>
                        <a:t>Impacto</a:t>
                      </a:r>
                      <a:endParaRPr lang="en-US" sz="1800" dirty="0"/>
                    </a:p>
                    <a:p>
                      <a:pPr marL="0" indent="0" algn="ctr">
                        <a:buNone/>
                      </a:pPr>
                      <a:r>
                        <a:rPr lang="en-US" sz="1800" b="1" dirty="0">
                          <a:solidFill>
                            <a:schemeClr val="tx1"/>
                          </a:solidFill>
                        </a:rPr>
                        <a:t>35 %</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1"/>
                    </a:solidFill>
                  </a:tcPr>
                </a:tc>
                <a:tc>
                  <a:txBody>
                    <a:bodyPr/>
                    <a:lstStyle/>
                    <a:p>
                      <a:pPr marL="0" indent="0" algn="ctr">
                        <a:buNone/>
                      </a:pPr>
                      <a:r>
                        <a:rPr lang="en-US" sz="1800" b="1" dirty="0">
                          <a:solidFill>
                            <a:schemeClr val="bg1"/>
                          </a:solidFill>
                        </a:rPr>
                        <a:t>Viabilidad</a:t>
                      </a:r>
                      <a:endParaRPr lang="en-US" sz="1800" dirty="0"/>
                    </a:p>
                    <a:p>
                      <a:pPr marL="0" indent="0" algn="ctr">
                        <a:buNone/>
                      </a:pPr>
                      <a:r>
                        <a:rPr lang="en-US" sz="1800" b="1" dirty="0">
                          <a:solidFill>
                            <a:schemeClr val="bg1"/>
                          </a:solidFill>
                        </a:rPr>
                        <a:t>30 %</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2"/>
                    </a:solidFill>
                  </a:tcPr>
                </a:tc>
                <a:tc>
                  <a:txBody>
                    <a:bodyPr/>
                    <a:lstStyle/>
                    <a:p>
                      <a:pPr marL="0" indent="0" algn="ctr">
                        <a:buNone/>
                      </a:pPr>
                      <a:r>
                        <a:rPr lang="en-US" sz="1800" b="1" dirty="0">
                          <a:solidFill>
                            <a:schemeClr val="bg1"/>
                          </a:solidFill>
                        </a:rPr>
                        <a:t>Bajo coste</a:t>
                      </a:r>
                      <a:endParaRPr lang="en-US" sz="1800" dirty="0"/>
                    </a:p>
                    <a:p>
                      <a:pPr marL="0" indent="0" algn="ctr">
                        <a:buNone/>
                      </a:pPr>
                      <a:r>
                        <a:rPr lang="en-US" sz="1800" b="1" dirty="0">
                          <a:solidFill>
                            <a:schemeClr val="bg1"/>
                          </a:solidFill>
                        </a:rPr>
                        <a:t>20 %</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4"/>
                    </a:solidFill>
                  </a:tcPr>
                </a:tc>
                <a:tc>
                  <a:txBody>
                    <a:bodyPr/>
                    <a:lstStyle/>
                    <a:p>
                      <a:pPr marL="0" indent="0" algn="ctr">
                        <a:buNone/>
                      </a:pPr>
                      <a:r>
                        <a:rPr lang="en-US" sz="1800" b="1" dirty="0">
                          <a:solidFill>
                            <a:schemeClr val="bg1"/>
                          </a:solidFill>
                        </a:rPr>
                        <a:t>Originalidad</a:t>
                      </a:r>
                      <a:endParaRPr lang="en-US" sz="1800" dirty="0"/>
                    </a:p>
                    <a:p>
                      <a:pPr marL="0" indent="0" algn="ctr">
                        <a:buNone/>
                      </a:pPr>
                      <a:r>
                        <a:rPr lang="en-US" sz="1800" b="1" dirty="0">
                          <a:solidFill>
                            <a:schemeClr val="bg1"/>
                          </a:solidFill>
                        </a:rPr>
                        <a:t>15 %</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3"/>
                    </a:solidFill>
                  </a:tcPr>
                </a:tc>
                <a:tc>
                  <a:txBody>
                    <a:bodyPr/>
                    <a:lstStyle/>
                    <a:p>
                      <a:pPr marL="0" indent="0" algn="ctr">
                        <a:buNone/>
                      </a:pPr>
                      <a:r>
                        <a:rPr lang="en-US" sz="1800" b="1" dirty="0">
                          <a:solidFill>
                            <a:schemeClr val="bg1"/>
                          </a:solidFill>
                        </a:rPr>
                        <a:t>Resultado</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40080">
                <a:tc>
                  <a:txBody>
                    <a:bodyPr/>
                    <a:lstStyle/>
                    <a:p>
                      <a:pPr marL="0" indent="0">
                        <a:buNone/>
                      </a:pPr>
                      <a:r>
                        <a:rPr lang="en-US" sz="1800" b="1" dirty="0">
                          <a:solidFill>
                            <a:schemeClr val="tx1"/>
                          </a:solidFill>
                        </a:rPr>
                        <a:t>Formulario digital</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4</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5</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5</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3</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2200" b="1" dirty="0">
                          <a:solidFill>
                            <a:schemeClr val="accent3"/>
                          </a:solidFill>
                        </a:rPr>
                        <a:t>4,35</a:t>
                      </a:r>
                      <a:endParaRPr lang="en-US" sz="22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800" b="1" dirty="0">
                          <a:solidFill>
                            <a:schemeClr val="tx1"/>
                          </a:solidFill>
                        </a:rPr>
                        <a:t>Chatbot informativo</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4</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3</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2</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4</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2200" b="1" dirty="0">
                          <a:solidFill>
                            <a:schemeClr val="accent3"/>
                          </a:solidFill>
                        </a:rPr>
                        <a:t>3,30</a:t>
                      </a:r>
                      <a:endParaRPr lang="en-US" sz="22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800" b="1" dirty="0">
                          <a:solidFill>
                            <a:schemeClr val="tx1"/>
                          </a:solidFill>
                        </a:rPr>
                        <a:t>Panel de seguimiento</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5</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4</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4</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1800" dirty="0">
                          <a:solidFill>
                            <a:schemeClr val="tx1"/>
                          </a:solidFill>
                        </a:rPr>
                        <a:t>3</a:t>
                      </a:r>
                      <a:endParaRPr lang="en-US" sz="18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marL="0" indent="0" algn="ctr">
                        <a:buNone/>
                      </a:pPr>
                      <a:r>
                        <a:rPr lang="en-US" sz="2200" b="1" dirty="0">
                          <a:solidFill>
                            <a:schemeClr val="accent3"/>
                          </a:solidFill>
                        </a:rPr>
                        <a:t>4,20</a:t>
                      </a:r>
                      <a:endParaRPr lang="en-US" sz="2200" dirty="0"/>
                    </a:p>
                  </a:txBody>
                  <a:tcPr marT="91440" marB="91440"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3"/>
          <p:cNvSpPr txBox="1"/>
          <p:nvPr/>
        </p:nvSpPr>
        <p:spPr>
          <a:xfrm>
            <a:off x="548640" y="4434840"/>
            <a:ext cx="11094415" cy="411480"/>
          </a:xfrm>
          <a:prstGeom prst="rect">
            <a:avLst/>
          </a:prstGeom>
          <a:noFill/>
          <a:ln/>
        </p:spPr>
        <p:txBody>
          <a:bodyPr wrap="square" lIns="0" tIns="0" rIns="0" bIns="0" rtlCol="0" anchor="ctr"/>
          <a:lstStyle/>
          <a:p>
            <a:pPr marL="0" indent="0">
              <a:buNone/>
            </a:pPr>
            <a:r>
              <a:rPr lang="en-US" sz="1700" b="1" dirty="0">
                <a:solidFill>
                  <a:schemeClr val="tx2"/>
                </a:solidFill>
              </a:rPr>
              <a:t>Ejemplo, el formulario digital:</a:t>
            </a:r>
            <a:endParaRPr lang="en-US" sz="1700" dirty="0"/>
          </a:p>
        </p:txBody>
      </p:sp>
      <p:sp>
        <p:nvSpPr>
          <p:cNvPr id="7" name="Tarjeta"/>
          <p:cNvSpPr/>
          <p:nvPr/>
        </p:nvSpPr>
        <p:spPr>
          <a:xfrm>
            <a:off x="548640" y="4937760"/>
            <a:ext cx="1965960" cy="868680"/>
          </a:xfrm>
          <a:prstGeom prst="roundRect">
            <a:avLst>
              <a:gd name="adj" fmla="val 15789"/>
            </a:avLst>
          </a:prstGeom>
          <a:solidFill>
            <a:schemeClr val="bg2"/>
          </a:solidFill>
          <a:ln/>
        </p:spPr>
      </p:sp>
      <p:sp>
        <p:nvSpPr>
          <p:cNvPr id="8" name="Text 5"/>
          <p:cNvSpPr txBox="1"/>
          <p:nvPr/>
        </p:nvSpPr>
        <p:spPr>
          <a:xfrm>
            <a:off x="548640" y="4937760"/>
            <a:ext cx="1965960" cy="868680"/>
          </a:xfrm>
          <a:prstGeom prst="rect">
            <a:avLst/>
          </a:prstGeom>
          <a:noFill/>
          <a:ln/>
        </p:spPr>
        <p:txBody>
          <a:bodyPr wrap="square" lIns="0" tIns="0" rIns="0" bIns="0" rtlCol="0" anchor="ctr"/>
          <a:lstStyle/>
          <a:p>
            <a:pPr marL="0" indent="0" algn="ctr">
              <a:buNone/>
            </a:pPr>
            <a:r>
              <a:rPr lang="en-US" sz="1800" dirty="0">
                <a:solidFill>
                  <a:schemeClr val="tx1"/>
                </a:solidFill>
              </a:rPr>
              <a:t>4 × 0,35 = </a:t>
            </a:r>
            <a:r>
              <a:rPr lang="en-US" sz="1800" b="1" dirty="0">
                <a:solidFill>
                  <a:schemeClr val="tx1"/>
                </a:solidFill>
              </a:rPr>
              <a:t>1,40</a:t>
            </a:r>
            <a:endParaRPr lang="en-US" sz="1800" dirty="0"/>
          </a:p>
        </p:txBody>
      </p:sp>
      <p:sp>
        <p:nvSpPr>
          <p:cNvPr id="9" name="Text 6"/>
          <p:cNvSpPr txBox="1"/>
          <p:nvPr/>
        </p:nvSpPr>
        <p:spPr>
          <a:xfrm>
            <a:off x="2514600" y="4937760"/>
            <a:ext cx="411480" cy="86868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10" name="Tarjeta"/>
          <p:cNvSpPr/>
          <p:nvPr/>
        </p:nvSpPr>
        <p:spPr>
          <a:xfrm>
            <a:off x="2926080" y="4937760"/>
            <a:ext cx="1965960" cy="868680"/>
          </a:xfrm>
          <a:prstGeom prst="roundRect">
            <a:avLst>
              <a:gd name="adj" fmla="val 15789"/>
            </a:avLst>
          </a:prstGeom>
          <a:solidFill>
            <a:schemeClr val="bg2"/>
          </a:solidFill>
          <a:ln/>
        </p:spPr>
      </p:sp>
      <p:sp>
        <p:nvSpPr>
          <p:cNvPr id="11" name="Text 8"/>
          <p:cNvSpPr txBox="1"/>
          <p:nvPr/>
        </p:nvSpPr>
        <p:spPr>
          <a:xfrm>
            <a:off x="2926080" y="4937760"/>
            <a:ext cx="1965960" cy="868680"/>
          </a:xfrm>
          <a:prstGeom prst="rect">
            <a:avLst/>
          </a:prstGeom>
          <a:noFill/>
          <a:ln/>
        </p:spPr>
        <p:txBody>
          <a:bodyPr wrap="square" lIns="0" tIns="0" rIns="0" bIns="0" rtlCol="0" anchor="ctr"/>
          <a:lstStyle/>
          <a:p>
            <a:pPr marL="0" indent="0" algn="ctr">
              <a:buNone/>
            </a:pPr>
            <a:r>
              <a:rPr lang="en-US" sz="1800" dirty="0">
                <a:solidFill>
                  <a:schemeClr val="tx1"/>
                </a:solidFill>
              </a:rPr>
              <a:t>5 × 0,30 = </a:t>
            </a:r>
            <a:r>
              <a:rPr lang="en-US" sz="1800" b="1" dirty="0">
                <a:solidFill>
                  <a:schemeClr val="tx1"/>
                </a:solidFill>
              </a:rPr>
              <a:t>1,50</a:t>
            </a:r>
            <a:endParaRPr lang="en-US" sz="1800" dirty="0"/>
          </a:p>
        </p:txBody>
      </p:sp>
      <p:sp>
        <p:nvSpPr>
          <p:cNvPr id="12" name="Text 9"/>
          <p:cNvSpPr txBox="1"/>
          <p:nvPr/>
        </p:nvSpPr>
        <p:spPr>
          <a:xfrm>
            <a:off x="4892040" y="4937760"/>
            <a:ext cx="411480" cy="86868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13" name="Tarjeta"/>
          <p:cNvSpPr/>
          <p:nvPr/>
        </p:nvSpPr>
        <p:spPr>
          <a:xfrm>
            <a:off x="5303520" y="4937760"/>
            <a:ext cx="1965960" cy="868680"/>
          </a:xfrm>
          <a:prstGeom prst="roundRect">
            <a:avLst>
              <a:gd name="adj" fmla="val 15789"/>
            </a:avLst>
          </a:prstGeom>
          <a:solidFill>
            <a:schemeClr val="bg2"/>
          </a:solidFill>
          <a:ln/>
        </p:spPr>
      </p:sp>
      <p:sp>
        <p:nvSpPr>
          <p:cNvPr id="14" name="Text 11"/>
          <p:cNvSpPr txBox="1"/>
          <p:nvPr/>
        </p:nvSpPr>
        <p:spPr>
          <a:xfrm>
            <a:off x="5303520" y="4937760"/>
            <a:ext cx="1965960" cy="868680"/>
          </a:xfrm>
          <a:prstGeom prst="rect">
            <a:avLst/>
          </a:prstGeom>
          <a:noFill/>
          <a:ln/>
        </p:spPr>
        <p:txBody>
          <a:bodyPr wrap="square" lIns="0" tIns="0" rIns="0" bIns="0" rtlCol="0" anchor="ctr"/>
          <a:lstStyle/>
          <a:p>
            <a:pPr marL="0" indent="0" algn="ctr">
              <a:buNone/>
            </a:pPr>
            <a:r>
              <a:rPr lang="en-US" sz="1800" dirty="0">
                <a:solidFill>
                  <a:schemeClr val="tx1"/>
                </a:solidFill>
              </a:rPr>
              <a:t>5 × 0,20 = </a:t>
            </a:r>
            <a:r>
              <a:rPr lang="en-US" sz="1800" b="1" dirty="0">
                <a:solidFill>
                  <a:schemeClr val="tx1"/>
                </a:solidFill>
              </a:rPr>
              <a:t>1,00</a:t>
            </a:r>
            <a:endParaRPr lang="en-US" sz="1800" dirty="0"/>
          </a:p>
        </p:txBody>
      </p:sp>
      <p:sp>
        <p:nvSpPr>
          <p:cNvPr id="15" name="Text 12"/>
          <p:cNvSpPr txBox="1"/>
          <p:nvPr/>
        </p:nvSpPr>
        <p:spPr>
          <a:xfrm>
            <a:off x="7269480" y="4937760"/>
            <a:ext cx="411480" cy="86868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16" name="Tarjeta"/>
          <p:cNvSpPr/>
          <p:nvPr/>
        </p:nvSpPr>
        <p:spPr>
          <a:xfrm>
            <a:off x="7680960" y="4937760"/>
            <a:ext cx="1965960" cy="868680"/>
          </a:xfrm>
          <a:prstGeom prst="roundRect">
            <a:avLst>
              <a:gd name="adj" fmla="val 15789"/>
            </a:avLst>
          </a:prstGeom>
          <a:solidFill>
            <a:schemeClr val="bg2"/>
          </a:solidFill>
          <a:ln/>
        </p:spPr>
      </p:sp>
      <p:sp>
        <p:nvSpPr>
          <p:cNvPr id="17" name="Text 14"/>
          <p:cNvSpPr txBox="1"/>
          <p:nvPr/>
        </p:nvSpPr>
        <p:spPr>
          <a:xfrm>
            <a:off x="7680960" y="4937760"/>
            <a:ext cx="1965960" cy="868680"/>
          </a:xfrm>
          <a:prstGeom prst="rect">
            <a:avLst/>
          </a:prstGeom>
          <a:noFill/>
          <a:ln/>
        </p:spPr>
        <p:txBody>
          <a:bodyPr wrap="square" lIns="0" tIns="0" rIns="0" bIns="0" rtlCol="0" anchor="ctr"/>
          <a:lstStyle/>
          <a:p>
            <a:pPr marL="0" indent="0" algn="ctr">
              <a:buNone/>
            </a:pPr>
            <a:r>
              <a:rPr lang="en-US" sz="1800" dirty="0">
                <a:solidFill>
                  <a:schemeClr val="tx1"/>
                </a:solidFill>
              </a:rPr>
              <a:t>3 × 0,15 = </a:t>
            </a:r>
            <a:r>
              <a:rPr lang="en-US" sz="1800" b="1" dirty="0">
                <a:solidFill>
                  <a:schemeClr val="tx1"/>
                </a:solidFill>
              </a:rPr>
              <a:t>0,45</a:t>
            </a:r>
            <a:endParaRPr lang="en-US" sz="1800" dirty="0"/>
          </a:p>
        </p:txBody>
      </p:sp>
      <p:sp>
        <p:nvSpPr>
          <p:cNvPr id="18" name="Text 15"/>
          <p:cNvSpPr txBox="1"/>
          <p:nvPr/>
        </p:nvSpPr>
        <p:spPr>
          <a:xfrm>
            <a:off x="9646920" y="4937760"/>
            <a:ext cx="411480" cy="86868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19" name="Resultado"/>
          <p:cNvSpPr/>
          <p:nvPr/>
        </p:nvSpPr>
        <p:spPr>
          <a:xfrm>
            <a:off x="10058400" y="4937760"/>
            <a:ext cx="1584655" cy="868680"/>
          </a:xfrm>
          <a:prstGeom prst="roundRect">
            <a:avLst>
              <a:gd name="adj" fmla="val 15789"/>
            </a:avLst>
          </a:prstGeom>
          <a:solidFill>
            <a:schemeClr val="accent3"/>
          </a:solidFill>
          <a:ln/>
        </p:spPr>
      </p:sp>
      <p:sp>
        <p:nvSpPr>
          <p:cNvPr id="20" name="Text 17"/>
          <p:cNvSpPr txBox="1"/>
          <p:nvPr/>
        </p:nvSpPr>
        <p:spPr>
          <a:xfrm>
            <a:off x="10058400" y="4937760"/>
            <a:ext cx="1584655" cy="868680"/>
          </a:xfrm>
          <a:prstGeom prst="rect">
            <a:avLst/>
          </a:prstGeom>
          <a:noFill/>
          <a:ln/>
        </p:spPr>
        <p:txBody>
          <a:bodyPr wrap="square" lIns="0" tIns="0" rIns="0" bIns="0" rtlCol="0" anchor="ctr"/>
          <a:lstStyle/>
          <a:p>
            <a:pPr marL="0" indent="0" algn="ctr">
              <a:buNone/>
            </a:pPr>
            <a:r>
              <a:rPr lang="en-US" sz="2600" b="1" dirty="0">
                <a:solidFill>
                  <a:schemeClr val="bg1"/>
                </a:solidFill>
              </a:rPr>
              <a:t>4,35</a:t>
            </a:r>
            <a:endParaRPr lang="en-US" sz="2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La fórmula en Excel o Google Sheets</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marL="0" indent="0" algn="ctr">
              <a:buNone/>
            </a:pPr>
            <a:r>
              <a:rPr lang="en-US" sz="1400" b="1" dirty="0">
                <a:solidFill>
                  <a:schemeClr val="tx1"/>
                </a:solidFill>
              </a:rPr>
              <a:t>Min. 105–113</a:t>
            </a:r>
            <a:endParaRPr lang="en-US" sz="1400" dirty="0"/>
          </a:p>
        </p:txBody>
      </p:sp>
      <p:sp>
        <p:nvSpPr>
          <p:cNvPr id="5" name="Text 3"/>
          <p:cNvSpPr txBox="1"/>
          <p:nvPr/>
        </p:nvSpPr>
        <p:spPr>
          <a:xfrm>
            <a:off x="548640" y="1371600"/>
            <a:ext cx="11094415" cy="457200"/>
          </a:xfrm>
          <a:prstGeom prst="rect">
            <a:avLst/>
          </a:prstGeom>
          <a:noFill/>
          <a:ln/>
        </p:spPr>
        <p:txBody>
          <a:bodyPr wrap="square" lIns="0" tIns="0" rIns="0" bIns="0" rtlCol="0" anchor="ctr"/>
          <a:lstStyle/>
          <a:p>
            <a:pPr marL="0" indent="0">
              <a:buNone/>
            </a:pPr>
            <a:r>
              <a:rPr lang="en-US" sz="1900" dirty="0">
                <a:solidFill>
                  <a:schemeClr val="tx2"/>
                </a:solidFill>
              </a:rPr>
              <a:t>Si las puntuaciones están en las columnas B a E, en la celda F2:</a:t>
            </a:r>
            <a:endParaRPr lang="en-US" sz="1900" dirty="0"/>
          </a:p>
        </p:txBody>
      </p:sp>
      <p:sp>
        <p:nvSpPr>
          <p:cNvPr id="6" name="Fórmula"/>
          <p:cNvSpPr/>
          <p:nvPr/>
        </p:nvSpPr>
        <p:spPr>
          <a:xfrm>
            <a:off x="548640" y="2011680"/>
            <a:ext cx="11094415" cy="1188720"/>
          </a:xfrm>
          <a:prstGeom prst="roundRect">
            <a:avLst>
              <a:gd name="adj" fmla="val 9231"/>
            </a:avLst>
          </a:prstGeom>
          <a:solidFill>
            <a:schemeClr val="tx1"/>
          </a:solidFill>
          <a:ln/>
        </p:spPr>
      </p:sp>
      <p:sp>
        <p:nvSpPr>
          <p:cNvPr id="7" name="Text 5"/>
          <p:cNvSpPr txBox="1"/>
          <p:nvPr/>
        </p:nvSpPr>
        <p:spPr>
          <a:xfrm>
            <a:off x="548640" y="2011680"/>
            <a:ext cx="11094415" cy="1188720"/>
          </a:xfrm>
          <a:prstGeom prst="rect">
            <a:avLst/>
          </a:prstGeom>
          <a:noFill/>
          <a:ln/>
        </p:spPr>
        <p:txBody>
          <a:bodyPr wrap="square" lIns="0" tIns="0" rIns="0" bIns="0" rtlCol="0" anchor="ctr"/>
          <a:lstStyle/>
          <a:p>
            <a:pPr marL="0" indent="0" algn="ctr">
              <a:buNone/>
            </a:pPr>
            <a:r>
              <a:rPr lang="en-US" sz="3600" b="1" dirty="0">
                <a:solidFill>
                  <a:schemeClr val="accent1"/>
                </a:solidFill>
                <a:latin typeface="Courier New" pitchFamily="34" charset="0"/>
                <a:ea typeface="Courier New" pitchFamily="34" charset="-122"/>
                <a:cs typeface="Courier New" pitchFamily="34" charset="-120"/>
              </a:rPr>
              <a:t>=B2*35%+C2*30%+D2*20%+E2*15%</a:t>
            </a:r>
            <a:endParaRPr lang="en-US" sz="3600" dirty="0"/>
          </a:p>
        </p:txBody>
      </p:sp>
      <p:sp>
        <p:nvSpPr>
          <p:cNvPr id="8" name="Columna B"/>
          <p:cNvSpPr/>
          <p:nvPr/>
        </p:nvSpPr>
        <p:spPr>
          <a:xfrm>
            <a:off x="548640" y="3474720"/>
            <a:ext cx="2567864" cy="822960"/>
          </a:xfrm>
          <a:prstGeom prst="roundRect">
            <a:avLst>
              <a:gd name="adj" fmla="val 13333"/>
            </a:avLst>
          </a:prstGeom>
          <a:solidFill>
            <a:schemeClr val="accent1"/>
          </a:solidFill>
          <a:ln/>
        </p:spPr>
      </p:sp>
      <p:sp>
        <p:nvSpPr>
          <p:cNvPr id="9" name="Text 7"/>
          <p:cNvSpPr txBox="1"/>
          <p:nvPr/>
        </p:nvSpPr>
        <p:spPr>
          <a:xfrm>
            <a:off x="548640" y="3474720"/>
            <a:ext cx="2567864" cy="822960"/>
          </a:xfrm>
          <a:prstGeom prst="rect">
            <a:avLst/>
          </a:prstGeom>
          <a:noFill/>
          <a:ln/>
        </p:spPr>
        <p:txBody>
          <a:bodyPr wrap="square" lIns="0" tIns="0" rIns="0" bIns="0" rtlCol="0" anchor="ctr"/>
          <a:lstStyle/>
          <a:p>
            <a:pPr marL="0" indent="0" algn="ctr">
              <a:buNone/>
            </a:pPr>
            <a:r>
              <a:rPr lang="en-US" sz="1800" b="1" dirty="0">
                <a:solidFill>
                  <a:schemeClr val="tx1"/>
                </a:solidFill>
              </a:rPr>
              <a:t>Columna B  </a:t>
            </a:r>
            <a:r>
              <a:rPr lang="en-US" sz="1800" dirty="0">
                <a:solidFill>
                  <a:schemeClr val="tx1"/>
                </a:solidFill>
              </a:rPr>
              <a:t>Impacto</a:t>
            </a:r>
            <a:endParaRPr lang="en-US" sz="1800" dirty="0"/>
          </a:p>
        </p:txBody>
      </p:sp>
      <p:sp>
        <p:nvSpPr>
          <p:cNvPr id="10" name="Columna C"/>
          <p:cNvSpPr/>
          <p:nvPr/>
        </p:nvSpPr>
        <p:spPr>
          <a:xfrm>
            <a:off x="3390824" y="3474720"/>
            <a:ext cx="2567864" cy="822960"/>
          </a:xfrm>
          <a:prstGeom prst="roundRect">
            <a:avLst>
              <a:gd name="adj" fmla="val 13333"/>
            </a:avLst>
          </a:prstGeom>
          <a:solidFill>
            <a:schemeClr val="accent2"/>
          </a:solidFill>
          <a:ln/>
        </p:spPr>
      </p:sp>
      <p:sp>
        <p:nvSpPr>
          <p:cNvPr id="11" name="Text 9"/>
          <p:cNvSpPr txBox="1"/>
          <p:nvPr/>
        </p:nvSpPr>
        <p:spPr>
          <a:xfrm>
            <a:off x="3390824" y="3474720"/>
            <a:ext cx="2567864" cy="822960"/>
          </a:xfrm>
          <a:prstGeom prst="rect">
            <a:avLst/>
          </a:prstGeom>
          <a:noFill/>
          <a:ln/>
        </p:spPr>
        <p:txBody>
          <a:bodyPr wrap="square" lIns="0" tIns="0" rIns="0" bIns="0" rtlCol="0" anchor="ctr"/>
          <a:lstStyle/>
          <a:p>
            <a:pPr marL="0" indent="0" algn="ctr">
              <a:buNone/>
            </a:pPr>
            <a:r>
              <a:rPr lang="en-US" sz="1800" b="1" dirty="0">
                <a:solidFill>
                  <a:schemeClr val="bg1"/>
                </a:solidFill>
              </a:rPr>
              <a:t>Columna C  </a:t>
            </a:r>
            <a:r>
              <a:rPr lang="en-US" sz="1800" dirty="0">
                <a:solidFill>
                  <a:schemeClr val="bg1"/>
                </a:solidFill>
              </a:rPr>
              <a:t>Viabilidad</a:t>
            </a:r>
            <a:endParaRPr lang="en-US" sz="1800" dirty="0"/>
          </a:p>
        </p:txBody>
      </p:sp>
      <p:sp>
        <p:nvSpPr>
          <p:cNvPr id="12" name="Columna D"/>
          <p:cNvSpPr/>
          <p:nvPr/>
        </p:nvSpPr>
        <p:spPr>
          <a:xfrm>
            <a:off x="6233008" y="3474720"/>
            <a:ext cx="2567864" cy="822960"/>
          </a:xfrm>
          <a:prstGeom prst="roundRect">
            <a:avLst>
              <a:gd name="adj" fmla="val 13333"/>
            </a:avLst>
          </a:prstGeom>
          <a:solidFill>
            <a:schemeClr val="accent4"/>
          </a:solidFill>
          <a:ln/>
        </p:spPr>
      </p:sp>
      <p:sp>
        <p:nvSpPr>
          <p:cNvPr id="13" name="Text 11"/>
          <p:cNvSpPr txBox="1"/>
          <p:nvPr/>
        </p:nvSpPr>
        <p:spPr>
          <a:xfrm>
            <a:off x="6233008" y="3474720"/>
            <a:ext cx="2567864" cy="822960"/>
          </a:xfrm>
          <a:prstGeom prst="rect">
            <a:avLst/>
          </a:prstGeom>
          <a:noFill/>
          <a:ln/>
        </p:spPr>
        <p:txBody>
          <a:bodyPr wrap="square" lIns="0" tIns="0" rIns="0" bIns="0" rtlCol="0" anchor="ctr"/>
          <a:lstStyle/>
          <a:p>
            <a:pPr marL="0" indent="0" algn="ctr">
              <a:buNone/>
            </a:pPr>
            <a:r>
              <a:rPr lang="en-US" sz="1800" b="1" dirty="0">
                <a:solidFill>
                  <a:schemeClr val="bg1"/>
                </a:solidFill>
              </a:rPr>
              <a:t>Columna D  </a:t>
            </a:r>
            <a:r>
              <a:rPr lang="en-US" sz="1800" dirty="0">
                <a:solidFill>
                  <a:schemeClr val="bg1"/>
                </a:solidFill>
              </a:rPr>
              <a:t>Bajo coste</a:t>
            </a:r>
            <a:endParaRPr lang="en-US" sz="1800" dirty="0"/>
          </a:p>
        </p:txBody>
      </p:sp>
      <p:sp>
        <p:nvSpPr>
          <p:cNvPr id="14" name="Columna E"/>
          <p:cNvSpPr/>
          <p:nvPr/>
        </p:nvSpPr>
        <p:spPr>
          <a:xfrm>
            <a:off x="9075191" y="3474720"/>
            <a:ext cx="2567864" cy="822960"/>
          </a:xfrm>
          <a:prstGeom prst="roundRect">
            <a:avLst>
              <a:gd name="adj" fmla="val 13333"/>
            </a:avLst>
          </a:prstGeom>
          <a:solidFill>
            <a:schemeClr val="accent3"/>
          </a:solidFill>
          <a:ln/>
        </p:spPr>
      </p:sp>
      <p:sp>
        <p:nvSpPr>
          <p:cNvPr id="15" name="Text 13"/>
          <p:cNvSpPr txBox="1"/>
          <p:nvPr/>
        </p:nvSpPr>
        <p:spPr>
          <a:xfrm>
            <a:off x="9075191" y="3474720"/>
            <a:ext cx="2567864" cy="822960"/>
          </a:xfrm>
          <a:prstGeom prst="rect">
            <a:avLst/>
          </a:prstGeom>
          <a:noFill/>
          <a:ln/>
        </p:spPr>
        <p:txBody>
          <a:bodyPr wrap="square" lIns="0" tIns="0" rIns="0" bIns="0" rtlCol="0" anchor="ctr"/>
          <a:lstStyle/>
          <a:p>
            <a:pPr marL="0" indent="0" algn="ctr">
              <a:buNone/>
            </a:pPr>
            <a:r>
              <a:rPr lang="en-US" sz="1800" b="1" dirty="0">
                <a:solidFill>
                  <a:schemeClr val="bg1"/>
                </a:solidFill>
              </a:rPr>
              <a:t>Columna E  </a:t>
            </a:r>
            <a:r>
              <a:rPr lang="en-US" sz="1800" dirty="0">
                <a:solidFill>
                  <a:schemeClr val="bg1"/>
                </a:solidFill>
              </a:rPr>
              <a:t>Originalidad</a:t>
            </a:r>
            <a:endParaRPr lang="en-US" sz="1800" dirty="0"/>
          </a:p>
        </p:txBody>
      </p:sp>
      <p:sp>
        <p:nvSpPr>
          <p:cNvPr id="16" name="Copiadla hacia abajo para el resto de propuestas."/>
          <p:cNvSpPr/>
          <p:nvPr/>
        </p:nvSpPr>
        <p:spPr>
          <a:xfrm>
            <a:off x="548640" y="4572000"/>
            <a:ext cx="594360" cy="594360"/>
          </a:xfrm>
          <a:prstGeom prst="ellipse">
            <a:avLst/>
          </a:prstGeom>
          <a:solidFill>
            <a:schemeClr val="tx2"/>
          </a:solidFill>
          <a:ln/>
        </p:spPr>
      </p:sp>
      <p:pic>
        <p:nvPicPr>
          <p:cNvPr id="17" name="Image 0" descr="Copiadla hacia abajo para el resto de propuestas."/>
          <p:cNvPicPr>
            <a:picLocks noChangeAspect="1"/>
          </p:cNvPicPr>
          <p:nvPr/>
        </p:nvPicPr>
        <p:blipFill>
          <a:blip r:embed="rId3"/>
          <a:stretch>
            <a:fillRect/>
          </a:stretch>
        </p:blipFill>
        <p:spPr>
          <a:xfrm>
            <a:off x="691286" y="4714646"/>
            <a:ext cx="309067" cy="309067"/>
          </a:xfrm>
          <a:prstGeom prst="rect">
            <a:avLst/>
          </a:prstGeom>
        </p:spPr>
      </p:pic>
      <p:sp>
        <p:nvSpPr>
          <p:cNvPr id="18" name="Text 15"/>
          <p:cNvSpPr txBox="1"/>
          <p:nvPr/>
        </p:nvSpPr>
        <p:spPr>
          <a:xfrm>
            <a:off x="1371600" y="4572000"/>
            <a:ext cx="10058400" cy="594360"/>
          </a:xfrm>
          <a:prstGeom prst="rect">
            <a:avLst/>
          </a:prstGeom>
          <a:noFill/>
          <a:ln/>
        </p:spPr>
        <p:txBody>
          <a:bodyPr wrap="square" lIns="0" tIns="0" rIns="0" bIns="0" rtlCol="0" anchor="ctr"/>
          <a:lstStyle/>
          <a:p>
            <a:pPr marL="0" indent="0">
              <a:buNone/>
            </a:pPr>
            <a:r>
              <a:rPr lang="en-US" sz="1900" dirty="0">
                <a:solidFill>
                  <a:schemeClr val="tx1"/>
                </a:solidFill>
              </a:rPr>
              <a:t>Copiadla hacia abajo para el resto de propuestas.</a:t>
            </a:r>
            <a:endParaRPr lang="en-US" sz="1900" dirty="0"/>
          </a:p>
        </p:txBody>
      </p:sp>
      <p:sp>
        <p:nvSpPr>
          <p:cNvPr id="19" name="Ordenad las propuestas por resultado."/>
          <p:cNvSpPr/>
          <p:nvPr/>
        </p:nvSpPr>
        <p:spPr>
          <a:xfrm>
            <a:off x="548640" y="5349240"/>
            <a:ext cx="594360" cy="594360"/>
          </a:xfrm>
          <a:prstGeom prst="ellipse">
            <a:avLst/>
          </a:prstGeom>
          <a:solidFill>
            <a:schemeClr val="tx2"/>
          </a:solidFill>
          <a:ln/>
        </p:spPr>
      </p:sp>
      <p:pic>
        <p:nvPicPr>
          <p:cNvPr id="20" name="Image 1" descr="Ordenad las propuestas por resultado."/>
          <p:cNvPicPr>
            <a:picLocks noChangeAspect="1"/>
          </p:cNvPicPr>
          <p:nvPr/>
        </p:nvPicPr>
        <p:blipFill>
          <a:blip r:embed="rId4"/>
          <a:stretch>
            <a:fillRect/>
          </a:stretch>
        </p:blipFill>
        <p:spPr>
          <a:xfrm>
            <a:off x="691286" y="5491886"/>
            <a:ext cx="309067" cy="309067"/>
          </a:xfrm>
          <a:prstGeom prst="rect">
            <a:avLst/>
          </a:prstGeom>
        </p:spPr>
      </p:pic>
      <p:sp>
        <p:nvSpPr>
          <p:cNvPr id="21" name="Text 17"/>
          <p:cNvSpPr txBox="1"/>
          <p:nvPr/>
        </p:nvSpPr>
        <p:spPr>
          <a:xfrm>
            <a:off x="1371600" y="5349240"/>
            <a:ext cx="10058400" cy="594360"/>
          </a:xfrm>
          <a:prstGeom prst="rect">
            <a:avLst/>
          </a:prstGeom>
          <a:noFill/>
          <a:ln/>
        </p:spPr>
        <p:txBody>
          <a:bodyPr wrap="square" lIns="0" tIns="0" rIns="0" bIns="0" rtlCol="0" anchor="ctr"/>
          <a:lstStyle/>
          <a:p>
            <a:pPr marL="0" indent="0">
              <a:buNone/>
            </a:pPr>
            <a:r>
              <a:rPr lang="en-US" sz="1900" dirty="0">
                <a:solidFill>
                  <a:schemeClr val="tx1"/>
                </a:solidFill>
              </a:rPr>
              <a:t>Ordenad las propuestas por resultado.</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Abrid la matriz de decisión</a:t>
            </a:r>
            <a:endParaRPr lang="en-US" sz="3200" dirty="0"/>
          </a:p>
        </p:txBody>
      </p:sp>
      <p:sp>
        <p:nvSpPr>
          <p:cNvPr id="3" name="Etiqueta de tiempo"/>
          <p:cNvSpPr/>
          <p:nvPr/>
        </p:nvSpPr>
        <p:spPr>
          <a:xfrm>
            <a:off x="9293047" y="548640"/>
            <a:ext cx="2350008" cy="457200"/>
          </a:xfrm>
          <a:prstGeom prst="roundRect">
            <a:avLst>
              <a:gd name="adj" fmla="val 50000"/>
            </a:avLst>
          </a:prstGeom>
          <a:solidFill>
            <a:schemeClr val="accent1"/>
          </a:solidFill>
          <a:ln/>
        </p:spPr>
      </p:sp>
      <p:sp>
        <p:nvSpPr>
          <p:cNvPr id="4" name="Text 2"/>
          <p:cNvSpPr txBox="1"/>
          <p:nvPr/>
        </p:nvSpPr>
        <p:spPr>
          <a:xfrm>
            <a:off x="9293047" y="548640"/>
            <a:ext cx="2350008" cy="457200"/>
          </a:xfrm>
          <a:prstGeom prst="rect">
            <a:avLst/>
          </a:prstGeom>
          <a:noFill/>
          <a:ln/>
        </p:spPr>
        <p:txBody>
          <a:bodyPr wrap="square" lIns="0" tIns="0" rIns="0" bIns="0" rtlCol="0" anchor="ctr"/>
          <a:lstStyle/>
          <a:p>
            <a:pPr marL="0" indent="0" algn="ctr">
              <a:buNone/>
            </a:pPr>
            <a:r>
              <a:rPr lang="en-US" sz="1400" b="1" dirty="0">
                <a:solidFill>
                  <a:schemeClr val="tx1"/>
                </a:solidFill>
              </a:rPr>
              <a:t>Min. 113 · Parejas</a:t>
            </a:r>
            <a:endParaRPr lang="en-US" sz="1400" dirty="0"/>
          </a:p>
        </p:txBody>
      </p:sp>
      <p:sp>
        <p:nvSpPr>
          <p:cNvPr id="5" name="Archivo"/>
          <p:cNvSpPr/>
          <p:nvPr/>
        </p:nvSpPr>
        <p:spPr>
          <a:xfrm>
            <a:off x="548640" y="1554480"/>
            <a:ext cx="4572000" cy="4206240"/>
          </a:xfrm>
          <a:prstGeom prst="roundRect">
            <a:avLst>
              <a:gd name="adj" fmla="val 3261"/>
            </a:avLst>
          </a:prstGeom>
          <a:solidFill>
            <a:schemeClr val="bg2"/>
          </a:solidFill>
          <a:ln/>
        </p:spPr>
      </p:sp>
      <p:sp>
        <p:nvSpPr>
          <p:cNvPr id="6" name="Icono del archivo"/>
          <p:cNvSpPr/>
          <p:nvPr/>
        </p:nvSpPr>
        <p:spPr>
          <a:xfrm>
            <a:off x="2103120" y="2011680"/>
            <a:ext cx="1463040" cy="1463040"/>
          </a:xfrm>
          <a:prstGeom prst="ellipse">
            <a:avLst/>
          </a:prstGeom>
          <a:solidFill>
            <a:schemeClr val="accent1"/>
          </a:solidFill>
          <a:ln/>
        </p:spPr>
      </p:sp>
      <p:pic>
        <p:nvPicPr>
          <p:cNvPr id="7" name="Image 0" descr="Icono del archivo"/>
          <p:cNvPicPr>
            <a:picLocks noChangeAspect="1"/>
          </p:cNvPicPr>
          <p:nvPr/>
        </p:nvPicPr>
        <p:blipFill>
          <a:blip r:embed="rId3"/>
          <a:stretch>
            <a:fillRect/>
          </a:stretch>
        </p:blipFill>
        <p:spPr>
          <a:xfrm>
            <a:off x="2454250" y="2362810"/>
            <a:ext cx="760781" cy="760781"/>
          </a:xfrm>
          <a:prstGeom prst="rect">
            <a:avLst/>
          </a:prstGeom>
        </p:spPr>
      </p:pic>
      <p:sp>
        <p:nvSpPr>
          <p:cNvPr id="8" name="Text 5"/>
          <p:cNvSpPr txBox="1"/>
          <p:nvPr/>
        </p:nvSpPr>
        <p:spPr>
          <a:xfrm>
            <a:off x="731520" y="3749040"/>
            <a:ext cx="4206240" cy="731520"/>
          </a:xfrm>
          <a:prstGeom prst="rect">
            <a:avLst/>
          </a:prstGeom>
          <a:noFill/>
          <a:ln/>
        </p:spPr>
        <p:txBody>
          <a:bodyPr wrap="square" lIns="0" tIns="0" rIns="0" bIns="0" rtlCol="0" anchor="ctr">
            <a:normAutofit/>
          </a:bodyPr>
          <a:lstStyle/>
          <a:p>
            <a:pPr marL="0" indent="0" algn="ctr">
              <a:buNone/>
            </a:pPr>
            <a:r>
              <a:rPr lang="en-US" sz="2200" b="1" dirty="0">
                <a:solidFill>
                  <a:schemeClr val="tx1"/>
                </a:solidFill>
              </a:rPr>
              <a:t>matriz_decision.xlsx</a:t>
            </a:r>
            <a:endParaRPr lang="en-US" sz="2200" dirty="0"/>
          </a:p>
        </p:txBody>
      </p:sp>
      <p:sp>
        <p:nvSpPr>
          <p:cNvPr id="9" name="Text 6"/>
          <p:cNvSpPr txBox="1"/>
          <p:nvPr/>
        </p:nvSpPr>
        <p:spPr>
          <a:xfrm>
            <a:off x="731520" y="4526280"/>
            <a:ext cx="4206240" cy="457200"/>
          </a:xfrm>
          <a:prstGeom prst="rect">
            <a:avLst/>
          </a:prstGeom>
          <a:noFill/>
          <a:ln/>
        </p:spPr>
        <p:txBody>
          <a:bodyPr wrap="square" lIns="0" tIns="0" rIns="0" bIns="0" rtlCol="0" anchor="ctr"/>
          <a:lstStyle/>
          <a:p>
            <a:pPr marL="0" indent="0" algn="ctr">
              <a:buNone/>
            </a:pPr>
            <a:r>
              <a:rPr lang="en-US" sz="1600" dirty="0">
                <a:solidFill>
                  <a:schemeClr val="accent5"/>
                </a:solidFill>
              </a:rPr>
              <a:t>Excel o Google Sheets</a:t>
            </a:r>
            <a:endParaRPr lang="en-US" sz="1600" dirty="0"/>
          </a:p>
        </p:txBody>
      </p:sp>
      <p:sp>
        <p:nvSpPr>
          <p:cNvPr id="10" name="Paso 1"/>
          <p:cNvSpPr/>
          <p:nvPr/>
        </p:nvSpPr>
        <p:spPr>
          <a:xfrm>
            <a:off x="5577840" y="1737360"/>
            <a:ext cx="640080" cy="640080"/>
          </a:xfrm>
          <a:prstGeom prst="ellipse">
            <a:avLst/>
          </a:prstGeom>
          <a:solidFill>
            <a:schemeClr val="accent1"/>
          </a:solidFill>
          <a:ln/>
        </p:spPr>
      </p:sp>
      <p:sp>
        <p:nvSpPr>
          <p:cNvPr id="11" name="Text 8"/>
          <p:cNvSpPr txBox="1"/>
          <p:nvPr/>
        </p:nvSpPr>
        <p:spPr>
          <a:xfrm>
            <a:off x="5577840" y="17373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12" name="Text 9"/>
          <p:cNvSpPr txBox="1"/>
          <p:nvPr/>
        </p:nvSpPr>
        <p:spPr>
          <a:xfrm>
            <a:off x="6446520" y="1600200"/>
            <a:ext cx="5196535" cy="914400"/>
          </a:xfrm>
          <a:prstGeom prst="rect">
            <a:avLst/>
          </a:prstGeom>
          <a:noFill/>
          <a:ln/>
        </p:spPr>
        <p:txBody>
          <a:bodyPr wrap="square" lIns="0" tIns="0" rIns="0" bIns="0" rtlCol="0" anchor="ctr"/>
          <a:lstStyle/>
          <a:p>
            <a:pPr marL="0" indent="0">
              <a:buNone/>
            </a:pPr>
            <a:r>
              <a:rPr lang="en-US" sz="2000" dirty="0">
                <a:solidFill>
                  <a:schemeClr val="tx1"/>
                </a:solidFill>
              </a:rPr>
              <a:t>Copiad vuestras tres propuestas del cuaderno en la columna «Propuesta».</a:t>
            </a:r>
            <a:endParaRPr lang="en-US" sz="2000" dirty="0"/>
          </a:p>
        </p:txBody>
      </p:sp>
      <p:sp>
        <p:nvSpPr>
          <p:cNvPr id="13" name="Paso 2"/>
          <p:cNvSpPr/>
          <p:nvPr/>
        </p:nvSpPr>
        <p:spPr>
          <a:xfrm>
            <a:off x="5577840" y="3108960"/>
            <a:ext cx="640080" cy="640080"/>
          </a:xfrm>
          <a:prstGeom prst="ellipse">
            <a:avLst/>
          </a:prstGeom>
          <a:solidFill>
            <a:schemeClr val="accent1"/>
          </a:solidFill>
          <a:ln/>
        </p:spPr>
      </p:sp>
      <p:sp>
        <p:nvSpPr>
          <p:cNvPr id="14" name="Text 11"/>
          <p:cNvSpPr txBox="1"/>
          <p:nvPr/>
        </p:nvSpPr>
        <p:spPr>
          <a:xfrm>
            <a:off x="5577840" y="31089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2</a:t>
            </a:r>
            <a:endParaRPr lang="en-US" sz="2200" dirty="0"/>
          </a:p>
        </p:txBody>
      </p:sp>
      <p:sp>
        <p:nvSpPr>
          <p:cNvPr id="15" name="Text 12"/>
          <p:cNvSpPr txBox="1"/>
          <p:nvPr/>
        </p:nvSpPr>
        <p:spPr>
          <a:xfrm>
            <a:off x="6446520" y="2971800"/>
            <a:ext cx="5196535" cy="914400"/>
          </a:xfrm>
          <a:prstGeom prst="rect">
            <a:avLst/>
          </a:prstGeom>
          <a:noFill/>
          <a:ln/>
        </p:spPr>
        <p:txBody>
          <a:bodyPr wrap="square" lIns="0" tIns="0" rIns="0" bIns="0" rtlCol="0" anchor="ctr"/>
          <a:lstStyle/>
          <a:p>
            <a:pPr marL="0" indent="0">
              <a:buNone/>
            </a:pPr>
            <a:r>
              <a:rPr lang="en-US" sz="2000" dirty="0">
                <a:solidFill>
                  <a:schemeClr val="tx1"/>
                </a:solidFill>
              </a:rPr>
              <a:t>Puntuad del 1 al 5 en las celdas ámbar: el «Resultado» se calcula solo.</a:t>
            </a:r>
            <a:endParaRPr lang="en-US" sz="2000" dirty="0"/>
          </a:p>
        </p:txBody>
      </p:sp>
      <p:sp>
        <p:nvSpPr>
          <p:cNvPr id="16" name="Paso 3"/>
          <p:cNvSpPr/>
          <p:nvPr/>
        </p:nvSpPr>
        <p:spPr>
          <a:xfrm>
            <a:off x="5577840" y="4480560"/>
            <a:ext cx="640080" cy="640080"/>
          </a:xfrm>
          <a:prstGeom prst="ellipse">
            <a:avLst/>
          </a:prstGeom>
          <a:solidFill>
            <a:schemeClr val="accent1"/>
          </a:solidFill>
          <a:ln/>
        </p:spPr>
      </p:sp>
      <p:sp>
        <p:nvSpPr>
          <p:cNvPr id="17" name="Text 14"/>
          <p:cNvSpPr txBox="1"/>
          <p:nvPr/>
        </p:nvSpPr>
        <p:spPr>
          <a:xfrm>
            <a:off x="5577840" y="44805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18" name="Text 15"/>
          <p:cNvSpPr txBox="1"/>
          <p:nvPr/>
        </p:nvSpPr>
        <p:spPr>
          <a:xfrm>
            <a:off x="6446520" y="4343400"/>
            <a:ext cx="5196535" cy="914400"/>
          </a:xfrm>
          <a:prstGeom prst="rect">
            <a:avLst/>
          </a:prstGeom>
          <a:noFill/>
          <a:ln/>
        </p:spPr>
        <p:txBody>
          <a:bodyPr wrap="square" lIns="0" tIns="0" rIns="0" bIns="0" rtlCol="0" anchor="ctr"/>
          <a:lstStyle/>
          <a:p>
            <a:pPr marL="0" indent="0">
              <a:buNone/>
            </a:pPr>
            <a:r>
              <a:rPr lang="en-US" sz="2000" dirty="0">
                <a:solidFill>
                  <a:schemeClr val="tx1"/>
                </a:solidFill>
              </a:rPr>
              <a:t>Abajo, en «Nuestra decisión», escribid la ganadora y por qué.</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Ejercicio 4: elegir con criterio</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113–140 · Parejas</a:t>
            </a:r>
            <a:endParaRPr lang="en-US" sz="1400" dirty="0"/>
          </a:p>
        </p:txBody>
      </p:sp>
      <p:sp>
        <p:nvSpPr>
          <p:cNvPr id="5" name="Paso 1"/>
          <p:cNvSpPr/>
          <p:nvPr/>
        </p:nvSpPr>
        <p:spPr>
          <a:xfrm>
            <a:off x="548640" y="1554480"/>
            <a:ext cx="502920" cy="502920"/>
          </a:xfrm>
          <a:prstGeom prst="ellipse">
            <a:avLst/>
          </a:prstGeom>
          <a:solidFill>
            <a:schemeClr val="accent1"/>
          </a:solidFill>
          <a:ln/>
        </p:spPr>
      </p:sp>
      <p:sp>
        <p:nvSpPr>
          <p:cNvPr id="6" name="Text 4"/>
          <p:cNvSpPr txBox="1"/>
          <p:nvPr/>
        </p:nvSpPr>
        <p:spPr>
          <a:xfrm>
            <a:off x="548640" y="155448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7" name="Paso 1"/>
          <p:cNvSpPr/>
          <p:nvPr/>
        </p:nvSpPr>
        <p:spPr>
          <a:xfrm>
            <a:off x="1280160" y="1463040"/>
            <a:ext cx="685800" cy="685800"/>
          </a:xfrm>
          <a:prstGeom prst="ellipse">
            <a:avLst/>
          </a:prstGeom>
          <a:solidFill>
            <a:schemeClr val="tx2"/>
          </a:solidFill>
          <a:ln/>
        </p:spPr>
      </p:sp>
      <p:pic>
        <p:nvPicPr>
          <p:cNvPr id="8" name="Image 0" descr="Paso 1"/>
          <p:cNvPicPr>
            <a:picLocks noChangeAspect="1"/>
          </p:cNvPicPr>
          <p:nvPr/>
        </p:nvPicPr>
        <p:blipFill>
          <a:blip r:embed="rId3"/>
          <a:stretch>
            <a:fillRect/>
          </a:stretch>
        </p:blipFill>
        <p:spPr>
          <a:xfrm>
            <a:off x="1444752" y="1627632"/>
            <a:ext cx="356616" cy="356616"/>
          </a:xfrm>
          <a:prstGeom prst="rect">
            <a:avLst/>
          </a:prstGeom>
        </p:spPr>
      </p:pic>
      <p:sp>
        <p:nvSpPr>
          <p:cNvPr id="9" name="Text 6"/>
          <p:cNvSpPr txBox="1"/>
          <p:nvPr/>
        </p:nvSpPr>
        <p:spPr>
          <a:xfrm>
            <a:off x="2194560" y="1463040"/>
            <a:ext cx="9448495" cy="685800"/>
          </a:xfrm>
          <a:prstGeom prst="rect">
            <a:avLst/>
          </a:prstGeom>
          <a:noFill/>
          <a:ln/>
        </p:spPr>
        <p:txBody>
          <a:bodyPr wrap="square" lIns="0" tIns="0" rIns="0" bIns="0" rtlCol="0" anchor="ctr"/>
          <a:lstStyle/>
          <a:p>
            <a:pPr marL="0" indent="0">
              <a:buNone/>
            </a:pPr>
            <a:r>
              <a:rPr lang="en-US" sz="1900" dirty="0">
                <a:solidFill>
                  <a:schemeClr val="tx1"/>
                </a:solidFill>
              </a:rPr>
              <a:t>Introducid vuestras tres propuestas del bloque 2 en Excel o Sheets.</a:t>
            </a:r>
            <a:endParaRPr lang="en-US" sz="1900" dirty="0"/>
          </a:p>
        </p:txBody>
      </p:sp>
      <p:sp>
        <p:nvSpPr>
          <p:cNvPr id="10" name="Paso 2"/>
          <p:cNvSpPr/>
          <p:nvPr/>
        </p:nvSpPr>
        <p:spPr>
          <a:xfrm>
            <a:off x="548640" y="2423160"/>
            <a:ext cx="502920" cy="502920"/>
          </a:xfrm>
          <a:prstGeom prst="ellipse">
            <a:avLst/>
          </a:prstGeom>
          <a:solidFill>
            <a:schemeClr val="accent1"/>
          </a:solidFill>
          <a:ln/>
        </p:spPr>
      </p:sp>
      <p:sp>
        <p:nvSpPr>
          <p:cNvPr id="11" name="Text 8"/>
          <p:cNvSpPr txBox="1"/>
          <p:nvPr/>
        </p:nvSpPr>
        <p:spPr>
          <a:xfrm>
            <a:off x="548640" y="242316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2" name="Paso 2"/>
          <p:cNvSpPr/>
          <p:nvPr/>
        </p:nvSpPr>
        <p:spPr>
          <a:xfrm>
            <a:off x="1280160" y="2331720"/>
            <a:ext cx="685800" cy="685800"/>
          </a:xfrm>
          <a:prstGeom prst="ellipse">
            <a:avLst/>
          </a:prstGeom>
          <a:solidFill>
            <a:schemeClr val="tx2"/>
          </a:solidFill>
          <a:ln/>
        </p:spPr>
      </p:sp>
      <p:pic>
        <p:nvPicPr>
          <p:cNvPr id="13" name="Image 1" descr="Paso 2"/>
          <p:cNvPicPr>
            <a:picLocks noChangeAspect="1"/>
          </p:cNvPicPr>
          <p:nvPr/>
        </p:nvPicPr>
        <p:blipFill>
          <a:blip r:embed="rId4"/>
          <a:stretch>
            <a:fillRect/>
          </a:stretch>
        </p:blipFill>
        <p:spPr>
          <a:xfrm>
            <a:off x="1444752" y="2496312"/>
            <a:ext cx="356616" cy="356616"/>
          </a:xfrm>
          <a:prstGeom prst="rect">
            <a:avLst/>
          </a:prstGeom>
        </p:spPr>
      </p:pic>
      <p:sp>
        <p:nvSpPr>
          <p:cNvPr id="14" name="Text 10"/>
          <p:cNvSpPr txBox="1"/>
          <p:nvPr/>
        </p:nvSpPr>
        <p:spPr>
          <a:xfrm>
            <a:off x="2194560" y="2331720"/>
            <a:ext cx="9448495" cy="685800"/>
          </a:xfrm>
          <a:prstGeom prst="rect">
            <a:avLst/>
          </a:prstGeom>
          <a:noFill/>
          <a:ln/>
        </p:spPr>
        <p:txBody>
          <a:bodyPr wrap="square" lIns="0" tIns="0" rIns="0" bIns="0" rtlCol="0" anchor="ctr"/>
          <a:lstStyle/>
          <a:p>
            <a:pPr marL="0" indent="0">
              <a:buNone/>
            </a:pPr>
            <a:r>
              <a:rPr lang="en-US" sz="1900" dirty="0">
                <a:solidFill>
                  <a:schemeClr val="tx1"/>
                </a:solidFill>
              </a:rPr>
              <a:t>Puntuad cada criterio y calculad el total ponderado.</a:t>
            </a:r>
            <a:endParaRPr lang="en-US" sz="1900" dirty="0"/>
          </a:p>
        </p:txBody>
      </p:sp>
      <p:sp>
        <p:nvSpPr>
          <p:cNvPr id="15" name="Paso 3"/>
          <p:cNvSpPr/>
          <p:nvPr/>
        </p:nvSpPr>
        <p:spPr>
          <a:xfrm>
            <a:off x="548640" y="3291840"/>
            <a:ext cx="502920" cy="502920"/>
          </a:xfrm>
          <a:prstGeom prst="ellipse">
            <a:avLst/>
          </a:prstGeom>
          <a:solidFill>
            <a:schemeClr val="accent1"/>
          </a:solidFill>
          <a:ln/>
        </p:spPr>
      </p:sp>
      <p:sp>
        <p:nvSpPr>
          <p:cNvPr id="16" name="Text 12"/>
          <p:cNvSpPr txBox="1"/>
          <p:nvPr/>
        </p:nvSpPr>
        <p:spPr>
          <a:xfrm>
            <a:off x="548640" y="329184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7" name="Paso 3"/>
          <p:cNvSpPr/>
          <p:nvPr/>
        </p:nvSpPr>
        <p:spPr>
          <a:xfrm>
            <a:off x="1280160" y="3200400"/>
            <a:ext cx="685800" cy="685800"/>
          </a:xfrm>
          <a:prstGeom prst="ellipse">
            <a:avLst/>
          </a:prstGeom>
          <a:solidFill>
            <a:schemeClr val="tx2"/>
          </a:solidFill>
          <a:ln/>
        </p:spPr>
      </p:sp>
      <p:pic>
        <p:nvPicPr>
          <p:cNvPr id="18" name="Image 2" descr="Paso 3"/>
          <p:cNvPicPr>
            <a:picLocks noChangeAspect="1"/>
          </p:cNvPicPr>
          <p:nvPr/>
        </p:nvPicPr>
        <p:blipFill>
          <a:blip r:embed="rId5"/>
          <a:stretch>
            <a:fillRect/>
          </a:stretch>
        </p:blipFill>
        <p:spPr>
          <a:xfrm>
            <a:off x="1444752" y="3364992"/>
            <a:ext cx="356616" cy="356616"/>
          </a:xfrm>
          <a:prstGeom prst="rect">
            <a:avLst/>
          </a:prstGeom>
        </p:spPr>
      </p:pic>
      <p:sp>
        <p:nvSpPr>
          <p:cNvPr id="19" name="Text 14"/>
          <p:cNvSpPr txBox="1"/>
          <p:nvPr/>
        </p:nvSpPr>
        <p:spPr>
          <a:xfrm>
            <a:off x="2194560" y="3200400"/>
            <a:ext cx="9448495" cy="685800"/>
          </a:xfrm>
          <a:prstGeom prst="rect">
            <a:avLst/>
          </a:prstGeom>
          <a:noFill/>
          <a:ln/>
        </p:spPr>
        <p:txBody>
          <a:bodyPr wrap="square" lIns="0" tIns="0" rIns="0" bIns="0" rtlCol="0" anchor="ctr"/>
          <a:lstStyle/>
          <a:p>
            <a:pPr marL="0" indent="0">
              <a:buNone/>
            </a:pPr>
            <a:r>
              <a:rPr lang="en-US" sz="1900" dirty="0">
                <a:solidFill>
                  <a:schemeClr val="tx1"/>
                </a:solidFill>
              </a:rPr>
              <a:t>Ordenad las propuestas por resultado.</a:t>
            </a:r>
            <a:endParaRPr lang="en-US" sz="1900" dirty="0"/>
          </a:p>
        </p:txBody>
      </p:sp>
      <p:sp>
        <p:nvSpPr>
          <p:cNvPr id="20" name="Paso 4"/>
          <p:cNvSpPr/>
          <p:nvPr/>
        </p:nvSpPr>
        <p:spPr>
          <a:xfrm>
            <a:off x="548640" y="4160520"/>
            <a:ext cx="502920" cy="502920"/>
          </a:xfrm>
          <a:prstGeom prst="ellipse">
            <a:avLst/>
          </a:prstGeom>
          <a:solidFill>
            <a:schemeClr val="accent1"/>
          </a:solidFill>
          <a:ln/>
        </p:spPr>
      </p:sp>
      <p:sp>
        <p:nvSpPr>
          <p:cNvPr id="21" name="Text 16"/>
          <p:cNvSpPr txBox="1"/>
          <p:nvPr/>
        </p:nvSpPr>
        <p:spPr>
          <a:xfrm>
            <a:off x="548640" y="416052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22" name="Paso 4"/>
          <p:cNvSpPr/>
          <p:nvPr/>
        </p:nvSpPr>
        <p:spPr>
          <a:xfrm>
            <a:off x="1280160" y="4069080"/>
            <a:ext cx="685800" cy="685800"/>
          </a:xfrm>
          <a:prstGeom prst="ellipse">
            <a:avLst/>
          </a:prstGeom>
          <a:solidFill>
            <a:schemeClr val="tx2"/>
          </a:solidFill>
          <a:ln/>
        </p:spPr>
      </p:sp>
      <p:pic>
        <p:nvPicPr>
          <p:cNvPr id="23" name="Image 3" descr="Paso 4"/>
          <p:cNvPicPr>
            <a:picLocks noChangeAspect="1"/>
          </p:cNvPicPr>
          <p:nvPr/>
        </p:nvPicPr>
        <p:blipFill>
          <a:blip r:embed="rId6"/>
          <a:stretch>
            <a:fillRect/>
          </a:stretch>
        </p:blipFill>
        <p:spPr>
          <a:xfrm>
            <a:off x="1444752" y="4233672"/>
            <a:ext cx="356616" cy="356616"/>
          </a:xfrm>
          <a:prstGeom prst="rect">
            <a:avLst/>
          </a:prstGeom>
        </p:spPr>
      </p:pic>
      <p:sp>
        <p:nvSpPr>
          <p:cNvPr id="24" name="Text 18"/>
          <p:cNvSpPr txBox="1"/>
          <p:nvPr/>
        </p:nvSpPr>
        <p:spPr>
          <a:xfrm>
            <a:off x="2194560" y="4069080"/>
            <a:ext cx="9448495" cy="685800"/>
          </a:xfrm>
          <a:prstGeom prst="rect">
            <a:avLst/>
          </a:prstGeom>
          <a:noFill/>
          <a:ln/>
        </p:spPr>
        <p:txBody>
          <a:bodyPr wrap="square" lIns="0" tIns="0" rIns="0" bIns="0" rtlCol="0" anchor="ctr"/>
          <a:lstStyle/>
          <a:p>
            <a:pPr marL="0" indent="0">
              <a:buNone/>
            </a:pPr>
            <a:r>
              <a:rPr lang="en-US" sz="1900" dirty="0">
                <a:solidFill>
                  <a:schemeClr val="tx1"/>
                </a:solidFill>
              </a:rPr>
              <a:t>Discutid: ¿la primera os parece de verdad la más adecuada?</a:t>
            </a:r>
            <a:endParaRPr lang="en-US" sz="1900" dirty="0"/>
          </a:p>
        </p:txBody>
      </p:sp>
      <p:sp>
        <p:nvSpPr>
          <p:cNvPr id="25" name="Paso 5"/>
          <p:cNvSpPr/>
          <p:nvPr/>
        </p:nvSpPr>
        <p:spPr>
          <a:xfrm>
            <a:off x="548640" y="5029200"/>
            <a:ext cx="502920" cy="502920"/>
          </a:xfrm>
          <a:prstGeom prst="ellipse">
            <a:avLst/>
          </a:prstGeom>
          <a:solidFill>
            <a:schemeClr val="accent1"/>
          </a:solidFill>
          <a:ln/>
        </p:spPr>
      </p:sp>
      <p:sp>
        <p:nvSpPr>
          <p:cNvPr id="26" name="Text 20"/>
          <p:cNvSpPr txBox="1"/>
          <p:nvPr/>
        </p:nvSpPr>
        <p:spPr>
          <a:xfrm>
            <a:off x="548640" y="502920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5</a:t>
            </a:r>
            <a:endParaRPr lang="en-US" sz="1800" dirty="0"/>
          </a:p>
        </p:txBody>
      </p:sp>
      <p:sp>
        <p:nvSpPr>
          <p:cNvPr id="27" name="Paso 5"/>
          <p:cNvSpPr/>
          <p:nvPr/>
        </p:nvSpPr>
        <p:spPr>
          <a:xfrm>
            <a:off x="1280160" y="4937760"/>
            <a:ext cx="685800" cy="685800"/>
          </a:xfrm>
          <a:prstGeom prst="ellipse">
            <a:avLst/>
          </a:prstGeom>
          <a:solidFill>
            <a:schemeClr val="tx2"/>
          </a:solidFill>
          <a:ln/>
        </p:spPr>
      </p:sp>
      <p:pic>
        <p:nvPicPr>
          <p:cNvPr id="28" name="Image 4" descr="Paso 5"/>
          <p:cNvPicPr>
            <a:picLocks noChangeAspect="1"/>
          </p:cNvPicPr>
          <p:nvPr/>
        </p:nvPicPr>
        <p:blipFill>
          <a:blip r:embed="rId7"/>
          <a:stretch>
            <a:fillRect/>
          </a:stretch>
        </p:blipFill>
        <p:spPr>
          <a:xfrm>
            <a:off x="1444752" y="5102352"/>
            <a:ext cx="356616" cy="356616"/>
          </a:xfrm>
          <a:prstGeom prst="rect">
            <a:avLst/>
          </a:prstGeom>
        </p:spPr>
      </p:pic>
      <p:sp>
        <p:nvSpPr>
          <p:cNvPr id="29" name="Text 22"/>
          <p:cNvSpPr txBox="1"/>
          <p:nvPr/>
        </p:nvSpPr>
        <p:spPr>
          <a:xfrm>
            <a:off x="2194560" y="4937760"/>
            <a:ext cx="9448495" cy="685800"/>
          </a:xfrm>
          <a:prstGeom prst="rect">
            <a:avLst/>
          </a:prstGeom>
          <a:noFill/>
          <a:ln/>
        </p:spPr>
        <p:txBody>
          <a:bodyPr wrap="square" lIns="0" tIns="0" rIns="0" bIns="0" rtlCol="0" anchor="ctr"/>
          <a:lstStyle/>
          <a:p>
            <a:pPr marL="0" indent="0">
              <a:buNone/>
            </a:pPr>
            <a:r>
              <a:rPr lang="en-US" sz="1900" dirty="0">
                <a:solidFill>
                  <a:schemeClr val="tx1"/>
                </a:solidFill>
              </a:rPr>
              <a:t>Cambiad los pesos (sin pasar del 100 %), dando más importancia al coste. ¿Cambia la clasificación?</a:t>
            </a:r>
            <a:endParaRPr lang="en-US" sz="1900" dirty="0"/>
          </a:p>
        </p:txBody>
      </p:sp>
      <p:sp>
        <p:nvSpPr>
          <p:cNvPr id="30" name="Text 23"/>
          <p:cNvSpPr txBox="1"/>
          <p:nvPr/>
        </p:nvSpPr>
        <p:spPr>
          <a:xfrm>
            <a:off x="548640" y="5760720"/>
            <a:ext cx="11094415" cy="457200"/>
          </a:xfrm>
          <a:prstGeom prst="rect">
            <a:avLst/>
          </a:prstGeom>
          <a:noFill/>
          <a:ln/>
        </p:spPr>
        <p:txBody>
          <a:bodyPr wrap="square" lIns="0" tIns="0" rIns="0" bIns="0" rtlCol="0" anchor="ctr"/>
          <a:lstStyle/>
          <a:p>
            <a:pPr marL="0" indent="0">
              <a:buNone/>
            </a:pPr>
            <a:r>
              <a:rPr lang="en-US" sz="2200" b="1" dirty="0">
                <a:solidFill>
                  <a:schemeClr val="accent2"/>
                </a:solidFill>
              </a:rPr>
              <a:t>6 y 7  </a:t>
            </a:r>
            <a:r>
              <a:rPr lang="en-US" sz="1900" b="1" dirty="0">
                <a:solidFill>
                  <a:schemeClr val="accent2"/>
                </a:solidFill>
              </a:rPr>
              <a:t>Después, la IA revisa vuestra matriz y vosotros decidís →</a:t>
            </a:r>
            <a:endParaRPr lang="en-US" sz="1900" dirty="0"/>
          </a:p>
        </p:txBody>
      </p:sp>
      <p:sp>
        <p:nvSpPr>
          <p:cNvPr id="31"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69</a:t>
            </a:fld>
            <a:endParaRPr lang="en-US"/>
          </a:p>
        </p:txBody>
      </p:sp>
      <p:sp>
        <p:nvSpPr>
          <p:cNvPr id="32" name="Dónde escribir"/>
          <p:cNvSpPr/>
          <p:nvPr/>
        </p:nvSpPr>
        <p:spPr>
          <a:xfrm>
            <a:off x="6506870" y="6291072"/>
            <a:ext cx="4420209"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matriz_decision.xlsx</a:t>
            </a:r>
            <a:r>
              <a:rPr lang="es-ES" sz="1300" dirty="0">
                <a:solidFill>
                  <a:schemeClr val="tx1"/>
                </a:solidFill>
                <a:latin typeface="+mn-lt"/>
              </a:rPr>
              <a:t>  ›  hoja «Matriz»  ›  celdas ámbar</a:t>
            </a:r>
          </a:p>
        </p:txBody>
      </p:sp>
      <p:sp>
        <p:nvSpPr>
          <p:cNvPr id="33" name="Dónde escribir: círculo"/>
          <p:cNvSpPr/>
          <p:nvPr/>
        </p:nvSpPr>
        <p:spPr>
          <a:xfrm>
            <a:off x="6561734" y="6336792"/>
            <a:ext cx="292608" cy="292608"/>
          </a:xfrm>
          <a:prstGeom prst="ellipse">
            <a:avLst/>
          </a:prstGeom>
          <a:solidFill>
            <a:schemeClr val="accent1"/>
          </a:solidFill>
          <a:ln>
            <a:noFill/>
          </a:ln>
        </p:spPr>
      </p:sp>
      <p:pic>
        <p:nvPicPr>
          <p:cNvPr id="34" name="Dónde escribir: lápiz" descr="Lápiz"/>
          <p:cNvPicPr>
            <a:picLocks noChangeAspect="1"/>
          </p:cNvPicPr>
          <p:nvPr/>
        </p:nvPicPr>
        <p:blipFill>
          <a:blip r:embed="rId8"/>
          <a:stretch>
            <a:fillRect/>
          </a:stretch>
        </p:blipFill>
        <p:spPr>
          <a:xfrm>
            <a:off x="6634886" y="6409944"/>
            <a:ext cx="146304" cy="146304"/>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Paso 6: que la IA revise la matriz</a:t>
            </a:r>
            <a:endParaRPr lang="en-US" sz="3200" dirty="0"/>
          </a:p>
        </p:txBody>
      </p:sp>
      <p:sp>
        <p:nvSpPr>
          <p:cNvPr id="3" name="Etiqueta de tiempo"/>
          <p:cNvSpPr/>
          <p:nvPr/>
        </p:nvSpPr>
        <p:spPr>
          <a:xfrm>
            <a:off x="8977579" y="548640"/>
            <a:ext cx="2665476" cy="457200"/>
          </a:xfrm>
          <a:prstGeom prst="roundRect">
            <a:avLst>
              <a:gd name="adj" fmla="val 50000"/>
            </a:avLst>
          </a:prstGeom>
          <a:solidFill>
            <a:schemeClr val="accent2"/>
          </a:solidFill>
          <a:ln/>
        </p:spPr>
      </p:sp>
      <p:sp>
        <p:nvSpPr>
          <p:cNvPr id="4" name="Text 2"/>
          <p:cNvSpPr txBox="1"/>
          <p:nvPr/>
        </p:nvSpPr>
        <p:spPr>
          <a:xfrm>
            <a:off x="8977579" y="548640"/>
            <a:ext cx="2665476" cy="457200"/>
          </a:xfrm>
          <a:prstGeom prst="rect">
            <a:avLst/>
          </a:prstGeom>
          <a:noFill/>
          <a:ln/>
        </p:spPr>
        <p:txBody>
          <a:bodyPr wrap="square" lIns="0" tIns="0" rIns="0" bIns="0" rtlCol="0" anchor="ctr"/>
          <a:lstStyle/>
          <a:p>
            <a:pPr marL="0" indent="0" algn="ctr">
              <a:buNone/>
            </a:pPr>
            <a:r>
              <a:rPr lang="en-US" sz="1400" b="1" dirty="0">
                <a:solidFill>
                  <a:schemeClr val="bg1"/>
                </a:solidFill>
              </a:rPr>
              <a:t>Min. 113–140 · Con IA</a:t>
            </a:r>
            <a:endParaRPr lang="en-US" sz="1400" dirty="0"/>
          </a:p>
        </p:txBody>
      </p:sp>
      <p:sp>
        <p:nvSpPr>
          <p:cNvPr id="5" name="Prompt"/>
          <p:cNvSpPr/>
          <p:nvPr/>
        </p:nvSpPr>
        <p:spPr>
          <a:xfrm>
            <a:off x="548640" y="1417320"/>
            <a:ext cx="11094415" cy="1828800"/>
          </a:xfrm>
          <a:prstGeom prst="roundRect">
            <a:avLst>
              <a:gd name="adj" fmla="val 6000"/>
            </a:avLst>
          </a:prstGeom>
          <a:solidFill>
            <a:schemeClr val="tx1"/>
          </a:solidFill>
          <a:ln/>
        </p:spPr>
      </p:sp>
      <p:sp>
        <p:nvSpPr>
          <p:cNvPr id="6" name="Text 4"/>
          <p:cNvSpPr txBox="1"/>
          <p:nvPr/>
        </p:nvSpPr>
        <p:spPr>
          <a:xfrm>
            <a:off x="822960" y="1600200"/>
            <a:ext cx="10545775" cy="1463040"/>
          </a:xfrm>
          <a:prstGeom prst="rect">
            <a:avLst/>
          </a:prstGeom>
          <a:noFill/>
          <a:ln/>
        </p:spPr>
        <p:txBody>
          <a:bodyPr wrap="square" lIns="0" tIns="0" rIns="0" bIns="0" rtlCol="0" anchor="t"/>
          <a:lstStyle/>
          <a:p>
            <a:pPr marL="0" indent="0">
              <a:lnSpc>
                <a:spcPct val="95000"/>
              </a:lnSpc>
              <a:buNone/>
            </a:pPr>
            <a:r>
              <a:rPr lang="en-US" sz="1700" dirty="0">
                <a:solidFill>
                  <a:schemeClr val="bg1"/>
                </a:solidFill>
                <a:latin typeface="Courier New" pitchFamily="34" charset="0"/>
                <a:ea typeface="Courier New" pitchFamily="34" charset="-122"/>
                <a:cs typeface="Courier New" pitchFamily="34" charset="-120"/>
              </a:rPr>
              <a:t>Te paso una matriz de decisión con tres propuestas, cuatro criterios</a:t>
            </a:r>
            <a:endParaRPr lang="en-US" sz="1700" dirty="0"/>
          </a:p>
          <a:p>
            <a:pPr marL="0" indent="0">
              <a:lnSpc>
                <a:spcPct val="95000"/>
              </a:lnSpc>
              <a:buNone/>
            </a:pPr>
            <a:r>
              <a:rPr lang="en-US" sz="1700" dirty="0">
                <a:solidFill>
                  <a:schemeClr val="bg1"/>
                </a:solidFill>
                <a:latin typeface="Courier New" pitchFamily="34" charset="0"/>
                <a:ea typeface="Courier New" pitchFamily="34" charset="-122"/>
                <a:cs typeface="Courier New" pitchFamily="34" charset="-120"/>
              </a:rPr>
              <a:t>puntuados del 1 al 5 y sus pesos: </a:t>
            </a:r>
            <a:r>
              <a:rPr lang="en-US" sz="1700" b="1" dirty="0">
                <a:solidFill>
                  <a:schemeClr val="accent1"/>
                </a:solidFill>
                <a:latin typeface="Courier New" pitchFamily="34" charset="0"/>
                <a:ea typeface="Courier New" pitchFamily="34" charset="-122"/>
                <a:cs typeface="Courier New" pitchFamily="34" charset="-120"/>
              </a:rPr>
              <a:t>[pegar la tabla con los pesos]</a:t>
            </a:r>
            <a:r>
              <a:rPr lang="en-US" sz="1700" dirty="0">
                <a:solidFill>
                  <a:schemeClr val="bg1"/>
                </a:solidFill>
                <a:latin typeface="Courier New" pitchFamily="34" charset="0"/>
                <a:ea typeface="Courier New" pitchFamily="34" charset="-122"/>
                <a:cs typeface="Courier New" pitchFamily="34" charset="-120"/>
              </a:rPr>
              <a:t>.</a:t>
            </a:r>
            <a:endParaRPr lang="en-US" sz="1700" dirty="0"/>
          </a:p>
          <a:p>
            <a:pPr marL="0" indent="0">
              <a:lnSpc>
                <a:spcPct val="95000"/>
              </a:lnSpc>
              <a:buNone/>
            </a:pPr>
            <a:r>
              <a:rPr lang="en-US" sz="1700" dirty="0">
                <a:solidFill>
                  <a:schemeClr val="bg1"/>
                </a:solidFill>
                <a:latin typeface="Courier New" pitchFamily="34" charset="0"/>
                <a:ea typeface="Courier New" pitchFamily="34" charset="-122"/>
                <a:cs typeface="Courier New" pitchFamily="34" charset="-120"/>
              </a:rPr>
              <a:t>Revísala: comprueba si los cálculos son correctos, si alguna</a:t>
            </a:r>
            <a:endParaRPr lang="en-US" sz="1700" dirty="0"/>
          </a:p>
          <a:p>
            <a:pPr marL="0" indent="0">
              <a:lnSpc>
                <a:spcPct val="95000"/>
              </a:lnSpc>
              <a:buNone/>
            </a:pPr>
            <a:r>
              <a:rPr lang="en-US" sz="1700" dirty="0">
                <a:solidFill>
                  <a:schemeClr val="bg1"/>
                </a:solidFill>
                <a:latin typeface="Courier New" pitchFamily="34" charset="0"/>
                <a:ea typeface="Courier New" pitchFamily="34" charset="-122"/>
                <a:cs typeface="Courier New" pitchFamily="34" charset="-120"/>
              </a:rPr>
              <a:t>puntuación parece incoherente con la descripción de la propuesta</a:t>
            </a:r>
            <a:endParaRPr lang="en-US" sz="1700" dirty="0"/>
          </a:p>
          <a:p>
            <a:pPr marL="0" indent="0">
              <a:lnSpc>
                <a:spcPct val="95000"/>
              </a:lnSpc>
              <a:buNone/>
            </a:pPr>
            <a:r>
              <a:rPr lang="en-US" sz="1700" dirty="0">
                <a:solidFill>
                  <a:schemeClr val="bg1"/>
                </a:solidFill>
                <a:latin typeface="Courier New" pitchFamily="34" charset="0"/>
                <a:ea typeface="Courier New" pitchFamily="34" charset="-122"/>
                <a:cs typeface="Courier New" pitchFamily="34" charset="-120"/>
              </a:rPr>
              <a:t>y si falta algún criterio importante. Justifica cada observación.</a:t>
            </a:r>
            <a:endParaRPr lang="en-US" sz="1700" dirty="0"/>
          </a:p>
        </p:txBody>
      </p:sp>
      <p:sp>
        <p:nvSpPr>
          <p:cNvPr id="7" name="Tarjeta"/>
          <p:cNvSpPr/>
          <p:nvPr/>
        </p:nvSpPr>
        <p:spPr>
          <a:xfrm>
            <a:off x="548640" y="3566160"/>
            <a:ext cx="5364328" cy="2240280"/>
          </a:xfrm>
          <a:prstGeom prst="roundRect">
            <a:avLst>
              <a:gd name="adj" fmla="val 6122"/>
            </a:avLst>
          </a:prstGeom>
          <a:solidFill>
            <a:schemeClr val="bg2"/>
          </a:solidFill>
          <a:ln/>
        </p:spPr>
      </p:sp>
      <p:sp>
        <p:nvSpPr>
          <p:cNvPr id="8" name="¿Son correctas sus observaciones?"/>
          <p:cNvSpPr/>
          <p:nvPr/>
        </p:nvSpPr>
        <p:spPr>
          <a:xfrm>
            <a:off x="868680" y="3794760"/>
            <a:ext cx="822960" cy="822960"/>
          </a:xfrm>
          <a:prstGeom prst="ellipse">
            <a:avLst/>
          </a:prstGeom>
          <a:solidFill>
            <a:schemeClr val="accent2"/>
          </a:solidFill>
          <a:ln/>
        </p:spPr>
      </p:sp>
      <p:pic>
        <p:nvPicPr>
          <p:cNvPr id="9" name="Image 0" descr="¿Son correctas sus observaciones?"/>
          <p:cNvPicPr>
            <a:picLocks noChangeAspect="1"/>
          </p:cNvPicPr>
          <p:nvPr/>
        </p:nvPicPr>
        <p:blipFill>
          <a:blip r:embed="rId3"/>
          <a:stretch>
            <a:fillRect/>
          </a:stretch>
        </p:blipFill>
        <p:spPr>
          <a:xfrm>
            <a:off x="1066190" y="3992270"/>
            <a:ext cx="427939" cy="427939"/>
          </a:xfrm>
          <a:prstGeom prst="rect">
            <a:avLst/>
          </a:prstGeom>
        </p:spPr>
      </p:pic>
      <p:sp>
        <p:nvSpPr>
          <p:cNvPr id="10" name="Text 7"/>
          <p:cNvSpPr txBox="1"/>
          <p:nvPr/>
        </p:nvSpPr>
        <p:spPr>
          <a:xfrm>
            <a:off x="1920240" y="3794760"/>
            <a:ext cx="3718408" cy="822960"/>
          </a:xfrm>
          <a:prstGeom prst="rect">
            <a:avLst/>
          </a:prstGeom>
          <a:noFill/>
          <a:ln/>
        </p:spPr>
        <p:txBody>
          <a:bodyPr wrap="square" lIns="0" tIns="0" rIns="0" bIns="0" rtlCol="0" anchor="ctr"/>
          <a:lstStyle/>
          <a:p>
            <a:pPr marL="0" indent="0">
              <a:buNone/>
            </a:pPr>
            <a:r>
              <a:rPr lang="en-US" sz="2000" b="1" dirty="0">
                <a:solidFill>
                  <a:schemeClr val="tx1"/>
                </a:solidFill>
              </a:rPr>
              <a:t>¿Son correctas sus observaciones?</a:t>
            </a:r>
            <a:endParaRPr lang="en-US" sz="2000" dirty="0"/>
          </a:p>
        </p:txBody>
      </p:sp>
      <p:sp>
        <p:nvSpPr>
          <p:cNvPr id="11" name="Text 8"/>
          <p:cNvSpPr txBox="1"/>
          <p:nvPr/>
        </p:nvSpPr>
        <p:spPr>
          <a:xfrm>
            <a:off x="868680" y="4800600"/>
            <a:ext cx="4724248" cy="868680"/>
          </a:xfrm>
          <a:prstGeom prst="rect">
            <a:avLst/>
          </a:prstGeom>
          <a:noFill/>
          <a:ln/>
        </p:spPr>
        <p:txBody>
          <a:bodyPr wrap="square" lIns="0" tIns="0" rIns="0" bIns="0" rtlCol="0" anchor="t"/>
          <a:lstStyle/>
          <a:p>
            <a:pPr marL="0" indent="0">
              <a:buNone/>
            </a:pPr>
            <a:r>
              <a:rPr lang="en-US" sz="1700" dirty="0">
                <a:solidFill>
                  <a:schemeClr val="tx1"/>
                </a:solidFill>
              </a:rPr>
              <a:t>Comprobad cada una: la IA también se equivoca con los números.</a:t>
            </a:r>
            <a:endParaRPr lang="en-US" sz="1700" dirty="0"/>
          </a:p>
        </p:txBody>
      </p:sp>
      <p:sp>
        <p:nvSpPr>
          <p:cNvPr id="12" name="Tarjeta"/>
          <p:cNvSpPr/>
          <p:nvPr/>
        </p:nvSpPr>
        <p:spPr>
          <a:xfrm>
            <a:off x="6278728" y="3566160"/>
            <a:ext cx="5364328" cy="2240280"/>
          </a:xfrm>
          <a:prstGeom prst="roundRect">
            <a:avLst>
              <a:gd name="adj" fmla="val 6122"/>
            </a:avLst>
          </a:prstGeom>
          <a:solidFill>
            <a:schemeClr val="bg2"/>
          </a:solidFill>
          <a:ln/>
        </p:spPr>
      </p:sp>
      <p:sp>
        <p:nvSpPr>
          <p:cNvPr id="13" name="¿Cambiaríais algo por lo que dice?"/>
          <p:cNvSpPr/>
          <p:nvPr/>
        </p:nvSpPr>
        <p:spPr>
          <a:xfrm>
            <a:off x="6598768" y="3794760"/>
            <a:ext cx="822960" cy="822960"/>
          </a:xfrm>
          <a:prstGeom prst="ellipse">
            <a:avLst/>
          </a:prstGeom>
          <a:solidFill>
            <a:schemeClr val="accent2"/>
          </a:solidFill>
          <a:ln/>
        </p:spPr>
      </p:sp>
      <p:pic>
        <p:nvPicPr>
          <p:cNvPr id="14" name="Image 1" descr="¿Cambiaríais algo por lo que dice?"/>
          <p:cNvPicPr>
            <a:picLocks noChangeAspect="1"/>
          </p:cNvPicPr>
          <p:nvPr/>
        </p:nvPicPr>
        <p:blipFill>
          <a:blip r:embed="rId4"/>
          <a:stretch>
            <a:fillRect/>
          </a:stretch>
        </p:blipFill>
        <p:spPr>
          <a:xfrm>
            <a:off x="6796278" y="3992270"/>
            <a:ext cx="427939" cy="427939"/>
          </a:xfrm>
          <a:prstGeom prst="rect">
            <a:avLst/>
          </a:prstGeom>
        </p:spPr>
      </p:pic>
      <p:sp>
        <p:nvSpPr>
          <p:cNvPr id="15" name="Text 11"/>
          <p:cNvSpPr txBox="1"/>
          <p:nvPr/>
        </p:nvSpPr>
        <p:spPr>
          <a:xfrm>
            <a:off x="7650328" y="3794760"/>
            <a:ext cx="3718408" cy="822960"/>
          </a:xfrm>
          <a:prstGeom prst="rect">
            <a:avLst/>
          </a:prstGeom>
          <a:noFill/>
          <a:ln/>
        </p:spPr>
        <p:txBody>
          <a:bodyPr wrap="square" lIns="0" tIns="0" rIns="0" bIns="0" rtlCol="0" anchor="ctr"/>
          <a:lstStyle/>
          <a:p>
            <a:pPr marL="0" indent="0">
              <a:buNone/>
            </a:pPr>
            <a:r>
              <a:rPr lang="en-US" sz="2000" b="1" dirty="0">
                <a:solidFill>
                  <a:schemeClr val="tx1"/>
                </a:solidFill>
              </a:rPr>
              <a:t>¿Cambiaríais algo por lo que dice?</a:t>
            </a:r>
            <a:endParaRPr lang="en-US" sz="2000" dirty="0"/>
          </a:p>
        </p:txBody>
      </p:sp>
      <p:sp>
        <p:nvSpPr>
          <p:cNvPr id="16" name="Text 12"/>
          <p:cNvSpPr txBox="1"/>
          <p:nvPr/>
        </p:nvSpPr>
        <p:spPr>
          <a:xfrm>
            <a:off x="6598768" y="4800600"/>
            <a:ext cx="4724248" cy="868680"/>
          </a:xfrm>
          <a:prstGeom prst="rect">
            <a:avLst/>
          </a:prstGeom>
          <a:noFill/>
          <a:ln/>
        </p:spPr>
        <p:txBody>
          <a:bodyPr wrap="square" lIns="0" tIns="0" rIns="0" bIns="0" rtlCol="0" anchor="t"/>
          <a:lstStyle/>
          <a:p>
            <a:pPr marL="0" indent="0">
              <a:buNone/>
            </a:pPr>
            <a:r>
              <a:rPr lang="en-US" sz="1700" dirty="0">
                <a:solidFill>
                  <a:schemeClr val="tx1"/>
                </a:solidFill>
              </a:rPr>
              <a:t>Solo si os convence el argumento, no porque lo diga la IA.</a:t>
            </a:r>
            <a:endParaRPr lang="en-US" sz="17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70</a:t>
            </a:fld>
            <a:endParaRPr lang="en-US"/>
          </a:p>
        </p:txBody>
      </p:sp>
      <p:sp>
        <p:nvSpPr>
          <p:cNvPr id="26" name="Dónde escribir"/>
          <p:cNvSpPr/>
          <p:nvPr/>
        </p:nvSpPr>
        <p:spPr>
          <a:xfrm>
            <a:off x="4935016" y="6291072"/>
            <a:ext cx="5992063"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matriz_decision.xlsx</a:t>
            </a:r>
            <a:r>
              <a:rPr lang="es-ES" sz="1300" dirty="0">
                <a:solidFill>
                  <a:schemeClr val="tx1"/>
                </a:solidFill>
                <a:latin typeface="+mn-lt"/>
              </a:rPr>
              <a:t>  ›  Nuestra decisión  ›  ¿Qué observó la IA? ¿Tenía razón?</a:t>
            </a:r>
          </a:p>
        </p:txBody>
      </p:sp>
      <p:sp>
        <p:nvSpPr>
          <p:cNvPr id="27" name="Dónde escribir: círculo"/>
          <p:cNvSpPr/>
          <p:nvPr/>
        </p:nvSpPr>
        <p:spPr>
          <a:xfrm>
            <a:off x="4989880"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5"/>
          <a:stretch>
            <a:fillRect/>
          </a:stretch>
        </p:blipFill>
        <p:spPr>
          <a:xfrm>
            <a:off x="5063032" y="6409944"/>
            <a:ext cx="146304" cy="146304"/>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Paso 7: decidid</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113–140 · Parejas</a:t>
            </a:r>
            <a:endParaRPr lang="en-US" sz="1400" dirty="0"/>
          </a:p>
        </p:txBody>
      </p:sp>
      <p:sp>
        <p:nvSpPr>
          <p:cNvPr id="5" name="Text 3"/>
          <p:cNvSpPr txBox="1"/>
          <p:nvPr/>
        </p:nvSpPr>
        <p:spPr>
          <a:xfrm>
            <a:off x="548640" y="1371600"/>
            <a:ext cx="11094415" cy="457200"/>
          </a:xfrm>
          <a:prstGeom prst="rect">
            <a:avLst/>
          </a:prstGeom>
          <a:noFill/>
          <a:ln/>
        </p:spPr>
        <p:txBody>
          <a:bodyPr wrap="square" lIns="0" tIns="0" rIns="0" bIns="0" rtlCol="0" anchor="ctr"/>
          <a:lstStyle/>
          <a:p>
            <a:pPr marL="0" indent="0">
              <a:buNone/>
            </a:pPr>
            <a:r>
              <a:rPr lang="en-US" sz="1900" dirty="0">
                <a:solidFill>
                  <a:schemeClr val="tx2"/>
                </a:solidFill>
              </a:rPr>
              <a:t>Elegid vuestra propuesta ganadora y justificadla en una frase:</a:t>
            </a:r>
            <a:endParaRPr lang="en-US" sz="1900" dirty="0"/>
          </a:p>
        </p:txBody>
      </p:sp>
      <p:sp>
        <p:nvSpPr>
          <p:cNvPr id="6" name="Tarjeta"/>
          <p:cNvSpPr/>
          <p:nvPr/>
        </p:nvSpPr>
        <p:spPr>
          <a:xfrm>
            <a:off x="548640" y="2057400"/>
            <a:ext cx="11094415" cy="2377440"/>
          </a:xfrm>
          <a:prstGeom prst="roundRect">
            <a:avLst>
              <a:gd name="adj" fmla="val 5769"/>
            </a:avLst>
          </a:prstGeom>
          <a:solidFill>
            <a:schemeClr val="bg2"/>
          </a:solidFill>
          <a:ln/>
        </p:spPr>
      </p:sp>
      <p:sp>
        <p:nvSpPr>
          <p:cNvPr id="7" name="Decisión"/>
          <p:cNvSpPr/>
          <p:nvPr/>
        </p:nvSpPr>
        <p:spPr>
          <a:xfrm>
            <a:off x="914400" y="2606040"/>
            <a:ext cx="1280160" cy="1280160"/>
          </a:xfrm>
          <a:prstGeom prst="ellipse">
            <a:avLst/>
          </a:prstGeom>
          <a:solidFill>
            <a:schemeClr val="accent1"/>
          </a:solidFill>
          <a:ln/>
        </p:spPr>
      </p:sp>
      <p:pic>
        <p:nvPicPr>
          <p:cNvPr id="8" name="Image 0" descr="Decisión"/>
          <p:cNvPicPr>
            <a:picLocks noChangeAspect="1"/>
          </p:cNvPicPr>
          <p:nvPr/>
        </p:nvPicPr>
        <p:blipFill>
          <a:blip r:embed="rId3"/>
          <a:stretch>
            <a:fillRect/>
          </a:stretch>
        </p:blipFill>
        <p:spPr>
          <a:xfrm>
            <a:off x="1221638" y="2913278"/>
            <a:ext cx="665683" cy="665683"/>
          </a:xfrm>
          <a:prstGeom prst="rect">
            <a:avLst/>
          </a:prstGeom>
        </p:spPr>
      </p:pic>
      <p:sp>
        <p:nvSpPr>
          <p:cNvPr id="9" name="Text 6"/>
          <p:cNvSpPr txBox="1"/>
          <p:nvPr/>
        </p:nvSpPr>
        <p:spPr>
          <a:xfrm>
            <a:off x="2560320" y="2331720"/>
            <a:ext cx="1554480" cy="731520"/>
          </a:xfrm>
          <a:prstGeom prst="rect">
            <a:avLst/>
          </a:prstGeom>
          <a:noFill/>
          <a:ln/>
        </p:spPr>
        <p:txBody>
          <a:bodyPr wrap="square" lIns="0" tIns="0" rIns="0" bIns="0" rtlCol="0" anchor="ctr"/>
          <a:lstStyle/>
          <a:p>
            <a:pPr marL="0" indent="0">
              <a:buNone/>
            </a:pPr>
            <a:r>
              <a:rPr lang="en-US" sz="2600" b="1" dirty="0">
                <a:solidFill>
                  <a:schemeClr val="tx1"/>
                </a:solidFill>
              </a:rPr>
              <a:t>Elegimos</a:t>
            </a:r>
            <a:endParaRPr lang="en-US" sz="2600" dirty="0"/>
          </a:p>
        </p:txBody>
      </p:sp>
      <p:sp>
        <p:nvSpPr>
          <p:cNvPr id="10" name="Hueco"/>
          <p:cNvSpPr/>
          <p:nvPr/>
        </p:nvSpPr>
        <p:spPr>
          <a:xfrm>
            <a:off x="4206240" y="2331720"/>
            <a:ext cx="7071055" cy="731520"/>
          </a:xfrm>
          <a:prstGeom prst="roundRect">
            <a:avLst>
              <a:gd name="adj" fmla="val 12500"/>
            </a:avLst>
          </a:prstGeom>
          <a:solidFill>
            <a:schemeClr val="bg1"/>
          </a:solidFill>
          <a:ln w="12700">
            <a:solidFill>
              <a:srgbClr val="8A94A6"/>
            </a:solidFill>
            <a:prstDash val="dash"/>
          </a:ln>
        </p:spPr>
      </p:sp>
      <p:sp>
        <p:nvSpPr>
          <p:cNvPr id="11" name="Text 8"/>
          <p:cNvSpPr txBox="1"/>
          <p:nvPr/>
        </p:nvSpPr>
        <p:spPr>
          <a:xfrm>
            <a:off x="2560320" y="3337560"/>
            <a:ext cx="1554480" cy="731520"/>
          </a:xfrm>
          <a:prstGeom prst="rect">
            <a:avLst/>
          </a:prstGeom>
          <a:noFill/>
          <a:ln/>
        </p:spPr>
        <p:txBody>
          <a:bodyPr wrap="square" lIns="0" tIns="0" rIns="0" bIns="0" rtlCol="0" anchor="ctr"/>
          <a:lstStyle/>
          <a:p>
            <a:pPr marL="0" indent="0">
              <a:buNone/>
            </a:pPr>
            <a:r>
              <a:rPr lang="en-US" sz="2600" b="1" dirty="0">
                <a:solidFill>
                  <a:schemeClr val="tx1"/>
                </a:solidFill>
              </a:rPr>
              <a:t>porque</a:t>
            </a:r>
            <a:endParaRPr lang="en-US" sz="2600" dirty="0"/>
          </a:p>
        </p:txBody>
      </p:sp>
      <p:sp>
        <p:nvSpPr>
          <p:cNvPr id="12" name="Hueco"/>
          <p:cNvSpPr/>
          <p:nvPr/>
        </p:nvSpPr>
        <p:spPr>
          <a:xfrm>
            <a:off x="4206240" y="3337560"/>
            <a:ext cx="7071055" cy="731520"/>
          </a:xfrm>
          <a:prstGeom prst="roundRect">
            <a:avLst>
              <a:gd name="adj" fmla="val 12500"/>
            </a:avLst>
          </a:prstGeom>
          <a:solidFill>
            <a:schemeClr val="bg1"/>
          </a:solidFill>
          <a:ln w="12700">
            <a:solidFill>
              <a:srgbClr val="8A94A6"/>
            </a:solidFill>
            <a:prstDash val="dash"/>
          </a:ln>
        </p:spPr>
      </p:sp>
      <p:sp>
        <p:nvSpPr>
          <p:cNvPr id="13" name="Tarjeta"/>
          <p:cNvSpPr/>
          <p:nvPr/>
        </p:nvSpPr>
        <p:spPr>
          <a:xfrm>
            <a:off x="548640" y="4709160"/>
            <a:ext cx="11094415" cy="1051560"/>
          </a:xfrm>
          <a:prstGeom prst="roundRect">
            <a:avLst>
              <a:gd name="adj" fmla="val 13043"/>
            </a:avLst>
          </a:prstGeom>
          <a:solidFill>
            <a:schemeClr val="bg2"/>
          </a:solidFill>
          <a:ln/>
        </p:spPr>
      </p:sp>
      <p:sp>
        <p:nvSpPr>
          <p:cNvPr id="14" name="Criterio"/>
          <p:cNvSpPr/>
          <p:nvPr/>
        </p:nvSpPr>
        <p:spPr>
          <a:xfrm>
            <a:off x="822960" y="4892040"/>
            <a:ext cx="685800" cy="685800"/>
          </a:xfrm>
          <a:prstGeom prst="ellipse">
            <a:avLst/>
          </a:prstGeom>
          <a:solidFill>
            <a:schemeClr val="tx2"/>
          </a:solidFill>
          <a:ln/>
        </p:spPr>
      </p:sp>
      <p:pic>
        <p:nvPicPr>
          <p:cNvPr id="15" name="Image 1" descr="Criterio"/>
          <p:cNvPicPr>
            <a:picLocks noChangeAspect="1"/>
          </p:cNvPicPr>
          <p:nvPr/>
        </p:nvPicPr>
        <p:blipFill>
          <a:blip r:embed="rId4"/>
          <a:stretch>
            <a:fillRect/>
          </a:stretch>
        </p:blipFill>
        <p:spPr>
          <a:xfrm>
            <a:off x="987552" y="5056632"/>
            <a:ext cx="356616" cy="356616"/>
          </a:xfrm>
          <a:prstGeom prst="rect">
            <a:avLst/>
          </a:prstGeom>
        </p:spPr>
      </p:pic>
      <p:sp>
        <p:nvSpPr>
          <p:cNvPr id="16" name="Text 12"/>
          <p:cNvSpPr txBox="1"/>
          <p:nvPr/>
        </p:nvSpPr>
        <p:spPr>
          <a:xfrm>
            <a:off x="1737360" y="4709160"/>
            <a:ext cx="9631375" cy="1051560"/>
          </a:xfrm>
          <a:prstGeom prst="rect">
            <a:avLst/>
          </a:prstGeom>
          <a:noFill/>
          <a:ln/>
        </p:spPr>
        <p:txBody>
          <a:bodyPr wrap="square" lIns="0" tIns="0" rIns="0" bIns="0" rtlCol="0" anchor="ctr"/>
          <a:lstStyle/>
          <a:p>
            <a:pPr marL="0" indent="0">
              <a:buNone/>
            </a:pPr>
            <a:r>
              <a:rPr lang="en-US" sz="1900" b="1" dirty="0">
                <a:solidFill>
                  <a:schemeClr val="tx1"/>
                </a:solidFill>
              </a:rPr>
              <a:t>No tiene por qué ser la de mayor puntuación. Pero si no lo es, tenéis que explicar por qué.</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71</a:t>
            </a:fld>
            <a:endParaRPr lang="en-US"/>
          </a:p>
        </p:txBody>
      </p:sp>
      <p:sp>
        <p:nvSpPr>
          <p:cNvPr id="26" name="Dónde escribir"/>
          <p:cNvSpPr/>
          <p:nvPr/>
        </p:nvSpPr>
        <p:spPr>
          <a:xfrm>
            <a:off x="4193438" y="6291072"/>
            <a:ext cx="6733641"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matriz_decision.xlsx</a:t>
            </a:r>
            <a:r>
              <a:rPr lang="es-ES" sz="1300" dirty="0">
                <a:solidFill>
                  <a:schemeClr val="tx1"/>
                </a:solidFill>
                <a:latin typeface="+mn-lt"/>
              </a:rPr>
              <a:t>  ›  Nuestra decisión  ›  Propuesta ganadora y «Elegimos… porque…»</a:t>
            </a:r>
          </a:p>
        </p:txBody>
      </p:sp>
      <p:sp>
        <p:nvSpPr>
          <p:cNvPr id="27" name="Dónde escribir: círculo"/>
          <p:cNvSpPr/>
          <p:nvPr/>
        </p:nvSpPr>
        <p:spPr>
          <a:xfrm>
            <a:off x="4248302"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5"/>
          <a:stretch>
            <a:fillRect/>
          </a:stretch>
        </p:blipFill>
        <p:spPr>
          <a:xfrm>
            <a:off x="4321454" y="6409944"/>
            <a:ext cx="146304" cy="146304"/>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Ejercicio 4: vuestras conclusiones</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136–140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Cada pareja cuenta en 30 segundos:</a:t>
            </a:r>
            <a:endParaRPr lang="en-US" sz="1900" dirty="0"/>
          </a:p>
        </p:txBody>
      </p:sp>
      <p:sp>
        <p:nvSpPr>
          <p:cNvPr id="6" name="Nuestra propuesta ganadora"/>
          <p:cNvSpPr/>
          <p:nvPr/>
        </p:nvSpPr>
        <p:spPr>
          <a:xfrm>
            <a:off x="548640" y="2057400"/>
            <a:ext cx="3454298" cy="548640"/>
          </a:xfrm>
          <a:prstGeom prst="roundRect">
            <a:avLst>
              <a:gd name="adj" fmla="val 16667"/>
            </a:avLst>
          </a:prstGeom>
          <a:solidFill>
            <a:schemeClr val="accent1"/>
          </a:solidFill>
          <a:ln/>
        </p:spPr>
      </p:sp>
      <p:sp>
        <p:nvSpPr>
          <p:cNvPr id="7" name="Text 5"/>
          <p:cNvSpPr txBox="1"/>
          <p:nvPr/>
        </p:nvSpPr>
        <p:spPr>
          <a:xfrm>
            <a:off x="640080" y="2057400"/>
            <a:ext cx="3271418" cy="548640"/>
          </a:xfrm>
          <a:prstGeom prst="rect">
            <a:avLst/>
          </a:prstGeom>
          <a:noFill/>
          <a:ln/>
        </p:spPr>
        <p:txBody>
          <a:bodyPr wrap="square" lIns="0" tIns="0" rIns="0" bIns="0" rtlCol="0" anchor="ctr"/>
          <a:lstStyle/>
          <a:p>
            <a:pPr marL="0" indent="0" algn="ctr">
              <a:buNone/>
            </a:pPr>
            <a:r>
              <a:rPr lang="en-US" sz="1800" b="1" dirty="0">
                <a:solidFill>
                  <a:schemeClr val="tx1"/>
                </a:solidFill>
              </a:rPr>
              <a:t>Nuestra propuesta ganadora</a:t>
            </a:r>
            <a:endParaRPr lang="en-US" sz="1800" dirty="0"/>
          </a:p>
        </p:txBody>
      </p:sp>
      <p:sp>
        <p:nvSpPr>
          <p:cNvPr id="8" name="Hueco"/>
          <p:cNvSpPr/>
          <p:nvPr/>
        </p:nvSpPr>
        <p:spPr>
          <a:xfrm>
            <a:off x="548640" y="2788920"/>
            <a:ext cx="3454298" cy="2423160"/>
          </a:xfrm>
          <a:prstGeom prst="roundRect">
            <a:avLst>
              <a:gd name="adj" fmla="val 3774"/>
            </a:avLst>
          </a:prstGeom>
          <a:solidFill>
            <a:schemeClr val="bg2"/>
          </a:solidFill>
          <a:ln w="12700">
            <a:solidFill>
              <a:srgbClr val="8A94A6"/>
            </a:solidFill>
            <a:prstDash val="dash"/>
          </a:ln>
        </p:spPr>
      </p:sp>
      <p:sp>
        <p:nvSpPr>
          <p:cNvPr id="9" name="¿Cambió al mover los pesos?"/>
          <p:cNvSpPr/>
          <p:nvPr/>
        </p:nvSpPr>
        <p:spPr>
          <a:xfrm>
            <a:off x="4368698" y="2057400"/>
            <a:ext cx="3454298" cy="548640"/>
          </a:xfrm>
          <a:prstGeom prst="roundRect">
            <a:avLst>
              <a:gd name="adj" fmla="val 16667"/>
            </a:avLst>
          </a:prstGeom>
          <a:solidFill>
            <a:schemeClr val="tx2"/>
          </a:solidFill>
          <a:ln/>
        </p:spPr>
      </p:sp>
      <p:sp>
        <p:nvSpPr>
          <p:cNvPr id="10" name="Text 8"/>
          <p:cNvSpPr txBox="1"/>
          <p:nvPr/>
        </p:nvSpPr>
        <p:spPr>
          <a:xfrm>
            <a:off x="4460138" y="2057400"/>
            <a:ext cx="3271418" cy="548640"/>
          </a:xfrm>
          <a:prstGeom prst="rect">
            <a:avLst/>
          </a:prstGeom>
          <a:noFill/>
          <a:ln/>
        </p:spPr>
        <p:txBody>
          <a:bodyPr wrap="square" lIns="0" tIns="0" rIns="0" bIns="0" rtlCol="0" anchor="ctr"/>
          <a:lstStyle/>
          <a:p>
            <a:pPr marL="0" indent="0" algn="ctr">
              <a:buNone/>
            </a:pPr>
            <a:r>
              <a:rPr lang="en-US" sz="1800" b="1" dirty="0">
                <a:solidFill>
                  <a:schemeClr val="bg1"/>
                </a:solidFill>
              </a:rPr>
              <a:t>¿Cambió al mover los pesos?</a:t>
            </a:r>
            <a:endParaRPr lang="en-US" sz="1800" dirty="0"/>
          </a:p>
        </p:txBody>
      </p:sp>
      <p:sp>
        <p:nvSpPr>
          <p:cNvPr id="11" name="Hueco"/>
          <p:cNvSpPr/>
          <p:nvPr/>
        </p:nvSpPr>
        <p:spPr>
          <a:xfrm>
            <a:off x="4368698" y="2788920"/>
            <a:ext cx="3454298" cy="2423160"/>
          </a:xfrm>
          <a:prstGeom prst="roundRect">
            <a:avLst>
              <a:gd name="adj" fmla="val 3774"/>
            </a:avLst>
          </a:prstGeom>
          <a:solidFill>
            <a:schemeClr val="bg2"/>
          </a:solidFill>
          <a:ln w="12700">
            <a:solidFill>
              <a:srgbClr val="8A94A6"/>
            </a:solidFill>
            <a:prstDash val="dash"/>
          </a:ln>
        </p:spPr>
      </p:sp>
      <p:sp>
        <p:nvSpPr>
          <p:cNvPr id="12" name="¿Tenía razón la IA?"/>
          <p:cNvSpPr/>
          <p:nvPr/>
        </p:nvSpPr>
        <p:spPr>
          <a:xfrm>
            <a:off x="8188757" y="2057400"/>
            <a:ext cx="3454298" cy="548640"/>
          </a:xfrm>
          <a:prstGeom prst="roundRect">
            <a:avLst>
              <a:gd name="adj" fmla="val 16667"/>
            </a:avLst>
          </a:prstGeom>
          <a:solidFill>
            <a:schemeClr val="accent2"/>
          </a:solidFill>
          <a:ln/>
        </p:spPr>
      </p:sp>
      <p:sp>
        <p:nvSpPr>
          <p:cNvPr id="13" name="Text 11"/>
          <p:cNvSpPr txBox="1"/>
          <p:nvPr/>
        </p:nvSpPr>
        <p:spPr>
          <a:xfrm>
            <a:off x="8280197" y="2057400"/>
            <a:ext cx="3271418" cy="548640"/>
          </a:xfrm>
          <a:prstGeom prst="rect">
            <a:avLst/>
          </a:prstGeom>
          <a:noFill/>
          <a:ln/>
        </p:spPr>
        <p:txBody>
          <a:bodyPr wrap="square" lIns="0" tIns="0" rIns="0" bIns="0" rtlCol="0" anchor="ctr"/>
          <a:lstStyle/>
          <a:p>
            <a:pPr marL="0" indent="0" algn="ctr">
              <a:buNone/>
            </a:pPr>
            <a:r>
              <a:rPr lang="en-US" sz="1800" b="1" dirty="0">
                <a:solidFill>
                  <a:schemeClr val="bg1"/>
                </a:solidFill>
              </a:rPr>
              <a:t>¿Tenía razón la IA?</a:t>
            </a:r>
            <a:endParaRPr lang="en-US" sz="1800" dirty="0"/>
          </a:p>
        </p:txBody>
      </p:sp>
      <p:sp>
        <p:nvSpPr>
          <p:cNvPr id="14" name="Hueco"/>
          <p:cNvSpPr/>
          <p:nvPr/>
        </p:nvSpPr>
        <p:spPr>
          <a:xfrm>
            <a:off x="8188757" y="2788920"/>
            <a:ext cx="3454298" cy="2423160"/>
          </a:xfrm>
          <a:prstGeom prst="roundRect">
            <a:avLst>
              <a:gd name="adj" fmla="val 3774"/>
            </a:avLst>
          </a:prstGeom>
          <a:solidFill>
            <a:schemeClr val="bg2"/>
          </a:solidFill>
          <a:ln w="12700">
            <a:solidFill>
              <a:srgbClr val="8A94A6"/>
            </a:solidFill>
            <a:prstDash val="dash"/>
          </a:ln>
        </p:spPr>
      </p:sp>
      <p:sp>
        <p:nvSpPr>
          <p:cNvPr id="15" name="Text 13"/>
          <p:cNvSpPr txBox="1"/>
          <p:nvPr/>
        </p:nvSpPr>
        <p:spPr>
          <a:xfrm>
            <a:off x="548640" y="5440680"/>
            <a:ext cx="11094415" cy="502920"/>
          </a:xfrm>
          <a:prstGeom prst="rect">
            <a:avLst/>
          </a:prstGeom>
          <a:noFill/>
          <a:ln/>
        </p:spPr>
        <p:txBody>
          <a:bodyPr wrap="square" lIns="0" tIns="0" rIns="0" bIns="0" rtlCol="0" anchor="ctr"/>
          <a:lstStyle/>
          <a:p>
            <a:pPr marL="0" indent="0">
              <a:buNone/>
            </a:pPr>
            <a:r>
              <a:rPr lang="en-US" sz="1900" b="1" dirty="0">
                <a:solidFill>
                  <a:schemeClr val="tx1"/>
                </a:solidFill>
              </a:rPr>
              <a:t>Entregable: la hoja de cálculo con la decisión argumentada. Ahora, a ponerla por escrito.</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Una propuesta en una página</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marL="0" indent="0" algn="ctr">
              <a:buNone/>
            </a:pPr>
            <a:r>
              <a:rPr lang="en-US" sz="1400" b="1" dirty="0">
                <a:solidFill>
                  <a:schemeClr val="tx1"/>
                </a:solidFill>
              </a:rPr>
              <a:t>Min. 140–145</a:t>
            </a:r>
            <a:endParaRPr lang="en-US" sz="1400" dirty="0"/>
          </a:p>
        </p:txBody>
      </p:sp>
      <p:sp>
        <p:nvSpPr>
          <p:cNvPr id="5" name="Text 3"/>
          <p:cNvSpPr txBox="1"/>
          <p:nvPr/>
        </p:nvSpPr>
        <p:spPr>
          <a:xfrm>
            <a:off x="548640" y="1371600"/>
            <a:ext cx="4937760" cy="457200"/>
          </a:xfrm>
          <a:prstGeom prst="rect">
            <a:avLst/>
          </a:prstGeom>
          <a:noFill/>
          <a:ln/>
        </p:spPr>
        <p:txBody>
          <a:bodyPr wrap="square" lIns="0" tIns="0" rIns="0" bIns="0" rtlCol="0" anchor="ctr"/>
          <a:lstStyle/>
          <a:p>
            <a:pPr marL="0" indent="0">
              <a:buNone/>
            </a:pPr>
            <a:r>
              <a:rPr lang="en-US" sz="1900" dirty="0">
                <a:solidFill>
                  <a:schemeClr val="tx2"/>
                </a:solidFill>
              </a:rPr>
              <a:t>Seis apartados, en Word o Google Docs:</a:t>
            </a:r>
            <a:endParaRPr lang="en-US" sz="1900" dirty="0"/>
          </a:p>
        </p:txBody>
      </p:sp>
      <p:sp>
        <p:nvSpPr>
          <p:cNvPr id="6" name="Apartado 1"/>
          <p:cNvSpPr/>
          <p:nvPr/>
        </p:nvSpPr>
        <p:spPr>
          <a:xfrm>
            <a:off x="548640" y="1965960"/>
            <a:ext cx="411480" cy="411480"/>
          </a:xfrm>
          <a:prstGeom prst="ellipse">
            <a:avLst/>
          </a:prstGeom>
          <a:solidFill>
            <a:schemeClr val="accent1"/>
          </a:solidFill>
          <a:ln/>
        </p:spPr>
      </p:sp>
      <p:sp>
        <p:nvSpPr>
          <p:cNvPr id="7" name="Text 5"/>
          <p:cNvSpPr txBox="1"/>
          <p:nvPr/>
        </p:nvSpPr>
        <p:spPr>
          <a:xfrm>
            <a:off x="548640" y="196596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8" name="Text 6"/>
          <p:cNvSpPr txBox="1"/>
          <p:nvPr/>
        </p:nvSpPr>
        <p:spPr>
          <a:xfrm>
            <a:off x="1143000" y="1965960"/>
            <a:ext cx="4114800" cy="411480"/>
          </a:xfrm>
          <a:prstGeom prst="rect">
            <a:avLst/>
          </a:prstGeom>
          <a:noFill/>
          <a:ln/>
        </p:spPr>
        <p:txBody>
          <a:bodyPr wrap="square" lIns="0" tIns="0" rIns="0" bIns="0" rtlCol="0" anchor="ctr"/>
          <a:lstStyle/>
          <a:p>
            <a:pPr marL="0" indent="0">
              <a:buNone/>
            </a:pPr>
            <a:r>
              <a:rPr lang="en-US" sz="1900" dirty="0">
                <a:solidFill>
                  <a:schemeClr val="tx1"/>
                </a:solidFill>
              </a:rPr>
              <a:t>Nombre de la propuesta</a:t>
            </a:r>
            <a:endParaRPr lang="en-US" sz="1900" dirty="0"/>
          </a:p>
        </p:txBody>
      </p:sp>
      <p:sp>
        <p:nvSpPr>
          <p:cNvPr id="9" name="Apartado 2"/>
          <p:cNvSpPr/>
          <p:nvPr/>
        </p:nvSpPr>
        <p:spPr>
          <a:xfrm>
            <a:off x="548640" y="2514600"/>
            <a:ext cx="411480" cy="411480"/>
          </a:xfrm>
          <a:prstGeom prst="ellipse">
            <a:avLst/>
          </a:prstGeom>
          <a:solidFill>
            <a:schemeClr val="accent1"/>
          </a:solidFill>
          <a:ln/>
        </p:spPr>
      </p:sp>
      <p:sp>
        <p:nvSpPr>
          <p:cNvPr id="10" name="Text 8"/>
          <p:cNvSpPr txBox="1"/>
          <p:nvPr/>
        </p:nvSpPr>
        <p:spPr>
          <a:xfrm>
            <a:off x="548640" y="251460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11" name="Text 9"/>
          <p:cNvSpPr txBox="1"/>
          <p:nvPr/>
        </p:nvSpPr>
        <p:spPr>
          <a:xfrm>
            <a:off x="1143000" y="2514600"/>
            <a:ext cx="4114800" cy="411480"/>
          </a:xfrm>
          <a:prstGeom prst="rect">
            <a:avLst/>
          </a:prstGeom>
          <a:noFill/>
          <a:ln/>
        </p:spPr>
        <p:txBody>
          <a:bodyPr wrap="square" lIns="0" tIns="0" rIns="0" bIns="0" rtlCol="0" anchor="ctr"/>
          <a:lstStyle/>
          <a:p>
            <a:pPr marL="0" indent="0">
              <a:buNone/>
            </a:pPr>
            <a:r>
              <a:rPr lang="en-US" sz="1900" dirty="0">
                <a:solidFill>
                  <a:schemeClr val="tx1"/>
                </a:solidFill>
              </a:rPr>
              <a:t>Problema</a:t>
            </a:r>
            <a:endParaRPr lang="en-US" sz="1900" dirty="0"/>
          </a:p>
        </p:txBody>
      </p:sp>
      <p:sp>
        <p:nvSpPr>
          <p:cNvPr id="12" name="Apartado 3"/>
          <p:cNvSpPr/>
          <p:nvPr/>
        </p:nvSpPr>
        <p:spPr>
          <a:xfrm>
            <a:off x="548640" y="3063240"/>
            <a:ext cx="411480" cy="411480"/>
          </a:xfrm>
          <a:prstGeom prst="ellipse">
            <a:avLst/>
          </a:prstGeom>
          <a:solidFill>
            <a:schemeClr val="accent1"/>
          </a:solidFill>
          <a:ln/>
        </p:spPr>
      </p:sp>
      <p:sp>
        <p:nvSpPr>
          <p:cNvPr id="13" name="Text 11"/>
          <p:cNvSpPr txBox="1"/>
          <p:nvPr/>
        </p:nvSpPr>
        <p:spPr>
          <a:xfrm>
            <a:off x="548640" y="306324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4" name="Text 12"/>
          <p:cNvSpPr txBox="1"/>
          <p:nvPr/>
        </p:nvSpPr>
        <p:spPr>
          <a:xfrm>
            <a:off x="1143000" y="3063240"/>
            <a:ext cx="4114800" cy="411480"/>
          </a:xfrm>
          <a:prstGeom prst="rect">
            <a:avLst/>
          </a:prstGeom>
          <a:noFill/>
          <a:ln/>
        </p:spPr>
        <p:txBody>
          <a:bodyPr wrap="square" lIns="0" tIns="0" rIns="0" bIns="0" rtlCol="0" anchor="ctr"/>
          <a:lstStyle/>
          <a:p>
            <a:pPr marL="0" indent="0">
              <a:buNone/>
            </a:pPr>
            <a:r>
              <a:rPr lang="en-US" sz="1900" dirty="0">
                <a:solidFill>
                  <a:schemeClr val="tx1"/>
                </a:solidFill>
              </a:rPr>
              <a:t>Solución</a:t>
            </a:r>
            <a:endParaRPr lang="en-US" sz="1900" dirty="0"/>
          </a:p>
        </p:txBody>
      </p:sp>
      <p:sp>
        <p:nvSpPr>
          <p:cNvPr id="15" name="Apartado 4"/>
          <p:cNvSpPr/>
          <p:nvPr/>
        </p:nvSpPr>
        <p:spPr>
          <a:xfrm>
            <a:off x="548640" y="3611880"/>
            <a:ext cx="411480" cy="411480"/>
          </a:xfrm>
          <a:prstGeom prst="ellipse">
            <a:avLst/>
          </a:prstGeom>
          <a:solidFill>
            <a:schemeClr val="accent1"/>
          </a:solidFill>
          <a:ln/>
        </p:spPr>
      </p:sp>
      <p:sp>
        <p:nvSpPr>
          <p:cNvPr id="16" name="Text 14"/>
          <p:cNvSpPr txBox="1"/>
          <p:nvPr/>
        </p:nvSpPr>
        <p:spPr>
          <a:xfrm>
            <a:off x="548640" y="361188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17" name="Text 15"/>
          <p:cNvSpPr txBox="1"/>
          <p:nvPr/>
        </p:nvSpPr>
        <p:spPr>
          <a:xfrm>
            <a:off x="1143000" y="3611880"/>
            <a:ext cx="4114800" cy="411480"/>
          </a:xfrm>
          <a:prstGeom prst="rect">
            <a:avLst/>
          </a:prstGeom>
          <a:noFill/>
          <a:ln/>
        </p:spPr>
        <p:txBody>
          <a:bodyPr wrap="square" lIns="0" tIns="0" rIns="0" bIns="0" rtlCol="0" anchor="ctr"/>
          <a:lstStyle/>
          <a:p>
            <a:pPr marL="0" indent="0">
              <a:buNone/>
            </a:pPr>
            <a:r>
              <a:rPr lang="en-US" sz="1900" dirty="0">
                <a:solidFill>
                  <a:schemeClr val="tx1"/>
                </a:solidFill>
              </a:rPr>
              <a:t>Beneficios esperados</a:t>
            </a:r>
            <a:endParaRPr lang="en-US" sz="1900" dirty="0"/>
          </a:p>
        </p:txBody>
      </p:sp>
      <p:sp>
        <p:nvSpPr>
          <p:cNvPr id="18" name="Apartado 5"/>
          <p:cNvSpPr/>
          <p:nvPr/>
        </p:nvSpPr>
        <p:spPr>
          <a:xfrm>
            <a:off x="548640" y="4160520"/>
            <a:ext cx="411480" cy="411480"/>
          </a:xfrm>
          <a:prstGeom prst="ellipse">
            <a:avLst/>
          </a:prstGeom>
          <a:solidFill>
            <a:schemeClr val="accent1"/>
          </a:solidFill>
          <a:ln/>
        </p:spPr>
      </p:sp>
      <p:sp>
        <p:nvSpPr>
          <p:cNvPr id="19" name="Text 17"/>
          <p:cNvSpPr txBox="1"/>
          <p:nvPr/>
        </p:nvSpPr>
        <p:spPr>
          <a:xfrm>
            <a:off x="548640" y="416052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rPr>
              <a:t>5</a:t>
            </a:r>
            <a:endParaRPr lang="en-US" sz="1500" dirty="0"/>
          </a:p>
        </p:txBody>
      </p:sp>
      <p:sp>
        <p:nvSpPr>
          <p:cNvPr id="20" name="Text 18"/>
          <p:cNvSpPr txBox="1"/>
          <p:nvPr/>
        </p:nvSpPr>
        <p:spPr>
          <a:xfrm>
            <a:off x="1143000" y="4160520"/>
            <a:ext cx="4114800" cy="411480"/>
          </a:xfrm>
          <a:prstGeom prst="rect">
            <a:avLst/>
          </a:prstGeom>
          <a:noFill/>
          <a:ln/>
        </p:spPr>
        <p:txBody>
          <a:bodyPr wrap="square" lIns="0" tIns="0" rIns="0" bIns="0" rtlCol="0" anchor="ctr"/>
          <a:lstStyle/>
          <a:p>
            <a:pPr marL="0" indent="0">
              <a:buNone/>
            </a:pPr>
            <a:r>
              <a:rPr lang="en-US" sz="1900" dirty="0">
                <a:solidFill>
                  <a:schemeClr val="tx1"/>
                </a:solidFill>
              </a:rPr>
              <a:t>Recursos</a:t>
            </a:r>
            <a:endParaRPr lang="en-US" sz="1900" dirty="0"/>
          </a:p>
        </p:txBody>
      </p:sp>
      <p:sp>
        <p:nvSpPr>
          <p:cNvPr id="21" name="Apartado 6"/>
          <p:cNvSpPr/>
          <p:nvPr/>
        </p:nvSpPr>
        <p:spPr>
          <a:xfrm>
            <a:off x="548640" y="4709160"/>
            <a:ext cx="411480" cy="411480"/>
          </a:xfrm>
          <a:prstGeom prst="ellipse">
            <a:avLst/>
          </a:prstGeom>
          <a:solidFill>
            <a:schemeClr val="accent1"/>
          </a:solidFill>
          <a:ln/>
        </p:spPr>
      </p:sp>
      <p:sp>
        <p:nvSpPr>
          <p:cNvPr id="22" name="Text 20"/>
          <p:cNvSpPr txBox="1"/>
          <p:nvPr/>
        </p:nvSpPr>
        <p:spPr>
          <a:xfrm>
            <a:off x="548640" y="470916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rPr>
              <a:t>6</a:t>
            </a:r>
            <a:endParaRPr lang="en-US" sz="1500" dirty="0"/>
          </a:p>
        </p:txBody>
      </p:sp>
      <p:sp>
        <p:nvSpPr>
          <p:cNvPr id="23" name="Text 21"/>
          <p:cNvSpPr txBox="1"/>
          <p:nvPr/>
        </p:nvSpPr>
        <p:spPr>
          <a:xfrm>
            <a:off x="1143000" y="4709160"/>
            <a:ext cx="4114800" cy="411480"/>
          </a:xfrm>
          <a:prstGeom prst="rect">
            <a:avLst/>
          </a:prstGeom>
          <a:noFill/>
          <a:ln/>
        </p:spPr>
        <p:txBody>
          <a:bodyPr wrap="square" lIns="0" tIns="0" rIns="0" bIns="0" rtlCol="0" anchor="ctr"/>
          <a:lstStyle/>
          <a:p>
            <a:pPr marL="0" indent="0">
              <a:buNone/>
            </a:pPr>
            <a:r>
              <a:rPr lang="en-US" sz="1900" dirty="0">
                <a:solidFill>
                  <a:schemeClr val="tx1"/>
                </a:solidFill>
              </a:rPr>
              <a:t>Riesgos</a:t>
            </a:r>
            <a:endParaRPr lang="en-US" sz="1900" dirty="0"/>
          </a:p>
        </p:txBody>
      </p:sp>
      <p:sp>
        <p:nvSpPr>
          <p:cNvPr id="27" name="Página"/>
          <p:cNvSpPr/>
          <p:nvPr/>
        </p:nvSpPr>
        <p:spPr>
          <a:xfrm>
            <a:off x="5852160" y="1325880"/>
            <a:ext cx="5790895" cy="4800600"/>
          </a:xfrm>
          <a:prstGeom prst="rect">
            <a:avLst/>
          </a:prstGeom>
          <a:solidFill>
            <a:schemeClr val="bg1"/>
          </a:solidFill>
          <a:ln w="12700">
            <a:solidFill>
              <a:srgbClr val="8A94A6"/>
            </a:solidFill>
            <a:prstDash val="solid"/>
          </a:ln>
          <a:effectLst>
            <a:outerShdw blurRad="101600" dist="38100" dir="5400000" algn="bl" rotWithShape="0">
              <a:srgbClr val="8A94A6">
                <a:alpha val="35000"/>
              </a:srgbClr>
            </a:outerShdw>
          </a:effectLst>
        </p:spPr>
      </p:sp>
      <p:sp>
        <p:nvSpPr>
          <p:cNvPr id="28" name="Documento"/>
          <p:cNvSpPr/>
          <p:nvPr/>
        </p:nvSpPr>
        <p:spPr>
          <a:xfrm>
            <a:off x="6172200" y="1600200"/>
            <a:ext cx="548640" cy="548640"/>
          </a:xfrm>
          <a:prstGeom prst="ellipse">
            <a:avLst/>
          </a:prstGeom>
          <a:solidFill>
            <a:schemeClr val="tx2"/>
          </a:solidFill>
          <a:ln/>
        </p:spPr>
      </p:sp>
      <p:pic>
        <p:nvPicPr>
          <p:cNvPr id="29" name="Image 0" descr="Documento"/>
          <p:cNvPicPr>
            <a:picLocks noChangeAspect="1"/>
          </p:cNvPicPr>
          <p:nvPr/>
        </p:nvPicPr>
        <p:blipFill>
          <a:blip r:embed="rId3"/>
          <a:stretch>
            <a:fillRect/>
          </a:stretch>
        </p:blipFill>
        <p:spPr>
          <a:xfrm>
            <a:off x="6303874" y="1731874"/>
            <a:ext cx="285293" cy="285293"/>
          </a:xfrm>
          <a:prstGeom prst="rect">
            <a:avLst/>
          </a:prstGeom>
        </p:spPr>
      </p:pic>
      <p:sp>
        <p:nvSpPr>
          <p:cNvPr id="30" name="Text 27"/>
          <p:cNvSpPr txBox="1"/>
          <p:nvPr/>
        </p:nvSpPr>
        <p:spPr>
          <a:xfrm>
            <a:off x="6858000" y="1554480"/>
            <a:ext cx="4510735" cy="685800"/>
          </a:xfrm>
          <a:prstGeom prst="rect">
            <a:avLst/>
          </a:prstGeom>
          <a:noFill/>
          <a:ln/>
        </p:spPr>
        <p:txBody>
          <a:bodyPr wrap="square" lIns="0" tIns="0" rIns="0" bIns="0" rtlCol="0" anchor="ctr"/>
          <a:lstStyle/>
          <a:p>
            <a:pPr marL="0" indent="0">
              <a:buNone/>
            </a:pPr>
            <a:r>
              <a:rPr lang="en-US" sz="1200" b="1" dirty="0">
                <a:solidFill>
                  <a:schemeClr val="accent5"/>
                </a:solidFill>
              </a:rPr>
              <a:t>EJEMPLO · NOMBRE DE LA PROPUESTA</a:t>
            </a:r>
            <a:endParaRPr lang="en-US" sz="1200" dirty="0"/>
          </a:p>
          <a:p>
            <a:pPr marL="0" indent="0">
              <a:buNone/>
            </a:pPr>
            <a:r>
              <a:rPr lang="en-US" sz="1900" b="1" dirty="0">
                <a:solidFill>
                  <a:schemeClr val="tx1"/>
                </a:solidFill>
              </a:rPr>
              <a:t>Sistema de seguimiento de solicitudes</a:t>
            </a:r>
            <a:endParaRPr lang="en-US" sz="1200" dirty="0"/>
          </a:p>
        </p:txBody>
      </p:sp>
      <p:sp>
        <p:nvSpPr>
          <p:cNvPr id="31" name="Text 28"/>
          <p:cNvSpPr txBox="1"/>
          <p:nvPr/>
        </p:nvSpPr>
        <p:spPr>
          <a:xfrm>
            <a:off x="6172200" y="2468880"/>
            <a:ext cx="5150815" cy="3429000"/>
          </a:xfrm>
          <a:prstGeom prst="rect">
            <a:avLst/>
          </a:prstGeom>
          <a:noFill/>
          <a:ln/>
        </p:spPr>
        <p:txBody>
          <a:bodyPr wrap="square" lIns="0" tIns="0" rIns="0" bIns="0" rtlCol="0" anchor="t"/>
          <a:lstStyle/>
          <a:p>
            <a:pPr marL="0" indent="0">
              <a:spcAft>
                <a:spcPts val="1000"/>
              </a:spcAft>
              <a:buNone/>
            </a:pPr>
            <a:r>
              <a:rPr lang="en-US" sz="1600" b="1" dirty="0">
                <a:solidFill>
                  <a:schemeClr val="tx1"/>
                </a:solidFill>
              </a:rPr>
              <a:t>Problema: </a:t>
            </a:r>
            <a:r>
              <a:rPr lang="en-US" sz="1600" dirty="0">
                <a:solidFill>
                  <a:schemeClr val="tx1"/>
                </a:solidFill>
              </a:rPr>
              <a:t>una pequeña empresa pierde peticiones entre correos dispersos.</a:t>
            </a:r>
            <a:endParaRPr lang="en-US" sz="1600" dirty="0"/>
          </a:p>
          <a:p>
            <a:pPr marL="0" indent="0">
              <a:spcAft>
                <a:spcPts val="1000"/>
              </a:spcAft>
              <a:buNone/>
            </a:pPr>
            <a:r>
              <a:rPr lang="en-US" sz="1600" b="1" dirty="0">
                <a:solidFill>
                  <a:schemeClr val="tx1"/>
                </a:solidFill>
              </a:rPr>
              <a:t>Solución: </a:t>
            </a:r>
            <a:r>
              <a:rPr lang="en-US" sz="1600" dirty="0">
                <a:solidFill>
                  <a:schemeClr val="tx1"/>
                </a:solidFill>
              </a:rPr>
              <a:t>centralizar las solicitudes en un formulario y una hoja compartida.</a:t>
            </a:r>
            <a:endParaRPr lang="en-US" sz="1600" dirty="0"/>
          </a:p>
          <a:p>
            <a:pPr marL="0" indent="0">
              <a:spcAft>
                <a:spcPts val="1000"/>
              </a:spcAft>
              <a:buNone/>
            </a:pPr>
            <a:r>
              <a:rPr lang="en-US" sz="1600" b="1" dirty="0">
                <a:solidFill>
                  <a:schemeClr val="tx1"/>
                </a:solidFill>
              </a:rPr>
              <a:t>Beneficios esperados: </a:t>
            </a:r>
            <a:r>
              <a:rPr lang="en-US" sz="1600" dirty="0">
                <a:solidFill>
                  <a:schemeClr val="tx1"/>
                </a:solidFill>
              </a:rPr>
              <a:t>menos olvidos y un seguimiento más fácil.</a:t>
            </a:r>
            <a:endParaRPr lang="en-US" sz="1600" dirty="0"/>
          </a:p>
          <a:p>
            <a:pPr marL="0" indent="0">
              <a:spcAft>
                <a:spcPts val="1000"/>
              </a:spcAft>
              <a:buNone/>
            </a:pPr>
            <a:r>
              <a:rPr lang="en-US" sz="1600" b="1" dirty="0">
                <a:solidFill>
                  <a:schemeClr val="tx1"/>
                </a:solidFill>
              </a:rPr>
              <a:t>Recursos: </a:t>
            </a:r>
            <a:r>
              <a:rPr lang="en-US" sz="1600" dirty="0">
                <a:solidFill>
                  <a:schemeClr val="tx1"/>
                </a:solidFill>
              </a:rPr>
              <a:t>herramientas ya disponibles y una breve formación interna.</a:t>
            </a:r>
            <a:endParaRPr lang="en-US" sz="1600" dirty="0"/>
          </a:p>
          <a:p>
            <a:pPr marL="0" indent="0">
              <a:spcAft>
                <a:spcPts val="1000"/>
              </a:spcAft>
              <a:buNone/>
            </a:pPr>
            <a:r>
              <a:rPr lang="en-US" sz="1600" b="1" dirty="0">
                <a:solidFill>
                  <a:schemeClr val="tx1"/>
                </a:solidFill>
              </a:rPr>
              <a:t>Riesgos: </a:t>
            </a:r>
            <a:r>
              <a:rPr lang="en-US" sz="1600" dirty="0">
                <a:solidFill>
                  <a:schemeClr val="tx1"/>
                </a:solidFill>
              </a:rPr>
              <a:t>errores de registro, accesos indebidos y resistencia al cambio.</a:t>
            </a:r>
            <a:endParaRPr lang="en-US" sz="1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La IA propone, vosotros decidís</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marL="0" indent="0" algn="ctr">
              <a:buNone/>
            </a:pPr>
            <a:r>
              <a:rPr lang="en-US" sz="1400" b="1" dirty="0">
                <a:solidFill>
                  <a:schemeClr val="tx1"/>
                </a:solidFill>
              </a:rPr>
              <a:t>Min. 140–145</a:t>
            </a:r>
            <a:endParaRPr lang="en-US" sz="1400" dirty="0"/>
          </a:p>
        </p:txBody>
      </p:sp>
      <p:sp>
        <p:nvSpPr>
          <p:cNvPr id="5" name="Text 3"/>
          <p:cNvSpPr txBox="1"/>
          <p:nvPr/>
        </p:nvSpPr>
        <p:spPr>
          <a:xfrm>
            <a:off x="548640" y="1371600"/>
            <a:ext cx="11094415" cy="457200"/>
          </a:xfrm>
          <a:prstGeom prst="rect">
            <a:avLst/>
          </a:prstGeom>
          <a:noFill/>
          <a:ln/>
        </p:spPr>
        <p:txBody>
          <a:bodyPr wrap="square" lIns="0" tIns="0" rIns="0" bIns="0" rtlCol="0" anchor="ctr"/>
          <a:lstStyle/>
          <a:p>
            <a:pPr marL="0" indent="0">
              <a:buNone/>
            </a:pPr>
            <a:r>
              <a:rPr lang="en-US" sz="1900" dirty="0">
                <a:solidFill>
                  <a:schemeClr val="tx2"/>
                </a:solidFill>
              </a:rPr>
              <a:t>Demostración: pedir a la IA una versión más clara y concisa del documento.</a:t>
            </a:r>
            <a:endParaRPr lang="en-US" sz="1900" dirty="0"/>
          </a:p>
        </p:txBody>
      </p:sp>
      <p:sp>
        <p:nvSpPr>
          <p:cNvPr id="6" name="Tarjeta"/>
          <p:cNvSpPr/>
          <p:nvPr/>
        </p:nvSpPr>
        <p:spPr>
          <a:xfrm>
            <a:off x="548640" y="2057400"/>
            <a:ext cx="5318608" cy="3108960"/>
          </a:xfrm>
          <a:prstGeom prst="roundRect">
            <a:avLst>
              <a:gd name="adj" fmla="val 4412"/>
            </a:avLst>
          </a:prstGeom>
          <a:solidFill>
            <a:schemeClr val="bg2"/>
          </a:solidFill>
          <a:ln/>
        </p:spPr>
      </p:sp>
      <p:sp>
        <p:nvSpPr>
          <p:cNvPr id="7" name="IA"/>
          <p:cNvSpPr/>
          <p:nvPr/>
        </p:nvSpPr>
        <p:spPr>
          <a:xfrm>
            <a:off x="868680" y="2331720"/>
            <a:ext cx="914400" cy="914400"/>
          </a:xfrm>
          <a:prstGeom prst="ellipse">
            <a:avLst/>
          </a:prstGeom>
          <a:solidFill>
            <a:schemeClr val="accent2"/>
          </a:solidFill>
          <a:ln/>
        </p:spPr>
      </p:sp>
      <p:pic>
        <p:nvPicPr>
          <p:cNvPr id="8" name="Image 0" descr="IA"/>
          <p:cNvPicPr>
            <a:picLocks noChangeAspect="1"/>
          </p:cNvPicPr>
          <p:nvPr/>
        </p:nvPicPr>
        <p:blipFill>
          <a:blip r:embed="rId3"/>
          <a:stretch>
            <a:fillRect/>
          </a:stretch>
        </p:blipFill>
        <p:spPr>
          <a:xfrm>
            <a:off x="1088136" y="2551176"/>
            <a:ext cx="475488" cy="475488"/>
          </a:xfrm>
          <a:prstGeom prst="rect">
            <a:avLst/>
          </a:prstGeom>
        </p:spPr>
      </p:pic>
      <p:sp>
        <p:nvSpPr>
          <p:cNvPr id="9" name="Text 6"/>
          <p:cNvSpPr txBox="1"/>
          <p:nvPr/>
        </p:nvSpPr>
        <p:spPr>
          <a:xfrm>
            <a:off x="2011680" y="2331720"/>
            <a:ext cx="3581248" cy="914400"/>
          </a:xfrm>
          <a:prstGeom prst="rect">
            <a:avLst/>
          </a:prstGeom>
          <a:noFill/>
          <a:ln/>
        </p:spPr>
        <p:txBody>
          <a:bodyPr wrap="square" lIns="0" tIns="0" rIns="0" bIns="0" rtlCol="0" anchor="ctr"/>
          <a:lstStyle/>
          <a:p>
            <a:pPr marL="0" indent="0">
              <a:buNone/>
            </a:pPr>
            <a:r>
              <a:rPr lang="en-US" sz="2200" b="1" dirty="0">
                <a:solidFill>
                  <a:schemeClr val="tx1"/>
                </a:solidFill>
              </a:rPr>
              <a:t>La IA propone cambios</a:t>
            </a:r>
            <a:endParaRPr lang="en-US" sz="2200" dirty="0"/>
          </a:p>
        </p:txBody>
      </p:sp>
      <p:sp>
        <p:nvSpPr>
          <p:cNvPr id="10" name="Text 7"/>
          <p:cNvSpPr txBox="1"/>
          <p:nvPr/>
        </p:nvSpPr>
        <p:spPr>
          <a:xfrm>
            <a:off x="868680" y="3474720"/>
            <a:ext cx="4678528" cy="1463040"/>
          </a:xfrm>
          <a:prstGeom prst="rect">
            <a:avLst/>
          </a:prstGeom>
          <a:noFill/>
          <a:ln/>
        </p:spPr>
        <p:txBody>
          <a:bodyPr wrap="square" lIns="0" tIns="0" rIns="0" bIns="0" rtlCol="0" anchor="t"/>
          <a:lstStyle/>
          <a:p>
            <a:pPr marL="0" indent="0">
              <a:buNone/>
            </a:pPr>
            <a:r>
              <a:rPr lang="en-US" sz="1800" dirty="0">
                <a:solidFill>
                  <a:schemeClr val="tx1"/>
                </a:solidFill>
              </a:rPr>
              <a:t>Frases más cortas, otro orden, otras palabras… y a veces datos o afirmaciones que no estaban.</a:t>
            </a:r>
            <a:endParaRPr lang="en-US" sz="1800" dirty="0"/>
          </a:p>
        </p:txBody>
      </p:sp>
      <p:sp>
        <p:nvSpPr>
          <p:cNvPr id="11" name="Tarjeta"/>
          <p:cNvSpPr/>
          <p:nvPr/>
        </p:nvSpPr>
        <p:spPr>
          <a:xfrm>
            <a:off x="6324448" y="2057400"/>
            <a:ext cx="5318608" cy="3108960"/>
          </a:xfrm>
          <a:prstGeom prst="roundRect">
            <a:avLst>
              <a:gd name="adj" fmla="val 4412"/>
            </a:avLst>
          </a:prstGeom>
          <a:solidFill>
            <a:schemeClr val="bg2"/>
          </a:solidFill>
          <a:ln/>
        </p:spPr>
      </p:sp>
      <p:sp>
        <p:nvSpPr>
          <p:cNvPr id="12" name="Personas"/>
          <p:cNvSpPr/>
          <p:nvPr/>
        </p:nvSpPr>
        <p:spPr>
          <a:xfrm>
            <a:off x="6644488" y="2331720"/>
            <a:ext cx="914400" cy="914400"/>
          </a:xfrm>
          <a:prstGeom prst="ellipse">
            <a:avLst/>
          </a:prstGeom>
          <a:solidFill>
            <a:schemeClr val="accent1"/>
          </a:solidFill>
          <a:ln/>
        </p:spPr>
      </p:sp>
      <p:pic>
        <p:nvPicPr>
          <p:cNvPr id="13" name="Image 1" descr="Personas"/>
          <p:cNvPicPr>
            <a:picLocks noChangeAspect="1"/>
          </p:cNvPicPr>
          <p:nvPr/>
        </p:nvPicPr>
        <p:blipFill>
          <a:blip r:embed="rId4"/>
          <a:stretch>
            <a:fillRect/>
          </a:stretch>
        </p:blipFill>
        <p:spPr>
          <a:xfrm>
            <a:off x="6863944" y="2551176"/>
            <a:ext cx="475488" cy="475488"/>
          </a:xfrm>
          <a:prstGeom prst="rect">
            <a:avLst/>
          </a:prstGeom>
        </p:spPr>
      </p:pic>
      <p:sp>
        <p:nvSpPr>
          <p:cNvPr id="14" name="Text 10"/>
          <p:cNvSpPr txBox="1"/>
          <p:nvPr/>
        </p:nvSpPr>
        <p:spPr>
          <a:xfrm>
            <a:off x="7787488" y="2331720"/>
            <a:ext cx="3581248" cy="914400"/>
          </a:xfrm>
          <a:prstGeom prst="rect">
            <a:avLst/>
          </a:prstGeom>
          <a:noFill/>
          <a:ln/>
        </p:spPr>
        <p:txBody>
          <a:bodyPr wrap="square" lIns="0" tIns="0" rIns="0" bIns="0" rtlCol="0" anchor="ctr"/>
          <a:lstStyle/>
          <a:p>
            <a:pPr marL="0" indent="0">
              <a:buNone/>
            </a:pPr>
            <a:r>
              <a:rPr lang="en-US" sz="2200" b="1" dirty="0">
                <a:solidFill>
                  <a:schemeClr val="tx1"/>
                </a:solidFill>
              </a:rPr>
              <a:t>Vosotros decidís</a:t>
            </a:r>
            <a:endParaRPr lang="en-US" sz="2200" dirty="0"/>
          </a:p>
        </p:txBody>
      </p:sp>
      <p:sp>
        <p:nvSpPr>
          <p:cNvPr id="15" name="Aceptar lo que mejora el texto."/>
          <p:cNvSpPr/>
          <p:nvPr/>
        </p:nvSpPr>
        <p:spPr>
          <a:xfrm>
            <a:off x="6644488" y="3520440"/>
            <a:ext cx="548640" cy="548640"/>
          </a:xfrm>
          <a:prstGeom prst="ellipse">
            <a:avLst/>
          </a:prstGeom>
          <a:solidFill>
            <a:schemeClr val="accent6"/>
          </a:solidFill>
          <a:ln/>
        </p:spPr>
      </p:sp>
      <p:pic>
        <p:nvPicPr>
          <p:cNvPr id="16" name="Image 2" descr="Aceptar lo que mejora el texto."/>
          <p:cNvPicPr>
            <a:picLocks noChangeAspect="1"/>
          </p:cNvPicPr>
          <p:nvPr/>
        </p:nvPicPr>
        <p:blipFill>
          <a:blip r:embed="rId5"/>
          <a:stretch>
            <a:fillRect/>
          </a:stretch>
        </p:blipFill>
        <p:spPr>
          <a:xfrm>
            <a:off x="6776161" y="3652114"/>
            <a:ext cx="285293" cy="285293"/>
          </a:xfrm>
          <a:prstGeom prst="rect">
            <a:avLst/>
          </a:prstGeom>
        </p:spPr>
      </p:pic>
      <p:sp>
        <p:nvSpPr>
          <p:cNvPr id="17" name="Text 12"/>
          <p:cNvSpPr txBox="1"/>
          <p:nvPr/>
        </p:nvSpPr>
        <p:spPr>
          <a:xfrm>
            <a:off x="7376008" y="3520440"/>
            <a:ext cx="3947008" cy="548640"/>
          </a:xfrm>
          <a:prstGeom prst="rect">
            <a:avLst/>
          </a:prstGeom>
          <a:noFill/>
          <a:ln/>
        </p:spPr>
        <p:txBody>
          <a:bodyPr wrap="square" lIns="0" tIns="0" rIns="0" bIns="0" rtlCol="0" anchor="ctr"/>
          <a:lstStyle/>
          <a:p>
            <a:pPr marL="0" indent="0">
              <a:buNone/>
            </a:pPr>
            <a:r>
              <a:rPr lang="en-US" sz="1800" dirty="0">
                <a:solidFill>
                  <a:schemeClr val="tx1"/>
                </a:solidFill>
              </a:rPr>
              <a:t>Aceptar lo que mejora el texto.</a:t>
            </a:r>
            <a:endParaRPr lang="en-US" sz="1800" dirty="0"/>
          </a:p>
        </p:txBody>
      </p:sp>
      <p:sp>
        <p:nvSpPr>
          <p:cNvPr id="18" name="Rechazar lo que cambia el sentido o no es cierto."/>
          <p:cNvSpPr/>
          <p:nvPr/>
        </p:nvSpPr>
        <p:spPr>
          <a:xfrm>
            <a:off x="6644488" y="4251960"/>
            <a:ext cx="548640" cy="548640"/>
          </a:xfrm>
          <a:prstGeom prst="ellipse">
            <a:avLst/>
          </a:prstGeom>
          <a:solidFill>
            <a:schemeClr val="accent3"/>
          </a:solidFill>
          <a:ln/>
        </p:spPr>
      </p:sp>
      <p:pic>
        <p:nvPicPr>
          <p:cNvPr id="19" name="Image 3" descr="Rechazar lo que cambia el sentido o no es cierto."/>
          <p:cNvPicPr>
            <a:picLocks noChangeAspect="1"/>
          </p:cNvPicPr>
          <p:nvPr/>
        </p:nvPicPr>
        <p:blipFill>
          <a:blip r:embed="rId6"/>
          <a:stretch>
            <a:fillRect/>
          </a:stretch>
        </p:blipFill>
        <p:spPr>
          <a:xfrm>
            <a:off x="6776161" y="4383634"/>
            <a:ext cx="285293" cy="285293"/>
          </a:xfrm>
          <a:prstGeom prst="rect">
            <a:avLst/>
          </a:prstGeom>
        </p:spPr>
      </p:pic>
      <p:sp>
        <p:nvSpPr>
          <p:cNvPr id="20" name="Text 14"/>
          <p:cNvSpPr txBox="1"/>
          <p:nvPr/>
        </p:nvSpPr>
        <p:spPr>
          <a:xfrm>
            <a:off x="7376008" y="4251960"/>
            <a:ext cx="3947008" cy="548640"/>
          </a:xfrm>
          <a:prstGeom prst="rect">
            <a:avLst/>
          </a:prstGeom>
          <a:noFill/>
          <a:ln/>
        </p:spPr>
        <p:txBody>
          <a:bodyPr wrap="square" lIns="0" tIns="0" rIns="0" bIns="0" rtlCol="0" anchor="ctr"/>
          <a:lstStyle/>
          <a:p>
            <a:pPr marL="0" indent="0">
              <a:buNone/>
            </a:pPr>
            <a:r>
              <a:rPr lang="en-US" sz="1800" dirty="0">
                <a:solidFill>
                  <a:schemeClr val="tx1"/>
                </a:solidFill>
              </a:rPr>
              <a:t>Rechazar lo que cambia el sentido o no es cierto.</a:t>
            </a:r>
            <a:endParaRPr lang="en-US" sz="1800" dirty="0"/>
          </a:p>
        </p:txBody>
      </p:sp>
      <p:sp>
        <p:nvSpPr>
          <p:cNvPr id="21" name="Shape 15"/>
          <p:cNvSpPr/>
          <p:nvPr/>
        </p:nvSpPr>
        <p:spPr>
          <a:xfrm>
            <a:off x="5912968" y="3611880"/>
            <a:ext cx="365760" cy="0"/>
          </a:xfrm>
          <a:prstGeom prst="line">
            <a:avLst/>
          </a:prstGeom>
          <a:noFill/>
          <a:ln w="38100">
            <a:solidFill>
              <a:srgbClr val="3A4664"/>
            </a:solidFill>
            <a:prstDash val="solid"/>
            <a:tailEnd type="triangle"/>
          </a:ln>
        </p:spPr>
      </p:sp>
      <p:sp>
        <p:nvSpPr>
          <p:cNvPr id="22" name="Text 16"/>
          <p:cNvSpPr txBox="1"/>
          <p:nvPr/>
        </p:nvSpPr>
        <p:spPr>
          <a:xfrm>
            <a:off x="548640" y="5440680"/>
            <a:ext cx="11094415" cy="502920"/>
          </a:xfrm>
          <a:prstGeom prst="rect">
            <a:avLst/>
          </a:prstGeom>
          <a:noFill/>
          <a:ln/>
        </p:spPr>
        <p:txBody>
          <a:bodyPr wrap="square" lIns="0" tIns="0" rIns="0" bIns="0" rtlCol="0" anchor="ctr"/>
          <a:lstStyle/>
          <a:p>
            <a:pPr marL="0" indent="0">
              <a:buNone/>
            </a:pPr>
            <a:r>
              <a:rPr lang="en-US" sz="2000" b="1" dirty="0">
                <a:solidFill>
                  <a:schemeClr val="accent3"/>
                </a:solidFill>
              </a:rPr>
              <a:t>El documento es vuestro: la IA no firma la propuesta.</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Abrid el documento del proyecto</a:t>
            </a:r>
            <a:endParaRPr lang="en-US" sz="3200" dirty="0"/>
          </a:p>
        </p:txBody>
      </p:sp>
      <p:sp>
        <p:nvSpPr>
          <p:cNvPr id="3" name="Etiqueta de tiempo"/>
          <p:cNvSpPr/>
          <p:nvPr/>
        </p:nvSpPr>
        <p:spPr>
          <a:xfrm>
            <a:off x="9293047" y="548640"/>
            <a:ext cx="2350008" cy="457200"/>
          </a:xfrm>
          <a:prstGeom prst="roundRect">
            <a:avLst>
              <a:gd name="adj" fmla="val 50000"/>
            </a:avLst>
          </a:prstGeom>
          <a:solidFill>
            <a:schemeClr val="accent1"/>
          </a:solidFill>
          <a:ln/>
        </p:spPr>
      </p:sp>
      <p:sp>
        <p:nvSpPr>
          <p:cNvPr id="4" name="Text 2"/>
          <p:cNvSpPr txBox="1"/>
          <p:nvPr/>
        </p:nvSpPr>
        <p:spPr>
          <a:xfrm>
            <a:off x="9293047" y="548640"/>
            <a:ext cx="2350008" cy="457200"/>
          </a:xfrm>
          <a:prstGeom prst="rect">
            <a:avLst/>
          </a:prstGeom>
          <a:noFill/>
          <a:ln/>
        </p:spPr>
        <p:txBody>
          <a:bodyPr wrap="square" lIns="0" tIns="0" rIns="0" bIns="0" rtlCol="0" anchor="ctr"/>
          <a:lstStyle/>
          <a:p>
            <a:pPr marL="0" indent="0" algn="ctr">
              <a:buNone/>
            </a:pPr>
            <a:r>
              <a:rPr lang="en-US" sz="1400" b="1" dirty="0">
                <a:solidFill>
                  <a:schemeClr val="tx1"/>
                </a:solidFill>
              </a:rPr>
              <a:t>Min. 145 · Parejas</a:t>
            </a:r>
            <a:endParaRPr lang="en-US" sz="1400" dirty="0"/>
          </a:p>
        </p:txBody>
      </p:sp>
      <p:sp>
        <p:nvSpPr>
          <p:cNvPr id="5" name="Archivo"/>
          <p:cNvSpPr/>
          <p:nvPr/>
        </p:nvSpPr>
        <p:spPr>
          <a:xfrm>
            <a:off x="548640" y="1554480"/>
            <a:ext cx="4572000" cy="4206240"/>
          </a:xfrm>
          <a:prstGeom prst="roundRect">
            <a:avLst>
              <a:gd name="adj" fmla="val 3261"/>
            </a:avLst>
          </a:prstGeom>
          <a:solidFill>
            <a:schemeClr val="bg2"/>
          </a:solidFill>
          <a:ln/>
        </p:spPr>
      </p:sp>
      <p:sp>
        <p:nvSpPr>
          <p:cNvPr id="6" name="Icono del archivo"/>
          <p:cNvSpPr/>
          <p:nvPr/>
        </p:nvSpPr>
        <p:spPr>
          <a:xfrm>
            <a:off x="2103120" y="2011680"/>
            <a:ext cx="1463040" cy="1463040"/>
          </a:xfrm>
          <a:prstGeom prst="ellipse">
            <a:avLst/>
          </a:prstGeom>
          <a:solidFill>
            <a:schemeClr val="accent1"/>
          </a:solidFill>
          <a:ln/>
        </p:spPr>
      </p:sp>
      <p:pic>
        <p:nvPicPr>
          <p:cNvPr id="7" name="Image 0" descr="Icono del archivo"/>
          <p:cNvPicPr>
            <a:picLocks noChangeAspect="1"/>
          </p:cNvPicPr>
          <p:nvPr/>
        </p:nvPicPr>
        <p:blipFill>
          <a:blip r:embed="rId3"/>
          <a:stretch>
            <a:fillRect/>
          </a:stretch>
        </p:blipFill>
        <p:spPr>
          <a:xfrm>
            <a:off x="2454250" y="2362810"/>
            <a:ext cx="760781" cy="760781"/>
          </a:xfrm>
          <a:prstGeom prst="rect">
            <a:avLst/>
          </a:prstGeom>
        </p:spPr>
      </p:pic>
      <p:sp>
        <p:nvSpPr>
          <p:cNvPr id="8" name="Text 5"/>
          <p:cNvSpPr txBox="1"/>
          <p:nvPr/>
        </p:nvSpPr>
        <p:spPr>
          <a:xfrm>
            <a:off x="731520" y="3749040"/>
            <a:ext cx="4206240" cy="731520"/>
          </a:xfrm>
          <a:prstGeom prst="rect">
            <a:avLst/>
          </a:prstGeom>
          <a:noFill/>
          <a:ln/>
        </p:spPr>
        <p:txBody>
          <a:bodyPr wrap="square" lIns="0" tIns="0" rIns="0" bIns="0" rtlCol="0" anchor="ctr">
            <a:normAutofit/>
          </a:bodyPr>
          <a:lstStyle/>
          <a:p>
            <a:pPr marL="0" indent="0" algn="ctr">
              <a:buNone/>
            </a:pPr>
            <a:r>
              <a:rPr lang="en-US" sz="2200" b="1" dirty="0">
                <a:solidFill>
                  <a:schemeClr val="tx1"/>
                </a:solidFill>
              </a:rPr>
              <a:t>documento_proyecto.docx</a:t>
            </a:r>
            <a:endParaRPr lang="en-US" sz="2200" dirty="0"/>
          </a:p>
        </p:txBody>
      </p:sp>
      <p:sp>
        <p:nvSpPr>
          <p:cNvPr id="9" name="Text 6"/>
          <p:cNvSpPr txBox="1"/>
          <p:nvPr/>
        </p:nvSpPr>
        <p:spPr>
          <a:xfrm>
            <a:off x="731520" y="4526280"/>
            <a:ext cx="4206240" cy="457200"/>
          </a:xfrm>
          <a:prstGeom prst="rect">
            <a:avLst/>
          </a:prstGeom>
          <a:noFill/>
          <a:ln/>
        </p:spPr>
        <p:txBody>
          <a:bodyPr wrap="square" lIns="0" tIns="0" rIns="0" bIns="0" rtlCol="0" anchor="ctr"/>
          <a:lstStyle/>
          <a:p>
            <a:pPr marL="0" indent="0" algn="ctr">
              <a:buNone/>
            </a:pPr>
            <a:r>
              <a:rPr lang="en-US" sz="1600" dirty="0">
                <a:solidFill>
                  <a:schemeClr val="accent5"/>
                </a:solidFill>
              </a:rPr>
              <a:t>Word o Google Docs</a:t>
            </a:r>
            <a:endParaRPr lang="en-US" sz="1600" dirty="0"/>
          </a:p>
        </p:txBody>
      </p:sp>
      <p:sp>
        <p:nvSpPr>
          <p:cNvPr id="10" name="Paso 1"/>
          <p:cNvSpPr/>
          <p:nvPr/>
        </p:nvSpPr>
        <p:spPr>
          <a:xfrm>
            <a:off x="5577840" y="1737360"/>
            <a:ext cx="640080" cy="640080"/>
          </a:xfrm>
          <a:prstGeom prst="ellipse">
            <a:avLst/>
          </a:prstGeom>
          <a:solidFill>
            <a:schemeClr val="accent1"/>
          </a:solidFill>
          <a:ln/>
        </p:spPr>
      </p:sp>
      <p:sp>
        <p:nvSpPr>
          <p:cNvPr id="11" name="Text 8"/>
          <p:cNvSpPr txBox="1"/>
          <p:nvPr/>
        </p:nvSpPr>
        <p:spPr>
          <a:xfrm>
            <a:off x="5577840" y="17373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12" name="Text 9"/>
          <p:cNvSpPr txBox="1"/>
          <p:nvPr/>
        </p:nvSpPr>
        <p:spPr>
          <a:xfrm>
            <a:off x="6446520" y="1600200"/>
            <a:ext cx="5196535" cy="914400"/>
          </a:xfrm>
          <a:prstGeom prst="rect">
            <a:avLst/>
          </a:prstGeom>
          <a:noFill/>
          <a:ln/>
        </p:spPr>
        <p:txBody>
          <a:bodyPr wrap="square" lIns="0" tIns="0" rIns="0" bIns="0" rtlCol="0" anchor="ctr"/>
          <a:lstStyle/>
          <a:p>
            <a:pPr marL="0" indent="0">
              <a:buNone/>
            </a:pPr>
            <a:r>
              <a:rPr lang="en-US" sz="2000" dirty="0">
                <a:solidFill>
                  <a:schemeClr val="tx1"/>
                </a:solidFill>
              </a:rPr>
              <a:t>El prompt está en la página de trabajo: pedid la ficha a la IA.</a:t>
            </a:r>
            <a:endParaRPr lang="en-US" sz="2000" dirty="0"/>
          </a:p>
        </p:txBody>
      </p:sp>
      <p:sp>
        <p:nvSpPr>
          <p:cNvPr id="13" name="Paso 2"/>
          <p:cNvSpPr/>
          <p:nvPr/>
        </p:nvSpPr>
        <p:spPr>
          <a:xfrm>
            <a:off x="5577840" y="3108960"/>
            <a:ext cx="640080" cy="640080"/>
          </a:xfrm>
          <a:prstGeom prst="ellipse">
            <a:avLst/>
          </a:prstGeom>
          <a:solidFill>
            <a:schemeClr val="accent1"/>
          </a:solidFill>
          <a:ln/>
        </p:spPr>
      </p:sp>
      <p:sp>
        <p:nvSpPr>
          <p:cNvPr id="14" name="Text 11"/>
          <p:cNvSpPr txBox="1"/>
          <p:nvPr/>
        </p:nvSpPr>
        <p:spPr>
          <a:xfrm>
            <a:off x="5577840" y="31089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2</a:t>
            </a:r>
            <a:endParaRPr lang="en-US" sz="2200" dirty="0"/>
          </a:p>
        </p:txBody>
      </p:sp>
      <p:sp>
        <p:nvSpPr>
          <p:cNvPr id="15" name="Text 12"/>
          <p:cNvSpPr txBox="1"/>
          <p:nvPr/>
        </p:nvSpPr>
        <p:spPr>
          <a:xfrm>
            <a:off x="6446520" y="2971800"/>
            <a:ext cx="5196535" cy="914400"/>
          </a:xfrm>
          <a:prstGeom prst="rect">
            <a:avLst/>
          </a:prstGeom>
          <a:noFill/>
          <a:ln/>
        </p:spPr>
        <p:txBody>
          <a:bodyPr wrap="square" lIns="0" tIns="0" rIns="0" bIns="0" rtlCol="0" anchor="ctr"/>
          <a:lstStyle/>
          <a:p>
            <a:pPr marL="0" indent="0">
              <a:buNone/>
            </a:pPr>
            <a:r>
              <a:rPr lang="en-US" sz="2000" dirty="0">
                <a:solidFill>
                  <a:schemeClr val="tx1"/>
                </a:solidFill>
              </a:rPr>
              <a:t>Pegad la respuesta en los apartados 1 a 6, en versión corta.</a:t>
            </a:r>
            <a:endParaRPr lang="en-US" sz="2000" dirty="0"/>
          </a:p>
        </p:txBody>
      </p:sp>
      <p:sp>
        <p:nvSpPr>
          <p:cNvPr id="16" name="Paso 3"/>
          <p:cNvSpPr/>
          <p:nvPr/>
        </p:nvSpPr>
        <p:spPr>
          <a:xfrm>
            <a:off x="5577840" y="4480560"/>
            <a:ext cx="640080" cy="640080"/>
          </a:xfrm>
          <a:prstGeom prst="ellipse">
            <a:avLst/>
          </a:prstGeom>
          <a:solidFill>
            <a:schemeClr val="accent1"/>
          </a:solidFill>
          <a:ln/>
        </p:spPr>
      </p:sp>
      <p:sp>
        <p:nvSpPr>
          <p:cNvPr id="17" name="Text 14"/>
          <p:cNvSpPr txBox="1"/>
          <p:nvPr/>
        </p:nvSpPr>
        <p:spPr>
          <a:xfrm>
            <a:off x="5577840" y="44805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18" name="Text 15"/>
          <p:cNvSpPr txBox="1"/>
          <p:nvPr/>
        </p:nvSpPr>
        <p:spPr>
          <a:xfrm>
            <a:off x="6446520" y="4343400"/>
            <a:ext cx="5196535" cy="914400"/>
          </a:xfrm>
          <a:prstGeom prst="rect">
            <a:avLst/>
          </a:prstGeom>
          <a:noFill/>
          <a:ln/>
        </p:spPr>
        <p:txBody>
          <a:bodyPr wrap="square" lIns="0" tIns="0" rIns="0" bIns="0" rtlCol="0" anchor="ctr"/>
          <a:lstStyle/>
          <a:p>
            <a:pPr marL="0" indent="0">
              <a:buNone/>
            </a:pPr>
            <a:r>
              <a:rPr lang="en-US" sz="2000" dirty="0">
                <a:solidFill>
                  <a:schemeClr val="tx1"/>
                </a:solidFill>
              </a:rPr>
              <a:t>Corregid tres cosas y anotadlas en la página de trabajo. Guardad el archivo.</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Ficha exprés con IA</a:t>
            </a:r>
            <a:endParaRPr lang="en-US" sz="3200" dirty="0"/>
          </a:p>
        </p:txBody>
      </p:sp>
      <p:sp>
        <p:nvSpPr>
          <p:cNvPr id="3" name="Etiqueta de tiempo"/>
          <p:cNvSpPr/>
          <p:nvPr/>
        </p:nvSpPr>
        <p:spPr>
          <a:xfrm>
            <a:off x="8977579" y="548640"/>
            <a:ext cx="2665476" cy="457200"/>
          </a:xfrm>
          <a:prstGeom prst="roundRect">
            <a:avLst>
              <a:gd name="adj" fmla="val 50000"/>
            </a:avLst>
          </a:prstGeom>
          <a:solidFill>
            <a:schemeClr val="accent2"/>
          </a:solidFill>
          <a:ln/>
        </p:spPr>
      </p:sp>
      <p:sp>
        <p:nvSpPr>
          <p:cNvPr id="4" name="Text 2"/>
          <p:cNvSpPr txBox="1"/>
          <p:nvPr/>
        </p:nvSpPr>
        <p:spPr>
          <a:xfrm>
            <a:off x="8977579" y="548640"/>
            <a:ext cx="2665476" cy="457200"/>
          </a:xfrm>
          <a:prstGeom prst="rect">
            <a:avLst/>
          </a:prstGeom>
          <a:noFill/>
          <a:ln/>
        </p:spPr>
        <p:txBody>
          <a:bodyPr wrap="square" lIns="0" tIns="0" rIns="0" bIns="0" rtlCol="0" anchor="ctr"/>
          <a:lstStyle/>
          <a:p>
            <a:pPr marL="0" indent="0" algn="ctr">
              <a:buNone/>
            </a:pPr>
            <a:r>
              <a:rPr lang="en-US" sz="1400" b="1" dirty="0">
                <a:solidFill>
                  <a:schemeClr val="bg1"/>
                </a:solidFill>
              </a:rPr>
              <a:t>Min. 145–160 · Con IA</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Con la propuesta ganadora que acabáis de elegir:</a:t>
            </a:r>
            <a:endParaRPr lang="en-US" sz="1900" dirty="0"/>
          </a:p>
        </p:txBody>
      </p:sp>
      <p:sp>
        <p:nvSpPr>
          <p:cNvPr id="6" name="Text 4"/>
          <p:cNvSpPr txBox="1"/>
          <p:nvPr/>
        </p:nvSpPr>
        <p:spPr>
          <a:xfrm>
            <a:off x="548640" y="1920240"/>
            <a:ext cx="457200" cy="457200"/>
          </a:xfrm>
          <a:prstGeom prst="rect">
            <a:avLst/>
          </a:prstGeom>
          <a:noFill/>
          <a:ln/>
        </p:spPr>
        <p:txBody>
          <a:bodyPr wrap="square" lIns="0" tIns="0" rIns="0" bIns="0" rtlCol="0" anchor="ctr"/>
          <a:lstStyle/>
          <a:p>
            <a:pPr marL="0" indent="0">
              <a:buNone/>
            </a:pPr>
            <a:r>
              <a:rPr lang="en-US" sz="2600" b="1" dirty="0">
                <a:solidFill>
                  <a:schemeClr val="accent2"/>
                </a:solidFill>
              </a:rPr>
              <a:t>1</a:t>
            </a:r>
            <a:endParaRPr lang="en-US" sz="2600" dirty="0"/>
          </a:p>
        </p:txBody>
      </p:sp>
      <p:sp>
        <p:nvSpPr>
          <p:cNvPr id="7" name="Prompt"/>
          <p:cNvSpPr/>
          <p:nvPr/>
        </p:nvSpPr>
        <p:spPr>
          <a:xfrm>
            <a:off x="1097280" y="1874520"/>
            <a:ext cx="10545775" cy="1417320"/>
          </a:xfrm>
          <a:prstGeom prst="roundRect">
            <a:avLst>
              <a:gd name="adj" fmla="val 7742"/>
            </a:avLst>
          </a:prstGeom>
          <a:solidFill>
            <a:schemeClr val="tx1"/>
          </a:solidFill>
          <a:ln/>
        </p:spPr>
      </p:sp>
      <p:sp>
        <p:nvSpPr>
          <p:cNvPr id="8" name="Text 6"/>
          <p:cNvSpPr txBox="1"/>
          <p:nvPr/>
        </p:nvSpPr>
        <p:spPr>
          <a:xfrm>
            <a:off x="1371600" y="2057400"/>
            <a:ext cx="9997135" cy="1051560"/>
          </a:xfrm>
          <a:prstGeom prst="rect">
            <a:avLst/>
          </a:prstGeom>
          <a:noFill/>
          <a:ln/>
        </p:spPr>
        <p:txBody>
          <a:bodyPr wrap="square" lIns="0" tIns="0" rIns="0" bIns="0" rtlCol="0" anchor="t"/>
          <a:lstStyle/>
          <a:p>
            <a:pPr marL="0" indent="0">
              <a:lnSpc>
                <a:spcPct val="95000"/>
              </a:lnSpc>
              <a:buNone/>
            </a:pPr>
            <a:r>
              <a:rPr lang="en-US" sz="1600" dirty="0">
                <a:solidFill>
                  <a:schemeClr val="bg1"/>
                </a:solidFill>
                <a:latin typeface="Courier New" pitchFamily="34" charset="0"/>
                <a:ea typeface="Courier New" pitchFamily="34" charset="-122"/>
                <a:cs typeface="Courier New" pitchFamily="34" charset="-120"/>
              </a:rPr>
              <a:t>Redacta una ficha de una página con estos apartados: nombre de la</a:t>
            </a:r>
            <a:endParaRPr lang="en-US" sz="1600" dirty="0"/>
          </a:p>
          <a:p>
            <a:pPr marL="0" indent="0">
              <a:lnSpc>
                <a:spcPct val="95000"/>
              </a:lnSpc>
              <a:buNone/>
            </a:pPr>
            <a:r>
              <a:rPr lang="en-US" sz="1600" dirty="0">
                <a:solidFill>
                  <a:schemeClr val="bg1"/>
                </a:solidFill>
                <a:latin typeface="Courier New" pitchFamily="34" charset="0"/>
                <a:ea typeface="Courier New" pitchFamily="34" charset="-122"/>
                <a:cs typeface="Courier New" pitchFamily="34" charset="-120"/>
              </a:rPr>
              <a:t>propuesta, problema, solución, beneficios esperados, recursos y riesgos.</a:t>
            </a:r>
            <a:endParaRPr lang="en-US" sz="1600" dirty="0"/>
          </a:p>
          <a:p>
            <a:pPr marL="0" indent="0">
              <a:lnSpc>
                <a:spcPct val="95000"/>
              </a:lnSpc>
              <a:buNone/>
            </a:pPr>
            <a:r>
              <a:rPr lang="en-US" sz="1600" dirty="0">
                <a:solidFill>
                  <a:schemeClr val="bg1"/>
                </a:solidFill>
                <a:latin typeface="Courier New" pitchFamily="34" charset="0"/>
                <a:ea typeface="Courier New" pitchFamily="34" charset="-122"/>
                <a:cs typeface="Courier New" pitchFamily="34" charset="-120"/>
              </a:rPr>
              <a:t>La propuesta es: </a:t>
            </a:r>
            <a:r>
              <a:rPr lang="en-US" sz="1600" b="1" dirty="0">
                <a:solidFill>
                  <a:schemeClr val="accent1"/>
                </a:solidFill>
                <a:latin typeface="Courier New" pitchFamily="34" charset="0"/>
                <a:ea typeface="Courier New" pitchFamily="34" charset="-122"/>
                <a:cs typeface="Courier New" pitchFamily="34" charset="-120"/>
              </a:rPr>
              <a:t>[describir la propuesta sin datos personales]</a:t>
            </a:r>
            <a:r>
              <a:rPr lang="en-US" sz="1600" dirty="0">
                <a:solidFill>
                  <a:schemeClr val="bg1"/>
                </a:solidFill>
                <a:latin typeface="Courier New" pitchFamily="34" charset="0"/>
                <a:ea typeface="Courier New" pitchFamily="34" charset="-122"/>
                <a:cs typeface="Courier New" pitchFamily="34" charset="-120"/>
              </a:rPr>
              <a:t>.</a:t>
            </a:r>
            <a:endParaRPr lang="en-US" sz="1600" dirty="0"/>
          </a:p>
          <a:p>
            <a:pPr marL="0" indent="0">
              <a:lnSpc>
                <a:spcPct val="95000"/>
              </a:lnSpc>
              <a:buNone/>
            </a:pPr>
            <a:r>
              <a:rPr lang="en-US" sz="1600" dirty="0">
                <a:solidFill>
                  <a:schemeClr val="bg1"/>
                </a:solidFill>
                <a:latin typeface="Courier New" pitchFamily="34" charset="0"/>
                <a:ea typeface="Courier New" pitchFamily="34" charset="-122"/>
                <a:cs typeface="Courier New" pitchFamily="34" charset="-120"/>
              </a:rPr>
              <a:t>Usa frases cortas y no inventes cifras ni resultados.</a:t>
            </a:r>
            <a:endParaRPr lang="en-US" sz="1600" dirty="0"/>
          </a:p>
        </p:txBody>
      </p:sp>
      <p:sp>
        <p:nvSpPr>
          <p:cNvPr id="9" name="Text 7"/>
          <p:cNvSpPr txBox="1"/>
          <p:nvPr/>
        </p:nvSpPr>
        <p:spPr>
          <a:xfrm>
            <a:off x="548640" y="3520440"/>
            <a:ext cx="11094415" cy="502920"/>
          </a:xfrm>
          <a:prstGeom prst="rect">
            <a:avLst/>
          </a:prstGeom>
          <a:noFill/>
          <a:ln/>
        </p:spPr>
        <p:txBody>
          <a:bodyPr wrap="square" lIns="0" tIns="0" rIns="0" bIns="0" rtlCol="0" anchor="ctr"/>
          <a:lstStyle/>
          <a:p>
            <a:pPr marL="0" indent="0">
              <a:buNone/>
            </a:pPr>
            <a:r>
              <a:rPr lang="en-US" sz="2600" b="1" dirty="0">
                <a:solidFill>
                  <a:schemeClr val="accent1"/>
                </a:solidFill>
              </a:rPr>
              <a:t>2  </a:t>
            </a:r>
            <a:r>
              <a:rPr lang="en-US" sz="1900" dirty="0">
                <a:solidFill>
                  <a:schemeClr val="tx1"/>
                </a:solidFill>
              </a:rPr>
              <a:t>Pasadla a Word o Google Docs y marcad tres cosas que cambiaríais:</a:t>
            </a:r>
            <a:endParaRPr lang="en-US" sz="1900" dirty="0"/>
          </a:p>
        </p:txBody>
      </p:sp>
      <p:sp>
        <p:nvSpPr>
          <p:cNvPr id="10" name="Tarjeta"/>
          <p:cNvSpPr/>
          <p:nvPr/>
        </p:nvSpPr>
        <p:spPr>
          <a:xfrm>
            <a:off x="1097280" y="4160520"/>
            <a:ext cx="3271418" cy="1005840"/>
          </a:xfrm>
          <a:prstGeom prst="roundRect">
            <a:avLst>
              <a:gd name="adj" fmla="val 13636"/>
            </a:avLst>
          </a:prstGeom>
          <a:solidFill>
            <a:schemeClr val="bg2"/>
          </a:solidFill>
          <a:ln/>
        </p:spPr>
      </p:sp>
      <p:sp>
        <p:nvSpPr>
          <p:cNvPr id="11" name="Algo que sobra"/>
          <p:cNvSpPr/>
          <p:nvPr/>
        </p:nvSpPr>
        <p:spPr>
          <a:xfrm>
            <a:off x="1325880" y="4343400"/>
            <a:ext cx="640080" cy="640080"/>
          </a:xfrm>
          <a:prstGeom prst="ellipse">
            <a:avLst/>
          </a:prstGeom>
          <a:solidFill>
            <a:schemeClr val="accent1"/>
          </a:solidFill>
          <a:ln/>
        </p:spPr>
      </p:sp>
      <p:pic>
        <p:nvPicPr>
          <p:cNvPr id="12" name="Image 0" descr="Algo que sobra"/>
          <p:cNvPicPr>
            <a:picLocks noChangeAspect="1"/>
          </p:cNvPicPr>
          <p:nvPr/>
        </p:nvPicPr>
        <p:blipFill>
          <a:blip r:embed="rId3"/>
          <a:stretch>
            <a:fillRect/>
          </a:stretch>
        </p:blipFill>
        <p:spPr>
          <a:xfrm>
            <a:off x="1479499" y="4497019"/>
            <a:ext cx="332842" cy="332842"/>
          </a:xfrm>
          <a:prstGeom prst="rect">
            <a:avLst/>
          </a:prstGeom>
        </p:spPr>
      </p:pic>
      <p:sp>
        <p:nvSpPr>
          <p:cNvPr id="13" name="Text 10"/>
          <p:cNvSpPr txBox="1"/>
          <p:nvPr/>
        </p:nvSpPr>
        <p:spPr>
          <a:xfrm>
            <a:off x="2103120" y="4160520"/>
            <a:ext cx="2082698" cy="1005840"/>
          </a:xfrm>
          <a:prstGeom prst="rect">
            <a:avLst/>
          </a:prstGeom>
          <a:noFill/>
          <a:ln/>
        </p:spPr>
        <p:txBody>
          <a:bodyPr wrap="square" lIns="0" tIns="0" rIns="0" bIns="0" rtlCol="0" anchor="ctr"/>
          <a:lstStyle/>
          <a:p>
            <a:pPr marL="0" indent="0">
              <a:buNone/>
            </a:pPr>
            <a:r>
              <a:rPr lang="en-US" sz="1700" b="1" dirty="0">
                <a:solidFill>
                  <a:schemeClr val="tx1"/>
                </a:solidFill>
              </a:rPr>
              <a:t>Algo que sobra</a:t>
            </a:r>
            <a:endParaRPr lang="en-US" sz="1700" dirty="0"/>
          </a:p>
        </p:txBody>
      </p:sp>
      <p:sp>
        <p:nvSpPr>
          <p:cNvPr id="14" name="Tarjeta"/>
          <p:cNvSpPr/>
          <p:nvPr/>
        </p:nvSpPr>
        <p:spPr>
          <a:xfrm>
            <a:off x="4734458" y="4160520"/>
            <a:ext cx="3271418" cy="1005840"/>
          </a:xfrm>
          <a:prstGeom prst="roundRect">
            <a:avLst>
              <a:gd name="adj" fmla="val 13636"/>
            </a:avLst>
          </a:prstGeom>
          <a:solidFill>
            <a:schemeClr val="bg2"/>
          </a:solidFill>
          <a:ln/>
        </p:spPr>
      </p:sp>
      <p:sp>
        <p:nvSpPr>
          <p:cNvPr id="15" name="Algo que falta"/>
          <p:cNvSpPr/>
          <p:nvPr/>
        </p:nvSpPr>
        <p:spPr>
          <a:xfrm>
            <a:off x="4963058" y="4343400"/>
            <a:ext cx="640080" cy="640080"/>
          </a:xfrm>
          <a:prstGeom prst="ellipse">
            <a:avLst/>
          </a:prstGeom>
          <a:solidFill>
            <a:schemeClr val="accent1"/>
          </a:solidFill>
          <a:ln/>
        </p:spPr>
      </p:sp>
      <p:pic>
        <p:nvPicPr>
          <p:cNvPr id="16" name="Image 1" descr="Algo que falta"/>
          <p:cNvPicPr>
            <a:picLocks noChangeAspect="1"/>
          </p:cNvPicPr>
          <p:nvPr/>
        </p:nvPicPr>
        <p:blipFill>
          <a:blip r:embed="rId4"/>
          <a:stretch>
            <a:fillRect/>
          </a:stretch>
        </p:blipFill>
        <p:spPr>
          <a:xfrm>
            <a:off x="5116678" y="4497019"/>
            <a:ext cx="332842" cy="332842"/>
          </a:xfrm>
          <a:prstGeom prst="rect">
            <a:avLst/>
          </a:prstGeom>
        </p:spPr>
      </p:pic>
      <p:sp>
        <p:nvSpPr>
          <p:cNvPr id="17" name="Text 13"/>
          <p:cNvSpPr txBox="1"/>
          <p:nvPr/>
        </p:nvSpPr>
        <p:spPr>
          <a:xfrm>
            <a:off x="5740298" y="4160520"/>
            <a:ext cx="2082698" cy="1005840"/>
          </a:xfrm>
          <a:prstGeom prst="rect">
            <a:avLst/>
          </a:prstGeom>
          <a:noFill/>
          <a:ln/>
        </p:spPr>
        <p:txBody>
          <a:bodyPr wrap="square" lIns="0" tIns="0" rIns="0" bIns="0" rtlCol="0" anchor="ctr"/>
          <a:lstStyle/>
          <a:p>
            <a:pPr marL="0" indent="0">
              <a:buNone/>
            </a:pPr>
            <a:r>
              <a:rPr lang="en-US" sz="1700" b="1" dirty="0">
                <a:solidFill>
                  <a:schemeClr val="tx1"/>
                </a:solidFill>
              </a:rPr>
              <a:t>Algo que falta</a:t>
            </a:r>
            <a:endParaRPr lang="en-US" sz="1700" dirty="0"/>
          </a:p>
        </p:txBody>
      </p:sp>
      <p:sp>
        <p:nvSpPr>
          <p:cNvPr id="18" name="Tarjeta"/>
          <p:cNvSpPr/>
          <p:nvPr/>
        </p:nvSpPr>
        <p:spPr>
          <a:xfrm>
            <a:off x="8371637" y="4160520"/>
            <a:ext cx="3271418" cy="1005840"/>
          </a:xfrm>
          <a:prstGeom prst="roundRect">
            <a:avLst>
              <a:gd name="adj" fmla="val 13636"/>
            </a:avLst>
          </a:prstGeom>
          <a:solidFill>
            <a:schemeClr val="bg2"/>
          </a:solidFill>
          <a:ln/>
        </p:spPr>
      </p:sp>
      <p:sp>
        <p:nvSpPr>
          <p:cNvPr id="19" name="Algo que no es cierto o no está justificado"/>
          <p:cNvSpPr/>
          <p:nvPr/>
        </p:nvSpPr>
        <p:spPr>
          <a:xfrm>
            <a:off x="8600237" y="4343400"/>
            <a:ext cx="640080" cy="640080"/>
          </a:xfrm>
          <a:prstGeom prst="ellipse">
            <a:avLst/>
          </a:prstGeom>
          <a:solidFill>
            <a:schemeClr val="accent1"/>
          </a:solidFill>
          <a:ln/>
        </p:spPr>
      </p:sp>
      <p:pic>
        <p:nvPicPr>
          <p:cNvPr id="20" name="Image 2" descr="Algo que no es cierto o no está justificado"/>
          <p:cNvPicPr>
            <a:picLocks noChangeAspect="1"/>
          </p:cNvPicPr>
          <p:nvPr/>
        </p:nvPicPr>
        <p:blipFill>
          <a:blip r:embed="rId5"/>
          <a:stretch>
            <a:fillRect/>
          </a:stretch>
        </p:blipFill>
        <p:spPr>
          <a:xfrm>
            <a:off x="8753856" y="4497019"/>
            <a:ext cx="332842" cy="332842"/>
          </a:xfrm>
          <a:prstGeom prst="rect">
            <a:avLst/>
          </a:prstGeom>
        </p:spPr>
      </p:pic>
      <p:sp>
        <p:nvSpPr>
          <p:cNvPr id="21" name="Text 16"/>
          <p:cNvSpPr txBox="1"/>
          <p:nvPr/>
        </p:nvSpPr>
        <p:spPr>
          <a:xfrm>
            <a:off x="9377477" y="4160520"/>
            <a:ext cx="2082698" cy="1005840"/>
          </a:xfrm>
          <a:prstGeom prst="rect">
            <a:avLst/>
          </a:prstGeom>
          <a:noFill/>
          <a:ln/>
        </p:spPr>
        <p:txBody>
          <a:bodyPr wrap="square" lIns="0" tIns="0" rIns="0" bIns="0" rtlCol="0" anchor="ctr"/>
          <a:lstStyle/>
          <a:p>
            <a:pPr marL="0" indent="0">
              <a:buNone/>
            </a:pPr>
            <a:r>
              <a:rPr lang="en-US" sz="1700" b="1" dirty="0">
                <a:solidFill>
                  <a:schemeClr val="tx1"/>
                </a:solidFill>
              </a:rPr>
              <a:t>Algo que no es cierto o no está justificado</a:t>
            </a:r>
            <a:endParaRPr lang="en-US" sz="1700" dirty="0"/>
          </a:p>
        </p:txBody>
      </p:sp>
      <p:sp>
        <p:nvSpPr>
          <p:cNvPr id="22" name="Text 17"/>
          <p:cNvSpPr txBox="1"/>
          <p:nvPr/>
        </p:nvSpPr>
        <p:spPr>
          <a:xfrm>
            <a:off x="548640" y="5394960"/>
            <a:ext cx="11094415" cy="502920"/>
          </a:xfrm>
          <a:prstGeom prst="rect">
            <a:avLst/>
          </a:prstGeom>
          <a:noFill/>
          <a:ln/>
        </p:spPr>
        <p:txBody>
          <a:bodyPr wrap="square" lIns="0" tIns="0" rIns="0" bIns="0" rtlCol="0" anchor="ctr"/>
          <a:lstStyle/>
          <a:p>
            <a:pPr marL="0" indent="0">
              <a:buNone/>
            </a:pPr>
            <a:r>
              <a:rPr lang="en-US" sz="2600" b="1" dirty="0">
                <a:solidFill>
                  <a:schemeClr val="accent1"/>
                </a:solidFill>
              </a:rPr>
              <a:t>3  </a:t>
            </a:r>
            <a:r>
              <a:rPr lang="en-US" sz="1900" dirty="0">
                <a:solidFill>
                  <a:schemeClr val="tx1"/>
                </a:solidFill>
              </a:rPr>
              <a:t>Corregidlas.</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76</a:t>
            </a:fld>
            <a:endParaRPr lang="en-US"/>
          </a:p>
        </p:txBody>
      </p:sp>
      <p:sp>
        <p:nvSpPr>
          <p:cNvPr id="26" name="Dónde escribir"/>
          <p:cNvSpPr/>
          <p:nvPr/>
        </p:nvSpPr>
        <p:spPr>
          <a:xfrm>
            <a:off x="4376318" y="6291072"/>
            <a:ext cx="6550761"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documento_proyecto.docx</a:t>
            </a:r>
            <a:r>
              <a:rPr lang="es-ES" sz="1300" dirty="0">
                <a:solidFill>
                  <a:schemeClr val="tx1"/>
                </a:solidFill>
                <a:latin typeface="+mn-lt"/>
              </a:rPr>
              <a:t>  ›  apartados 1 a 6 · el prompt está en la página de trabajo</a:t>
            </a:r>
          </a:p>
        </p:txBody>
      </p:sp>
      <p:sp>
        <p:nvSpPr>
          <p:cNvPr id="27" name="Dónde escribir: círculo"/>
          <p:cNvSpPr/>
          <p:nvPr/>
        </p:nvSpPr>
        <p:spPr>
          <a:xfrm>
            <a:off x="4431182"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6"/>
          <a:stretch>
            <a:fillRect/>
          </a:stretch>
        </p:blipFill>
        <p:spPr>
          <a:xfrm>
            <a:off x="4504334" y="6409944"/>
            <a:ext cx="146304" cy="146304"/>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Ficha exprés: ¿qué habéis cambiado?</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156–160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Dos o tres parejas cuentan qué han corregido y por qué:</a:t>
            </a:r>
            <a:endParaRPr lang="en-US" sz="1900" dirty="0"/>
          </a:p>
        </p:txBody>
      </p:sp>
      <p:sp>
        <p:nvSpPr>
          <p:cNvPr id="6" name="Lo que sobraba"/>
          <p:cNvSpPr/>
          <p:nvPr/>
        </p:nvSpPr>
        <p:spPr>
          <a:xfrm>
            <a:off x="548640" y="2057400"/>
            <a:ext cx="3454298" cy="548640"/>
          </a:xfrm>
          <a:prstGeom prst="roundRect">
            <a:avLst>
              <a:gd name="adj" fmla="val 16667"/>
            </a:avLst>
          </a:prstGeom>
          <a:solidFill>
            <a:schemeClr val="accent1"/>
          </a:solidFill>
          <a:ln/>
        </p:spPr>
      </p:sp>
      <p:sp>
        <p:nvSpPr>
          <p:cNvPr id="7" name="Text 5"/>
          <p:cNvSpPr txBox="1"/>
          <p:nvPr/>
        </p:nvSpPr>
        <p:spPr>
          <a:xfrm>
            <a:off x="640080" y="2057400"/>
            <a:ext cx="3271418" cy="548640"/>
          </a:xfrm>
          <a:prstGeom prst="rect">
            <a:avLst/>
          </a:prstGeom>
          <a:noFill/>
          <a:ln/>
        </p:spPr>
        <p:txBody>
          <a:bodyPr wrap="square" lIns="0" tIns="0" rIns="0" bIns="0" rtlCol="0" anchor="ctr"/>
          <a:lstStyle/>
          <a:p>
            <a:pPr marL="0" indent="0" algn="ctr">
              <a:buNone/>
            </a:pPr>
            <a:r>
              <a:rPr lang="en-US" sz="1800" b="1" dirty="0">
                <a:solidFill>
                  <a:schemeClr val="tx1"/>
                </a:solidFill>
              </a:rPr>
              <a:t>Lo que sobraba</a:t>
            </a:r>
            <a:endParaRPr lang="en-US" sz="1800" dirty="0"/>
          </a:p>
        </p:txBody>
      </p:sp>
      <p:sp>
        <p:nvSpPr>
          <p:cNvPr id="8" name="Hueco"/>
          <p:cNvSpPr/>
          <p:nvPr/>
        </p:nvSpPr>
        <p:spPr>
          <a:xfrm>
            <a:off x="548640" y="2788920"/>
            <a:ext cx="3454298" cy="2423160"/>
          </a:xfrm>
          <a:prstGeom prst="roundRect">
            <a:avLst>
              <a:gd name="adj" fmla="val 3774"/>
            </a:avLst>
          </a:prstGeom>
          <a:solidFill>
            <a:schemeClr val="bg2"/>
          </a:solidFill>
          <a:ln w="12700">
            <a:solidFill>
              <a:srgbClr val="8A94A6"/>
            </a:solidFill>
            <a:prstDash val="dash"/>
          </a:ln>
        </p:spPr>
      </p:sp>
      <p:sp>
        <p:nvSpPr>
          <p:cNvPr id="9" name="Lo que faltaba"/>
          <p:cNvSpPr/>
          <p:nvPr/>
        </p:nvSpPr>
        <p:spPr>
          <a:xfrm>
            <a:off x="4368698" y="2057400"/>
            <a:ext cx="3454298" cy="548640"/>
          </a:xfrm>
          <a:prstGeom prst="roundRect">
            <a:avLst>
              <a:gd name="adj" fmla="val 16667"/>
            </a:avLst>
          </a:prstGeom>
          <a:solidFill>
            <a:schemeClr val="accent2"/>
          </a:solidFill>
          <a:ln/>
        </p:spPr>
      </p:sp>
      <p:sp>
        <p:nvSpPr>
          <p:cNvPr id="10" name="Text 8"/>
          <p:cNvSpPr txBox="1"/>
          <p:nvPr/>
        </p:nvSpPr>
        <p:spPr>
          <a:xfrm>
            <a:off x="4460138" y="2057400"/>
            <a:ext cx="3271418" cy="548640"/>
          </a:xfrm>
          <a:prstGeom prst="rect">
            <a:avLst/>
          </a:prstGeom>
          <a:noFill/>
          <a:ln/>
        </p:spPr>
        <p:txBody>
          <a:bodyPr wrap="square" lIns="0" tIns="0" rIns="0" bIns="0" rtlCol="0" anchor="ctr"/>
          <a:lstStyle/>
          <a:p>
            <a:pPr marL="0" indent="0" algn="ctr">
              <a:buNone/>
            </a:pPr>
            <a:r>
              <a:rPr lang="en-US" sz="1800" b="1" dirty="0">
                <a:solidFill>
                  <a:schemeClr val="bg1"/>
                </a:solidFill>
              </a:rPr>
              <a:t>Lo que faltaba</a:t>
            </a:r>
            <a:endParaRPr lang="en-US" sz="1800" dirty="0"/>
          </a:p>
        </p:txBody>
      </p:sp>
      <p:sp>
        <p:nvSpPr>
          <p:cNvPr id="11" name="Hueco"/>
          <p:cNvSpPr/>
          <p:nvPr/>
        </p:nvSpPr>
        <p:spPr>
          <a:xfrm>
            <a:off x="4368698" y="2788920"/>
            <a:ext cx="3454298" cy="2423160"/>
          </a:xfrm>
          <a:prstGeom prst="roundRect">
            <a:avLst>
              <a:gd name="adj" fmla="val 3774"/>
            </a:avLst>
          </a:prstGeom>
          <a:solidFill>
            <a:schemeClr val="bg2"/>
          </a:solidFill>
          <a:ln w="12700">
            <a:solidFill>
              <a:srgbClr val="8A94A6"/>
            </a:solidFill>
            <a:prstDash val="dash"/>
          </a:ln>
        </p:spPr>
      </p:sp>
      <p:sp>
        <p:nvSpPr>
          <p:cNvPr id="12" name="Lo que no era cierto"/>
          <p:cNvSpPr/>
          <p:nvPr/>
        </p:nvSpPr>
        <p:spPr>
          <a:xfrm>
            <a:off x="8188757" y="2057400"/>
            <a:ext cx="3454298" cy="548640"/>
          </a:xfrm>
          <a:prstGeom prst="roundRect">
            <a:avLst>
              <a:gd name="adj" fmla="val 16667"/>
            </a:avLst>
          </a:prstGeom>
          <a:solidFill>
            <a:schemeClr val="accent3"/>
          </a:solidFill>
          <a:ln/>
        </p:spPr>
      </p:sp>
      <p:sp>
        <p:nvSpPr>
          <p:cNvPr id="13" name="Text 11"/>
          <p:cNvSpPr txBox="1"/>
          <p:nvPr/>
        </p:nvSpPr>
        <p:spPr>
          <a:xfrm>
            <a:off x="8280197" y="2057400"/>
            <a:ext cx="3271418" cy="548640"/>
          </a:xfrm>
          <a:prstGeom prst="rect">
            <a:avLst/>
          </a:prstGeom>
          <a:noFill/>
          <a:ln/>
        </p:spPr>
        <p:txBody>
          <a:bodyPr wrap="square" lIns="0" tIns="0" rIns="0" bIns="0" rtlCol="0" anchor="ctr"/>
          <a:lstStyle/>
          <a:p>
            <a:pPr marL="0" indent="0" algn="ctr">
              <a:buNone/>
            </a:pPr>
            <a:r>
              <a:rPr lang="en-US" sz="1800" b="1" dirty="0">
                <a:solidFill>
                  <a:schemeClr val="bg1"/>
                </a:solidFill>
              </a:rPr>
              <a:t>Lo que no era cierto</a:t>
            </a:r>
            <a:endParaRPr lang="en-US" sz="1800" dirty="0"/>
          </a:p>
        </p:txBody>
      </p:sp>
      <p:sp>
        <p:nvSpPr>
          <p:cNvPr id="14" name="Hueco"/>
          <p:cNvSpPr/>
          <p:nvPr/>
        </p:nvSpPr>
        <p:spPr>
          <a:xfrm>
            <a:off x="8188757" y="2788920"/>
            <a:ext cx="3454298" cy="2423160"/>
          </a:xfrm>
          <a:prstGeom prst="roundRect">
            <a:avLst>
              <a:gd name="adj" fmla="val 3774"/>
            </a:avLst>
          </a:prstGeom>
          <a:solidFill>
            <a:schemeClr val="bg2"/>
          </a:solidFill>
          <a:ln w="12700">
            <a:solidFill>
              <a:srgbClr val="8A94A6"/>
            </a:solidFill>
            <a:prstDash val="dash"/>
          </a:ln>
        </p:spPr>
      </p:sp>
      <p:sp>
        <p:nvSpPr>
          <p:cNvPr id="15" name="Text 13"/>
          <p:cNvSpPr txBox="1"/>
          <p:nvPr/>
        </p:nvSpPr>
        <p:spPr>
          <a:xfrm>
            <a:off x="548640" y="5440680"/>
            <a:ext cx="11094415" cy="502920"/>
          </a:xfrm>
          <a:prstGeom prst="rect">
            <a:avLst/>
          </a:prstGeom>
          <a:noFill/>
          <a:ln/>
        </p:spPr>
        <p:txBody>
          <a:bodyPr wrap="square" lIns="0" tIns="0" rIns="0" bIns="0" rtlCol="0" anchor="ctr"/>
          <a:lstStyle/>
          <a:p>
            <a:pPr marL="0" indent="0">
              <a:buNone/>
            </a:pPr>
            <a:r>
              <a:rPr lang="en-US" sz="1900" b="1" dirty="0">
                <a:solidFill>
                  <a:schemeClr val="tx1"/>
                </a:solidFill>
              </a:rPr>
              <a:t>Guardad el archivo: en el bloque 4 lo ampliaréis hasta el documento.</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77</a:t>
            </a:fld>
            <a:endParaRPr lang="en-US"/>
          </a:p>
        </p:txBody>
      </p:sp>
      <p:sp>
        <p:nvSpPr>
          <p:cNvPr id="26" name="Dónde escribir"/>
          <p:cNvSpPr/>
          <p:nvPr/>
        </p:nvSpPr>
        <p:spPr>
          <a:xfrm>
            <a:off x="4924958" y="6291072"/>
            <a:ext cx="6002121"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documento_proyecto.docx</a:t>
            </a:r>
            <a:r>
              <a:rPr lang="es-ES" sz="1300" dirty="0">
                <a:solidFill>
                  <a:schemeClr val="tx1"/>
                </a:solidFill>
                <a:latin typeface="+mn-lt"/>
              </a:rPr>
              <a:t>  ›  página de trabajo  ›  Tres cosas que cambiamos</a:t>
            </a:r>
          </a:p>
        </p:txBody>
      </p:sp>
      <p:sp>
        <p:nvSpPr>
          <p:cNvPr id="27" name="Dónde escribir: círculo"/>
          <p:cNvSpPr/>
          <p:nvPr/>
        </p:nvSpPr>
        <p:spPr>
          <a:xfrm>
            <a:off x="4979822"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3"/>
          <a:stretch>
            <a:fillRect/>
          </a:stretch>
        </p:blipFill>
        <p:spPr>
          <a:xfrm>
            <a:off x="5052974" y="6409944"/>
            <a:ext cx="146304" cy="146304"/>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Lo que llevamos hecho</a:t>
            </a:r>
            <a:endParaRPr lang="en-US" sz="3200" dirty="0"/>
          </a:p>
        </p:txBody>
      </p:sp>
      <p:sp>
        <p:nvSpPr>
          <p:cNvPr id="3" name="Etiqueta de tiempo"/>
          <p:cNvSpPr/>
          <p:nvPr/>
        </p:nvSpPr>
        <p:spPr>
          <a:xfrm>
            <a:off x="8241487" y="548640"/>
            <a:ext cx="3401568" cy="457200"/>
          </a:xfrm>
          <a:prstGeom prst="roundRect">
            <a:avLst>
              <a:gd name="adj" fmla="val 50000"/>
            </a:avLst>
          </a:prstGeom>
          <a:solidFill>
            <a:schemeClr val="accent1"/>
          </a:solidFill>
          <a:ln/>
        </p:spPr>
      </p:sp>
      <p:sp>
        <p:nvSpPr>
          <p:cNvPr id="4" name="Text 2"/>
          <p:cNvSpPr txBox="1"/>
          <p:nvPr/>
        </p:nvSpPr>
        <p:spPr>
          <a:xfrm>
            <a:off x="8241487" y="548640"/>
            <a:ext cx="3401568" cy="457200"/>
          </a:xfrm>
          <a:prstGeom prst="rect">
            <a:avLst/>
          </a:prstGeom>
          <a:noFill/>
          <a:ln/>
        </p:spPr>
        <p:txBody>
          <a:bodyPr wrap="square" lIns="0" tIns="0" rIns="0" bIns="0" rtlCol="0" anchor="ctr"/>
          <a:lstStyle/>
          <a:p>
            <a:pPr marL="0" indent="0" algn="ctr">
              <a:buNone/>
            </a:pPr>
            <a:r>
              <a:rPr lang="en-US" sz="1400" b="1" dirty="0">
                <a:solidFill>
                  <a:schemeClr val="tx1"/>
                </a:solidFill>
              </a:rPr>
              <a:t>Min. 160–165 · Todo el grupo</a:t>
            </a:r>
            <a:endParaRPr lang="en-US" sz="1400" dirty="0"/>
          </a:p>
        </p:txBody>
      </p:sp>
      <p:sp>
        <p:nvSpPr>
          <p:cNvPr id="5" name="Detectar"/>
          <p:cNvSpPr/>
          <p:nvPr/>
        </p:nvSpPr>
        <p:spPr>
          <a:xfrm>
            <a:off x="594360" y="1645920"/>
            <a:ext cx="2127443" cy="1463040"/>
          </a:xfrm>
          <a:prstGeom prst="chevron">
            <a:avLst/>
          </a:prstGeom>
          <a:solidFill>
            <a:schemeClr val="tx1"/>
          </a:solidFill>
          <a:ln/>
        </p:spPr>
      </p:sp>
      <p:sp>
        <p:nvSpPr>
          <p:cNvPr id="6" name="Detectar"/>
          <p:cNvSpPr/>
          <p:nvPr/>
        </p:nvSpPr>
        <p:spPr>
          <a:xfrm>
            <a:off x="1338042" y="1783080"/>
            <a:ext cx="640080" cy="640080"/>
          </a:xfrm>
          <a:prstGeom prst="ellipse">
            <a:avLst/>
          </a:prstGeom>
          <a:solidFill>
            <a:schemeClr val="accent1"/>
          </a:solidFill>
          <a:ln/>
        </p:spPr>
      </p:sp>
      <p:pic>
        <p:nvPicPr>
          <p:cNvPr id="7" name="Image 0" descr="Detectar"/>
          <p:cNvPicPr>
            <a:picLocks noChangeAspect="1"/>
          </p:cNvPicPr>
          <p:nvPr/>
        </p:nvPicPr>
        <p:blipFill>
          <a:blip r:embed="rId3"/>
          <a:stretch>
            <a:fillRect/>
          </a:stretch>
        </p:blipFill>
        <p:spPr>
          <a:xfrm>
            <a:off x="1491661" y="1936699"/>
            <a:ext cx="332842" cy="332842"/>
          </a:xfrm>
          <a:prstGeom prst="rect">
            <a:avLst/>
          </a:prstGeom>
        </p:spPr>
      </p:pic>
      <p:sp>
        <p:nvSpPr>
          <p:cNvPr id="8" name="Text 5"/>
          <p:cNvSpPr txBox="1"/>
          <p:nvPr/>
        </p:nvSpPr>
        <p:spPr>
          <a:xfrm>
            <a:off x="822960" y="2468880"/>
            <a:ext cx="1670243" cy="502920"/>
          </a:xfrm>
          <a:prstGeom prst="rect">
            <a:avLst/>
          </a:prstGeom>
          <a:noFill/>
          <a:ln/>
        </p:spPr>
        <p:txBody>
          <a:bodyPr wrap="square" lIns="0" tIns="0" rIns="0" bIns="0" rtlCol="0" anchor="ctr"/>
          <a:lstStyle/>
          <a:p>
            <a:pPr marL="0" indent="0" algn="ctr">
              <a:buNone/>
            </a:pPr>
            <a:r>
              <a:rPr lang="en-US" sz="1900" b="1" dirty="0">
                <a:solidFill>
                  <a:schemeClr val="bg1"/>
                </a:solidFill>
              </a:rPr>
              <a:t>Detectar</a:t>
            </a:r>
            <a:endParaRPr lang="en-US" sz="1900" dirty="0"/>
          </a:p>
        </p:txBody>
      </p:sp>
      <p:sp>
        <p:nvSpPr>
          <p:cNvPr id="9" name="Idear"/>
          <p:cNvSpPr/>
          <p:nvPr/>
        </p:nvSpPr>
        <p:spPr>
          <a:xfrm>
            <a:off x="2813243" y="1645920"/>
            <a:ext cx="2127443" cy="1463040"/>
          </a:xfrm>
          <a:prstGeom prst="chevron">
            <a:avLst/>
          </a:prstGeom>
          <a:solidFill>
            <a:schemeClr val="tx2"/>
          </a:solidFill>
          <a:ln/>
        </p:spPr>
      </p:sp>
      <p:sp>
        <p:nvSpPr>
          <p:cNvPr id="10" name="Idear"/>
          <p:cNvSpPr/>
          <p:nvPr/>
        </p:nvSpPr>
        <p:spPr>
          <a:xfrm>
            <a:off x="3556925" y="1783080"/>
            <a:ext cx="640080" cy="640080"/>
          </a:xfrm>
          <a:prstGeom prst="ellipse">
            <a:avLst/>
          </a:prstGeom>
          <a:solidFill>
            <a:schemeClr val="accent1"/>
          </a:solidFill>
          <a:ln/>
        </p:spPr>
      </p:sp>
      <p:pic>
        <p:nvPicPr>
          <p:cNvPr id="11" name="Image 1" descr="Idear"/>
          <p:cNvPicPr>
            <a:picLocks noChangeAspect="1"/>
          </p:cNvPicPr>
          <p:nvPr/>
        </p:nvPicPr>
        <p:blipFill>
          <a:blip r:embed="rId4"/>
          <a:stretch>
            <a:fillRect/>
          </a:stretch>
        </p:blipFill>
        <p:spPr>
          <a:xfrm>
            <a:off x="3710544" y="1936699"/>
            <a:ext cx="332842" cy="332842"/>
          </a:xfrm>
          <a:prstGeom prst="rect">
            <a:avLst/>
          </a:prstGeom>
        </p:spPr>
      </p:pic>
      <p:sp>
        <p:nvSpPr>
          <p:cNvPr id="12" name="Text 8"/>
          <p:cNvSpPr txBox="1"/>
          <p:nvPr/>
        </p:nvSpPr>
        <p:spPr>
          <a:xfrm>
            <a:off x="3041843" y="2468880"/>
            <a:ext cx="1670243" cy="502920"/>
          </a:xfrm>
          <a:prstGeom prst="rect">
            <a:avLst/>
          </a:prstGeom>
          <a:noFill/>
          <a:ln/>
        </p:spPr>
        <p:txBody>
          <a:bodyPr wrap="square" lIns="0" tIns="0" rIns="0" bIns="0" rtlCol="0" anchor="ctr"/>
          <a:lstStyle/>
          <a:p>
            <a:pPr marL="0" indent="0" algn="ctr">
              <a:buNone/>
            </a:pPr>
            <a:r>
              <a:rPr lang="en-US" sz="1900" b="1" dirty="0">
                <a:solidFill>
                  <a:schemeClr val="bg1"/>
                </a:solidFill>
              </a:rPr>
              <a:t>Idear</a:t>
            </a:r>
            <a:endParaRPr lang="en-US" sz="1900" dirty="0"/>
          </a:p>
        </p:txBody>
      </p:sp>
      <p:sp>
        <p:nvSpPr>
          <p:cNvPr id="13" name="Comparar"/>
          <p:cNvSpPr/>
          <p:nvPr/>
        </p:nvSpPr>
        <p:spPr>
          <a:xfrm>
            <a:off x="5032126" y="1645920"/>
            <a:ext cx="2127443" cy="1463040"/>
          </a:xfrm>
          <a:prstGeom prst="chevron">
            <a:avLst/>
          </a:prstGeom>
          <a:solidFill>
            <a:schemeClr val="tx1"/>
          </a:solidFill>
          <a:ln/>
        </p:spPr>
      </p:sp>
      <p:sp>
        <p:nvSpPr>
          <p:cNvPr id="14" name="Comparar"/>
          <p:cNvSpPr/>
          <p:nvPr/>
        </p:nvSpPr>
        <p:spPr>
          <a:xfrm>
            <a:off x="5775808" y="1783080"/>
            <a:ext cx="640080" cy="640080"/>
          </a:xfrm>
          <a:prstGeom prst="ellipse">
            <a:avLst/>
          </a:prstGeom>
          <a:solidFill>
            <a:schemeClr val="accent1"/>
          </a:solidFill>
          <a:ln/>
        </p:spPr>
      </p:sp>
      <p:pic>
        <p:nvPicPr>
          <p:cNvPr id="15" name="Image 2" descr="Comparar"/>
          <p:cNvPicPr>
            <a:picLocks noChangeAspect="1"/>
          </p:cNvPicPr>
          <p:nvPr/>
        </p:nvPicPr>
        <p:blipFill>
          <a:blip r:embed="rId5"/>
          <a:stretch>
            <a:fillRect/>
          </a:stretch>
        </p:blipFill>
        <p:spPr>
          <a:xfrm>
            <a:off x="5929427" y="1936699"/>
            <a:ext cx="332842" cy="332842"/>
          </a:xfrm>
          <a:prstGeom prst="rect">
            <a:avLst/>
          </a:prstGeom>
        </p:spPr>
      </p:pic>
      <p:sp>
        <p:nvSpPr>
          <p:cNvPr id="16" name="Text 11"/>
          <p:cNvSpPr txBox="1"/>
          <p:nvPr/>
        </p:nvSpPr>
        <p:spPr>
          <a:xfrm>
            <a:off x="5260726" y="2468880"/>
            <a:ext cx="1670243" cy="502920"/>
          </a:xfrm>
          <a:prstGeom prst="rect">
            <a:avLst/>
          </a:prstGeom>
          <a:noFill/>
          <a:ln/>
        </p:spPr>
        <p:txBody>
          <a:bodyPr wrap="square" lIns="0" tIns="0" rIns="0" bIns="0" rtlCol="0" anchor="ctr"/>
          <a:lstStyle/>
          <a:p>
            <a:pPr marL="0" indent="0" algn="ctr">
              <a:buNone/>
            </a:pPr>
            <a:r>
              <a:rPr lang="en-US" sz="1900" b="1" dirty="0">
                <a:solidFill>
                  <a:schemeClr val="bg1"/>
                </a:solidFill>
              </a:rPr>
              <a:t>Comparar</a:t>
            </a:r>
            <a:endParaRPr lang="en-US" sz="1900" dirty="0"/>
          </a:p>
        </p:txBody>
      </p:sp>
      <p:sp>
        <p:nvSpPr>
          <p:cNvPr id="17" name="Decidir"/>
          <p:cNvSpPr/>
          <p:nvPr/>
        </p:nvSpPr>
        <p:spPr>
          <a:xfrm>
            <a:off x="7251009" y="1645920"/>
            <a:ext cx="2127443" cy="1463040"/>
          </a:xfrm>
          <a:prstGeom prst="chevron">
            <a:avLst/>
          </a:prstGeom>
          <a:solidFill>
            <a:schemeClr val="tx2"/>
          </a:solidFill>
          <a:ln/>
        </p:spPr>
      </p:sp>
      <p:sp>
        <p:nvSpPr>
          <p:cNvPr id="18" name="Decidir"/>
          <p:cNvSpPr/>
          <p:nvPr/>
        </p:nvSpPr>
        <p:spPr>
          <a:xfrm>
            <a:off x="7994691" y="1783080"/>
            <a:ext cx="640080" cy="640080"/>
          </a:xfrm>
          <a:prstGeom prst="ellipse">
            <a:avLst/>
          </a:prstGeom>
          <a:solidFill>
            <a:schemeClr val="accent1"/>
          </a:solidFill>
          <a:ln/>
        </p:spPr>
      </p:sp>
      <p:pic>
        <p:nvPicPr>
          <p:cNvPr id="19" name="Image 3" descr="Decidir"/>
          <p:cNvPicPr>
            <a:picLocks noChangeAspect="1"/>
          </p:cNvPicPr>
          <p:nvPr/>
        </p:nvPicPr>
        <p:blipFill>
          <a:blip r:embed="rId6"/>
          <a:stretch>
            <a:fillRect/>
          </a:stretch>
        </p:blipFill>
        <p:spPr>
          <a:xfrm>
            <a:off x="8148310" y="1936699"/>
            <a:ext cx="332842" cy="332842"/>
          </a:xfrm>
          <a:prstGeom prst="rect">
            <a:avLst/>
          </a:prstGeom>
        </p:spPr>
      </p:pic>
      <p:sp>
        <p:nvSpPr>
          <p:cNvPr id="20" name="Text 14"/>
          <p:cNvSpPr txBox="1"/>
          <p:nvPr/>
        </p:nvSpPr>
        <p:spPr>
          <a:xfrm>
            <a:off x="7479609" y="2468880"/>
            <a:ext cx="1670243" cy="502920"/>
          </a:xfrm>
          <a:prstGeom prst="rect">
            <a:avLst/>
          </a:prstGeom>
          <a:noFill/>
          <a:ln/>
        </p:spPr>
        <p:txBody>
          <a:bodyPr wrap="square" lIns="0" tIns="0" rIns="0" bIns="0" rtlCol="0" anchor="ctr"/>
          <a:lstStyle/>
          <a:p>
            <a:pPr marL="0" indent="0" algn="ctr">
              <a:buNone/>
            </a:pPr>
            <a:r>
              <a:rPr lang="en-US" sz="1900" b="1" dirty="0">
                <a:solidFill>
                  <a:schemeClr val="bg1"/>
                </a:solidFill>
              </a:rPr>
              <a:t>Decidir</a:t>
            </a:r>
            <a:endParaRPr lang="en-US" sz="1900" dirty="0"/>
          </a:p>
        </p:txBody>
      </p:sp>
      <p:sp>
        <p:nvSpPr>
          <p:cNvPr id="21" name="Documentar"/>
          <p:cNvSpPr/>
          <p:nvPr/>
        </p:nvSpPr>
        <p:spPr>
          <a:xfrm>
            <a:off x="9469892" y="1645920"/>
            <a:ext cx="2127443" cy="1463040"/>
          </a:xfrm>
          <a:prstGeom prst="chevron">
            <a:avLst/>
          </a:prstGeom>
          <a:solidFill>
            <a:schemeClr val="tx1"/>
          </a:solidFill>
          <a:ln/>
        </p:spPr>
      </p:sp>
      <p:sp>
        <p:nvSpPr>
          <p:cNvPr id="22" name="Documentar"/>
          <p:cNvSpPr/>
          <p:nvPr/>
        </p:nvSpPr>
        <p:spPr>
          <a:xfrm>
            <a:off x="10213574" y="1783080"/>
            <a:ext cx="640080" cy="640080"/>
          </a:xfrm>
          <a:prstGeom prst="ellipse">
            <a:avLst/>
          </a:prstGeom>
          <a:solidFill>
            <a:schemeClr val="accent1"/>
          </a:solidFill>
          <a:ln/>
        </p:spPr>
      </p:sp>
      <p:pic>
        <p:nvPicPr>
          <p:cNvPr id="23" name="Image 4" descr="Documentar"/>
          <p:cNvPicPr>
            <a:picLocks noChangeAspect="1"/>
          </p:cNvPicPr>
          <p:nvPr/>
        </p:nvPicPr>
        <p:blipFill>
          <a:blip r:embed="rId7"/>
          <a:stretch>
            <a:fillRect/>
          </a:stretch>
        </p:blipFill>
        <p:spPr>
          <a:xfrm>
            <a:off x="10367193" y="1936699"/>
            <a:ext cx="332842" cy="332842"/>
          </a:xfrm>
          <a:prstGeom prst="rect">
            <a:avLst/>
          </a:prstGeom>
        </p:spPr>
      </p:pic>
      <p:sp>
        <p:nvSpPr>
          <p:cNvPr id="24" name="Text 17"/>
          <p:cNvSpPr txBox="1"/>
          <p:nvPr/>
        </p:nvSpPr>
        <p:spPr>
          <a:xfrm>
            <a:off x="9698492" y="2468880"/>
            <a:ext cx="1670243" cy="502920"/>
          </a:xfrm>
          <a:prstGeom prst="rect">
            <a:avLst/>
          </a:prstGeom>
          <a:noFill/>
          <a:ln/>
        </p:spPr>
        <p:txBody>
          <a:bodyPr wrap="square" lIns="0" tIns="0" rIns="0" bIns="0" rtlCol="0" anchor="ctr"/>
          <a:lstStyle/>
          <a:p>
            <a:pPr marL="0" indent="0" algn="ctr">
              <a:buNone/>
            </a:pPr>
            <a:r>
              <a:rPr lang="en-US" sz="1900" b="1" dirty="0">
                <a:solidFill>
                  <a:schemeClr val="bg1"/>
                </a:solidFill>
              </a:rPr>
              <a:t>Documentar</a:t>
            </a:r>
            <a:endParaRPr lang="en-US" sz="1900" dirty="0"/>
          </a:p>
        </p:txBody>
      </p:sp>
      <p:sp>
        <p:nvSpPr>
          <p:cNvPr id="25" name="Tarjeta"/>
          <p:cNvSpPr/>
          <p:nvPr/>
        </p:nvSpPr>
        <p:spPr>
          <a:xfrm>
            <a:off x="548640" y="3657600"/>
            <a:ext cx="11094415" cy="1828800"/>
          </a:xfrm>
          <a:prstGeom prst="roundRect">
            <a:avLst>
              <a:gd name="adj" fmla="val 7500"/>
            </a:avLst>
          </a:prstGeom>
          <a:solidFill>
            <a:schemeClr val="bg2"/>
          </a:solidFill>
          <a:ln/>
        </p:spPr>
      </p:sp>
      <p:sp>
        <p:nvSpPr>
          <p:cNvPr id="26" name="Ronda"/>
          <p:cNvSpPr/>
          <p:nvPr/>
        </p:nvSpPr>
        <p:spPr>
          <a:xfrm>
            <a:off x="914400" y="4023360"/>
            <a:ext cx="1097280" cy="1097280"/>
          </a:xfrm>
          <a:prstGeom prst="ellipse">
            <a:avLst/>
          </a:prstGeom>
          <a:solidFill>
            <a:schemeClr val="accent1"/>
          </a:solidFill>
          <a:ln/>
        </p:spPr>
      </p:sp>
      <p:pic>
        <p:nvPicPr>
          <p:cNvPr id="27" name="Image 5" descr="Ronda"/>
          <p:cNvPicPr>
            <a:picLocks noChangeAspect="1"/>
          </p:cNvPicPr>
          <p:nvPr/>
        </p:nvPicPr>
        <p:blipFill>
          <a:blip r:embed="rId8"/>
          <a:stretch>
            <a:fillRect/>
          </a:stretch>
        </p:blipFill>
        <p:spPr>
          <a:xfrm>
            <a:off x="1177747" y="4286707"/>
            <a:ext cx="570586" cy="570586"/>
          </a:xfrm>
          <a:prstGeom prst="rect">
            <a:avLst/>
          </a:prstGeom>
        </p:spPr>
      </p:pic>
      <p:sp>
        <p:nvSpPr>
          <p:cNvPr id="28" name="Text 20"/>
          <p:cNvSpPr txBox="1"/>
          <p:nvPr/>
        </p:nvSpPr>
        <p:spPr>
          <a:xfrm>
            <a:off x="2286000" y="3657600"/>
            <a:ext cx="9082735" cy="1828800"/>
          </a:xfrm>
          <a:prstGeom prst="rect">
            <a:avLst/>
          </a:prstGeom>
          <a:noFill/>
          <a:ln/>
        </p:spPr>
        <p:txBody>
          <a:bodyPr wrap="square" lIns="0" tIns="0" rIns="0" bIns="0" rtlCol="0" anchor="ctr"/>
          <a:lstStyle/>
          <a:p>
            <a:pPr marL="0" indent="0">
              <a:buNone/>
            </a:pPr>
            <a:r>
              <a:rPr lang="en-US" sz="2400" b="1" dirty="0">
                <a:solidFill>
                  <a:schemeClr val="tx1"/>
                </a:solidFill>
              </a:rPr>
              <a:t>Ronda rápida</a:t>
            </a:r>
            <a:endParaRPr lang="en-US" sz="2100" dirty="0"/>
          </a:p>
          <a:p>
            <a:pPr marL="0" indent="0">
              <a:buNone/>
            </a:pPr>
            <a:r>
              <a:rPr lang="en-US" sz="2100" dirty="0">
                <a:solidFill>
                  <a:schemeClr val="tx1"/>
                </a:solidFill>
              </a:rPr>
              <a:t>Cada pareja, en una frase: ¿qué paso os ha costado más hasta ahora y por qué?</a:t>
            </a:r>
            <a:endParaRPr lang="en-US" sz="2100" dirty="0"/>
          </a:p>
        </p:txBody>
      </p:sp>
      <p:sp>
        <p:nvSpPr>
          <p:cNvPr id="29"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97280" y="1097280"/>
            <a:ext cx="7315200" cy="457200"/>
          </a:xfrm>
          <a:prstGeom prst="rect">
            <a:avLst/>
          </a:prstGeom>
          <a:noFill/>
          <a:ln/>
        </p:spPr>
        <p:txBody>
          <a:bodyPr wrap="square" lIns="0" tIns="0" rIns="0" bIns="0" rtlCol="0" anchor="ctr"/>
          <a:lstStyle/>
          <a:p>
            <a:pPr marL="0" indent="0">
              <a:buNone/>
            </a:pPr>
            <a:r>
              <a:rPr lang="en-US" sz="1800" b="1" dirty="0">
                <a:solidFill>
                  <a:schemeClr val="accent1"/>
                </a:solidFill>
              </a:rPr>
              <a:t>Idea clave del bloque 3</a:t>
            </a:r>
            <a:endParaRPr lang="en-US" sz="1800" dirty="0"/>
          </a:p>
        </p:txBody>
      </p:sp>
      <p:sp>
        <p:nvSpPr>
          <p:cNvPr id="3" name="Text 0"/>
          <p:cNvSpPr>
            <a:spLocks noGrp="1"/>
          </p:cNvSpPr>
          <p:nvPr>
            <p:ph type="body" idx="100" hasCustomPrompt="1"/>
          </p:nvPr>
        </p:nvSpPr>
        <p:spPr>
          <a:xfrm>
            <a:off x="1097280" y="1554480"/>
            <a:ext cx="9966960" cy="3108960"/>
          </a:xfrm>
          <a:prstGeom prst="rect">
            <a:avLst/>
          </a:prstGeom>
          <a:noFill/>
          <a:ln/>
        </p:spPr>
        <p:txBody>
          <a:bodyPr wrap="square" lIns="0" tIns="0" rIns="0" bIns="0" rtlCol="0" anchor="ctr"/>
          <a:lstStyle/>
          <a:p>
            <a:pPr marL="0" indent="0">
              <a:buNone/>
            </a:pPr>
            <a:r>
              <a:rPr lang="en-US" sz="3400" dirty="0">
                <a:solidFill>
                  <a:schemeClr val="bg1"/>
                </a:solidFill>
              </a:rPr>
              <a:t>Un documento de la IA no está terminado hasta que lo </a:t>
            </a:r>
            <a:r>
              <a:rPr lang="en-US" sz="3400" dirty="0" err="1">
                <a:solidFill>
                  <a:schemeClr val="bg1"/>
                </a:solidFill>
              </a:rPr>
              <a:t>revisáis</a:t>
            </a:r>
            <a:r>
              <a:rPr lang="en-US" sz="3400">
                <a:solidFill>
                  <a:schemeClr val="bg1"/>
                </a:solidFill>
              </a:rPr>
              <a:t>. </a:t>
            </a:r>
            <a:r>
              <a:rPr lang="en-US" sz="3400" b="1">
                <a:solidFill>
                  <a:schemeClr val="accent1"/>
                </a:solidFill>
              </a:rPr>
              <a:t>Y </a:t>
            </a:r>
            <a:r>
              <a:rPr lang="en-US" sz="3400" b="1" dirty="0">
                <a:solidFill>
                  <a:schemeClr val="accent1"/>
                </a:solidFill>
              </a:rPr>
              <a:t>la matriz no decide por vosotros: os ayuda a razonar.</a:t>
            </a:r>
            <a:endParaRPr lang="en-US" sz="3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737360"/>
            <a:ext cx="2194560" cy="2743200"/>
          </a:xfrm>
          <a:prstGeom prst="rect">
            <a:avLst/>
          </a:prstGeom>
          <a:noFill/>
          <a:ln/>
        </p:spPr>
        <p:txBody>
          <a:bodyPr wrap="square" lIns="0" tIns="0" rIns="0" bIns="0" rtlCol="0" anchor="ctr"/>
          <a:lstStyle/>
          <a:p>
            <a:pPr marL="0" indent="0" algn="ctr">
              <a:buNone/>
            </a:pPr>
            <a:r>
              <a:rPr lang="en-US" sz="20000" b="1" dirty="0">
                <a:solidFill>
                  <a:schemeClr val="accent1"/>
                </a:solidFill>
                <a:latin typeface="Arial" pitchFamily="34" charset="0"/>
                <a:ea typeface="Arial" pitchFamily="34" charset="-122"/>
                <a:cs typeface="Arial" pitchFamily="34" charset="-120"/>
              </a:rPr>
              <a:t>4</a:t>
            </a:r>
            <a:endParaRPr lang="en-US" sz="20000" dirty="0"/>
          </a:p>
        </p:txBody>
      </p:sp>
      <p:sp>
        <p:nvSpPr>
          <p:cNvPr id="3" name="Text 0"/>
          <p:cNvSpPr>
            <a:spLocks noGrp="1"/>
          </p:cNvSpPr>
          <p:nvPr>
            <p:ph type="title" idx="100" hasCustomPrompt="1"/>
          </p:nvPr>
        </p:nvSpPr>
        <p:spPr>
          <a:xfrm>
            <a:off x="3108960" y="2103120"/>
            <a:ext cx="8503920" cy="1463040"/>
          </a:xfrm>
          <a:prstGeom prst="rect">
            <a:avLst/>
          </a:prstGeom>
          <a:noFill/>
          <a:ln/>
        </p:spPr>
        <p:txBody>
          <a:bodyPr wrap="square" lIns="0" tIns="0" rIns="0" bIns="0" rtlCol="0" anchor="b"/>
          <a:lstStyle/>
          <a:p>
            <a:pPr marL="0" indent="0" algn="l">
              <a:buNone/>
            </a:pPr>
            <a:r>
              <a:rPr lang="en-US" sz="4000" b="1" dirty="0">
                <a:solidFill>
                  <a:schemeClr val="bg1"/>
                </a:solidFill>
              </a:rPr>
              <a:t>Desarrollo de la propuesta ganadora</a:t>
            </a:r>
            <a:endParaRPr lang="en-US" sz="4000" dirty="0"/>
          </a:p>
        </p:txBody>
      </p:sp>
      <p:sp>
        <p:nvSpPr>
          <p:cNvPr id="4" name="Text 0"/>
          <p:cNvSpPr>
            <a:spLocks noGrp="1"/>
          </p:cNvSpPr>
          <p:nvPr>
            <p:ph type="body" idx="101" hasCustomPrompt="1"/>
          </p:nvPr>
        </p:nvSpPr>
        <p:spPr>
          <a:xfrm>
            <a:off x="3108960" y="3749040"/>
            <a:ext cx="8503920" cy="731520"/>
          </a:xfrm>
          <a:prstGeom prst="rect">
            <a:avLst/>
          </a:prstGeom>
          <a:noFill/>
          <a:ln/>
        </p:spPr>
        <p:txBody>
          <a:bodyPr wrap="square" lIns="0" tIns="0" rIns="0" bIns="0" rtlCol="0" anchor="t"/>
          <a:lstStyle/>
          <a:p>
            <a:pPr marL="0" indent="0">
              <a:buNone/>
            </a:pPr>
            <a:r>
              <a:rPr lang="en-US" sz="2200" dirty="0">
                <a:solidFill>
                  <a:schemeClr val="accent1"/>
                </a:solidFill>
              </a:rPr>
              <a:t>75 minutos · por parejas</a:t>
            </a:r>
            <a:endParaRPr lang="en-US" sz="2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Qué vamos a hacer en este bloque</a:t>
            </a:r>
            <a:endParaRPr lang="en-US" sz="3200" dirty="0"/>
          </a:p>
        </p:txBody>
      </p:sp>
      <p:sp>
        <p:nvSpPr>
          <p:cNvPr id="3" name="Shape 1"/>
          <p:cNvSpPr/>
          <p:nvPr/>
        </p:nvSpPr>
        <p:spPr>
          <a:xfrm>
            <a:off x="1658082" y="2377440"/>
            <a:ext cx="8875532" cy="0"/>
          </a:xfrm>
          <a:prstGeom prst="line">
            <a:avLst/>
          </a:prstGeom>
          <a:noFill/>
          <a:ln w="50800">
            <a:solidFill>
              <a:srgbClr val="F2F4F8"/>
            </a:solidFill>
            <a:prstDash val="solid"/>
          </a:ln>
        </p:spPr>
      </p:sp>
      <p:sp>
        <p:nvSpPr>
          <p:cNvPr id="4" name="Paso 1"/>
          <p:cNvSpPr/>
          <p:nvPr/>
        </p:nvSpPr>
        <p:spPr>
          <a:xfrm>
            <a:off x="1040862" y="1760220"/>
            <a:ext cx="1234440" cy="1234440"/>
          </a:xfrm>
          <a:prstGeom prst="ellipse">
            <a:avLst/>
          </a:prstGeom>
          <a:solidFill>
            <a:schemeClr val="accent1"/>
          </a:solidFill>
          <a:ln/>
        </p:spPr>
      </p:sp>
      <p:sp>
        <p:nvSpPr>
          <p:cNvPr id="5" name="Text 3"/>
          <p:cNvSpPr txBox="1"/>
          <p:nvPr/>
        </p:nvSpPr>
        <p:spPr>
          <a:xfrm>
            <a:off x="1040862" y="1760220"/>
            <a:ext cx="1234440" cy="1234440"/>
          </a:xfrm>
          <a:prstGeom prst="rect">
            <a:avLst/>
          </a:prstGeom>
          <a:noFill/>
          <a:ln/>
        </p:spPr>
        <p:txBody>
          <a:bodyPr wrap="square" lIns="0" tIns="0" rIns="0" bIns="0" rtlCol="0" anchor="ctr"/>
          <a:lstStyle/>
          <a:p>
            <a:pPr marL="0" indent="0" algn="ctr">
              <a:buNone/>
            </a:pPr>
            <a:r>
              <a:rPr lang="en-US" sz="1700" b="1" dirty="0">
                <a:solidFill>
                  <a:schemeClr val="tx1"/>
                </a:solidFill>
              </a:rPr>
              <a:t>165–175</a:t>
            </a:r>
            <a:endParaRPr lang="en-US" sz="1700" dirty="0"/>
          </a:p>
        </p:txBody>
      </p:sp>
      <p:sp>
        <p:nvSpPr>
          <p:cNvPr id="6" name="Text 4"/>
          <p:cNvSpPr txBox="1"/>
          <p:nvPr/>
        </p:nvSpPr>
        <p:spPr>
          <a:xfrm>
            <a:off x="640080"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Preguntas difíciles</a:t>
            </a:r>
            <a:endParaRPr lang="en-US" sz="1700" dirty="0"/>
          </a:p>
        </p:txBody>
      </p:sp>
      <p:sp>
        <p:nvSpPr>
          <p:cNvPr id="7" name="Paso 2"/>
          <p:cNvSpPr/>
          <p:nvPr/>
        </p:nvSpPr>
        <p:spPr>
          <a:xfrm>
            <a:off x="3259745" y="1760220"/>
            <a:ext cx="1234440" cy="1234440"/>
          </a:xfrm>
          <a:prstGeom prst="ellipse">
            <a:avLst/>
          </a:prstGeom>
          <a:solidFill>
            <a:schemeClr val="accent1"/>
          </a:solidFill>
          <a:ln/>
        </p:spPr>
      </p:sp>
      <p:sp>
        <p:nvSpPr>
          <p:cNvPr id="8" name="Text 6"/>
          <p:cNvSpPr txBox="1"/>
          <p:nvPr/>
        </p:nvSpPr>
        <p:spPr>
          <a:xfrm>
            <a:off x="3259745" y="1760220"/>
            <a:ext cx="1234440" cy="1234440"/>
          </a:xfrm>
          <a:prstGeom prst="rect">
            <a:avLst/>
          </a:prstGeom>
          <a:noFill/>
          <a:ln/>
        </p:spPr>
        <p:txBody>
          <a:bodyPr wrap="square" lIns="0" tIns="0" rIns="0" bIns="0" rtlCol="0" anchor="ctr"/>
          <a:lstStyle/>
          <a:p>
            <a:pPr marL="0" indent="0" algn="ctr">
              <a:buNone/>
            </a:pPr>
            <a:r>
              <a:rPr lang="en-US" sz="1700" b="1" dirty="0">
                <a:solidFill>
                  <a:schemeClr val="tx1"/>
                </a:solidFill>
              </a:rPr>
              <a:t>175–195</a:t>
            </a:r>
            <a:endParaRPr lang="en-US" sz="1700" dirty="0"/>
          </a:p>
        </p:txBody>
      </p:sp>
      <p:sp>
        <p:nvSpPr>
          <p:cNvPr id="9" name="Text 7"/>
          <p:cNvSpPr txBox="1"/>
          <p:nvPr/>
        </p:nvSpPr>
        <p:spPr>
          <a:xfrm>
            <a:off x="2858963"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Documento del proyecto</a:t>
            </a:r>
            <a:endParaRPr lang="en-US" sz="1700" dirty="0"/>
          </a:p>
        </p:txBody>
      </p:sp>
      <p:sp>
        <p:nvSpPr>
          <p:cNvPr id="10" name="Paso 3"/>
          <p:cNvSpPr/>
          <p:nvPr/>
        </p:nvSpPr>
        <p:spPr>
          <a:xfrm>
            <a:off x="5478628" y="1760220"/>
            <a:ext cx="1234440" cy="1234440"/>
          </a:xfrm>
          <a:prstGeom prst="ellipse">
            <a:avLst/>
          </a:prstGeom>
          <a:solidFill>
            <a:schemeClr val="accent2"/>
          </a:solidFill>
          <a:ln/>
        </p:spPr>
      </p:sp>
      <p:sp>
        <p:nvSpPr>
          <p:cNvPr id="11" name="Text 9"/>
          <p:cNvSpPr txBox="1"/>
          <p:nvPr/>
        </p:nvSpPr>
        <p:spPr>
          <a:xfrm>
            <a:off x="5478628" y="1760220"/>
            <a:ext cx="1234440" cy="1234440"/>
          </a:xfrm>
          <a:prstGeom prst="rect">
            <a:avLst/>
          </a:prstGeom>
          <a:noFill/>
          <a:ln/>
        </p:spPr>
        <p:txBody>
          <a:bodyPr wrap="square" lIns="0" tIns="0" rIns="0" bIns="0" rtlCol="0" anchor="ctr"/>
          <a:lstStyle/>
          <a:p>
            <a:pPr marL="0" indent="0" algn="ctr">
              <a:buNone/>
            </a:pPr>
            <a:r>
              <a:rPr lang="en-US" sz="1700" b="1" dirty="0">
                <a:solidFill>
                  <a:schemeClr val="bg1"/>
                </a:solidFill>
              </a:rPr>
              <a:t>195–210</a:t>
            </a:r>
            <a:endParaRPr lang="en-US" sz="1700" dirty="0"/>
          </a:p>
        </p:txBody>
      </p:sp>
      <p:sp>
        <p:nvSpPr>
          <p:cNvPr id="12" name="Text 10"/>
          <p:cNvSpPr txBox="1"/>
          <p:nvPr/>
        </p:nvSpPr>
        <p:spPr>
          <a:xfrm>
            <a:off x="5077846"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¿Cómo sabremos si funciona?</a:t>
            </a:r>
            <a:endParaRPr lang="en-US" sz="1700" dirty="0"/>
          </a:p>
        </p:txBody>
      </p:sp>
      <p:sp>
        <p:nvSpPr>
          <p:cNvPr id="13" name="Paso 4"/>
          <p:cNvSpPr/>
          <p:nvPr/>
        </p:nvSpPr>
        <p:spPr>
          <a:xfrm>
            <a:off x="7697511" y="1760220"/>
            <a:ext cx="1234440" cy="1234440"/>
          </a:xfrm>
          <a:prstGeom prst="ellipse">
            <a:avLst/>
          </a:prstGeom>
          <a:solidFill>
            <a:schemeClr val="accent1"/>
          </a:solidFill>
          <a:ln/>
        </p:spPr>
      </p:sp>
      <p:sp>
        <p:nvSpPr>
          <p:cNvPr id="14" name="Text 12"/>
          <p:cNvSpPr txBox="1"/>
          <p:nvPr/>
        </p:nvSpPr>
        <p:spPr>
          <a:xfrm>
            <a:off x="7697511" y="1760220"/>
            <a:ext cx="1234440" cy="1234440"/>
          </a:xfrm>
          <a:prstGeom prst="rect">
            <a:avLst/>
          </a:prstGeom>
          <a:noFill/>
          <a:ln/>
        </p:spPr>
        <p:txBody>
          <a:bodyPr wrap="square" lIns="0" tIns="0" rIns="0" bIns="0" rtlCol="0" anchor="ctr"/>
          <a:lstStyle/>
          <a:p>
            <a:pPr marL="0" indent="0" algn="ctr">
              <a:buNone/>
            </a:pPr>
            <a:r>
              <a:rPr lang="en-US" sz="1700" b="1" dirty="0">
                <a:solidFill>
                  <a:schemeClr val="tx1"/>
                </a:solidFill>
              </a:rPr>
              <a:t>210–235</a:t>
            </a:r>
            <a:endParaRPr lang="en-US" sz="1700" dirty="0"/>
          </a:p>
        </p:txBody>
      </p:sp>
      <p:sp>
        <p:nvSpPr>
          <p:cNvPr id="15" name="Text 13"/>
          <p:cNvSpPr txBox="1"/>
          <p:nvPr/>
        </p:nvSpPr>
        <p:spPr>
          <a:xfrm>
            <a:off x="7296729"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Presentación en tres diapositivas</a:t>
            </a:r>
            <a:endParaRPr lang="en-US" sz="1700" dirty="0"/>
          </a:p>
        </p:txBody>
      </p:sp>
      <p:sp>
        <p:nvSpPr>
          <p:cNvPr id="16" name="Paso 5"/>
          <p:cNvSpPr/>
          <p:nvPr/>
        </p:nvSpPr>
        <p:spPr>
          <a:xfrm>
            <a:off x="9916394" y="1760220"/>
            <a:ext cx="1234440" cy="1234440"/>
          </a:xfrm>
          <a:prstGeom prst="ellipse">
            <a:avLst/>
          </a:prstGeom>
          <a:solidFill>
            <a:schemeClr val="accent1"/>
          </a:solidFill>
          <a:ln/>
        </p:spPr>
      </p:sp>
      <p:sp>
        <p:nvSpPr>
          <p:cNvPr id="17" name="Text 15"/>
          <p:cNvSpPr txBox="1"/>
          <p:nvPr/>
        </p:nvSpPr>
        <p:spPr>
          <a:xfrm>
            <a:off x="9916394" y="1760220"/>
            <a:ext cx="1234440" cy="1234440"/>
          </a:xfrm>
          <a:prstGeom prst="rect">
            <a:avLst/>
          </a:prstGeom>
          <a:noFill/>
          <a:ln/>
        </p:spPr>
        <p:txBody>
          <a:bodyPr wrap="square" lIns="0" tIns="0" rIns="0" bIns="0" rtlCol="0" anchor="ctr"/>
          <a:lstStyle/>
          <a:p>
            <a:pPr marL="0" indent="0" algn="ctr">
              <a:buNone/>
            </a:pPr>
            <a:r>
              <a:rPr lang="en-US" sz="1700" b="1" dirty="0">
                <a:solidFill>
                  <a:schemeClr val="tx1"/>
                </a:solidFill>
              </a:rPr>
              <a:t>235–240</a:t>
            </a:r>
            <a:endParaRPr lang="en-US" sz="1700" dirty="0"/>
          </a:p>
        </p:txBody>
      </p:sp>
      <p:sp>
        <p:nvSpPr>
          <p:cNvPr id="18" name="Text 16"/>
          <p:cNvSpPr txBox="1"/>
          <p:nvPr/>
        </p:nvSpPr>
        <p:spPr>
          <a:xfrm>
            <a:off x="9515612"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Revisión cruzada</a:t>
            </a:r>
            <a:endParaRPr lang="en-US" sz="1700" dirty="0"/>
          </a:p>
        </p:txBody>
      </p:sp>
      <p:sp>
        <p:nvSpPr>
          <p:cNvPr id="19" name="Tarjeta"/>
          <p:cNvSpPr/>
          <p:nvPr/>
        </p:nvSpPr>
        <p:spPr>
          <a:xfrm>
            <a:off x="548640" y="4663440"/>
            <a:ext cx="11094415" cy="1005840"/>
          </a:xfrm>
          <a:prstGeom prst="roundRect">
            <a:avLst>
              <a:gd name="adj" fmla="val 13636"/>
            </a:avLst>
          </a:prstGeom>
          <a:solidFill>
            <a:schemeClr val="bg2"/>
          </a:solidFill>
          <a:ln/>
        </p:spPr>
      </p:sp>
      <p:sp>
        <p:nvSpPr>
          <p:cNvPr id="20" name="Text 18"/>
          <p:cNvSpPr txBox="1"/>
          <p:nvPr/>
        </p:nvSpPr>
        <p:spPr>
          <a:xfrm>
            <a:off x="868680" y="4663440"/>
            <a:ext cx="10454335" cy="1005840"/>
          </a:xfrm>
          <a:prstGeom prst="rect">
            <a:avLst/>
          </a:prstGeom>
          <a:noFill/>
          <a:ln/>
        </p:spPr>
        <p:txBody>
          <a:bodyPr wrap="square" lIns="0" tIns="0" rIns="0" bIns="0" rtlCol="0" anchor="ctr"/>
          <a:lstStyle/>
          <a:p>
            <a:pPr marL="0" indent="0">
              <a:buNone/>
            </a:pPr>
            <a:r>
              <a:rPr lang="en-US" sz="2000" b="1" dirty="0">
                <a:solidFill>
                  <a:schemeClr val="tx1"/>
                </a:solidFill>
              </a:rPr>
              <a:t>Sin caso nuevo: </a:t>
            </a:r>
            <a:r>
              <a:rPr lang="en-US" sz="2000" dirty="0">
                <a:solidFill>
                  <a:schemeClr val="tx1"/>
                </a:solidFill>
              </a:rPr>
              <a:t>cada pareja sigue con su propuesta ganadora del bloque 3 y su ficha exprés.</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Seguimos en el documento del proyecto</a:t>
            </a:r>
            <a:endParaRPr lang="en-US" sz="3200" dirty="0"/>
          </a:p>
        </p:txBody>
      </p:sp>
      <p:sp>
        <p:nvSpPr>
          <p:cNvPr id="3" name="Etiqueta de tiempo"/>
          <p:cNvSpPr/>
          <p:nvPr/>
        </p:nvSpPr>
        <p:spPr>
          <a:xfrm>
            <a:off x="9293047" y="548640"/>
            <a:ext cx="2350008" cy="457200"/>
          </a:xfrm>
          <a:prstGeom prst="roundRect">
            <a:avLst>
              <a:gd name="adj" fmla="val 50000"/>
            </a:avLst>
          </a:prstGeom>
          <a:solidFill>
            <a:schemeClr val="accent1"/>
          </a:solidFill>
          <a:ln/>
        </p:spPr>
      </p:sp>
      <p:sp>
        <p:nvSpPr>
          <p:cNvPr id="4" name="Text 2"/>
          <p:cNvSpPr txBox="1"/>
          <p:nvPr/>
        </p:nvSpPr>
        <p:spPr>
          <a:xfrm>
            <a:off x="9293047" y="548640"/>
            <a:ext cx="2350008" cy="457200"/>
          </a:xfrm>
          <a:prstGeom prst="rect">
            <a:avLst/>
          </a:prstGeom>
          <a:noFill/>
          <a:ln/>
        </p:spPr>
        <p:txBody>
          <a:bodyPr wrap="square" lIns="0" tIns="0" rIns="0" bIns="0" rtlCol="0" anchor="ctr"/>
          <a:lstStyle/>
          <a:p>
            <a:pPr marL="0" indent="0" algn="ctr">
              <a:buNone/>
            </a:pPr>
            <a:r>
              <a:rPr lang="en-US" sz="1400" b="1" dirty="0">
                <a:solidFill>
                  <a:schemeClr val="tx1"/>
                </a:solidFill>
              </a:rPr>
              <a:t>Min. 165 · Parejas</a:t>
            </a:r>
            <a:endParaRPr lang="en-US" sz="1400" dirty="0"/>
          </a:p>
        </p:txBody>
      </p:sp>
      <p:sp>
        <p:nvSpPr>
          <p:cNvPr id="5" name="Archivo"/>
          <p:cNvSpPr/>
          <p:nvPr/>
        </p:nvSpPr>
        <p:spPr>
          <a:xfrm>
            <a:off x="548640" y="1554480"/>
            <a:ext cx="4572000" cy="4206240"/>
          </a:xfrm>
          <a:prstGeom prst="roundRect">
            <a:avLst>
              <a:gd name="adj" fmla="val 3261"/>
            </a:avLst>
          </a:prstGeom>
          <a:solidFill>
            <a:schemeClr val="bg2"/>
          </a:solidFill>
          <a:ln/>
        </p:spPr>
      </p:sp>
      <p:sp>
        <p:nvSpPr>
          <p:cNvPr id="6" name="Icono del archivo"/>
          <p:cNvSpPr/>
          <p:nvPr/>
        </p:nvSpPr>
        <p:spPr>
          <a:xfrm>
            <a:off x="2103120" y="2011680"/>
            <a:ext cx="1463040" cy="1463040"/>
          </a:xfrm>
          <a:prstGeom prst="ellipse">
            <a:avLst/>
          </a:prstGeom>
          <a:solidFill>
            <a:schemeClr val="accent1"/>
          </a:solidFill>
          <a:ln/>
        </p:spPr>
      </p:sp>
      <p:pic>
        <p:nvPicPr>
          <p:cNvPr id="7" name="Image 0" descr="Icono del archivo"/>
          <p:cNvPicPr>
            <a:picLocks noChangeAspect="1"/>
          </p:cNvPicPr>
          <p:nvPr/>
        </p:nvPicPr>
        <p:blipFill>
          <a:blip r:embed="rId3"/>
          <a:stretch>
            <a:fillRect/>
          </a:stretch>
        </p:blipFill>
        <p:spPr>
          <a:xfrm>
            <a:off x="2454250" y="2362810"/>
            <a:ext cx="760781" cy="760781"/>
          </a:xfrm>
          <a:prstGeom prst="rect">
            <a:avLst/>
          </a:prstGeom>
        </p:spPr>
      </p:pic>
      <p:sp>
        <p:nvSpPr>
          <p:cNvPr id="8" name="Text 5"/>
          <p:cNvSpPr txBox="1"/>
          <p:nvPr/>
        </p:nvSpPr>
        <p:spPr>
          <a:xfrm>
            <a:off x="731520" y="3749040"/>
            <a:ext cx="4206240" cy="731520"/>
          </a:xfrm>
          <a:prstGeom prst="rect">
            <a:avLst/>
          </a:prstGeom>
          <a:noFill/>
          <a:ln/>
        </p:spPr>
        <p:txBody>
          <a:bodyPr wrap="square" lIns="0" tIns="0" rIns="0" bIns="0" rtlCol="0" anchor="ctr">
            <a:normAutofit/>
          </a:bodyPr>
          <a:lstStyle/>
          <a:p>
            <a:pPr marL="0" indent="0" algn="ctr">
              <a:buNone/>
            </a:pPr>
            <a:r>
              <a:rPr lang="en-US" sz="2200" b="1" dirty="0">
                <a:solidFill>
                  <a:schemeClr val="tx1"/>
                </a:solidFill>
              </a:rPr>
              <a:t>documento_proyecto.docx</a:t>
            </a:r>
            <a:endParaRPr lang="en-US" sz="2200" dirty="0"/>
          </a:p>
        </p:txBody>
      </p:sp>
      <p:sp>
        <p:nvSpPr>
          <p:cNvPr id="9" name="Text 6"/>
          <p:cNvSpPr txBox="1"/>
          <p:nvPr/>
        </p:nvSpPr>
        <p:spPr>
          <a:xfrm>
            <a:off x="731520" y="4526280"/>
            <a:ext cx="4206240" cy="457200"/>
          </a:xfrm>
          <a:prstGeom prst="rect">
            <a:avLst/>
          </a:prstGeom>
          <a:noFill/>
          <a:ln/>
        </p:spPr>
        <p:txBody>
          <a:bodyPr wrap="square" lIns="0" tIns="0" rIns="0" bIns="0" rtlCol="0" anchor="ctr"/>
          <a:lstStyle/>
          <a:p>
            <a:pPr marL="0" indent="0" algn="ctr">
              <a:buNone/>
            </a:pPr>
            <a:r>
              <a:rPr lang="en-US" sz="1600" dirty="0">
                <a:solidFill>
                  <a:schemeClr val="accent5"/>
                </a:solidFill>
              </a:rPr>
              <a:t>Word o Google Docs</a:t>
            </a:r>
            <a:endParaRPr lang="en-US" sz="1600" dirty="0"/>
          </a:p>
        </p:txBody>
      </p:sp>
      <p:sp>
        <p:nvSpPr>
          <p:cNvPr id="10" name="Paso 1"/>
          <p:cNvSpPr/>
          <p:nvPr/>
        </p:nvSpPr>
        <p:spPr>
          <a:xfrm>
            <a:off x="5577840" y="1737360"/>
            <a:ext cx="640080" cy="640080"/>
          </a:xfrm>
          <a:prstGeom prst="ellipse">
            <a:avLst/>
          </a:prstGeom>
          <a:solidFill>
            <a:schemeClr val="accent1"/>
          </a:solidFill>
          <a:ln/>
        </p:spPr>
      </p:sp>
      <p:sp>
        <p:nvSpPr>
          <p:cNvPr id="11" name="Text 8"/>
          <p:cNvSpPr txBox="1"/>
          <p:nvPr/>
        </p:nvSpPr>
        <p:spPr>
          <a:xfrm>
            <a:off x="5577840" y="17373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12" name="Text 9"/>
          <p:cNvSpPr txBox="1"/>
          <p:nvPr/>
        </p:nvSpPr>
        <p:spPr>
          <a:xfrm>
            <a:off x="6446520" y="1600200"/>
            <a:ext cx="5196535" cy="914400"/>
          </a:xfrm>
          <a:prstGeom prst="rect">
            <a:avLst/>
          </a:prstGeom>
          <a:noFill/>
          <a:ln/>
        </p:spPr>
        <p:txBody>
          <a:bodyPr wrap="square" lIns="0" tIns="0" rIns="0" bIns="0" rtlCol="0" anchor="ctr"/>
          <a:lstStyle/>
          <a:p>
            <a:pPr marL="0" indent="0">
              <a:buNone/>
            </a:pPr>
            <a:r>
              <a:rPr lang="en-US" sz="2000" dirty="0">
                <a:solidFill>
                  <a:schemeClr val="tx1"/>
                </a:solidFill>
              </a:rPr>
              <a:t>En el intercambio, apuntad en la página de trabajo las preguntas que no sepáis responder.</a:t>
            </a:r>
            <a:endParaRPr lang="en-US" sz="2000" dirty="0"/>
          </a:p>
        </p:txBody>
      </p:sp>
      <p:sp>
        <p:nvSpPr>
          <p:cNvPr id="13" name="Paso 2"/>
          <p:cNvSpPr/>
          <p:nvPr/>
        </p:nvSpPr>
        <p:spPr>
          <a:xfrm>
            <a:off x="5577840" y="3108960"/>
            <a:ext cx="640080" cy="640080"/>
          </a:xfrm>
          <a:prstGeom prst="ellipse">
            <a:avLst/>
          </a:prstGeom>
          <a:solidFill>
            <a:schemeClr val="accent1"/>
          </a:solidFill>
          <a:ln/>
        </p:spPr>
      </p:sp>
      <p:sp>
        <p:nvSpPr>
          <p:cNvPr id="14" name="Text 11"/>
          <p:cNvSpPr txBox="1"/>
          <p:nvPr/>
        </p:nvSpPr>
        <p:spPr>
          <a:xfrm>
            <a:off x="5577840" y="31089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2</a:t>
            </a:r>
            <a:endParaRPr lang="en-US" sz="2200" dirty="0"/>
          </a:p>
        </p:txBody>
      </p:sp>
      <p:sp>
        <p:nvSpPr>
          <p:cNvPr id="15" name="Text 12"/>
          <p:cNvSpPr txBox="1"/>
          <p:nvPr/>
        </p:nvSpPr>
        <p:spPr>
          <a:xfrm>
            <a:off x="6446520" y="2971800"/>
            <a:ext cx="5196535" cy="914400"/>
          </a:xfrm>
          <a:prstGeom prst="rect">
            <a:avLst/>
          </a:prstGeom>
          <a:noFill/>
          <a:ln/>
        </p:spPr>
        <p:txBody>
          <a:bodyPr wrap="square" lIns="0" tIns="0" rIns="0" bIns="0" rtlCol="0" anchor="ctr"/>
          <a:lstStyle/>
          <a:p>
            <a:pPr marL="0" indent="0">
              <a:buNone/>
            </a:pPr>
            <a:r>
              <a:rPr lang="en-US" sz="2000" dirty="0">
                <a:solidFill>
                  <a:schemeClr val="tx1"/>
                </a:solidFill>
              </a:rPr>
              <a:t>Después, ampliad cada apartado y rellenad lo marcado «bloque 4».</a:t>
            </a:r>
            <a:endParaRPr lang="en-US" sz="2000" dirty="0"/>
          </a:p>
        </p:txBody>
      </p:sp>
      <p:sp>
        <p:nvSpPr>
          <p:cNvPr id="16" name="Paso 3"/>
          <p:cNvSpPr/>
          <p:nvPr/>
        </p:nvSpPr>
        <p:spPr>
          <a:xfrm>
            <a:off x="5577840" y="4480560"/>
            <a:ext cx="640080" cy="640080"/>
          </a:xfrm>
          <a:prstGeom prst="ellipse">
            <a:avLst/>
          </a:prstGeom>
          <a:solidFill>
            <a:schemeClr val="accent1"/>
          </a:solidFill>
          <a:ln/>
        </p:spPr>
      </p:sp>
      <p:sp>
        <p:nvSpPr>
          <p:cNvPr id="17" name="Text 14"/>
          <p:cNvSpPr txBox="1"/>
          <p:nvPr/>
        </p:nvSpPr>
        <p:spPr>
          <a:xfrm>
            <a:off x="5577840" y="44805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18" name="Text 15"/>
          <p:cNvSpPr txBox="1"/>
          <p:nvPr/>
        </p:nvSpPr>
        <p:spPr>
          <a:xfrm>
            <a:off x="6446520" y="4343400"/>
            <a:ext cx="5196535" cy="914400"/>
          </a:xfrm>
          <a:prstGeom prst="rect">
            <a:avLst/>
          </a:prstGeom>
          <a:noFill/>
          <a:ln/>
        </p:spPr>
        <p:txBody>
          <a:bodyPr wrap="square" lIns="0" tIns="0" rIns="0" bIns="0" rtlCol="0" anchor="ctr"/>
          <a:lstStyle/>
          <a:p>
            <a:pPr marL="0" indent="0">
              <a:buNone/>
            </a:pPr>
            <a:r>
              <a:rPr lang="en-US" sz="2000" dirty="0">
                <a:solidFill>
                  <a:schemeClr val="tx1"/>
                </a:solidFill>
              </a:rPr>
              <a:t>Antes de entregar, repasad la lista de la página de trabajo. Máximo dos páginas.</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Antes de seguir, ponedla a prueba</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165–175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Juntaos con otra pareja:</a:t>
            </a:r>
            <a:endParaRPr lang="en-US" sz="1900" dirty="0"/>
          </a:p>
        </p:txBody>
      </p:sp>
      <p:sp>
        <p:nvSpPr>
          <p:cNvPr id="6" name="Tarjeta"/>
          <p:cNvSpPr/>
          <p:nvPr/>
        </p:nvSpPr>
        <p:spPr>
          <a:xfrm>
            <a:off x="548640" y="1920240"/>
            <a:ext cx="3362858" cy="1828800"/>
          </a:xfrm>
          <a:prstGeom prst="roundRect">
            <a:avLst>
              <a:gd name="adj" fmla="val 7500"/>
            </a:avLst>
          </a:prstGeom>
          <a:solidFill>
            <a:schemeClr val="bg2"/>
          </a:solidFill>
          <a:ln/>
        </p:spPr>
      </p:sp>
      <p:sp>
        <p:nvSpPr>
          <p:cNvPr id="7" name="Paso 1"/>
          <p:cNvSpPr/>
          <p:nvPr/>
        </p:nvSpPr>
        <p:spPr>
          <a:xfrm>
            <a:off x="822960" y="2148840"/>
            <a:ext cx="777240" cy="777240"/>
          </a:xfrm>
          <a:prstGeom prst="ellipse">
            <a:avLst/>
          </a:prstGeom>
          <a:solidFill>
            <a:schemeClr val="accent1"/>
          </a:solidFill>
          <a:ln/>
        </p:spPr>
      </p:sp>
      <p:pic>
        <p:nvPicPr>
          <p:cNvPr id="8" name="Image 0" descr="Paso 1"/>
          <p:cNvPicPr>
            <a:picLocks noChangeAspect="1"/>
          </p:cNvPicPr>
          <p:nvPr/>
        </p:nvPicPr>
        <p:blipFill>
          <a:blip r:embed="rId3"/>
          <a:stretch>
            <a:fillRect/>
          </a:stretch>
        </p:blipFill>
        <p:spPr>
          <a:xfrm>
            <a:off x="1009498" y="2335378"/>
            <a:ext cx="404165" cy="404165"/>
          </a:xfrm>
          <a:prstGeom prst="rect">
            <a:avLst/>
          </a:prstGeom>
        </p:spPr>
      </p:pic>
      <p:sp>
        <p:nvSpPr>
          <p:cNvPr id="9" name="Text 6"/>
          <p:cNvSpPr txBox="1"/>
          <p:nvPr/>
        </p:nvSpPr>
        <p:spPr>
          <a:xfrm>
            <a:off x="1783080" y="1920240"/>
            <a:ext cx="1945538" cy="1828800"/>
          </a:xfrm>
          <a:prstGeom prst="rect">
            <a:avLst/>
          </a:prstGeom>
          <a:noFill/>
          <a:ln/>
        </p:spPr>
        <p:txBody>
          <a:bodyPr wrap="square" lIns="0" tIns="0" rIns="0" bIns="0" rtlCol="0" anchor="ctr"/>
          <a:lstStyle/>
          <a:p>
            <a:pPr marL="0" indent="0">
              <a:buNone/>
            </a:pPr>
            <a:r>
              <a:rPr lang="en-US" sz="1800" dirty="0">
                <a:solidFill>
                  <a:schemeClr val="tx1"/>
                </a:solidFill>
              </a:rPr>
              <a:t>La pareja A explica su propuesta en 1 minuto, con la ficha exprés delante.</a:t>
            </a:r>
            <a:endParaRPr lang="en-US" sz="1800" dirty="0"/>
          </a:p>
        </p:txBody>
      </p:sp>
      <p:sp>
        <p:nvSpPr>
          <p:cNvPr id="10" name="Shape 7"/>
          <p:cNvSpPr/>
          <p:nvPr/>
        </p:nvSpPr>
        <p:spPr>
          <a:xfrm>
            <a:off x="3984650" y="2834640"/>
            <a:ext cx="356616" cy="0"/>
          </a:xfrm>
          <a:prstGeom prst="line">
            <a:avLst/>
          </a:prstGeom>
          <a:noFill/>
          <a:ln w="38100">
            <a:solidFill>
              <a:srgbClr val="3A4664"/>
            </a:solidFill>
            <a:prstDash val="solid"/>
            <a:tailEnd type="triangle"/>
          </a:ln>
        </p:spPr>
      </p:sp>
      <p:sp>
        <p:nvSpPr>
          <p:cNvPr id="11" name="Tarjeta"/>
          <p:cNvSpPr/>
          <p:nvPr/>
        </p:nvSpPr>
        <p:spPr>
          <a:xfrm>
            <a:off x="4414418" y="1920240"/>
            <a:ext cx="3362858" cy="1828800"/>
          </a:xfrm>
          <a:prstGeom prst="roundRect">
            <a:avLst>
              <a:gd name="adj" fmla="val 7500"/>
            </a:avLst>
          </a:prstGeom>
          <a:solidFill>
            <a:schemeClr val="bg2"/>
          </a:solidFill>
          <a:ln/>
        </p:spPr>
      </p:sp>
      <p:sp>
        <p:nvSpPr>
          <p:cNvPr id="12" name="Paso 2"/>
          <p:cNvSpPr/>
          <p:nvPr/>
        </p:nvSpPr>
        <p:spPr>
          <a:xfrm>
            <a:off x="4688738" y="2148840"/>
            <a:ext cx="777240" cy="777240"/>
          </a:xfrm>
          <a:prstGeom prst="ellipse">
            <a:avLst/>
          </a:prstGeom>
          <a:solidFill>
            <a:schemeClr val="accent1"/>
          </a:solidFill>
          <a:ln/>
        </p:spPr>
      </p:sp>
      <p:pic>
        <p:nvPicPr>
          <p:cNvPr id="13" name="Image 1" descr="Paso 2"/>
          <p:cNvPicPr>
            <a:picLocks noChangeAspect="1"/>
          </p:cNvPicPr>
          <p:nvPr/>
        </p:nvPicPr>
        <p:blipFill>
          <a:blip r:embed="rId4"/>
          <a:stretch>
            <a:fillRect/>
          </a:stretch>
        </p:blipFill>
        <p:spPr>
          <a:xfrm>
            <a:off x="4875276" y="2335378"/>
            <a:ext cx="404165" cy="404165"/>
          </a:xfrm>
          <a:prstGeom prst="rect">
            <a:avLst/>
          </a:prstGeom>
        </p:spPr>
      </p:pic>
      <p:sp>
        <p:nvSpPr>
          <p:cNvPr id="14" name="Text 10"/>
          <p:cNvSpPr txBox="1"/>
          <p:nvPr/>
        </p:nvSpPr>
        <p:spPr>
          <a:xfrm>
            <a:off x="5648858" y="1920240"/>
            <a:ext cx="1945538" cy="1828800"/>
          </a:xfrm>
          <a:prstGeom prst="rect">
            <a:avLst/>
          </a:prstGeom>
          <a:noFill/>
          <a:ln/>
        </p:spPr>
        <p:txBody>
          <a:bodyPr wrap="square" lIns="0" tIns="0" rIns="0" bIns="0" rtlCol="0" anchor="ctr"/>
          <a:lstStyle/>
          <a:p>
            <a:pPr marL="0" indent="0">
              <a:buNone/>
            </a:pPr>
            <a:r>
              <a:rPr lang="en-US" sz="1800" dirty="0">
                <a:solidFill>
                  <a:schemeClr val="tx1"/>
                </a:solidFill>
              </a:rPr>
              <a:t>La pareja B le </a:t>
            </a:r>
            <a:r>
              <a:rPr lang="en-US" sz="1800" dirty="0" err="1">
                <a:solidFill>
                  <a:schemeClr val="tx1"/>
                </a:solidFill>
              </a:rPr>
              <a:t>hace</a:t>
            </a:r>
            <a:r>
              <a:rPr lang="en-US" sz="1800" dirty="0">
                <a:solidFill>
                  <a:schemeClr val="tx1"/>
                </a:solidFill>
              </a:rPr>
              <a:t> </a:t>
            </a:r>
            <a:r>
              <a:rPr lang="en-US" sz="1800" dirty="0" err="1">
                <a:solidFill>
                  <a:schemeClr val="tx1"/>
                </a:solidFill>
              </a:rPr>
              <a:t>varias</a:t>
            </a:r>
            <a:r>
              <a:rPr lang="en-US" sz="1800" dirty="0">
                <a:solidFill>
                  <a:schemeClr val="tx1"/>
                </a:solidFill>
              </a:rPr>
              <a:t> preguntas difíciles.</a:t>
            </a:r>
            <a:endParaRPr lang="en-US" sz="1800" dirty="0"/>
          </a:p>
        </p:txBody>
      </p:sp>
      <p:sp>
        <p:nvSpPr>
          <p:cNvPr id="15" name="Shape 11"/>
          <p:cNvSpPr/>
          <p:nvPr/>
        </p:nvSpPr>
        <p:spPr>
          <a:xfrm>
            <a:off x="7850429" y="2834640"/>
            <a:ext cx="356616" cy="0"/>
          </a:xfrm>
          <a:prstGeom prst="line">
            <a:avLst/>
          </a:prstGeom>
          <a:noFill/>
          <a:ln w="38100">
            <a:solidFill>
              <a:srgbClr val="3A4664"/>
            </a:solidFill>
            <a:prstDash val="solid"/>
            <a:tailEnd type="triangle"/>
          </a:ln>
        </p:spPr>
      </p:sp>
      <p:sp>
        <p:nvSpPr>
          <p:cNvPr id="16" name="Tarjeta"/>
          <p:cNvSpPr/>
          <p:nvPr/>
        </p:nvSpPr>
        <p:spPr>
          <a:xfrm>
            <a:off x="8280197" y="1920240"/>
            <a:ext cx="3362858" cy="1828800"/>
          </a:xfrm>
          <a:prstGeom prst="roundRect">
            <a:avLst>
              <a:gd name="adj" fmla="val 7500"/>
            </a:avLst>
          </a:prstGeom>
          <a:solidFill>
            <a:schemeClr val="bg2"/>
          </a:solidFill>
          <a:ln/>
        </p:spPr>
      </p:sp>
      <p:sp>
        <p:nvSpPr>
          <p:cNvPr id="17" name="Paso 3"/>
          <p:cNvSpPr/>
          <p:nvPr/>
        </p:nvSpPr>
        <p:spPr>
          <a:xfrm>
            <a:off x="8554517" y="2148840"/>
            <a:ext cx="777240" cy="777240"/>
          </a:xfrm>
          <a:prstGeom prst="ellipse">
            <a:avLst/>
          </a:prstGeom>
          <a:solidFill>
            <a:schemeClr val="accent1"/>
          </a:solidFill>
          <a:ln/>
        </p:spPr>
      </p:sp>
      <p:pic>
        <p:nvPicPr>
          <p:cNvPr id="18" name="Image 2" descr="Paso 3"/>
          <p:cNvPicPr>
            <a:picLocks noChangeAspect="1"/>
          </p:cNvPicPr>
          <p:nvPr/>
        </p:nvPicPr>
        <p:blipFill>
          <a:blip r:embed="rId5"/>
          <a:stretch>
            <a:fillRect/>
          </a:stretch>
        </p:blipFill>
        <p:spPr>
          <a:xfrm>
            <a:off x="8741054" y="2335378"/>
            <a:ext cx="404165" cy="404165"/>
          </a:xfrm>
          <a:prstGeom prst="rect">
            <a:avLst/>
          </a:prstGeom>
        </p:spPr>
      </p:pic>
      <p:sp>
        <p:nvSpPr>
          <p:cNvPr id="19" name="Text 14"/>
          <p:cNvSpPr txBox="1"/>
          <p:nvPr/>
        </p:nvSpPr>
        <p:spPr>
          <a:xfrm>
            <a:off x="9514637" y="1920240"/>
            <a:ext cx="1945538" cy="1828800"/>
          </a:xfrm>
          <a:prstGeom prst="rect">
            <a:avLst/>
          </a:prstGeom>
          <a:noFill/>
          <a:ln/>
        </p:spPr>
        <p:txBody>
          <a:bodyPr wrap="square" lIns="0" tIns="0" rIns="0" bIns="0" rtlCol="0" anchor="ctr"/>
          <a:lstStyle/>
          <a:p>
            <a:pPr marL="0" indent="0">
              <a:buNone/>
            </a:pPr>
            <a:r>
              <a:rPr lang="en-US" sz="1800" dirty="0">
                <a:solidFill>
                  <a:schemeClr val="tx1"/>
                </a:solidFill>
              </a:rPr>
              <a:t>Os cambiáis los papeles.</a:t>
            </a:r>
            <a:endParaRPr lang="en-US" sz="1800" dirty="0"/>
          </a:p>
        </p:txBody>
      </p:sp>
      <p:sp>
        <p:nvSpPr>
          <p:cNvPr id="20" name="Text 15"/>
          <p:cNvSpPr txBox="1"/>
          <p:nvPr/>
        </p:nvSpPr>
        <p:spPr>
          <a:xfrm>
            <a:off x="548640" y="4023360"/>
            <a:ext cx="11094415" cy="411480"/>
          </a:xfrm>
          <a:prstGeom prst="rect">
            <a:avLst/>
          </a:prstGeom>
          <a:noFill/>
          <a:ln/>
        </p:spPr>
        <p:txBody>
          <a:bodyPr wrap="square" lIns="0" tIns="0" rIns="0" bIns="0" rtlCol="0" anchor="ctr"/>
          <a:lstStyle/>
          <a:p>
            <a:pPr marL="0" indent="0">
              <a:buNone/>
            </a:pPr>
            <a:r>
              <a:rPr lang="en-US" sz="1800" b="1" dirty="0">
                <a:solidFill>
                  <a:schemeClr val="tx1"/>
                </a:solidFill>
              </a:rPr>
              <a:t>Preguntas difíciles, por ejemplo:</a:t>
            </a:r>
            <a:endParaRPr lang="en-US" sz="1800" dirty="0"/>
          </a:p>
        </p:txBody>
      </p:sp>
      <p:sp>
        <p:nvSpPr>
          <p:cNvPr id="21" name="¿Cuánto cuesta?"/>
          <p:cNvSpPr/>
          <p:nvPr/>
        </p:nvSpPr>
        <p:spPr>
          <a:xfrm>
            <a:off x="548640" y="4572000"/>
            <a:ext cx="2567864" cy="868680"/>
          </a:xfrm>
          <a:prstGeom prst="roundRect">
            <a:avLst>
              <a:gd name="adj" fmla="val 49474"/>
            </a:avLst>
          </a:prstGeom>
          <a:solidFill>
            <a:schemeClr val="tx1"/>
          </a:solidFill>
          <a:ln/>
        </p:spPr>
      </p:sp>
      <p:sp>
        <p:nvSpPr>
          <p:cNvPr id="22" name="¿Cuánto cuesta?"/>
          <p:cNvSpPr/>
          <p:nvPr/>
        </p:nvSpPr>
        <p:spPr>
          <a:xfrm>
            <a:off x="685800" y="4681728"/>
            <a:ext cx="640080" cy="640080"/>
          </a:xfrm>
          <a:prstGeom prst="ellipse">
            <a:avLst/>
          </a:prstGeom>
          <a:solidFill>
            <a:schemeClr val="accent3"/>
          </a:solidFill>
          <a:ln/>
        </p:spPr>
      </p:sp>
      <p:pic>
        <p:nvPicPr>
          <p:cNvPr id="23" name="Image 3" descr="¿Cuánto cuesta?"/>
          <p:cNvPicPr>
            <a:picLocks noChangeAspect="1"/>
          </p:cNvPicPr>
          <p:nvPr/>
        </p:nvPicPr>
        <p:blipFill>
          <a:blip r:embed="rId6"/>
          <a:stretch>
            <a:fillRect/>
          </a:stretch>
        </p:blipFill>
        <p:spPr>
          <a:xfrm>
            <a:off x="839419" y="4835347"/>
            <a:ext cx="332842" cy="332842"/>
          </a:xfrm>
          <a:prstGeom prst="rect">
            <a:avLst/>
          </a:prstGeom>
        </p:spPr>
      </p:pic>
      <p:sp>
        <p:nvSpPr>
          <p:cNvPr id="24" name="Text 18"/>
          <p:cNvSpPr txBox="1"/>
          <p:nvPr/>
        </p:nvSpPr>
        <p:spPr>
          <a:xfrm>
            <a:off x="1463040" y="4572000"/>
            <a:ext cx="1516304" cy="868680"/>
          </a:xfrm>
          <a:prstGeom prst="rect">
            <a:avLst/>
          </a:prstGeom>
          <a:noFill/>
          <a:ln/>
        </p:spPr>
        <p:txBody>
          <a:bodyPr wrap="square" lIns="0" tIns="0" rIns="0" bIns="0" rtlCol="0" anchor="ctr"/>
          <a:lstStyle/>
          <a:p>
            <a:pPr marL="0" indent="0">
              <a:buNone/>
            </a:pPr>
            <a:r>
              <a:rPr lang="en-US" sz="1600" b="1" dirty="0">
                <a:solidFill>
                  <a:schemeClr val="bg1"/>
                </a:solidFill>
              </a:rPr>
              <a:t>¿Cuánto cuesta?</a:t>
            </a:r>
            <a:endParaRPr lang="en-US" sz="1600" dirty="0"/>
          </a:p>
        </p:txBody>
      </p:sp>
      <p:sp>
        <p:nvSpPr>
          <p:cNvPr id="25" name="¿Quién se encarga?"/>
          <p:cNvSpPr/>
          <p:nvPr/>
        </p:nvSpPr>
        <p:spPr>
          <a:xfrm>
            <a:off x="3390824" y="4572000"/>
            <a:ext cx="2567864" cy="868680"/>
          </a:xfrm>
          <a:prstGeom prst="roundRect">
            <a:avLst>
              <a:gd name="adj" fmla="val 49474"/>
            </a:avLst>
          </a:prstGeom>
          <a:solidFill>
            <a:schemeClr val="tx1"/>
          </a:solidFill>
          <a:ln/>
        </p:spPr>
      </p:sp>
      <p:sp>
        <p:nvSpPr>
          <p:cNvPr id="26" name="¿Quién se encarga?"/>
          <p:cNvSpPr/>
          <p:nvPr/>
        </p:nvSpPr>
        <p:spPr>
          <a:xfrm>
            <a:off x="3527984" y="4681728"/>
            <a:ext cx="640080" cy="640080"/>
          </a:xfrm>
          <a:prstGeom prst="ellipse">
            <a:avLst/>
          </a:prstGeom>
          <a:solidFill>
            <a:schemeClr val="accent3"/>
          </a:solidFill>
          <a:ln/>
        </p:spPr>
      </p:sp>
      <p:pic>
        <p:nvPicPr>
          <p:cNvPr id="27" name="Image 4" descr="¿Quién se encarga?"/>
          <p:cNvPicPr>
            <a:picLocks noChangeAspect="1"/>
          </p:cNvPicPr>
          <p:nvPr/>
        </p:nvPicPr>
        <p:blipFill>
          <a:blip r:embed="rId7"/>
          <a:stretch>
            <a:fillRect/>
          </a:stretch>
        </p:blipFill>
        <p:spPr>
          <a:xfrm>
            <a:off x="3681603" y="4835347"/>
            <a:ext cx="332842" cy="332842"/>
          </a:xfrm>
          <a:prstGeom prst="rect">
            <a:avLst/>
          </a:prstGeom>
        </p:spPr>
      </p:pic>
      <p:sp>
        <p:nvSpPr>
          <p:cNvPr id="28" name="Text 21"/>
          <p:cNvSpPr txBox="1"/>
          <p:nvPr/>
        </p:nvSpPr>
        <p:spPr>
          <a:xfrm>
            <a:off x="4305224" y="4572000"/>
            <a:ext cx="1516304" cy="868680"/>
          </a:xfrm>
          <a:prstGeom prst="rect">
            <a:avLst/>
          </a:prstGeom>
          <a:noFill/>
          <a:ln/>
        </p:spPr>
        <p:txBody>
          <a:bodyPr wrap="square" lIns="0" tIns="0" rIns="0" bIns="0" rtlCol="0" anchor="ctr"/>
          <a:lstStyle/>
          <a:p>
            <a:pPr marL="0" indent="0">
              <a:buNone/>
            </a:pPr>
            <a:r>
              <a:rPr lang="en-US" sz="1600" b="1" dirty="0">
                <a:solidFill>
                  <a:schemeClr val="bg1"/>
                </a:solidFill>
              </a:rPr>
              <a:t>¿Quién se encarga?</a:t>
            </a:r>
            <a:endParaRPr lang="en-US" sz="1600" dirty="0"/>
          </a:p>
        </p:txBody>
      </p:sp>
      <p:sp>
        <p:nvSpPr>
          <p:cNvPr id="29" name="¿Y si alguien no lo usa?"/>
          <p:cNvSpPr/>
          <p:nvPr/>
        </p:nvSpPr>
        <p:spPr>
          <a:xfrm>
            <a:off x="6233008" y="4572000"/>
            <a:ext cx="2567864" cy="868680"/>
          </a:xfrm>
          <a:prstGeom prst="roundRect">
            <a:avLst>
              <a:gd name="adj" fmla="val 49474"/>
            </a:avLst>
          </a:prstGeom>
          <a:solidFill>
            <a:schemeClr val="tx1"/>
          </a:solidFill>
          <a:ln/>
        </p:spPr>
      </p:sp>
      <p:sp>
        <p:nvSpPr>
          <p:cNvPr id="30" name="¿Y si alguien no lo usa?"/>
          <p:cNvSpPr/>
          <p:nvPr/>
        </p:nvSpPr>
        <p:spPr>
          <a:xfrm>
            <a:off x="6370168" y="4681728"/>
            <a:ext cx="640080" cy="640080"/>
          </a:xfrm>
          <a:prstGeom prst="ellipse">
            <a:avLst/>
          </a:prstGeom>
          <a:solidFill>
            <a:schemeClr val="accent3"/>
          </a:solidFill>
          <a:ln/>
        </p:spPr>
      </p:sp>
      <p:pic>
        <p:nvPicPr>
          <p:cNvPr id="31" name="Image 5" descr="¿Y si alguien no lo usa?"/>
          <p:cNvPicPr>
            <a:picLocks noChangeAspect="1"/>
          </p:cNvPicPr>
          <p:nvPr/>
        </p:nvPicPr>
        <p:blipFill>
          <a:blip r:embed="rId8"/>
          <a:stretch>
            <a:fillRect/>
          </a:stretch>
        </p:blipFill>
        <p:spPr>
          <a:xfrm>
            <a:off x="6523787" y="4835347"/>
            <a:ext cx="332842" cy="332842"/>
          </a:xfrm>
          <a:prstGeom prst="rect">
            <a:avLst/>
          </a:prstGeom>
        </p:spPr>
      </p:pic>
      <p:sp>
        <p:nvSpPr>
          <p:cNvPr id="32" name="Text 24"/>
          <p:cNvSpPr txBox="1"/>
          <p:nvPr/>
        </p:nvSpPr>
        <p:spPr>
          <a:xfrm>
            <a:off x="7147408" y="4572000"/>
            <a:ext cx="1516304" cy="868680"/>
          </a:xfrm>
          <a:prstGeom prst="rect">
            <a:avLst/>
          </a:prstGeom>
          <a:noFill/>
          <a:ln/>
        </p:spPr>
        <p:txBody>
          <a:bodyPr wrap="square" lIns="0" tIns="0" rIns="0" bIns="0" rtlCol="0" anchor="ctr"/>
          <a:lstStyle/>
          <a:p>
            <a:pPr marL="0" indent="0">
              <a:buNone/>
            </a:pPr>
            <a:r>
              <a:rPr lang="en-US" sz="1600" b="1" dirty="0">
                <a:solidFill>
                  <a:schemeClr val="bg1"/>
                </a:solidFill>
              </a:rPr>
              <a:t>¿Y si alguien no lo usa?</a:t>
            </a:r>
            <a:endParaRPr lang="en-US" sz="1600" dirty="0"/>
          </a:p>
        </p:txBody>
      </p:sp>
      <p:sp>
        <p:nvSpPr>
          <p:cNvPr id="33" name="¿Cómo sabremos si funciona?"/>
          <p:cNvSpPr/>
          <p:nvPr/>
        </p:nvSpPr>
        <p:spPr>
          <a:xfrm>
            <a:off x="9075191" y="4572000"/>
            <a:ext cx="2567864" cy="868680"/>
          </a:xfrm>
          <a:prstGeom prst="roundRect">
            <a:avLst>
              <a:gd name="adj" fmla="val 49474"/>
            </a:avLst>
          </a:prstGeom>
          <a:solidFill>
            <a:schemeClr val="tx1"/>
          </a:solidFill>
          <a:ln/>
        </p:spPr>
      </p:sp>
      <p:sp>
        <p:nvSpPr>
          <p:cNvPr id="34" name="¿Cómo sabremos si funciona?"/>
          <p:cNvSpPr/>
          <p:nvPr/>
        </p:nvSpPr>
        <p:spPr>
          <a:xfrm>
            <a:off x="9212351" y="4681728"/>
            <a:ext cx="640080" cy="640080"/>
          </a:xfrm>
          <a:prstGeom prst="ellipse">
            <a:avLst/>
          </a:prstGeom>
          <a:solidFill>
            <a:schemeClr val="accent3"/>
          </a:solidFill>
          <a:ln/>
        </p:spPr>
      </p:sp>
      <p:pic>
        <p:nvPicPr>
          <p:cNvPr id="35" name="Image 6" descr="¿Cómo sabremos si funciona?"/>
          <p:cNvPicPr>
            <a:picLocks noChangeAspect="1"/>
          </p:cNvPicPr>
          <p:nvPr/>
        </p:nvPicPr>
        <p:blipFill>
          <a:blip r:embed="rId9"/>
          <a:stretch>
            <a:fillRect/>
          </a:stretch>
        </p:blipFill>
        <p:spPr>
          <a:xfrm>
            <a:off x="9365971" y="4835347"/>
            <a:ext cx="332842" cy="332842"/>
          </a:xfrm>
          <a:prstGeom prst="rect">
            <a:avLst/>
          </a:prstGeom>
        </p:spPr>
      </p:pic>
      <p:sp>
        <p:nvSpPr>
          <p:cNvPr id="36" name="Text 27"/>
          <p:cNvSpPr txBox="1"/>
          <p:nvPr/>
        </p:nvSpPr>
        <p:spPr>
          <a:xfrm>
            <a:off x="9989591" y="4572000"/>
            <a:ext cx="1516304" cy="868680"/>
          </a:xfrm>
          <a:prstGeom prst="rect">
            <a:avLst/>
          </a:prstGeom>
          <a:noFill/>
          <a:ln/>
        </p:spPr>
        <p:txBody>
          <a:bodyPr wrap="square" lIns="0" tIns="0" rIns="0" bIns="0" rtlCol="0" anchor="ctr"/>
          <a:lstStyle/>
          <a:p>
            <a:pPr marL="0" indent="0">
              <a:buNone/>
            </a:pPr>
            <a:r>
              <a:rPr lang="en-US" sz="1600" b="1" dirty="0">
                <a:solidFill>
                  <a:schemeClr val="bg1"/>
                </a:solidFill>
              </a:rPr>
              <a:t>¿Cómo sabremos si funciona?</a:t>
            </a:r>
            <a:endParaRPr lang="en-US" sz="1600" dirty="0"/>
          </a:p>
        </p:txBody>
      </p:sp>
      <p:sp>
        <p:nvSpPr>
          <p:cNvPr id="37"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Lo que no supisteis responder</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165–175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Apuntadlas en la página de trabajo del documento:</a:t>
            </a:r>
            <a:endParaRPr lang="en-US" sz="1900" dirty="0"/>
          </a:p>
        </p:txBody>
      </p:sp>
      <p:sp>
        <p:nvSpPr>
          <p:cNvPr id="6" name="Pregunta 1"/>
          <p:cNvSpPr/>
          <p:nvPr/>
        </p:nvSpPr>
        <p:spPr>
          <a:xfrm>
            <a:off x="548640" y="2240280"/>
            <a:ext cx="594360" cy="594360"/>
          </a:xfrm>
          <a:prstGeom prst="ellipse">
            <a:avLst/>
          </a:prstGeom>
          <a:solidFill>
            <a:schemeClr val="accent3"/>
          </a:solidFill>
          <a:ln/>
        </p:spPr>
      </p:sp>
      <p:sp>
        <p:nvSpPr>
          <p:cNvPr id="7" name="Text 5"/>
          <p:cNvSpPr txBox="1"/>
          <p:nvPr/>
        </p:nvSpPr>
        <p:spPr>
          <a:xfrm>
            <a:off x="548640" y="2240280"/>
            <a:ext cx="594360" cy="59436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8" name="Hueco"/>
          <p:cNvSpPr/>
          <p:nvPr/>
        </p:nvSpPr>
        <p:spPr>
          <a:xfrm>
            <a:off x="1417320" y="1965960"/>
            <a:ext cx="10225735" cy="1143000"/>
          </a:xfrm>
          <a:prstGeom prst="roundRect">
            <a:avLst>
              <a:gd name="adj" fmla="val 8000"/>
            </a:avLst>
          </a:prstGeom>
          <a:solidFill>
            <a:schemeClr val="bg2"/>
          </a:solidFill>
          <a:ln w="12700">
            <a:solidFill>
              <a:srgbClr val="8A94A6"/>
            </a:solidFill>
            <a:prstDash val="dash"/>
          </a:ln>
        </p:spPr>
      </p:sp>
      <p:sp>
        <p:nvSpPr>
          <p:cNvPr id="9" name="Pregunta 2"/>
          <p:cNvSpPr/>
          <p:nvPr/>
        </p:nvSpPr>
        <p:spPr>
          <a:xfrm>
            <a:off x="548640" y="3566160"/>
            <a:ext cx="594360" cy="594360"/>
          </a:xfrm>
          <a:prstGeom prst="ellipse">
            <a:avLst/>
          </a:prstGeom>
          <a:solidFill>
            <a:schemeClr val="accent3"/>
          </a:solidFill>
          <a:ln/>
        </p:spPr>
      </p:sp>
      <p:sp>
        <p:nvSpPr>
          <p:cNvPr id="10" name="Text 8"/>
          <p:cNvSpPr txBox="1"/>
          <p:nvPr/>
        </p:nvSpPr>
        <p:spPr>
          <a:xfrm>
            <a:off x="548640" y="3566160"/>
            <a:ext cx="594360" cy="59436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1" name="Hueco"/>
          <p:cNvSpPr/>
          <p:nvPr/>
        </p:nvSpPr>
        <p:spPr>
          <a:xfrm>
            <a:off x="1417320" y="3291840"/>
            <a:ext cx="10225735" cy="1143000"/>
          </a:xfrm>
          <a:prstGeom prst="roundRect">
            <a:avLst>
              <a:gd name="adj" fmla="val 8000"/>
            </a:avLst>
          </a:prstGeom>
          <a:solidFill>
            <a:schemeClr val="bg2"/>
          </a:solidFill>
          <a:ln w="12700">
            <a:solidFill>
              <a:srgbClr val="8A94A6"/>
            </a:solidFill>
            <a:prstDash val="dash"/>
          </a:ln>
        </p:spPr>
      </p:sp>
      <p:sp>
        <p:nvSpPr>
          <p:cNvPr id="12" name="Documento"/>
          <p:cNvSpPr/>
          <p:nvPr/>
        </p:nvSpPr>
        <p:spPr>
          <a:xfrm>
            <a:off x="548640" y="4800600"/>
            <a:ext cx="777240" cy="777240"/>
          </a:xfrm>
          <a:prstGeom prst="ellipse">
            <a:avLst/>
          </a:prstGeom>
          <a:solidFill>
            <a:schemeClr val="accent1"/>
          </a:solidFill>
          <a:ln/>
        </p:spPr>
      </p:sp>
      <p:pic>
        <p:nvPicPr>
          <p:cNvPr id="13" name="Image 0" descr="Documento"/>
          <p:cNvPicPr>
            <a:picLocks noChangeAspect="1"/>
          </p:cNvPicPr>
          <p:nvPr/>
        </p:nvPicPr>
        <p:blipFill>
          <a:blip r:embed="rId3"/>
          <a:stretch>
            <a:fillRect/>
          </a:stretch>
        </p:blipFill>
        <p:spPr>
          <a:xfrm>
            <a:off x="735178" y="4987138"/>
            <a:ext cx="404165" cy="404165"/>
          </a:xfrm>
          <a:prstGeom prst="rect">
            <a:avLst/>
          </a:prstGeom>
        </p:spPr>
      </p:pic>
      <p:sp>
        <p:nvSpPr>
          <p:cNvPr id="14" name="Text 11"/>
          <p:cNvSpPr txBox="1"/>
          <p:nvPr/>
        </p:nvSpPr>
        <p:spPr>
          <a:xfrm>
            <a:off x="1600200" y="4800600"/>
            <a:ext cx="10042855" cy="777240"/>
          </a:xfrm>
          <a:prstGeom prst="rect">
            <a:avLst/>
          </a:prstGeom>
          <a:noFill/>
          <a:ln/>
        </p:spPr>
        <p:txBody>
          <a:bodyPr wrap="square" lIns="0" tIns="0" rIns="0" bIns="0" rtlCol="0" anchor="ctr"/>
          <a:lstStyle/>
          <a:p>
            <a:pPr marL="0" indent="0">
              <a:buNone/>
            </a:pPr>
            <a:r>
              <a:rPr lang="en-US" sz="2200" b="1" dirty="0">
                <a:solidFill>
                  <a:schemeClr val="tx1"/>
                </a:solidFill>
              </a:rPr>
              <a:t>Es lo primero que tiene que resolver vuestro documento.</a:t>
            </a:r>
            <a:endParaRPr lang="en-US" sz="22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Documento del proyecto</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175–195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En el mismo archivo, los seis apartados de la ficha, ampliados, y uno nuevo (máximo dos páginas):</a:t>
            </a:r>
            <a:endParaRPr lang="en-US" sz="1900" dirty="0"/>
          </a:p>
        </p:txBody>
      </p:sp>
      <p:sp>
        <p:nvSpPr>
          <p:cNvPr id="6" name="Tarjeta"/>
          <p:cNvSpPr/>
          <p:nvPr/>
        </p:nvSpPr>
        <p:spPr>
          <a:xfrm>
            <a:off x="548640" y="1965960"/>
            <a:ext cx="5410048" cy="585216"/>
          </a:xfrm>
          <a:prstGeom prst="roundRect">
            <a:avLst>
              <a:gd name="adj" fmla="val 23438"/>
            </a:avLst>
          </a:prstGeom>
          <a:solidFill>
            <a:schemeClr val="bg2"/>
          </a:solidFill>
          <a:ln/>
        </p:spPr>
      </p:sp>
      <p:sp>
        <p:nvSpPr>
          <p:cNvPr id="7" name="Apartado 1"/>
          <p:cNvSpPr/>
          <p:nvPr/>
        </p:nvSpPr>
        <p:spPr>
          <a:xfrm>
            <a:off x="685800" y="2057400"/>
            <a:ext cx="402336" cy="402336"/>
          </a:xfrm>
          <a:prstGeom prst="ellipse">
            <a:avLst/>
          </a:prstGeom>
          <a:solidFill>
            <a:schemeClr val="accent1"/>
          </a:solidFill>
          <a:ln/>
        </p:spPr>
      </p:sp>
      <p:sp>
        <p:nvSpPr>
          <p:cNvPr id="8" name="Text 6"/>
          <p:cNvSpPr txBox="1"/>
          <p:nvPr/>
        </p:nvSpPr>
        <p:spPr>
          <a:xfrm>
            <a:off x="685800" y="2057400"/>
            <a:ext cx="402336" cy="402336"/>
          </a:xfrm>
          <a:prstGeom prst="rect">
            <a:avLst/>
          </a:prstGeom>
          <a:no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9" name="Text 7"/>
          <p:cNvSpPr txBox="1"/>
          <p:nvPr/>
        </p:nvSpPr>
        <p:spPr>
          <a:xfrm>
            <a:off x="1280160" y="1965960"/>
            <a:ext cx="4495648" cy="585216"/>
          </a:xfrm>
          <a:prstGeom prst="rect">
            <a:avLst/>
          </a:prstGeom>
          <a:noFill/>
          <a:ln/>
        </p:spPr>
        <p:txBody>
          <a:bodyPr wrap="square" lIns="0" tIns="0" rIns="0" bIns="0" rtlCol="0" anchor="ctr"/>
          <a:lstStyle/>
          <a:p>
            <a:pPr marL="0" indent="0">
              <a:buNone/>
            </a:pPr>
            <a:r>
              <a:rPr lang="en-US" sz="1800" dirty="0">
                <a:solidFill>
                  <a:schemeClr val="tx1"/>
                </a:solidFill>
              </a:rPr>
              <a:t>Nombre de la propuesta</a:t>
            </a:r>
            <a:endParaRPr lang="en-US" sz="1800" dirty="0"/>
          </a:p>
        </p:txBody>
      </p:sp>
      <p:sp>
        <p:nvSpPr>
          <p:cNvPr id="10" name="Tarjeta"/>
          <p:cNvSpPr/>
          <p:nvPr/>
        </p:nvSpPr>
        <p:spPr>
          <a:xfrm>
            <a:off x="548640" y="2679192"/>
            <a:ext cx="5410048" cy="585216"/>
          </a:xfrm>
          <a:prstGeom prst="roundRect">
            <a:avLst>
              <a:gd name="adj" fmla="val 23438"/>
            </a:avLst>
          </a:prstGeom>
          <a:solidFill>
            <a:schemeClr val="bg2"/>
          </a:solidFill>
          <a:ln/>
        </p:spPr>
      </p:sp>
      <p:sp>
        <p:nvSpPr>
          <p:cNvPr id="11" name="Apartado 2"/>
          <p:cNvSpPr/>
          <p:nvPr/>
        </p:nvSpPr>
        <p:spPr>
          <a:xfrm>
            <a:off x="685800" y="2770632"/>
            <a:ext cx="402336" cy="402336"/>
          </a:xfrm>
          <a:prstGeom prst="ellipse">
            <a:avLst/>
          </a:prstGeom>
          <a:solidFill>
            <a:schemeClr val="accent1"/>
          </a:solidFill>
          <a:ln/>
        </p:spPr>
      </p:sp>
      <p:sp>
        <p:nvSpPr>
          <p:cNvPr id="12" name="Text 10"/>
          <p:cNvSpPr txBox="1"/>
          <p:nvPr/>
        </p:nvSpPr>
        <p:spPr>
          <a:xfrm>
            <a:off x="685800" y="2770632"/>
            <a:ext cx="402336" cy="402336"/>
          </a:xfrm>
          <a:prstGeom prst="rect">
            <a:avLst/>
          </a:prstGeom>
          <a:no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13" name="Text 11"/>
          <p:cNvSpPr txBox="1"/>
          <p:nvPr/>
        </p:nvSpPr>
        <p:spPr>
          <a:xfrm>
            <a:off x="1280160" y="2679192"/>
            <a:ext cx="4495648" cy="585216"/>
          </a:xfrm>
          <a:prstGeom prst="rect">
            <a:avLst/>
          </a:prstGeom>
          <a:noFill/>
          <a:ln/>
        </p:spPr>
        <p:txBody>
          <a:bodyPr wrap="square" lIns="0" tIns="0" rIns="0" bIns="0" rtlCol="0" anchor="ctr"/>
          <a:lstStyle/>
          <a:p>
            <a:pPr marL="0" indent="0">
              <a:buNone/>
            </a:pPr>
            <a:r>
              <a:rPr lang="en-US" sz="1800" dirty="0">
                <a:solidFill>
                  <a:schemeClr val="tx1"/>
                </a:solidFill>
              </a:rPr>
              <a:t>Problema</a:t>
            </a:r>
            <a:endParaRPr lang="en-US" sz="1800" dirty="0"/>
          </a:p>
        </p:txBody>
      </p:sp>
      <p:sp>
        <p:nvSpPr>
          <p:cNvPr id="14" name="Tarjeta"/>
          <p:cNvSpPr/>
          <p:nvPr/>
        </p:nvSpPr>
        <p:spPr>
          <a:xfrm>
            <a:off x="548640" y="3392424"/>
            <a:ext cx="5410048" cy="585216"/>
          </a:xfrm>
          <a:prstGeom prst="roundRect">
            <a:avLst>
              <a:gd name="adj" fmla="val 23438"/>
            </a:avLst>
          </a:prstGeom>
          <a:solidFill>
            <a:schemeClr val="bg2"/>
          </a:solidFill>
          <a:ln/>
        </p:spPr>
      </p:sp>
      <p:sp>
        <p:nvSpPr>
          <p:cNvPr id="15" name="Apartado 3"/>
          <p:cNvSpPr/>
          <p:nvPr/>
        </p:nvSpPr>
        <p:spPr>
          <a:xfrm>
            <a:off x="685800" y="3483864"/>
            <a:ext cx="402336" cy="402336"/>
          </a:xfrm>
          <a:prstGeom prst="ellipse">
            <a:avLst/>
          </a:prstGeom>
          <a:solidFill>
            <a:schemeClr val="accent1"/>
          </a:solidFill>
          <a:ln/>
        </p:spPr>
      </p:sp>
      <p:sp>
        <p:nvSpPr>
          <p:cNvPr id="16" name="Text 14"/>
          <p:cNvSpPr txBox="1"/>
          <p:nvPr/>
        </p:nvSpPr>
        <p:spPr>
          <a:xfrm>
            <a:off x="685800" y="3483864"/>
            <a:ext cx="402336" cy="402336"/>
          </a:xfrm>
          <a:prstGeom prst="rect">
            <a:avLst/>
          </a:prstGeom>
          <a:no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7" name="Text 15"/>
          <p:cNvSpPr txBox="1"/>
          <p:nvPr/>
        </p:nvSpPr>
        <p:spPr>
          <a:xfrm>
            <a:off x="1280160" y="3392424"/>
            <a:ext cx="4495648" cy="585216"/>
          </a:xfrm>
          <a:prstGeom prst="rect">
            <a:avLst/>
          </a:prstGeom>
          <a:noFill/>
          <a:ln/>
        </p:spPr>
        <p:txBody>
          <a:bodyPr wrap="square" lIns="0" tIns="0" rIns="0" bIns="0" rtlCol="0" anchor="ctr"/>
          <a:lstStyle/>
          <a:p>
            <a:pPr marL="0" indent="0">
              <a:buNone/>
            </a:pPr>
            <a:r>
              <a:rPr lang="en-US" sz="1800" dirty="0">
                <a:solidFill>
                  <a:schemeClr val="tx1"/>
                </a:solidFill>
              </a:rPr>
              <a:t>Solución</a:t>
            </a:r>
            <a:endParaRPr lang="en-US" sz="1800" dirty="0"/>
          </a:p>
        </p:txBody>
      </p:sp>
      <p:sp>
        <p:nvSpPr>
          <p:cNvPr id="18" name="Tarjeta"/>
          <p:cNvSpPr/>
          <p:nvPr/>
        </p:nvSpPr>
        <p:spPr>
          <a:xfrm>
            <a:off x="548640" y="4105656"/>
            <a:ext cx="5410048" cy="585216"/>
          </a:xfrm>
          <a:prstGeom prst="roundRect">
            <a:avLst>
              <a:gd name="adj" fmla="val 23438"/>
            </a:avLst>
          </a:prstGeom>
          <a:solidFill>
            <a:schemeClr val="bg2"/>
          </a:solidFill>
          <a:ln/>
        </p:spPr>
      </p:sp>
      <p:sp>
        <p:nvSpPr>
          <p:cNvPr id="19" name="Apartado 4"/>
          <p:cNvSpPr/>
          <p:nvPr/>
        </p:nvSpPr>
        <p:spPr>
          <a:xfrm>
            <a:off x="685800" y="4197096"/>
            <a:ext cx="402336" cy="402336"/>
          </a:xfrm>
          <a:prstGeom prst="ellipse">
            <a:avLst/>
          </a:prstGeom>
          <a:solidFill>
            <a:schemeClr val="accent1"/>
          </a:solidFill>
          <a:ln/>
        </p:spPr>
      </p:sp>
      <p:sp>
        <p:nvSpPr>
          <p:cNvPr id="20" name="Text 18"/>
          <p:cNvSpPr txBox="1"/>
          <p:nvPr/>
        </p:nvSpPr>
        <p:spPr>
          <a:xfrm>
            <a:off x="685800" y="4197096"/>
            <a:ext cx="402336" cy="402336"/>
          </a:xfrm>
          <a:prstGeom prst="rect">
            <a:avLst/>
          </a:prstGeom>
          <a:no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21" name="Text 19"/>
          <p:cNvSpPr txBox="1"/>
          <p:nvPr/>
        </p:nvSpPr>
        <p:spPr>
          <a:xfrm>
            <a:off x="1280160" y="4105656"/>
            <a:ext cx="4495648" cy="585216"/>
          </a:xfrm>
          <a:prstGeom prst="rect">
            <a:avLst/>
          </a:prstGeom>
          <a:noFill/>
          <a:ln/>
        </p:spPr>
        <p:txBody>
          <a:bodyPr wrap="square" lIns="0" tIns="0" rIns="0" bIns="0" rtlCol="0" anchor="ctr"/>
          <a:lstStyle/>
          <a:p>
            <a:pPr marL="0" indent="0">
              <a:buNone/>
            </a:pPr>
            <a:r>
              <a:rPr lang="en-US" sz="1800" dirty="0">
                <a:solidFill>
                  <a:schemeClr val="tx1"/>
                </a:solidFill>
              </a:rPr>
              <a:t>Beneficios esperados</a:t>
            </a:r>
            <a:endParaRPr lang="en-US" sz="1800" dirty="0"/>
          </a:p>
        </p:txBody>
      </p:sp>
      <p:sp>
        <p:nvSpPr>
          <p:cNvPr id="22" name="Tarjeta"/>
          <p:cNvSpPr/>
          <p:nvPr/>
        </p:nvSpPr>
        <p:spPr>
          <a:xfrm>
            <a:off x="6233008" y="1965960"/>
            <a:ext cx="5410048" cy="585216"/>
          </a:xfrm>
          <a:prstGeom prst="roundRect">
            <a:avLst>
              <a:gd name="adj" fmla="val 23438"/>
            </a:avLst>
          </a:prstGeom>
          <a:solidFill>
            <a:schemeClr val="bg2"/>
          </a:solidFill>
          <a:ln/>
        </p:spPr>
      </p:sp>
      <p:sp>
        <p:nvSpPr>
          <p:cNvPr id="23" name="Apartado 5"/>
          <p:cNvSpPr/>
          <p:nvPr/>
        </p:nvSpPr>
        <p:spPr>
          <a:xfrm>
            <a:off x="6370168" y="2057400"/>
            <a:ext cx="402336" cy="402336"/>
          </a:xfrm>
          <a:prstGeom prst="ellipse">
            <a:avLst/>
          </a:prstGeom>
          <a:solidFill>
            <a:schemeClr val="accent1"/>
          </a:solidFill>
          <a:ln/>
        </p:spPr>
      </p:sp>
      <p:sp>
        <p:nvSpPr>
          <p:cNvPr id="24" name="Text 22"/>
          <p:cNvSpPr txBox="1"/>
          <p:nvPr/>
        </p:nvSpPr>
        <p:spPr>
          <a:xfrm>
            <a:off x="6370168" y="2057400"/>
            <a:ext cx="402336" cy="402336"/>
          </a:xfrm>
          <a:prstGeom prst="rect">
            <a:avLst/>
          </a:prstGeom>
          <a:noFill/>
          <a:ln/>
        </p:spPr>
        <p:txBody>
          <a:bodyPr wrap="square" lIns="0" tIns="0" rIns="0" bIns="0" rtlCol="0" anchor="ctr"/>
          <a:lstStyle/>
          <a:p>
            <a:pPr marL="0" indent="0" algn="ctr">
              <a:buNone/>
            </a:pPr>
            <a:r>
              <a:rPr lang="en-US" sz="1500" b="1" dirty="0">
                <a:solidFill>
                  <a:schemeClr val="tx1"/>
                </a:solidFill>
              </a:rPr>
              <a:t>5</a:t>
            </a:r>
            <a:endParaRPr lang="en-US" sz="1500" dirty="0"/>
          </a:p>
        </p:txBody>
      </p:sp>
      <p:sp>
        <p:nvSpPr>
          <p:cNvPr id="25" name="Text 23"/>
          <p:cNvSpPr txBox="1"/>
          <p:nvPr/>
        </p:nvSpPr>
        <p:spPr>
          <a:xfrm>
            <a:off x="6964528" y="1965960"/>
            <a:ext cx="4495648" cy="585216"/>
          </a:xfrm>
          <a:prstGeom prst="rect">
            <a:avLst/>
          </a:prstGeom>
          <a:noFill/>
          <a:ln/>
        </p:spPr>
        <p:txBody>
          <a:bodyPr wrap="square" lIns="0" tIns="0" rIns="0" bIns="0" rtlCol="0" anchor="ctr"/>
          <a:lstStyle/>
          <a:p>
            <a:pPr marL="0" indent="0">
              <a:buNone/>
            </a:pPr>
            <a:r>
              <a:rPr lang="en-US" sz="1800" dirty="0">
                <a:solidFill>
                  <a:schemeClr val="tx1"/>
                </a:solidFill>
              </a:rPr>
              <a:t>Recursos</a:t>
            </a:r>
            <a:endParaRPr lang="en-US" sz="1800" dirty="0"/>
          </a:p>
        </p:txBody>
      </p:sp>
      <p:sp>
        <p:nvSpPr>
          <p:cNvPr id="26" name="Tarjeta"/>
          <p:cNvSpPr/>
          <p:nvPr/>
        </p:nvSpPr>
        <p:spPr>
          <a:xfrm>
            <a:off x="6233008" y="2679192"/>
            <a:ext cx="5410048" cy="585216"/>
          </a:xfrm>
          <a:prstGeom prst="roundRect">
            <a:avLst>
              <a:gd name="adj" fmla="val 23438"/>
            </a:avLst>
          </a:prstGeom>
          <a:solidFill>
            <a:schemeClr val="bg2"/>
          </a:solidFill>
          <a:ln/>
        </p:spPr>
      </p:sp>
      <p:sp>
        <p:nvSpPr>
          <p:cNvPr id="27" name="Apartado 6"/>
          <p:cNvSpPr/>
          <p:nvPr/>
        </p:nvSpPr>
        <p:spPr>
          <a:xfrm>
            <a:off x="6370168" y="2770632"/>
            <a:ext cx="402336" cy="402336"/>
          </a:xfrm>
          <a:prstGeom prst="ellipse">
            <a:avLst/>
          </a:prstGeom>
          <a:solidFill>
            <a:schemeClr val="accent1"/>
          </a:solidFill>
          <a:ln/>
        </p:spPr>
      </p:sp>
      <p:sp>
        <p:nvSpPr>
          <p:cNvPr id="28" name="Text 26"/>
          <p:cNvSpPr txBox="1"/>
          <p:nvPr/>
        </p:nvSpPr>
        <p:spPr>
          <a:xfrm>
            <a:off x="6370168" y="2770632"/>
            <a:ext cx="402336" cy="402336"/>
          </a:xfrm>
          <a:prstGeom prst="rect">
            <a:avLst/>
          </a:prstGeom>
          <a:noFill/>
          <a:ln/>
        </p:spPr>
        <p:txBody>
          <a:bodyPr wrap="square" lIns="0" tIns="0" rIns="0" bIns="0" rtlCol="0" anchor="ctr"/>
          <a:lstStyle/>
          <a:p>
            <a:pPr marL="0" indent="0" algn="ctr">
              <a:buNone/>
            </a:pPr>
            <a:r>
              <a:rPr lang="en-US" sz="1500" b="1" dirty="0">
                <a:solidFill>
                  <a:schemeClr val="tx1"/>
                </a:solidFill>
              </a:rPr>
              <a:t>6</a:t>
            </a:r>
            <a:endParaRPr lang="en-US" sz="1500" dirty="0"/>
          </a:p>
        </p:txBody>
      </p:sp>
      <p:sp>
        <p:nvSpPr>
          <p:cNvPr id="29" name="Text 27"/>
          <p:cNvSpPr txBox="1"/>
          <p:nvPr/>
        </p:nvSpPr>
        <p:spPr>
          <a:xfrm>
            <a:off x="6964528" y="2679192"/>
            <a:ext cx="4495648" cy="585216"/>
          </a:xfrm>
          <a:prstGeom prst="rect">
            <a:avLst/>
          </a:prstGeom>
          <a:noFill/>
          <a:ln/>
        </p:spPr>
        <p:txBody>
          <a:bodyPr wrap="square" lIns="0" tIns="0" rIns="0" bIns="0" rtlCol="0" anchor="ctr"/>
          <a:lstStyle/>
          <a:p>
            <a:pPr marL="0" indent="0">
              <a:buNone/>
            </a:pPr>
            <a:r>
              <a:rPr lang="en-US" sz="1800" dirty="0">
                <a:solidFill>
                  <a:schemeClr val="tx1"/>
                </a:solidFill>
              </a:rPr>
              <a:t>Riesgos</a:t>
            </a:r>
            <a:endParaRPr lang="en-US" sz="1800" dirty="0"/>
          </a:p>
        </p:txBody>
      </p:sp>
      <p:sp>
        <p:nvSpPr>
          <p:cNvPr id="30" name="Tarjeta"/>
          <p:cNvSpPr/>
          <p:nvPr/>
        </p:nvSpPr>
        <p:spPr>
          <a:xfrm>
            <a:off x="6233008" y="3392424"/>
            <a:ext cx="5410048" cy="585216"/>
          </a:xfrm>
          <a:prstGeom prst="roundRect">
            <a:avLst>
              <a:gd name="adj" fmla="val 23438"/>
            </a:avLst>
          </a:prstGeom>
          <a:solidFill>
            <a:schemeClr val="bg2"/>
          </a:solidFill>
          <a:ln/>
        </p:spPr>
      </p:sp>
      <p:sp>
        <p:nvSpPr>
          <p:cNvPr id="31" name="Apartado 7"/>
          <p:cNvSpPr/>
          <p:nvPr/>
        </p:nvSpPr>
        <p:spPr>
          <a:xfrm>
            <a:off x="6370168" y="3483864"/>
            <a:ext cx="402336" cy="402336"/>
          </a:xfrm>
          <a:prstGeom prst="ellipse">
            <a:avLst/>
          </a:prstGeom>
          <a:solidFill>
            <a:schemeClr val="accent1"/>
          </a:solidFill>
          <a:ln/>
        </p:spPr>
      </p:sp>
      <p:sp>
        <p:nvSpPr>
          <p:cNvPr id="32" name="Text 30"/>
          <p:cNvSpPr txBox="1"/>
          <p:nvPr/>
        </p:nvSpPr>
        <p:spPr>
          <a:xfrm>
            <a:off x="6370168" y="3483864"/>
            <a:ext cx="402336" cy="402336"/>
          </a:xfrm>
          <a:prstGeom prst="rect">
            <a:avLst/>
          </a:prstGeom>
          <a:noFill/>
          <a:ln/>
        </p:spPr>
        <p:txBody>
          <a:bodyPr wrap="square" lIns="0" tIns="0" rIns="0" bIns="0" rtlCol="0" anchor="ctr"/>
          <a:lstStyle/>
          <a:p>
            <a:pPr marL="0" indent="0" algn="ctr">
              <a:buNone/>
            </a:pPr>
            <a:r>
              <a:rPr lang="en-US" sz="1500" b="1" dirty="0">
                <a:solidFill>
                  <a:schemeClr val="tx1"/>
                </a:solidFill>
              </a:rPr>
              <a:t>7</a:t>
            </a:r>
            <a:endParaRPr lang="en-US" sz="1500" dirty="0"/>
          </a:p>
        </p:txBody>
      </p:sp>
      <p:sp>
        <p:nvSpPr>
          <p:cNvPr id="33" name="Text 31"/>
          <p:cNvSpPr txBox="1"/>
          <p:nvPr/>
        </p:nvSpPr>
        <p:spPr>
          <a:xfrm>
            <a:off x="6964528" y="3392424"/>
            <a:ext cx="4495648" cy="585216"/>
          </a:xfrm>
          <a:prstGeom prst="rect">
            <a:avLst/>
          </a:prstGeom>
          <a:noFill/>
          <a:ln/>
        </p:spPr>
        <p:txBody>
          <a:bodyPr wrap="square" lIns="0" tIns="0" rIns="0" bIns="0" rtlCol="0" anchor="ctr"/>
          <a:lstStyle/>
          <a:p>
            <a:pPr marL="0" indent="0">
              <a:buNone/>
            </a:pPr>
            <a:r>
              <a:rPr lang="en-US" sz="1800" dirty="0">
                <a:solidFill>
                  <a:schemeClr val="tx1"/>
                </a:solidFill>
              </a:rPr>
              <a:t>Tres pasos para ponerla en práctica</a:t>
            </a:r>
            <a:endParaRPr lang="en-US" sz="1800" dirty="0"/>
          </a:p>
        </p:txBody>
      </p:sp>
      <p:sp>
        <p:nvSpPr>
          <p:cNvPr id="34" name="Revisión"/>
          <p:cNvSpPr/>
          <p:nvPr/>
        </p:nvSpPr>
        <p:spPr>
          <a:xfrm>
            <a:off x="6233008" y="4105656"/>
            <a:ext cx="5410048" cy="585216"/>
          </a:xfrm>
          <a:prstGeom prst="roundRect">
            <a:avLst>
              <a:gd name="adj" fmla="val 23438"/>
            </a:avLst>
          </a:prstGeom>
          <a:solidFill>
            <a:schemeClr val="accent2"/>
          </a:solidFill>
          <a:ln/>
        </p:spPr>
      </p:sp>
      <p:sp>
        <p:nvSpPr>
          <p:cNvPr id="35" name="Text 33"/>
          <p:cNvSpPr txBox="1"/>
          <p:nvPr/>
        </p:nvSpPr>
        <p:spPr>
          <a:xfrm>
            <a:off x="6461608" y="4105656"/>
            <a:ext cx="4952848" cy="585216"/>
          </a:xfrm>
          <a:prstGeom prst="rect">
            <a:avLst/>
          </a:prstGeom>
          <a:noFill/>
          <a:ln/>
        </p:spPr>
        <p:txBody>
          <a:bodyPr wrap="square" lIns="0" tIns="0" rIns="0" bIns="0" rtlCol="0" anchor="ctr"/>
          <a:lstStyle/>
          <a:p>
            <a:pPr marL="0" indent="0">
              <a:buNone/>
            </a:pPr>
            <a:r>
              <a:rPr lang="en-US" sz="1600" b="1" dirty="0">
                <a:solidFill>
                  <a:schemeClr val="bg1"/>
                </a:solidFill>
              </a:rPr>
              <a:t>La IA ayuda a redactar; vosotros revisáis:</a:t>
            </a:r>
            <a:endParaRPr lang="en-US" sz="1600" dirty="0"/>
          </a:p>
        </p:txBody>
      </p:sp>
      <p:sp>
        <p:nvSpPr>
          <p:cNvPr id="36" name="¿Qué sobra?"/>
          <p:cNvSpPr/>
          <p:nvPr/>
        </p:nvSpPr>
        <p:spPr>
          <a:xfrm>
            <a:off x="548640" y="4983480"/>
            <a:ext cx="640080" cy="640080"/>
          </a:xfrm>
          <a:prstGeom prst="ellipse">
            <a:avLst/>
          </a:prstGeom>
          <a:solidFill>
            <a:schemeClr val="accent2"/>
          </a:solidFill>
          <a:ln/>
        </p:spPr>
      </p:sp>
      <p:pic>
        <p:nvPicPr>
          <p:cNvPr id="37" name="Image 0" descr="¿Qué sobra?"/>
          <p:cNvPicPr>
            <a:picLocks noChangeAspect="1"/>
          </p:cNvPicPr>
          <p:nvPr/>
        </p:nvPicPr>
        <p:blipFill>
          <a:blip r:embed="rId3"/>
          <a:stretch>
            <a:fillRect/>
          </a:stretch>
        </p:blipFill>
        <p:spPr>
          <a:xfrm>
            <a:off x="702259" y="5137099"/>
            <a:ext cx="332842" cy="332842"/>
          </a:xfrm>
          <a:prstGeom prst="rect">
            <a:avLst/>
          </a:prstGeom>
        </p:spPr>
      </p:pic>
      <p:sp>
        <p:nvSpPr>
          <p:cNvPr id="38" name="Text 35"/>
          <p:cNvSpPr txBox="1"/>
          <p:nvPr/>
        </p:nvSpPr>
        <p:spPr>
          <a:xfrm>
            <a:off x="1371600" y="4983480"/>
            <a:ext cx="2600858" cy="640080"/>
          </a:xfrm>
          <a:prstGeom prst="rect">
            <a:avLst/>
          </a:prstGeom>
          <a:noFill/>
          <a:ln/>
        </p:spPr>
        <p:txBody>
          <a:bodyPr wrap="square" lIns="0" tIns="0" rIns="0" bIns="0" rtlCol="0" anchor="ctr"/>
          <a:lstStyle/>
          <a:p>
            <a:pPr marL="0" indent="0">
              <a:buNone/>
            </a:pPr>
            <a:r>
              <a:rPr lang="en-US" sz="1900" b="1" dirty="0">
                <a:solidFill>
                  <a:schemeClr val="tx1"/>
                </a:solidFill>
              </a:rPr>
              <a:t>¿Qué sobra?</a:t>
            </a:r>
            <a:endParaRPr lang="en-US" sz="1900" dirty="0"/>
          </a:p>
        </p:txBody>
      </p:sp>
      <p:sp>
        <p:nvSpPr>
          <p:cNvPr id="39" name="¿Qué falta?"/>
          <p:cNvSpPr/>
          <p:nvPr/>
        </p:nvSpPr>
        <p:spPr>
          <a:xfrm>
            <a:off x="4338218" y="4983480"/>
            <a:ext cx="640080" cy="640080"/>
          </a:xfrm>
          <a:prstGeom prst="ellipse">
            <a:avLst/>
          </a:prstGeom>
          <a:solidFill>
            <a:schemeClr val="accent2"/>
          </a:solidFill>
          <a:ln/>
        </p:spPr>
      </p:sp>
      <p:pic>
        <p:nvPicPr>
          <p:cNvPr id="40" name="Image 1" descr="¿Qué falta?"/>
          <p:cNvPicPr>
            <a:picLocks noChangeAspect="1"/>
          </p:cNvPicPr>
          <p:nvPr/>
        </p:nvPicPr>
        <p:blipFill>
          <a:blip r:embed="rId4"/>
          <a:stretch>
            <a:fillRect/>
          </a:stretch>
        </p:blipFill>
        <p:spPr>
          <a:xfrm>
            <a:off x="4491838" y="5137099"/>
            <a:ext cx="332842" cy="332842"/>
          </a:xfrm>
          <a:prstGeom prst="rect">
            <a:avLst/>
          </a:prstGeom>
        </p:spPr>
      </p:pic>
      <p:sp>
        <p:nvSpPr>
          <p:cNvPr id="41" name="Text 37"/>
          <p:cNvSpPr txBox="1"/>
          <p:nvPr/>
        </p:nvSpPr>
        <p:spPr>
          <a:xfrm>
            <a:off x="5161178" y="4983480"/>
            <a:ext cx="2600858" cy="640080"/>
          </a:xfrm>
          <a:prstGeom prst="rect">
            <a:avLst/>
          </a:prstGeom>
          <a:noFill/>
          <a:ln/>
        </p:spPr>
        <p:txBody>
          <a:bodyPr wrap="square" lIns="0" tIns="0" rIns="0" bIns="0" rtlCol="0" anchor="ctr"/>
          <a:lstStyle/>
          <a:p>
            <a:pPr marL="0" indent="0">
              <a:buNone/>
            </a:pPr>
            <a:r>
              <a:rPr lang="en-US" sz="1900" b="1" dirty="0">
                <a:solidFill>
                  <a:schemeClr val="tx1"/>
                </a:solidFill>
              </a:rPr>
              <a:t>¿Qué falta?</a:t>
            </a:r>
            <a:endParaRPr lang="en-US" sz="1900" dirty="0"/>
          </a:p>
        </p:txBody>
      </p:sp>
      <p:sp>
        <p:nvSpPr>
          <p:cNvPr id="42" name="¿Qué no es cierto?"/>
          <p:cNvSpPr/>
          <p:nvPr/>
        </p:nvSpPr>
        <p:spPr>
          <a:xfrm>
            <a:off x="8127797" y="4983480"/>
            <a:ext cx="640080" cy="640080"/>
          </a:xfrm>
          <a:prstGeom prst="ellipse">
            <a:avLst/>
          </a:prstGeom>
          <a:solidFill>
            <a:schemeClr val="accent2"/>
          </a:solidFill>
          <a:ln/>
        </p:spPr>
      </p:sp>
      <p:pic>
        <p:nvPicPr>
          <p:cNvPr id="43" name="Image 2" descr="¿Qué no es cierto?"/>
          <p:cNvPicPr>
            <a:picLocks noChangeAspect="1"/>
          </p:cNvPicPr>
          <p:nvPr/>
        </p:nvPicPr>
        <p:blipFill>
          <a:blip r:embed="rId5"/>
          <a:stretch>
            <a:fillRect/>
          </a:stretch>
        </p:blipFill>
        <p:spPr>
          <a:xfrm>
            <a:off x="8281416" y="5137099"/>
            <a:ext cx="332842" cy="332842"/>
          </a:xfrm>
          <a:prstGeom prst="rect">
            <a:avLst/>
          </a:prstGeom>
        </p:spPr>
      </p:pic>
      <p:sp>
        <p:nvSpPr>
          <p:cNvPr id="44" name="Text 39"/>
          <p:cNvSpPr txBox="1"/>
          <p:nvPr/>
        </p:nvSpPr>
        <p:spPr>
          <a:xfrm>
            <a:off x="8950757" y="4983480"/>
            <a:ext cx="2600858" cy="640080"/>
          </a:xfrm>
          <a:prstGeom prst="rect">
            <a:avLst/>
          </a:prstGeom>
          <a:noFill/>
          <a:ln/>
        </p:spPr>
        <p:txBody>
          <a:bodyPr wrap="square" lIns="0" tIns="0" rIns="0" bIns="0" rtlCol="0" anchor="ctr"/>
          <a:lstStyle/>
          <a:p>
            <a:pPr marL="0" indent="0">
              <a:buNone/>
            </a:pPr>
            <a:r>
              <a:rPr lang="en-US" sz="1900" b="1" dirty="0">
                <a:solidFill>
                  <a:schemeClr val="tx1"/>
                </a:solidFill>
              </a:rPr>
              <a:t>¿Qué no es cierto?</a:t>
            </a:r>
            <a:endParaRPr lang="en-US" sz="1900" dirty="0"/>
          </a:p>
        </p:txBody>
      </p:sp>
      <p:sp>
        <p:nvSpPr>
          <p:cNvPr id="4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85</a:t>
            </a:fld>
            <a:endParaRPr lang="en-US"/>
          </a:p>
        </p:txBody>
      </p:sp>
      <p:sp>
        <p:nvSpPr>
          <p:cNvPr id="46" name="Dónde escribir"/>
          <p:cNvSpPr/>
          <p:nvPr/>
        </p:nvSpPr>
        <p:spPr>
          <a:xfrm>
            <a:off x="5565038" y="6291072"/>
            <a:ext cx="5362041"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documento_proyecto.docx</a:t>
            </a:r>
            <a:r>
              <a:rPr lang="es-ES" sz="1300" dirty="0">
                <a:solidFill>
                  <a:schemeClr val="tx1"/>
                </a:solidFill>
                <a:latin typeface="+mn-lt"/>
              </a:rPr>
              <a:t>  ›  apartados 1 a 7 · máximo dos páginas</a:t>
            </a:r>
          </a:p>
        </p:txBody>
      </p:sp>
      <p:sp>
        <p:nvSpPr>
          <p:cNvPr id="47" name="Dónde escribir: círculo"/>
          <p:cNvSpPr/>
          <p:nvPr/>
        </p:nvSpPr>
        <p:spPr>
          <a:xfrm>
            <a:off x="5619902" y="6336792"/>
            <a:ext cx="292608" cy="292608"/>
          </a:xfrm>
          <a:prstGeom prst="ellipse">
            <a:avLst/>
          </a:prstGeom>
          <a:solidFill>
            <a:schemeClr val="accent1"/>
          </a:solidFill>
          <a:ln>
            <a:noFill/>
          </a:ln>
        </p:spPr>
      </p:sp>
      <p:pic>
        <p:nvPicPr>
          <p:cNvPr id="48" name="Dónde escribir: lápiz" descr="Lápiz"/>
          <p:cNvPicPr>
            <a:picLocks noChangeAspect="1"/>
          </p:cNvPicPr>
          <p:nvPr/>
        </p:nvPicPr>
        <p:blipFill>
          <a:blip r:embed="rId6"/>
          <a:stretch>
            <a:fillRect/>
          </a:stretch>
        </p:blipFill>
        <p:spPr>
          <a:xfrm>
            <a:off x="5693054" y="6409944"/>
            <a:ext cx="146304" cy="146304"/>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Mientras redactáis, preguntaos…</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175–195 · Parejas</a:t>
            </a:r>
            <a:endParaRPr lang="en-US" sz="1400" dirty="0"/>
          </a:p>
        </p:txBody>
      </p:sp>
      <p:sp>
        <p:nvSpPr>
          <p:cNvPr id="5" name="Tarjeta"/>
          <p:cNvSpPr/>
          <p:nvPr/>
        </p:nvSpPr>
        <p:spPr>
          <a:xfrm>
            <a:off x="548640" y="1554480"/>
            <a:ext cx="3454298" cy="3749040"/>
          </a:xfrm>
          <a:prstGeom prst="roundRect">
            <a:avLst>
              <a:gd name="adj" fmla="val 3971"/>
            </a:avLst>
          </a:prstGeom>
          <a:solidFill>
            <a:schemeClr val="bg2"/>
          </a:solidFill>
          <a:ln/>
        </p:spPr>
      </p:sp>
      <p:sp>
        <p:nvSpPr>
          <p:cNvPr id="6" name="Pregunta"/>
          <p:cNvSpPr/>
          <p:nvPr/>
        </p:nvSpPr>
        <p:spPr>
          <a:xfrm>
            <a:off x="1681429" y="1920240"/>
            <a:ext cx="1188720" cy="1188720"/>
          </a:xfrm>
          <a:prstGeom prst="ellipse">
            <a:avLst/>
          </a:prstGeom>
          <a:solidFill>
            <a:schemeClr val="tx2"/>
          </a:solidFill>
          <a:ln/>
        </p:spPr>
      </p:sp>
      <p:pic>
        <p:nvPicPr>
          <p:cNvPr id="7" name="Image 0" descr="Pregunta"/>
          <p:cNvPicPr>
            <a:picLocks noChangeAspect="1"/>
          </p:cNvPicPr>
          <p:nvPr/>
        </p:nvPicPr>
        <p:blipFill>
          <a:blip r:embed="rId3"/>
          <a:stretch>
            <a:fillRect/>
          </a:stretch>
        </p:blipFill>
        <p:spPr>
          <a:xfrm>
            <a:off x="1966722" y="2205533"/>
            <a:ext cx="618134" cy="618134"/>
          </a:xfrm>
          <a:prstGeom prst="rect">
            <a:avLst/>
          </a:prstGeom>
        </p:spPr>
      </p:pic>
      <p:sp>
        <p:nvSpPr>
          <p:cNvPr id="8" name="Text 5"/>
          <p:cNvSpPr txBox="1"/>
          <p:nvPr/>
        </p:nvSpPr>
        <p:spPr>
          <a:xfrm>
            <a:off x="868680" y="3383280"/>
            <a:ext cx="2814218" cy="1737360"/>
          </a:xfrm>
          <a:prstGeom prst="rect">
            <a:avLst/>
          </a:prstGeom>
          <a:noFill/>
          <a:ln/>
        </p:spPr>
        <p:txBody>
          <a:bodyPr wrap="square" lIns="0" tIns="0" rIns="0" bIns="0" rtlCol="0" anchor="t"/>
          <a:lstStyle/>
          <a:p>
            <a:pPr marL="0" indent="0" algn="ctr">
              <a:buNone/>
            </a:pPr>
            <a:r>
              <a:rPr lang="en-US" sz="2100" dirty="0">
                <a:solidFill>
                  <a:schemeClr val="tx1"/>
                </a:solidFill>
              </a:rPr>
              <a:t>¿Habéis respondido a las preguntas que no supisteis contestar en el intercambio?</a:t>
            </a:r>
            <a:endParaRPr lang="en-US" sz="2100" dirty="0"/>
          </a:p>
        </p:txBody>
      </p:sp>
      <p:sp>
        <p:nvSpPr>
          <p:cNvPr id="9" name="Tarjeta"/>
          <p:cNvSpPr/>
          <p:nvPr/>
        </p:nvSpPr>
        <p:spPr>
          <a:xfrm>
            <a:off x="4368698" y="1554480"/>
            <a:ext cx="3454298" cy="3749040"/>
          </a:xfrm>
          <a:prstGeom prst="roundRect">
            <a:avLst>
              <a:gd name="adj" fmla="val 3971"/>
            </a:avLst>
          </a:prstGeom>
          <a:solidFill>
            <a:schemeClr val="bg2"/>
          </a:solidFill>
          <a:ln/>
        </p:spPr>
      </p:sp>
      <p:sp>
        <p:nvSpPr>
          <p:cNvPr id="10" name="Pregunta"/>
          <p:cNvSpPr/>
          <p:nvPr/>
        </p:nvSpPr>
        <p:spPr>
          <a:xfrm>
            <a:off x="5501488" y="1920240"/>
            <a:ext cx="1188720" cy="1188720"/>
          </a:xfrm>
          <a:prstGeom prst="ellipse">
            <a:avLst/>
          </a:prstGeom>
          <a:solidFill>
            <a:schemeClr val="tx2"/>
          </a:solidFill>
          <a:ln/>
        </p:spPr>
      </p:sp>
      <p:pic>
        <p:nvPicPr>
          <p:cNvPr id="11" name="Image 1" descr="Pregunta"/>
          <p:cNvPicPr>
            <a:picLocks noChangeAspect="1"/>
          </p:cNvPicPr>
          <p:nvPr/>
        </p:nvPicPr>
        <p:blipFill>
          <a:blip r:embed="rId4"/>
          <a:stretch>
            <a:fillRect/>
          </a:stretch>
        </p:blipFill>
        <p:spPr>
          <a:xfrm>
            <a:off x="5786780" y="2205533"/>
            <a:ext cx="618134" cy="618134"/>
          </a:xfrm>
          <a:prstGeom prst="rect">
            <a:avLst/>
          </a:prstGeom>
        </p:spPr>
      </p:pic>
      <p:sp>
        <p:nvSpPr>
          <p:cNvPr id="12" name="Text 8"/>
          <p:cNvSpPr txBox="1"/>
          <p:nvPr/>
        </p:nvSpPr>
        <p:spPr>
          <a:xfrm>
            <a:off x="4688738" y="3383280"/>
            <a:ext cx="2814218" cy="1737360"/>
          </a:xfrm>
          <a:prstGeom prst="rect">
            <a:avLst/>
          </a:prstGeom>
          <a:noFill/>
          <a:ln/>
        </p:spPr>
        <p:txBody>
          <a:bodyPr wrap="square" lIns="0" tIns="0" rIns="0" bIns="0" rtlCol="0" anchor="t"/>
          <a:lstStyle/>
          <a:p>
            <a:pPr marL="0" indent="0" algn="ctr">
              <a:buNone/>
            </a:pPr>
            <a:r>
              <a:rPr lang="en-US" sz="2100" dirty="0">
                <a:solidFill>
                  <a:schemeClr val="tx1"/>
                </a:solidFill>
              </a:rPr>
              <a:t>¿Qué actividades requieren supervisión humana?</a:t>
            </a:r>
            <a:endParaRPr lang="en-US" sz="2100" dirty="0"/>
          </a:p>
        </p:txBody>
      </p:sp>
      <p:sp>
        <p:nvSpPr>
          <p:cNvPr id="13" name="Tarjeta"/>
          <p:cNvSpPr/>
          <p:nvPr/>
        </p:nvSpPr>
        <p:spPr>
          <a:xfrm>
            <a:off x="8188757" y="1554480"/>
            <a:ext cx="3454298" cy="3749040"/>
          </a:xfrm>
          <a:prstGeom prst="roundRect">
            <a:avLst>
              <a:gd name="adj" fmla="val 3971"/>
            </a:avLst>
          </a:prstGeom>
          <a:solidFill>
            <a:schemeClr val="bg2"/>
          </a:solidFill>
          <a:ln/>
        </p:spPr>
      </p:sp>
      <p:sp>
        <p:nvSpPr>
          <p:cNvPr id="14" name="Pregunta"/>
          <p:cNvSpPr/>
          <p:nvPr/>
        </p:nvSpPr>
        <p:spPr>
          <a:xfrm>
            <a:off x="9321546" y="1920240"/>
            <a:ext cx="1188720" cy="1188720"/>
          </a:xfrm>
          <a:prstGeom prst="ellipse">
            <a:avLst/>
          </a:prstGeom>
          <a:solidFill>
            <a:schemeClr val="tx2"/>
          </a:solidFill>
          <a:ln/>
        </p:spPr>
      </p:sp>
      <p:pic>
        <p:nvPicPr>
          <p:cNvPr id="15" name="Image 2" descr="Pregunta"/>
          <p:cNvPicPr>
            <a:picLocks noChangeAspect="1"/>
          </p:cNvPicPr>
          <p:nvPr/>
        </p:nvPicPr>
        <p:blipFill>
          <a:blip r:embed="rId5"/>
          <a:stretch>
            <a:fillRect/>
          </a:stretch>
        </p:blipFill>
        <p:spPr>
          <a:xfrm>
            <a:off x="9606839" y="2205533"/>
            <a:ext cx="618134" cy="618134"/>
          </a:xfrm>
          <a:prstGeom prst="rect">
            <a:avLst/>
          </a:prstGeom>
        </p:spPr>
      </p:pic>
      <p:sp>
        <p:nvSpPr>
          <p:cNvPr id="16" name="Text 11"/>
          <p:cNvSpPr txBox="1"/>
          <p:nvPr/>
        </p:nvSpPr>
        <p:spPr>
          <a:xfrm>
            <a:off x="8508797" y="3383280"/>
            <a:ext cx="2814218" cy="1737360"/>
          </a:xfrm>
          <a:prstGeom prst="rect">
            <a:avLst/>
          </a:prstGeom>
          <a:noFill/>
          <a:ln/>
        </p:spPr>
        <p:txBody>
          <a:bodyPr wrap="square" lIns="0" tIns="0" rIns="0" bIns="0" rtlCol="0" anchor="t"/>
          <a:lstStyle/>
          <a:p>
            <a:pPr marL="0" indent="0" algn="ctr">
              <a:buNone/>
            </a:pPr>
            <a:r>
              <a:rPr lang="en-US" sz="2100" dirty="0">
                <a:solidFill>
                  <a:schemeClr val="tx1"/>
                </a:solidFill>
              </a:rPr>
              <a:t>¿Qué datos no deberíamos introducir en una IA pública?</a:t>
            </a:r>
            <a:endParaRPr lang="en-US" sz="2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¿Cómo sabremos si funciona?</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195–210 · Parejas</a:t>
            </a:r>
            <a:endParaRPr lang="en-US" sz="1400" dirty="0"/>
          </a:p>
        </p:txBody>
      </p:sp>
      <p:sp>
        <p:nvSpPr>
          <p:cNvPr id="5" name="Text 3"/>
          <p:cNvSpPr txBox="1"/>
          <p:nvPr/>
        </p:nvSpPr>
        <p:spPr>
          <a:xfrm>
            <a:off x="548640" y="1325880"/>
            <a:ext cx="11094415" cy="548640"/>
          </a:xfrm>
          <a:prstGeom prst="rect">
            <a:avLst/>
          </a:prstGeom>
          <a:noFill/>
          <a:ln/>
        </p:spPr>
        <p:txBody>
          <a:bodyPr wrap="square" lIns="0" tIns="0" rIns="0" bIns="0" rtlCol="0" anchor="ctr"/>
          <a:lstStyle/>
          <a:p>
            <a:pPr marL="0" indent="0">
              <a:buNone/>
            </a:pPr>
            <a:r>
              <a:rPr lang="en-US" sz="1900" dirty="0">
                <a:solidFill>
                  <a:schemeClr val="tx2"/>
                </a:solidFill>
              </a:rPr>
              <a:t>Dos indicadores medibles, y cómo se recogerían los datos antes y después de una prueba de un mes. Por ejemplo:</a:t>
            </a:r>
            <a:endParaRPr lang="en-US" sz="1900" dirty="0"/>
          </a:p>
        </p:txBody>
      </p:sp>
      <p:sp>
        <p:nvSpPr>
          <p:cNvPr id="6" name="Tarjeta"/>
          <p:cNvSpPr/>
          <p:nvPr/>
        </p:nvSpPr>
        <p:spPr>
          <a:xfrm>
            <a:off x="548640" y="2103120"/>
            <a:ext cx="2464994" cy="2468880"/>
          </a:xfrm>
          <a:prstGeom prst="roundRect">
            <a:avLst>
              <a:gd name="adj" fmla="val 5564"/>
            </a:avLst>
          </a:prstGeom>
          <a:solidFill>
            <a:schemeClr val="bg2"/>
          </a:solidFill>
          <a:ln/>
        </p:spPr>
      </p:sp>
      <p:sp>
        <p:nvSpPr>
          <p:cNvPr id="7" name="Qué medimos"/>
          <p:cNvSpPr/>
          <p:nvPr/>
        </p:nvSpPr>
        <p:spPr>
          <a:xfrm>
            <a:off x="822960" y="2331720"/>
            <a:ext cx="777240" cy="777240"/>
          </a:xfrm>
          <a:prstGeom prst="ellipse">
            <a:avLst/>
          </a:prstGeom>
          <a:solidFill>
            <a:schemeClr val="accent1"/>
          </a:solidFill>
          <a:ln/>
        </p:spPr>
      </p:sp>
      <p:pic>
        <p:nvPicPr>
          <p:cNvPr id="8" name="Image 0" descr="Qué medimos"/>
          <p:cNvPicPr>
            <a:picLocks noChangeAspect="1"/>
          </p:cNvPicPr>
          <p:nvPr/>
        </p:nvPicPr>
        <p:blipFill>
          <a:blip r:embed="rId3"/>
          <a:stretch>
            <a:fillRect/>
          </a:stretch>
        </p:blipFill>
        <p:spPr>
          <a:xfrm>
            <a:off x="1009498" y="2518258"/>
            <a:ext cx="404165" cy="404165"/>
          </a:xfrm>
          <a:prstGeom prst="rect">
            <a:avLst/>
          </a:prstGeom>
        </p:spPr>
      </p:pic>
      <p:sp>
        <p:nvSpPr>
          <p:cNvPr id="9" name="Text 6"/>
          <p:cNvSpPr txBox="1"/>
          <p:nvPr/>
        </p:nvSpPr>
        <p:spPr>
          <a:xfrm>
            <a:off x="822960" y="3200400"/>
            <a:ext cx="1916354" cy="457200"/>
          </a:xfrm>
          <a:prstGeom prst="rect">
            <a:avLst/>
          </a:prstGeom>
          <a:noFill/>
          <a:ln/>
        </p:spPr>
        <p:txBody>
          <a:bodyPr wrap="square" lIns="0" tIns="0" rIns="0" bIns="0" rtlCol="0" anchor="ctr"/>
          <a:lstStyle/>
          <a:p>
            <a:pPr marL="0" indent="0">
              <a:buNone/>
            </a:pPr>
            <a:r>
              <a:rPr lang="en-US" sz="2000" b="1" dirty="0">
                <a:solidFill>
                  <a:schemeClr val="tx1"/>
                </a:solidFill>
              </a:rPr>
              <a:t>Qué medimos</a:t>
            </a:r>
            <a:endParaRPr lang="en-US" sz="2000" dirty="0"/>
          </a:p>
        </p:txBody>
      </p:sp>
      <p:sp>
        <p:nvSpPr>
          <p:cNvPr id="10" name="Text 7"/>
          <p:cNvSpPr txBox="1"/>
          <p:nvPr/>
        </p:nvSpPr>
        <p:spPr>
          <a:xfrm>
            <a:off x="822960" y="3657600"/>
            <a:ext cx="1916354" cy="868680"/>
          </a:xfrm>
          <a:prstGeom prst="rect">
            <a:avLst/>
          </a:prstGeom>
          <a:noFill/>
          <a:ln/>
        </p:spPr>
        <p:txBody>
          <a:bodyPr wrap="square" lIns="0" tIns="0" rIns="0" bIns="0" rtlCol="0" anchor="t"/>
          <a:lstStyle/>
          <a:p>
            <a:pPr marL="0" indent="0">
              <a:buNone/>
            </a:pPr>
            <a:r>
              <a:rPr lang="en-US" sz="1600" dirty="0">
                <a:solidFill>
                  <a:schemeClr val="tx1"/>
                </a:solidFill>
              </a:rPr>
              <a:t>Consultas que se quedan sin respuesta cada semana.</a:t>
            </a:r>
            <a:endParaRPr lang="en-US" sz="1600" dirty="0"/>
          </a:p>
        </p:txBody>
      </p:sp>
      <p:sp>
        <p:nvSpPr>
          <p:cNvPr id="11" name="Shape 8"/>
          <p:cNvSpPr/>
          <p:nvPr/>
        </p:nvSpPr>
        <p:spPr>
          <a:xfrm>
            <a:off x="3068498" y="3337560"/>
            <a:ext cx="301752" cy="0"/>
          </a:xfrm>
          <a:prstGeom prst="line">
            <a:avLst/>
          </a:prstGeom>
          <a:noFill/>
          <a:ln w="38100">
            <a:solidFill>
              <a:srgbClr val="3A4664"/>
            </a:solidFill>
            <a:prstDash val="solid"/>
            <a:tailEnd type="triangle"/>
          </a:ln>
        </p:spPr>
      </p:sp>
      <p:sp>
        <p:nvSpPr>
          <p:cNvPr id="12" name="Tarjeta"/>
          <p:cNvSpPr/>
          <p:nvPr/>
        </p:nvSpPr>
        <p:spPr>
          <a:xfrm>
            <a:off x="3425114" y="2103120"/>
            <a:ext cx="2464994" cy="2468880"/>
          </a:xfrm>
          <a:prstGeom prst="roundRect">
            <a:avLst>
              <a:gd name="adj" fmla="val 5564"/>
            </a:avLst>
          </a:prstGeom>
          <a:solidFill>
            <a:schemeClr val="bg2"/>
          </a:solidFill>
          <a:ln/>
        </p:spPr>
      </p:sp>
      <p:sp>
        <p:nvSpPr>
          <p:cNvPr id="13" name="Antes"/>
          <p:cNvSpPr/>
          <p:nvPr/>
        </p:nvSpPr>
        <p:spPr>
          <a:xfrm>
            <a:off x="3699434" y="2331720"/>
            <a:ext cx="777240" cy="777240"/>
          </a:xfrm>
          <a:prstGeom prst="ellipse">
            <a:avLst/>
          </a:prstGeom>
          <a:solidFill>
            <a:schemeClr val="accent1"/>
          </a:solidFill>
          <a:ln/>
        </p:spPr>
      </p:sp>
      <p:pic>
        <p:nvPicPr>
          <p:cNvPr id="14" name="Image 1" descr="Antes"/>
          <p:cNvPicPr>
            <a:picLocks noChangeAspect="1"/>
          </p:cNvPicPr>
          <p:nvPr/>
        </p:nvPicPr>
        <p:blipFill>
          <a:blip r:embed="rId4"/>
          <a:stretch>
            <a:fillRect/>
          </a:stretch>
        </p:blipFill>
        <p:spPr>
          <a:xfrm>
            <a:off x="3885971" y="2518258"/>
            <a:ext cx="404165" cy="404165"/>
          </a:xfrm>
          <a:prstGeom prst="rect">
            <a:avLst/>
          </a:prstGeom>
        </p:spPr>
      </p:pic>
      <p:sp>
        <p:nvSpPr>
          <p:cNvPr id="15" name="Text 11"/>
          <p:cNvSpPr txBox="1"/>
          <p:nvPr/>
        </p:nvSpPr>
        <p:spPr>
          <a:xfrm>
            <a:off x="3699434" y="3200400"/>
            <a:ext cx="1916354" cy="457200"/>
          </a:xfrm>
          <a:prstGeom prst="rect">
            <a:avLst/>
          </a:prstGeom>
          <a:noFill/>
          <a:ln/>
        </p:spPr>
        <p:txBody>
          <a:bodyPr wrap="square" lIns="0" tIns="0" rIns="0" bIns="0" rtlCol="0" anchor="ctr"/>
          <a:lstStyle/>
          <a:p>
            <a:pPr marL="0" indent="0">
              <a:buNone/>
            </a:pPr>
            <a:r>
              <a:rPr lang="en-US" sz="2000" b="1" dirty="0">
                <a:solidFill>
                  <a:schemeClr val="tx1"/>
                </a:solidFill>
              </a:rPr>
              <a:t>Antes</a:t>
            </a:r>
            <a:endParaRPr lang="en-US" sz="2000" dirty="0"/>
          </a:p>
        </p:txBody>
      </p:sp>
      <p:sp>
        <p:nvSpPr>
          <p:cNvPr id="16" name="Text 12"/>
          <p:cNvSpPr txBox="1"/>
          <p:nvPr/>
        </p:nvSpPr>
        <p:spPr>
          <a:xfrm>
            <a:off x="3699434" y="3657600"/>
            <a:ext cx="1916354" cy="868680"/>
          </a:xfrm>
          <a:prstGeom prst="rect">
            <a:avLst/>
          </a:prstGeom>
          <a:noFill/>
          <a:ln/>
        </p:spPr>
        <p:txBody>
          <a:bodyPr wrap="square" lIns="0" tIns="0" rIns="0" bIns="0" rtlCol="0" anchor="t"/>
          <a:lstStyle/>
          <a:p>
            <a:pPr marL="0" indent="0">
              <a:buNone/>
            </a:pPr>
            <a:r>
              <a:rPr lang="en-US" sz="1600" dirty="0">
                <a:solidFill>
                  <a:schemeClr val="tx1"/>
                </a:solidFill>
              </a:rPr>
              <a:t>Contarlas durante una semana, antes de empezar la prueba.</a:t>
            </a:r>
            <a:endParaRPr lang="en-US" sz="1600" dirty="0"/>
          </a:p>
        </p:txBody>
      </p:sp>
      <p:sp>
        <p:nvSpPr>
          <p:cNvPr id="17" name="Shape 13"/>
          <p:cNvSpPr/>
          <p:nvPr/>
        </p:nvSpPr>
        <p:spPr>
          <a:xfrm>
            <a:off x="5944972" y="3337560"/>
            <a:ext cx="301752" cy="0"/>
          </a:xfrm>
          <a:prstGeom prst="line">
            <a:avLst/>
          </a:prstGeom>
          <a:noFill/>
          <a:ln w="38100">
            <a:solidFill>
              <a:srgbClr val="3A4664"/>
            </a:solidFill>
            <a:prstDash val="solid"/>
            <a:tailEnd type="triangle"/>
          </a:ln>
        </p:spPr>
      </p:sp>
      <p:sp>
        <p:nvSpPr>
          <p:cNvPr id="18" name="Tarjeta"/>
          <p:cNvSpPr/>
          <p:nvPr/>
        </p:nvSpPr>
        <p:spPr>
          <a:xfrm>
            <a:off x="6301588" y="2103120"/>
            <a:ext cx="2464994" cy="2468880"/>
          </a:xfrm>
          <a:prstGeom prst="roundRect">
            <a:avLst>
              <a:gd name="adj" fmla="val 5564"/>
            </a:avLst>
          </a:prstGeom>
          <a:solidFill>
            <a:schemeClr val="bg2"/>
          </a:solidFill>
          <a:ln/>
        </p:spPr>
      </p:sp>
      <p:sp>
        <p:nvSpPr>
          <p:cNvPr id="19" name="Durante un mes"/>
          <p:cNvSpPr/>
          <p:nvPr/>
        </p:nvSpPr>
        <p:spPr>
          <a:xfrm>
            <a:off x="6575908" y="2331720"/>
            <a:ext cx="777240" cy="777240"/>
          </a:xfrm>
          <a:prstGeom prst="ellipse">
            <a:avLst/>
          </a:prstGeom>
          <a:solidFill>
            <a:schemeClr val="accent1"/>
          </a:solidFill>
          <a:ln/>
        </p:spPr>
      </p:sp>
      <p:pic>
        <p:nvPicPr>
          <p:cNvPr id="20" name="Image 2" descr="Durante un mes"/>
          <p:cNvPicPr>
            <a:picLocks noChangeAspect="1"/>
          </p:cNvPicPr>
          <p:nvPr/>
        </p:nvPicPr>
        <p:blipFill>
          <a:blip r:embed="rId5"/>
          <a:stretch>
            <a:fillRect/>
          </a:stretch>
        </p:blipFill>
        <p:spPr>
          <a:xfrm>
            <a:off x="6762445" y="2518258"/>
            <a:ext cx="404165" cy="404165"/>
          </a:xfrm>
          <a:prstGeom prst="rect">
            <a:avLst/>
          </a:prstGeom>
        </p:spPr>
      </p:pic>
      <p:sp>
        <p:nvSpPr>
          <p:cNvPr id="21" name="Text 16"/>
          <p:cNvSpPr txBox="1"/>
          <p:nvPr/>
        </p:nvSpPr>
        <p:spPr>
          <a:xfrm>
            <a:off x="6575908" y="3200400"/>
            <a:ext cx="1916354" cy="457200"/>
          </a:xfrm>
          <a:prstGeom prst="rect">
            <a:avLst/>
          </a:prstGeom>
          <a:noFill/>
          <a:ln/>
        </p:spPr>
        <p:txBody>
          <a:bodyPr wrap="square" lIns="0" tIns="0" rIns="0" bIns="0" rtlCol="0" anchor="ctr"/>
          <a:lstStyle/>
          <a:p>
            <a:pPr marL="0" indent="0">
              <a:buNone/>
            </a:pPr>
            <a:r>
              <a:rPr lang="en-US" sz="2000" b="1" dirty="0">
                <a:solidFill>
                  <a:schemeClr val="tx1"/>
                </a:solidFill>
              </a:rPr>
              <a:t>Durante un mes</a:t>
            </a:r>
            <a:endParaRPr lang="en-US" sz="2000" dirty="0"/>
          </a:p>
        </p:txBody>
      </p:sp>
      <p:sp>
        <p:nvSpPr>
          <p:cNvPr id="22" name="Text 17"/>
          <p:cNvSpPr txBox="1"/>
          <p:nvPr/>
        </p:nvSpPr>
        <p:spPr>
          <a:xfrm>
            <a:off x="6575908" y="3657600"/>
            <a:ext cx="1916354" cy="868680"/>
          </a:xfrm>
          <a:prstGeom prst="rect">
            <a:avLst/>
          </a:prstGeom>
          <a:noFill/>
          <a:ln/>
        </p:spPr>
        <p:txBody>
          <a:bodyPr wrap="square" lIns="0" tIns="0" rIns="0" bIns="0" rtlCol="0" anchor="t"/>
          <a:lstStyle/>
          <a:p>
            <a:pPr marL="0" indent="0">
              <a:buNone/>
            </a:pPr>
            <a:r>
              <a:rPr lang="en-US" sz="1600" dirty="0">
                <a:solidFill>
                  <a:schemeClr val="tx1"/>
                </a:solidFill>
              </a:rPr>
              <a:t>Se prueba la propuesta.</a:t>
            </a:r>
            <a:endParaRPr lang="en-US" sz="1600" dirty="0"/>
          </a:p>
        </p:txBody>
      </p:sp>
      <p:sp>
        <p:nvSpPr>
          <p:cNvPr id="23" name="Shape 18"/>
          <p:cNvSpPr/>
          <p:nvPr/>
        </p:nvSpPr>
        <p:spPr>
          <a:xfrm>
            <a:off x="8821445" y="3337560"/>
            <a:ext cx="301752" cy="0"/>
          </a:xfrm>
          <a:prstGeom prst="line">
            <a:avLst/>
          </a:prstGeom>
          <a:noFill/>
          <a:ln w="38100">
            <a:solidFill>
              <a:srgbClr val="3A4664"/>
            </a:solidFill>
            <a:prstDash val="solid"/>
            <a:tailEnd type="triangle"/>
          </a:ln>
        </p:spPr>
      </p:sp>
      <p:sp>
        <p:nvSpPr>
          <p:cNvPr id="24" name="Tarjeta"/>
          <p:cNvSpPr/>
          <p:nvPr/>
        </p:nvSpPr>
        <p:spPr>
          <a:xfrm>
            <a:off x="9178061" y="2103120"/>
            <a:ext cx="2464994" cy="2468880"/>
          </a:xfrm>
          <a:prstGeom prst="roundRect">
            <a:avLst>
              <a:gd name="adj" fmla="val 5564"/>
            </a:avLst>
          </a:prstGeom>
          <a:solidFill>
            <a:schemeClr val="bg2"/>
          </a:solidFill>
          <a:ln/>
        </p:spPr>
      </p:sp>
      <p:sp>
        <p:nvSpPr>
          <p:cNvPr id="25" name="Después"/>
          <p:cNvSpPr/>
          <p:nvPr/>
        </p:nvSpPr>
        <p:spPr>
          <a:xfrm>
            <a:off x="9452381" y="2331720"/>
            <a:ext cx="777240" cy="777240"/>
          </a:xfrm>
          <a:prstGeom prst="ellipse">
            <a:avLst/>
          </a:prstGeom>
          <a:solidFill>
            <a:schemeClr val="accent1"/>
          </a:solidFill>
          <a:ln/>
        </p:spPr>
      </p:sp>
      <p:pic>
        <p:nvPicPr>
          <p:cNvPr id="26" name="Image 3" descr="Después"/>
          <p:cNvPicPr>
            <a:picLocks noChangeAspect="1"/>
          </p:cNvPicPr>
          <p:nvPr/>
        </p:nvPicPr>
        <p:blipFill>
          <a:blip r:embed="rId6"/>
          <a:stretch>
            <a:fillRect/>
          </a:stretch>
        </p:blipFill>
        <p:spPr>
          <a:xfrm>
            <a:off x="9638919" y="2518258"/>
            <a:ext cx="404165" cy="404165"/>
          </a:xfrm>
          <a:prstGeom prst="rect">
            <a:avLst/>
          </a:prstGeom>
        </p:spPr>
      </p:pic>
      <p:sp>
        <p:nvSpPr>
          <p:cNvPr id="27" name="Text 21"/>
          <p:cNvSpPr txBox="1"/>
          <p:nvPr/>
        </p:nvSpPr>
        <p:spPr>
          <a:xfrm>
            <a:off x="9452381" y="3200400"/>
            <a:ext cx="1916354" cy="457200"/>
          </a:xfrm>
          <a:prstGeom prst="rect">
            <a:avLst/>
          </a:prstGeom>
          <a:noFill/>
          <a:ln/>
        </p:spPr>
        <p:txBody>
          <a:bodyPr wrap="square" lIns="0" tIns="0" rIns="0" bIns="0" rtlCol="0" anchor="ctr"/>
          <a:lstStyle/>
          <a:p>
            <a:pPr marL="0" indent="0">
              <a:buNone/>
            </a:pPr>
            <a:r>
              <a:rPr lang="en-US" sz="2000" b="1" dirty="0">
                <a:solidFill>
                  <a:schemeClr val="tx1"/>
                </a:solidFill>
              </a:rPr>
              <a:t>Después</a:t>
            </a:r>
            <a:endParaRPr lang="en-US" sz="2000" dirty="0"/>
          </a:p>
        </p:txBody>
      </p:sp>
      <p:sp>
        <p:nvSpPr>
          <p:cNvPr id="28" name="Text 22"/>
          <p:cNvSpPr txBox="1"/>
          <p:nvPr/>
        </p:nvSpPr>
        <p:spPr>
          <a:xfrm>
            <a:off x="9452381" y="3657600"/>
            <a:ext cx="1916354" cy="868680"/>
          </a:xfrm>
          <a:prstGeom prst="rect">
            <a:avLst/>
          </a:prstGeom>
          <a:noFill/>
          <a:ln/>
        </p:spPr>
        <p:txBody>
          <a:bodyPr wrap="square" lIns="0" tIns="0" rIns="0" bIns="0" rtlCol="0" anchor="t"/>
          <a:lstStyle/>
          <a:p>
            <a:pPr marL="0" indent="0">
              <a:buNone/>
            </a:pPr>
            <a:r>
              <a:rPr lang="en-US" sz="1600" dirty="0">
                <a:solidFill>
                  <a:schemeClr val="tx1"/>
                </a:solidFill>
              </a:rPr>
              <a:t>Volver a contarlas al final y comparar.</a:t>
            </a:r>
            <a:endParaRPr lang="en-US" sz="1600" dirty="0"/>
          </a:p>
        </p:txBody>
      </p:sp>
      <p:sp>
        <p:nvSpPr>
          <p:cNvPr id="29" name="Tarjeta"/>
          <p:cNvSpPr/>
          <p:nvPr/>
        </p:nvSpPr>
        <p:spPr>
          <a:xfrm>
            <a:off x="548640" y="4892040"/>
            <a:ext cx="11094415" cy="960120"/>
          </a:xfrm>
          <a:prstGeom prst="roundRect">
            <a:avLst>
              <a:gd name="adj" fmla="val 14286"/>
            </a:avLst>
          </a:prstGeom>
          <a:solidFill>
            <a:schemeClr val="bg2"/>
          </a:solidFill>
          <a:ln/>
        </p:spPr>
      </p:sp>
      <p:sp>
        <p:nvSpPr>
          <p:cNvPr id="30" name="Sin inventar"/>
          <p:cNvSpPr/>
          <p:nvPr/>
        </p:nvSpPr>
        <p:spPr>
          <a:xfrm>
            <a:off x="822960" y="5029200"/>
            <a:ext cx="685800" cy="685800"/>
          </a:xfrm>
          <a:prstGeom prst="ellipse">
            <a:avLst/>
          </a:prstGeom>
          <a:solidFill>
            <a:schemeClr val="accent3"/>
          </a:solidFill>
          <a:ln/>
        </p:spPr>
      </p:sp>
      <p:pic>
        <p:nvPicPr>
          <p:cNvPr id="31" name="Image 4" descr="Sin inventar"/>
          <p:cNvPicPr>
            <a:picLocks noChangeAspect="1"/>
          </p:cNvPicPr>
          <p:nvPr/>
        </p:nvPicPr>
        <p:blipFill>
          <a:blip r:embed="rId7"/>
          <a:stretch>
            <a:fillRect/>
          </a:stretch>
        </p:blipFill>
        <p:spPr>
          <a:xfrm>
            <a:off x="987552" y="5193792"/>
            <a:ext cx="356616" cy="356616"/>
          </a:xfrm>
          <a:prstGeom prst="rect">
            <a:avLst/>
          </a:prstGeom>
        </p:spPr>
      </p:pic>
      <p:sp>
        <p:nvSpPr>
          <p:cNvPr id="32" name="Text 25"/>
          <p:cNvSpPr txBox="1"/>
          <p:nvPr/>
        </p:nvSpPr>
        <p:spPr>
          <a:xfrm>
            <a:off x="1737360" y="4892040"/>
            <a:ext cx="9631375" cy="960120"/>
          </a:xfrm>
          <a:prstGeom prst="rect">
            <a:avLst/>
          </a:prstGeom>
          <a:noFill/>
          <a:ln/>
        </p:spPr>
        <p:txBody>
          <a:bodyPr wrap="square" lIns="0" tIns="0" rIns="0" bIns="0" rtlCol="0" anchor="ctr"/>
          <a:lstStyle/>
          <a:p>
            <a:pPr marL="0" indent="0">
              <a:buNone/>
            </a:pPr>
            <a:r>
              <a:rPr lang="en-US" sz="2000" b="1" dirty="0">
                <a:solidFill>
                  <a:schemeClr val="tx1"/>
                </a:solidFill>
              </a:rPr>
              <a:t>No inventamos resultados: </a:t>
            </a:r>
            <a:r>
              <a:rPr lang="en-US" sz="2000" dirty="0">
                <a:solidFill>
                  <a:schemeClr val="tx1"/>
                </a:solidFill>
              </a:rPr>
              <a:t>explicamos cómo se mediría, no lo que se conseguirá.</a:t>
            </a:r>
            <a:endParaRPr lang="en-US" sz="2000" dirty="0"/>
          </a:p>
        </p:txBody>
      </p:sp>
      <p:sp>
        <p:nvSpPr>
          <p:cNvPr id="33"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87</a:t>
            </a:fld>
            <a:endParaRPr lang="en-US"/>
          </a:p>
        </p:txBody>
      </p:sp>
      <p:sp>
        <p:nvSpPr>
          <p:cNvPr id="34" name="Dónde escribir"/>
          <p:cNvSpPr/>
          <p:nvPr/>
        </p:nvSpPr>
        <p:spPr>
          <a:xfrm>
            <a:off x="5788151" y="6291072"/>
            <a:ext cx="5138928"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documento_proyecto.docx</a:t>
            </a:r>
            <a:r>
              <a:rPr lang="es-ES" sz="1300" dirty="0">
                <a:solidFill>
                  <a:schemeClr val="tx1"/>
                </a:solidFill>
                <a:latin typeface="+mn-lt"/>
              </a:rPr>
              <a:t>  ›  apartado 4  ›  tabla de indicadores</a:t>
            </a:r>
          </a:p>
        </p:txBody>
      </p:sp>
      <p:sp>
        <p:nvSpPr>
          <p:cNvPr id="35" name="Dónde escribir: círculo"/>
          <p:cNvSpPr/>
          <p:nvPr/>
        </p:nvSpPr>
        <p:spPr>
          <a:xfrm>
            <a:off x="5843015" y="6336792"/>
            <a:ext cx="292608" cy="292608"/>
          </a:xfrm>
          <a:prstGeom prst="ellipse">
            <a:avLst/>
          </a:prstGeom>
          <a:solidFill>
            <a:schemeClr val="accent1"/>
          </a:solidFill>
          <a:ln>
            <a:noFill/>
          </a:ln>
        </p:spPr>
      </p:sp>
      <p:pic>
        <p:nvPicPr>
          <p:cNvPr id="36" name="Dónde escribir: lápiz" descr="Lápiz"/>
          <p:cNvPicPr>
            <a:picLocks noChangeAspect="1"/>
          </p:cNvPicPr>
          <p:nvPr/>
        </p:nvPicPr>
        <p:blipFill>
          <a:blip r:embed="rId8"/>
          <a:stretch>
            <a:fillRect/>
          </a:stretch>
        </p:blipFill>
        <p:spPr>
          <a:xfrm>
            <a:off x="5916167" y="6409944"/>
            <a:ext cx="146304" cy="146304"/>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Primero vosotros, después la IA</a:t>
            </a:r>
            <a:endParaRPr lang="en-US" sz="3200" dirty="0"/>
          </a:p>
        </p:txBody>
      </p:sp>
      <p:sp>
        <p:nvSpPr>
          <p:cNvPr id="3" name="Etiqueta de tiempo"/>
          <p:cNvSpPr/>
          <p:nvPr/>
        </p:nvSpPr>
        <p:spPr>
          <a:xfrm>
            <a:off x="8977579" y="548640"/>
            <a:ext cx="2665476" cy="457200"/>
          </a:xfrm>
          <a:prstGeom prst="roundRect">
            <a:avLst>
              <a:gd name="adj" fmla="val 50000"/>
            </a:avLst>
          </a:prstGeom>
          <a:solidFill>
            <a:schemeClr val="accent2"/>
          </a:solidFill>
          <a:ln/>
        </p:spPr>
      </p:sp>
      <p:sp>
        <p:nvSpPr>
          <p:cNvPr id="4" name="Text 2"/>
          <p:cNvSpPr txBox="1"/>
          <p:nvPr/>
        </p:nvSpPr>
        <p:spPr>
          <a:xfrm>
            <a:off x="8977579" y="548640"/>
            <a:ext cx="2665476" cy="457200"/>
          </a:xfrm>
          <a:prstGeom prst="rect">
            <a:avLst/>
          </a:prstGeom>
          <a:noFill/>
          <a:ln/>
        </p:spPr>
        <p:txBody>
          <a:bodyPr wrap="square" lIns="0" tIns="0" rIns="0" bIns="0" rtlCol="0" anchor="ctr"/>
          <a:lstStyle/>
          <a:p>
            <a:pPr marL="0" indent="0" algn="ctr">
              <a:buNone/>
            </a:pPr>
            <a:r>
              <a:rPr lang="en-US" sz="1400" b="1" dirty="0">
                <a:solidFill>
                  <a:schemeClr val="bg1"/>
                </a:solidFill>
              </a:rPr>
              <a:t>Min. 195–210 · Con IA</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Pensad vuestros indicadores. Después, podéis pedir ideas a la IA:</a:t>
            </a:r>
            <a:endParaRPr lang="en-US" sz="1900" dirty="0"/>
          </a:p>
        </p:txBody>
      </p:sp>
      <p:sp>
        <p:nvSpPr>
          <p:cNvPr id="6" name="Prompt"/>
          <p:cNvSpPr/>
          <p:nvPr/>
        </p:nvSpPr>
        <p:spPr>
          <a:xfrm>
            <a:off x="548640" y="1965960"/>
            <a:ext cx="11094415" cy="1965960"/>
          </a:xfrm>
          <a:prstGeom prst="roundRect">
            <a:avLst>
              <a:gd name="adj" fmla="val 5581"/>
            </a:avLst>
          </a:prstGeom>
          <a:solidFill>
            <a:schemeClr val="tx1"/>
          </a:solidFill>
          <a:ln/>
        </p:spPr>
      </p:sp>
      <p:sp>
        <p:nvSpPr>
          <p:cNvPr id="7" name="Text 5"/>
          <p:cNvSpPr txBox="1"/>
          <p:nvPr/>
        </p:nvSpPr>
        <p:spPr>
          <a:xfrm>
            <a:off x="822960" y="2148840"/>
            <a:ext cx="10545775" cy="1600200"/>
          </a:xfrm>
          <a:prstGeom prst="rect">
            <a:avLst/>
          </a:prstGeom>
          <a:noFill/>
          <a:ln/>
        </p:spPr>
        <p:txBody>
          <a:bodyPr wrap="square" lIns="0" tIns="0" rIns="0" bIns="0" rtlCol="0" anchor="t"/>
          <a:lstStyle/>
          <a:p>
            <a:pPr marL="0" indent="0">
              <a:lnSpc>
                <a:spcPct val="95000"/>
              </a:lnSpc>
              <a:buNone/>
            </a:pPr>
            <a:r>
              <a:rPr lang="en-US" sz="1800" dirty="0">
                <a:solidFill>
                  <a:schemeClr val="bg1"/>
                </a:solidFill>
                <a:latin typeface="Courier New" pitchFamily="34" charset="0"/>
                <a:ea typeface="Courier New" pitchFamily="34" charset="-122"/>
                <a:cs typeface="Courier New" pitchFamily="34" charset="-120"/>
              </a:rPr>
              <a:t>Esta es nuestra propuesta: </a:t>
            </a:r>
            <a:r>
              <a:rPr lang="en-US" sz="1800" b="1" dirty="0">
                <a:solidFill>
                  <a:schemeClr val="accent1"/>
                </a:solidFill>
                <a:latin typeface="Courier New" pitchFamily="34" charset="0"/>
                <a:ea typeface="Courier New" pitchFamily="34" charset="-122"/>
                <a:cs typeface="Courier New" pitchFamily="34" charset="-120"/>
              </a:rPr>
              <a:t>[resumen sin datos personales]</a:t>
            </a:r>
            <a:r>
              <a:rPr lang="en-US" sz="1800" dirty="0">
                <a:solidFill>
                  <a:schemeClr val="bg1"/>
                </a:solidFill>
                <a:latin typeface="Courier New" pitchFamily="34" charset="0"/>
                <a:ea typeface="Courier New" pitchFamily="34" charset="-122"/>
                <a:cs typeface="Courier New" pitchFamily="34" charset="-120"/>
              </a:rPr>
              <a:t>.</a:t>
            </a:r>
            <a:endParaRPr lang="en-US" sz="1800" dirty="0"/>
          </a:p>
          <a:p>
            <a:pPr marL="0" indent="0">
              <a:lnSpc>
                <a:spcPct val="95000"/>
              </a:lnSpc>
              <a:buNone/>
            </a:pPr>
            <a:r>
              <a:rPr lang="en-US" sz="1800" dirty="0">
                <a:solidFill>
                  <a:schemeClr val="bg1"/>
                </a:solidFill>
                <a:latin typeface="Courier New" pitchFamily="34" charset="0"/>
                <a:ea typeface="Courier New" pitchFamily="34" charset="-122"/>
                <a:cs typeface="Courier New" pitchFamily="34" charset="-120"/>
              </a:rPr>
              <a:t>Propón cinco indicadores medibles para comprobar si funciona durante</a:t>
            </a:r>
            <a:endParaRPr lang="en-US" sz="1800" dirty="0"/>
          </a:p>
          <a:p>
            <a:pPr marL="0" indent="0">
              <a:lnSpc>
                <a:spcPct val="95000"/>
              </a:lnSpc>
              <a:buNone/>
            </a:pPr>
            <a:r>
              <a:rPr lang="en-US" sz="1800" dirty="0">
                <a:solidFill>
                  <a:schemeClr val="bg1"/>
                </a:solidFill>
                <a:latin typeface="Courier New" pitchFamily="34" charset="0"/>
                <a:ea typeface="Courier New" pitchFamily="34" charset="-122"/>
                <a:cs typeface="Courier New" pitchFamily="34" charset="-120"/>
              </a:rPr>
              <a:t>una prueba de un mes. Para cada uno, explica cómo medirlo antes y</a:t>
            </a:r>
            <a:endParaRPr lang="en-US" sz="1800" dirty="0"/>
          </a:p>
          <a:p>
            <a:pPr marL="0" indent="0">
              <a:lnSpc>
                <a:spcPct val="95000"/>
              </a:lnSpc>
              <a:buNone/>
            </a:pPr>
            <a:r>
              <a:rPr lang="en-US" sz="1800" dirty="0">
                <a:solidFill>
                  <a:schemeClr val="bg1"/>
                </a:solidFill>
                <a:latin typeface="Courier New" pitchFamily="34" charset="0"/>
                <a:ea typeface="Courier New" pitchFamily="34" charset="-122"/>
                <a:cs typeface="Courier New" pitchFamily="34" charset="-120"/>
              </a:rPr>
              <a:t>después de la prueba con herramientas sencillas. No inventes</a:t>
            </a:r>
            <a:endParaRPr lang="en-US" sz="1800" dirty="0"/>
          </a:p>
          <a:p>
            <a:pPr marL="0" indent="0">
              <a:lnSpc>
                <a:spcPct val="95000"/>
              </a:lnSpc>
              <a:buNone/>
            </a:pPr>
            <a:r>
              <a:rPr lang="en-US" sz="1800" dirty="0">
                <a:solidFill>
                  <a:schemeClr val="bg1"/>
                </a:solidFill>
                <a:latin typeface="Courier New" pitchFamily="34" charset="0"/>
                <a:ea typeface="Courier New" pitchFamily="34" charset="-122"/>
                <a:cs typeface="Courier New" pitchFamily="34" charset="-120"/>
              </a:rPr>
              <a:t>resultados ni cifras de mejora.</a:t>
            </a:r>
            <a:endParaRPr lang="en-US" sz="1800" dirty="0"/>
          </a:p>
        </p:txBody>
      </p:sp>
      <p:sp>
        <p:nvSpPr>
          <p:cNvPr id="8" name="Tarjeta"/>
          <p:cNvSpPr/>
          <p:nvPr/>
        </p:nvSpPr>
        <p:spPr>
          <a:xfrm>
            <a:off x="548640" y="4251960"/>
            <a:ext cx="11094415" cy="1371600"/>
          </a:xfrm>
          <a:prstGeom prst="roundRect">
            <a:avLst>
              <a:gd name="adj" fmla="val 10000"/>
            </a:avLst>
          </a:prstGeom>
          <a:solidFill>
            <a:schemeClr val="bg2"/>
          </a:solidFill>
          <a:ln/>
        </p:spPr>
      </p:sp>
      <p:sp>
        <p:nvSpPr>
          <p:cNvPr id="9" name="Elegir"/>
          <p:cNvSpPr/>
          <p:nvPr/>
        </p:nvSpPr>
        <p:spPr>
          <a:xfrm>
            <a:off x="868680" y="4526280"/>
            <a:ext cx="822960" cy="822960"/>
          </a:xfrm>
          <a:prstGeom prst="ellipse">
            <a:avLst/>
          </a:prstGeom>
          <a:solidFill>
            <a:schemeClr val="accent1"/>
          </a:solidFill>
          <a:ln/>
        </p:spPr>
      </p:sp>
      <p:pic>
        <p:nvPicPr>
          <p:cNvPr id="10" name="Image 0" descr="Elegir"/>
          <p:cNvPicPr>
            <a:picLocks noChangeAspect="1"/>
          </p:cNvPicPr>
          <p:nvPr/>
        </p:nvPicPr>
        <p:blipFill>
          <a:blip r:embed="rId3"/>
          <a:stretch>
            <a:fillRect/>
          </a:stretch>
        </p:blipFill>
        <p:spPr>
          <a:xfrm>
            <a:off x="1066190" y="4723790"/>
            <a:ext cx="427939" cy="427939"/>
          </a:xfrm>
          <a:prstGeom prst="rect">
            <a:avLst/>
          </a:prstGeom>
        </p:spPr>
      </p:pic>
      <p:sp>
        <p:nvSpPr>
          <p:cNvPr id="11" name="Text 8"/>
          <p:cNvSpPr txBox="1"/>
          <p:nvPr/>
        </p:nvSpPr>
        <p:spPr>
          <a:xfrm>
            <a:off x="1965960" y="4251960"/>
            <a:ext cx="9402775" cy="1371600"/>
          </a:xfrm>
          <a:prstGeom prst="rect">
            <a:avLst/>
          </a:prstGeom>
          <a:noFill/>
          <a:ln/>
        </p:spPr>
        <p:txBody>
          <a:bodyPr wrap="square" lIns="0" tIns="0" rIns="0" bIns="0" rtlCol="0" anchor="ctr"/>
          <a:lstStyle/>
          <a:p>
            <a:pPr marL="0" indent="0">
              <a:buNone/>
            </a:pPr>
            <a:r>
              <a:rPr lang="en-US" sz="2000" b="1" dirty="0">
                <a:solidFill>
                  <a:schemeClr val="tx1"/>
                </a:solidFill>
              </a:rPr>
              <a:t>Elegid los dos indicadores que mejor demuestren si vuestra propuesta resuelve el problema, y añadidlos al documento.</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88</a:t>
            </a:fld>
            <a:endParaRPr lang="en-US"/>
          </a:p>
        </p:txBody>
      </p:sp>
      <p:sp>
        <p:nvSpPr>
          <p:cNvPr id="26" name="Dónde escribir"/>
          <p:cNvSpPr/>
          <p:nvPr/>
        </p:nvSpPr>
        <p:spPr>
          <a:xfrm>
            <a:off x="4562855" y="6291072"/>
            <a:ext cx="6364224"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documento_proyecto.docx</a:t>
            </a:r>
            <a:r>
              <a:rPr lang="es-ES" sz="1300" dirty="0">
                <a:solidFill>
                  <a:schemeClr val="tx1"/>
                </a:solidFill>
                <a:latin typeface="+mn-lt"/>
              </a:rPr>
              <a:t>  ›  página de trabajo  ›  Indicadores (el prompt está ahí)</a:t>
            </a:r>
          </a:p>
        </p:txBody>
      </p:sp>
      <p:sp>
        <p:nvSpPr>
          <p:cNvPr id="27" name="Dónde escribir: círculo"/>
          <p:cNvSpPr/>
          <p:nvPr/>
        </p:nvSpPr>
        <p:spPr>
          <a:xfrm>
            <a:off x="4617719"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4"/>
          <a:stretch>
            <a:fillRect/>
          </a:stretch>
        </p:blipFill>
        <p:spPr>
          <a:xfrm>
            <a:off x="4690871" y="6409944"/>
            <a:ext cx="146304" cy="146304"/>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Nuestros dos indicadores</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195–210 · Parejas</a:t>
            </a:r>
            <a:endParaRPr lang="en-US" sz="1400" dirty="0"/>
          </a:p>
        </p:txBody>
      </p:sp>
      <p:graphicFrame>
        <p:nvGraphicFramePr>
          <p:cNvPr id="10" name="Table 0"/>
          <p:cNvGraphicFramePr>
            <a:graphicFrameLocks noGrp="1"/>
          </p:cNvGraphicFramePr>
          <p:nvPr/>
        </p:nvGraphicFramePr>
        <p:xfrm>
          <a:off x="548640" y="1463040"/>
          <a:ext cx="11094415" cy="3291840"/>
        </p:xfrm>
        <a:graphic>
          <a:graphicData uri="http://schemas.openxmlformats.org/drawingml/2006/table">
            <a:tbl>
              <a:tblPr/>
              <a:tblGrid>
                <a:gridCol w="6400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316175">
                  <a:extLst>
                    <a:ext uri="{9D8B030D-6E8A-4147-A177-3AD203B41FA5}">
                      <a16:colId xmlns:a16="http://schemas.microsoft.com/office/drawing/2014/main" val="20004"/>
                    </a:ext>
                  </a:extLst>
                </a:gridCol>
              </a:tblGrid>
              <a:tr h="548640">
                <a:tc>
                  <a:txBody>
                    <a:bodyPr/>
                    <a:lstStyle/>
                    <a:p>
                      <a:pPr marL="0" indent="0" algn="ctr">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bg1"/>
                          </a:solidFill>
                        </a:rPr>
                        <a:t>Qué medimos</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tx1"/>
                    </a:solidFill>
                  </a:tcPr>
                </a:tc>
                <a:tc>
                  <a:txBody>
                    <a:bodyPr/>
                    <a:lstStyle/>
                    <a:p>
                      <a:pPr marL="0" indent="0" algn="ctr">
                        <a:buNone/>
                      </a:pPr>
                      <a:r>
                        <a:rPr lang="en-US" sz="1800" b="1" dirty="0">
                          <a:solidFill>
                            <a:schemeClr val="bg1"/>
                          </a:solidFill>
                        </a:rPr>
                        <a:t>Cómo lo medimos</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tx1"/>
                    </a:solidFill>
                  </a:tcPr>
                </a:tc>
                <a:tc>
                  <a:txBody>
                    <a:bodyPr/>
                    <a:lstStyle/>
                    <a:p>
                      <a:pPr marL="0" indent="0" algn="ctr">
                        <a:buNone/>
                      </a:pPr>
                      <a:r>
                        <a:rPr lang="en-US" sz="1800" b="1" dirty="0">
                          <a:solidFill>
                            <a:schemeClr val="tx1"/>
                          </a:solidFill>
                        </a:rPr>
                        <a:t>Antes de la prueba</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accent1"/>
                    </a:solidFill>
                  </a:tcPr>
                </a:tc>
                <a:tc>
                  <a:txBody>
                    <a:bodyPr/>
                    <a:lstStyle/>
                    <a:p>
                      <a:pPr marL="0" indent="0" algn="ctr">
                        <a:buNone/>
                      </a:pPr>
                      <a:r>
                        <a:rPr lang="en-US" sz="1800" b="1" dirty="0">
                          <a:solidFill>
                            <a:schemeClr val="bg1"/>
                          </a:solidFill>
                        </a:rPr>
                        <a:t>Después de la prueba</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371600">
                <a:tc>
                  <a:txBody>
                    <a:bodyPr/>
                    <a:lstStyle/>
                    <a:p>
                      <a:pPr marL="0" indent="0" algn="ctr">
                        <a:buNone/>
                      </a:pPr>
                      <a:r>
                        <a:rPr lang="en-US" sz="1800" b="1" dirty="0">
                          <a:solidFill>
                            <a:schemeClr val="tx1"/>
                          </a:solidFill>
                        </a:rPr>
                        <a:t>1</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lgn="ctr">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lgn="ctr">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lgn="ctr">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lgn="ctr">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extLst>
                  <a:ext uri="{0D108BD9-81ED-4DB2-BD59-A6C34878D82A}">
                    <a16:rowId xmlns:a16="http://schemas.microsoft.com/office/drawing/2014/main" val="10001"/>
                  </a:ext>
                </a:extLst>
              </a:tr>
              <a:tr h="1371600">
                <a:tc>
                  <a:txBody>
                    <a:bodyPr/>
                    <a:lstStyle/>
                    <a:p>
                      <a:pPr marL="0" indent="0" algn="ctr">
                        <a:buNone/>
                      </a:pPr>
                      <a:r>
                        <a:rPr lang="en-US" sz="1800" b="1" dirty="0">
                          <a:solidFill>
                            <a:schemeClr val="tx1"/>
                          </a:solidFill>
                        </a:rPr>
                        <a:t>2</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lgn="ctr">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lgn="ctr">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lgn="ctr">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lgn="ctr">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 3"/>
          <p:cNvSpPr txBox="1"/>
          <p:nvPr/>
        </p:nvSpPr>
        <p:spPr>
          <a:xfrm>
            <a:off x="548640" y="5029200"/>
            <a:ext cx="11094415" cy="548640"/>
          </a:xfrm>
          <a:prstGeom prst="rect">
            <a:avLst/>
          </a:prstGeom>
          <a:noFill/>
          <a:ln/>
        </p:spPr>
        <p:txBody>
          <a:bodyPr wrap="square" lIns="0" tIns="0" rIns="0" bIns="0" rtlCol="0" anchor="ctr"/>
          <a:lstStyle/>
          <a:p>
            <a:pPr marL="0" indent="0">
              <a:buNone/>
            </a:pPr>
            <a:r>
              <a:rPr lang="en-US" sz="1800" i="1" dirty="0">
                <a:solidFill>
                  <a:schemeClr val="accent3"/>
                </a:solidFill>
              </a:rPr>
              <a:t>En las columnas «Antes» y «Después» va cuándo y cómo se recogerían los datos, no los resultados.</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89</a:t>
            </a:fld>
            <a:endParaRPr lang="en-US"/>
          </a:p>
        </p:txBody>
      </p:sp>
      <p:sp>
        <p:nvSpPr>
          <p:cNvPr id="26" name="Dónde escribir"/>
          <p:cNvSpPr/>
          <p:nvPr/>
        </p:nvSpPr>
        <p:spPr>
          <a:xfrm>
            <a:off x="5788151" y="6291072"/>
            <a:ext cx="5138928"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documento_proyecto.docx</a:t>
            </a:r>
            <a:r>
              <a:rPr lang="es-ES" sz="1300" dirty="0">
                <a:solidFill>
                  <a:schemeClr val="tx1"/>
                </a:solidFill>
                <a:latin typeface="+mn-lt"/>
              </a:rPr>
              <a:t>  ›  apartado 4  ›  tabla de indicadores</a:t>
            </a:r>
          </a:p>
        </p:txBody>
      </p:sp>
      <p:sp>
        <p:nvSpPr>
          <p:cNvPr id="27" name="Dónde escribir: círculo"/>
          <p:cNvSpPr/>
          <p:nvPr/>
        </p:nvSpPr>
        <p:spPr>
          <a:xfrm>
            <a:off x="5843015"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3"/>
          <a:stretch>
            <a:fillRect/>
          </a:stretch>
        </p:blipFill>
        <p:spPr>
          <a:xfrm>
            <a:off x="5916167" y="6409944"/>
            <a:ext cx="146304" cy="146304"/>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Abrid la plantilla de la presentación</a:t>
            </a:r>
            <a:endParaRPr lang="en-US" sz="3200" dirty="0"/>
          </a:p>
        </p:txBody>
      </p:sp>
      <p:sp>
        <p:nvSpPr>
          <p:cNvPr id="3" name="Etiqueta de tiempo"/>
          <p:cNvSpPr/>
          <p:nvPr/>
        </p:nvSpPr>
        <p:spPr>
          <a:xfrm>
            <a:off x="9293047" y="548640"/>
            <a:ext cx="2350008" cy="457200"/>
          </a:xfrm>
          <a:prstGeom prst="roundRect">
            <a:avLst>
              <a:gd name="adj" fmla="val 50000"/>
            </a:avLst>
          </a:prstGeom>
          <a:solidFill>
            <a:schemeClr val="accent1"/>
          </a:solidFill>
          <a:ln/>
        </p:spPr>
      </p:sp>
      <p:sp>
        <p:nvSpPr>
          <p:cNvPr id="4" name="Text 2"/>
          <p:cNvSpPr txBox="1"/>
          <p:nvPr/>
        </p:nvSpPr>
        <p:spPr>
          <a:xfrm>
            <a:off x="9293047" y="548640"/>
            <a:ext cx="2350008" cy="457200"/>
          </a:xfrm>
          <a:prstGeom prst="rect">
            <a:avLst/>
          </a:prstGeom>
          <a:noFill/>
          <a:ln/>
        </p:spPr>
        <p:txBody>
          <a:bodyPr wrap="square" lIns="0" tIns="0" rIns="0" bIns="0" rtlCol="0" anchor="ctr"/>
          <a:lstStyle/>
          <a:p>
            <a:pPr marL="0" indent="0" algn="ctr">
              <a:buNone/>
            </a:pPr>
            <a:r>
              <a:rPr lang="en-US" sz="1400" b="1" dirty="0">
                <a:solidFill>
                  <a:schemeClr val="tx1"/>
                </a:solidFill>
              </a:rPr>
              <a:t>Min. 210 · Parejas</a:t>
            </a:r>
            <a:endParaRPr lang="en-US" sz="1400" dirty="0"/>
          </a:p>
        </p:txBody>
      </p:sp>
      <p:sp>
        <p:nvSpPr>
          <p:cNvPr id="5" name="Archivo"/>
          <p:cNvSpPr/>
          <p:nvPr/>
        </p:nvSpPr>
        <p:spPr>
          <a:xfrm>
            <a:off x="548640" y="1554480"/>
            <a:ext cx="4572000" cy="4206240"/>
          </a:xfrm>
          <a:prstGeom prst="roundRect">
            <a:avLst>
              <a:gd name="adj" fmla="val 3261"/>
            </a:avLst>
          </a:prstGeom>
          <a:solidFill>
            <a:schemeClr val="bg2"/>
          </a:solidFill>
          <a:ln/>
        </p:spPr>
      </p:sp>
      <p:sp>
        <p:nvSpPr>
          <p:cNvPr id="6" name="Icono del archivo"/>
          <p:cNvSpPr/>
          <p:nvPr/>
        </p:nvSpPr>
        <p:spPr>
          <a:xfrm>
            <a:off x="2103120" y="2011680"/>
            <a:ext cx="1463040" cy="1463040"/>
          </a:xfrm>
          <a:prstGeom prst="ellipse">
            <a:avLst/>
          </a:prstGeom>
          <a:solidFill>
            <a:schemeClr val="accent1"/>
          </a:solidFill>
          <a:ln/>
        </p:spPr>
      </p:sp>
      <p:pic>
        <p:nvPicPr>
          <p:cNvPr id="7" name="Image 0" descr="Icono del archivo"/>
          <p:cNvPicPr>
            <a:picLocks noChangeAspect="1"/>
          </p:cNvPicPr>
          <p:nvPr/>
        </p:nvPicPr>
        <p:blipFill>
          <a:blip r:embed="rId3"/>
          <a:stretch>
            <a:fillRect/>
          </a:stretch>
        </p:blipFill>
        <p:spPr>
          <a:xfrm>
            <a:off x="2454250" y="2362810"/>
            <a:ext cx="760781" cy="760781"/>
          </a:xfrm>
          <a:prstGeom prst="rect">
            <a:avLst/>
          </a:prstGeom>
        </p:spPr>
      </p:pic>
      <p:sp>
        <p:nvSpPr>
          <p:cNvPr id="8" name="Text 5"/>
          <p:cNvSpPr txBox="1"/>
          <p:nvPr/>
        </p:nvSpPr>
        <p:spPr>
          <a:xfrm>
            <a:off x="731520" y="3749040"/>
            <a:ext cx="4206240" cy="731520"/>
          </a:xfrm>
          <a:prstGeom prst="rect">
            <a:avLst/>
          </a:prstGeom>
          <a:noFill/>
          <a:ln/>
        </p:spPr>
        <p:txBody>
          <a:bodyPr wrap="square" lIns="0" tIns="0" rIns="0" bIns="0" rtlCol="0" anchor="ctr">
            <a:normAutofit/>
          </a:bodyPr>
          <a:lstStyle/>
          <a:p>
            <a:pPr marL="0" indent="0" algn="ctr">
              <a:buNone/>
            </a:pPr>
            <a:r>
              <a:rPr lang="en-US" sz="2200" b="1" dirty="0">
                <a:solidFill>
                  <a:schemeClr val="tx1"/>
                </a:solidFill>
              </a:rPr>
              <a:t>presentacion_proyecto.pptx</a:t>
            </a:r>
            <a:endParaRPr lang="en-US" sz="2200" dirty="0"/>
          </a:p>
        </p:txBody>
      </p:sp>
      <p:sp>
        <p:nvSpPr>
          <p:cNvPr id="9" name="Text 6"/>
          <p:cNvSpPr txBox="1"/>
          <p:nvPr/>
        </p:nvSpPr>
        <p:spPr>
          <a:xfrm>
            <a:off x="731520" y="4526280"/>
            <a:ext cx="4206240" cy="457200"/>
          </a:xfrm>
          <a:prstGeom prst="rect">
            <a:avLst/>
          </a:prstGeom>
          <a:noFill/>
          <a:ln/>
        </p:spPr>
        <p:txBody>
          <a:bodyPr wrap="square" lIns="0" tIns="0" rIns="0" bIns="0" rtlCol="0" anchor="ctr"/>
          <a:lstStyle/>
          <a:p>
            <a:pPr marL="0" indent="0" algn="ctr">
              <a:buNone/>
            </a:pPr>
            <a:r>
              <a:rPr lang="en-US" sz="1600" dirty="0">
                <a:solidFill>
                  <a:schemeClr val="accent5"/>
                </a:solidFill>
              </a:rPr>
              <a:t>PowerPoint o Google Slides</a:t>
            </a:r>
            <a:endParaRPr lang="en-US" sz="1600" dirty="0"/>
          </a:p>
        </p:txBody>
      </p:sp>
      <p:sp>
        <p:nvSpPr>
          <p:cNvPr id="10" name="Paso 1"/>
          <p:cNvSpPr/>
          <p:nvPr/>
        </p:nvSpPr>
        <p:spPr>
          <a:xfrm>
            <a:off x="5577840" y="1737360"/>
            <a:ext cx="640080" cy="640080"/>
          </a:xfrm>
          <a:prstGeom prst="ellipse">
            <a:avLst/>
          </a:prstGeom>
          <a:solidFill>
            <a:schemeClr val="accent1"/>
          </a:solidFill>
          <a:ln/>
        </p:spPr>
      </p:sp>
      <p:sp>
        <p:nvSpPr>
          <p:cNvPr id="11" name="Text 8"/>
          <p:cNvSpPr txBox="1"/>
          <p:nvPr/>
        </p:nvSpPr>
        <p:spPr>
          <a:xfrm>
            <a:off x="5577840" y="17373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12" name="Text 9"/>
          <p:cNvSpPr txBox="1"/>
          <p:nvPr/>
        </p:nvSpPr>
        <p:spPr>
          <a:xfrm>
            <a:off x="6446520" y="1600200"/>
            <a:ext cx="5196535" cy="914400"/>
          </a:xfrm>
          <a:prstGeom prst="rect">
            <a:avLst/>
          </a:prstGeom>
          <a:noFill/>
          <a:ln/>
        </p:spPr>
        <p:txBody>
          <a:bodyPr wrap="square" lIns="0" tIns="0" rIns="0" bIns="0" rtlCol="0" anchor="ctr"/>
          <a:lstStyle/>
          <a:p>
            <a:pPr marL="0" indent="0">
              <a:buNone/>
            </a:pPr>
            <a:r>
              <a:rPr lang="en-US" sz="2000" dirty="0">
                <a:solidFill>
                  <a:schemeClr val="tx1"/>
                </a:solidFill>
              </a:rPr>
              <a:t>Haced clic en cada recuadro y escribid: la pista desaparece.</a:t>
            </a:r>
            <a:endParaRPr lang="en-US" sz="2000" dirty="0"/>
          </a:p>
        </p:txBody>
      </p:sp>
      <p:sp>
        <p:nvSpPr>
          <p:cNvPr id="13" name="Paso 2"/>
          <p:cNvSpPr/>
          <p:nvPr/>
        </p:nvSpPr>
        <p:spPr>
          <a:xfrm>
            <a:off x="5577840" y="3108960"/>
            <a:ext cx="640080" cy="640080"/>
          </a:xfrm>
          <a:prstGeom prst="ellipse">
            <a:avLst/>
          </a:prstGeom>
          <a:solidFill>
            <a:schemeClr val="accent1"/>
          </a:solidFill>
          <a:ln/>
        </p:spPr>
      </p:sp>
      <p:sp>
        <p:nvSpPr>
          <p:cNvPr id="14" name="Text 11"/>
          <p:cNvSpPr txBox="1"/>
          <p:nvPr/>
        </p:nvSpPr>
        <p:spPr>
          <a:xfrm>
            <a:off x="5577840" y="31089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2</a:t>
            </a:r>
            <a:endParaRPr lang="en-US" sz="2200" dirty="0"/>
          </a:p>
        </p:txBody>
      </p:sp>
      <p:sp>
        <p:nvSpPr>
          <p:cNvPr id="15" name="Text 12"/>
          <p:cNvSpPr txBox="1"/>
          <p:nvPr/>
        </p:nvSpPr>
        <p:spPr>
          <a:xfrm>
            <a:off x="6446520" y="2971800"/>
            <a:ext cx="5196535" cy="914400"/>
          </a:xfrm>
          <a:prstGeom prst="rect">
            <a:avLst/>
          </a:prstGeom>
          <a:noFill/>
          <a:ln/>
        </p:spPr>
        <p:txBody>
          <a:bodyPr wrap="square" lIns="0" tIns="0" rIns="0" bIns="0" rtlCol="0" anchor="ctr"/>
          <a:lstStyle/>
          <a:p>
            <a:pPr marL="0" indent="0">
              <a:buNone/>
            </a:pPr>
            <a:r>
              <a:rPr lang="en-US" sz="2000" dirty="0">
                <a:solidFill>
                  <a:schemeClr val="tx1"/>
                </a:solidFill>
              </a:rPr>
              <a:t>Una idea por diapositiva: llevad del documento solo lo esencial.</a:t>
            </a:r>
            <a:endParaRPr lang="en-US" sz="2000" dirty="0"/>
          </a:p>
        </p:txBody>
      </p:sp>
      <p:sp>
        <p:nvSpPr>
          <p:cNvPr id="16" name="Paso 3"/>
          <p:cNvSpPr/>
          <p:nvPr/>
        </p:nvSpPr>
        <p:spPr>
          <a:xfrm>
            <a:off x="5577840" y="4480560"/>
            <a:ext cx="640080" cy="640080"/>
          </a:xfrm>
          <a:prstGeom prst="ellipse">
            <a:avLst/>
          </a:prstGeom>
          <a:solidFill>
            <a:schemeClr val="accent1"/>
          </a:solidFill>
          <a:ln/>
        </p:spPr>
      </p:sp>
      <p:sp>
        <p:nvSpPr>
          <p:cNvPr id="17" name="Text 14"/>
          <p:cNvSpPr txBox="1"/>
          <p:nvPr/>
        </p:nvSpPr>
        <p:spPr>
          <a:xfrm>
            <a:off x="5577840" y="44805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18" name="Text 15"/>
          <p:cNvSpPr txBox="1"/>
          <p:nvPr/>
        </p:nvSpPr>
        <p:spPr>
          <a:xfrm>
            <a:off x="6446520" y="4343400"/>
            <a:ext cx="5196535" cy="914400"/>
          </a:xfrm>
          <a:prstGeom prst="rect">
            <a:avLst/>
          </a:prstGeom>
          <a:noFill/>
          <a:ln/>
        </p:spPr>
        <p:txBody>
          <a:bodyPr wrap="square" lIns="0" tIns="0" rIns="0" bIns="0" rtlCol="0" anchor="ctr"/>
          <a:lstStyle/>
          <a:p>
            <a:pPr marL="0" indent="0">
              <a:buNone/>
            </a:pPr>
            <a:r>
              <a:rPr lang="en-US" sz="2000" dirty="0">
                <a:solidFill>
                  <a:schemeClr val="tx1"/>
                </a:solidFill>
              </a:rPr>
              <a:t>Los indicadores, los mismos que en el documento.</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Presentación en tres diapositivas</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210–235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En PowerPoint o Google Slides:</a:t>
            </a:r>
            <a:endParaRPr lang="en-US" sz="1900" dirty="0"/>
          </a:p>
        </p:txBody>
      </p:sp>
      <p:sp>
        <p:nvSpPr>
          <p:cNvPr id="6" name="Diapositiva 1"/>
          <p:cNvSpPr/>
          <p:nvPr/>
        </p:nvSpPr>
        <p:spPr>
          <a:xfrm>
            <a:off x="548640" y="1920240"/>
            <a:ext cx="3393338" cy="1908753"/>
          </a:xfrm>
          <a:prstGeom prst="rect">
            <a:avLst/>
          </a:prstGeom>
          <a:solidFill>
            <a:schemeClr val="tx1"/>
          </a:solidFill>
          <a:ln/>
          <a:effectLst>
            <a:outerShdw blurRad="101600" dist="38100" dir="5400000" algn="bl" rotWithShape="0">
              <a:srgbClr val="8A94A6">
                <a:alpha val="35000"/>
              </a:srgbClr>
            </a:outerShdw>
          </a:effectLst>
        </p:spPr>
      </p:sp>
      <p:sp>
        <p:nvSpPr>
          <p:cNvPr id="7" name="Text 5"/>
          <p:cNvSpPr txBox="1"/>
          <p:nvPr/>
        </p:nvSpPr>
        <p:spPr>
          <a:xfrm>
            <a:off x="822960" y="1920240"/>
            <a:ext cx="2844698" cy="1908753"/>
          </a:xfrm>
          <a:prstGeom prst="rect">
            <a:avLst/>
          </a:prstGeom>
          <a:noFill/>
          <a:ln/>
        </p:spPr>
        <p:txBody>
          <a:bodyPr wrap="square" lIns="0" tIns="0" rIns="0" bIns="0" rtlCol="0" anchor="ctr"/>
          <a:lstStyle/>
          <a:p>
            <a:pPr marL="0" indent="0">
              <a:buNone/>
            </a:pPr>
            <a:r>
              <a:rPr lang="en-US" sz="4000" b="1" dirty="0">
                <a:solidFill>
                  <a:schemeClr val="accent1"/>
                </a:solidFill>
              </a:rPr>
              <a:t>1</a:t>
            </a:r>
            <a:endParaRPr lang="en-US" sz="4000" dirty="0"/>
          </a:p>
          <a:p>
            <a:pPr marL="0" indent="0">
              <a:buNone/>
            </a:pPr>
            <a:r>
              <a:rPr lang="en-US" sz="2400" b="1" dirty="0">
                <a:solidFill>
                  <a:schemeClr val="bg1"/>
                </a:solidFill>
              </a:rPr>
              <a:t>El problema</a:t>
            </a:r>
            <a:endParaRPr lang="en-US" sz="4000" dirty="0"/>
          </a:p>
        </p:txBody>
      </p:sp>
      <p:sp>
        <p:nvSpPr>
          <p:cNvPr id="8" name="Text 6"/>
          <p:cNvSpPr txBox="1"/>
          <p:nvPr/>
        </p:nvSpPr>
        <p:spPr>
          <a:xfrm>
            <a:off x="548640" y="3966153"/>
            <a:ext cx="3393338" cy="914400"/>
          </a:xfrm>
          <a:prstGeom prst="rect">
            <a:avLst/>
          </a:prstGeom>
          <a:noFill/>
          <a:ln/>
        </p:spPr>
        <p:txBody>
          <a:bodyPr wrap="square" lIns="0" tIns="0" rIns="0" bIns="0" rtlCol="0" anchor="t"/>
          <a:lstStyle/>
          <a:p>
            <a:pPr marL="0" indent="0">
              <a:buNone/>
            </a:pPr>
            <a:r>
              <a:rPr lang="en-US" sz="1700" dirty="0">
                <a:solidFill>
                  <a:schemeClr val="tx1"/>
                </a:solidFill>
              </a:rPr>
              <a:t>Situación y por qué importa.</a:t>
            </a:r>
            <a:endParaRPr lang="en-US" sz="1700" dirty="0"/>
          </a:p>
        </p:txBody>
      </p:sp>
      <p:sp>
        <p:nvSpPr>
          <p:cNvPr id="9" name="Diapositiva 2"/>
          <p:cNvSpPr/>
          <p:nvPr/>
        </p:nvSpPr>
        <p:spPr>
          <a:xfrm>
            <a:off x="4399178" y="1920240"/>
            <a:ext cx="3393338" cy="1908753"/>
          </a:xfrm>
          <a:prstGeom prst="rect">
            <a:avLst/>
          </a:prstGeom>
          <a:solidFill>
            <a:schemeClr val="tx1"/>
          </a:solidFill>
          <a:ln/>
          <a:effectLst>
            <a:outerShdw blurRad="101600" dist="38100" dir="5400000" algn="bl" rotWithShape="0">
              <a:srgbClr val="8A94A6">
                <a:alpha val="35000"/>
              </a:srgbClr>
            </a:outerShdw>
          </a:effectLst>
        </p:spPr>
      </p:sp>
      <p:sp>
        <p:nvSpPr>
          <p:cNvPr id="10" name="Text 8"/>
          <p:cNvSpPr txBox="1"/>
          <p:nvPr/>
        </p:nvSpPr>
        <p:spPr>
          <a:xfrm>
            <a:off x="4673498" y="1920240"/>
            <a:ext cx="2844698" cy="1908753"/>
          </a:xfrm>
          <a:prstGeom prst="rect">
            <a:avLst/>
          </a:prstGeom>
          <a:noFill/>
          <a:ln/>
        </p:spPr>
        <p:txBody>
          <a:bodyPr wrap="square" lIns="0" tIns="0" rIns="0" bIns="0" rtlCol="0" anchor="ctr"/>
          <a:lstStyle/>
          <a:p>
            <a:pPr marL="0" indent="0">
              <a:buNone/>
            </a:pPr>
            <a:r>
              <a:rPr lang="en-US" sz="4000" b="1" dirty="0">
                <a:solidFill>
                  <a:schemeClr val="accent1"/>
                </a:solidFill>
              </a:rPr>
              <a:t>2</a:t>
            </a:r>
            <a:endParaRPr lang="en-US" sz="4000" dirty="0"/>
          </a:p>
          <a:p>
            <a:pPr marL="0" indent="0">
              <a:buNone/>
            </a:pPr>
            <a:r>
              <a:rPr lang="en-US" sz="2400" b="1" dirty="0">
                <a:solidFill>
                  <a:schemeClr val="bg1"/>
                </a:solidFill>
              </a:rPr>
              <a:t>La solución</a:t>
            </a:r>
            <a:endParaRPr lang="en-US" sz="4000" dirty="0"/>
          </a:p>
        </p:txBody>
      </p:sp>
      <p:sp>
        <p:nvSpPr>
          <p:cNvPr id="11" name="Text 9"/>
          <p:cNvSpPr txBox="1"/>
          <p:nvPr/>
        </p:nvSpPr>
        <p:spPr>
          <a:xfrm>
            <a:off x="4399178" y="3966153"/>
            <a:ext cx="3393338" cy="914400"/>
          </a:xfrm>
          <a:prstGeom prst="rect">
            <a:avLst/>
          </a:prstGeom>
          <a:noFill/>
          <a:ln/>
        </p:spPr>
        <p:txBody>
          <a:bodyPr wrap="square" lIns="0" tIns="0" rIns="0" bIns="0" rtlCol="0" anchor="t"/>
          <a:lstStyle/>
          <a:p>
            <a:pPr marL="0" indent="0">
              <a:buNone/>
            </a:pPr>
            <a:r>
              <a:rPr lang="en-US" sz="1700" dirty="0">
                <a:solidFill>
                  <a:schemeClr val="tx1"/>
                </a:solidFill>
              </a:rPr>
              <a:t>Funcionamiento y herramientas.</a:t>
            </a:r>
            <a:endParaRPr lang="en-US" sz="1700" dirty="0"/>
          </a:p>
        </p:txBody>
      </p:sp>
      <p:sp>
        <p:nvSpPr>
          <p:cNvPr id="12" name="Diapositiva 3"/>
          <p:cNvSpPr/>
          <p:nvPr/>
        </p:nvSpPr>
        <p:spPr>
          <a:xfrm>
            <a:off x="8249717" y="1920240"/>
            <a:ext cx="3393338" cy="1908753"/>
          </a:xfrm>
          <a:prstGeom prst="rect">
            <a:avLst/>
          </a:prstGeom>
          <a:solidFill>
            <a:schemeClr val="tx1"/>
          </a:solidFill>
          <a:ln/>
          <a:effectLst>
            <a:outerShdw blurRad="101600" dist="38100" dir="5400000" algn="bl" rotWithShape="0">
              <a:srgbClr val="8A94A6">
                <a:alpha val="35000"/>
              </a:srgbClr>
            </a:outerShdw>
          </a:effectLst>
        </p:spPr>
      </p:sp>
      <p:sp>
        <p:nvSpPr>
          <p:cNvPr id="13" name="Text 11"/>
          <p:cNvSpPr txBox="1"/>
          <p:nvPr/>
        </p:nvSpPr>
        <p:spPr>
          <a:xfrm>
            <a:off x="8524037" y="1920240"/>
            <a:ext cx="2844698" cy="1908753"/>
          </a:xfrm>
          <a:prstGeom prst="rect">
            <a:avLst/>
          </a:prstGeom>
          <a:noFill/>
          <a:ln/>
        </p:spPr>
        <p:txBody>
          <a:bodyPr wrap="square" lIns="0" tIns="0" rIns="0" bIns="0" rtlCol="0" anchor="ctr"/>
          <a:lstStyle/>
          <a:p>
            <a:pPr marL="0" indent="0">
              <a:buNone/>
            </a:pPr>
            <a:r>
              <a:rPr lang="en-US" sz="4000" b="1" dirty="0">
                <a:solidFill>
                  <a:schemeClr val="accent1"/>
                </a:solidFill>
              </a:rPr>
              <a:t>3</a:t>
            </a:r>
            <a:endParaRPr lang="en-US" sz="4000" dirty="0"/>
          </a:p>
          <a:p>
            <a:pPr marL="0" indent="0">
              <a:buNone/>
            </a:pPr>
            <a:r>
              <a:rPr lang="en-US" sz="2400" b="1" dirty="0">
                <a:solidFill>
                  <a:schemeClr val="bg1"/>
                </a:solidFill>
              </a:rPr>
              <a:t>Los beneficios</a:t>
            </a:r>
            <a:endParaRPr lang="en-US" sz="4000" dirty="0"/>
          </a:p>
        </p:txBody>
      </p:sp>
      <p:sp>
        <p:nvSpPr>
          <p:cNvPr id="14" name="Text 12"/>
          <p:cNvSpPr txBox="1"/>
          <p:nvPr/>
        </p:nvSpPr>
        <p:spPr>
          <a:xfrm>
            <a:off x="8249717" y="3966153"/>
            <a:ext cx="3393338" cy="914400"/>
          </a:xfrm>
          <a:prstGeom prst="rect">
            <a:avLst/>
          </a:prstGeom>
          <a:noFill/>
          <a:ln/>
        </p:spPr>
        <p:txBody>
          <a:bodyPr wrap="square" lIns="0" tIns="0" rIns="0" bIns="0" rtlCol="0" anchor="t"/>
          <a:lstStyle/>
          <a:p>
            <a:pPr marL="0" indent="0">
              <a:buNone/>
            </a:pPr>
            <a:r>
              <a:rPr lang="en-US" sz="1700" dirty="0">
                <a:solidFill>
                  <a:schemeClr val="tx1"/>
                </a:solidFill>
              </a:rPr>
              <a:t>Resultados esperados, indicadores y principales precauciones.</a:t>
            </a:r>
            <a:endParaRPr lang="en-US" sz="17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91</a:t>
            </a:fld>
            <a:endParaRPr lang="en-US"/>
          </a:p>
        </p:txBody>
      </p:sp>
      <p:sp>
        <p:nvSpPr>
          <p:cNvPr id="26" name="Dónde escribir"/>
          <p:cNvSpPr/>
          <p:nvPr/>
        </p:nvSpPr>
        <p:spPr>
          <a:xfrm>
            <a:off x="5890564" y="6291072"/>
            <a:ext cx="5036515"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presentacion_proyecto.pptx</a:t>
            </a:r>
            <a:r>
              <a:rPr lang="es-ES" sz="1300" dirty="0">
                <a:solidFill>
                  <a:schemeClr val="tx1"/>
                </a:solidFill>
                <a:latin typeface="+mn-lt"/>
              </a:rPr>
              <a:t>  ›  una diapositiva para cada parte</a:t>
            </a:r>
          </a:p>
        </p:txBody>
      </p:sp>
      <p:sp>
        <p:nvSpPr>
          <p:cNvPr id="27" name="Dónde escribir: círculo"/>
          <p:cNvSpPr/>
          <p:nvPr/>
        </p:nvSpPr>
        <p:spPr>
          <a:xfrm>
            <a:off x="5945428"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3"/>
          <a:stretch>
            <a:fillRect/>
          </a:stretch>
        </p:blipFill>
        <p:spPr>
          <a:xfrm>
            <a:off x="6018580" y="6409944"/>
            <a:ext cx="146304" cy="146304"/>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Criterios para vuestras diapositivas</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210–235 · Parejas</a:t>
            </a:r>
            <a:endParaRPr lang="en-US" sz="1400" dirty="0"/>
          </a:p>
        </p:txBody>
      </p:sp>
      <p:sp>
        <p:nvSpPr>
          <p:cNvPr id="5" name="Una idea central por diapositiva."/>
          <p:cNvSpPr/>
          <p:nvPr/>
        </p:nvSpPr>
        <p:spPr>
          <a:xfrm>
            <a:off x="548640" y="1508760"/>
            <a:ext cx="685800" cy="685800"/>
          </a:xfrm>
          <a:prstGeom prst="ellipse">
            <a:avLst/>
          </a:prstGeom>
          <a:solidFill>
            <a:schemeClr val="tx2"/>
          </a:solidFill>
          <a:ln/>
        </p:spPr>
      </p:sp>
      <p:pic>
        <p:nvPicPr>
          <p:cNvPr id="6" name="Image 0" descr="Una idea central por diapositiva."/>
          <p:cNvPicPr>
            <a:picLocks noChangeAspect="1"/>
          </p:cNvPicPr>
          <p:nvPr/>
        </p:nvPicPr>
        <p:blipFill>
          <a:blip r:embed="rId3"/>
          <a:stretch>
            <a:fillRect/>
          </a:stretch>
        </p:blipFill>
        <p:spPr>
          <a:xfrm>
            <a:off x="713232" y="1673352"/>
            <a:ext cx="356616" cy="356616"/>
          </a:xfrm>
          <a:prstGeom prst="rect">
            <a:avLst/>
          </a:prstGeom>
        </p:spPr>
      </p:pic>
      <p:sp>
        <p:nvSpPr>
          <p:cNvPr id="7" name="Text 4"/>
          <p:cNvSpPr txBox="1"/>
          <p:nvPr/>
        </p:nvSpPr>
        <p:spPr>
          <a:xfrm>
            <a:off x="1463040" y="1508760"/>
            <a:ext cx="10058400" cy="685800"/>
          </a:xfrm>
          <a:prstGeom prst="rect">
            <a:avLst/>
          </a:prstGeom>
          <a:noFill/>
          <a:ln/>
        </p:spPr>
        <p:txBody>
          <a:bodyPr wrap="square" lIns="0" tIns="0" rIns="0" bIns="0" rtlCol="0" anchor="ctr"/>
          <a:lstStyle/>
          <a:p>
            <a:pPr marL="0" indent="0">
              <a:buNone/>
            </a:pPr>
            <a:r>
              <a:rPr lang="en-US" sz="2200" dirty="0">
                <a:solidFill>
                  <a:schemeClr val="tx1"/>
                </a:solidFill>
              </a:rPr>
              <a:t>Una idea central por diapositiva.</a:t>
            </a:r>
            <a:endParaRPr lang="en-US" sz="2200" dirty="0"/>
          </a:p>
        </p:txBody>
      </p:sp>
      <p:sp>
        <p:nvSpPr>
          <p:cNvPr id="8" name="Poco texto."/>
          <p:cNvSpPr/>
          <p:nvPr/>
        </p:nvSpPr>
        <p:spPr>
          <a:xfrm>
            <a:off x="548640" y="2377440"/>
            <a:ext cx="685800" cy="685800"/>
          </a:xfrm>
          <a:prstGeom prst="ellipse">
            <a:avLst/>
          </a:prstGeom>
          <a:solidFill>
            <a:schemeClr val="tx2"/>
          </a:solidFill>
          <a:ln/>
        </p:spPr>
      </p:sp>
      <p:pic>
        <p:nvPicPr>
          <p:cNvPr id="9" name="Image 1" descr="Poco texto."/>
          <p:cNvPicPr>
            <a:picLocks noChangeAspect="1"/>
          </p:cNvPicPr>
          <p:nvPr/>
        </p:nvPicPr>
        <p:blipFill>
          <a:blip r:embed="rId4"/>
          <a:stretch>
            <a:fillRect/>
          </a:stretch>
        </p:blipFill>
        <p:spPr>
          <a:xfrm>
            <a:off x="713232" y="2542032"/>
            <a:ext cx="356616" cy="356616"/>
          </a:xfrm>
          <a:prstGeom prst="rect">
            <a:avLst/>
          </a:prstGeom>
        </p:spPr>
      </p:pic>
      <p:sp>
        <p:nvSpPr>
          <p:cNvPr id="10" name="Text 6"/>
          <p:cNvSpPr txBox="1"/>
          <p:nvPr/>
        </p:nvSpPr>
        <p:spPr>
          <a:xfrm>
            <a:off x="1463040" y="2377440"/>
            <a:ext cx="10058400" cy="685800"/>
          </a:xfrm>
          <a:prstGeom prst="rect">
            <a:avLst/>
          </a:prstGeom>
          <a:noFill/>
          <a:ln/>
        </p:spPr>
        <p:txBody>
          <a:bodyPr wrap="square" lIns="0" tIns="0" rIns="0" bIns="0" rtlCol="0" anchor="ctr"/>
          <a:lstStyle/>
          <a:p>
            <a:pPr marL="0" indent="0">
              <a:buNone/>
            </a:pPr>
            <a:r>
              <a:rPr lang="en-US" sz="2200" dirty="0">
                <a:solidFill>
                  <a:schemeClr val="tx1"/>
                </a:solidFill>
              </a:rPr>
              <a:t>Poco texto.</a:t>
            </a:r>
            <a:endParaRPr lang="en-US" sz="2200" dirty="0"/>
          </a:p>
        </p:txBody>
      </p:sp>
      <p:sp>
        <p:nvSpPr>
          <p:cNvPr id="11" name="Títulos claros."/>
          <p:cNvSpPr/>
          <p:nvPr/>
        </p:nvSpPr>
        <p:spPr>
          <a:xfrm>
            <a:off x="548640" y="3246120"/>
            <a:ext cx="685800" cy="685800"/>
          </a:xfrm>
          <a:prstGeom prst="ellipse">
            <a:avLst/>
          </a:prstGeom>
          <a:solidFill>
            <a:schemeClr val="tx2"/>
          </a:solidFill>
          <a:ln/>
        </p:spPr>
      </p:sp>
      <p:pic>
        <p:nvPicPr>
          <p:cNvPr id="12" name="Image 2" descr="Títulos claros."/>
          <p:cNvPicPr>
            <a:picLocks noChangeAspect="1"/>
          </p:cNvPicPr>
          <p:nvPr/>
        </p:nvPicPr>
        <p:blipFill>
          <a:blip r:embed="rId5"/>
          <a:stretch>
            <a:fillRect/>
          </a:stretch>
        </p:blipFill>
        <p:spPr>
          <a:xfrm>
            <a:off x="713232" y="3410712"/>
            <a:ext cx="356616" cy="356616"/>
          </a:xfrm>
          <a:prstGeom prst="rect">
            <a:avLst/>
          </a:prstGeom>
        </p:spPr>
      </p:pic>
      <p:sp>
        <p:nvSpPr>
          <p:cNvPr id="13" name="Text 8"/>
          <p:cNvSpPr txBox="1"/>
          <p:nvPr/>
        </p:nvSpPr>
        <p:spPr>
          <a:xfrm>
            <a:off x="1463040" y="3246120"/>
            <a:ext cx="10058400" cy="685800"/>
          </a:xfrm>
          <a:prstGeom prst="rect">
            <a:avLst/>
          </a:prstGeom>
          <a:noFill/>
          <a:ln/>
        </p:spPr>
        <p:txBody>
          <a:bodyPr wrap="square" lIns="0" tIns="0" rIns="0" bIns="0" rtlCol="0" anchor="ctr"/>
          <a:lstStyle/>
          <a:p>
            <a:pPr marL="0" indent="0">
              <a:buNone/>
            </a:pPr>
            <a:r>
              <a:rPr lang="en-US" sz="2200" dirty="0">
                <a:solidFill>
                  <a:schemeClr val="tx1"/>
                </a:solidFill>
              </a:rPr>
              <a:t>Títulos claros.</a:t>
            </a:r>
            <a:endParaRPr lang="en-US" sz="2200" dirty="0"/>
          </a:p>
        </p:txBody>
      </p:sp>
      <p:sp>
        <p:nvSpPr>
          <p:cNvPr id="14" name="Gráficos simples."/>
          <p:cNvSpPr/>
          <p:nvPr/>
        </p:nvSpPr>
        <p:spPr>
          <a:xfrm>
            <a:off x="548640" y="4114800"/>
            <a:ext cx="685800" cy="685800"/>
          </a:xfrm>
          <a:prstGeom prst="ellipse">
            <a:avLst/>
          </a:prstGeom>
          <a:solidFill>
            <a:schemeClr val="tx2"/>
          </a:solidFill>
          <a:ln/>
        </p:spPr>
      </p:sp>
      <p:pic>
        <p:nvPicPr>
          <p:cNvPr id="15" name="Image 3" descr="Gráficos simples."/>
          <p:cNvPicPr>
            <a:picLocks noChangeAspect="1"/>
          </p:cNvPicPr>
          <p:nvPr/>
        </p:nvPicPr>
        <p:blipFill>
          <a:blip r:embed="rId6"/>
          <a:stretch>
            <a:fillRect/>
          </a:stretch>
        </p:blipFill>
        <p:spPr>
          <a:xfrm>
            <a:off x="713232" y="4279392"/>
            <a:ext cx="356616" cy="356616"/>
          </a:xfrm>
          <a:prstGeom prst="rect">
            <a:avLst/>
          </a:prstGeom>
        </p:spPr>
      </p:pic>
      <p:sp>
        <p:nvSpPr>
          <p:cNvPr id="16" name="Text 10"/>
          <p:cNvSpPr txBox="1"/>
          <p:nvPr/>
        </p:nvSpPr>
        <p:spPr>
          <a:xfrm>
            <a:off x="1463040" y="4114800"/>
            <a:ext cx="10058400" cy="685800"/>
          </a:xfrm>
          <a:prstGeom prst="rect">
            <a:avLst/>
          </a:prstGeom>
          <a:noFill/>
          <a:ln/>
        </p:spPr>
        <p:txBody>
          <a:bodyPr wrap="square" lIns="0" tIns="0" rIns="0" bIns="0" rtlCol="0" anchor="ctr"/>
          <a:lstStyle/>
          <a:p>
            <a:pPr marL="0" indent="0">
              <a:buNone/>
            </a:pPr>
            <a:r>
              <a:rPr lang="en-US" sz="2200" dirty="0">
                <a:solidFill>
                  <a:schemeClr val="tx1"/>
                </a:solidFill>
              </a:rPr>
              <a:t>Gráficos simples.</a:t>
            </a:r>
            <a:endParaRPr lang="en-US" sz="2200" dirty="0"/>
          </a:p>
        </p:txBody>
      </p:sp>
      <p:sp>
        <p:nvSpPr>
          <p:cNvPr id="17" name="Ningún resultado sin justificar."/>
          <p:cNvSpPr/>
          <p:nvPr/>
        </p:nvSpPr>
        <p:spPr>
          <a:xfrm>
            <a:off x="548640" y="4983480"/>
            <a:ext cx="685800" cy="685800"/>
          </a:xfrm>
          <a:prstGeom prst="ellipse">
            <a:avLst/>
          </a:prstGeom>
          <a:solidFill>
            <a:schemeClr val="accent3"/>
          </a:solidFill>
          <a:ln/>
        </p:spPr>
      </p:sp>
      <p:pic>
        <p:nvPicPr>
          <p:cNvPr id="18" name="Image 4" descr="Ningún resultado sin justificar."/>
          <p:cNvPicPr>
            <a:picLocks noChangeAspect="1"/>
          </p:cNvPicPr>
          <p:nvPr/>
        </p:nvPicPr>
        <p:blipFill>
          <a:blip r:embed="rId7"/>
          <a:stretch>
            <a:fillRect/>
          </a:stretch>
        </p:blipFill>
        <p:spPr>
          <a:xfrm>
            <a:off x="713232" y="5148072"/>
            <a:ext cx="356616" cy="356616"/>
          </a:xfrm>
          <a:prstGeom prst="rect">
            <a:avLst/>
          </a:prstGeom>
        </p:spPr>
      </p:pic>
      <p:sp>
        <p:nvSpPr>
          <p:cNvPr id="19" name="Text 12"/>
          <p:cNvSpPr txBox="1"/>
          <p:nvPr/>
        </p:nvSpPr>
        <p:spPr>
          <a:xfrm>
            <a:off x="1463040" y="4983480"/>
            <a:ext cx="10058400" cy="685800"/>
          </a:xfrm>
          <a:prstGeom prst="rect">
            <a:avLst/>
          </a:prstGeom>
          <a:noFill/>
          <a:ln/>
        </p:spPr>
        <p:txBody>
          <a:bodyPr wrap="square" lIns="0" tIns="0" rIns="0" bIns="0" rtlCol="0" anchor="ctr"/>
          <a:lstStyle/>
          <a:p>
            <a:pPr marL="0" indent="0">
              <a:buNone/>
            </a:pPr>
            <a:r>
              <a:rPr lang="en-US" sz="2200" dirty="0">
                <a:solidFill>
                  <a:schemeClr val="tx1"/>
                </a:solidFill>
              </a:rPr>
              <a:t>Ningún resultado sin justificar.</a:t>
            </a:r>
            <a:endParaRPr lang="en-US" sz="22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Revisión cruzada</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235–240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Intercambiad la presentación con la pareja del principio del bloque y comprobad:</a:t>
            </a:r>
            <a:endParaRPr lang="en-US" sz="1900" dirty="0"/>
          </a:p>
        </p:txBody>
      </p:sp>
      <p:sp>
        <p:nvSpPr>
          <p:cNvPr id="6" name="Tarjeta"/>
          <p:cNvSpPr/>
          <p:nvPr/>
        </p:nvSpPr>
        <p:spPr>
          <a:xfrm>
            <a:off x="548640" y="1965960"/>
            <a:ext cx="3454298" cy="1463040"/>
          </a:xfrm>
          <a:prstGeom prst="roundRect">
            <a:avLst>
              <a:gd name="adj" fmla="val 9375"/>
            </a:avLst>
          </a:prstGeom>
          <a:solidFill>
            <a:schemeClr val="bg2"/>
          </a:solidFill>
          <a:ln/>
        </p:spPr>
      </p:sp>
      <p:sp>
        <p:nvSpPr>
          <p:cNvPr id="7" name="¿Una idea por diapositiva?"/>
          <p:cNvSpPr/>
          <p:nvPr/>
        </p:nvSpPr>
        <p:spPr>
          <a:xfrm>
            <a:off x="822960" y="2331720"/>
            <a:ext cx="731520" cy="731520"/>
          </a:xfrm>
          <a:prstGeom prst="ellipse">
            <a:avLst/>
          </a:prstGeom>
          <a:solidFill>
            <a:schemeClr val="accent1"/>
          </a:solidFill>
          <a:ln/>
        </p:spPr>
      </p:sp>
      <p:pic>
        <p:nvPicPr>
          <p:cNvPr id="8" name="Image 0" descr="¿Una idea por diapositiva?"/>
          <p:cNvPicPr>
            <a:picLocks noChangeAspect="1"/>
          </p:cNvPicPr>
          <p:nvPr/>
        </p:nvPicPr>
        <p:blipFill>
          <a:blip r:embed="rId3"/>
          <a:stretch>
            <a:fillRect/>
          </a:stretch>
        </p:blipFill>
        <p:spPr>
          <a:xfrm>
            <a:off x="998525" y="2507285"/>
            <a:ext cx="380390" cy="380390"/>
          </a:xfrm>
          <a:prstGeom prst="rect">
            <a:avLst/>
          </a:prstGeom>
        </p:spPr>
      </p:pic>
      <p:sp>
        <p:nvSpPr>
          <p:cNvPr id="9" name="Text 6"/>
          <p:cNvSpPr txBox="1"/>
          <p:nvPr/>
        </p:nvSpPr>
        <p:spPr>
          <a:xfrm>
            <a:off x="1737360" y="1965960"/>
            <a:ext cx="2082698" cy="1463040"/>
          </a:xfrm>
          <a:prstGeom prst="rect">
            <a:avLst/>
          </a:prstGeom>
          <a:noFill/>
          <a:ln/>
        </p:spPr>
        <p:txBody>
          <a:bodyPr wrap="square" lIns="0" tIns="0" rIns="0" bIns="0" rtlCol="0" anchor="ctr"/>
          <a:lstStyle/>
          <a:p>
            <a:pPr marL="0" indent="0">
              <a:buNone/>
            </a:pPr>
            <a:r>
              <a:rPr lang="en-US" sz="2000" b="1" dirty="0">
                <a:solidFill>
                  <a:schemeClr val="tx1"/>
                </a:solidFill>
              </a:rPr>
              <a:t>¿Una idea por diapositiva?</a:t>
            </a:r>
            <a:endParaRPr lang="en-US" sz="2000" dirty="0"/>
          </a:p>
        </p:txBody>
      </p:sp>
      <p:sp>
        <p:nvSpPr>
          <p:cNvPr id="10" name="Tarjeta"/>
          <p:cNvSpPr/>
          <p:nvPr/>
        </p:nvSpPr>
        <p:spPr>
          <a:xfrm>
            <a:off x="4368698" y="1965960"/>
            <a:ext cx="3454298" cy="1463040"/>
          </a:xfrm>
          <a:prstGeom prst="roundRect">
            <a:avLst>
              <a:gd name="adj" fmla="val 9375"/>
            </a:avLst>
          </a:prstGeom>
          <a:solidFill>
            <a:schemeClr val="bg2"/>
          </a:solidFill>
          <a:ln/>
        </p:spPr>
      </p:sp>
      <p:sp>
        <p:nvSpPr>
          <p:cNvPr id="11" name="¿Poco texto?"/>
          <p:cNvSpPr/>
          <p:nvPr/>
        </p:nvSpPr>
        <p:spPr>
          <a:xfrm>
            <a:off x="4643018" y="2331720"/>
            <a:ext cx="731520" cy="731520"/>
          </a:xfrm>
          <a:prstGeom prst="ellipse">
            <a:avLst/>
          </a:prstGeom>
          <a:solidFill>
            <a:schemeClr val="accent1"/>
          </a:solidFill>
          <a:ln/>
        </p:spPr>
      </p:sp>
      <p:pic>
        <p:nvPicPr>
          <p:cNvPr id="12" name="Image 1" descr="¿Poco texto?"/>
          <p:cNvPicPr>
            <a:picLocks noChangeAspect="1"/>
          </p:cNvPicPr>
          <p:nvPr/>
        </p:nvPicPr>
        <p:blipFill>
          <a:blip r:embed="rId3"/>
          <a:stretch>
            <a:fillRect/>
          </a:stretch>
        </p:blipFill>
        <p:spPr>
          <a:xfrm>
            <a:off x="4818583" y="2507285"/>
            <a:ext cx="380390" cy="380390"/>
          </a:xfrm>
          <a:prstGeom prst="rect">
            <a:avLst/>
          </a:prstGeom>
        </p:spPr>
      </p:pic>
      <p:sp>
        <p:nvSpPr>
          <p:cNvPr id="13" name="Text 9"/>
          <p:cNvSpPr txBox="1"/>
          <p:nvPr/>
        </p:nvSpPr>
        <p:spPr>
          <a:xfrm>
            <a:off x="5557418" y="1965960"/>
            <a:ext cx="2082698" cy="1463040"/>
          </a:xfrm>
          <a:prstGeom prst="rect">
            <a:avLst/>
          </a:prstGeom>
          <a:noFill/>
          <a:ln/>
        </p:spPr>
        <p:txBody>
          <a:bodyPr wrap="square" lIns="0" tIns="0" rIns="0" bIns="0" rtlCol="0" anchor="ctr"/>
          <a:lstStyle/>
          <a:p>
            <a:pPr marL="0" indent="0">
              <a:buNone/>
            </a:pPr>
            <a:r>
              <a:rPr lang="en-US" sz="2000" b="1" dirty="0">
                <a:solidFill>
                  <a:schemeClr val="tx1"/>
                </a:solidFill>
              </a:rPr>
              <a:t>¿Poco texto?</a:t>
            </a:r>
            <a:endParaRPr lang="en-US" sz="2000" dirty="0"/>
          </a:p>
        </p:txBody>
      </p:sp>
      <p:sp>
        <p:nvSpPr>
          <p:cNvPr id="14" name="Tarjeta"/>
          <p:cNvSpPr/>
          <p:nvPr/>
        </p:nvSpPr>
        <p:spPr>
          <a:xfrm>
            <a:off x="8188757" y="1965960"/>
            <a:ext cx="3454298" cy="1463040"/>
          </a:xfrm>
          <a:prstGeom prst="roundRect">
            <a:avLst>
              <a:gd name="adj" fmla="val 9375"/>
            </a:avLst>
          </a:prstGeom>
          <a:solidFill>
            <a:schemeClr val="bg2"/>
          </a:solidFill>
          <a:ln/>
        </p:spPr>
      </p:sp>
      <p:sp>
        <p:nvSpPr>
          <p:cNvPr id="15" name="¿Alguna cifra sin justificar?"/>
          <p:cNvSpPr/>
          <p:nvPr/>
        </p:nvSpPr>
        <p:spPr>
          <a:xfrm>
            <a:off x="8463077" y="2331720"/>
            <a:ext cx="731520" cy="731520"/>
          </a:xfrm>
          <a:prstGeom prst="ellipse">
            <a:avLst/>
          </a:prstGeom>
          <a:solidFill>
            <a:schemeClr val="accent1"/>
          </a:solidFill>
          <a:ln/>
        </p:spPr>
      </p:sp>
      <p:pic>
        <p:nvPicPr>
          <p:cNvPr id="16" name="Image 2" descr="¿Alguna cifra sin justificar?"/>
          <p:cNvPicPr>
            <a:picLocks noChangeAspect="1"/>
          </p:cNvPicPr>
          <p:nvPr/>
        </p:nvPicPr>
        <p:blipFill>
          <a:blip r:embed="rId3"/>
          <a:stretch>
            <a:fillRect/>
          </a:stretch>
        </p:blipFill>
        <p:spPr>
          <a:xfrm>
            <a:off x="8638642" y="2507285"/>
            <a:ext cx="380390" cy="380390"/>
          </a:xfrm>
          <a:prstGeom prst="rect">
            <a:avLst/>
          </a:prstGeom>
        </p:spPr>
      </p:pic>
      <p:sp>
        <p:nvSpPr>
          <p:cNvPr id="17" name="Text 12"/>
          <p:cNvSpPr txBox="1"/>
          <p:nvPr/>
        </p:nvSpPr>
        <p:spPr>
          <a:xfrm>
            <a:off x="9377477" y="1965960"/>
            <a:ext cx="2082698" cy="1463040"/>
          </a:xfrm>
          <a:prstGeom prst="rect">
            <a:avLst/>
          </a:prstGeom>
          <a:noFill/>
          <a:ln/>
        </p:spPr>
        <p:txBody>
          <a:bodyPr wrap="square" lIns="0" tIns="0" rIns="0" bIns="0" rtlCol="0" anchor="ctr"/>
          <a:lstStyle/>
          <a:p>
            <a:pPr marL="0" indent="0">
              <a:buNone/>
            </a:pPr>
            <a:r>
              <a:rPr lang="en-US" sz="2000" b="1" dirty="0">
                <a:solidFill>
                  <a:schemeClr val="tx1"/>
                </a:solidFill>
              </a:rPr>
              <a:t>¿Alguna cifra sin justificar?</a:t>
            </a:r>
            <a:endParaRPr lang="en-US" sz="2000" dirty="0"/>
          </a:p>
        </p:txBody>
      </p:sp>
      <p:sp>
        <p:nvSpPr>
          <p:cNvPr id="18" name="Text 13"/>
          <p:cNvSpPr txBox="1"/>
          <p:nvPr/>
        </p:nvSpPr>
        <p:spPr>
          <a:xfrm>
            <a:off x="548640" y="3749040"/>
            <a:ext cx="11094415" cy="457200"/>
          </a:xfrm>
          <a:prstGeom prst="rect">
            <a:avLst/>
          </a:prstGeom>
          <a:noFill/>
          <a:ln/>
        </p:spPr>
        <p:txBody>
          <a:bodyPr wrap="square" lIns="0" tIns="0" rIns="0" bIns="0" rtlCol="0" anchor="ctr"/>
          <a:lstStyle/>
          <a:p>
            <a:pPr marL="0" indent="0">
              <a:buNone/>
            </a:pPr>
            <a:r>
              <a:rPr lang="en-US" sz="1900" b="1" dirty="0">
                <a:solidFill>
                  <a:schemeClr val="tx1"/>
                </a:solidFill>
              </a:rPr>
              <a:t>Una mejora concreta para la otra pareja:</a:t>
            </a:r>
            <a:endParaRPr lang="en-US" sz="1900" dirty="0"/>
          </a:p>
        </p:txBody>
      </p:sp>
      <p:sp>
        <p:nvSpPr>
          <p:cNvPr id="19" name="Hueco"/>
          <p:cNvSpPr/>
          <p:nvPr/>
        </p:nvSpPr>
        <p:spPr>
          <a:xfrm>
            <a:off x="548640" y="4297680"/>
            <a:ext cx="11094415" cy="1280160"/>
          </a:xfrm>
          <a:prstGeom prst="roundRect">
            <a:avLst>
              <a:gd name="adj" fmla="val 7143"/>
            </a:avLst>
          </a:prstGeom>
          <a:solidFill>
            <a:schemeClr val="bg2"/>
          </a:solidFill>
          <a:ln w="12700">
            <a:solidFill>
              <a:srgbClr val="8A94A6"/>
            </a:solidFill>
            <a:prstDash val="dash"/>
          </a:ln>
        </p:spPr>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Lo que tenéis al terminar</a:t>
            </a:r>
            <a:endParaRPr lang="en-US" sz="3200" dirty="0"/>
          </a:p>
        </p:txBody>
      </p:sp>
      <p:sp>
        <p:nvSpPr>
          <p:cNvPr id="3" name="Tarjeta"/>
          <p:cNvSpPr/>
          <p:nvPr/>
        </p:nvSpPr>
        <p:spPr>
          <a:xfrm>
            <a:off x="548640" y="1554480"/>
            <a:ext cx="3454298" cy="3291840"/>
          </a:xfrm>
          <a:prstGeom prst="roundRect">
            <a:avLst>
              <a:gd name="adj" fmla="val 4167"/>
            </a:avLst>
          </a:prstGeom>
          <a:solidFill>
            <a:schemeClr val="bg2"/>
          </a:solidFill>
          <a:ln/>
        </p:spPr>
      </p:sp>
      <p:sp>
        <p:nvSpPr>
          <p:cNvPr id="4" name="Matriz de decisión"/>
          <p:cNvSpPr/>
          <p:nvPr/>
        </p:nvSpPr>
        <p:spPr>
          <a:xfrm>
            <a:off x="1589989" y="1920240"/>
            <a:ext cx="1371600" cy="1371600"/>
          </a:xfrm>
          <a:prstGeom prst="ellipse">
            <a:avLst/>
          </a:prstGeom>
          <a:solidFill>
            <a:schemeClr val="accent1"/>
          </a:solidFill>
          <a:ln/>
        </p:spPr>
      </p:sp>
      <p:pic>
        <p:nvPicPr>
          <p:cNvPr id="5" name="Image 0" descr="Matriz de decisión"/>
          <p:cNvPicPr>
            <a:picLocks noChangeAspect="1"/>
          </p:cNvPicPr>
          <p:nvPr/>
        </p:nvPicPr>
        <p:blipFill>
          <a:blip r:embed="rId3"/>
          <a:stretch>
            <a:fillRect/>
          </a:stretch>
        </p:blipFill>
        <p:spPr>
          <a:xfrm>
            <a:off x="1919173" y="2249424"/>
            <a:ext cx="713232" cy="713232"/>
          </a:xfrm>
          <a:prstGeom prst="rect">
            <a:avLst/>
          </a:prstGeom>
        </p:spPr>
      </p:pic>
      <p:sp>
        <p:nvSpPr>
          <p:cNvPr id="6" name="Text 3"/>
          <p:cNvSpPr txBox="1"/>
          <p:nvPr/>
        </p:nvSpPr>
        <p:spPr>
          <a:xfrm>
            <a:off x="822960" y="3520440"/>
            <a:ext cx="2905658" cy="1143000"/>
          </a:xfrm>
          <a:prstGeom prst="rect">
            <a:avLst/>
          </a:prstGeom>
          <a:noFill/>
          <a:ln/>
        </p:spPr>
        <p:txBody>
          <a:bodyPr wrap="square" lIns="0" tIns="0" rIns="0" bIns="0" rtlCol="0" anchor="t"/>
          <a:lstStyle/>
          <a:p>
            <a:pPr marL="0" indent="0" algn="ctr">
              <a:buNone/>
            </a:pPr>
            <a:r>
              <a:rPr lang="en-US" sz="2400" b="1" dirty="0">
                <a:solidFill>
                  <a:schemeClr val="tx1"/>
                </a:solidFill>
              </a:rPr>
              <a:t>Matriz de decisión</a:t>
            </a:r>
            <a:endParaRPr lang="en-US" sz="2400" dirty="0"/>
          </a:p>
          <a:p>
            <a:pPr marL="0" indent="0" algn="ctr">
              <a:buNone/>
            </a:pPr>
            <a:r>
              <a:rPr lang="en-US" sz="1700" dirty="0">
                <a:solidFill>
                  <a:schemeClr val="tx2"/>
                </a:solidFill>
              </a:rPr>
              <a:t>Bloque 3</a:t>
            </a:r>
            <a:endParaRPr lang="en-US" sz="2400" dirty="0"/>
          </a:p>
        </p:txBody>
      </p:sp>
      <p:sp>
        <p:nvSpPr>
          <p:cNvPr id="7" name="Tarjeta"/>
          <p:cNvSpPr/>
          <p:nvPr/>
        </p:nvSpPr>
        <p:spPr>
          <a:xfrm>
            <a:off x="4368698" y="1554480"/>
            <a:ext cx="3454298" cy="3291840"/>
          </a:xfrm>
          <a:prstGeom prst="roundRect">
            <a:avLst>
              <a:gd name="adj" fmla="val 4167"/>
            </a:avLst>
          </a:prstGeom>
          <a:solidFill>
            <a:schemeClr val="bg2"/>
          </a:solidFill>
          <a:ln/>
        </p:spPr>
      </p:sp>
      <p:sp>
        <p:nvSpPr>
          <p:cNvPr id="8" name="Documento del proyecto"/>
          <p:cNvSpPr/>
          <p:nvPr/>
        </p:nvSpPr>
        <p:spPr>
          <a:xfrm>
            <a:off x="5410048" y="1920240"/>
            <a:ext cx="1371600" cy="1371600"/>
          </a:xfrm>
          <a:prstGeom prst="ellipse">
            <a:avLst/>
          </a:prstGeom>
          <a:solidFill>
            <a:schemeClr val="accent1"/>
          </a:solidFill>
          <a:ln/>
        </p:spPr>
      </p:sp>
      <p:pic>
        <p:nvPicPr>
          <p:cNvPr id="9" name="Image 1" descr="Documento del proyecto"/>
          <p:cNvPicPr>
            <a:picLocks noChangeAspect="1"/>
          </p:cNvPicPr>
          <p:nvPr/>
        </p:nvPicPr>
        <p:blipFill>
          <a:blip r:embed="rId4"/>
          <a:stretch>
            <a:fillRect/>
          </a:stretch>
        </p:blipFill>
        <p:spPr>
          <a:xfrm>
            <a:off x="5739232" y="2249424"/>
            <a:ext cx="713232" cy="713232"/>
          </a:xfrm>
          <a:prstGeom prst="rect">
            <a:avLst/>
          </a:prstGeom>
        </p:spPr>
      </p:pic>
      <p:sp>
        <p:nvSpPr>
          <p:cNvPr id="10" name="Text 6"/>
          <p:cNvSpPr txBox="1"/>
          <p:nvPr/>
        </p:nvSpPr>
        <p:spPr>
          <a:xfrm>
            <a:off x="4643018" y="3520440"/>
            <a:ext cx="2905658" cy="1143000"/>
          </a:xfrm>
          <a:prstGeom prst="rect">
            <a:avLst/>
          </a:prstGeom>
          <a:noFill/>
          <a:ln/>
        </p:spPr>
        <p:txBody>
          <a:bodyPr wrap="square" lIns="0" tIns="0" rIns="0" bIns="0" rtlCol="0" anchor="t"/>
          <a:lstStyle/>
          <a:p>
            <a:pPr marL="0" indent="0" algn="ctr">
              <a:buNone/>
            </a:pPr>
            <a:r>
              <a:rPr lang="en-US" sz="2400" b="1" dirty="0">
                <a:solidFill>
                  <a:schemeClr val="tx1"/>
                </a:solidFill>
              </a:rPr>
              <a:t>Documento del proyecto</a:t>
            </a:r>
            <a:endParaRPr lang="en-US" sz="2400" dirty="0"/>
          </a:p>
          <a:p>
            <a:pPr marL="0" indent="0" algn="ctr">
              <a:buNone/>
            </a:pPr>
            <a:r>
              <a:rPr lang="en-US" sz="1700" dirty="0">
                <a:solidFill>
                  <a:schemeClr val="tx2"/>
                </a:solidFill>
              </a:rPr>
              <a:t>Bloque 4</a:t>
            </a:r>
            <a:endParaRPr lang="en-US" sz="2400" dirty="0"/>
          </a:p>
        </p:txBody>
      </p:sp>
      <p:sp>
        <p:nvSpPr>
          <p:cNvPr id="11" name="Tarjeta"/>
          <p:cNvSpPr/>
          <p:nvPr/>
        </p:nvSpPr>
        <p:spPr>
          <a:xfrm>
            <a:off x="8188757" y="1554480"/>
            <a:ext cx="3454298" cy="3291840"/>
          </a:xfrm>
          <a:prstGeom prst="roundRect">
            <a:avLst>
              <a:gd name="adj" fmla="val 4167"/>
            </a:avLst>
          </a:prstGeom>
          <a:solidFill>
            <a:schemeClr val="bg2"/>
          </a:solidFill>
          <a:ln/>
        </p:spPr>
      </p:sp>
      <p:sp>
        <p:nvSpPr>
          <p:cNvPr id="12" name="Presentación"/>
          <p:cNvSpPr/>
          <p:nvPr/>
        </p:nvSpPr>
        <p:spPr>
          <a:xfrm>
            <a:off x="9230106" y="1920240"/>
            <a:ext cx="1371600" cy="1371600"/>
          </a:xfrm>
          <a:prstGeom prst="ellipse">
            <a:avLst/>
          </a:prstGeom>
          <a:solidFill>
            <a:schemeClr val="accent1"/>
          </a:solidFill>
          <a:ln/>
        </p:spPr>
      </p:sp>
      <p:pic>
        <p:nvPicPr>
          <p:cNvPr id="13" name="Image 2" descr="Presentación"/>
          <p:cNvPicPr>
            <a:picLocks noChangeAspect="1"/>
          </p:cNvPicPr>
          <p:nvPr/>
        </p:nvPicPr>
        <p:blipFill>
          <a:blip r:embed="rId5"/>
          <a:stretch>
            <a:fillRect/>
          </a:stretch>
        </p:blipFill>
        <p:spPr>
          <a:xfrm>
            <a:off x="9559290" y="2249424"/>
            <a:ext cx="713232" cy="713232"/>
          </a:xfrm>
          <a:prstGeom prst="rect">
            <a:avLst/>
          </a:prstGeom>
        </p:spPr>
      </p:pic>
      <p:sp>
        <p:nvSpPr>
          <p:cNvPr id="14" name="Text 9"/>
          <p:cNvSpPr txBox="1"/>
          <p:nvPr/>
        </p:nvSpPr>
        <p:spPr>
          <a:xfrm>
            <a:off x="8463077" y="3520440"/>
            <a:ext cx="2905658" cy="1143000"/>
          </a:xfrm>
          <a:prstGeom prst="rect">
            <a:avLst/>
          </a:prstGeom>
          <a:noFill/>
          <a:ln/>
        </p:spPr>
        <p:txBody>
          <a:bodyPr wrap="square" lIns="0" tIns="0" rIns="0" bIns="0" rtlCol="0" anchor="t"/>
          <a:lstStyle/>
          <a:p>
            <a:pPr marL="0" indent="0" algn="ctr">
              <a:buNone/>
            </a:pPr>
            <a:r>
              <a:rPr lang="en-US" sz="2400" b="1" dirty="0">
                <a:solidFill>
                  <a:schemeClr val="tx1"/>
                </a:solidFill>
              </a:rPr>
              <a:t>Presentación</a:t>
            </a:r>
            <a:endParaRPr lang="en-US" sz="2400" dirty="0"/>
          </a:p>
          <a:p>
            <a:pPr marL="0" indent="0" algn="ctr">
              <a:buNone/>
            </a:pPr>
            <a:r>
              <a:rPr lang="en-US" sz="1700" dirty="0">
                <a:solidFill>
                  <a:schemeClr val="tx2"/>
                </a:solidFill>
              </a:rPr>
              <a:t>Bloque 4</a:t>
            </a:r>
            <a:endParaRPr lang="en-US" sz="2400" dirty="0"/>
          </a:p>
        </p:txBody>
      </p:sp>
      <p:sp>
        <p:nvSpPr>
          <p:cNvPr id="15" name="Text 10"/>
          <p:cNvSpPr txBox="1"/>
          <p:nvPr/>
        </p:nvSpPr>
        <p:spPr>
          <a:xfrm>
            <a:off x="548640" y="5212080"/>
            <a:ext cx="11094415" cy="548640"/>
          </a:xfrm>
          <a:prstGeom prst="rect">
            <a:avLst/>
          </a:prstGeom>
          <a:noFill/>
          <a:ln/>
        </p:spPr>
        <p:txBody>
          <a:bodyPr wrap="square" lIns="0" tIns="0" rIns="0" bIns="0" rtlCol="0" anchor="ctr"/>
          <a:lstStyle/>
          <a:p>
            <a:pPr marL="0" indent="0">
              <a:buNone/>
            </a:pPr>
            <a:r>
              <a:rPr lang="en-US" sz="2200" b="1" dirty="0">
                <a:solidFill>
                  <a:schemeClr val="accent3"/>
                </a:solidFill>
              </a:rPr>
              <a:t>Listos para defender vuestra propuesta en el bloque 5.</a:t>
            </a:r>
            <a:endParaRPr lang="en-US" sz="22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737360"/>
            <a:ext cx="2194560" cy="2743200"/>
          </a:xfrm>
          <a:prstGeom prst="rect">
            <a:avLst/>
          </a:prstGeom>
          <a:noFill/>
          <a:ln/>
        </p:spPr>
        <p:txBody>
          <a:bodyPr wrap="square" lIns="0" tIns="0" rIns="0" bIns="0" rtlCol="0" anchor="ctr"/>
          <a:lstStyle/>
          <a:p>
            <a:pPr marL="0" indent="0" algn="ctr">
              <a:buNone/>
            </a:pPr>
            <a:r>
              <a:rPr lang="en-US" sz="20000" b="1" dirty="0">
                <a:solidFill>
                  <a:schemeClr val="accent1"/>
                </a:solidFill>
                <a:latin typeface="Arial" pitchFamily="34" charset="0"/>
                <a:ea typeface="Arial" pitchFamily="34" charset="-122"/>
                <a:cs typeface="Arial" pitchFamily="34" charset="-120"/>
              </a:rPr>
              <a:t>5</a:t>
            </a:r>
            <a:endParaRPr lang="en-US" sz="20000" dirty="0"/>
          </a:p>
        </p:txBody>
      </p:sp>
      <p:sp>
        <p:nvSpPr>
          <p:cNvPr id="3" name="Text 0"/>
          <p:cNvSpPr>
            <a:spLocks noGrp="1"/>
          </p:cNvSpPr>
          <p:nvPr>
            <p:ph type="title" idx="100" hasCustomPrompt="1"/>
          </p:nvPr>
        </p:nvSpPr>
        <p:spPr>
          <a:xfrm>
            <a:off x="3108960" y="2103120"/>
            <a:ext cx="8503920" cy="1463040"/>
          </a:xfrm>
          <a:prstGeom prst="rect">
            <a:avLst/>
          </a:prstGeom>
          <a:noFill/>
          <a:ln/>
        </p:spPr>
        <p:txBody>
          <a:bodyPr wrap="square" lIns="0" tIns="0" rIns="0" bIns="0" rtlCol="0" anchor="b"/>
          <a:lstStyle/>
          <a:p>
            <a:pPr marL="0" indent="0" algn="l">
              <a:buNone/>
            </a:pPr>
            <a:r>
              <a:rPr lang="en-US" sz="4000" b="1" dirty="0">
                <a:solidFill>
                  <a:schemeClr val="bg1"/>
                </a:solidFill>
              </a:rPr>
              <a:t>Comunicación, pensamiento crítico y aplicación profesional</a:t>
            </a:r>
            <a:endParaRPr lang="en-US" sz="4000" dirty="0"/>
          </a:p>
        </p:txBody>
      </p:sp>
      <p:sp>
        <p:nvSpPr>
          <p:cNvPr id="4" name="Text 0"/>
          <p:cNvSpPr>
            <a:spLocks noGrp="1"/>
          </p:cNvSpPr>
          <p:nvPr>
            <p:ph type="body" idx="101" hasCustomPrompt="1"/>
          </p:nvPr>
        </p:nvSpPr>
        <p:spPr>
          <a:xfrm>
            <a:off x="3108960" y="3749040"/>
            <a:ext cx="8503920" cy="731520"/>
          </a:xfrm>
          <a:prstGeom prst="rect">
            <a:avLst/>
          </a:prstGeom>
          <a:noFill/>
          <a:ln/>
        </p:spPr>
        <p:txBody>
          <a:bodyPr wrap="square" lIns="0" tIns="0" rIns="0" bIns="0" rtlCol="0" anchor="t"/>
          <a:lstStyle/>
          <a:p>
            <a:pPr marL="0" indent="0">
              <a:buNone/>
            </a:pPr>
            <a:r>
              <a:rPr lang="en-US" sz="2200" dirty="0">
                <a:solidFill>
                  <a:schemeClr val="accent1"/>
                </a:solidFill>
              </a:rPr>
              <a:t>60 minutos</a:t>
            </a:r>
            <a:endParaRPr lang="en-US" sz="2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Qué vamos a hacer en este bloque</a:t>
            </a:r>
            <a:endParaRPr lang="en-US" sz="3200" dirty="0"/>
          </a:p>
        </p:txBody>
      </p:sp>
      <p:sp>
        <p:nvSpPr>
          <p:cNvPr id="3" name="Shape 1"/>
          <p:cNvSpPr/>
          <p:nvPr/>
        </p:nvSpPr>
        <p:spPr>
          <a:xfrm>
            <a:off x="1658082" y="2377440"/>
            <a:ext cx="8875532" cy="0"/>
          </a:xfrm>
          <a:prstGeom prst="line">
            <a:avLst/>
          </a:prstGeom>
          <a:noFill/>
          <a:ln w="50800">
            <a:solidFill>
              <a:srgbClr val="F2F4F8"/>
            </a:solidFill>
            <a:prstDash val="solid"/>
          </a:ln>
        </p:spPr>
      </p:sp>
      <p:sp>
        <p:nvSpPr>
          <p:cNvPr id="4" name="Paso 1"/>
          <p:cNvSpPr/>
          <p:nvPr/>
        </p:nvSpPr>
        <p:spPr>
          <a:xfrm>
            <a:off x="1040862" y="1760220"/>
            <a:ext cx="1234440" cy="1234440"/>
          </a:xfrm>
          <a:prstGeom prst="ellipse">
            <a:avLst/>
          </a:prstGeom>
          <a:solidFill>
            <a:schemeClr val="accent1"/>
          </a:solidFill>
          <a:ln/>
        </p:spPr>
      </p:sp>
      <p:sp>
        <p:nvSpPr>
          <p:cNvPr id="5" name="Text 3"/>
          <p:cNvSpPr txBox="1"/>
          <p:nvPr/>
        </p:nvSpPr>
        <p:spPr>
          <a:xfrm>
            <a:off x="1040862" y="1760220"/>
            <a:ext cx="1234440" cy="1234440"/>
          </a:xfrm>
          <a:prstGeom prst="rect">
            <a:avLst/>
          </a:prstGeom>
          <a:noFill/>
          <a:ln/>
        </p:spPr>
        <p:txBody>
          <a:bodyPr wrap="square" lIns="0" tIns="0" rIns="0" bIns="0" rtlCol="0" anchor="ctr"/>
          <a:lstStyle/>
          <a:p>
            <a:pPr marL="0" indent="0" algn="ctr">
              <a:buNone/>
            </a:pPr>
            <a:r>
              <a:rPr lang="en-US" sz="1700" b="1" dirty="0">
                <a:solidFill>
                  <a:schemeClr val="tx1"/>
                </a:solidFill>
              </a:rPr>
              <a:t>240–250</a:t>
            </a:r>
            <a:endParaRPr lang="en-US" sz="1700" dirty="0"/>
          </a:p>
        </p:txBody>
      </p:sp>
      <p:sp>
        <p:nvSpPr>
          <p:cNvPr id="6" name="Text 4"/>
          <p:cNvSpPr txBox="1"/>
          <p:nvPr/>
        </p:nvSpPr>
        <p:spPr>
          <a:xfrm>
            <a:off x="640080"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Cómo defender una idea</a:t>
            </a:r>
            <a:endParaRPr lang="en-US" sz="1700" dirty="0"/>
          </a:p>
        </p:txBody>
      </p:sp>
      <p:sp>
        <p:nvSpPr>
          <p:cNvPr id="7" name="Paso 2"/>
          <p:cNvSpPr/>
          <p:nvPr/>
        </p:nvSpPr>
        <p:spPr>
          <a:xfrm>
            <a:off x="3259745" y="1760220"/>
            <a:ext cx="1234440" cy="1234440"/>
          </a:xfrm>
          <a:prstGeom prst="ellipse">
            <a:avLst/>
          </a:prstGeom>
          <a:solidFill>
            <a:schemeClr val="accent1"/>
          </a:solidFill>
          <a:ln/>
        </p:spPr>
      </p:sp>
      <p:sp>
        <p:nvSpPr>
          <p:cNvPr id="8" name="Text 6"/>
          <p:cNvSpPr txBox="1"/>
          <p:nvPr/>
        </p:nvSpPr>
        <p:spPr>
          <a:xfrm>
            <a:off x="3259745" y="1760220"/>
            <a:ext cx="1234440" cy="1234440"/>
          </a:xfrm>
          <a:prstGeom prst="rect">
            <a:avLst/>
          </a:prstGeom>
          <a:noFill/>
          <a:ln/>
        </p:spPr>
        <p:txBody>
          <a:bodyPr wrap="square" lIns="0" tIns="0" rIns="0" bIns="0" rtlCol="0" anchor="ctr"/>
          <a:lstStyle/>
          <a:p>
            <a:pPr marL="0" indent="0" algn="ctr">
              <a:buNone/>
            </a:pPr>
            <a:r>
              <a:rPr lang="en-US" sz="1700" b="1" dirty="0">
                <a:solidFill>
                  <a:schemeClr val="tx1"/>
                </a:solidFill>
              </a:rPr>
              <a:t>250–275</a:t>
            </a:r>
            <a:endParaRPr lang="en-US" sz="1700" dirty="0"/>
          </a:p>
        </p:txBody>
      </p:sp>
      <p:sp>
        <p:nvSpPr>
          <p:cNvPr id="9" name="Text 7"/>
          <p:cNvSpPr txBox="1"/>
          <p:nvPr/>
        </p:nvSpPr>
        <p:spPr>
          <a:xfrm>
            <a:off x="2858963"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Presentaciones y comentarios</a:t>
            </a:r>
            <a:endParaRPr lang="en-US" sz="1700" dirty="0"/>
          </a:p>
        </p:txBody>
      </p:sp>
      <p:sp>
        <p:nvSpPr>
          <p:cNvPr id="10" name="Paso 3"/>
          <p:cNvSpPr/>
          <p:nvPr/>
        </p:nvSpPr>
        <p:spPr>
          <a:xfrm>
            <a:off x="5478628" y="1760220"/>
            <a:ext cx="1234440" cy="1234440"/>
          </a:xfrm>
          <a:prstGeom prst="ellipse">
            <a:avLst/>
          </a:prstGeom>
          <a:solidFill>
            <a:schemeClr val="accent2"/>
          </a:solidFill>
          <a:ln/>
        </p:spPr>
      </p:sp>
      <p:sp>
        <p:nvSpPr>
          <p:cNvPr id="11" name="Text 9"/>
          <p:cNvSpPr txBox="1"/>
          <p:nvPr/>
        </p:nvSpPr>
        <p:spPr>
          <a:xfrm>
            <a:off x="5478628" y="1760220"/>
            <a:ext cx="1234440" cy="1234440"/>
          </a:xfrm>
          <a:prstGeom prst="rect">
            <a:avLst/>
          </a:prstGeom>
          <a:noFill/>
          <a:ln/>
        </p:spPr>
        <p:txBody>
          <a:bodyPr wrap="square" lIns="0" tIns="0" rIns="0" bIns="0" rtlCol="0" anchor="ctr"/>
          <a:lstStyle/>
          <a:p>
            <a:pPr marL="0" indent="0" algn="ctr">
              <a:buNone/>
            </a:pPr>
            <a:r>
              <a:rPr lang="en-US" sz="1700" b="1" dirty="0">
                <a:solidFill>
                  <a:schemeClr val="bg1"/>
                </a:solidFill>
              </a:rPr>
              <a:t>275–285</a:t>
            </a:r>
            <a:endParaRPr lang="en-US" sz="1700" dirty="0"/>
          </a:p>
        </p:txBody>
      </p:sp>
      <p:sp>
        <p:nvSpPr>
          <p:cNvPr id="12" name="Text 10"/>
          <p:cNvSpPr txBox="1"/>
          <p:nvPr/>
        </p:nvSpPr>
        <p:spPr>
          <a:xfrm>
            <a:off x="5077846"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La IA como evaluadora crítica</a:t>
            </a:r>
            <a:endParaRPr lang="en-US" sz="1700" dirty="0"/>
          </a:p>
        </p:txBody>
      </p:sp>
      <p:sp>
        <p:nvSpPr>
          <p:cNvPr id="13" name="Paso 4"/>
          <p:cNvSpPr/>
          <p:nvPr/>
        </p:nvSpPr>
        <p:spPr>
          <a:xfrm>
            <a:off x="7697511" y="1760220"/>
            <a:ext cx="1234440" cy="1234440"/>
          </a:xfrm>
          <a:prstGeom prst="ellipse">
            <a:avLst/>
          </a:prstGeom>
          <a:solidFill>
            <a:schemeClr val="accent1"/>
          </a:solidFill>
          <a:ln/>
        </p:spPr>
      </p:sp>
      <p:sp>
        <p:nvSpPr>
          <p:cNvPr id="14" name="Text 12"/>
          <p:cNvSpPr txBox="1"/>
          <p:nvPr/>
        </p:nvSpPr>
        <p:spPr>
          <a:xfrm>
            <a:off x="7697511" y="1760220"/>
            <a:ext cx="1234440" cy="1234440"/>
          </a:xfrm>
          <a:prstGeom prst="rect">
            <a:avLst/>
          </a:prstGeom>
          <a:noFill/>
          <a:ln/>
        </p:spPr>
        <p:txBody>
          <a:bodyPr wrap="square" lIns="0" tIns="0" rIns="0" bIns="0" rtlCol="0" anchor="ctr"/>
          <a:lstStyle/>
          <a:p>
            <a:pPr marL="0" indent="0" algn="ctr">
              <a:buNone/>
            </a:pPr>
            <a:r>
              <a:rPr lang="en-US" sz="1700" b="1" dirty="0">
                <a:solidFill>
                  <a:schemeClr val="tx1"/>
                </a:solidFill>
              </a:rPr>
              <a:t>285–295</a:t>
            </a:r>
            <a:endParaRPr lang="en-US" sz="1700" dirty="0"/>
          </a:p>
        </p:txBody>
      </p:sp>
      <p:sp>
        <p:nvSpPr>
          <p:cNvPr id="15" name="Text 13"/>
          <p:cNvSpPr txBox="1"/>
          <p:nvPr/>
        </p:nvSpPr>
        <p:spPr>
          <a:xfrm>
            <a:off x="7296729"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Lo que habéis hecho, en una entrevista</a:t>
            </a:r>
            <a:endParaRPr lang="en-US" sz="1700" dirty="0"/>
          </a:p>
        </p:txBody>
      </p:sp>
      <p:sp>
        <p:nvSpPr>
          <p:cNvPr id="16" name="Paso 5"/>
          <p:cNvSpPr/>
          <p:nvPr/>
        </p:nvSpPr>
        <p:spPr>
          <a:xfrm>
            <a:off x="9916394" y="1760220"/>
            <a:ext cx="1234440" cy="1234440"/>
          </a:xfrm>
          <a:prstGeom prst="ellipse">
            <a:avLst/>
          </a:prstGeom>
          <a:solidFill>
            <a:schemeClr val="tx2"/>
          </a:solidFill>
          <a:ln/>
        </p:spPr>
      </p:sp>
      <p:sp>
        <p:nvSpPr>
          <p:cNvPr id="17" name="Text 15"/>
          <p:cNvSpPr txBox="1"/>
          <p:nvPr/>
        </p:nvSpPr>
        <p:spPr>
          <a:xfrm>
            <a:off x="9916394" y="1760220"/>
            <a:ext cx="1234440" cy="1234440"/>
          </a:xfrm>
          <a:prstGeom prst="rect">
            <a:avLst/>
          </a:prstGeom>
          <a:noFill/>
          <a:ln/>
        </p:spPr>
        <p:txBody>
          <a:bodyPr wrap="square" lIns="0" tIns="0" rIns="0" bIns="0" rtlCol="0" anchor="ctr"/>
          <a:lstStyle/>
          <a:p>
            <a:pPr marL="0" indent="0" algn="ctr">
              <a:buNone/>
            </a:pPr>
            <a:r>
              <a:rPr lang="en-US" sz="1700" b="1" dirty="0">
                <a:solidFill>
                  <a:schemeClr val="bg1"/>
                </a:solidFill>
              </a:rPr>
              <a:t>295–300</a:t>
            </a:r>
            <a:endParaRPr lang="en-US" sz="1700" dirty="0"/>
          </a:p>
        </p:txBody>
      </p:sp>
      <p:sp>
        <p:nvSpPr>
          <p:cNvPr id="18" name="Text 16"/>
          <p:cNvSpPr txBox="1"/>
          <p:nvPr/>
        </p:nvSpPr>
        <p:spPr>
          <a:xfrm>
            <a:off x="9515612" y="3223260"/>
            <a:ext cx="2036003" cy="914400"/>
          </a:xfrm>
          <a:prstGeom prst="rect">
            <a:avLst/>
          </a:prstGeom>
          <a:noFill/>
          <a:ln/>
        </p:spPr>
        <p:txBody>
          <a:bodyPr wrap="square" lIns="0" tIns="0" rIns="0" bIns="0" rtlCol="0" anchor="t"/>
          <a:lstStyle/>
          <a:p>
            <a:pPr marL="0" indent="0" algn="ctr">
              <a:buNone/>
            </a:pPr>
            <a:r>
              <a:rPr lang="en-US" sz="1700" dirty="0">
                <a:solidFill>
                  <a:schemeClr val="tx1"/>
                </a:solidFill>
              </a:rPr>
              <a:t>Comprobación final</a:t>
            </a:r>
            <a:endParaRPr lang="en-US" sz="17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¿Cuál convence más?</a:t>
            </a:r>
            <a:endParaRPr lang="en-US" sz="3200" dirty="0"/>
          </a:p>
        </p:txBody>
      </p:sp>
      <p:sp>
        <p:nvSpPr>
          <p:cNvPr id="3" name="Etiqueta de tiempo"/>
          <p:cNvSpPr/>
          <p:nvPr/>
        </p:nvSpPr>
        <p:spPr>
          <a:xfrm>
            <a:off x="8241487" y="548640"/>
            <a:ext cx="3401568" cy="457200"/>
          </a:xfrm>
          <a:prstGeom prst="roundRect">
            <a:avLst>
              <a:gd name="adj" fmla="val 50000"/>
            </a:avLst>
          </a:prstGeom>
          <a:solidFill>
            <a:schemeClr val="accent1"/>
          </a:solidFill>
          <a:ln/>
        </p:spPr>
      </p:sp>
      <p:sp>
        <p:nvSpPr>
          <p:cNvPr id="4" name="Text 2"/>
          <p:cNvSpPr txBox="1"/>
          <p:nvPr/>
        </p:nvSpPr>
        <p:spPr>
          <a:xfrm>
            <a:off x="8241487" y="548640"/>
            <a:ext cx="3401568" cy="457200"/>
          </a:xfrm>
          <a:prstGeom prst="rect">
            <a:avLst/>
          </a:prstGeom>
          <a:noFill/>
          <a:ln/>
        </p:spPr>
        <p:txBody>
          <a:bodyPr wrap="square" lIns="0" tIns="0" rIns="0" bIns="0" rtlCol="0" anchor="ctr"/>
          <a:lstStyle/>
          <a:p>
            <a:pPr marL="0" indent="0" algn="ctr">
              <a:buNone/>
            </a:pPr>
            <a:r>
              <a:rPr lang="en-US" sz="1400" b="1" dirty="0">
                <a:solidFill>
                  <a:schemeClr val="tx1"/>
                </a:solidFill>
              </a:rPr>
              <a:t>Min. 240–244 · Todo el grupo</a:t>
            </a:r>
            <a:endParaRPr lang="en-US" sz="1400" dirty="0"/>
          </a:p>
        </p:txBody>
      </p:sp>
      <p:sp>
        <p:nvSpPr>
          <p:cNvPr id="5" name="Tarjeta"/>
          <p:cNvSpPr/>
          <p:nvPr/>
        </p:nvSpPr>
        <p:spPr>
          <a:xfrm>
            <a:off x="548640" y="1508760"/>
            <a:ext cx="5341468" cy="3977640"/>
          </a:xfrm>
          <a:prstGeom prst="roundRect">
            <a:avLst>
              <a:gd name="adj" fmla="val 3448"/>
            </a:avLst>
          </a:prstGeom>
          <a:solidFill>
            <a:schemeClr val="bg2"/>
          </a:solidFill>
          <a:ln/>
        </p:spPr>
      </p:sp>
      <p:sp>
        <p:nvSpPr>
          <p:cNvPr id="6" name="Versión A"/>
          <p:cNvSpPr/>
          <p:nvPr/>
        </p:nvSpPr>
        <p:spPr>
          <a:xfrm>
            <a:off x="868680" y="1783080"/>
            <a:ext cx="2011680" cy="548640"/>
          </a:xfrm>
          <a:prstGeom prst="roundRect">
            <a:avLst>
              <a:gd name="adj" fmla="val 50000"/>
            </a:avLst>
          </a:prstGeom>
          <a:solidFill>
            <a:schemeClr val="accent3"/>
          </a:solidFill>
          <a:ln/>
        </p:spPr>
      </p:sp>
      <p:sp>
        <p:nvSpPr>
          <p:cNvPr id="7" name="Text 5"/>
          <p:cNvSpPr txBox="1"/>
          <p:nvPr/>
        </p:nvSpPr>
        <p:spPr>
          <a:xfrm>
            <a:off x="868680" y="1783080"/>
            <a:ext cx="2011680" cy="548640"/>
          </a:xfrm>
          <a:prstGeom prst="rect">
            <a:avLst/>
          </a:prstGeom>
          <a:noFill/>
          <a:ln/>
        </p:spPr>
        <p:txBody>
          <a:bodyPr wrap="square" lIns="0" tIns="0" rIns="0" bIns="0" rtlCol="0" anchor="ctr"/>
          <a:lstStyle/>
          <a:p>
            <a:pPr marL="0" indent="0" algn="ctr">
              <a:buNone/>
            </a:pPr>
            <a:r>
              <a:rPr lang="en-US" sz="1800" b="1" dirty="0">
                <a:solidFill>
                  <a:schemeClr val="bg1"/>
                </a:solidFill>
              </a:rPr>
              <a:t>Versión A</a:t>
            </a:r>
            <a:endParaRPr lang="en-US" sz="1800" dirty="0"/>
          </a:p>
        </p:txBody>
      </p:sp>
      <p:sp>
        <p:nvSpPr>
          <p:cNvPr id="8" name="Text 6"/>
          <p:cNvSpPr txBox="1"/>
          <p:nvPr/>
        </p:nvSpPr>
        <p:spPr>
          <a:xfrm>
            <a:off x="868680" y="2560320"/>
            <a:ext cx="4701388" cy="2743200"/>
          </a:xfrm>
          <a:prstGeom prst="rect">
            <a:avLst/>
          </a:prstGeom>
          <a:noFill/>
          <a:ln/>
        </p:spPr>
        <p:txBody>
          <a:bodyPr wrap="square" lIns="0" tIns="0" rIns="0" bIns="0" rtlCol="0" anchor="t"/>
          <a:lstStyle/>
          <a:p>
            <a:pPr marL="0" indent="0">
              <a:buNone/>
            </a:pPr>
            <a:r>
              <a:rPr lang="en-US" sz="1900" i="1" dirty="0">
                <a:solidFill>
                  <a:schemeClr val="tx1"/>
                </a:solidFill>
              </a:rPr>
              <a:t>«Proponemos usar formularios de Google, una hoja de cálculo compartida y un chatbot con IA. Es muy moderno, es gratis y todas las empresas lo están usando».</a:t>
            </a:r>
            <a:endParaRPr lang="en-US" sz="1900" dirty="0"/>
          </a:p>
        </p:txBody>
      </p:sp>
      <p:sp>
        <p:nvSpPr>
          <p:cNvPr id="9" name="Tarjeta"/>
          <p:cNvSpPr/>
          <p:nvPr/>
        </p:nvSpPr>
        <p:spPr>
          <a:xfrm>
            <a:off x="6301588" y="1508760"/>
            <a:ext cx="5341468" cy="3977640"/>
          </a:xfrm>
          <a:prstGeom prst="roundRect">
            <a:avLst>
              <a:gd name="adj" fmla="val 3448"/>
            </a:avLst>
          </a:prstGeom>
          <a:solidFill>
            <a:schemeClr val="bg2"/>
          </a:solidFill>
          <a:ln/>
        </p:spPr>
      </p:sp>
      <p:sp>
        <p:nvSpPr>
          <p:cNvPr id="10" name="Versión B"/>
          <p:cNvSpPr/>
          <p:nvPr/>
        </p:nvSpPr>
        <p:spPr>
          <a:xfrm>
            <a:off x="6621628" y="1783080"/>
            <a:ext cx="2011680" cy="548640"/>
          </a:xfrm>
          <a:prstGeom prst="roundRect">
            <a:avLst>
              <a:gd name="adj" fmla="val 50000"/>
            </a:avLst>
          </a:prstGeom>
          <a:solidFill>
            <a:schemeClr val="accent2"/>
          </a:solidFill>
          <a:ln/>
        </p:spPr>
      </p:sp>
      <p:sp>
        <p:nvSpPr>
          <p:cNvPr id="11" name="Text 9"/>
          <p:cNvSpPr txBox="1"/>
          <p:nvPr/>
        </p:nvSpPr>
        <p:spPr>
          <a:xfrm>
            <a:off x="6621628" y="1783080"/>
            <a:ext cx="2011680" cy="548640"/>
          </a:xfrm>
          <a:prstGeom prst="rect">
            <a:avLst/>
          </a:prstGeom>
          <a:noFill/>
          <a:ln/>
        </p:spPr>
        <p:txBody>
          <a:bodyPr wrap="square" lIns="0" tIns="0" rIns="0" bIns="0" rtlCol="0" anchor="ctr"/>
          <a:lstStyle/>
          <a:p>
            <a:pPr marL="0" indent="0" algn="ctr">
              <a:buNone/>
            </a:pPr>
            <a:r>
              <a:rPr lang="en-US" sz="1800" b="1" dirty="0">
                <a:solidFill>
                  <a:schemeClr val="bg1"/>
                </a:solidFill>
              </a:rPr>
              <a:t>Versión B</a:t>
            </a:r>
            <a:endParaRPr lang="en-US" sz="1800" dirty="0"/>
          </a:p>
        </p:txBody>
      </p:sp>
      <p:sp>
        <p:nvSpPr>
          <p:cNvPr id="12" name="Text 10"/>
          <p:cNvSpPr txBox="1"/>
          <p:nvPr/>
        </p:nvSpPr>
        <p:spPr>
          <a:xfrm>
            <a:off x="6621628" y="2560320"/>
            <a:ext cx="4701388" cy="2743200"/>
          </a:xfrm>
          <a:prstGeom prst="rect">
            <a:avLst/>
          </a:prstGeom>
          <a:noFill/>
          <a:ln/>
        </p:spPr>
        <p:txBody>
          <a:bodyPr wrap="square" lIns="0" tIns="0" rIns="0" bIns="0" rtlCol="0" anchor="t"/>
          <a:lstStyle/>
          <a:p>
            <a:pPr marL="0" indent="0">
              <a:buNone/>
            </a:pPr>
            <a:r>
              <a:rPr lang="en-US" sz="1900" i="1" dirty="0">
                <a:solidFill>
                  <a:schemeClr val="tx1"/>
                </a:solidFill>
              </a:rPr>
              <a:t>«Nuestra oficina pierde consultas porque llegan por teléfono y por correo y nadie se encarga de ellas. Proponemos un formulario único que guarde cada consulta en una hoja compartida, con una persona responsable cada día. Lo probaríamos un mes y mediríamos cuántas consultas quedan sin respuesta».</a:t>
            </a:r>
            <a:endParaRPr lang="en-US" sz="1900" dirty="0"/>
          </a:p>
        </p:txBody>
      </p:sp>
      <p:sp>
        <p:nvSpPr>
          <p:cNvPr id="13" name="Text 11"/>
          <p:cNvSpPr txBox="1"/>
          <p:nvPr/>
        </p:nvSpPr>
        <p:spPr>
          <a:xfrm>
            <a:off x="548640" y="5669280"/>
            <a:ext cx="11094415" cy="457200"/>
          </a:xfrm>
          <a:prstGeom prst="rect">
            <a:avLst/>
          </a:prstGeom>
          <a:noFill/>
          <a:ln/>
        </p:spPr>
        <p:txBody>
          <a:bodyPr wrap="square" lIns="0" tIns="0" rIns="0" bIns="0" rtlCol="0" anchor="ctr"/>
          <a:lstStyle/>
          <a:p>
            <a:pPr marL="0" indent="0">
              <a:buNone/>
            </a:pPr>
            <a:r>
              <a:rPr lang="en-US" sz="2000" b="1" dirty="0">
                <a:solidFill>
                  <a:schemeClr val="tx1"/>
                </a:solidFill>
              </a:rPr>
              <a:t>¿Cuál aprobaríais? ¿Por qué?</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La estructura de una buena defensa</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marL="0" indent="0" algn="ctr">
              <a:buNone/>
            </a:pPr>
            <a:r>
              <a:rPr lang="en-US" sz="1400" b="1" dirty="0">
                <a:solidFill>
                  <a:schemeClr val="tx1"/>
                </a:solidFill>
              </a:rPr>
              <a:t>Min. 240–244</a:t>
            </a:r>
            <a:endParaRPr lang="en-US" sz="1400" dirty="0"/>
          </a:p>
        </p:txBody>
      </p:sp>
      <p:sp>
        <p:nvSpPr>
          <p:cNvPr id="5" name="Tarjeta"/>
          <p:cNvSpPr/>
          <p:nvPr/>
        </p:nvSpPr>
        <p:spPr>
          <a:xfrm>
            <a:off x="548640" y="1463040"/>
            <a:ext cx="5341468" cy="1051560"/>
          </a:xfrm>
          <a:prstGeom prst="roundRect">
            <a:avLst>
              <a:gd name="adj" fmla="val 13043"/>
            </a:avLst>
          </a:prstGeom>
          <a:solidFill>
            <a:schemeClr val="bg2"/>
          </a:solidFill>
          <a:ln/>
        </p:spPr>
      </p:sp>
      <p:sp>
        <p:nvSpPr>
          <p:cNvPr id="6" name="La A habla de herramientas y hace afirmaciones sin justificar."/>
          <p:cNvSpPr/>
          <p:nvPr/>
        </p:nvSpPr>
        <p:spPr>
          <a:xfrm>
            <a:off x="777240" y="1645920"/>
            <a:ext cx="685800" cy="685800"/>
          </a:xfrm>
          <a:prstGeom prst="ellipse">
            <a:avLst/>
          </a:prstGeom>
          <a:solidFill>
            <a:schemeClr val="accent3"/>
          </a:solidFill>
          <a:ln/>
        </p:spPr>
      </p:sp>
      <p:pic>
        <p:nvPicPr>
          <p:cNvPr id="7" name="Image 0" descr="La A habla de herramientas y hace afirmaciones sin justificar."/>
          <p:cNvPicPr>
            <a:picLocks noChangeAspect="1"/>
          </p:cNvPicPr>
          <p:nvPr/>
        </p:nvPicPr>
        <p:blipFill>
          <a:blip r:embed="rId3"/>
          <a:stretch>
            <a:fillRect/>
          </a:stretch>
        </p:blipFill>
        <p:spPr>
          <a:xfrm>
            <a:off x="941832" y="1810512"/>
            <a:ext cx="356616" cy="356616"/>
          </a:xfrm>
          <a:prstGeom prst="rect">
            <a:avLst/>
          </a:prstGeom>
        </p:spPr>
      </p:pic>
      <p:sp>
        <p:nvSpPr>
          <p:cNvPr id="8" name="Text 5"/>
          <p:cNvSpPr txBox="1"/>
          <p:nvPr/>
        </p:nvSpPr>
        <p:spPr>
          <a:xfrm>
            <a:off x="1645920" y="1463040"/>
            <a:ext cx="4061308" cy="1051560"/>
          </a:xfrm>
          <a:prstGeom prst="rect">
            <a:avLst/>
          </a:prstGeom>
          <a:noFill/>
          <a:ln/>
        </p:spPr>
        <p:txBody>
          <a:bodyPr wrap="square" lIns="0" tIns="0" rIns="0" bIns="0" rtlCol="0" anchor="ctr"/>
          <a:lstStyle/>
          <a:p>
            <a:pPr marL="0" indent="0">
              <a:buNone/>
            </a:pPr>
            <a:r>
              <a:rPr lang="en-US" sz="1800" dirty="0">
                <a:solidFill>
                  <a:schemeClr val="tx1"/>
                </a:solidFill>
              </a:rPr>
              <a:t>La A habla de herramientas y hace afirmaciones sin justificar.</a:t>
            </a:r>
            <a:endParaRPr lang="en-US" sz="1800" dirty="0"/>
          </a:p>
        </p:txBody>
      </p:sp>
      <p:sp>
        <p:nvSpPr>
          <p:cNvPr id="9" name="Tarjeta"/>
          <p:cNvSpPr/>
          <p:nvPr/>
        </p:nvSpPr>
        <p:spPr>
          <a:xfrm>
            <a:off x="6301588" y="1463040"/>
            <a:ext cx="5341468" cy="1051560"/>
          </a:xfrm>
          <a:prstGeom prst="roundRect">
            <a:avLst>
              <a:gd name="adj" fmla="val 13043"/>
            </a:avLst>
          </a:prstGeom>
          <a:solidFill>
            <a:schemeClr val="bg2"/>
          </a:solidFill>
          <a:ln/>
        </p:spPr>
      </p:sp>
      <p:sp>
        <p:nvSpPr>
          <p:cNvPr id="10" name="La B parte del problema, explica la solución y dice cómo se medirá."/>
          <p:cNvSpPr/>
          <p:nvPr/>
        </p:nvSpPr>
        <p:spPr>
          <a:xfrm>
            <a:off x="6530188" y="1645920"/>
            <a:ext cx="685800" cy="685800"/>
          </a:xfrm>
          <a:prstGeom prst="ellipse">
            <a:avLst/>
          </a:prstGeom>
          <a:solidFill>
            <a:schemeClr val="accent2"/>
          </a:solidFill>
          <a:ln/>
        </p:spPr>
      </p:sp>
      <p:pic>
        <p:nvPicPr>
          <p:cNvPr id="11" name="Image 1" descr="La B parte del problema, explica la solución y dice cómo se medirá."/>
          <p:cNvPicPr>
            <a:picLocks noChangeAspect="1"/>
          </p:cNvPicPr>
          <p:nvPr/>
        </p:nvPicPr>
        <p:blipFill>
          <a:blip r:embed="rId4"/>
          <a:stretch>
            <a:fillRect/>
          </a:stretch>
        </p:blipFill>
        <p:spPr>
          <a:xfrm>
            <a:off x="6694780" y="1810512"/>
            <a:ext cx="356616" cy="356616"/>
          </a:xfrm>
          <a:prstGeom prst="rect">
            <a:avLst/>
          </a:prstGeom>
        </p:spPr>
      </p:pic>
      <p:sp>
        <p:nvSpPr>
          <p:cNvPr id="12" name="Text 8"/>
          <p:cNvSpPr txBox="1"/>
          <p:nvPr/>
        </p:nvSpPr>
        <p:spPr>
          <a:xfrm>
            <a:off x="7398868" y="1463040"/>
            <a:ext cx="4061308" cy="1051560"/>
          </a:xfrm>
          <a:prstGeom prst="rect">
            <a:avLst/>
          </a:prstGeom>
          <a:noFill/>
          <a:ln/>
        </p:spPr>
        <p:txBody>
          <a:bodyPr wrap="square" lIns="0" tIns="0" rIns="0" bIns="0" rtlCol="0" anchor="ctr"/>
          <a:lstStyle/>
          <a:p>
            <a:pPr marL="0" indent="0">
              <a:buNone/>
            </a:pPr>
            <a:r>
              <a:rPr lang="en-US" sz="1800" dirty="0">
                <a:solidFill>
                  <a:schemeClr val="tx1"/>
                </a:solidFill>
              </a:rPr>
              <a:t>La B parte del problema, explica la solución y dice cómo se medirá.</a:t>
            </a:r>
            <a:endParaRPr lang="en-US" sz="1800" dirty="0"/>
          </a:p>
        </p:txBody>
      </p:sp>
      <p:sp>
        <p:nvSpPr>
          <p:cNvPr id="13" name="Paso 1"/>
          <p:cNvSpPr/>
          <p:nvPr/>
        </p:nvSpPr>
        <p:spPr>
          <a:xfrm>
            <a:off x="585216" y="2880360"/>
            <a:ext cx="2145731" cy="1051560"/>
          </a:xfrm>
          <a:prstGeom prst="chevron">
            <a:avLst/>
          </a:prstGeom>
          <a:solidFill>
            <a:schemeClr val="tx1"/>
          </a:solidFill>
          <a:ln/>
        </p:spPr>
      </p:sp>
      <p:sp>
        <p:nvSpPr>
          <p:cNvPr id="14" name="Text 10"/>
          <p:cNvSpPr txBox="1"/>
          <p:nvPr/>
        </p:nvSpPr>
        <p:spPr>
          <a:xfrm>
            <a:off x="822960" y="2880360"/>
            <a:ext cx="1670243" cy="1051560"/>
          </a:xfrm>
          <a:prstGeom prst="rect">
            <a:avLst/>
          </a:prstGeom>
          <a:noFill/>
          <a:ln/>
        </p:spPr>
        <p:txBody>
          <a:bodyPr wrap="square" lIns="0" tIns="0" rIns="0" bIns="0" rtlCol="0" anchor="ctr"/>
          <a:lstStyle/>
          <a:p>
            <a:pPr marL="0" indent="0" algn="ctr">
              <a:buNone/>
            </a:pPr>
            <a:r>
              <a:rPr lang="en-US" sz="3000" b="1" dirty="0">
                <a:solidFill>
                  <a:schemeClr val="accent1"/>
                </a:solidFill>
              </a:rPr>
              <a:t>1</a:t>
            </a:r>
            <a:endParaRPr lang="en-US" sz="3000" dirty="0"/>
          </a:p>
        </p:txBody>
      </p:sp>
      <p:sp>
        <p:nvSpPr>
          <p:cNvPr id="15" name="¿Qué problema hemos identificado?"/>
          <p:cNvSpPr/>
          <p:nvPr/>
        </p:nvSpPr>
        <p:spPr>
          <a:xfrm>
            <a:off x="1292322" y="4114800"/>
            <a:ext cx="731520" cy="731520"/>
          </a:xfrm>
          <a:prstGeom prst="ellipse">
            <a:avLst/>
          </a:prstGeom>
          <a:solidFill>
            <a:schemeClr val="accent1"/>
          </a:solidFill>
          <a:ln/>
        </p:spPr>
      </p:sp>
      <p:pic>
        <p:nvPicPr>
          <p:cNvPr id="16" name="Image 2" descr="¿Qué problema hemos identificado?"/>
          <p:cNvPicPr>
            <a:picLocks noChangeAspect="1"/>
          </p:cNvPicPr>
          <p:nvPr/>
        </p:nvPicPr>
        <p:blipFill>
          <a:blip r:embed="rId5"/>
          <a:stretch>
            <a:fillRect/>
          </a:stretch>
        </p:blipFill>
        <p:spPr>
          <a:xfrm>
            <a:off x="1467886" y="4290365"/>
            <a:ext cx="380390" cy="380390"/>
          </a:xfrm>
          <a:prstGeom prst="rect">
            <a:avLst/>
          </a:prstGeom>
        </p:spPr>
      </p:pic>
      <p:sp>
        <p:nvSpPr>
          <p:cNvPr id="17" name="Text 12"/>
          <p:cNvSpPr txBox="1"/>
          <p:nvPr/>
        </p:nvSpPr>
        <p:spPr>
          <a:xfrm>
            <a:off x="640080" y="4983480"/>
            <a:ext cx="2036003" cy="1005840"/>
          </a:xfrm>
          <a:prstGeom prst="rect">
            <a:avLst/>
          </a:prstGeom>
          <a:noFill/>
          <a:ln/>
        </p:spPr>
        <p:txBody>
          <a:bodyPr wrap="square" lIns="0" tIns="0" rIns="0" bIns="0" rtlCol="0" anchor="t"/>
          <a:lstStyle/>
          <a:p>
            <a:pPr marL="0" indent="0" algn="ctr">
              <a:buNone/>
            </a:pPr>
            <a:r>
              <a:rPr lang="en-US" sz="1600" b="1" dirty="0">
                <a:solidFill>
                  <a:schemeClr val="tx1"/>
                </a:solidFill>
              </a:rPr>
              <a:t>¿Qué problema hemos identificado?</a:t>
            </a:r>
            <a:endParaRPr lang="en-US" sz="1600" dirty="0"/>
          </a:p>
        </p:txBody>
      </p:sp>
      <p:sp>
        <p:nvSpPr>
          <p:cNvPr id="18" name="Paso 2"/>
          <p:cNvSpPr/>
          <p:nvPr/>
        </p:nvSpPr>
        <p:spPr>
          <a:xfrm>
            <a:off x="2804099" y="2880360"/>
            <a:ext cx="2145731" cy="1051560"/>
          </a:xfrm>
          <a:prstGeom prst="chevron">
            <a:avLst/>
          </a:prstGeom>
          <a:solidFill>
            <a:schemeClr val="tx2"/>
          </a:solidFill>
          <a:ln/>
        </p:spPr>
      </p:sp>
      <p:sp>
        <p:nvSpPr>
          <p:cNvPr id="19" name="Text 14"/>
          <p:cNvSpPr txBox="1"/>
          <p:nvPr/>
        </p:nvSpPr>
        <p:spPr>
          <a:xfrm>
            <a:off x="3041843" y="2880360"/>
            <a:ext cx="1670243" cy="1051560"/>
          </a:xfrm>
          <a:prstGeom prst="rect">
            <a:avLst/>
          </a:prstGeom>
          <a:noFill/>
          <a:ln/>
        </p:spPr>
        <p:txBody>
          <a:bodyPr wrap="square" lIns="0" tIns="0" rIns="0" bIns="0" rtlCol="0" anchor="ctr"/>
          <a:lstStyle/>
          <a:p>
            <a:pPr marL="0" indent="0" algn="ctr">
              <a:buNone/>
            </a:pPr>
            <a:r>
              <a:rPr lang="en-US" sz="3000" b="1" dirty="0">
                <a:solidFill>
                  <a:schemeClr val="accent1"/>
                </a:solidFill>
              </a:rPr>
              <a:t>2</a:t>
            </a:r>
            <a:endParaRPr lang="en-US" sz="3000" dirty="0"/>
          </a:p>
        </p:txBody>
      </p:sp>
      <p:sp>
        <p:nvSpPr>
          <p:cNvPr id="20" name="¿Por qué conviene resolverlo?"/>
          <p:cNvSpPr/>
          <p:nvPr/>
        </p:nvSpPr>
        <p:spPr>
          <a:xfrm>
            <a:off x="3511205" y="4114800"/>
            <a:ext cx="731520" cy="731520"/>
          </a:xfrm>
          <a:prstGeom prst="ellipse">
            <a:avLst/>
          </a:prstGeom>
          <a:solidFill>
            <a:schemeClr val="accent1"/>
          </a:solidFill>
          <a:ln/>
        </p:spPr>
      </p:sp>
      <p:pic>
        <p:nvPicPr>
          <p:cNvPr id="21" name="Image 3" descr="¿Por qué conviene resolverlo?"/>
          <p:cNvPicPr>
            <a:picLocks noChangeAspect="1"/>
          </p:cNvPicPr>
          <p:nvPr/>
        </p:nvPicPr>
        <p:blipFill>
          <a:blip r:embed="rId6"/>
          <a:stretch>
            <a:fillRect/>
          </a:stretch>
        </p:blipFill>
        <p:spPr>
          <a:xfrm>
            <a:off x="3686769" y="4290365"/>
            <a:ext cx="380390" cy="380390"/>
          </a:xfrm>
          <a:prstGeom prst="rect">
            <a:avLst/>
          </a:prstGeom>
        </p:spPr>
      </p:pic>
      <p:sp>
        <p:nvSpPr>
          <p:cNvPr id="22" name="Text 16"/>
          <p:cNvSpPr txBox="1"/>
          <p:nvPr/>
        </p:nvSpPr>
        <p:spPr>
          <a:xfrm>
            <a:off x="2858963" y="4983480"/>
            <a:ext cx="2036003" cy="1005840"/>
          </a:xfrm>
          <a:prstGeom prst="rect">
            <a:avLst/>
          </a:prstGeom>
          <a:noFill/>
          <a:ln/>
        </p:spPr>
        <p:txBody>
          <a:bodyPr wrap="square" lIns="0" tIns="0" rIns="0" bIns="0" rtlCol="0" anchor="t"/>
          <a:lstStyle/>
          <a:p>
            <a:pPr marL="0" indent="0" algn="ctr">
              <a:buNone/>
            </a:pPr>
            <a:r>
              <a:rPr lang="en-US" sz="1600" b="1" dirty="0">
                <a:solidFill>
                  <a:schemeClr val="tx1"/>
                </a:solidFill>
              </a:rPr>
              <a:t>¿Por qué conviene resolverlo?</a:t>
            </a:r>
            <a:endParaRPr lang="en-US" sz="1600" dirty="0"/>
          </a:p>
        </p:txBody>
      </p:sp>
      <p:sp>
        <p:nvSpPr>
          <p:cNvPr id="23" name="Paso 3"/>
          <p:cNvSpPr/>
          <p:nvPr/>
        </p:nvSpPr>
        <p:spPr>
          <a:xfrm>
            <a:off x="5022982" y="2880360"/>
            <a:ext cx="2145731" cy="1051560"/>
          </a:xfrm>
          <a:prstGeom prst="chevron">
            <a:avLst/>
          </a:prstGeom>
          <a:solidFill>
            <a:schemeClr val="tx1"/>
          </a:solidFill>
          <a:ln/>
        </p:spPr>
      </p:sp>
      <p:sp>
        <p:nvSpPr>
          <p:cNvPr id="24" name="Text 18"/>
          <p:cNvSpPr txBox="1"/>
          <p:nvPr/>
        </p:nvSpPr>
        <p:spPr>
          <a:xfrm>
            <a:off x="5260726" y="2880360"/>
            <a:ext cx="1670243" cy="1051560"/>
          </a:xfrm>
          <a:prstGeom prst="rect">
            <a:avLst/>
          </a:prstGeom>
          <a:noFill/>
          <a:ln/>
        </p:spPr>
        <p:txBody>
          <a:bodyPr wrap="square" lIns="0" tIns="0" rIns="0" bIns="0" rtlCol="0" anchor="ctr"/>
          <a:lstStyle/>
          <a:p>
            <a:pPr marL="0" indent="0" algn="ctr">
              <a:buNone/>
            </a:pPr>
            <a:r>
              <a:rPr lang="en-US" sz="3000" b="1" dirty="0">
                <a:solidFill>
                  <a:schemeClr val="accent1"/>
                </a:solidFill>
              </a:rPr>
              <a:t>3</a:t>
            </a:r>
            <a:endParaRPr lang="en-US" sz="3000" dirty="0"/>
          </a:p>
        </p:txBody>
      </p:sp>
      <p:sp>
        <p:nvSpPr>
          <p:cNvPr id="25" name="¿Qué proponemos?"/>
          <p:cNvSpPr/>
          <p:nvPr/>
        </p:nvSpPr>
        <p:spPr>
          <a:xfrm>
            <a:off x="5730088" y="4114800"/>
            <a:ext cx="731520" cy="731520"/>
          </a:xfrm>
          <a:prstGeom prst="ellipse">
            <a:avLst/>
          </a:prstGeom>
          <a:solidFill>
            <a:schemeClr val="accent1"/>
          </a:solidFill>
          <a:ln/>
        </p:spPr>
      </p:sp>
      <p:pic>
        <p:nvPicPr>
          <p:cNvPr id="26" name="Image 4" descr="¿Qué proponemos?"/>
          <p:cNvPicPr>
            <a:picLocks noChangeAspect="1"/>
          </p:cNvPicPr>
          <p:nvPr/>
        </p:nvPicPr>
        <p:blipFill>
          <a:blip r:embed="rId7"/>
          <a:stretch>
            <a:fillRect/>
          </a:stretch>
        </p:blipFill>
        <p:spPr>
          <a:xfrm>
            <a:off x="5905652" y="4290365"/>
            <a:ext cx="380390" cy="380390"/>
          </a:xfrm>
          <a:prstGeom prst="rect">
            <a:avLst/>
          </a:prstGeom>
        </p:spPr>
      </p:pic>
      <p:sp>
        <p:nvSpPr>
          <p:cNvPr id="27" name="Text 20"/>
          <p:cNvSpPr txBox="1"/>
          <p:nvPr/>
        </p:nvSpPr>
        <p:spPr>
          <a:xfrm>
            <a:off x="5077846" y="4983480"/>
            <a:ext cx="2036003" cy="1005840"/>
          </a:xfrm>
          <a:prstGeom prst="rect">
            <a:avLst/>
          </a:prstGeom>
          <a:noFill/>
          <a:ln/>
        </p:spPr>
        <p:txBody>
          <a:bodyPr wrap="square" lIns="0" tIns="0" rIns="0" bIns="0" rtlCol="0" anchor="t"/>
          <a:lstStyle/>
          <a:p>
            <a:pPr marL="0" indent="0" algn="ctr">
              <a:buNone/>
            </a:pPr>
            <a:r>
              <a:rPr lang="en-US" sz="1600" b="1" dirty="0">
                <a:solidFill>
                  <a:schemeClr val="tx1"/>
                </a:solidFill>
              </a:rPr>
              <a:t>¿Qué proponemos?</a:t>
            </a:r>
            <a:endParaRPr lang="en-US" sz="1600" dirty="0"/>
          </a:p>
        </p:txBody>
      </p:sp>
      <p:sp>
        <p:nvSpPr>
          <p:cNvPr id="28" name="Paso 4"/>
          <p:cNvSpPr/>
          <p:nvPr/>
        </p:nvSpPr>
        <p:spPr>
          <a:xfrm>
            <a:off x="7241865" y="2880360"/>
            <a:ext cx="2145731" cy="1051560"/>
          </a:xfrm>
          <a:prstGeom prst="chevron">
            <a:avLst/>
          </a:prstGeom>
          <a:solidFill>
            <a:schemeClr val="tx2"/>
          </a:solidFill>
          <a:ln/>
        </p:spPr>
      </p:sp>
      <p:sp>
        <p:nvSpPr>
          <p:cNvPr id="29" name="Text 22"/>
          <p:cNvSpPr txBox="1"/>
          <p:nvPr/>
        </p:nvSpPr>
        <p:spPr>
          <a:xfrm>
            <a:off x="7479609" y="2880360"/>
            <a:ext cx="1670243" cy="1051560"/>
          </a:xfrm>
          <a:prstGeom prst="rect">
            <a:avLst/>
          </a:prstGeom>
          <a:noFill/>
          <a:ln/>
        </p:spPr>
        <p:txBody>
          <a:bodyPr wrap="square" lIns="0" tIns="0" rIns="0" bIns="0" rtlCol="0" anchor="ctr"/>
          <a:lstStyle/>
          <a:p>
            <a:pPr marL="0" indent="0" algn="ctr">
              <a:buNone/>
            </a:pPr>
            <a:r>
              <a:rPr lang="en-US" sz="3000" b="1" dirty="0">
                <a:solidFill>
                  <a:schemeClr val="accent1"/>
                </a:solidFill>
              </a:rPr>
              <a:t>4</a:t>
            </a:r>
            <a:endParaRPr lang="en-US" sz="3000" dirty="0"/>
          </a:p>
        </p:txBody>
      </p:sp>
      <p:sp>
        <p:nvSpPr>
          <p:cNvPr id="30" name="¿Cómo lo pondríamos en práctica?"/>
          <p:cNvSpPr/>
          <p:nvPr/>
        </p:nvSpPr>
        <p:spPr>
          <a:xfrm>
            <a:off x="7948971" y="4114800"/>
            <a:ext cx="731520" cy="731520"/>
          </a:xfrm>
          <a:prstGeom prst="ellipse">
            <a:avLst/>
          </a:prstGeom>
          <a:solidFill>
            <a:schemeClr val="accent1"/>
          </a:solidFill>
          <a:ln/>
        </p:spPr>
      </p:sp>
      <p:pic>
        <p:nvPicPr>
          <p:cNvPr id="31" name="Image 5" descr="¿Cómo lo pondríamos en práctica?"/>
          <p:cNvPicPr>
            <a:picLocks noChangeAspect="1"/>
          </p:cNvPicPr>
          <p:nvPr/>
        </p:nvPicPr>
        <p:blipFill>
          <a:blip r:embed="rId8"/>
          <a:stretch>
            <a:fillRect/>
          </a:stretch>
        </p:blipFill>
        <p:spPr>
          <a:xfrm>
            <a:off x="8124535" y="4290365"/>
            <a:ext cx="380390" cy="380390"/>
          </a:xfrm>
          <a:prstGeom prst="rect">
            <a:avLst/>
          </a:prstGeom>
        </p:spPr>
      </p:pic>
      <p:sp>
        <p:nvSpPr>
          <p:cNvPr id="32" name="Text 24"/>
          <p:cNvSpPr txBox="1"/>
          <p:nvPr/>
        </p:nvSpPr>
        <p:spPr>
          <a:xfrm>
            <a:off x="7296729" y="4983480"/>
            <a:ext cx="2036003" cy="1005840"/>
          </a:xfrm>
          <a:prstGeom prst="rect">
            <a:avLst/>
          </a:prstGeom>
          <a:noFill/>
          <a:ln/>
        </p:spPr>
        <p:txBody>
          <a:bodyPr wrap="square" lIns="0" tIns="0" rIns="0" bIns="0" rtlCol="0" anchor="t"/>
          <a:lstStyle/>
          <a:p>
            <a:pPr marL="0" indent="0" algn="ctr">
              <a:buNone/>
            </a:pPr>
            <a:r>
              <a:rPr lang="en-US" sz="1600" b="1" dirty="0">
                <a:solidFill>
                  <a:schemeClr val="tx1"/>
                </a:solidFill>
              </a:rPr>
              <a:t>¿Cómo lo pondríamos en práctica?</a:t>
            </a:r>
            <a:endParaRPr lang="en-US" sz="1600" dirty="0"/>
          </a:p>
        </p:txBody>
      </p:sp>
      <p:sp>
        <p:nvSpPr>
          <p:cNvPr id="33" name="Paso 5"/>
          <p:cNvSpPr/>
          <p:nvPr/>
        </p:nvSpPr>
        <p:spPr>
          <a:xfrm>
            <a:off x="9460748" y="2880360"/>
            <a:ext cx="2145731" cy="1051560"/>
          </a:xfrm>
          <a:prstGeom prst="chevron">
            <a:avLst/>
          </a:prstGeom>
          <a:solidFill>
            <a:schemeClr val="tx1"/>
          </a:solidFill>
          <a:ln/>
        </p:spPr>
      </p:sp>
      <p:sp>
        <p:nvSpPr>
          <p:cNvPr id="34" name="Text 26"/>
          <p:cNvSpPr txBox="1"/>
          <p:nvPr/>
        </p:nvSpPr>
        <p:spPr>
          <a:xfrm>
            <a:off x="9698492" y="2880360"/>
            <a:ext cx="1670243" cy="1051560"/>
          </a:xfrm>
          <a:prstGeom prst="rect">
            <a:avLst/>
          </a:prstGeom>
          <a:noFill/>
          <a:ln/>
        </p:spPr>
        <p:txBody>
          <a:bodyPr wrap="square" lIns="0" tIns="0" rIns="0" bIns="0" rtlCol="0" anchor="ctr"/>
          <a:lstStyle/>
          <a:p>
            <a:pPr marL="0" indent="0" algn="ctr">
              <a:buNone/>
            </a:pPr>
            <a:r>
              <a:rPr lang="en-US" sz="3000" b="1" dirty="0">
                <a:solidFill>
                  <a:schemeClr val="accent1"/>
                </a:solidFill>
              </a:rPr>
              <a:t>5</a:t>
            </a:r>
            <a:endParaRPr lang="en-US" sz="3000" dirty="0"/>
          </a:p>
        </p:txBody>
      </p:sp>
      <p:sp>
        <p:nvSpPr>
          <p:cNvPr id="35" name="¿Qué resultados esperaríamos y cómo los mediríamos?"/>
          <p:cNvSpPr/>
          <p:nvPr/>
        </p:nvSpPr>
        <p:spPr>
          <a:xfrm>
            <a:off x="10167854" y="4114800"/>
            <a:ext cx="731520" cy="731520"/>
          </a:xfrm>
          <a:prstGeom prst="ellipse">
            <a:avLst/>
          </a:prstGeom>
          <a:solidFill>
            <a:schemeClr val="accent1"/>
          </a:solidFill>
          <a:ln/>
        </p:spPr>
      </p:sp>
      <p:pic>
        <p:nvPicPr>
          <p:cNvPr id="36" name="Image 6" descr="¿Qué resultados esperaríamos y cómo los mediríamos?"/>
          <p:cNvPicPr>
            <a:picLocks noChangeAspect="1"/>
          </p:cNvPicPr>
          <p:nvPr/>
        </p:nvPicPr>
        <p:blipFill>
          <a:blip r:embed="rId9"/>
          <a:stretch>
            <a:fillRect/>
          </a:stretch>
        </p:blipFill>
        <p:spPr>
          <a:xfrm>
            <a:off x="10343418" y="4290365"/>
            <a:ext cx="380390" cy="380390"/>
          </a:xfrm>
          <a:prstGeom prst="rect">
            <a:avLst/>
          </a:prstGeom>
        </p:spPr>
      </p:pic>
      <p:sp>
        <p:nvSpPr>
          <p:cNvPr id="37" name="Text 28"/>
          <p:cNvSpPr txBox="1"/>
          <p:nvPr/>
        </p:nvSpPr>
        <p:spPr>
          <a:xfrm>
            <a:off x="9515612" y="4983480"/>
            <a:ext cx="2036003" cy="1005840"/>
          </a:xfrm>
          <a:prstGeom prst="rect">
            <a:avLst/>
          </a:prstGeom>
          <a:noFill/>
          <a:ln/>
        </p:spPr>
        <p:txBody>
          <a:bodyPr wrap="square" lIns="0" tIns="0" rIns="0" bIns="0" rtlCol="0" anchor="t"/>
          <a:lstStyle/>
          <a:p>
            <a:pPr marL="0" indent="0" algn="ctr">
              <a:buNone/>
            </a:pPr>
            <a:r>
              <a:rPr lang="en-US" sz="1600" b="1" dirty="0">
                <a:solidFill>
                  <a:schemeClr val="tx1"/>
                </a:solidFill>
              </a:rPr>
              <a:t>¿Qué resultados esperaríamos y cómo los mediríamos?</a:t>
            </a:r>
            <a:endParaRPr lang="en-US" sz="1600" dirty="0"/>
          </a:p>
        </p:txBody>
      </p:sp>
      <p:sp>
        <p:nvSpPr>
          <p:cNvPr id="38"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Volvemos al cuaderno</a:t>
            </a:r>
            <a:endParaRPr lang="en-US" sz="3200" dirty="0"/>
          </a:p>
        </p:txBody>
      </p:sp>
      <p:sp>
        <p:nvSpPr>
          <p:cNvPr id="3" name="Etiqueta de tiempo"/>
          <p:cNvSpPr/>
          <p:nvPr/>
        </p:nvSpPr>
        <p:spPr>
          <a:xfrm>
            <a:off x="9293047" y="548640"/>
            <a:ext cx="2350008" cy="457200"/>
          </a:xfrm>
          <a:prstGeom prst="roundRect">
            <a:avLst>
              <a:gd name="adj" fmla="val 50000"/>
            </a:avLst>
          </a:prstGeom>
          <a:solidFill>
            <a:schemeClr val="accent1"/>
          </a:solidFill>
          <a:ln/>
        </p:spPr>
      </p:sp>
      <p:sp>
        <p:nvSpPr>
          <p:cNvPr id="4" name="Text 2"/>
          <p:cNvSpPr txBox="1"/>
          <p:nvPr/>
        </p:nvSpPr>
        <p:spPr>
          <a:xfrm>
            <a:off x="9293047" y="548640"/>
            <a:ext cx="2350008" cy="457200"/>
          </a:xfrm>
          <a:prstGeom prst="rect">
            <a:avLst/>
          </a:prstGeom>
          <a:noFill/>
          <a:ln/>
        </p:spPr>
        <p:txBody>
          <a:bodyPr wrap="square" lIns="0" tIns="0" rIns="0" bIns="0" rtlCol="0" anchor="ctr"/>
          <a:lstStyle/>
          <a:p>
            <a:pPr marL="0" indent="0" algn="ctr">
              <a:buNone/>
            </a:pPr>
            <a:r>
              <a:rPr lang="en-US" sz="1400" b="1" dirty="0">
                <a:solidFill>
                  <a:schemeClr val="tx1"/>
                </a:solidFill>
              </a:rPr>
              <a:t>Min. 244 · Parejas</a:t>
            </a:r>
            <a:endParaRPr lang="en-US" sz="1400" dirty="0"/>
          </a:p>
        </p:txBody>
      </p:sp>
      <p:sp>
        <p:nvSpPr>
          <p:cNvPr id="5" name="Archivo"/>
          <p:cNvSpPr/>
          <p:nvPr/>
        </p:nvSpPr>
        <p:spPr>
          <a:xfrm>
            <a:off x="548640" y="1554480"/>
            <a:ext cx="4572000" cy="4206240"/>
          </a:xfrm>
          <a:prstGeom prst="roundRect">
            <a:avLst>
              <a:gd name="adj" fmla="val 3261"/>
            </a:avLst>
          </a:prstGeom>
          <a:solidFill>
            <a:schemeClr val="bg2"/>
          </a:solidFill>
          <a:ln/>
        </p:spPr>
      </p:sp>
      <p:sp>
        <p:nvSpPr>
          <p:cNvPr id="6" name="Icono del archivo"/>
          <p:cNvSpPr/>
          <p:nvPr/>
        </p:nvSpPr>
        <p:spPr>
          <a:xfrm>
            <a:off x="2103120" y="2011680"/>
            <a:ext cx="1463040" cy="1463040"/>
          </a:xfrm>
          <a:prstGeom prst="ellipse">
            <a:avLst/>
          </a:prstGeom>
          <a:solidFill>
            <a:schemeClr val="accent1"/>
          </a:solidFill>
          <a:ln/>
        </p:spPr>
      </p:sp>
      <p:pic>
        <p:nvPicPr>
          <p:cNvPr id="7" name="Image 0" descr="Icono del archivo"/>
          <p:cNvPicPr>
            <a:picLocks noChangeAspect="1"/>
          </p:cNvPicPr>
          <p:nvPr/>
        </p:nvPicPr>
        <p:blipFill>
          <a:blip r:embed="rId3"/>
          <a:stretch>
            <a:fillRect/>
          </a:stretch>
        </p:blipFill>
        <p:spPr>
          <a:xfrm>
            <a:off x="2454250" y="2362810"/>
            <a:ext cx="760781" cy="760781"/>
          </a:xfrm>
          <a:prstGeom prst="rect">
            <a:avLst/>
          </a:prstGeom>
        </p:spPr>
      </p:pic>
      <p:sp>
        <p:nvSpPr>
          <p:cNvPr id="8" name="Text 5"/>
          <p:cNvSpPr txBox="1"/>
          <p:nvPr/>
        </p:nvSpPr>
        <p:spPr>
          <a:xfrm>
            <a:off x="731520" y="3749040"/>
            <a:ext cx="4206240" cy="731520"/>
          </a:xfrm>
          <a:prstGeom prst="rect">
            <a:avLst/>
          </a:prstGeom>
          <a:noFill/>
          <a:ln/>
        </p:spPr>
        <p:txBody>
          <a:bodyPr wrap="square" lIns="0" tIns="0" rIns="0" bIns="0" rtlCol="0" anchor="ctr">
            <a:normAutofit/>
          </a:bodyPr>
          <a:lstStyle/>
          <a:p>
            <a:pPr marL="0" indent="0" algn="ctr">
              <a:buNone/>
            </a:pPr>
            <a:r>
              <a:rPr lang="en-US" sz="2200" b="1" dirty="0">
                <a:solidFill>
                  <a:schemeClr val="tx1"/>
                </a:solidFill>
              </a:rPr>
              <a:t>cuaderno_ejercicios.docx</a:t>
            </a:r>
            <a:endParaRPr lang="en-US" sz="2200" dirty="0"/>
          </a:p>
        </p:txBody>
      </p:sp>
      <p:sp>
        <p:nvSpPr>
          <p:cNvPr id="9" name="Text 6"/>
          <p:cNvSpPr txBox="1"/>
          <p:nvPr/>
        </p:nvSpPr>
        <p:spPr>
          <a:xfrm>
            <a:off x="731520" y="4526280"/>
            <a:ext cx="4206240" cy="457200"/>
          </a:xfrm>
          <a:prstGeom prst="rect">
            <a:avLst/>
          </a:prstGeom>
          <a:noFill/>
          <a:ln/>
        </p:spPr>
        <p:txBody>
          <a:bodyPr wrap="square" lIns="0" tIns="0" rIns="0" bIns="0" rtlCol="0" anchor="ctr"/>
          <a:lstStyle/>
          <a:p>
            <a:pPr marL="0" indent="0" algn="ctr">
              <a:buNone/>
            </a:pPr>
            <a:r>
              <a:rPr lang="en-US" sz="1600" dirty="0">
                <a:solidFill>
                  <a:schemeClr val="accent5"/>
                </a:solidFill>
              </a:rPr>
              <a:t>Word o Google Docs</a:t>
            </a:r>
            <a:endParaRPr lang="en-US" sz="1600" dirty="0"/>
          </a:p>
        </p:txBody>
      </p:sp>
      <p:sp>
        <p:nvSpPr>
          <p:cNvPr id="10" name="Paso 1"/>
          <p:cNvSpPr/>
          <p:nvPr/>
        </p:nvSpPr>
        <p:spPr>
          <a:xfrm>
            <a:off x="5577840" y="1737360"/>
            <a:ext cx="640080" cy="640080"/>
          </a:xfrm>
          <a:prstGeom prst="ellipse">
            <a:avLst/>
          </a:prstGeom>
          <a:solidFill>
            <a:schemeClr val="accent1"/>
          </a:solidFill>
          <a:ln/>
        </p:spPr>
      </p:sp>
      <p:sp>
        <p:nvSpPr>
          <p:cNvPr id="11" name="Text 8"/>
          <p:cNvSpPr txBox="1"/>
          <p:nvPr/>
        </p:nvSpPr>
        <p:spPr>
          <a:xfrm>
            <a:off x="5577840" y="17373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12" name="Text 9"/>
          <p:cNvSpPr txBox="1"/>
          <p:nvPr/>
        </p:nvSpPr>
        <p:spPr>
          <a:xfrm>
            <a:off x="6446520" y="1600200"/>
            <a:ext cx="5196535" cy="914400"/>
          </a:xfrm>
          <a:prstGeom prst="rect">
            <a:avLst/>
          </a:prstGeom>
          <a:noFill/>
          <a:ln/>
        </p:spPr>
        <p:txBody>
          <a:bodyPr wrap="square" lIns="0" tIns="0" rIns="0" bIns="0" rtlCol="0" anchor="ctr"/>
          <a:lstStyle/>
          <a:p>
            <a:pPr marL="0" indent="0">
              <a:buNone/>
            </a:pPr>
            <a:r>
              <a:rPr lang="en-US" sz="2000" dirty="0">
                <a:solidFill>
                  <a:schemeClr val="tx1"/>
                </a:solidFill>
              </a:rPr>
              <a:t>Id al «Bloque 5»: la primera frase de vuestra presentación va en «Ensayo».</a:t>
            </a:r>
            <a:endParaRPr lang="en-US" sz="2000" dirty="0"/>
          </a:p>
        </p:txBody>
      </p:sp>
      <p:sp>
        <p:nvSpPr>
          <p:cNvPr id="13" name="Paso 2"/>
          <p:cNvSpPr/>
          <p:nvPr/>
        </p:nvSpPr>
        <p:spPr>
          <a:xfrm>
            <a:off x="5577840" y="3108960"/>
            <a:ext cx="640080" cy="640080"/>
          </a:xfrm>
          <a:prstGeom prst="ellipse">
            <a:avLst/>
          </a:prstGeom>
          <a:solidFill>
            <a:schemeClr val="accent1"/>
          </a:solidFill>
          <a:ln/>
        </p:spPr>
      </p:sp>
      <p:sp>
        <p:nvSpPr>
          <p:cNvPr id="14" name="Text 11"/>
          <p:cNvSpPr txBox="1"/>
          <p:nvPr/>
        </p:nvSpPr>
        <p:spPr>
          <a:xfrm>
            <a:off x="5577840" y="31089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2</a:t>
            </a:r>
            <a:endParaRPr lang="en-US" sz="2200" dirty="0"/>
          </a:p>
        </p:txBody>
      </p:sp>
      <p:sp>
        <p:nvSpPr>
          <p:cNvPr id="15" name="Text 12"/>
          <p:cNvSpPr txBox="1"/>
          <p:nvPr/>
        </p:nvSpPr>
        <p:spPr>
          <a:xfrm>
            <a:off x="6446520" y="2971800"/>
            <a:ext cx="5196535" cy="914400"/>
          </a:xfrm>
          <a:prstGeom prst="rect">
            <a:avLst/>
          </a:prstGeom>
          <a:noFill/>
          <a:ln/>
        </p:spPr>
        <p:txBody>
          <a:bodyPr wrap="square" lIns="0" tIns="0" rIns="0" bIns="0" rtlCol="0" anchor="ctr"/>
          <a:lstStyle/>
          <a:p>
            <a:pPr marL="0" indent="0">
              <a:buNone/>
            </a:pPr>
            <a:r>
              <a:rPr lang="en-US" sz="2000" dirty="0">
                <a:solidFill>
                  <a:schemeClr val="tx1"/>
                </a:solidFill>
              </a:rPr>
              <a:t>Mientras presentan las demás parejas, rellenad la tabla de observadores.</a:t>
            </a:r>
            <a:endParaRPr lang="en-US" sz="2000" dirty="0"/>
          </a:p>
        </p:txBody>
      </p:sp>
      <p:sp>
        <p:nvSpPr>
          <p:cNvPr id="16" name="Paso 3"/>
          <p:cNvSpPr/>
          <p:nvPr/>
        </p:nvSpPr>
        <p:spPr>
          <a:xfrm>
            <a:off x="5577840" y="4480560"/>
            <a:ext cx="640080" cy="640080"/>
          </a:xfrm>
          <a:prstGeom prst="ellipse">
            <a:avLst/>
          </a:prstGeom>
          <a:solidFill>
            <a:schemeClr val="accent1"/>
          </a:solidFill>
          <a:ln/>
        </p:spPr>
      </p:sp>
      <p:sp>
        <p:nvSpPr>
          <p:cNvPr id="17" name="Text 14"/>
          <p:cNvSpPr txBox="1"/>
          <p:nvPr/>
        </p:nvSpPr>
        <p:spPr>
          <a:xfrm>
            <a:off x="5577840" y="44805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18" name="Text 15"/>
          <p:cNvSpPr txBox="1"/>
          <p:nvPr/>
        </p:nvSpPr>
        <p:spPr>
          <a:xfrm>
            <a:off x="6446520" y="4343400"/>
            <a:ext cx="5196535" cy="914400"/>
          </a:xfrm>
          <a:prstGeom prst="rect">
            <a:avLst/>
          </a:prstGeom>
          <a:noFill/>
          <a:ln/>
        </p:spPr>
        <p:txBody>
          <a:bodyPr wrap="square" lIns="0" tIns="0" rIns="0" bIns="0" rtlCol="0" anchor="ctr"/>
          <a:lstStyle/>
          <a:p>
            <a:pPr marL="0" indent="0">
              <a:buNone/>
            </a:pPr>
            <a:r>
              <a:rPr lang="en-US" sz="2000" dirty="0">
                <a:solidFill>
                  <a:schemeClr val="tx1"/>
                </a:solidFill>
              </a:rPr>
              <a:t>Al final, la crítica de la IA y vuestro relato para una entrevista.</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94A6"/>
                </a:solidFill>
              </a:defRPr>
            </a:lvl1pPr>
          </a:lstStyle>
          <a:p>
            <a:pPr algn="r"/>
            <a:fld id="{F7021451-1387-4CA6-816F-3879F97B5CBC}" type="slidenum">
              <a:rPr lang="en-US" b="0"/>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Ensayo: el problema en 20 segundos</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244–250 · Parejas</a:t>
            </a:r>
            <a:endParaRPr lang="en-US" sz="1400" dirty="0"/>
          </a:p>
        </p:txBody>
      </p:sp>
      <p:sp>
        <p:nvSpPr>
          <p:cNvPr id="5" name="Text 3"/>
          <p:cNvSpPr txBox="1"/>
          <p:nvPr/>
        </p:nvSpPr>
        <p:spPr>
          <a:xfrm>
            <a:off x="548640" y="1325880"/>
            <a:ext cx="11094415" cy="548640"/>
          </a:xfrm>
          <a:prstGeom prst="rect">
            <a:avLst/>
          </a:prstGeom>
          <a:noFill/>
          <a:ln/>
        </p:spPr>
        <p:txBody>
          <a:bodyPr wrap="square" lIns="0" tIns="0" rIns="0" bIns="0" rtlCol="0" anchor="ctr"/>
          <a:lstStyle/>
          <a:p>
            <a:pPr marL="0" indent="0">
              <a:buNone/>
            </a:pPr>
            <a:r>
              <a:rPr lang="en-US" sz="1900" dirty="0">
                <a:solidFill>
                  <a:schemeClr val="tx2"/>
                </a:solidFill>
              </a:rPr>
              <a:t>Preparad y ensayad en voz baja la primera frase de vuestra presentación, siguiendo la versión B como modelo:</a:t>
            </a:r>
            <a:endParaRPr lang="en-US" sz="1900" dirty="0"/>
          </a:p>
        </p:txBody>
      </p:sp>
      <p:sp>
        <p:nvSpPr>
          <p:cNvPr id="6" name="Tarjeta"/>
          <p:cNvSpPr/>
          <p:nvPr/>
        </p:nvSpPr>
        <p:spPr>
          <a:xfrm>
            <a:off x="548640" y="2103120"/>
            <a:ext cx="11094415" cy="1097280"/>
          </a:xfrm>
          <a:prstGeom prst="roundRect">
            <a:avLst>
              <a:gd name="adj" fmla="val 12500"/>
            </a:avLst>
          </a:prstGeom>
          <a:solidFill>
            <a:schemeClr val="bg2"/>
          </a:solidFill>
          <a:ln/>
        </p:spPr>
      </p:sp>
      <p:sp>
        <p:nvSpPr>
          <p:cNvPr id="7" name="Modelo"/>
          <p:cNvSpPr/>
          <p:nvPr/>
        </p:nvSpPr>
        <p:spPr>
          <a:xfrm>
            <a:off x="822960" y="2286000"/>
            <a:ext cx="731520" cy="731520"/>
          </a:xfrm>
          <a:prstGeom prst="ellipse">
            <a:avLst/>
          </a:prstGeom>
          <a:solidFill>
            <a:schemeClr val="accent2"/>
          </a:solidFill>
          <a:ln/>
        </p:spPr>
      </p:sp>
      <p:pic>
        <p:nvPicPr>
          <p:cNvPr id="8" name="Image 0" descr="Modelo"/>
          <p:cNvPicPr>
            <a:picLocks noChangeAspect="1"/>
          </p:cNvPicPr>
          <p:nvPr/>
        </p:nvPicPr>
        <p:blipFill>
          <a:blip r:embed="rId3"/>
          <a:stretch>
            <a:fillRect/>
          </a:stretch>
        </p:blipFill>
        <p:spPr>
          <a:xfrm>
            <a:off x="998525" y="2461565"/>
            <a:ext cx="380390" cy="380390"/>
          </a:xfrm>
          <a:prstGeom prst="rect">
            <a:avLst/>
          </a:prstGeom>
        </p:spPr>
      </p:pic>
      <p:sp>
        <p:nvSpPr>
          <p:cNvPr id="9" name="Text 6"/>
          <p:cNvSpPr txBox="1"/>
          <p:nvPr/>
        </p:nvSpPr>
        <p:spPr>
          <a:xfrm>
            <a:off x="1783080" y="2103120"/>
            <a:ext cx="9585655" cy="1097280"/>
          </a:xfrm>
          <a:prstGeom prst="rect">
            <a:avLst/>
          </a:prstGeom>
          <a:noFill/>
          <a:ln/>
        </p:spPr>
        <p:txBody>
          <a:bodyPr wrap="square" lIns="0" tIns="0" rIns="0" bIns="0" rtlCol="0" anchor="ctr"/>
          <a:lstStyle/>
          <a:p>
            <a:pPr marL="0" indent="0">
              <a:buNone/>
            </a:pPr>
            <a:r>
              <a:rPr lang="en-US" sz="1900" i="1" dirty="0">
                <a:solidFill>
                  <a:schemeClr val="tx1"/>
                </a:solidFill>
              </a:rPr>
              <a:t>«Nuestra oficina pierde consultas porque llegan por teléfono y por correo y nadie se encarga de ellas…»</a:t>
            </a:r>
            <a:endParaRPr lang="en-US" sz="1900" dirty="0"/>
          </a:p>
        </p:txBody>
      </p:sp>
      <p:sp>
        <p:nvSpPr>
          <p:cNvPr id="10" name="Text 7"/>
          <p:cNvSpPr txBox="1"/>
          <p:nvPr/>
        </p:nvSpPr>
        <p:spPr>
          <a:xfrm>
            <a:off x="548640" y="3520440"/>
            <a:ext cx="11094415" cy="457200"/>
          </a:xfrm>
          <a:prstGeom prst="rect">
            <a:avLst/>
          </a:prstGeom>
          <a:noFill/>
          <a:ln/>
        </p:spPr>
        <p:txBody>
          <a:bodyPr wrap="square" lIns="0" tIns="0" rIns="0" bIns="0" rtlCol="0" anchor="ctr"/>
          <a:lstStyle/>
          <a:p>
            <a:pPr marL="0" indent="0">
              <a:buNone/>
            </a:pPr>
            <a:r>
              <a:rPr lang="en-US" sz="1900" b="1" dirty="0">
                <a:solidFill>
                  <a:schemeClr val="tx1"/>
                </a:solidFill>
              </a:rPr>
              <a:t>Nuestra primera frase:</a:t>
            </a:r>
            <a:endParaRPr lang="en-US" sz="1900" dirty="0"/>
          </a:p>
        </p:txBody>
      </p:sp>
      <p:sp>
        <p:nvSpPr>
          <p:cNvPr id="11" name="Hueco"/>
          <p:cNvSpPr/>
          <p:nvPr/>
        </p:nvSpPr>
        <p:spPr>
          <a:xfrm>
            <a:off x="548640" y="4069080"/>
            <a:ext cx="11094415" cy="1645920"/>
          </a:xfrm>
          <a:prstGeom prst="roundRect">
            <a:avLst>
              <a:gd name="adj" fmla="val 5556"/>
            </a:avLst>
          </a:prstGeom>
          <a:solidFill>
            <a:schemeClr val="bg2"/>
          </a:solidFill>
          <a:ln w="12700">
            <a:solidFill>
              <a:srgbClr val="8A94A6"/>
            </a:solidFill>
            <a:prstDash val="dash"/>
          </a:ln>
        </p:spPr>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100</a:t>
            </a:fld>
            <a:endParaRPr lang="en-US"/>
          </a:p>
        </p:txBody>
      </p:sp>
      <p:sp>
        <p:nvSpPr>
          <p:cNvPr id="26" name="Dónde escribir"/>
          <p:cNvSpPr/>
          <p:nvPr/>
        </p:nvSpPr>
        <p:spPr>
          <a:xfrm>
            <a:off x="5782665" y="6291072"/>
            <a:ext cx="5144414"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5  ›  Ensayo: la primera frase</a:t>
            </a:r>
          </a:p>
        </p:txBody>
      </p:sp>
      <p:sp>
        <p:nvSpPr>
          <p:cNvPr id="27" name="Dónde escribir: círculo"/>
          <p:cNvSpPr/>
          <p:nvPr/>
        </p:nvSpPr>
        <p:spPr>
          <a:xfrm>
            <a:off x="5837529"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4"/>
          <a:stretch>
            <a:fillRect/>
          </a:stretch>
        </p:blipFill>
        <p:spPr>
          <a:xfrm>
            <a:off x="5910681" y="6409944"/>
            <a:ext cx="146304" cy="146304"/>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Presentaciones</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250–275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Cada pareja presenta su propuesta:</a:t>
            </a:r>
            <a:endParaRPr lang="en-US" sz="1900" dirty="0"/>
          </a:p>
        </p:txBody>
      </p:sp>
      <p:sp>
        <p:nvSpPr>
          <p:cNvPr id="6" name="minutos de presentación"/>
          <p:cNvSpPr/>
          <p:nvPr/>
        </p:nvSpPr>
        <p:spPr>
          <a:xfrm>
            <a:off x="548640" y="2011680"/>
            <a:ext cx="5318608" cy="2377440"/>
          </a:xfrm>
          <a:prstGeom prst="roundRect">
            <a:avLst>
              <a:gd name="adj" fmla="val 5769"/>
            </a:avLst>
          </a:prstGeom>
          <a:solidFill>
            <a:schemeClr val="accent1"/>
          </a:solidFill>
          <a:ln/>
        </p:spPr>
      </p:sp>
      <p:sp>
        <p:nvSpPr>
          <p:cNvPr id="7" name="Text 5"/>
          <p:cNvSpPr txBox="1"/>
          <p:nvPr/>
        </p:nvSpPr>
        <p:spPr>
          <a:xfrm>
            <a:off x="548640" y="2011680"/>
            <a:ext cx="5318608" cy="2377440"/>
          </a:xfrm>
          <a:prstGeom prst="rect">
            <a:avLst/>
          </a:prstGeom>
          <a:noFill/>
          <a:ln/>
        </p:spPr>
        <p:txBody>
          <a:bodyPr wrap="square" lIns="0" tIns="0" rIns="0" bIns="0" rtlCol="0" anchor="ctr"/>
          <a:lstStyle/>
          <a:p>
            <a:pPr marL="0" indent="0" algn="ctr">
              <a:buNone/>
            </a:pPr>
            <a:r>
              <a:rPr lang="en-US" sz="9600" b="1" dirty="0">
                <a:solidFill>
                  <a:schemeClr val="tx1"/>
                </a:solidFill>
              </a:rPr>
              <a:t>2 a 5</a:t>
            </a:r>
            <a:endParaRPr lang="en-US" sz="9600" dirty="0"/>
          </a:p>
          <a:p>
            <a:pPr marL="0" indent="0" algn="ctr">
              <a:buNone/>
            </a:pPr>
            <a:r>
              <a:rPr lang="en-US" sz="2400" b="1" dirty="0">
                <a:solidFill>
                  <a:schemeClr val="tx1"/>
                </a:solidFill>
              </a:rPr>
              <a:t>minutos de presentación</a:t>
            </a:r>
            <a:endParaRPr lang="en-US" sz="9600" dirty="0"/>
          </a:p>
        </p:txBody>
      </p:sp>
      <p:sp>
        <p:nvSpPr>
          <p:cNvPr id="8" name="minuto de preguntas"/>
          <p:cNvSpPr/>
          <p:nvPr/>
        </p:nvSpPr>
        <p:spPr>
          <a:xfrm>
            <a:off x="6324448" y="2011680"/>
            <a:ext cx="5318608" cy="2377440"/>
          </a:xfrm>
          <a:prstGeom prst="roundRect">
            <a:avLst>
              <a:gd name="adj" fmla="val 5769"/>
            </a:avLst>
          </a:prstGeom>
          <a:solidFill>
            <a:schemeClr val="tx2"/>
          </a:solidFill>
          <a:ln/>
        </p:spPr>
      </p:sp>
      <p:sp>
        <p:nvSpPr>
          <p:cNvPr id="9" name="Text 7"/>
          <p:cNvSpPr txBox="1"/>
          <p:nvPr/>
        </p:nvSpPr>
        <p:spPr>
          <a:xfrm>
            <a:off x="6324448" y="2011680"/>
            <a:ext cx="5318608" cy="2377440"/>
          </a:xfrm>
          <a:prstGeom prst="rect">
            <a:avLst/>
          </a:prstGeom>
          <a:noFill/>
          <a:ln/>
        </p:spPr>
        <p:txBody>
          <a:bodyPr wrap="square" lIns="0" tIns="0" rIns="0" bIns="0" rtlCol="0" anchor="ctr"/>
          <a:lstStyle/>
          <a:p>
            <a:pPr marL="0" indent="0" algn="ctr">
              <a:buNone/>
            </a:pPr>
            <a:r>
              <a:rPr lang="en-US" sz="9600" b="1" dirty="0">
                <a:solidFill>
                  <a:schemeClr val="bg1"/>
                </a:solidFill>
              </a:rPr>
              <a:t>2 a 5</a:t>
            </a:r>
            <a:endParaRPr lang="en-US" sz="9600" dirty="0"/>
          </a:p>
          <a:p>
            <a:pPr marL="0" indent="0" algn="ctr">
              <a:buNone/>
            </a:pPr>
            <a:r>
              <a:rPr lang="en-US" sz="2400" b="1" dirty="0" err="1">
                <a:solidFill>
                  <a:schemeClr val="bg1"/>
                </a:solidFill>
              </a:rPr>
              <a:t>minutos</a:t>
            </a:r>
            <a:r>
              <a:rPr lang="en-US" sz="2400" b="1" dirty="0">
                <a:solidFill>
                  <a:schemeClr val="bg1"/>
                </a:solidFill>
              </a:rPr>
              <a:t> de preguntas</a:t>
            </a:r>
            <a:endParaRPr lang="en-US" sz="9600" dirty="0"/>
          </a:p>
        </p:txBody>
      </p:sp>
      <p:sp>
        <p:nvSpPr>
          <p:cNvPr id="10" name="Tiempo"/>
          <p:cNvSpPr/>
          <p:nvPr/>
        </p:nvSpPr>
        <p:spPr>
          <a:xfrm>
            <a:off x="548640" y="4800600"/>
            <a:ext cx="731520" cy="731520"/>
          </a:xfrm>
          <a:prstGeom prst="ellipse">
            <a:avLst/>
          </a:prstGeom>
          <a:solidFill>
            <a:schemeClr val="accent3"/>
          </a:solidFill>
          <a:ln/>
        </p:spPr>
      </p:sp>
      <p:pic>
        <p:nvPicPr>
          <p:cNvPr id="11" name="Image 0" descr="Tiempo"/>
          <p:cNvPicPr>
            <a:picLocks noChangeAspect="1"/>
          </p:cNvPicPr>
          <p:nvPr/>
        </p:nvPicPr>
        <p:blipFill>
          <a:blip r:embed="rId3"/>
          <a:stretch>
            <a:fillRect/>
          </a:stretch>
        </p:blipFill>
        <p:spPr>
          <a:xfrm>
            <a:off x="724205" y="4976165"/>
            <a:ext cx="380390" cy="380390"/>
          </a:xfrm>
          <a:prstGeom prst="rect">
            <a:avLst/>
          </a:prstGeom>
        </p:spPr>
      </p:pic>
      <p:sp>
        <p:nvSpPr>
          <p:cNvPr id="12" name="Text 9"/>
          <p:cNvSpPr txBox="1"/>
          <p:nvPr/>
        </p:nvSpPr>
        <p:spPr>
          <a:xfrm>
            <a:off x="1508760" y="4800600"/>
            <a:ext cx="10134295" cy="731520"/>
          </a:xfrm>
          <a:prstGeom prst="rect">
            <a:avLst/>
          </a:prstGeom>
          <a:noFill/>
          <a:ln/>
        </p:spPr>
        <p:txBody>
          <a:bodyPr wrap="square" lIns="0" tIns="0" rIns="0" bIns="0" rtlCol="0" anchor="ctr"/>
          <a:lstStyle/>
          <a:p>
            <a:pPr marL="0" indent="0">
              <a:buNone/>
            </a:pPr>
            <a:r>
              <a:rPr lang="en-US" sz="2000" b="1" dirty="0">
                <a:solidFill>
                  <a:schemeClr val="tx1"/>
                </a:solidFill>
              </a:rPr>
              <a:t>El tiempo se cumple: con ocho parejas, no hay margen.</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Mientras tanto, los observadores</a:t>
            </a:r>
            <a:endParaRPr lang="en-US" sz="3200" dirty="0"/>
          </a:p>
        </p:txBody>
      </p:sp>
      <p:sp>
        <p:nvSpPr>
          <p:cNvPr id="3" name="Etiqueta de tiempo"/>
          <p:cNvSpPr/>
          <p:nvPr/>
        </p:nvSpPr>
        <p:spPr>
          <a:xfrm>
            <a:off x="8241487" y="548640"/>
            <a:ext cx="3401568" cy="457200"/>
          </a:xfrm>
          <a:prstGeom prst="roundRect">
            <a:avLst>
              <a:gd name="adj" fmla="val 50000"/>
            </a:avLst>
          </a:prstGeom>
          <a:solidFill>
            <a:schemeClr val="accent1"/>
          </a:solidFill>
          <a:ln/>
        </p:spPr>
      </p:sp>
      <p:sp>
        <p:nvSpPr>
          <p:cNvPr id="4" name="Text 2"/>
          <p:cNvSpPr txBox="1"/>
          <p:nvPr/>
        </p:nvSpPr>
        <p:spPr>
          <a:xfrm>
            <a:off x="8241487" y="548640"/>
            <a:ext cx="3401568" cy="457200"/>
          </a:xfrm>
          <a:prstGeom prst="rect">
            <a:avLst/>
          </a:prstGeom>
          <a:noFill/>
          <a:ln/>
        </p:spPr>
        <p:txBody>
          <a:bodyPr wrap="square" lIns="0" tIns="0" rIns="0" bIns="0" rtlCol="0" anchor="ctr"/>
          <a:lstStyle/>
          <a:p>
            <a:pPr marL="0" indent="0" algn="ctr">
              <a:buNone/>
            </a:pPr>
            <a:r>
              <a:rPr lang="en-US" sz="1400" b="1" dirty="0">
                <a:solidFill>
                  <a:schemeClr val="tx1"/>
                </a:solidFill>
              </a:rPr>
              <a:t>Min. 250–275 · Todo el grupo</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Comentad cada presentación según:</a:t>
            </a:r>
            <a:endParaRPr lang="en-US" sz="1900" dirty="0"/>
          </a:p>
        </p:txBody>
      </p:sp>
      <p:sp>
        <p:nvSpPr>
          <p:cNvPr id="6" name="Tarjeta"/>
          <p:cNvSpPr/>
          <p:nvPr/>
        </p:nvSpPr>
        <p:spPr>
          <a:xfrm>
            <a:off x="548640" y="1965960"/>
            <a:ext cx="2533574" cy="2194560"/>
          </a:xfrm>
          <a:prstGeom prst="roundRect">
            <a:avLst>
              <a:gd name="adj" fmla="val 6250"/>
            </a:avLst>
          </a:prstGeom>
          <a:solidFill>
            <a:schemeClr val="bg2"/>
          </a:solidFill>
          <a:ln/>
        </p:spPr>
      </p:sp>
      <p:sp>
        <p:nvSpPr>
          <p:cNvPr id="7" name="Claridad"/>
          <p:cNvSpPr/>
          <p:nvPr/>
        </p:nvSpPr>
        <p:spPr>
          <a:xfrm>
            <a:off x="1266787" y="2194560"/>
            <a:ext cx="1097280" cy="1097280"/>
          </a:xfrm>
          <a:prstGeom prst="ellipse">
            <a:avLst/>
          </a:prstGeom>
          <a:solidFill>
            <a:schemeClr val="tx2"/>
          </a:solidFill>
          <a:ln/>
        </p:spPr>
      </p:sp>
      <p:pic>
        <p:nvPicPr>
          <p:cNvPr id="8" name="Image 0" descr="Claridad"/>
          <p:cNvPicPr>
            <a:picLocks noChangeAspect="1"/>
          </p:cNvPicPr>
          <p:nvPr/>
        </p:nvPicPr>
        <p:blipFill>
          <a:blip r:embed="rId3"/>
          <a:stretch>
            <a:fillRect/>
          </a:stretch>
        </p:blipFill>
        <p:spPr>
          <a:xfrm>
            <a:off x="1530134" y="2457907"/>
            <a:ext cx="570586" cy="570586"/>
          </a:xfrm>
          <a:prstGeom prst="rect">
            <a:avLst/>
          </a:prstGeom>
        </p:spPr>
      </p:pic>
      <p:sp>
        <p:nvSpPr>
          <p:cNvPr id="9" name="Text 6"/>
          <p:cNvSpPr txBox="1"/>
          <p:nvPr/>
        </p:nvSpPr>
        <p:spPr>
          <a:xfrm>
            <a:off x="731520" y="3429000"/>
            <a:ext cx="2167814" cy="548640"/>
          </a:xfrm>
          <a:prstGeom prst="rect">
            <a:avLst/>
          </a:prstGeom>
          <a:noFill/>
          <a:ln/>
        </p:spPr>
        <p:txBody>
          <a:bodyPr wrap="square" lIns="0" tIns="0" rIns="0" bIns="0" rtlCol="0" anchor="ctr"/>
          <a:lstStyle/>
          <a:p>
            <a:pPr marL="0" indent="0" algn="ctr">
              <a:buNone/>
            </a:pPr>
            <a:r>
              <a:rPr lang="en-US" sz="2100" b="1" dirty="0">
                <a:solidFill>
                  <a:schemeClr val="tx1"/>
                </a:solidFill>
              </a:rPr>
              <a:t>Claridad</a:t>
            </a:r>
            <a:endParaRPr lang="en-US" sz="2100" dirty="0"/>
          </a:p>
        </p:txBody>
      </p:sp>
      <p:sp>
        <p:nvSpPr>
          <p:cNvPr id="10" name="Tarjeta"/>
          <p:cNvSpPr/>
          <p:nvPr/>
        </p:nvSpPr>
        <p:spPr>
          <a:xfrm>
            <a:off x="3402254" y="1965960"/>
            <a:ext cx="2533574" cy="2194560"/>
          </a:xfrm>
          <a:prstGeom prst="roundRect">
            <a:avLst>
              <a:gd name="adj" fmla="val 6250"/>
            </a:avLst>
          </a:prstGeom>
          <a:solidFill>
            <a:schemeClr val="bg2"/>
          </a:solidFill>
          <a:ln/>
        </p:spPr>
      </p:sp>
      <p:sp>
        <p:nvSpPr>
          <p:cNvPr id="11" name="Originalidad"/>
          <p:cNvSpPr/>
          <p:nvPr/>
        </p:nvSpPr>
        <p:spPr>
          <a:xfrm>
            <a:off x="4120401" y="2194560"/>
            <a:ext cx="1097280" cy="1097280"/>
          </a:xfrm>
          <a:prstGeom prst="ellipse">
            <a:avLst/>
          </a:prstGeom>
          <a:solidFill>
            <a:schemeClr val="tx2"/>
          </a:solidFill>
          <a:ln/>
        </p:spPr>
      </p:sp>
      <p:pic>
        <p:nvPicPr>
          <p:cNvPr id="12" name="Image 1" descr="Originalidad"/>
          <p:cNvPicPr>
            <a:picLocks noChangeAspect="1"/>
          </p:cNvPicPr>
          <p:nvPr/>
        </p:nvPicPr>
        <p:blipFill>
          <a:blip r:embed="rId4"/>
          <a:stretch>
            <a:fillRect/>
          </a:stretch>
        </p:blipFill>
        <p:spPr>
          <a:xfrm>
            <a:off x="4383748" y="2457907"/>
            <a:ext cx="570586" cy="570586"/>
          </a:xfrm>
          <a:prstGeom prst="rect">
            <a:avLst/>
          </a:prstGeom>
        </p:spPr>
      </p:pic>
      <p:sp>
        <p:nvSpPr>
          <p:cNvPr id="13" name="Text 9"/>
          <p:cNvSpPr txBox="1"/>
          <p:nvPr/>
        </p:nvSpPr>
        <p:spPr>
          <a:xfrm>
            <a:off x="3585134" y="3429000"/>
            <a:ext cx="2167814" cy="548640"/>
          </a:xfrm>
          <a:prstGeom prst="rect">
            <a:avLst/>
          </a:prstGeom>
          <a:noFill/>
          <a:ln/>
        </p:spPr>
        <p:txBody>
          <a:bodyPr wrap="square" lIns="0" tIns="0" rIns="0" bIns="0" rtlCol="0" anchor="ctr"/>
          <a:lstStyle/>
          <a:p>
            <a:pPr marL="0" indent="0" algn="ctr">
              <a:buNone/>
            </a:pPr>
            <a:r>
              <a:rPr lang="en-US" sz="2100" b="1" dirty="0">
                <a:solidFill>
                  <a:schemeClr val="tx1"/>
                </a:solidFill>
              </a:rPr>
              <a:t>Originalidad</a:t>
            </a:r>
            <a:endParaRPr lang="en-US" sz="2100" dirty="0"/>
          </a:p>
        </p:txBody>
      </p:sp>
      <p:sp>
        <p:nvSpPr>
          <p:cNvPr id="14" name="Tarjeta"/>
          <p:cNvSpPr/>
          <p:nvPr/>
        </p:nvSpPr>
        <p:spPr>
          <a:xfrm>
            <a:off x="6255868" y="1965960"/>
            <a:ext cx="2533574" cy="2194560"/>
          </a:xfrm>
          <a:prstGeom prst="roundRect">
            <a:avLst>
              <a:gd name="adj" fmla="val 6250"/>
            </a:avLst>
          </a:prstGeom>
          <a:solidFill>
            <a:schemeClr val="bg2"/>
          </a:solidFill>
          <a:ln/>
        </p:spPr>
      </p:sp>
      <p:sp>
        <p:nvSpPr>
          <p:cNvPr id="15" name="Viabilidad"/>
          <p:cNvSpPr/>
          <p:nvPr/>
        </p:nvSpPr>
        <p:spPr>
          <a:xfrm>
            <a:off x="6974015" y="2194560"/>
            <a:ext cx="1097280" cy="1097280"/>
          </a:xfrm>
          <a:prstGeom prst="ellipse">
            <a:avLst/>
          </a:prstGeom>
          <a:solidFill>
            <a:schemeClr val="tx2"/>
          </a:solidFill>
          <a:ln/>
        </p:spPr>
      </p:sp>
      <p:pic>
        <p:nvPicPr>
          <p:cNvPr id="16" name="Image 2" descr="Viabilidad"/>
          <p:cNvPicPr>
            <a:picLocks noChangeAspect="1"/>
          </p:cNvPicPr>
          <p:nvPr/>
        </p:nvPicPr>
        <p:blipFill>
          <a:blip r:embed="rId5"/>
          <a:stretch>
            <a:fillRect/>
          </a:stretch>
        </p:blipFill>
        <p:spPr>
          <a:xfrm>
            <a:off x="7237362" y="2457907"/>
            <a:ext cx="570586" cy="570586"/>
          </a:xfrm>
          <a:prstGeom prst="rect">
            <a:avLst/>
          </a:prstGeom>
        </p:spPr>
      </p:pic>
      <p:sp>
        <p:nvSpPr>
          <p:cNvPr id="17" name="Text 12"/>
          <p:cNvSpPr txBox="1"/>
          <p:nvPr/>
        </p:nvSpPr>
        <p:spPr>
          <a:xfrm>
            <a:off x="6438748" y="3429000"/>
            <a:ext cx="2167814" cy="548640"/>
          </a:xfrm>
          <a:prstGeom prst="rect">
            <a:avLst/>
          </a:prstGeom>
          <a:noFill/>
          <a:ln/>
        </p:spPr>
        <p:txBody>
          <a:bodyPr wrap="square" lIns="0" tIns="0" rIns="0" bIns="0" rtlCol="0" anchor="ctr"/>
          <a:lstStyle/>
          <a:p>
            <a:pPr marL="0" indent="0" algn="ctr">
              <a:buNone/>
            </a:pPr>
            <a:r>
              <a:rPr lang="en-US" sz="2100" b="1" dirty="0">
                <a:solidFill>
                  <a:schemeClr val="tx1"/>
                </a:solidFill>
              </a:rPr>
              <a:t>Viabilidad</a:t>
            </a:r>
            <a:endParaRPr lang="en-US" sz="2100" dirty="0"/>
          </a:p>
        </p:txBody>
      </p:sp>
      <p:sp>
        <p:nvSpPr>
          <p:cNvPr id="18" name="Tarjeta"/>
          <p:cNvSpPr/>
          <p:nvPr/>
        </p:nvSpPr>
        <p:spPr>
          <a:xfrm>
            <a:off x="9109481" y="1965960"/>
            <a:ext cx="2533574" cy="2194560"/>
          </a:xfrm>
          <a:prstGeom prst="roundRect">
            <a:avLst>
              <a:gd name="adj" fmla="val 6250"/>
            </a:avLst>
          </a:prstGeom>
          <a:solidFill>
            <a:schemeClr val="bg2"/>
          </a:solidFill>
          <a:ln/>
        </p:spPr>
      </p:sp>
      <p:sp>
        <p:nvSpPr>
          <p:cNvPr id="19" name="Posibles riesgos"/>
          <p:cNvSpPr/>
          <p:nvPr/>
        </p:nvSpPr>
        <p:spPr>
          <a:xfrm>
            <a:off x="9827628" y="2194560"/>
            <a:ext cx="1097280" cy="1097280"/>
          </a:xfrm>
          <a:prstGeom prst="ellipse">
            <a:avLst/>
          </a:prstGeom>
          <a:solidFill>
            <a:schemeClr val="tx2"/>
          </a:solidFill>
          <a:ln/>
        </p:spPr>
      </p:sp>
      <p:pic>
        <p:nvPicPr>
          <p:cNvPr id="20" name="Image 3" descr="Posibles riesgos"/>
          <p:cNvPicPr>
            <a:picLocks noChangeAspect="1"/>
          </p:cNvPicPr>
          <p:nvPr/>
        </p:nvPicPr>
        <p:blipFill>
          <a:blip r:embed="rId6"/>
          <a:stretch>
            <a:fillRect/>
          </a:stretch>
        </p:blipFill>
        <p:spPr>
          <a:xfrm>
            <a:off x="10090976" y="2457907"/>
            <a:ext cx="570586" cy="570586"/>
          </a:xfrm>
          <a:prstGeom prst="rect">
            <a:avLst/>
          </a:prstGeom>
        </p:spPr>
      </p:pic>
      <p:sp>
        <p:nvSpPr>
          <p:cNvPr id="21" name="Text 15"/>
          <p:cNvSpPr txBox="1"/>
          <p:nvPr/>
        </p:nvSpPr>
        <p:spPr>
          <a:xfrm>
            <a:off x="9292361" y="3429000"/>
            <a:ext cx="2167814" cy="548640"/>
          </a:xfrm>
          <a:prstGeom prst="rect">
            <a:avLst/>
          </a:prstGeom>
          <a:noFill/>
          <a:ln/>
        </p:spPr>
        <p:txBody>
          <a:bodyPr wrap="square" lIns="0" tIns="0" rIns="0" bIns="0" rtlCol="0" anchor="ctr"/>
          <a:lstStyle/>
          <a:p>
            <a:pPr marL="0" indent="0" algn="ctr">
              <a:buNone/>
            </a:pPr>
            <a:r>
              <a:rPr lang="en-US" sz="2100" b="1" dirty="0">
                <a:solidFill>
                  <a:schemeClr val="tx1"/>
                </a:solidFill>
              </a:rPr>
              <a:t>Posibles riesgos</a:t>
            </a:r>
            <a:endParaRPr lang="en-US" sz="2100" dirty="0"/>
          </a:p>
        </p:txBody>
      </p:sp>
      <p:sp>
        <p:nvSpPr>
          <p:cNvPr id="22" name="Tarjeta"/>
          <p:cNvSpPr/>
          <p:nvPr/>
        </p:nvSpPr>
        <p:spPr>
          <a:xfrm>
            <a:off x="548640" y="4480560"/>
            <a:ext cx="11094415" cy="1097280"/>
          </a:xfrm>
          <a:prstGeom prst="roundRect">
            <a:avLst>
              <a:gd name="adj" fmla="val 12500"/>
            </a:avLst>
          </a:prstGeom>
          <a:solidFill>
            <a:schemeClr val="accent1"/>
          </a:solidFill>
          <a:ln/>
        </p:spPr>
      </p:sp>
      <p:sp>
        <p:nvSpPr>
          <p:cNvPr id="23" name="Mejora"/>
          <p:cNvSpPr/>
          <p:nvPr/>
        </p:nvSpPr>
        <p:spPr>
          <a:xfrm>
            <a:off x="822960" y="4663440"/>
            <a:ext cx="731520" cy="731520"/>
          </a:xfrm>
          <a:prstGeom prst="ellipse">
            <a:avLst/>
          </a:prstGeom>
          <a:solidFill>
            <a:schemeClr val="tx1"/>
          </a:solidFill>
          <a:ln/>
        </p:spPr>
      </p:sp>
      <p:pic>
        <p:nvPicPr>
          <p:cNvPr id="24" name="Image 4" descr="Mejora"/>
          <p:cNvPicPr>
            <a:picLocks noChangeAspect="1"/>
          </p:cNvPicPr>
          <p:nvPr/>
        </p:nvPicPr>
        <p:blipFill>
          <a:blip r:embed="rId7"/>
          <a:stretch>
            <a:fillRect/>
          </a:stretch>
        </p:blipFill>
        <p:spPr>
          <a:xfrm>
            <a:off x="998525" y="4839005"/>
            <a:ext cx="380390" cy="380390"/>
          </a:xfrm>
          <a:prstGeom prst="rect">
            <a:avLst/>
          </a:prstGeom>
        </p:spPr>
      </p:pic>
      <p:sp>
        <p:nvSpPr>
          <p:cNvPr id="25" name="Text 18"/>
          <p:cNvSpPr txBox="1"/>
          <p:nvPr/>
        </p:nvSpPr>
        <p:spPr>
          <a:xfrm>
            <a:off x="1783080" y="4480560"/>
            <a:ext cx="9585655" cy="1097280"/>
          </a:xfrm>
          <a:prstGeom prst="rect">
            <a:avLst/>
          </a:prstGeom>
          <a:noFill/>
          <a:ln/>
        </p:spPr>
        <p:txBody>
          <a:bodyPr wrap="square" lIns="0" tIns="0" rIns="0" bIns="0" rtlCol="0" anchor="ctr"/>
          <a:lstStyle/>
          <a:p>
            <a:pPr marL="0" indent="0">
              <a:buNone/>
            </a:pPr>
            <a:r>
              <a:rPr lang="en-US" sz="2200" b="1" dirty="0">
                <a:solidFill>
                  <a:schemeClr val="tx1"/>
                </a:solidFill>
              </a:rPr>
              <a:t>Y siempre, al menos una propuesta de mejora.</a:t>
            </a:r>
            <a:endParaRPr lang="en-US" sz="2200" dirty="0"/>
          </a:p>
        </p:txBody>
      </p:sp>
      <p:sp>
        <p:nvSpPr>
          <p:cNvPr id="26"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102</a:t>
            </a:fld>
            <a:endParaRPr lang="en-US"/>
          </a:p>
        </p:txBody>
      </p:sp>
      <p:sp>
        <p:nvSpPr>
          <p:cNvPr id="27" name="Dónde escribir"/>
          <p:cNvSpPr/>
          <p:nvPr/>
        </p:nvSpPr>
        <p:spPr>
          <a:xfrm>
            <a:off x="6048755" y="6291072"/>
            <a:ext cx="4878324"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5  ›  Como observadores</a:t>
            </a:r>
          </a:p>
        </p:txBody>
      </p:sp>
      <p:sp>
        <p:nvSpPr>
          <p:cNvPr id="28" name="Dónde escribir: círculo"/>
          <p:cNvSpPr/>
          <p:nvPr/>
        </p:nvSpPr>
        <p:spPr>
          <a:xfrm>
            <a:off x="6103619" y="6336792"/>
            <a:ext cx="292608" cy="292608"/>
          </a:xfrm>
          <a:prstGeom prst="ellipse">
            <a:avLst/>
          </a:prstGeom>
          <a:solidFill>
            <a:schemeClr val="accent1"/>
          </a:solidFill>
          <a:ln>
            <a:noFill/>
          </a:ln>
        </p:spPr>
      </p:sp>
      <p:pic>
        <p:nvPicPr>
          <p:cNvPr id="29" name="Dónde escribir: lápiz" descr="Lápiz"/>
          <p:cNvPicPr>
            <a:picLocks noChangeAspect="1"/>
          </p:cNvPicPr>
          <p:nvPr/>
        </p:nvPicPr>
        <p:blipFill>
          <a:blip r:embed="rId8"/>
          <a:stretch>
            <a:fillRect/>
          </a:stretch>
        </p:blipFill>
        <p:spPr>
          <a:xfrm>
            <a:off x="6176771" y="6409944"/>
            <a:ext cx="146304" cy="146304"/>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La IA como evaluadora crítica</a:t>
            </a:r>
            <a:endParaRPr lang="en-US" sz="3200" dirty="0"/>
          </a:p>
        </p:txBody>
      </p:sp>
      <p:sp>
        <p:nvSpPr>
          <p:cNvPr id="3" name="Etiqueta de tiempo"/>
          <p:cNvSpPr/>
          <p:nvPr/>
        </p:nvSpPr>
        <p:spPr>
          <a:xfrm>
            <a:off x="8977579" y="548640"/>
            <a:ext cx="2665476" cy="457200"/>
          </a:xfrm>
          <a:prstGeom prst="roundRect">
            <a:avLst>
              <a:gd name="adj" fmla="val 50000"/>
            </a:avLst>
          </a:prstGeom>
          <a:solidFill>
            <a:schemeClr val="accent2"/>
          </a:solidFill>
          <a:ln/>
        </p:spPr>
      </p:sp>
      <p:sp>
        <p:nvSpPr>
          <p:cNvPr id="4" name="Text 2"/>
          <p:cNvSpPr txBox="1"/>
          <p:nvPr/>
        </p:nvSpPr>
        <p:spPr>
          <a:xfrm>
            <a:off x="8977579" y="548640"/>
            <a:ext cx="2665476" cy="457200"/>
          </a:xfrm>
          <a:prstGeom prst="rect">
            <a:avLst/>
          </a:prstGeom>
          <a:noFill/>
          <a:ln/>
        </p:spPr>
        <p:txBody>
          <a:bodyPr wrap="square" lIns="0" tIns="0" rIns="0" bIns="0" rtlCol="0" anchor="ctr"/>
          <a:lstStyle/>
          <a:p>
            <a:pPr marL="0" indent="0" algn="ctr">
              <a:buNone/>
            </a:pPr>
            <a:r>
              <a:rPr lang="en-US" sz="1400" b="1" dirty="0">
                <a:solidFill>
                  <a:schemeClr val="bg1"/>
                </a:solidFill>
              </a:rPr>
              <a:t>Min. 275–285 · Con IA</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Introducid un resumen de vuestra propuesta, sin información sensible:</a:t>
            </a:r>
            <a:endParaRPr lang="en-US" sz="1900" dirty="0"/>
          </a:p>
        </p:txBody>
      </p:sp>
      <p:sp>
        <p:nvSpPr>
          <p:cNvPr id="6" name="Prompt"/>
          <p:cNvSpPr/>
          <p:nvPr/>
        </p:nvSpPr>
        <p:spPr>
          <a:xfrm>
            <a:off x="548640" y="1920240"/>
            <a:ext cx="11094415" cy="3108960"/>
          </a:xfrm>
          <a:prstGeom prst="roundRect">
            <a:avLst>
              <a:gd name="adj" fmla="val 3529"/>
            </a:avLst>
          </a:prstGeom>
          <a:solidFill>
            <a:schemeClr val="tx1"/>
          </a:solidFill>
          <a:ln/>
        </p:spPr>
      </p:sp>
      <p:sp>
        <p:nvSpPr>
          <p:cNvPr id="7" name="Text 5"/>
          <p:cNvSpPr txBox="1"/>
          <p:nvPr/>
        </p:nvSpPr>
        <p:spPr>
          <a:xfrm>
            <a:off x="822960" y="2103120"/>
            <a:ext cx="10545775" cy="2743200"/>
          </a:xfrm>
          <a:prstGeom prst="rect">
            <a:avLst/>
          </a:prstGeom>
          <a:noFill/>
          <a:ln/>
        </p:spPr>
        <p:txBody>
          <a:bodyPr wrap="square" lIns="0" tIns="0" rIns="0" bIns="0" rtlCol="0" anchor="t"/>
          <a:lstStyle/>
          <a:p>
            <a:pPr marL="0" indent="0">
              <a:lnSpc>
                <a:spcPct val="95000"/>
              </a:lnSpc>
              <a:buNone/>
            </a:pPr>
            <a:r>
              <a:rPr lang="en-US" sz="1900" dirty="0">
                <a:solidFill>
                  <a:schemeClr val="bg1"/>
                </a:solidFill>
                <a:latin typeface="Courier New" pitchFamily="34" charset="0"/>
                <a:ea typeface="Courier New" pitchFamily="34" charset="-122"/>
                <a:cs typeface="Courier New" pitchFamily="34" charset="-120"/>
              </a:rPr>
              <a:t>Actúa como responsable de una empresa que debe decidir si implantar</a:t>
            </a:r>
            <a:endParaRPr lang="en-US" sz="1900" dirty="0"/>
          </a:p>
          <a:p>
            <a:pPr marL="0" indent="0">
              <a:lnSpc>
                <a:spcPct val="95000"/>
              </a:lnSpc>
              <a:buNone/>
            </a:pPr>
            <a:r>
              <a:rPr lang="en-US" sz="1900" dirty="0">
                <a:solidFill>
                  <a:schemeClr val="bg1"/>
                </a:solidFill>
                <a:latin typeface="Courier New" pitchFamily="34" charset="0"/>
                <a:ea typeface="Courier New" pitchFamily="34" charset="-122"/>
                <a:cs typeface="Courier New" pitchFamily="34" charset="-120"/>
              </a:rPr>
              <a:t>una propuesta de innovación. Voy a presentarte una solución.</a:t>
            </a:r>
            <a:endParaRPr lang="en-US" sz="1900" dirty="0"/>
          </a:p>
          <a:p>
            <a:pPr marL="0" indent="0">
              <a:lnSpc>
                <a:spcPct val="95000"/>
              </a:lnSpc>
              <a:buNone/>
            </a:pPr>
            <a:r>
              <a:rPr lang="en-US" sz="1900" dirty="0">
                <a:solidFill>
                  <a:schemeClr val="bg1"/>
                </a:solidFill>
                <a:latin typeface="Courier New" pitchFamily="34" charset="0"/>
                <a:ea typeface="Courier New" pitchFamily="34" charset="-122"/>
                <a:cs typeface="Courier New" pitchFamily="34" charset="-120"/>
              </a:rPr>
              <a:t>Evalúala de forma crítica considerando utilidad, originalidad, coste,</a:t>
            </a:r>
            <a:endParaRPr lang="en-US" sz="1900" dirty="0"/>
          </a:p>
          <a:p>
            <a:pPr marL="0" indent="0">
              <a:lnSpc>
                <a:spcPct val="95000"/>
              </a:lnSpc>
              <a:buNone/>
            </a:pPr>
            <a:r>
              <a:rPr lang="en-US" sz="1900" dirty="0">
                <a:solidFill>
                  <a:schemeClr val="bg1"/>
                </a:solidFill>
                <a:latin typeface="Courier New" pitchFamily="34" charset="0"/>
                <a:ea typeface="Courier New" pitchFamily="34" charset="-122"/>
                <a:cs typeface="Courier New" pitchFamily="34" charset="-120"/>
              </a:rPr>
              <a:t>facilidad de implantación y riesgos. Identifica tres debilidades,</a:t>
            </a:r>
            <a:endParaRPr lang="en-US" sz="1900" dirty="0"/>
          </a:p>
          <a:p>
            <a:pPr marL="0" indent="0">
              <a:lnSpc>
                <a:spcPct val="95000"/>
              </a:lnSpc>
              <a:buNone/>
            </a:pPr>
            <a:r>
              <a:rPr lang="en-US" sz="1900" dirty="0">
                <a:solidFill>
                  <a:schemeClr val="bg1"/>
                </a:solidFill>
                <a:latin typeface="Courier New" pitchFamily="34" charset="0"/>
                <a:ea typeface="Courier New" pitchFamily="34" charset="-122"/>
                <a:cs typeface="Courier New" pitchFamily="34" charset="-120"/>
              </a:rPr>
              <a:t>formula dos preguntas difíciles y sugiere una mejora concreta.</a:t>
            </a:r>
            <a:endParaRPr lang="en-US" sz="1900" dirty="0"/>
          </a:p>
          <a:p>
            <a:pPr marL="0" indent="0">
              <a:lnSpc>
                <a:spcPct val="95000"/>
              </a:lnSpc>
              <a:buNone/>
            </a:pPr>
            <a:r>
              <a:rPr lang="en-US" sz="1900" dirty="0">
                <a:solidFill>
                  <a:schemeClr val="bg1"/>
                </a:solidFill>
                <a:latin typeface="Courier New" pitchFamily="34" charset="0"/>
                <a:ea typeface="Courier New" pitchFamily="34" charset="-122"/>
                <a:cs typeface="Courier New" pitchFamily="34" charset="-120"/>
              </a:rPr>
              <a:t>No des por válidas las cifras que no estén justificadas.</a:t>
            </a:r>
            <a:endParaRPr lang="en-US" sz="1900" dirty="0"/>
          </a:p>
          <a:p>
            <a:pPr marL="0" indent="0">
              <a:lnSpc>
                <a:spcPct val="95000"/>
              </a:lnSpc>
              <a:buNone/>
            </a:pPr>
            <a:r>
              <a:rPr lang="en-US" sz="1900" dirty="0">
                <a:solidFill>
                  <a:schemeClr val="bg1"/>
                </a:solidFill>
                <a:latin typeface="Courier New" pitchFamily="34" charset="0"/>
                <a:ea typeface="Courier New" pitchFamily="34" charset="-122"/>
                <a:cs typeface="Courier New" pitchFamily="34" charset="-120"/>
              </a:rPr>
              <a:t>Esta es la propuesta: </a:t>
            </a:r>
            <a:r>
              <a:rPr lang="en-US" sz="1900" b="1" dirty="0">
                <a:solidFill>
                  <a:schemeClr val="accent1"/>
                </a:solidFill>
                <a:latin typeface="Courier New" pitchFamily="34" charset="0"/>
                <a:ea typeface="Courier New" pitchFamily="34" charset="-122"/>
                <a:cs typeface="Courier New" pitchFamily="34" charset="-120"/>
              </a:rPr>
              <a:t>[insertar descripción]</a:t>
            </a:r>
            <a:r>
              <a:rPr lang="en-US" sz="1900" dirty="0">
                <a:solidFill>
                  <a:schemeClr val="bg1"/>
                </a:solidFill>
                <a:latin typeface="Courier New" pitchFamily="34" charset="0"/>
                <a:ea typeface="Courier New" pitchFamily="34" charset="-122"/>
                <a:cs typeface="Courier New" pitchFamily="34" charset="-120"/>
              </a:rPr>
              <a:t>.</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103</a:t>
            </a:fld>
            <a:endParaRPr lang="en-US"/>
          </a:p>
        </p:txBody>
      </p:sp>
      <p:sp>
        <p:nvSpPr>
          <p:cNvPr id="26" name="Dónde escribir"/>
          <p:cNvSpPr/>
          <p:nvPr/>
        </p:nvSpPr>
        <p:spPr>
          <a:xfrm>
            <a:off x="4131259" y="6291072"/>
            <a:ext cx="6795820"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5  ›  La IA como evaluador crítico (el prompt está ahí)</a:t>
            </a:r>
          </a:p>
        </p:txBody>
      </p:sp>
      <p:sp>
        <p:nvSpPr>
          <p:cNvPr id="27" name="Dónde escribir: círculo"/>
          <p:cNvSpPr/>
          <p:nvPr/>
        </p:nvSpPr>
        <p:spPr>
          <a:xfrm>
            <a:off x="4186123"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3"/>
          <a:stretch>
            <a:fillRect/>
          </a:stretch>
        </p:blipFill>
        <p:spPr>
          <a:xfrm>
            <a:off x="4259275" y="6409944"/>
            <a:ext cx="146304" cy="146304"/>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¿Qué críticas aceptáis?</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275–285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marL="0" indent="0">
              <a:buNone/>
            </a:pPr>
            <a:r>
              <a:rPr lang="en-US" sz="1900" dirty="0">
                <a:solidFill>
                  <a:schemeClr val="tx2"/>
                </a:solidFill>
              </a:rPr>
              <a:t>Cada pareja explica:</a:t>
            </a:r>
            <a:endParaRPr lang="en-US" sz="1900" dirty="0"/>
          </a:p>
        </p:txBody>
      </p:sp>
      <p:sp>
        <p:nvSpPr>
          <p:cNvPr id="6" name="La crítica que aceptamos"/>
          <p:cNvSpPr/>
          <p:nvPr/>
        </p:nvSpPr>
        <p:spPr>
          <a:xfrm>
            <a:off x="548640" y="2057400"/>
            <a:ext cx="5364328" cy="548640"/>
          </a:xfrm>
          <a:prstGeom prst="roundRect">
            <a:avLst>
              <a:gd name="adj" fmla="val 16667"/>
            </a:avLst>
          </a:prstGeom>
          <a:solidFill>
            <a:schemeClr val="accent2"/>
          </a:solidFill>
          <a:ln/>
        </p:spPr>
      </p:sp>
      <p:sp>
        <p:nvSpPr>
          <p:cNvPr id="7" name="Text 5"/>
          <p:cNvSpPr txBox="1"/>
          <p:nvPr/>
        </p:nvSpPr>
        <p:spPr>
          <a:xfrm>
            <a:off x="640080" y="2057400"/>
            <a:ext cx="5181448" cy="548640"/>
          </a:xfrm>
          <a:prstGeom prst="rect">
            <a:avLst/>
          </a:prstGeom>
          <a:noFill/>
          <a:ln/>
        </p:spPr>
        <p:txBody>
          <a:bodyPr wrap="square" lIns="0" tIns="0" rIns="0" bIns="0" rtlCol="0" anchor="ctr"/>
          <a:lstStyle/>
          <a:p>
            <a:pPr marL="0" indent="0" algn="ctr">
              <a:buNone/>
            </a:pPr>
            <a:r>
              <a:rPr lang="en-US" sz="1800" b="1" dirty="0">
                <a:solidFill>
                  <a:schemeClr val="bg1"/>
                </a:solidFill>
              </a:rPr>
              <a:t>La crítica que aceptamos</a:t>
            </a:r>
            <a:endParaRPr lang="en-US" sz="1800" dirty="0"/>
          </a:p>
        </p:txBody>
      </p:sp>
      <p:sp>
        <p:nvSpPr>
          <p:cNvPr id="8" name="Hueco"/>
          <p:cNvSpPr/>
          <p:nvPr/>
        </p:nvSpPr>
        <p:spPr>
          <a:xfrm>
            <a:off x="548640" y="2788920"/>
            <a:ext cx="5364328" cy="2423160"/>
          </a:xfrm>
          <a:prstGeom prst="roundRect">
            <a:avLst>
              <a:gd name="adj" fmla="val 3774"/>
            </a:avLst>
          </a:prstGeom>
          <a:solidFill>
            <a:schemeClr val="bg2"/>
          </a:solidFill>
          <a:ln w="12700">
            <a:solidFill>
              <a:srgbClr val="8A94A6"/>
            </a:solidFill>
            <a:prstDash val="dash"/>
          </a:ln>
        </p:spPr>
      </p:sp>
      <p:sp>
        <p:nvSpPr>
          <p:cNvPr id="9" name="Qué modificaríamos"/>
          <p:cNvSpPr/>
          <p:nvPr/>
        </p:nvSpPr>
        <p:spPr>
          <a:xfrm>
            <a:off x="6278728" y="2057400"/>
            <a:ext cx="5364328" cy="548640"/>
          </a:xfrm>
          <a:prstGeom prst="roundRect">
            <a:avLst>
              <a:gd name="adj" fmla="val 16667"/>
            </a:avLst>
          </a:prstGeom>
          <a:solidFill>
            <a:schemeClr val="accent1"/>
          </a:solidFill>
          <a:ln/>
        </p:spPr>
      </p:sp>
      <p:sp>
        <p:nvSpPr>
          <p:cNvPr id="10" name="Text 8"/>
          <p:cNvSpPr txBox="1"/>
          <p:nvPr/>
        </p:nvSpPr>
        <p:spPr>
          <a:xfrm>
            <a:off x="6370168" y="2057400"/>
            <a:ext cx="5181448" cy="548640"/>
          </a:xfrm>
          <a:prstGeom prst="rect">
            <a:avLst/>
          </a:prstGeom>
          <a:noFill/>
          <a:ln/>
        </p:spPr>
        <p:txBody>
          <a:bodyPr wrap="square" lIns="0" tIns="0" rIns="0" bIns="0" rtlCol="0" anchor="ctr"/>
          <a:lstStyle/>
          <a:p>
            <a:pPr marL="0" indent="0" algn="ctr">
              <a:buNone/>
            </a:pPr>
            <a:r>
              <a:rPr lang="en-US" sz="1800" b="1" dirty="0">
                <a:solidFill>
                  <a:schemeClr val="tx1"/>
                </a:solidFill>
              </a:rPr>
              <a:t>Qué modificaríamos</a:t>
            </a:r>
            <a:endParaRPr lang="en-US" sz="1800" dirty="0"/>
          </a:p>
        </p:txBody>
      </p:sp>
      <p:sp>
        <p:nvSpPr>
          <p:cNvPr id="11" name="Hueco"/>
          <p:cNvSpPr/>
          <p:nvPr/>
        </p:nvSpPr>
        <p:spPr>
          <a:xfrm>
            <a:off x="6278728" y="2788920"/>
            <a:ext cx="5364328" cy="2423160"/>
          </a:xfrm>
          <a:prstGeom prst="roundRect">
            <a:avLst>
              <a:gd name="adj" fmla="val 3774"/>
            </a:avLst>
          </a:prstGeom>
          <a:solidFill>
            <a:schemeClr val="bg2"/>
          </a:solidFill>
          <a:ln w="12700">
            <a:solidFill>
              <a:srgbClr val="8A94A6"/>
            </a:solidFill>
            <a:prstDash val="dash"/>
          </a:ln>
        </p:spPr>
      </p:sp>
      <p:sp>
        <p:nvSpPr>
          <p:cNvPr id="12" name="Aviso"/>
          <p:cNvSpPr/>
          <p:nvPr/>
        </p:nvSpPr>
        <p:spPr>
          <a:xfrm>
            <a:off x="548640" y="5440680"/>
            <a:ext cx="594360" cy="594360"/>
          </a:xfrm>
          <a:prstGeom prst="ellipse">
            <a:avLst/>
          </a:prstGeom>
          <a:solidFill>
            <a:schemeClr val="accent3"/>
          </a:solidFill>
          <a:ln/>
        </p:spPr>
      </p:sp>
      <p:pic>
        <p:nvPicPr>
          <p:cNvPr id="13" name="Image 0" descr="Aviso"/>
          <p:cNvPicPr>
            <a:picLocks noChangeAspect="1"/>
          </p:cNvPicPr>
          <p:nvPr/>
        </p:nvPicPr>
        <p:blipFill>
          <a:blip r:embed="rId3"/>
          <a:stretch>
            <a:fillRect/>
          </a:stretch>
        </p:blipFill>
        <p:spPr>
          <a:xfrm>
            <a:off x="691286" y="5583326"/>
            <a:ext cx="309067" cy="309067"/>
          </a:xfrm>
          <a:prstGeom prst="rect">
            <a:avLst/>
          </a:prstGeom>
        </p:spPr>
      </p:pic>
      <p:sp>
        <p:nvSpPr>
          <p:cNvPr id="14" name="Text 11"/>
          <p:cNvSpPr txBox="1"/>
          <p:nvPr/>
        </p:nvSpPr>
        <p:spPr>
          <a:xfrm>
            <a:off x="1371600" y="5440680"/>
            <a:ext cx="10271455" cy="594360"/>
          </a:xfrm>
          <a:prstGeom prst="rect">
            <a:avLst/>
          </a:prstGeom>
          <a:noFill/>
          <a:ln/>
        </p:spPr>
        <p:txBody>
          <a:bodyPr wrap="square" lIns="0" tIns="0" rIns="0" bIns="0" rtlCol="0" anchor="ctr"/>
          <a:lstStyle/>
          <a:p>
            <a:pPr marL="0" indent="0">
              <a:buNone/>
            </a:pPr>
            <a:r>
              <a:rPr lang="en-US" sz="2000" b="1" dirty="0">
                <a:solidFill>
                  <a:schemeClr val="accent3"/>
                </a:solidFill>
              </a:rPr>
              <a:t>Ojo: la respuesta de la IA también puede contener errores.</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104</a:t>
            </a:fld>
            <a:endParaRPr lang="en-US"/>
          </a:p>
        </p:txBody>
      </p:sp>
      <p:sp>
        <p:nvSpPr>
          <p:cNvPr id="26" name="Dónde escribir"/>
          <p:cNvSpPr/>
          <p:nvPr/>
        </p:nvSpPr>
        <p:spPr>
          <a:xfrm>
            <a:off x="5883249" y="6291072"/>
            <a:ext cx="5043830"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5  ›  tabla «Crítica de la IA»</a:t>
            </a:r>
          </a:p>
        </p:txBody>
      </p:sp>
      <p:sp>
        <p:nvSpPr>
          <p:cNvPr id="27" name="Dónde escribir: círculo"/>
          <p:cNvSpPr/>
          <p:nvPr/>
        </p:nvSpPr>
        <p:spPr>
          <a:xfrm>
            <a:off x="5938113"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4"/>
          <a:stretch>
            <a:fillRect/>
          </a:stretch>
        </p:blipFill>
        <p:spPr>
          <a:xfrm>
            <a:off x="6011265" y="6409944"/>
            <a:ext cx="146304" cy="146304"/>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Lo que habéis demostrado hoy</a:t>
            </a:r>
            <a:endParaRPr lang="en-US" sz="3200" dirty="0"/>
          </a:p>
        </p:txBody>
      </p:sp>
      <p:sp>
        <p:nvSpPr>
          <p:cNvPr id="3" name="Etiqueta de tiempo"/>
          <p:cNvSpPr/>
          <p:nvPr/>
        </p:nvSpPr>
        <p:spPr>
          <a:xfrm>
            <a:off x="9923983" y="548640"/>
            <a:ext cx="1719072" cy="457200"/>
          </a:xfrm>
          <a:prstGeom prst="roundRect">
            <a:avLst>
              <a:gd name="adj" fmla="val 50000"/>
            </a:avLst>
          </a:prstGeom>
          <a:solidFill>
            <a:schemeClr val="bg2"/>
          </a:solidFill>
          <a:ln/>
        </p:spPr>
      </p:sp>
      <p:sp>
        <p:nvSpPr>
          <p:cNvPr id="4" name="Text 2"/>
          <p:cNvSpPr txBox="1"/>
          <p:nvPr/>
        </p:nvSpPr>
        <p:spPr>
          <a:xfrm>
            <a:off x="9923983" y="548640"/>
            <a:ext cx="1719072" cy="457200"/>
          </a:xfrm>
          <a:prstGeom prst="rect">
            <a:avLst/>
          </a:prstGeom>
          <a:noFill/>
          <a:ln/>
        </p:spPr>
        <p:txBody>
          <a:bodyPr wrap="square" lIns="0" tIns="0" rIns="0" bIns="0" rtlCol="0" anchor="ctr"/>
          <a:lstStyle/>
          <a:p>
            <a:pPr marL="0" indent="0" algn="ctr">
              <a:buNone/>
            </a:pPr>
            <a:r>
              <a:rPr lang="en-US" sz="1400" b="1" dirty="0">
                <a:solidFill>
                  <a:schemeClr val="tx1"/>
                </a:solidFill>
              </a:rPr>
              <a:t>Min. 285–295</a:t>
            </a:r>
            <a:endParaRPr lang="en-US" sz="1400" dirty="0"/>
          </a:p>
        </p:txBody>
      </p:sp>
      <p:sp>
        <p:nvSpPr>
          <p:cNvPr id="5" name="Tarjeta"/>
          <p:cNvSpPr/>
          <p:nvPr/>
        </p:nvSpPr>
        <p:spPr>
          <a:xfrm>
            <a:off x="548640" y="1645920"/>
            <a:ext cx="1999427" cy="2743200"/>
          </a:xfrm>
          <a:prstGeom prst="roundRect">
            <a:avLst>
              <a:gd name="adj" fmla="val 6860"/>
            </a:avLst>
          </a:prstGeom>
          <a:solidFill>
            <a:schemeClr val="bg2"/>
          </a:solidFill>
          <a:ln/>
        </p:spPr>
      </p:sp>
      <p:sp>
        <p:nvSpPr>
          <p:cNvPr id="6" name="Identificar problemas"/>
          <p:cNvSpPr/>
          <p:nvPr/>
        </p:nvSpPr>
        <p:spPr>
          <a:xfrm>
            <a:off x="953994" y="1965960"/>
            <a:ext cx="1188720" cy="1188720"/>
          </a:xfrm>
          <a:prstGeom prst="ellipse">
            <a:avLst/>
          </a:prstGeom>
          <a:solidFill>
            <a:schemeClr val="accent1"/>
          </a:solidFill>
          <a:ln/>
        </p:spPr>
      </p:sp>
      <p:pic>
        <p:nvPicPr>
          <p:cNvPr id="7" name="Image 0" descr="Identificar problemas"/>
          <p:cNvPicPr>
            <a:picLocks noChangeAspect="1"/>
          </p:cNvPicPr>
          <p:nvPr/>
        </p:nvPicPr>
        <p:blipFill>
          <a:blip r:embed="rId3"/>
          <a:stretch>
            <a:fillRect/>
          </a:stretch>
        </p:blipFill>
        <p:spPr>
          <a:xfrm>
            <a:off x="1239286" y="2251253"/>
            <a:ext cx="618134" cy="618134"/>
          </a:xfrm>
          <a:prstGeom prst="rect">
            <a:avLst/>
          </a:prstGeom>
        </p:spPr>
      </p:pic>
      <p:sp>
        <p:nvSpPr>
          <p:cNvPr id="8" name="Text 5"/>
          <p:cNvSpPr txBox="1"/>
          <p:nvPr/>
        </p:nvSpPr>
        <p:spPr>
          <a:xfrm>
            <a:off x="685800" y="3337560"/>
            <a:ext cx="1725107" cy="822960"/>
          </a:xfrm>
          <a:prstGeom prst="rect">
            <a:avLst/>
          </a:prstGeom>
          <a:noFill/>
          <a:ln/>
        </p:spPr>
        <p:txBody>
          <a:bodyPr wrap="square" lIns="0" tIns="0" rIns="0" bIns="0" rtlCol="0" anchor="ctr"/>
          <a:lstStyle/>
          <a:p>
            <a:pPr marL="0" indent="0" algn="ctr">
              <a:buNone/>
            </a:pPr>
            <a:r>
              <a:rPr lang="en-US" sz="1900" b="1" dirty="0">
                <a:solidFill>
                  <a:schemeClr val="tx1"/>
                </a:solidFill>
              </a:rPr>
              <a:t>Identificar problemas</a:t>
            </a:r>
            <a:endParaRPr lang="en-US" sz="1900" dirty="0"/>
          </a:p>
        </p:txBody>
      </p:sp>
      <p:sp>
        <p:nvSpPr>
          <p:cNvPr id="9" name="Tarjeta"/>
          <p:cNvSpPr/>
          <p:nvPr/>
        </p:nvSpPr>
        <p:spPr>
          <a:xfrm>
            <a:off x="2822387" y="1645920"/>
            <a:ext cx="1999427" cy="2743200"/>
          </a:xfrm>
          <a:prstGeom prst="roundRect">
            <a:avLst>
              <a:gd name="adj" fmla="val 6860"/>
            </a:avLst>
          </a:prstGeom>
          <a:solidFill>
            <a:schemeClr val="bg2"/>
          </a:solidFill>
          <a:ln/>
        </p:spPr>
      </p:sp>
      <p:sp>
        <p:nvSpPr>
          <p:cNvPr id="10" name="Análisis"/>
          <p:cNvSpPr/>
          <p:nvPr/>
        </p:nvSpPr>
        <p:spPr>
          <a:xfrm>
            <a:off x="3227741" y="1965960"/>
            <a:ext cx="1188720" cy="1188720"/>
          </a:xfrm>
          <a:prstGeom prst="ellipse">
            <a:avLst/>
          </a:prstGeom>
          <a:solidFill>
            <a:schemeClr val="accent1"/>
          </a:solidFill>
          <a:ln/>
        </p:spPr>
      </p:sp>
      <p:pic>
        <p:nvPicPr>
          <p:cNvPr id="11" name="Image 1" descr="Análisis"/>
          <p:cNvPicPr>
            <a:picLocks noChangeAspect="1"/>
          </p:cNvPicPr>
          <p:nvPr/>
        </p:nvPicPr>
        <p:blipFill>
          <a:blip r:embed="rId4"/>
          <a:stretch>
            <a:fillRect/>
          </a:stretch>
        </p:blipFill>
        <p:spPr>
          <a:xfrm>
            <a:off x="3513033" y="2251253"/>
            <a:ext cx="618134" cy="618134"/>
          </a:xfrm>
          <a:prstGeom prst="rect">
            <a:avLst/>
          </a:prstGeom>
        </p:spPr>
      </p:pic>
      <p:sp>
        <p:nvSpPr>
          <p:cNvPr id="12" name="Text 8"/>
          <p:cNvSpPr txBox="1"/>
          <p:nvPr/>
        </p:nvSpPr>
        <p:spPr>
          <a:xfrm>
            <a:off x="2959547" y="3337560"/>
            <a:ext cx="1725107" cy="822960"/>
          </a:xfrm>
          <a:prstGeom prst="rect">
            <a:avLst/>
          </a:prstGeom>
          <a:noFill/>
          <a:ln/>
        </p:spPr>
        <p:txBody>
          <a:bodyPr wrap="square" lIns="0" tIns="0" rIns="0" bIns="0" rtlCol="0" anchor="ctr"/>
          <a:lstStyle/>
          <a:p>
            <a:pPr marL="0" indent="0" algn="ctr">
              <a:buNone/>
            </a:pPr>
            <a:r>
              <a:rPr lang="en-US" sz="1900" b="1" dirty="0">
                <a:solidFill>
                  <a:schemeClr val="tx1"/>
                </a:solidFill>
              </a:rPr>
              <a:t>Análisis</a:t>
            </a:r>
            <a:endParaRPr lang="en-US" sz="1900" dirty="0"/>
          </a:p>
        </p:txBody>
      </p:sp>
      <p:sp>
        <p:nvSpPr>
          <p:cNvPr id="13" name="Tarjeta"/>
          <p:cNvSpPr/>
          <p:nvPr/>
        </p:nvSpPr>
        <p:spPr>
          <a:xfrm>
            <a:off x="5096134" y="1645920"/>
            <a:ext cx="1999427" cy="2743200"/>
          </a:xfrm>
          <a:prstGeom prst="roundRect">
            <a:avLst>
              <a:gd name="adj" fmla="val 6860"/>
            </a:avLst>
          </a:prstGeom>
          <a:solidFill>
            <a:schemeClr val="bg2"/>
          </a:solidFill>
          <a:ln/>
        </p:spPr>
      </p:sp>
      <p:sp>
        <p:nvSpPr>
          <p:cNvPr id="14" name="Creatividad"/>
          <p:cNvSpPr/>
          <p:nvPr/>
        </p:nvSpPr>
        <p:spPr>
          <a:xfrm>
            <a:off x="5501488" y="1965960"/>
            <a:ext cx="1188720" cy="1188720"/>
          </a:xfrm>
          <a:prstGeom prst="ellipse">
            <a:avLst/>
          </a:prstGeom>
          <a:solidFill>
            <a:schemeClr val="accent1"/>
          </a:solidFill>
          <a:ln/>
        </p:spPr>
      </p:sp>
      <p:pic>
        <p:nvPicPr>
          <p:cNvPr id="15" name="Image 2" descr="Creatividad"/>
          <p:cNvPicPr>
            <a:picLocks noChangeAspect="1"/>
          </p:cNvPicPr>
          <p:nvPr/>
        </p:nvPicPr>
        <p:blipFill>
          <a:blip r:embed="rId5"/>
          <a:stretch>
            <a:fillRect/>
          </a:stretch>
        </p:blipFill>
        <p:spPr>
          <a:xfrm>
            <a:off x="5786780" y="2251253"/>
            <a:ext cx="618134" cy="618134"/>
          </a:xfrm>
          <a:prstGeom prst="rect">
            <a:avLst/>
          </a:prstGeom>
        </p:spPr>
      </p:pic>
      <p:sp>
        <p:nvSpPr>
          <p:cNvPr id="16" name="Text 11"/>
          <p:cNvSpPr txBox="1"/>
          <p:nvPr/>
        </p:nvSpPr>
        <p:spPr>
          <a:xfrm>
            <a:off x="5233294" y="3337560"/>
            <a:ext cx="1725107" cy="822960"/>
          </a:xfrm>
          <a:prstGeom prst="rect">
            <a:avLst/>
          </a:prstGeom>
          <a:noFill/>
          <a:ln/>
        </p:spPr>
        <p:txBody>
          <a:bodyPr wrap="square" lIns="0" tIns="0" rIns="0" bIns="0" rtlCol="0" anchor="ctr"/>
          <a:lstStyle/>
          <a:p>
            <a:pPr marL="0" indent="0" algn="ctr">
              <a:buNone/>
            </a:pPr>
            <a:r>
              <a:rPr lang="en-US" sz="1900" b="1" dirty="0">
                <a:solidFill>
                  <a:schemeClr val="tx1"/>
                </a:solidFill>
              </a:rPr>
              <a:t>Creatividad</a:t>
            </a:r>
            <a:endParaRPr lang="en-US" sz="1900" dirty="0"/>
          </a:p>
        </p:txBody>
      </p:sp>
      <p:sp>
        <p:nvSpPr>
          <p:cNvPr id="17" name="Tarjeta"/>
          <p:cNvSpPr/>
          <p:nvPr/>
        </p:nvSpPr>
        <p:spPr>
          <a:xfrm>
            <a:off x="7369881" y="1645920"/>
            <a:ext cx="1999427" cy="2743200"/>
          </a:xfrm>
          <a:prstGeom prst="roundRect">
            <a:avLst>
              <a:gd name="adj" fmla="val 6860"/>
            </a:avLst>
          </a:prstGeom>
          <a:solidFill>
            <a:schemeClr val="bg2"/>
          </a:solidFill>
          <a:ln/>
        </p:spPr>
      </p:sp>
      <p:sp>
        <p:nvSpPr>
          <p:cNvPr id="18" name="Dominio digital"/>
          <p:cNvSpPr/>
          <p:nvPr/>
        </p:nvSpPr>
        <p:spPr>
          <a:xfrm>
            <a:off x="7775235" y="1965960"/>
            <a:ext cx="1188720" cy="1188720"/>
          </a:xfrm>
          <a:prstGeom prst="ellipse">
            <a:avLst/>
          </a:prstGeom>
          <a:solidFill>
            <a:schemeClr val="accent1"/>
          </a:solidFill>
          <a:ln/>
        </p:spPr>
      </p:sp>
      <p:pic>
        <p:nvPicPr>
          <p:cNvPr id="19" name="Image 3" descr="Dominio digital"/>
          <p:cNvPicPr>
            <a:picLocks noChangeAspect="1"/>
          </p:cNvPicPr>
          <p:nvPr/>
        </p:nvPicPr>
        <p:blipFill>
          <a:blip r:embed="rId6"/>
          <a:stretch>
            <a:fillRect/>
          </a:stretch>
        </p:blipFill>
        <p:spPr>
          <a:xfrm>
            <a:off x="8060527" y="2251253"/>
            <a:ext cx="618134" cy="618134"/>
          </a:xfrm>
          <a:prstGeom prst="rect">
            <a:avLst/>
          </a:prstGeom>
        </p:spPr>
      </p:pic>
      <p:sp>
        <p:nvSpPr>
          <p:cNvPr id="20" name="Text 14"/>
          <p:cNvSpPr txBox="1"/>
          <p:nvPr/>
        </p:nvSpPr>
        <p:spPr>
          <a:xfrm>
            <a:off x="7507041" y="3337560"/>
            <a:ext cx="1725107" cy="822960"/>
          </a:xfrm>
          <a:prstGeom prst="rect">
            <a:avLst/>
          </a:prstGeom>
          <a:noFill/>
          <a:ln/>
        </p:spPr>
        <p:txBody>
          <a:bodyPr wrap="square" lIns="0" tIns="0" rIns="0" bIns="0" rtlCol="0" anchor="ctr"/>
          <a:lstStyle/>
          <a:p>
            <a:pPr marL="0" indent="0" algn="ctr">
              <a:buNone/>
            </a:pPr>
            <a:r>
              <a:rPr lang="en-US" sz="1900" b="1" dirty="0">
                <a:solidFill>
                  <a:schemeClr val="tx1"/>
                </a:solidFill>
              </a:rPr>
              <a:t>Dominio digital</a:t>
            </a:r>
            <a:endParaRPr lang="en-US" sz="1900" dirty="0"/>
          </a:p>
        </p:txBody>
      </p:sp>
      <p:sp>
        <p:nvSpPr>
          <p:cNvPr id="21" name="Tarjeta"/>
          <p:cNvSpPr/>
          <p:nvPr/>
        </p:nvSpPr>
        <p:spPr>
          <a:xfrm>
            <a:off x="9643628" y="1645920"/>
            <a:ext cx="1999427" cy="2743200"/>
          </a:xfrm>
          <a:prstGeom prst="roundRect">
            <a:avLst>
              <a:gd name="adj" fmla="val 6860"/>
            </a:avLst>
          </a:prstGeom>
          <a:solidFill>
            <a:schemeClr val="bg2"/>
          </a:solidFill>
          <a:ln/>
        </p:spPr>
      </p:sp>
      <p:sp>
        <p:nvSpPr>
          <p:cNvPr id="22" name="Comunicación"/>
          <p:cNvSpPr/>
          <p:nvPr/>
        </p:nvSpPr>
        <p:spPr>
          <a:xfrm>
            <a:off x="10048982" y="1965960"/>
            <a:ext cx="1188720" cy="1188720"/>
          </a:xfrm>
          <a:prstGeom prst="ellipse">
            <a:avLst/>
          </a:prstGeom>
          <a:solidFill>
            <a:schemeClr val="accent1"/>
          </a:solidFill>
          <a:ln/>
        </p:spPr>
      </p:sp>
      <p:pic>
        <p:nvPicPr>
          <p:cNvPr id="23" name="Image 4" descr="Comunicación"/>
          <p:cNvPicPr>
            <a:picLocks noChangeAspect="1"/>
          </p:cNvPicPr>
          <p:nvPr/>
        </p:nvPicPr>
        <p:blipFill>
          <a:blip r:embed="rId7"/>
          <a:stretch>
            <a:fillRect/>
          </a:stretch>
        </p:blipFill>
        <p:spPr>
          <a:xfrm>
            <a:off x="10334274" y="2251253"/>
            <a:ext cx="618134" cy="618134"/>
          </a:xfrm>
          <a:prstGeom prst="rect">
            <a:avLst/>
          </a:prstGeom>
        </p:spPr>
      </p:pic>
      <p:sp>
        <p:nvSpPr>
          <p:cNvPr id="24" name="Text 17"/>
          <p:cNvSpPr txBox="1"/>
          <p:nvPr/>
        </p:nvSpPr>
        <p:spPr>
          <a:xfrm>
            <a:off x="9780788" y="3337560"/>
            <a:ext cx="1725107" cy="822960"/>
          </a:xfrm>
          <a:prstGeom prst="rect">
            <a:avLst/>
          </a:prstGeom>
          <a:noFill/>
          <a:ln/>
        </p:spPr>
        <p:txBody>
          <a:bodyPr wrap="square" lIns="0" tIns="0" rIns="0" bIns="0" rtlCol="0" anchor="ctr"/>
          <a:lstStyle/>
          <a:p>
            <a:pPr marL="0" indent="0" algn="ctr">
              <a:buNone/>
            </a:pPr>
            <a:r>
              <a:rPr lang="en-US" sz="1900" b="1" dirty="0">
                <a:solidFill>
                  <a:schemeClr val="tx1"/>
                </a:solidFill>
              </a:rPr>
              <a:t>Comunicación</a:t>
            </a:r>
            <a:endParaRPr lang="en-US" sz="1900" dirty="0"/>
          </a:p>
        </p:txBody>
      </p:sp>
      <p:sp>
        <p:nvSpPr>
          <p:cNvPr id="25" name="Text 18"/>
          <p:cNvSpPr txBox="1"/>
          <p:nvPr/>
        </p:nvSpPr>
        <p:spPr>
          <a:xfrm>
            <a:off x="548640" y="4846320"/>
            <a:ext cx="11094415" cy="548640"/>
          </a:xfrm>
          <a:prstGeom prst="rect">
            <a:avLst/>
          </a:prstGeom>
          <a:noFill/>
          <a:ln/>
        </p:spPr>
        <p:txBody>
          <a:bodyPr wrap="square" lIns="0" tIns="0" rIns="0" bIns="0" rtlCol="0" anchor="ctr"/>
          <a:lstStyle/>
          <a:p>
            <a:pPr marL="0" indent="0">
              <a:buNone/>
            </a:pPr>
            <a:r>
              <a:rPr lang="en-US" sz="2100" b="1" dirty="0">
                <a:solidFill>
                  <a:schemeClr val="tx2"/>
                </a:solidFill>
              </a:rPr>
              <a:t>Competencias que </a:t>
            </a:r>
            <a:r>
              <a:rPr lang="en-US" sz="2100" b="1" dirty="0" err="1">
                <a:solidFill>
                  <a:schemeClr val="tx2"/>
                </a:solidFill>
              </a:rPr>
              <a:t>podéis</a:t>
            </a:r>
            <a:r>
              <a:rPr lang="en-US" sz="2100" b="1" dirty="0">
                <a:solidFill>
                  <a:schemeClr val="tx2"/>
                </a:solidFill>
              </a:rPr>
              <a:t> </a:t>
            </a:r>
            <a:r>
              <a:rPr lang="en-US" sz="2100" b="1" dirty="0" err="1">
                <a:solidFill>
                  <a:schemeClr val="tx2"/>
                </a:solidFill>
              </a:rPr>
              <a:t>aplicar</a:t>
            </a:r>
            <a:r>
              <a:rPr lang="en-US" sz="2100" b="1" dirty="0">
                <a:solidFill>
                  <a:schemeClr val="tx2"/>
                </a:solidFill>
              </a:rPr>
              <a:t> </a:t>
            </a:r>
            <a:r>
              <a:rPr lang="en-US" sz="2100" b="1" dirty="0" err="1">
                <a:solidFill>
                  <a:schemeClr val="tx2"/>
                </a:solidFill>
              </a:rPr>
              <a:t>en</a:t>
            </a:r>
            <a:r>
              <a:rPr lang="en-US" sz="2100" b="1" dirty="0">
                <a:solidFill>
                  <a:schemeClr val="tx2"/>
                </a:solidFill>
              </a:rPr>
              <a:t> el día a día o </a:t>
            </a:r>
            <a:r>
              <a:rPr lang="en-US" sz="2100" b="1" dirty="0" err="1">
                <a:solidFill>
                  <a:schemeClr val="tx2"/>
                </a:solidFill>
              </a:rPr>
              <a:t>en</a:t>
            </a:r>
            <a:r>
              <a:rPr lang="en-US" sz="2100" b="1" dirty="0">
                <a:solidFill>
                  <a:schemeClr val="tx2"/>
                </a:solidFill>
              </a:rPr>
              <a:t> </a:t>
            </a:r>
            <a:r>
              <a:rPr lang="en-US" sz="2100" b="1" dirty="0" err="1">
                <a:solidFill>
                  <a:schemeClr val="tx2"/>
                </a:solidFill>
              </a:rPr>
              <a:t>futuros</a:t>
            </a:r>
            <a:r>
              <a:rPr lang="en-US" sz="2100" b="1" dirty="0">
                <a:solidFill>
                  <a:schemeClr val="tx2"/>
                </a:solidFill>
              </a:rPr>
              <a:t> </a:t>
            </a:r>
            <a:r>
              <a:rPr lang="en-US" sz="2100" b="1" dirty="0" err="1">
                <a:solidFill>
                  <a:schemeClr val="tx2"/>
                </a:solidFill>
              </a:rPr>
              <a:t>trabajos</a:t>
            </a:r>
            <a:r>
              <a:rPr lang="en-US" sz="2100" b="1" dirty="0">
                <a:solidFill>
                  <a:schemeClr val="tx2"/>
                </a:solidFill>
              </a:rPr>
              <a:t>.</a:t>
            </a:r>
            <a:endParaRPr lang="en-US" sz="2100" dirty="0"/>
          </a:p>
        </p:txBody>
      </p:sp>
      <p:sp>
        <p:nvSpPr>
          <p:cNvPr id="26"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105</a:t>
            </a:fld>
            <a:endParaRPr lang="en-US"/>
          </a:p>
        </p:txBody>
      </p:sp>
      <p:sp>
        <p:nvSpPr>
          <p:cNvPr id="27" name="Dónde escribir"/>
          <p:cNvSpPr/>
          <p:nvPr/>
        </p:nvSpPr>
        <p:spPr>
          <a:xfrm>
            <a:off x="5439765" y="6291072"/>
            <a:ext cx="5487314"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5  ›  Mi relato para una entrevista</a:t>
            </a:r>
          </a:p>
        </p:txBody>
      </p:sp>
      <p:sp>
        <p:nvSpPr>
          <p:cNvPr id="28" name="Dónde escribir: círculo"/>
          <p:cNvSpPr/>
          <p:nvPr/>
        </p:nvSpPr>
        <p:spPr>
          <a:xfrm>
            <a:off x="5494629" y="6336792"/>
            <a:ext cx="292608" cy="292608"/>
          </a:xfrm>
          <a:prstGeom prst="ellipse">
            <a:avLst/>
          </a:prstGeom>
          <a:solidFill>
            <a:schemeClr val="accent1"/>
          </a:solidFill>
          <a:ln>
            <a:noFill/>
          </a:ln>
        </p:spPr>
      </p:sp>
      <p:pic>
        <p:nvPicPr>
          <p:cNvPr id="29" name="Dónde escribir: lápiz" descr="Lápiz"/>
          <p:cNvPicPr>
            <a:picLocks noChangeAspect="1"/>
          </p:cNvPicPr>
          <p:nvPr/>
        </p:nvPicPr>
        <p:blipFill>
          <a:blip r:embed="rId8"/>
          <a:stretch>
            <a:fillRect/>
          </a:stretch>
        </p:blipFill>
        <p:spPr>
          <a:xfrm>
            <a:off x="5567781" y="6409944"/>
            <a:ext cx="146304" cy="146304"/>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Comprobación final</a:t>
            </a:r>
            <a:endParaRPr lang="en-US" sz="3200" dirty="0"/>
          </a:p>
        </p:txBody>
      </p:sp>
      <p:sp>
        <p:nvSpPr>
          <p:cNvPr id="3" name="Etiqueta de tiempo"/>
          <p:cNvSpPr/>
          <p:nvPr/>
        </p:nvSpPr>
        <p:spPr>
          <a:xfrm>
            <a:off x="8241487" y="548640"/>
            <a:ext cx="3401568" cy="457200"/>
          </a:xfrm>
          <a:prstGeom prst="roundRect">
            <a:avLst>
              <a:gd name="adj" fmla="val 50000"/>
            </a:avLst>
          </a:prstGeom>
          <a:solidFill>
            <a:schemeClr val="accent1"/>
          </a:solidFill>
          <a:ln/>
        </p:spPr>
      </p:sp>
      <p:sp>
        <p:nvSpPr>
          <p:cNvPr id="4" name="Text 2"/>
          <p:cNvSpPr txBox="1"/>
          <p:nvPr/>
        </p:nvSpPr>
        <p:spPr>
          <a:xfrm>
            <a:off x="8241487" y="548640"/>
            <a:ext cx="3401568" cy="457200"/>
          </a:xfrm>
          <a:prstGeom prst="rect">
            <a:avLst/>
          </a:prstGeom>
          <a:noFill/>
          <a:ln/>
        </p:spPr>
        <p:txBody>
          <a:bodyPr wrap="square" lIns="0" tIns="0" rIns="0" bIns="0" rtlCol="0" anchor="ctr"/>
          <a:lstStyle/>
          <a:p>
            <a:pPr marL="0" indent="0" algn="ctr">
              <a:buNone/>
            </a:pPr>
            <a:r>
              <a:rPr lang="en-US" sz="1400" b="1" dirty="0">
                <a:solidFill>
                  <a:schemeClr val="tx1"/>
                </a:solidFill>
              </a:rPr>
              <a:t>Min. 295–300 · Todo el grupo</a:t>
            </a:r>
            <a:endParaRPr lang="en-US" sz="1400" dirty="0"/>
          </a:p>
        </p:txBody>
      </p:sp>
      <p:sp>
        <p:nvSpPr>
          <p:cNvPr id="5" name="Pregunta 1"/>
          <p:cNvSpPr/>
          <p:nvPr/>
        </p:nvSpPr>
        <p:spPr>
          <a:xfrm>
            <a:off x="548640" y="1508760"/>
            <a:ext cx="594360" cy="594360"/>
          </a:xfrm>
          <a:prstGeom prst="ellipse">
            <a:avLst/>
          </a:prstGeom>
          <a:solidFill>
            <a:schemeClr val="accent1"/>
          </a:solidFill>
          <a:ln/>
        </p:spPr>
      </p:sp>
      <p:sp>
        <p:nvSpPr>
          <p:cNvPr id="6" name="Text 4"/>
          <p:cNvSpPr txBox="1"/>
          <p:nvPr/>
        </p:nvSpPr>
        <p:spPr>
          <a:xfrm>
            <a:off x="548640" y="1508760"/>
            <a:ext cx="594360" cy="594360"/>
          </a:xfrm>
          <a:prstGeom prst="rect">
            <a:avLst/>
          </a:prstGeom>
          <a:no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7" name="Text 5"/>
          <p:cNvSpPr txBox="1"/>
          <p:nvPr/>
        </p:nvSpPr>
        <p:spPr>
          <a:xfrm>
            <a:off x="1417320" y="1463040"/>
            <a:ext cx="10225735" cy="685800"/>
          </a:xfrm>
          <a:prstGeom prst="rect">
            <a:avLst/>
          </a:prstGeom>
          <a:noFill/>
          <a:ln/>
        </p:spPr>
        <p:txBody>
          <a:bodyPr wrap="square" lIns="0" tIns="0" rIns="0" bIns="0" rtlCol="0" anchor="ctr"/>
          <a:lstStyle/>
          <a:p>
            <a:pPr marL="0" indent="0">
              <a:buNone/>
            </a:pPr>
            <a:r>
              <a:rPr lang="en-US" sz="2100" dirty="0">
                <a:solidFill>
                  <a:schemeClr val="tx1"/>
                </a:solidFill>
              </a:rPr>
              <a:t>¿En qué se diferencia una idea creativa de una innovación?</a:t>
            </a:r>
            <a:endParaRPr lang="en-US" sz="2100" dirty="0"/>
          </a:p>
        </p:txBody>
      </p:sp>
      <p:sp>
        <p:nvSpPr>
          <p:cNvPr id="8" name="Pregunta 2"/>
          <p:cNvSpPr/>
          <p:nvPr/>
        </p:nvSpPr>
        <p:spPr>
          <a:xfrm>
            <a:off x="548640" y="2377440"/>
            <a:ext cx="594360" cy="594360"/>
          </a:xfrm>
          <a:prstGeom prst="ellipse">
            <a:avLst/>
          </a:prstGeom>
          <a:solidFill>
            <a:schemeClr val="accent1"/>
          </a:solidFill>
          <a:ln/>
        </p:spPr>
      </p:sp>
      <p:sp>
        <p:nvSpPr>
          <p:cNvPr id="9" name="Text 7"/>
          <p:cNvSpPr txBox="1"/>
          <p:nvPr/>
        </p:nvSpPr>
        <p:spPr>
          <a:xfrm>
            <a:off x="548640" y="2377440"/>
            <a:ext cx="594360" cy="594360"/>
          </a:xfrm>
          <a:prstGeom prst="rect">
            <a:avLst/>
          </a:prstGeom>
          <a:noFill/>
          <a:ln/>
        </p:spPr>
        <p:txBody>
          <a:bodyPr wrap="square" lIns="0" tIns="0" rIns="0" bIns="0" rtlCol="0" anchor="ctr"/>
          <a:lstStyle/>
          <a:p>
            <a:pPr marL="0" indent="0" algn="ctr">
              <a:buNone/>
            </a:pPr>
            <a:r>
              <a:rPr lang="en-US" sz="2200" b="1" dirty="0">
                <a:solidFill>
                  <a:schemeClr val="tx1"/>
                </a:solidFill>
              </a:rPr>
              <a:t>2</a:t>
            </a:r>
            <a:endParaRPr lang="en-US" sz="2200" dirty="0"/>
          </a:p>
        </p:txBody>
      </p:sp>
      <p:sp>
        <p:nvSpPr>
          <p:cNvPr id="10" name="Text 8"/>
          <p:cNvSpPr txBox="1"/>
          <p:nvPr/>
        </p:nvSpPr>
        <p:spPr>
          <a:xfrm>
            <a:off x="1417320" y="2331720"/>
            <a:ext cx="10225735" cy="685800"/>
          </a:xfrm>
          <a:prstGeom prst="rect">
            <a:avLst/>
          </a:prstGeom>
          <a:noFill/>
          <a:ln/>
        </p:spPr>
        <p:txBody>
          <a:bodyPr wrap="square" lIns="0" tIns="0" rIns="0" bIns="0" rtlCol="0" anchor="ctr"/>
          <a:lstStyle/>
          <a:p>
            <a:pPr marL="0" indent="0">
              <a:buNone/>
            </a:pPr>
            <a:r>
              <a:rPr lang="en-US" sz="2100" dirty="0">
                <a:solidFill>
                  <a:schemeClr val="tx1"/>
                </a:solidFill>
              </a:rPr>
              <a:t>¿Qué diferencia hay entre el brainstorming, SCAMPER y la provocación?</a:t>
            </a:r>
            <a:endParaRPr lang="en-US" sz="2100" dirty="0"/>
          </a:p>
        </p:txBody>
      </p:sp>
      <p:sp>
        <p:nvSpPr>
          <p:cNvPr id="11" name="Pregunta 3"/>
          <p:cNvSpPr/>
          <p:nvPr/>
        </p:nvSpPr>
        <p:spPr>
          <a:xfrm>
            <a:off x="548640" y="3246120"/>
            <a:ext cx="594360" cy="594360"/>
          </a:xfrm>
          <a:prstGeom prst="ellipse">
            <a:avLst/>
          </a:prstGeom>
          <a:solidFill>
            <a:schemeClr val="accent1"/>
          </a:solidFill>
          <a:ln/>
        </p:spPr>
      </p:sp>
      <p:sp>
        <p:nvSpPr>
          <p:cNvPr id="12" name="Text 10"/>
          <p:cNvSpPr txBox="1"/>
          <p:nvPr/>
        </p:nvSpPr>
        <p:spPr>
          <a:xfrm>
            <a:off x="548640" y="3246120"/>
            <a:ext cx="594360" cy="594360"/>
          </a:xfrm>
          <a:prstGeom prst="rect">
            <a:avLst/>
          </a:prstGeom>
          <a:no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13" name="Text 11"/>
          <p:cNvSpPr txBox="1"/>
          <p:nvPr/>
        </p:nvSpPr>
        <p:spPr>
          <a:xfrm>
            <a:off x="1417320" y="3200400"/>
            <a:ext cx="10225735" cy="685800"/>
          </a:xfrm>
          <a:prstGeom prst="rect">
            <a:avLst/>
          </a:prstGeom>
          <a:noFill/>
          <a:ln/>
        </p:spPr>
        <p:txBody>
          <a:bodyPr wrap="square" lIns="0" tIns="0" rIns="0" bIns="0" rtlCol="0" anchor="ctr"/>
          <a:lstStyle/>
          <a:p>
            <a:pPr marL="0" indent="0">
              <a:buNone/>
            </a:pPr>
            <a:r>
              <a:rPr lang="en-US" sz="2100" dirty="0">
                <a:solidFill>
                  <a:schemeClr val="tx1"/>
                </a:solidFill>
              </a:rPr>
              <a:t>¿Qué ventaja ofrece una matriz de decisión?</a:t>
            </a:r>
            <a:endParaRPr lang="en-US" sz="2100" dirty="0"/>
          </a:p>
        </p:txBody>
      </p:sp>
      <p:sp>
        <p:nvSpPr>
          <p:cNvPr id="14" name="Pregunta 4"/>
          <p:cNvSpPr/>
          <p:nvPr/>
        </p:nvSpPr>
        <p:spPr>
          <a:xfrm>
            <a:off x="548640" y="4114800"/>
            <a:ext cx="594360" cy="594360"/>
          </a:xfrm>
          <a:prstGeom prst="ellipse">
            <a:avLst/>
          </a:prstGeom>
          <a:solidFill>
            <a:schemeClr val="accent1"/>
          </a:solidFill>
          <a:ln/>
        </p:spPr>
      </p:sp>
      <p:sp>
        <p:nvSpPr>
          <p:cNvPr id="15" name="Text 13"/>
          <p:cNvSpPr txBox="1"/>
          <p:nvPr/>
        </p:nvSpPr>
        <p:spPr>
          <a:xfrm>
            <a:off x="548640" y="4114800"/>
            <a:ext cx="594360" cy="594360"/>
          </a:xfrm>
          <a:prstGeom prst="rect">
            <a:avLst/>
          </a:prstGeom>
          <a:noFill/>
          <a:ln/>
        </p:spPr>
        <p:txBody>
          <a:bodyPr wrap="square" lIns="0" tIns="0" rIns="0" bIns="0" rtlCol="0" anchor="ctr"/>
          <a:lstStyle/>
          <a:p>
            <a:pPr marL="0" indent="0" algn="ctr">
              <a:buNone/>
            </a:pPr>
            <a:r>
              <a:rPr lang="en-US" sz="2200" b="1" dirty="0">
                <a:solidFill>
                  <a:schemeClr val="tx1"/>
                </a:solidFill>
              </a:rPr>
              <a:t>4</a:t>
            </a:r>
            <a:endParaRPr lang="en-US" sz="2200" dirty="0"/>
          </a:p>
        </p:txBody>
      </p:sp>
      <p:sp>
        <p:nvSpPr>
          <p:cNvPr id="16" name="Text 14"/>
          <p:cNvSpPr txBox="1"/>
          <p:nvPr/>
        </p:nvSpPr>
        <p:spPr>
          <a:xfrm>
            <a:off x="1417320" y="4069080"/>
            <a:ext cx="10225735" cy="685800"/>
          </a:xfrm>
          <a:prstGeom prst="rect">
            <a:avLst/>
          </a:prstGeom>
          <a:noFill/>
          <a:ln/>
        </p:spPr>
        <p:txBody>
          <a:bodyPr wrap="square" lIns="0" tIns="0" rIns="0" bIns="0" rtlCol="0" anchor="ctr"/>
          <a:lstStyle/>
          <a:p>
            <a:pPr marL="0" indent="0">
              <a:buNone/>
            </a:pPr>
            <a:r>
              <a:rPr lang="en-US" sz="2100" dirty="0">
                <a:solidFill>
                  <a:schemeClr val="tx1"/>
                </a:solidFill>
              </a:rPr>
              <a:t>¿Por qué no conviene aceptar sin revisar las respuestas de una IA?</a:t>
            </a:r>
            <a:endParaRPr lang="en-US" sz="2100" dirty="0"/>
          </a:p>
        </p:txBody>
      </p:sp>
      <p:sp>
        <p:nvSpPr>
          <p:cNvPr id="17" name="Pregunta 5"/>
          <p:cNvSpPr/>
          <p:nvPr/>
        </p:nvSpPr>
        <p:spPr>
          <a:xfrm>
            <a:off x="548640" y="4983480"/>
            <a:ext cx="594360" cy="594360"/>
          </a:xfrm>
          <a:prstGeom prst="ellipse">
            <a:avLst/>
          </a:prstGeom>
          <a:solidFill>
            <a:schemeClr val="accent1"/>
          </a:solidFill>
          <a:ln/>
        </p:spPr>
      </p:sp>
      <p:sp>
        <p:nvSpPr>
          <p:cNvPr id="18" name="Text 16"/>
          <p:cNvSpPr txBox="1"/>
          <p:nvPr/>
        </p:nvSpPr>
        <p:spPr>
          <a:xfrm>
            <a:off x="548640" y="4983480"/>
            <a:ext cx="594360" cy="594360"/>
          </a:xfrm>
          <a:prstGeom prst="rect">
            <a:avLst/>
          </a:prstGeom>
          <a:noFill/>
          <a:ln/>
        </p:spPr>
        <p:txBody>
          <a:bodyPr wrap="square" lIns="0" tIns="0" rIns="0" bIns="0" rtlCol="0" anchor="ctr"/>
          <a:lstStyle/>
          <a:p>
            <a:pPr marL="0" indent="0" algn="ctr">
              <a:buNone/>
            </a:pPr>
            <a:r>
              <a:rPr lang="en-US" sz="2200" b="1" dirty="0">
                <a:solidFill>
                  <a:schemeClr val="tx1"/>
                </a:solidFill>
              </a:rPr>
              <a:t>5</a:t>
            </a:r>
            <a:endParaRPr lang="en-US" sz="2200" dirty="0"/>
          </a:p>
        </p:txBody>
      </p:sp>
      <p:sp>
        <p:nvSpPr>
          <p:cNvPr id="19" name="Text 17"/>
          <p:cNvSpPr txBox="1"/>
          <p:nvPr/>
        </p:nvSpPr>
        <p:spPr>
          <a:xfrm>
            <a:off x="1417320" y="4937760"/>
            <a:ext cx="10225735" cy="685800"/>
          </a:xfrm>
          <a:prstGeom prst="rect">
            <a:avLst/>
          </a:prstGeom>
          <a:noFill/>
          <a:ln/>
        </p:spPr>
        <p:txBody>
          <a:bodyPr wrap="square" lIns="0" tIns="0" rIns="0" bIns="0" rtlCol="0" anchor="ctr"/>
          <a:lstStyle/>
          <a:p>
            <a:pPr marL="0" indent="0">
              <a:buNone/>
            </a:pPr>
            <a:r>
              <a:rPr lang="en-US" sz="2100" dirty="0">
                <a:solidFill>
                  <a:schemeClr val="tx1"/>
                </a:solidFill>
              </a:rPr>
              <a:t>¿Cómo mediríamos el resultado de una propuesta de mejora?</a:t>
            </a:r>
            <a:endParaRPr lang="en-US" sz="2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97280" y="1097280"/>
            <a:ext cx="7315200" cy="457200"/>
          </a:xfrm>
          <a:prstGeom prst="rect">
            <a:avLst/>
          </a:prstGeom>
          <a:noFill/>
          <a:ln/>
        </p:spPr>
        <p:txBody>
          <a:bodyPr wrap="square" lIns="0" tIns="0" rIns="0" bIns="0" rtlCol="0" anchor="ctr"/>
          <a:lstStyle/>
          <a:p>
            <a:pPr marL="0" indent="0">
              <a:buNone/>
            </a:pPr>
            <a:r>
              <a:rPr lang="en-US" sz="1800" b="1" dirty="0">
                <a:solidFill>
                  <a:schemeClr val="accent1"/>
                </a:solidFill>
              </a:rPr>
              <a:t>Para terminar</a:t>
            </a:r>
            <a:endParaRPr lang="en-US" sz="1800" dirty="0"/>
          </a:p>
        </p:txBody>
      </p:sp>
      <p:sp>
        <p:nvSpPr>
          <p:cNvPr id="3" name="Text 0"/>
          <p:cNvSpPr>
            <a:spLocks noGrp="1"/>
          </p:cNvSpPr>
          <p:nvPr>
            <p:ph type="body" idx="100" hasCustomPrompt="1"/>
          </p:nvPr>
        </p:nvSpPr>
        <p:spPr>
          <a:xfrm>
            <a:off x="1097280" y="1554480"/>
            <a:ext cx="9966960" cy="3108960"/>
          </a:xfrm>
          <a:prstGeom prst="rect">
            <a:avLst/>
          </a:prstGeom>
          <a:noFill/>
          <a:ln/>
        </p:spPr>
        <p:txBody>
          <a:bodyPr wrap="square" lIns="0" tIns="0" rIns="0" bIns="0" rtlCol="0" anchor="ctr"/>
          <a:lstStyle/>
          <a:p>
            <a:pPr marL="0" indent="0">
              <a:buNone/>
            </a:pPr>
            <a:r>
              <a:rPr lang="en-US" sz="3400" dirty="0">
                <a:solidFill>
                  <a:schemeClr val="bg1"/>
                </a:solidFill>
              </a:rPr>
              <a:t>¿Qué técnica de hoy os gustaría aplicar</a:t>
            </a:r>
            <a:endParaRPr lang="en-US" sz="3400" dirty="0"/>
          </a:p>
          <a:p>
            <a:pPr marL="0" indent="0">
              <a:buNone/>
            </a:pPr>
            <a:r>
              <a:rPr lang="en-US" sz="3400" b="1" dirty="0">
                <a:solidFill>
                  <a:schemeClr val="accent1"/>
                </a:solidFill>
              </a:rPr>
              <a:t>en vuestro próximo empleo?</a:t>
            </a:r>
            <a:endParaRPr lang="en-US" sz="3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107</a:t>
            </a:fld>
            <a:endParaRPr lang="en-US"/>
          </a:p>
        </p:txBody>
      </p:sp>
      <p:sp>
        <p:nvSpPr>
          <p:cNvPr id="26" name="Dónde escribir"/>
          <p:cNvSpPr/>
          <p:nvPr/>
        </p:nvSpPr>
        <p:spPr>
          <a:xfrm>
            <a:off x="6475780" y="6291072"/>
            <a:ext cx="4451299" cy="384048"/>
          </a:xfrm>
          <a:prstGeom prst="roundRect">
            <a:avLst>
              <a:gd name="adj" fmla="val 50000"/>
            </a:avLst>
          </a:prstGeom>
          <a:solidFill>
            <a:schemeClr val="bg2"/>
          </a:solidFill>
          <a:ln w="9525">
            <a:solidFill>
              <a:schemeClr val="accent1"/>
            </a:solidFill>
          </a:ln>
        </p:spPr>
        <p:txBody>
          <a:bodyPr wrap="none" lIns="475488" tIns="0" rIns="146304" bIns="0" anchor="ctr">
            <a:noAutofit/>
          </a:bodyPr>
          <a:lstStyle/>
          <a:p>
            <a:pPr algn="l"/>
            <a:r>
              <a:rPr lang="es-ES" sz="1300" b="1" dirty="0">
                <a:solidFill>
                  <a:schemeClr val="tx1"/>
                </a:solidFill>
                <a:latin typeface="+mn-lt"/>
              </a:rPr>
              <a:t>cuaderno_ejercicios.docx</a:t>
            </a:r>
            <a:r>
              <a:rPr lang="es-ES" sz="1300" dirty="0">
                <a:solidFill>
                  <a:schemeClr val="tx1"/>
                </a:solidFill>
                <a:latin typeface="+mn-lt"/>
              </a:rPr>
              <a:t>  ›  Bloque 5  ›  Para llevarme</a:t>
            </a:r>
          </a:p>
        </p:txBody>
      </p:sp>
      <p:sp>
        <p:nvSpPr>
          <p:cNvPr id="27" name="Dónde escribir: círculo"/>
          <p:cNvSpPr/>
          <p:nvPr/>
        </p:nvSpPr>
        <p:spPr>
          <a:xfrm>
            <a:off x="6530644" y="6336792"/>
            <a:ext cx="292608" cy="292608"/>
          </a:xfrm>
          <a:prstGeom prst="ellipse">
            <a:avLst/>
          </a:prstGeom>
          <a:solidFill>
            <a:schemeClr val="accent1"/>
          </a:solidFill>
          <a:ln>
            <a:noFill/>
          </a:ln>
        </p:spPr>
      </p:sp>
      <p:pic>
        <p:nvPicPr>
          <p:cNvPr id="28" name="Dónde escribir: lápiz" descr="Lápiz"/>
          <p:cNvPicPr>
            <a:picLocks noChangeAspect="1"/>
          </p:cNvPicPr>
          <p:nvPr/>
        </p:nvPicPr>
        <p:blipFill>
          <a:blip r:embed="rId3"/>
          <a:stretch>
            <a:fillRect/>
          </a:stretch>
        </p:blipFill>
        <p:spPr>
          <a:xfrm>
            <a:off x="6603796" y="6409944"/>
            <a:ext cx="146304" cy="146304"/>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97280" y="1097280"/>
            <a:ext cx="7315200" cy="457200"/>
          </a:xfrm>
          <a:prstGeom prst="rect">
            <a:avLst/>
          </a:prstGeom>
          <a:noFill/>
          <a:ln/>
        </p:spPr>
        <p:txBody>
          <a:bodyPr wrap="square" lIns="0" tIns="0" rIns="0" bIns="0" rtlCol="0" anchor="ctr"/>
          <a:lstStyle/>
          <a:p>
            <a:pPr marL="0" indent="0">
              <a:buNone/>
            </a:pPr>
            <a:r>
              <a:rPr lang="en-US" sz="1800" b="1" dirty="0">
                <a:solidFill>
                  <a:schemeClr val="accent1"/>
                </a:solidFill>
              </a:rPr>
              <a:t>El mensaje del curso</a:t>
            </a:r>
            <a:endParaRPr lang="en-US" sz="1800" dirty="0"/>
          </a:p>
        </p:txBody>
      </p:sp>
      <p:sp>
        <p:nvSpPr>
          <p:cNvPr id="3" name="Text 0"/>
          <p:cNvSpPr>
            <a:spLocks noGrp="1"/>
          </p:cNvSpPr>
          <p:nvPr>
            <p:ph type="body" idx="100" hasCustomPrompt="1"/>
          </p:nvPr>
        </p:nvSpPr>
        <p:spPr>
          <a:xfrm>
            <a:off x="1097280" y="1554480"/>
            <a:ext cx="9966960" cy="3108960"/>
          </a:xfrm>
          <a:prstGeom prst="rect">
            <a:avLst/>
          </a:prstGeom>
          <a:noFill/>
          <a:ln/>
        </p:spPr>
        <p:txBody>
          <a:bodyPr wrap="square" lIns="0" tIns="0" rIns="0" bIns="0" rtlCol="0" anchor="ctr"/>
          <a:lstStyle/>
          <a:p>
            <a:pPr marL="0" indent="0">
              <a:buNone/>
            </a:pPr>
            <a:r>
              <a:rPr lang="en-US" sz="3400" dirty="0">
                <a:solidFill>
                  <a:schemeClr val="bg1"/>
                </a:solidFill>
              </a:rPr>
              <a:t>La IA ayuda a ampliar y acelerar el pensamiento creativo.</a:t>
            </a:r>
            <a:endParaRPr lang="en-US" sz="3400" dirty="0"/>
          </a:p>
          <a:p>
            <a:pPr marL="0" indent="0">
              <a:buNone/>
            </a:pPr>
            <a:r>
              <a:rPr lang="en-US" sz="3400" b="1" dirty="0">
                <a:solidFill>
                  <a:schemeClr val="accent1"/>
                </a:solidFill>
              </a:rPr>
              <a:t>El valor profesional está en definir bien el problema, elegir una solución sensata y saber cómo comprobar si funciona.</a:t>
            </a:r>
            <a:endParaRPr lang="en-US" sz="3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108</a:t>
            </a:fld>
            <a:endParaRPr lang="en-US"/>
          </a:p>
        </p:txBody>
      </p:sp>
    </p:spTree>
  </p:cSld>
  <p:clrMapOvr>
    <a:masterClrMapping/>
  </p:clrMapOvr>
</p:sld>
</file>

<file path=ppt/theme/theme1.xml><?xml version="1.0" encoding="utf-8"?>
<a:theme xmlns:a="http://schemas.openxmlformats.org/drawingml/2006/main" name="Creatividad, ofimática e IA">
  <a:themeElements>
    <a:clrScheme name="Creatividad, ofimática e IA">
      <a:dk1>
        <a:srgbClr val="1F2A44"/>
      </a:dk1>
      <a:lt1>
        <a:srgbClr val="FFFFFF"/>
      </a:lt1>
      <a:dk2>
        <a:srgbClr val="3A4664"/>
      </a:dk2>
      <a:lt2>
        <a:srgbClr val="F2F4F8"/>
      </a:lt2>
      <a:accent1>
        <a:srgbClr val="F4A300"/>
      </a:accent1>
      <a:accent2>
        <a:srgbClr val="0F7C70"/>
      </a:accent2>
      <a:accent3>
        <a:srgbClr val="D64933"/>
      </a:accent3>
      <a:accent4>
        <a:srgbClr val="6C5CE7"/>
      </a:accent4>
      <a:accent5>
        <a:srgbClr val="8A94A6"/>
      </a:accent5>
      <a:accent6>
        <a:srgbClr val="2D6A4F"/>
      </a:accent6>
      <a:hlink>
        <a:srgbClr val="0F7C70"/>
      </a:hlink>
      <a:folHlink>
        <a:srgbClr val="6C5CE7"/>
      </a:folHlink>
    </a:clrScheme>
    <a:fontScheme name="Creatividad, ofimática e 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12001</Words>
  <Application>Microsoft Office PowerPoint</Application>
  <PresentationFormat>Panorámica</PresentationFormat>
  <Paragraphs>1479</Paragraphs>
  <Slides>108</Slides>
  <Notes>108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108</vt:i4>
      </vt:variant>
    </vt:vector>
  </HeadingPairs>
  <TitlesOfParts>
    <vt:vector size="112" baseType="lpstr">
      <vt:lpstr>Arial</vt:lpstr>
      <vt:lpstr>Calibri</vt:lpstr>
      <vt:lpstr>Courier New</vt:lpstr>
      <vt:lpstr>Creatividad, ofimática e IA</vt:lpstr>
      <vt:lpstr>¿Qué vamos a hacer hoy?</vt:lpstr>
      <vt:lpstr>Presentación de PowerPoint</vt:lpstr>
      <vt:lpstr>Qué vamos a hacer</vt:lpstr>
      <vt:lpstr>¿Por qué hacerlo así?</vt:lpstr>
      <vt:lpstr>Creatividad, ofimática e IA</vt:lpstr>
      <vt:lpstr>Activación de la creatividad y brainstorming</vt:lpstr>
      <vt:lpstr>Qué vamos a hacer en este bloque</vt:lpstr>
      <vt:lpstr>Presentación de PowerPoint</vt:lpstr>
      <vt:lpstr>¿Habéis visto alguna mejora?</vt:lpstr>
      <vt:lpstr>Tres conceptos que no son lo mismo</vt:lpstr>
      <vt:lpstr>Actividad: ¿qué es cada situación?</vt:lpstr>
      <vt:lpstr>Situación 1 de 6</vt:lpstr>
      <vt:lpstr>Situación 1: respuesta</vt:lpstr>
      <vt:lpstr>Situación 2 de 6</vt:lpstr>
      <vt:lpstr>Situación 2: respuesta</vt:lpstr>
      <vt:lpstr>Situación 3 de 6</vt:lpstr>
      <vt:lpstr>Situación 3: respuesta</vt:lpstr>
      <vt:lpstr>Situación 4 de 6</vt:lpstr>
      <vt:lpstr>Situación 4: respuesta</vt:lpstr>
      <vt:lpstr>Situación 5 de 6</vt:lpstr>
      <vt:lpstr>Situación 5: respuesta</vt:lpstr>
      <vt:lpstr>Situación 6 de 6</vt:lpstr>
      <vt:lpstr>Situación 6: respuesta</vt:lpstr>
      <vt:lpstr>Criterio para resolver las dudas</vt:lpstr>
      <vt:lpstr>Abrid el cuaderno de ejercicios</vt:lpstr>
      <vt:lpstr>¿Para qué se podría usar un clip?</vt:lpstr>
      <vt:lpstr>No vendemos el clip: vendemos su idea</vt:lpstr>
      <vt:lpstr>Y ahora, elegimos uno</vt:lpstr>
      <vt:lpstr>Primero abrir, después cerrar</vt:lpstr>
      <vt:lpstr>La regla de todo el curso</vt:lpstr>
      <vt:lpstr>Misma herramienta, mismo resultado</vt:lpstr>
      <vt:lpstr>Nuestro ejemplo: una peluquería de barrio</vt:lpstr>
      <vt:lpstr>Brainstorming: cuatro reglas</vt:lpstr>
      <vt:lpstr>Ejemplo: brainstorming en la peluquería</vt:lpstr>
      <vt:lpstr>Ejercicio 1: brainstorming entre todos</vt:lpstr>
      <vt:lpstr>Ejercicio 1: brainstorming entre todos</vt:lpstr>
      <vt:lpstr>Ronda con IA: el prompt</vt:lpstr>
      <vt:lpstr>Segundo prompt: combinar ideas</vt:lpstr>
      <vt:lpstr>Votad las tres ideas más originales</vt:lpstr>
      <vt:lpstr>¿Qué ha aportado la IA?</vt:lpstr>
      <vt:lpstr>Presentación de PowerPoint</vt:lpstr>
      <vt:lpstr>SCAMPER y provocación con IA</vt:lpstr>
      <vt:lpstr>Seguimos en el cuaderno</vt:lpstr>
      <vt:lpstr>Por parejas: elegid un caso</vt:lpstr>
      <vt:lpstr>SCAMPER: siete preguntas</vt:lpstr>
      <vt:lpstr>SCAMPER en la peluquería</vt:lpstr>
      <vt:lpstr>Ejercicio 2: SCAMPER en vuestro caso</vt:lpstr>
      <vt:lpstr>Ronda con IA: el prompt</vt:lpstr>
      <vt:lpstr>No os quedéis en el primer prompt</vt:lpstr>
      <vt:lpstr>Conclusiones de SCAMPER</vt:lpstr>
      <vt:lpstr>Provocación: salir de lo de siempre</vt:lpstr>
      <vt:lpstr>Cuatro tipos de provocación, en la peluquería</vt:lpstr>
      <vt:lpstr>Presentación de PowerPoint</vt:lpstr>
      <vt:lpstr>Ejercicio 3: provocación en vuestro caso</vt:lpstr>
      <vt:lpstr>Ronda con IA: el prompt</vt:lpstr>
      <vt:lpstr>Revisad lo que dice la IA</vt:lpstr>
      <vt:lpstr>Elegid vuestras tres mejores propuestas</vt:lpstr>
      <vt:lpstr>Puesta en común</vt:lpstr>
      <vt:lpstr>¿Qué falla aquí?</vt:lpstr>
      <vt:lpstr>Cuatro problemas</vt:lpstr>
      <vt:lpstr>Presentación de PowerPoint</vt:lpstr>
      <vt:lpstr>Comparar, decidir y documentar</vt:lpstr>
      <vt:lpstr>Qué vamos a hacer en este bloque</vt:lpstr>
      <vt:lpstr>La matriz de decisión</vt:lpstr>
      <vt:lpstr>Calculadlo vosotros</vt:lpstr>
      <vt:lpstr>Los resultados</vt:lpstr>
      <vt:lpstr>La fórmula en Excel o Google Sheets</vt:lpstr>
      <vt:lpstr>Abrid la matriz de decisión</vt:lpstr>
      <vt:lpstr>Ejercicio 4: elegir con criterio</vt:lpstr>
      <vt:lpstr>Paso 6: que la IA revise la matriz</vt:lpstr>
      <vt:lpstr>Paso 7: decidid</vt:lpstr>
      <vt:lpstr>Ejercicio 4: vuestras conclusiones</vt:lpstr>
      <vt:lpstr>Una propuesta en una página</vt:lpstr>
      <vt:lpstr>La IA propone, vosotros decidís</vt:lpstr>
      <vt:lpstr>Abrid el documento del proyecto</vt:lpstr>
      <vt:lpstr>Ficha exprés con IA</vt:lpstr>
      <vt:lpstr>Ficha exprés: ¿qué habéis cambiado?</vt:lpstr>
      <vt:lpstr>Lo que llevamos hecho</vt:lpstr>
      <vt:lpstr>Presentación de PowerPoint</vt:lpstr>
      <vt:lpstr>Desarrollo de la propuesta ganadora</vt:lpstr>
      <vt:lpstr>Qué vamos a hacer en este bloque</vt:lpstr>
      <vt:lpstr>Seguimos en el documento del proyecto</vt:lpstr>
      <vt:lpstr>Antes de seguir, ponedla a prueba</vt:lpstr>
      <vt:lpstr>Lo que no supisteis responder</vt:lpstr>
      <vt:lpstr>Documento del proyecto</vt:lpstr>
      <vt:lpstr>Mientras redactáis, preguntaos…</vt:lpstr>
      <vt:lpstr>¿Cómo sabremos si funciona?</vt:lpstr>
      <vt:lpstr>Primero vosotros, después la IA</vt:lpstr>
      <vt:lpstr>Nuestros dos indicadores</vt:lpstr>
      <vt:lpstr>Abrid la plantilla de la presentación</vt:lpstr>
      <vt:lpstr>Presentación en tres diapositivas</vt:lpstr>
      <vt:lpstr>Criterios para vuestras diapositivas</vt:lpstr>
      <vt:lpstr>Revisión cruzada</vt:lpstr>
      <vt:lpstr>Lo que tenéis al terminar</vt:lpstr>
      <vt:lpstr>Comunicación, pensamiento crítico y aplicación profesional</vt:lpstr>
      <vt:lpstr>Qué vamos a hacer en este bloque</vt:lpstr>
      <vt:lpstr>¿Cuál convence más?</vt:lpstr>
      <vt:lpstr>La estructura de una buena defensa</vt:lpstr>
      <vt:lpstr>Volvemos al cuaderno</vt:lpstr>
      <vt:lpstr>Ensayo: el problema en 20 segundos</vt:lpstr>
      <vt:lpstr>Presentaciones</vt:lpstr>
      <vt:lpstr>Mientras tanto, los observadores</vt:lpstr>
      <vt:lpstr>La IA como evaluadora crítica</vt:lpstr>
      <vt:lpstr>¿Qué críticas aceptáis?</vt:lpstr>
      <vt:lpstr>Lo que habéis demostrado hoy</vt:lpstr>
      <vt:lpstr>Comprobación final</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Bloque 1. Activación de la creatividad y brainstorming</dc:title>
  <dc:subject>Desarrollo de las habilidades creativas e innovadoras con herramientas ofimáticas y de inteligencia artificial</dc:subject>
  <dc:creator>PptxGenJS</dc:creator>
  <cp:lastModifiedBy>Javier Nieto</cp:lastModifiedBy>
  <cp:revision>13</cp:revision>
  <dcterms:created xsi:type="dcterms:W3CDTF">2026-10-17T13:29:48Z</dcterms:created>
  <dcterms:modified xsi:type="dcterms:W3CDTF">2026-10-21T12:44:27Z</dcterms:modified>
</cp:coreProperties>
</file>