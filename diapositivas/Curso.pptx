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0"/>
  </p:notesMasterIdLst>
  <p:sldIdLst>
    <p:sldId id="347" r:id="rId2"/>
    <p:sldId id="349" r:id="rId3"/>
    <p:sldId id="348" r:id="rId4"/>
    <p:sldId id="350" r:id="rId5"/>
    <p:sldId id="256" r:id="rId6"/>
    <p:sldId id="257" r:id="rId7"/>
    <p:sldId id="258" r:id="rId8"/>
    <p:sldId id="259" r:id="rId9"/>
    <p:sldId id="260" r:id="rId10"/>
    <p:sldId id="261" r:id="rId11"/>
    <p:sldId id="262" r:id="rId12"/>
    <p:sldId id="263" r:id="rId13"/>
    <p:sldId id="351" r:id="rId14"/>
    <p:sldId id="264" r:id="rId15"/>
    <p:sldId id="352" r:id="rId16"/>
    <p:sldId id="265" r:id="rId17"/>
    <p:sldId id="353" r:id="rId18"/>
    <p:sldId id="266" r:id="rId19"/>
    <p:sldId id="354" r:id="rId20"/>
    <p:sldId id="267" r:id="rId21"/>
    <p:sldId id="355" r:id="rId22"/>
    <p:sldId id="268" r:id="rId23"/>
    <p:sldId id="356" r:id="rId24"/>
    <p:sldId id="269" r:id="rId25"/>
    <p:sldId id="358" r:id="rId26"/>
    <p:sldId id="270" r:id="rId27"/>
    <p:sldId id="272" r:id="rId28"/>
    <p:sldId id="271" r:id="rId29"/>
    <p:sldId id="273" r:id="rId30"/>
    <p:sldId id="274" r:id="rId31"/>
    <p:sldId id="284" r:id="rId32"/>
    <p:sldId id="275" r:id="rId33"/>
    <p:sldId id="276" r:id="rId34"/>
    <p:sldId id="277" r:id="rId35"/>
    <p:sldId id="278" r:id="rId36"/>
    <p:sldId id="357" r:id="rId37"/>
    <p:sldId id="279" r:id="rId38"/>
    <p:sldId id="280" r:id="rId39"/>
    <p:sldId id="281" r:id="rId40"/>
    <p:sldId id="282" r:id="rId41"/>
    <p:sldId id="283" r:id="rId42"/>
    <p:sldId id="285" r:id="rId43"/>
    <p:sldId id="359" r:id="rId44"/>
    <p:sldId id="287" r:id="rId45"/>
    <p:sldId id="288" r:id="rId46"/>
    <p:sldId id="289" r:id="rId47"/>
    <p:sldId id="290" r:id="rId48"/>
    <p:sldId id="291" r:id="rId49"/>
    <p:sldId id="292" r:id="rId50"/>
    <p:sldId id="293" r:id="rId51"/>
    <p:sldId id="294" r:id="rId52"/>
    <p:sldId id="295" r:id="rId53"/>
    <p:sldId id="296" r:id="rId54"/>
    <p:sldId id="297" r:id="rId55"/>
    <p:sldId id="298" r:id="rId56"/>
    <p:sldId id="299" r:id="rId57"/>
    <p:sldId id="300" r:id="rId58"/>
    <p:sldId id="301" r:id="rId59"/>
    <p:sldId id="302" r:id="rId60"/>
    <p:sldId id="303" r:id="rId61"/>
    <p:sldId id="304" r:id="rId62"/>
    <p:sldId id="305" r:id="rId63"/>
    <p:sldId id="306" r:id="rId64"/>
    <p:sldId id="307" r:id="rId65"/>
    <p:sldId id="308" r:id="rId66"/>
    <p:sldId id="309" r:id="rId67"/>
    <p:sldId id="310" r:id="rId68"/>
    <p:sldId id="360" r:id="rId69"/>
    <p:sldId id="311" r:id="rId70"/>
    <p:sldId id="312" r:id="rId71"/>
    <p:sldId id="313" r:id="rId72"/>
    <p:sldId id="314" r:id="rId73"/>
    <p:sldId id="315" r:id="rId74"/>
    <p:sldId id="316" r:id="rId75"/>
    <p:sldId id="361" r:id="rId76"/>
    <p:sldId id="317" r:id="rId77"/>
    <p:sldId id="318" r:id="rId78"/>
    <p:sldId id="319" r:id="rId79"/>
    <p:sldId id="320" r:id="rId80"/>
    <p:sldId id="321" r:id="rId81"/>
    <p:sldId id="322" r:id="rId82"/>
    <p:sldId id="362" r:id="rId83"/>
    <p:sldId id="323" r:id="rId84"/>
    <p:sldId id="324" r:id="rId85"/>
    <p:sldId id="325" r:id="rId86"/>
    <p:sldId id="326" r:id="rId87"/>
    <p:sldId id="327" r:id="rId88"/>
    <p:sldId id="328" r:id="rId89"/>
    <p:sldId id="329" r:id="rId90"/>
    <p:sldId id="363" r:id="rId91"/>
    <p:sldId id="330" r:id="rId92"/>
    <p:sldId id="331" r:id="rId93"/>
    <p:sldId id="332" r:id="rId94"/>
    <p:sldId id="333" r:id="rId95"/>
    <p:sldId id="334" r:id="rId96"/>
    <p:sldId id="335" r:id="rId97"/>
    <p:sldId id="336" r:id="rId98"/>
    <p:sldId id="337" r:id="rId99"/>
    <p:sldId id="364" r:id="rId100"/>
    <p:sldId id="338" r:id="rId101"/>
    <p:sldId id="339" r:id="rId102"/>
    <p:sldId id="340" r:id="rId103"/>
    <p:sldId id="341" r:id="rId104"/>
    <p:sldId id="342" r:id="rId105"/>
    <p:sldId id="343" r:id="rId106"/>
    <p:sldId id="344" r:id="rId107"/>
    <p:sldId id="345" r:id="rId108"/>
    <p:sldId id="346" r:id="rId10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C301A67A-CD06-4F57-6CC5-935D849B84F1}">
          <p14:sldIdLst>
            <p14:sldId id="347"/>
            <p14:sldId id="349"/>
            <p14:sldId id="348"/>
            <p14:sldId id="350"/>
            <p14:sldId id="256"/>
          </p14:sldIdLst>
        </p14:section>
        <p14:section name="Bloque 1" id="{3600A6C3-52F6-7588-0A9C-A0762F4818CB}">
          <p14:sldIdLst>
            <p14:sldId id="257"/>
            <p14:sldId id="258"/>
          </p14:sldIdLst>
        </p14:section>
        <p14:section name="Creatividad e innovación" id="{2BE25609-BF65-E18D-0F36-65565FC69EFD}">
          <p14:sldIdLst>
            <p14:sldId id="259"/>
            <p14:sldId id="260"/>
            <p14:sldId id="261"/>
            <p14:sldId id="262"/>
            <p14:sldId id="263"/>
            <p14:sldId id="351"/>
            <p14:sldId id="264"/>
            <p14:sldId id="352"/>
            <p14:sldId id="265"/>
            <p14:sldId id="353"/>
            <p14:sldId id="266"/>
            <p14:sldId id="354"/>
            <p14:sldId id="267"/>
            <p14:sldId id="355"/>
            <p14:sldId id="268"/>
            <p14:sldId id="356"/>
            <p14:sldId id="269"/>
          </p14:sldIdLst>
        </p14:section>
        <p14:section name="Divergir y converger" id="{F5AF64DA-B1F4-A1A7-7800-38EEFB65567B}">
          <p14:sldIdLst>
            <p14:sldId id="358"/>
            <p14:sldId id="270"/>
            <p14:sldId id="272"/>
            <p14:sldId id="271"/>
            <p14:sldId id="273"/>
          </p14:sldIdLst>
        </p14:section>
        <p14:section name="Brainstorming" id="{B1D90EA5-E9A1-1FA3-6157-4003D122319B}">
          <p14:sldIdLst>
            <p14:sldId id="274"/>
            <p14:sldId id="284"/>
            <p14:sldId id="275"/>
            <p14:sldId id="276"/>
            <p14:sldId id="277"/>
          </p14:sldIdLst>
        </p14:section>
        <p14:section name="Ejercicio 1" id="{1055EF44-D81E-DBFF-D1FC-ED58257BFCF2}">
          <p14:sldIdLst>
            <p14:sldId id="278"/>
            <p14:sldId id="357"/>
            <p14:sldId id="279"/>
            <p14:sldId id="280"/>
          </p14:sldIdLst>
        </p14:section>
        <p14:section name="Comparación y cierre" id="{8494F538-1684-8C82-F4E5-EDE3625627DF}">
          <p14:sldIdLst>
            <p14:sldId id="281"/>
            <p14:sldId id="282"/>
            <p14:sldId id="283"/>
            <p14:sldId id="285"/>
            <p14:sldId id="359"/>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60"/>
            <p14:sldId id="311"/>
            <p14:sldId id="312"/>
            <p14:sldId id="313"/>
            <p14:sldId id="314"/>
            <p14:sldId id="315"/>
            <p14:sldId id="316"/>
            <p14:sldId id="361"/>
            <p14:sldId id="317"/>
            <p14:sldId id="318"/>
            <p14:sldId id="319"/>
            <p14:sldId id="320"/>
            <p14:sldId id="321"/>
            <p14:sldId id="322"/>
            <p14:sldId id="362"/>
            <p14:sldId id="323"/>
            <p14:sldId id="324"/>
            <p14:sldId id="325"/>
            <p14:sldId id="326"/>
            <p14:sldId id="327"/>
            <p14:sldId id="328"/>
            <p14:sldId id="329"/>
            <p14:sldId id="363"/>
            <p14:sldId id="330"/>
            <p14:sldId id="331"/>
            <p14:sldId id="332"/>
            <p14:sldId id="333"/>
            <p14:sldId id="334"/>
            <p14:sldId id="335"/>
            <p14:sldId id="336"/>
            <p14:sldId id="337"/>
            <p14:sldId id="364"/>
            <p14:sldId id="338"/>
            <p14:sldId id="339"/>
            <p14:sldId id="340"/>
            <p14:sldId id="341"/>
            <p14:sldId id="342"/>
            <p14:sldId id="343"/>
            <p14:sldId id="344"/>
            <p14:sldId id="345"/>
            <p14:sldId id="34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F2A4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0" d="100"/>
          <a:sy n="80" d="100"/>
        </p:scale>
        <p:origin x="68"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viewProps" Target="viewProp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theme" Target="theme/theme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71648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del bloque 1: explicar a nivel general qué se va a hacer durante el curso y para qué.</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objeto del curso: enseñar cómo modelizar un proceso de innovación, con ideación, selección y decisión, de una manera más estructurada para poder presentarlo.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Contar el recorrido del curso a nivel muy general: generar muchas ideas con brainstorming, SCAMPER y provocación; seleccionar las que realmente interesan y quedarnos con tres; compararlas con una matriz y elegir la ganadora; documentarla y desarrollarla; presentarla y defenderla.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Normalmente, cuando hacemos este proceso nosotros mismos, no escribimos una sola línea y lo hacemos todo en la cabeza, en menos de un minuto: vemos las opciones y elegimos. Pero para poder comunicarlo en un entorno más profesional hay que hacerlo de esta otra manera. Hay muchas; esta sería una de ellas.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Presentarse brevemente y explicar que el taller es práctico: se trabaja sobre problemas de pequeñas empresas y organizaciones, no sobre funciones sueltas de los programas.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entender la diferencia entre creatividad, innovación y competencia digital, y practicar la primera técnica creativa, el brainstorming, primero entre personas y después con IA.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el recorrido del bloque. Explicar el código de color que se usará en todo el curso: en ámbar, lo que piensa el grupo sin ayuda; en verde, lo que se hace con la IA. Las etiquetas de la esquina superior derecha indican siempre los minutos del guion.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0–3. Leer la pregunta y pedir votación a mano alzada.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0–3. Pedir a dos o tres voluntarios que cuenten en una frase alguna mejora que vieran (o hicieran) en un trabajo anterior. Apuntarlas: servirán de ejemplos durante la explicación de los tres conceptos.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3–5. Explicar los tres conceptos usando, si es posible, los ejemplos que acaban de dar los voluntarios. Subrayar que la creatividad no se limita a ámbitos artísticos: también consiste en mejorar tareas cotidianas y procesos de trabajo.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5–10. Explicar la dinámica: un dedo, creatividad; dos, innovación; tres, competencia digital. Leer cada situación, pedir el voto y, si hay votos repartidos, preguntar a una persona de cada opción. Las respuestas orientativas están en las notas de cada situación.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Creatividad: es una idea, todavía no se ha aplicado.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1: creatividad. Es una idea nueva y útil, pero todavía no se ha puesto en práctica.</a:t>
            </a:r>
          </a:p>
          <a:p>
            <a:endParaRPr/>
          </a:p>
          <a:p>
            <a:r>
              <a:t>Criterio para resolver las dudas: ¿es solo una idea o ya se ha puesto en práctica? ¿Aporta valor?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Innovación: se ha aplicado y aporta valor.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2: innovación. La idea se ha puesto en práctica y aporta valor: las esperas se reducen.</a:t>
            </a:r>
          </a:p>
          <a:p>
            <a:endParaRPr/>
          </a:p>
          <a:p>
            <a:r>
              <a:t>Criterio para resolver las dudas: ¿es solo una idea o ya se ha puesto en práctica? ¿Aporta valor?</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Competencia digital.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3: competencia digital. Usa una herramienta digital para hacer bien su tarea, pero no cambia cómo se trabaja.</a:t>
            </a:r>
          </a:p>
          <a:p>
            <a:endParaRPr/>
          </a:p>
          <a:p>
            <a:r>
              <a:t>Criterio para resolver las dudas: ¿es solo una idea o ya se ha puesto en práctica? ¿Aporta valor?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Innovación.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4: innovación. Es un cambio ya puesto en práctica que aporta valor: el cliente está informado y el taller recibe menos llamadas.</a:t>
            </a:r>
          </a:p>
          <a:p>
            <a:endParaRPr/>
          </a:p>
          <a:p>
            <a:r>
              <a:t>Criterio para resolver las dudas: ¿es solo una idea o ya se ha puesto en práctica? ¿Aporta valor?</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Creatividad; si se pone en práctica y funciona, innovación. Situación discutible a propósito: lo importante es el razonamiento, no acertar.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5: creatividad. Por ahora es solo una idea. Si se pone en práctica y funciona, pasa a ser innovación. Es discutible a propósito: si hay votos repartidos, que cada opción explique su razonamiento.</a:t>
            </a:r>
          </a:p>
          <a:p>
            <a:endParaRPr/>
          </a:p>
          <a:p>
            <a:r>
              <a:t>Criterio para resolver las dudas: ¿es solo una idea o ya se ha puesto en práctica? ¿Aporta valor?</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Competencia digital; sería innovación si cambiara cómo se atiende a los clientes extranjeros. Situación discutible a propósito: lo importante es el razonamiento, no acertar.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6: competencia digital. Usa la IA para una tarea concreta, sin cambiar cómo se atiende. Sería innovación si cambiara la forma de atender a los clientes extranjeros. Es discutible a propósito: si hay votos repartidos, que cada opción explique su razonamiento.</a:t>
            </a:r>
          </a:p>
          <a:p>
            <a:endParaRPr/>
          </a:p>
          <a:p>
            <a:r>
              <a:t>Criterio para resolver las dudas: ¿es solo una idea o ya se ha puesto en práctica? ¿Aporta valor?</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Usar esta diapositiva cuando haya votos repartidos o al terminar las seis situaciones. Las situaciones 5 y 6 son discutibles a propósito.</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 uso de una plantilla. Si es posible, que tengan el cuaderno abierto antes de empezar el bloque, para no perder tiempo del clip. El cuaderno es para pensar: no se entrega. Se usa en los bloques 1, 2 y 5.</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10–12. Cada persona, en silencio y por escrito, anota en 90 segundos todos los usos que se le ocurran para un clip. Después, cada una dice cuántos ha escrito y quien tenga más lee su lista.</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después de la votación. Mensaje: nadie compraría un clip de papelería por muy original que sea su uso; lo que se vende es el concepto del clip (sujetar por presión, doblarse sin romperse, unir y separar fácilmente) aplicado a otro tamaño, material o problema. El color de cada icono indica qué principio del clip aprovecha.
Las ideas se generaron con IA. Según la IA, para casi todas existen productos parecidos en el mercado (organizadores de cables de silicona, cierres para bolsas, clips para plantas, sistemas de conexión rápida, soportes plegables para móviles, pinzas para cartelería); conviene comprobarlo antes de afirmarlo en clase.
Enlaza con la técnica SCAMPER del bloque 2: Adaptar (llevar el concepto a otro sector) y Modificar (cambiar tamaño o material).</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12–14. Votar un solo uso. Si al grupo no se le ocurre ningún producto, es normal: pasar a la diapositiva siguiente. No explicar todavía la teoría de divergir y converger: viene después, sobre lo que acaban de hacer.</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14–15. Lo que acaban de hacer con el clip: primero pensamiento divergente (muchos usos, sin juzgar) y después convergente (elegir uno con criterio). Las tres técnicas del curso sirven para abrir el abanico; la matriz del bloque 3 sirve para cerrarlo.</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 para todo el curso: en cada técnica, primero piensan las personas y después se pide ayuda a la IA. Si la IA va primero, el grupo se ancla en sus propuestas y deja de pensar por su cuenta. Además, así se puede comparar qué aporta cada uno.</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Minutos 15–20, justo después de la regla «primero las personas, después la IA». Contarlo como historia, en un minuto:</a:t>
            </a:r>
          </a:p>
          <a:p>
            <a:endParaRPr/>
          </a:p>
          <a:p>
            <a:r>
              <a:t>Hay un programa para crear videojuegos, Unreal Engine 5, que lo hace casi todo solo: la luz, las sombras, los reflejos, el detalle de cada objeto. Con él, una persona desde su casa puede hacer un juego que parece de un gran estudio.</a:t>
            </a:r>
          </a:p>
          <a:p>
            <a:endParaRPr/>
          </a:p>
          <a:p>
            <a:r>
              <a:t>Muchísima gente lo usó y dejó que el programa decidiera la luz y el aspecto del juego. Y pasó algo curioso: muchos juegos empezaron a parecerse entre sí. Técnicamente eran impecables, pero tenían todos el mismo aire. Los que llamaban la atención eran los que tenían un estilo propio, y ese estilo no lo pone la herramienta: lo pone la persona.</a:t>
            </a:r>
          </a:p>
          <a:p>
            <a:endParaRPr/>
          </a:p>
          <a:p>
            <a:r>
              <a:t>Con la IA pasa lo mismo. Da ideas, resume y redacta muy bien. Pero si todos le preguntamos lo mismo, todos recibimos respuestas parecidas. Ya pasa con las cartas de presentación: las empresas reciben cientos que suenan iguales porque las ha escrito la misma IA.</a:t>
            </a:r>
          </a:p>
          <a:p>
            <a:endParaRPr/>
          </a:p>
          <a:p>
            <a:r>
              <a:t>Las personas fallamos más y tenemos días malos. Pero la idea rara, la que nadie más tendría, es la que marca la diferencia, y esa suele salir de nosotros. Por eso: primero pensamos las personas y después usamos la IA para ampliar lo nuestro, no para sustituirlo.</a:t>
            </a:r>
          </a:p>
          <a:p>
            <a:endParaRPr/>
          </a:p>
          <a:p>
            <a:r>
              <a:t>Cuidado: no afirmar que la IA es peor que las personas. El argumento es que, si todos usamos la misma herramienta, todos acabamos haciendo lo mismo. Así no se adelanta la conclusión de la comparación del Ejercicio 1.</a:t>
            </a:r>
          </a:p>
          <a:p>
            <a:endParaRPr/>
          </a:p>
          <a:p>
            <a:r>
              <a:t>Respaldo (comprobar la referencia antes de citarla): un estudio publicado en 2024 en Science Advances encontró que la IA hacía algo más creativos los textos de cada persona, pero que los textos se parecían mucho más entre sí.</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Ejemplo que acompaña a las tres técnicas del curso. Es ajeno a los ejercicios: usar siempre el mismo ejemplo deja ver qué tipo de ideas produce cada técnica.</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15–20. Qué es el brainstorming y sus cuatro reglas. La regla 3 (construir sobre la idea de otra persona) se aplicará después también a la combinación de ideas del grupo y de la IA.</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Lanzar las ideas a buen ritmo para mostrar cómo funciona. Terminar con la idea disparatada y mostrar que, construyendo sobre ella, se llega a una idea sensata: por eso las ideas disparatadas son bienvenidas.</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20–30. Entre todo el grupo, sin IA. Dar el turno en rueda para que participen todas las personas y no solo las más extrovertidas; quien no tenga idea dice «paso» y se continúa. Apuntar todas las ideas numeradas en la pizarra o en un documento compartido, sin comentarlas. Al final, contar el total: se usará en la comparación.</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F0AFB-0CFC-904E-0002-1A938FF32F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755FC1-4BEF-10E6-FA54-6131796AA3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329FB1-8031-5A79-0DEA-D5EF13815E0B}"/>
              </a:ext>
            </a:extLst>
          </p:cNvPr>
          <p:cNvSpPr>
            <a:spLocks noGrp="1"/>
          </p:cNvSpPr>
          <p:nvPr>
            <p:ph type="body" idx="1"/>
          </p:nvPr>
        </p:nvSpPr>
        <p:spPr/>
        <p:txBody>
          <a:bodyPr/>
          <a:lstStyle/>
          <a:p>
            <a:r>
              <a:rPr lang="en-US" dirty="0"/>
              <a:t>Minutos 20–30. Entre todo el grupo, sin IA. Dar el turno en rueda para que participen todas las personas y no solo las más extrovertidas; quien no tenga idea dice «paso» y se continúa. Apuntar todas las ideas numeradas en la pizarra o en un documento compartido, sin comentarlas. Al final, contar el total: se usará en la comparación.</a:t>
            </a:r>
          </a:p>
        </p:txBody>
      </p:sp>
      <p:sp>
        <p:nvSpPr>
          <p:cNvPr id="4" name="Slide Number Placeholder 3">
            <a:extLst>
              <a:ext uri="{FF2B5EF4-FFF2-40B4-BE49-F238E27FC236}">
                <a16:creationId xmlns:a16="http://schemas.microsoft.com/office/drawing/2014/main" id="{1DC009C7-BBAF-C8FD-7312-9D18E7F25502}"/>
              </a:ext>
            </a:extLst>
          </p:cNvPr>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20739474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30–38. Proyectar la IA y pegar la lista de ideas del grupo en el lugar indicado. Leer en voz alta las propuestas de la IA y comentar cuáles sorprenden y cuáles son genéricas o repiten lo ya dicho con otras palabras. El texto del prompt para copiar está en el guion docente.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30–38. Lanzar este segundo prompt en la misma conversación con la IA, a continuación del primero.</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38–45. Cada persona marca las tres ideas que le parecen más originales, sin fijarse en si vienen del grupo o de la IA. Después, contar y rellenar la tabla: cuántas ideas salieron sin IA y con IA, y cuántas de las más votadas son de cada origen.</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adelantar la conclusión: puede salir que la IA aporta más cantidad pero menos originalidad, o lo contrario. Lo importante es que el grupo lo compruebe con sus propios datos de la tabla.</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Conclusión del bloque. Enlazar con el bloque 2: ahora se aplicarán dos técnicas más estructuradas, SCAMPER y la provocación, por parejas.</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aplicar dos técnicas estructuradas, primero sin IA y después con IA, sobre un mismo caso profesional, y seleccionar las tres mejores propuestas, que se evaluarán en la matriz del bloque 3.</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42</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bloque 2 se trabaja en el cuaderno: el caso, SCAMPER, la provocación y las tres mejores propuestas. Esas tres propuestas pasan a la matriz en el bloque 3.</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elige uno de los tres casos y trabaja con él durante todo el bloque: SCAMPER, provocación y selección de propuestas. Conviene que los tres casos queden repartidos entre las parejas.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44</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45–50. SCAMPER es una lista de siete preguntas para transformar un proceso o producto que ya existe. A diferencia del brainstorming, no parte de cero: obliga a mirar el proceso actual desde siete ángulos.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45</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tabla rápido, letra a letra: cada pregunta mira el mismo proceso desde un ángulo distinto. Es el mismo ejemplo de la peluquería del bloque 1, para comparar qué tipo de ideas da cada técnica.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46</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50–62. Por parejas, sin IA, sobre el caso elegido. Pasar por las mesas: si una pareja se atasca en una letra, que pase a la siguiente y vuelva después. Conviene que anoten las ideas en un documento, porque las pegarán en el prompt de la ronda con IA.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62–72. Cada pareja copia el prompt (está en el guion) y rellena lo que va entre corchetes. Insistir: describir el proceso, nunca a las personas.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peticiones se escriben en la misma conversación, a continuación de la respuesta de la IA. Al terminar, cada pareja compara las ideas de la IA con las suyas: ¿qué ha aportado que no se les hubiera ocurrido? ¿Qué no ha entendido del caso?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Últimos minutos del tramo 62–72, antes de pasar a la provocación. Cada pareja cuenta en unos 30 segundos su mejor idea sin IA, la mejor idea que le ha dado la IA y algo que la IA no haya entendido de su caso.</a:t>
            </a:r>
          </a:p>
          <a:p>
            <a:endParaRPr/>
          </a:p>
          <a:p>
            <a:r>
              <a:t>Con 8 parejas son unos 4 minutos: ir rápido, sin debatir cada idea. Si no da tiempo, que hablen solo tres o cuatro parejas.</a:t>
            </a:r>
          </a:p>
          <a:p>
            <a:endParaRPr/>
          </a:p>
          <a:p>
            <a:r>
              <a:t>Al final, la pregunta para todos: ¿qué ha aportado la IA que no se os hubiera ocurrido? No adelantar la conclusión: que salga de lo que cuentan las parejas. Las ideas se guardan: se usarán en la selección de las tres propuestas.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72–77. La provocación (técnica de pensamiento lateral de Edward de Bono) consiste en lanzar una afirmación deliberadamente absurda que rompe una suposición que nadie cuestiona y después hacer el movimiento: extraer del absurdo un principio útil y convertirlo en una idea práctica.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cada fila de izquierda a derecha: provocación absurda → principio útil → idea práctica. Así se ve que el absurdo no es el final, sino el trampolín.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52</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Advertencia para el docente: el error típico es quedarse en la provocación y reírse. Insistir siempre en «¿y qué principio útil sacamos de esto?».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53</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77–85. Por parejas, sin IA. Que cada provocación sea de un tipo distinto (inversión, exageración, eliminación o deseo). Pasar por las mesas comprobando que no se quedan en la provocación: tienen que llegar hasta una idea práctica.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54</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85–92. Cada pareja copia el prompt (está en el guion) y rellena lo que va entre corchetes.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55</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revisa la tabla de la IA con estas dos preguntas. La frase final es una hipótesis para comprobar, no una conclusión: si en el grupo sale lo contrario, mejor todavía.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56</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92–100. Entregable: tabla sencilla con el problema, las tres propuestas, las razones de su selección y el origen de cada una. Estas tres propuestas se puntuarán en la matriz de decisión del bloque 3.</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rápida, a mano alzada. Igual que en el bloque 1, no adelantar conclusiones: que salgan de lo que ha pasado en las parejas.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100–103. Proyectar y dar tres minutos. Hay cuatro problemas: datos personales en el prompt, un estudio y una cifra sin verificar, una función que puede no existir y una generalización falsa. La corrección está en la diapositiva siguiente.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103–105. Corregir en común: preguntar qué problemas han encontrado las parejas antes de mostrar cada uno.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60</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del bloque. Enlazar con el bloque 3: las tres propuestas de cada pareja se van a documentar y a comparar con una matriz de decisión.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61</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que cada pareja compare con criterio sus tres propuestas del bloque 2, elija la ganadora con argumentos y la ponga por escrito en una ficha de una página. Excel y Word son el soporte, no el contenido: no explicar funciones básicas. La propuesta ganadora es la que cada pareja desarrollará en el bloque 4 y defenderá en el bloque 5.</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del bloque: primero comparar las tres propuestas de cada pareja y decidir la ganadora (Excel o Google Sheets); después, ponerla por escrito (Word o Google Docs). Primero se decide y luego se documenta.</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105–113. Explicar los cuatro criterios y sus pesos. Los resultados dependen de las puntuaciones y los pesos que se elijan: la matriz es una ayuda para razonar, no una prueba objetiva.</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105–113, actividad de 3 minutos. Asignar a cada pareja una de las tres propuestas. Una vez hecho a mano, se entiende lo que hace la fórmula. Resultados: reserva por internet 4,35; turno visible en el móvil 3,30; abono con cita fija 4,20. Son propuestas del ejemplo de la peluquería, no de los casos de las parejas.</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Corregir con el grupo. Si alguna pareja ha obtenido otro resultado, revisar juntos la operación.</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la fórmula en directo en una hoja de cálculo y copiarla hacia abajo. Aviso: con esta fórmula los pesos están escritos dentro. Si en el Ejercicio 4 se cambian los pesos, hay que cambiar también los porcentajes de la fórmula en todas las filas.</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hoja «Ejemplo» tiene las tres propuestas de la explicación con sus resultados (4,35; 3,30; 4,20), por si alguien quiere comprobar el formato. Los pesos están escritos dentro de la fórmula: en el paso 5 del ejercicio hay que cambiarlos en las tres filas.</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113–140. Por parejas, con las tres propuestas seleccionadas al final del bloque 2. Recordar al cambiar los pesos (paso 5) que hay que cambiar los porcentajes en la fórmula de todas las filas, y que los pesos deben seguir sumando 100 %. Entregable: hoja de cálculo con decisiones argumentadas.</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prompt está en el guion para copiarlo. Lo interesante es contrastar: ¿tenía razón la IA en sus observaciones o se ha equivocado en algo?</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Último paso del Ejercicio 4. La matriz ayuda a razonar, pero la decisión es de la pareja. Esta propuesta ganadora es la que redactarán en la ficha exprés, desarrollarán en el bloque 4 y defenderán en el bloque 5.</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en los últimos 4 minutos del ejercicio. Preguntas clave: ¿ha cambiado la clasificación al modificar los pesos? ¿Tenía razón la IA en sus observaciones o se ha equivocado en algo?</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140–145. Demostración: crear en directo un documento profesional de una página con estos apartados. El ejemplo de la derecha es el que se usa en la demostración: la peluquería, común a todo el curso, y no ninguno de los casos de las parejas.</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140–145. Pedir a la IA una versión más clara y concisa del documento de ejemplo y revisar en voz alta cada cambio: cuál aceptamos, cuál rechazamos y por qué.</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ficha exprés ya no es un archivo aparte: es la primera versión del documento del proyecto. En el bloque 4 se amplía en este mismo archivo, así que tienen que guardarlo bien (nombre de la pareja en el nombre del archivo).</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145–160. Por parejas, con la propuesta ganadora que acaban de elegir. El prompt está en el guion para copiarlo. Pasar por las mesas: lo habitual es que la IA escriba de más o meta afirmaciones que nadie le ha dado. Esta ficha servirá de borrador para el documento del bloque 4.</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en los últimos 4 minutos del tramo: dos o tres parejas. Buscar ejemplos concretos de cosas que la IA añadió sin que nadie se las diera.</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160–165. Anotar las respuestas: indican en qué insistir durante el bloque 4.</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Enlazar con el bloque 4: cada pareja va a desarrollar su propuesta ganadora hasta convertirla en un proyecto defendible.</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convertir la propuesta ganadora de cada pareja en un proyecto defendible: bien explicado, con sus riesgos, con una forma de medir si funciona y con una presentación breve.</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Continuidad: cada pareja trabaja sobre su propia propuesta ganadora del bloque 3 y su ficha exprés. Al final del bloque tendrá su matriz, su documento y su presentación, listos para defenderlos en el bloque 5.</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mismo archivo del bloque 3. Lo marcado «bloque 4» son los indicadores, el coste, las medidas preventivas y los tres pasos. La página de trabajo no cuenta en las dos páginas.</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165–175. Antes de desarrollar el proyecto, hay que ponerlo a prueba. Las parejas se juntan de dos en dos; la pareja A explica su propuesta en un minuto y la pareja B le hace dos preguntas difíciles. Después se cambian los papeles. Recordad cuál es vuestra pareja: volveréis a juntaros con ella en la revisión cruzada del final.</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apunta las preguntas que no ha sabido responder: son lo primero que tiene que resolver el documento del proyecto.</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175–195. Ampliar la ficha exprés hasta el documento del proyecto, de máximo dos páginas: los seis apartados de la ficha, ampliados (en «Solución», cómo funciona; en «Beneficios esperados», los dos indicadores que se definen después; en «Recursos», las herramientas ofimáticas y de IA; en «Riesgos», sus medidas preventivas), más un apartado nuevo: tres pasos para ponerla en práctica. La IA puede ayudar a redactar, pero cada apartado lo revisa la pareja con el mismo criterio de la ficha exprés: qué sobra, qué falta y qué no es cierto.</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de acompañamiento docente mientras las parejas redactan. Pasar por las mesas.</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195–210. No hay que esperar un mes ni simular nada: las parejas solo diseñan cómo se comprobaría que la propuesta funciona si alguien decidiera probarla. Es un plan de medición, no una medición. Otros indicadores habituales: tiempo de respuesta, errores, quejas o ausencias. No dar ejemplos de los casos de las parejas: sería darles hecha parte del trabajo.</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prompt está en el guion para copiarlo. La IA propone; la pareja elige los dos indicadores y decide cómo medirlos.</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Plantilla para que cada pareja ordene sus dos indicadores antes de pasarlos al documento. Tiene las mismas columnas que la tabla del apartado 4 del documento del proyecto.</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pistas son el texto de ayuda de PowerPoint: se ven al editar y no al proyectar, así que no hay que borrarlas. Los criterios de la revisión cruzada están en las notas del orador de la plantilla.</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210–235. Tres diapositivas, cada una con una idea central. La tercera incluye los dos indicadores definidos antes.</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Criterios de la presentación. Son los mismos que se comprobarán en la revisión cruzada.</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235–240. Cada pareja devuelve a la otra una mejora concreta.</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Entregables del taller: matriz de decisión (bloque 3), documento del proyecto y presentación. Enlazar con el bloque 5: la defensa.</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defender una propuesta, aceptar críticas constructivas y traducir la experiencia en evidencias profesionales.</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del bloque: cada pareja defiende su propuesta ganadora ante el grupo y ante la IA, y después se traslada lo aprendido a la búsqueda de empleo.</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240–244. Leer las dos versiones de la misma propuesta y preguntar al grupo cuál aprobaría y por qué.</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versión A habla de herramientas y hace afirmaciones sin justificar; la B parte del problema, explica la solución y dice cómo se medirá. De ahí sale la estructura de la defensa.</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bloque 5 vuelve al cuaderno: el ensayo, la observación de las otras parejas, la IA como evaluadora crítica y el relato individual para una entrevista.</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244–250. Cada pareja prepara y ensaya en voz baja la primera frase de su presentación: el problema en 20 segundos.</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250–275. Con 16 personas organizadas en ocho parejas, reservar alrededor de dos minutos de presentación y uno de preguntas por equipo. Con grupos más numerosos, organizar mesas paralelas de evaluación.</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observadores comentan claridad, originalidad, viabilidad y posibles riesgos, con al menos una propuesta de mejora.</a:t>
            </a:r>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275–285. El prompt está en el guion para copiarlo. Recordar: sin información sensible en el resumen.</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equipo explica cuál de las críticas de la IA acepta y qué modificaría. Recordar que una respuesta de IA también puede contener errores.</a:t>
            </a:r>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285–295. Explicar que el trabajo realizado permite demostrar identificación de problemas, análisis, creatividad, dominio digital y comunicación.</a:t>
            </a:r>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295–300. Preguntar oralmente.</a:t>
            </a:r>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Pedir a cada participante una técnica que quiera aplicar en un futuro empleo.</a:t>
            </a:r>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central para cerrar el taller (sección de orientaciones metodológicas del guion).</a:t>
            </a:r>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rtlCol="0"/>
          <a:lstStyle>
            <a:lvl1pPr marL="0" indent="0">
              <a:buNone/>
              <a:defRPr lang="en-US" sz="2000" dirty="0">
                <a:solidFill>
                  <a:schemeClr val="accent1"/>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108960" y="2103120"/>
            <a:ext cx="8503920" cy="146304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3108960" y="3749040"/>
            <a:ext cx="8503920" cy="731520"/>
          </a:xfrm>
          <a:prstGeom prst="rect">
            <a:avLst/>
          </a:prstGeom>
          <a:noFill/>
          <a:ln/>
        </p:spPr>
        <p:txBody>
          <a:bodyPr wrap="square" rtlCol="0"/>
          <a:lstStyle>
            <a:lvl1pPr marL="0" indent="0">
              <a:buNone/>
              <a:defRPr lang="en-US" sz="2200" dirty="0">
                <a:solidFill>
                  <a:schemeClr val="accent1"/>
                </a:solidFill>
              </a:defRPr>
            </a:lvl1pPr>
          </a:lstStyle>
          <a:p>
            <a:pPr marL="0" indent="0">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rtlCol="0"/>
          <a:lstStyle>
            <a:lvl1pPr marL="0" indent="0" algn="l">
              <a:buNone/>
              <a:defRPr lang="en-US" sz="3200" b="1" dirty="0">
                <a:solidFill>
                  <a:schemeClr val="tx1"/>
                </a:solidFill>
              </a:defRPr>
            </a:lvl1pPr>
          </a:lstStyle>
          <a:p>
            <a:pPr marL="0" indent="0" algn="l">
              <a:buNone/>
            </a:pPr>
            <a:endParaRPr lang="en-US" sz="32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Bloque 1 · Activación de la creatividad y brainstorming</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ESTACADO">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rtlCol="0"/>
          <a:lstStyle>
            <a:lvl1pPr marL="0" indent="0">
              <a:buNone/>
              <a:defRPr lang="en-US" sz="3400" dirty="0">
                <a:solidFill>
                  <a:schemeClr val="bg1"/>
                </a:solidFill>
              </a:defRPr>
            </a:lvl1pPr>
          </a:lstStyle>
          <a:p>
            <a:pPr marL="0" indent="0">
              <a:buNone/>
            </a:pPr>
            <a:endParaRPr lang="en-US" sz="34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Bloque 1 · Activación de la creatividad y brainstorming</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5.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4.xml"/><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notesSlide" Target="../notesSlides/notesSlide26.xml"/><Relationship Id="rId1" Type="http://schemas.openxmlformats.org/officeDocument/2006/relationships/slideLayout" Target="../slideLayouts/slideLayout4.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notesSlide" Target="../notesSlides/notesSlide27.xml"/><Relationship Id="rId1" Type="http://schemas.openxmlformats.org/officeDocument/2006/relationships/slideLayout" Target="../slideLayouts/slideLayout4.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2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8.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2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0.xml"/><Relationship Id="rId1" Type="http://schemas.openxmlformats.org/officeDocument/2006/relationships/slideLayout" Target="../slideLayouts/slideLayout4.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9.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4.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5.xml"/><Relationship Id="rId1" Type="http://schemas.openxmlformats.org/officeDocument/2006/relationships/slideLayout" Target="../slideLayouts/slideLayout4.xml"/><Relationship Id="rId5" Type="http://schemas.openxmlformats.org/officeDocument/2006/relationships/image" Target="../media/image41.png"/><Relationship Id="rId4" Type="http://schemas.openxmlformats.org/officeDocument/2006/relationships/image" Target="../media/image25.png"/></Relationships>
</file>

<file path=ppt/slides/_rels/slide3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6.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41.png"/><Relationship Id="rId4" Type="http://schemas.openxmlformats.org/officeDocument/2006/relationships/image" Target="../media/image25.png"/></Relationships>
</file>

<file path=ppt/slides/_rels/slide3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8.xml"/><Relationship Id="rId1" Type="http://schemas.openxmlformats.org/officeDocument/2006/relationships/slideLayout" Target="../slideLayouts/slideLayout4.xml"/><Relationship Id="rId6" Type="http://schemas.openxmlformats.org/officeDocument/2006/relationships/image" Target="../media/image25.png"/><Relationship Id="rId5" Type="http://schemas.openxmlformats.org/officeDocument/2006/relationships/image" Target="../media/image42.png"/><Relationship Id="rId4" Type="http://schemas.openxmlformats.org/officeDocument/2006/relationships/image" Target="../media/image9.png"/></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9.xml"/><Relationship Id="rId1" Type="http://schemas.openxmlformats.org/officeDocument/2006/relationships/slideLayout" Target="../slideLayouts/slideLayout4.xml"/><Relationship Id="rId5" Type="http://schemas.openxmlformats.org/officeDocument/2006/relationships/image" Target="../media/image25.png"/><Relationship Id="rId4" Type="http://schemas.openxmlformats.org/officeDocument/2006/relationships/image" Target="../media/image35.png"/></Relationships>
</file>

<file path=ppt/slides/_rels/slide4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0.xml"/><Relationship Id="rId1" Type="http://schemas.openxmlformats.org/officeDocument/2006/relationships/slideLayout" Target="../slideLayouts/slideLayout4.xml"/><Relationship Id="rId6" Type="http://schemas.openxmlformats.org/officeDocument/2006/relationships/image" Target="../media/image25.png"/><Relationship Id="rId5" Type="http://schemas.openxmlformats.org/officeDocument/2006/relationships/image" Target="../media/image45.png"/><Relationship Id="rId4" Type="http://schemas.openxmlformats.org/officeDocument/2006/relationships/image" Target="../media/image44.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4.xml"/><Relationship Id="rId1" Type="http://schemas.openxmlformats.org/officeDocument/2006/relationships/slideLayout" Target="../slideLayouts/slideLayout4.xml"/><Relationship Id="rId6" Type="http://schemas.openxmlformats.org/officeDocument/2006/relationships/image" Target="../media/image25.png"/><Relationship Id="rId5" Type="http://schemas.openxmlformats.org/officeDocument/2006/relationships/image" Target="../media/image47.png"/><Relationship Id="rId4" Type="http://schemas.openxmlformats.org/officeDocument/2006/relationships/image" Target="../media/image46.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7.xml"/><Relationship Id="rId1" Type="http://schemas.openxmlformats.org/officeDocument/2006/relationships/slideLayout" Target="../slideLayouts/slideLayout4.xml"/><Relationship Id="rId4" Type="http://schemas.openxmlformats.org/officeDocument/2006/relationships/image" Target="../media/image48.png"/></Relationships>
</file>

<file path=ppt/slides/_rels/slide4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9.xml"/><Relationship Id="rId1" Type="http://schemas.openxmlformats.org/officeDocument/2006/relationships/slideLayout" Target="../slideLayouts/slideLayout4.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5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1.xml"/><Relationship Id="rId1" Type="http://schemas.openxmlformats.org/officeDocument/2006/relationships/slideLayout" Target="../slideLayouts/slideLayout4.xml"/><Relationship Id="rId5" Type="http://schemas.openxmlformats.org/officeDocument/2006/relationships/image" Target="../media/image1.png"/><Relationship Id="rId4" Type="http://schemas.openxmlformats.org/officeDocument/2006/relationships/image" Target="../media/image52.png"/></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6.xml"/><Relationship Id="rId1" Type="http://schemas.openxmlformats.org/officeDocument/2006/relationships/slideLayout" Target="../slideLayouts/slideLayout4.xml"/><Relationship Id="rId5" Type="http://schemas.openxmlformats.org/officeDocument/2006/relationships/image" Target="../media/image25.png"/><Relationship Id="rId4" Type="http://schemas.openxmlformats.org/officeDocument/2006/relationships/image" Target="../media/image53.png"/></Relationships>
</file>

<file path=ppt/slides/_rels/slide5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7.xml"/><Relationship Id="rId1" Type="http://schemas.openxmlformats.org/officeDocument/2006/relationships/slideLayout" Target="../slideLayouts/slideLayout4.xml"/><Relationship Id="rId6" Type="http://schemas.openxmlformats.org/officeDocument/2006/relationships/image" Target="../media/image25.png"/><Relationship Id="rId5" Type="http://schemas.openxmlformats.org/officeDocument/2006/relationships/image" Target="../media/image56.png"/><Relationship Id="rId4" Type="http://schemas.openxmlformats.org/officeDocument/2006/relationships/image" Target="../media/image55.png"/></Relationships>
</file>

<file path=ppt/slides/_rels/slide5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8.xml"/><Relationship Id="rId1" Type="http://schemas.openxmlformats.org/officeDocument/2006/relationships/slideLayout" Target="../slideLayouts/slideLayout4.xml"/><Relationship Id="rId6" Type="http://schemas.openxmlformats.org/officeDocument/2006/relationships/image" Target="../media/image25.png"/><Relationship Id="rId5" Type="http://schemas.openxmlformats.org/officeDocument/2006/relationships/image" Target="../media/image42.png"/><Relationship Id="rId4" Type="http://schemas.openxmlformats.org/officeDocument/2006/relationships/image" Target="../media/image53.png"/></Relationships>
</file>

<file path=ppt/slides/_rels/slide5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9.xml"/><Relationship Id="rId1" Type="http://schemas.openxmlformats.org/officeDocument/2006/relationships/slideLayout" Target="../slideLayouts/slideLayout4.xml"/><Relationship Id="rId5" Type="http://schemas.openxmlformats.org/officeDocument/2006/relationships/image" Target="../media/image25.png"/><Relationship Id="rId4" Type="http://schemas.openxmlformats.org/officeDocument/2006/relationships/image" Target="../media/image9.png"/></Relationships>
</file>

<file path=ppt/slides/_rels/slide60.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60.xml"/><Relationship Id="rId1" Type="http://schemas.openxmlformats.org/officeDocument/2006/relationships/slideLayout" Target="../slideLayouts/slideLayout4.xml"/><Relationship Id="rId6" Type="http://schemas.openxmlformats.org/officeDocument/2006/relationships/image" Target="../media/image35.png"/><Relationship Id="rId5" Type="http://schemas.openxmlformats.org/officeDocument/2006/relationships/image" Target="../media/image59.png"/><Relationship Id="rId4" Type="http://schemas.openxmlformats.org/officeDocument/2006/relationships/image" Target="../media/image57.png"/></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3.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6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7.xml"/><Relationship Id="rId1" Type="http://schemas.openxmlformats.org/officeDocument/2006/relationships/slideLayout" Target="../slideLayouts/slideLayout4.xml"/><Relationship Id="rId4" Type="http://schemas.openxmlformats.org/officeDocument/2006/relationships/image" Target="../media/image60.png"/></Relationships>
</file>

<file path=ppt/slides/_rels/slide68.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16.png"/><Relationship Id="rId7" Type="http://schemas.openxmlformats.org/officeDocument/2006/relationships/image" Target="../media/image64.png"/><Relationship Id="rId2" Type="http://schemas.openxmlformats.org/officeDocument/2006/relationships/notesSlide" Target="../notesSlides/notesSlide69.xml"/><Relationship Id="rId1" Type="http://schemas.openxmlformats.org/officeDocument/2006/relationships/slideLayout" Target="../slideLayouts/slideLayout4.xml"/><Relationship Id="rId6" Type="http://schemas.openxmlformats.org/officeDocument/2006/relationships/image" Target="../media/image63.png"/><Relationship Id="rId5" Type="http://schemas.openxmlformats.org/officeDocument/2006/relationships/image" Target="../media/image60.png"/><Relationship Id="rId4" Type="http://schemas.openxmlformats.org/officeDocument/2006/relationships/image" Target="../media/image62.png"/></Relationships>
</file>

<file path=ppt/slides/_rels/slide7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70.xml"/><Relationship Id="rId1" Type="http://schemas.openxmlformats.org/officeDocument/2006/relationships/slideLayout" Target="../slideLayouts/slideLayout4.xml"/><Relationship Id="rId5" Type="http://schemas.openxmlformats.org/officeDocument/2006/relationships/image" Target="../media/image25.png"/><Relationship Id="rId4" Type="http://schemas.openxmlformats.org/officeDocument/2006/relationships/image" Target="../media/image35.png"/></Relationships>
</file>

<file path=ppt/slides/_rels/slide71.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71.xml"/><Relationship Id="rId1" Type="http://schemas.openxmlformats.org/officeDocument/2006/relationships/slideLayout" Target="../slideLayouts/slideLayout4.xml"/><Relationship Id="rId5" Type="http://schemas.openxmlformats.org/officeDocument/2006/relationships/image" Target="../media/image25.png"/><Relationship Id="rId4" Type="http://schemas.openxmlformats.org/officeDocument/2006/relationships/image" Target="../media/image35.png"/></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4.xml"/><Relationship Id="rId1" Type="http://schemas.openxmlformats.org/officeDocument/2006/relationships/slideLayout" Target="../slideLayouts/slideLayout4.xml"/><Relationship Id="rId6" Type="http://schemas.openxmlformats.org/officeDocument/2006/relationships/image" Target="../media/image67.png"/><Relationship Id="rId5" Type="http://schemas.openxmlformats.org/officeDocument/2006/relationships/image" Target="../media/image43.png"/><Relationship Id="rId4" Type="http://schemas.openxmlformats.org/officeDocument/2006/relationships/image" Target="../media/image8.png"/></Relationships>
</file>

<file path=ppt/slides/_rels/slide7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76.xml"/><Relationship Id="rId1" Type="http://schemas.openxmlformats.org/officeDocument/2006/relationships/slideLayout" Target="../slideLayouts/slideLayout4.xml"/><Relationship Id="rId6" Type="http://schemas.openxmlformats.org/officeDocument/2006/relationships/image" Target="../media/image25.png"/><Relationship Id="rId5" Type="http://schemas.openxmlformats.org/officeDocument/2006/relationships/image" Target="../media/image70.png"/><Relationship Id="rId4" Type="http://schemas.openxmlformats.org/officeDocument/2006/relationships/image" Target="../media/image69.png"/></Relationships>
</file>

<file path=ppt/slides/_rels/slide7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7.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8" Type="http://schemas.openxmlformats.org/officeDocument/2006/relationships/image" Target="../media/image73.png"/><Relationship Id="rId3" Type="http://schemas.openxmlformats.org/officeDocument/2006/relationships/image" Target="../media/image71.png"/><Relationship Id="rId7" Type="http://schemas.openxmlformats.org/officeDocument/2006/relationships/image" Target="../media/image4.png"/><Relationship Id="rId2" Type="http://schemas.openxmlformats.org/officeDocument/2006/relationships/notesSlide" Target="../notesSlides/notesSlide78.xml"/><Relationship Id="rId1" Type="http://schemas.openxmlformats.org/officeDocument/2006/relationships/slideLayout" Target="../slideLayouts/slideLayout4.xml"/><Relationship Id="rId6" Type="http://schemas.openxmlformats.org/officeDocument/2006/relationships/image" Target="../media/image65.png"/><Relationship Id="rId5" Type="http://schemas.openxmlformats.org/officeDocument/2006/relationships/image" Target="../media/image72.png"/><Relationship Id="rId4" Type="http://schemas.openxmlformats.org/officeDocument/2006/relationships/image" Target="../media/image1.png"/></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2.xml"/><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8" Type="http://schemas.openxmlformats.org/officeDocument/2006/relationships/image" Target="../media/image76.png"/><Relationship Id="rId3" Type="http://schemas.openxmlformats.org/officeDocument/2006/relationships/image" Target="../media/image8.png"/><Relationship Id="rId7" Type="http://schemas.openxmlformats.org/officeDocument/2006/relationships/image" Target="../media/image75.png"/><Relationship Id="rId2" Type="http://schemas.openxmlformats.org/officeDocument/2006/relationships/notesSlide" Target="../notesSlides/notesSlide83.xml"/><Relationship Id="rId1" Type="http://schemas.openxmlformats.org/officeDocument/2006/relationships/slideLayout" Target="../slideLayouts/slideLayout4.xml"/><Relationship Id="rId6" Type="http://schemas.openxmlformats.org/officeDocument/2006/relationships/image" Target="../media/image45.png"/><Relationship Id="rId5" Type="http://schemas.openxmlformats.org/officeDocument/2006/relationships/image" Target="../media/image74.png"/><Relationship Id="rId4" Type="http://schemas.openxmlformats.org/officeDocument/2006/relationships/image" Target="../media/image73.png"/><Relationship Id="rId9" Type="http://schemas.openxmlformats.org/officeDocument/2006/relationships/image" Target="../media/image77.png"/></Relationships>
</file>

<file path=ppt/slides/_rels/slide8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4.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85.xml"/><Relationship Id="rId1" Type="http://schemas.openxmlformats.org/officeDocument/2006/relationships/slideLayout" Target="../slideLayouts/slideLayout4.xml"/><Relationship Id="rId6" Type="http://schemas.openxmlformats.org/officeDocument/2006/relationships/image" Target="../media/image25.png"/><Relationship Id="rId5" Type="http://schemas.openxmlformats.org/officeDocument/2006/relationships/image" Target="../media/image50.png"/><Relationship Id="rId4" Type="http://schemas.openxmlformats.org/officeDocument/2006/relationships/image" Target="../media/image79.png"/></Relationships>
</file>

<file path=ppt/slides/_rels/slide86.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86.xml"/><Relationship Id="rId1" Type="http://schemas.openxmlformats.org/officeDocument/2006/relationships/slideLayout" Target="../slideLayouts/slideLayout4.xml"/><Relationship Id="rId5" Type="http://schemas.openxmlformats.org/officeDocument/2006/relationships/image" Target="../media/image58.png"/><Relationship Id="rId4" Type="http://schemas.openxmlformats.org/officeDocument/2006/relationships/image" Target="../media/image80.png"/></Relationships>
</file>

<file path=ppt/slides/_rels/slide87.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81.png"/><Relationship Id="rId7" Type="http://schemas.openxmlformats.org/officeDocument/2006/relationships/image" Target="../media/image83.png"/><Relationship Id="rId2" Type="http://schemas.openxmlformats.org/officeDocument/2006/relationships/notesSlide" Target="../notesSlides/notesSlide87.xml"/><Relationship Id="rId1" Type="http://schemas.openxmlformats.org/officeDocument/2006/relationships/slideLayout" Target="../slideLayouts/slideLayout4.xml"/><Relationship Id="rId6" Type="http://schemas.openxmlformats.org/officeDocument/2006/relationships/image" Target="../media/image72.png"/><Relationship Id="rId5" Type="http://schemas.openxmlformats.org/officeDocument/2006/relationships/image" Target="../media/image4.png"/><Relationship Id="rId4" Type="http://schemas.openxmlformats.org/officeDocument/2006/relationships/image" Target="../media/image82.png"/></Relationships>
</file>

<file path=ppt/slides/_rels/slide88.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88.xml"/><Relationship Id="rId1" Type="http://schemas.openxmlformats.org/officeDocument/2006/relationships/slideLayout" Target="../slideLayouts/slideLayout4.xml"/><Relationship Id="rId4" Type="http://schemas.openxmlformats.org/officeDocument/2006/relationships/image" Target="../media/image25.png"/></Relationships>
</file>

<file path=ppt/slides/_rels/slide8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9.xm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90.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1.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3" Type="http://schemas.openxmlformats.org/officeDocument/2006/relationships/image" Target="../media/image86.png"/><Relationship Id="rId7" Type="http://schemas.openxmlformats.org/officeDocument/2006/relationships/image" Target="../media/image83.png"/><Relationship Id="rId2" Type="http://schemas.openxmlformats.org/officeDocument/2006/relationships/notesSlide" Target="../notesSlides/notesSlide92.xml"/><Relationship Id="rId1" Type="http://schemas.openxmlformats.org/officeDocument/2006/relationships/slideLayout" Target="../slideLayouts/slideLayout4.xml"/><Relationship Id="rId6" Type="http://schemas.openxmlformats.org/officeDocument/2006/relationships/image" Target="../media/image89.png"/><Relationship Id="rId5" Type="http://schemas.openxmlformats.org/officeDocument/2006/relationships/image" Target="../media/image88.png"/><Relationship Id="rId4" Type="http://schemas.openxmlformats.org/officeDocument/2006/relationships/image" Target="../media/image87.png"/></Relationships>
</file>

<file path=ppt/slides/_rels/slide9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93.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94.xml"/><Relationship Id="rId1" Type="http://schemas.openxmlformats.org/officeDocument/2006/relationships/slideLayout" Target="../slideLayouts/slideLayout4.xml"/><Relationship Id="rId5" Type="http://schemas.openxmlformats.org/officeDocument/2006/relationships/image" Target="../media/image91.png"/><Relationship Id="rId4" Type="http://schemas.openxmlformats.org/officeDocument/2006/relationships/image" Target="../media/image20.png"/></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8" Type="http://schemas.openxmlformats.org/officeDocument/2006/relationships/image" Target="../media/image96.png"/><Relationship Id="rId3" Type="http://schemas.openxmlformats.org/officeDocument/2006/relationships/image" Target="../media/image92.png"/><Relationship Id="rId7" Type="http://schemas.openxmlformats.org/officeDocument/2006/relationships/image" Target="../media/image1.png"/><Relationship Id="rId2" Type="http://schemas.openxmlformats.org/officeDocument/2006/relationships/notesSlide" Target="../notesSlides/notesSlide98.xml"/><Relationship Id="rId1" Type="http://schemas.openxmlformats.org/officeDocument/2006/relationships/slideLayout" Target="../slideLayouts/slideLayout4.xml"/><Relationship Id="rId6" Type="http://schemas.openxmlformats.org/officeDocument/2006/relationships/image" Target="../media/image95.png"/><Relationship Id="rId5" Type="http://schemas.openxmlformats.org/officeDocument/2006/relationships/image" Target="../media/image94.png"/><Relationship Id="rId4" Type="http://schemas.openxmlformats.org/officeDocument/2006/relationships/image" Target="../media/image93.png"/><Relationship Id="rId9" Type="http://schemas.openxmlformats.org/officeDocument/2006/relationships/image" Target="../media/image55.png"/></Relationships>
</file>

<file path=ppt/slides/_rels/slide9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100.xml"/><Relationship Id="rId1" Type="http://schemas.openxmlformats.org/officeDocument/2006/relationships/slideLayout" Target="../slideLayouts/slideLayout4.xml"/><Relationship Id="rId4" Type="http://schemas.openxmlformats.org/officeDocument/2006/relationships/image" Target="../media/image25.png"/></Relationships>
</file>

<file path=ppt/slides/_rels/slide101.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101.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99.png"/><Relationship Id="rId7" Type="http://schemas.openxmlformats.org/officeDocument/2006/relationships/image" Target="../media/image101.png"/><Relationship Id="rId2" Type="http://schemas.openxmlformats.org/officeDocument/2006/relationships/notesSlide" Target="../notesSlides/notesSlide102.xml"/><Relationship Id="rId1" Type="http://schemas.openxmlformats.org/officeDocument/2006/relationships/slideLayout" Target="../slideLayouts/slideLayout4.xml"/><Relationship Id="rId6" Type="http://schemas.openxmlformats.org/officeDocument/2006/relationships/image" Target="../media/image50.png"/><Relationship Id="rId5" Type="http://schemas.openxmlformats.org/officeDocument/2006/relationships/image" Target="../media/image100.png"/><Relationship Id="rId4" Type="http://schemas.openxmlformats.org/officeDocument/2006/relationships/image" Target="../media/image33.png"/></Relationships>
</file>

<file path=ppt/slides/_rels/slide10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3.xml"/><Relationship Id="rId1" Type="http://schemas.openxmlformats.org/officeDocument/2006/relationships/slideLayout" Target="../slideLayouts/slideLayout4.xml"/></Relationships>
</file>

<file path=ppt/slides/_rels/slide10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104.xml"/><Relationship Id="rId1" Type="http://schemas.openxmlformats.org/officeDocument/2006/relationships/slideLayout" Target="../slideLayouts/slideLayout4.xml"/><Relationship Id="rId4" Type="http://schemas.openxmlformats.org/officeDocument/2006/relationships/image" Target="../media/image25.png"/></Relationships>
</file>

<file path=ppt/slides/_rels/slide105.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71.png"/><Relationship Id="rId7" Type="http://schemas.openxmlformats.org/officeDocument/2006/relationships/image" Target="../media/image73.png"/><Relationship Id="rId2" Type="http://schemas.openxmlformats.org/officeDocument/2006/relationships/notesSlide" Target="../notesSlides/notesSlide105.xml"/><Relationship Id="rId1" Type="http://schemas.openxmlformats.org/officeDocument/2006/relationships/slideLayout" Target="../slideLayouts/slideLayout4.xml"/><Relationship Id="rId6" Type="http://schemas.openxmlformats.org/officeDocument/2006/relationships/image" Target="../media/image103.png"/><Relationship Id="rId5" Type="http://schemas.openxmlformats.org/officeDocument/2006/relationships/image" Target="../media/image1.png"/><Relationship Id="rId4" Type="http://schemas.openxmlformats.org/officeDocument/2006/relationships/image" Target="../media/image102.png"/></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7.xml"/><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ólogo"/>
          <p:cNvSpPr/>
          <p:nvPr/>
        </p:nvSpPr>
        <p:spPr>
          <a:xfrm>
            <a:off x="731520" y="2103120"/>
            <a:ext cx="2011680" cy="2011680"/>
          </a:xfrm>
          <a:prstGeom prst="ellipse">
            <a:avLst/>
          </a:prstGeom>
          <a:solidFill>
            <a:schemeClr val="accent1"/>
          </a:solidFill>
          <a:ln/>
        </p:spPr>
      </p:sp>
      <p:pic>
        <p:nvPicPr>
          <p:cNvPr id="3" name="Image 0" descr="Prólogo"/>
          <p:cNvPicPr>
            <a:picLocks noChangeAspect="1"/>
          </p:cNvPicPr>
          <p:nvPr/>
        </p:nvPicPr>
        <p:blipFill>
          <a:blip r:embed="rId3"/>
          <a:stretch>
            <a:fillRect/>
          </a:stretch>
        </p:blipFill>
        <p:spPr>
          <a:xfrm>
            <a:off x="1214323" y="2585923"/>
            <a:ext cx="1046074" cy="1046074"/>
          </a:xfrm>
          <a:prstGeom prst="rect">
            <a:avLst/>
          </a:prstGeom>
        </p:spPr>
      </p:pic>
      <p:sp>
        <p:nvSpPr>
          <p:cNvPr id="4"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a:t>
            </a:r>
            <a:r>
              <a:rPr lang="en-US" sz="4000" b="1" dirty="0" err="1">
                <a:solidFill>
                  <a:schemeClr val="bg1"/>
                </a:solidFill>
              </a:rPr>
              <a:t>Qué</a:t>
            </a:r>
            <a:r>
              <a:rPr lang="en-US" sz="4000" b="1" dirty="0">
                <a:solidFill>
                  <a:schemeClr val="bg1"/>
                </a:solidFill>
              </a:rPr>
              <a:t> vamos a </a:t>
            </a:r>
            <a:r>
              <a:rPr lang="en-US" sz="4000" b="1" dirty="0" err="1">
                <a:solidFill>
                  <a:schemeClr val="bg1"/>
                </a:solidFill>
              </a:rPr>
              <a:t>hacer</a:t>
            </a:r>
            <a:r>
              <a:rPr lang="en-US" sz="4000" b="1" dirty="0">
                <a:solidFill>
                  <a:schemeClr val="bg1"/>
                </a:solidFill>
              </a:rPr>
              <a:t> hoy?</a:t>
            </a:r>
            <a:endParaRPr lang="en-US" sz="4000" dirty="0"/>
          </a:p>
        </p:txBody>
      </p:sp>
      <p:sp>
        <p:nvSpPr>
          <p:cNvPr id="5"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r>
              <a:rPr lang="en-US" sz="2400" dirty="0"/>
              <a:t>Desarrollo de las </a:t>
            </a:r>
            <a:r>
              <a:rPr lang="en-US" sz="2400" dirty="0" err="1"/>
              <a:t>habilidades</a:t>
            </a:r>
            <a:r>
              <a:rPr lang="en-US" sz="2400" dirty="0"/>
              <a:t> </a:t>
            </a:r>
            <a:r>
              <a:rPr lang="en-US" sz="2400" dirty="0" err="1"/>
              <a:t>creativas</a:t>
            </a:r>
            <a:r>
              <a:rPr lang="en-US" sz="2400" dirty="0"/>
              <a:t> e </a:t>
            </a:r>
            <a:r>
              <a:rPr lang="en-US" sz="2400" dirty="0" err="1"/>
              <a:t>innovadoras</a:t>
            </a:r>
            <a:r>
              <a:rPr lang="en-US" sz="2400" dirty="0"/>
              <a:t> con </a:t>
            </a:r>
            <a:r>
              <a:rPr lang="en-US" sz="2400" dirty="0" err="1"/>
              <a:t>herramientas</a:t>
            </a:r>
            <a:r>
              <a:rPr lang="en-US" sz="2400" dirty="0"/>
              <a:t> </a:t>
            </a:r>
            <a:r>
              <a:rPr lang="en-US" sz="2400" dirty="0" err="1"/>
              <a:t>ofimáticas</a:t>
            </a:r>
            <a:r>
              <a:rPr lang="en-US" sz="2400" dirty="0"/>
              <a:t> y de </a:t>
            </a:r>
            <a:r>
              <a:rPr lang="en-US" sz="2400" dirty="0" err="1"/>
              <a:t>inteligencia</a:t>
            </a:r>
            <a:r>
              <a:rPr lang="en-US" sz="2400" dirty="0"/>
              <a:t> artificial</a:t>
            </a:r>
          </a:p>
          <a:p>
            <a:pPr marL="0" indent="0">
              <a:buNone/>
            </a:pP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El objetivo</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Aprender a modelizar un proceso de innovación —ideación, selección y decisión— de una manera </a:t>
            </a:r>
            <a:r>
              <a:rPr lang="en-US" sz="3400" dirty="0" err="1">
                <a:solidFill>
                  <a:schemeClr val="bg1"/>
                </a:solidFill>
              </a:rPr>
              <a:t>estructurada</a:t>
            </a:r>
            <a:r>
              <a:rPr lang="en-US" sz="3400" dirty="0">
                <a:solidFill>
                  <a:schemeClr val="bg1"/>
                </a:solidFill>
              </a:rPr>
              <a:t>, </a:t>
            </a:r>
            <a:r>
              <a:rPr lang="en-US" sz="3400" b="1" dirty="0">
                <a:solidFill>
                  <a:schemeClr val="accent1"/>
                </a:solidFill>
              </a:rPr>
              <a:t>para poder presentarlo.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a:t>
            </a:r>
            <a:endParaRPr lang="en-US" sz="3200" dirty="0"/>
          </a:p>
        </p:txBody>
      </p:sp>
      <p:sp>
        <p:nvSpPr>
          <p:cNvPr id="3" name="Tarjeta"/>
          <p:cNvSpPr/>
          <p:nvPr/>
        </p:nvSpPr>
        <p:spPr>
          <a:xfrm>
            <a:off x="548640" y="1645920"/>
            <a:ext cx="1962851" cy="3566160"/>
          </a:xfrm>
          <a:prstGeom prst="roundRect">
            <a:avLst>
              <a:gd name="adj" fmla="val 6988"/>
            </a:avLst>
          </a:prstGeom>
          <a:solidFill>
            <a:schemeClr val="bg2"/>
          </a:solidFill>
          <a:ln/>
        </p:spPr>
      </p:sp>
      <p:sp>
        <p:nvSpPr>
          <p:cNvPr id="4" name="Text 2"/>
          <p:cNvSpPr txBox="1"/>
          <p:nvPr/>
        </p:nvSpPr>
        <p:spPr>
          <a:xfrm>
            <a:off x="1962851"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1</a:t>
            </a:r>
            <a:endParaRPr lang="en-US" sz="2200" dirty="0"/>
          </a:p>
        </p:txBody>
      </p:sp>
      <p:sp>
        <p:nvSpPr>
          <p:cNvPr id="5" name="Generar muchas ideas"/>
          <p:cNvSpPr/>
          <p:nvPr/>
        </p:nvSpPr>
        <p:spPr>
          <a:xfrm>
            <a:off x="822960" y="1920240"/>
            <a:ext cx="868680" cy="868680"/>
          </a:xfrm>
          <a:prstGeom prst="ellipse">
            <a:avLst/>
          </a:prstGeom>
          <a:solidFill>
            <a:schemeClr val="accent1"/>
          </a:solidFill>
          <a:ln/>
        </p:spPr>
      </p:sp>
      <p:pic>
        <p:nvPicPr>
          <p:cNvPr id="6" name="Image 0" descr="Generar muchas ideas"/>
          <p:cNvPicPr>
            <a:picLocks noChangeAspect="1"/>
          </p:cNvPicPr>
          <p:nvPr/>
        </p:nvPicPr>
        <p:blipFill>
          <a:blip r:embed="rId3"/>
          <a:stretch>
            <a:fillRect/>
          </a:stretch>
        </p:blipFill>
        <p:spPr>
          <a:xfrm>
            <a:off x="1031443" y="2128723"/>
            <a:ext cx="451714" cy="451714"/>
          </a:xfrm>
          <a:prstGeom prst="rect">
            <a:avLst/>
          </a:prstGeom>
        </p:spPr>
      </p:pic>
      <p:sp>
        <p:nvSpPr>
          <p:cNvPr id="7" name="Text 4"/>
          <p:cNvSpPr txBox="1"/>
          <p:nvPr/>
        </p:nvSpPr>
        <p:spPr>
          <a:xfrm>
            <a:off x="822960"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Generar muchas ideas</a:t>
            </a:r>
            <a:endParaRPr lang="en-US" sz="1900" dirty="0"/>
          </a:p>
        </p:txBody>
      </p:sp>
      <p:sp>
        <p:nvSpPr>
          <p:cNvPr id="8" name="Text 5"/>
          <p:cNvSpPr txBox="1"/>
          <p:nvPr/>
        </p:nvSpPr>
        <p:spPr>
          <a:xfrm>
            <a:off x="822960"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Brainstorming, SCAMPER y provocación</a:t>
            </a:r>
            <a:endParaRPr lang="en-US" sz="1500" dirty="0"/>
          </a:p>
        </p:txBody>
      </p:sp>
      <p:sp>
        <p:nvSpPr>
          <p:cNvPr id="9" name="Shape 6"/>
          <p:cNvSpPr/>
          <p:nvPr/>
        </p:nvSpPr>
        <p:spPr>
          <a:xfrm>
            <a:off x="2548067" y="3429000"/>
            <a:ext cx="246888" cy="0"/>
          </a:xfrm>
          <a:prstGeom prst="line">
            <a:avLst/>
          </a:prstGeom>
          <a:noFill/>
          <a:ln w="31750">
            <a:solidFill>
              <a:srgbClr val="3A4664"/>
            </a:solidFill>
            <a:prstDash val="solid"/>
            <a:tailEnd type="triangle"/>
          </a:ln>
        </p:spPr>
      </p:sp>
      <p:sp>
        <p:nvSpPr>
          <p:cNvPr id="10" name="Tarjeta"/>
          <p:cNvSpPr/>
          <p:nvPr/>
        </p:nvSpPr>
        <p:spPr>
          <a:xfrm>
            <a:off x="2831531" y="1645920"/>
            <a:ext cx="1962851" cy="3566160"/>
          </a:xfrm>
          <a:prstGeom prst="roundRect">
            <a:avLst>
              <a:gd name="adj" fmla="val 6988"/>
            </a:avLst>
          </a:prstGeom>
          <a:solidFill>
            <a:schemeClr val="bg2"/>
          </a:solidFill>
          <a:ln/>
        </p:spPr>
      </p:sp>
      <p:sp>
        <p:nvSpPr>
          <p:cNvPr id="11" name="Text 8"/>
          <p:cNvSpPr txBox="1"/>
          <p:nvPr/>
        </p:nvSpPr>
        <p:spPr>
          <a:xfrm>
            <a:off x="4245742"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2</a:t>
            </a:r>
            <a:endParaRPr lang="en-US" sz="2200" dirty="0"/>
          </a:p>
        </p:txBody>
      </p:sp>
      <p:sp>
        <p:nvSpPr>
          <p:cNvPr id="12" name="Seleccionar"/>
          <p:cNvSpPr/>
          <p:nvPr/>
        </p:nvSpPr>
        <p:spPr>
          <a:xfrm>
            <a:off x="3105851" y="1920240"/>
            <a:ext cx="868680" cy="868680"/>
          </a:xfrm>
          <a:prstGeom prst="ellipse">
            <a:avLst/>
          </a:prstGeom>
          <a:solidFill>
            <a:schemeClr val="accent1"/>
          </a:solidFill>
          <a:ln/>
        </p:spPr>
      </p:sp>
      <p:pic>
        <p:nvPicPr>
          <p:cNvPr id="13" name="Image 1" descr="Seleccionar"/>
          <p:cNvPicPr>
            <a:picLocks noChangeAspect="1"/>
          </p:cNvPicPr>
          <p:nvPr/>
        </p:nvPicPr>
        <p:blipFill>
          <a:blip r:embed="rId4"/>
          <a:stretch>
            <a:fillRect/>
          </a:stretch>
        </p:blipFill>
        <p:spPr>
          <a:xfrm>
            <a:off x="3314334" y="2128723"/>
            <a:ext cx="451714" cy="451714"/>
          </a:xfrm>
          <a:prstGeom prst="rect">
            <a:avLst/>
          </a:prstGeom>
        </p:spPr>
      </p:pic>
      <p:sp>
        <p:nvSpPr>
          <p:cNvPr id="14" name="Text 10"/>
          <p:cNvSpPr txBox="1"/>
          <p:nvPr/>
        </p:nvSpPr>
        <p:spPr>
          <a:xfrm>
            <a:off x="3105851"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Seleccionar</a:t>
            </a:r>
            <a:endParaRPr lang="en-US" sz="1900" dirty="0"/>
          </a:p>
        </p:txBody>
      </p:sp>
      <p:sp>
        <p:nvSpPr>
          <p:cNvPr id="15" name="Text 11"/>
          <p:cNvSpPr txBox="1"/>
          <p:nvPr/>
        </p:nvSpPr>
        <p:spPr>
          <a:xfrm>
            <a:off x="3105851"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Nos quedamos con las </a:t>
            </a:r>
            <a:r>
              <a:rPr lang="en-US" sz="1500" dirty="0" err="1">
                <a:solidFill>
                  <a:schemeClr val="tx2"/>
                </a:solidFill>
              </a:rPr>
              <a:t>que</a:t>
            </a:r>
            <a:r>
              <a:rPr lang="en-US" sz="1500" dirty="0">
                <a:solidFill>
                  <a:schemeClr val="tx2"/>
                </a:solidFill>
              </a:rPr>
              <a:t> realmente interesan</a:t>
            </a:r>
            <a:endParaRPr lang="en-US" sz="1500" dirty="0"/>
          </a:p>
        </p:txBody>
      </p:sp>
      <p:sp>
        <p:nvSpPr>
          <p:cNvPr id="16" name="Shape 12"/>
          <p:cNvSpPr/>
          <p:nvPr/>
        </p:nvSpPr>
        <p:spPr>
          <a:xfrm>
            <a:off x="4830958" y="3429000"/>
            <a:ext cx="246888" cy="0"/>
          </a:xfrm>
          <a:prstGeom prst="line">
            <a:avLst/>
          </a:prstGeom>
          <a:noFill/>
          <a:ln w="31750">
            <a:solidFill>
              <a:srgbClr val="3A4664"/>
            </a:solidFill>
            <a:prstDash val="solid"/>
            <a:tailEnd type="triangle"/>
          </a:ln>
        </p:spPr>
      </p:sp>
      <p:sp>
        <p:nvSpPr>
          <p:cNvPr id="17" name="Tarjeta"/>
          <p:cNvSpPr/>
          <p:nvPr/>
        </p:nvSpPr>
        <p:spPr>
          <a:xfrm>
            <a:off x="5114422" y="1645920"/>
            <a:ext cx="1962851" cy="3566160"/>
          </a:xfrm>
          <a:prstGeom prst="roundRect">
            <a:avLst>
              <a:gd name="adj" fmla="val 6988"/>
            </a:avLst>
          </a:prstGeom>
          <a:solidFill>
            <a:schemeClr val="bg2"/>
          </a:solidFill>
          <a:ln/>
        </p:spPr>
      </p:sp>
      <p:sp>
        <p:nvSpPr>
          <p:cNvPr id="18" name="Text 14"/>
          <p:cNvSpPr txBox="1"/>
          <p:nvPr/>
        </p:nvSpPr>
        <p:spPr>
          <a:xfrm>
            <a:off x="6528633"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3</a:t>
            </a:r>
            <a:endParaRPr lang="en-US" sz="2200" dirty="0"/>
          </a:p>
        </p:txBody>
      </p:sp>
      <p:sp>
        <p:nvSpPr>
          <p:cNvPr id="19" name="Comparar y elegir"/>
          <p:cNvSpPr/>
          <p:nvPr/>
        </p:nvSpPr>
        <p:spPr>
          <a:xfrm>
            <a:off x="5388742" y="1920240"/>
            <a:ext cx="868680" cy="868680"/>
          </a:xfrm>
          <a:prstGeom prst="ellipse">
            <a:avLst/>
          </a:prstGeom>
          <a:solidFill>
            <a:schemeClr val="accent1"/>
          </a:solidFill>
          <a:ln/>
        </p:spPr>
      </p:sp>
      <p:pic>
        <p:nvPicPr>
          <p:cNvPr id="20" name="Image 2" descr="Comparar y elegir"/>
          <p:cNvPicPr>
            <a:picLocks noChangeAspect="1"/>
          </p:cNvPicPr>
          <p:nvPr/>
        </p:nvPicPr>
        <p:blipFill>
          <a:blip r:embed="rId5"/>
          <a:stretch>
            <a:fillRect/>
          </a:stretch>
        </p:blipFill>
        <p:spPr>
          <a:xfrm>
            <a:off x="5597225" y="2128723"/>
            <a:ext cx="451714" cy="451714"/>
          </a:xfrm>
          <a:prstGeom prst="rect">
            <a:avLst/>
          </a:prstGeom>
        </p:spPr>
      </p:pic>
      <p:sp>
        <p:nvSpPr>
          <p:cNvPr id="21" name="Text 16"/>
          <p:cNvSpPr txBox="1"/>
          <p:nvPr/>
        </p:nvSpPr>
        <p:spPr>
          <a:xfrm>
            <a:off x="5388742"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Comparar y elegir</a:t>
            </a:r>
            <a:endParaRPr lang="en-US" sz="1900" dirty="0"/>
          </a:p>
        </p:txBody>
      </p:sp>
      <p:sp>
        <p:nvSpPr>
          <p:cNvPr id="22" name="Text 17"/>
          <p:cNvSpPr txBox="1"/>
          <p:nvPr/>
        </p:nvSpPr>
        <p:spPr>
          <a:xfrm>
            <a:off x="5388742"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Una matriz de decisión para elegir la ganadora</a:t>
            </a:r>
            <a:endParaRPr lang="en-US" sz="1500" dirty="0"/>
          </a:p>
        </p:txBody>
      </p:sp>
      <p:sp>
        <p:nvSpPr>
          <p:cNvPr id="23" name="Shape 18"/>
          <p:cNvSpPr/>
          <p:nvPr/>
        </p:nvSpPr>
        <p:spPr>
          <a:xfrm>
            <a:off x="7113849" y="3429000"/>
            <a:ext cx="246888" cy="0"/>
          </a:xfrm>
          <a:prstGeom prst="line">
            <a:avLst/>
          </a:prstGeom>
          <a:noFill/>
          <a:ln w="31750">
            <a:solidFill>
              <a:srgbClr val="3A4664"/>
            </a:solidFill>
            <a:prstDash val="solid"/>
            <a:tailEnd type="triangle"/>
          </a:ln>
        </p:spPr>
      </p:sp>
      <p:sp>
        <p:nvSpPr>
          <p:cNvPr id="24" name="Tarjeta"/>
          <p:cNvSpPr/>
          <p:nvPr/>
        </p:nvSpPr>
        <p:spPr>
          <a:xfrm>
            <a:off x="7397313" y="1645920"/>
            <a:ext cx="1962851" cy="3566160"/>
          </a:xfrm>
          <a:prstGeom prst="roundRect">
            <a:avLst>
              <a:gd name="adj" fmla="val 6988"/>
            </a:avLst>
          </a:prstGeom>
          <a:solidFill>
            <a:schemeClr val="bg2"/>
          </a:solidFill>
          <a:ln/>
        </p:spPr>
      </p:sp>
      <p:sp>
        <p:nvSpPr>
          <p:cNvPr id="25" name="Text 20"/>
          <p:cNvSpPr txBox="1"/>
          <p:nvPr/>
        </p:nvSpPr>
        <p:spPr>
          <a:xfrm>
            <a:off x="8811524"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4</a:t>
            </a:r>
            <a:endParaRPr lang="en-US" sz="2200" dirty="0"/>
          </a:p>
        </p:txBody>
      </p:sp>
      <p:sp>
        <p:nvSpPr>
          <p:cNvPr id="26" name="Documentar y desarrollar"/>
          <p:cNvSpPr/>
          <p:nvPr/>
        </p:nvSpPr>
        <p:spPr>
          <a:xfrm>
            <a:off x="7671633" y="1920240"/>
            <a:ext cx="868680" cy="868680"/>
          </a:xfrm>
          <a:prstGeom prst="ellipse">
            <a:avLst/>
          </a:prstGeom>
          <a:solidFill>
            <a:schemeClr val="accent1"/>
          </a:solidFill>
          <a:ln/>
        </p:spPr>
      </p:sp>
      <p:pic>
        <p:nvPicPr>
          <p:cNvPr id="27" name="Image 3" descr="Documentar y desarrollar"/>
          <p:cNvPicPr>
            <a:picLocks noChangeAspect="1"/>
          </p:cNvPicPr>
          <p:nvPr/>
        </p:nvPicPr>
        <p:blipFill>
          <a:blip r:embed="rId6"/>
          <a:stretch>
            <a:fillRect/>
          </a:stretch>
        </p:blipFill>
        <p:spPr>
          <a:xfrm>
            <a:off x="7880116" y="2128723"/>
            <a:ext cx="451714" cy="451714"/>
          </a:xfrm>
          <a:prstGeom prst="rect">
            <a:avLst/>
          </a:prstGeom>
        </p:spPr>
      </p:pic>
      <p:sp>
        <p:nvSpPr>
          <p:cNvPr id="28" name="Text 22"/>
          <p:cNvSpPr txBox="1"/>
          <p:nvPr/>
        </p:nvSpPr>
        <p:spPr>
          <a:xfrm>
            <a:off x="7671633"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Documentar y desarrollar</a:t>
            </a:r>
            <a:endParaRPr lang="en-US" sz="1900" dirty="0"/>
          </a:p>
        </p:txBody>
      </p:sp>
      <p:sp>
        <p:nvSpPr>
          <p:cNvPr id="29" name="Text 23"/>
          <p:cNvSpPr txBox="1"/>
          <p:nvPr/>
        </p:nvSpPr>
        <p:spPr>
          <a:xfrm>
            <a:off x="7671633"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La propuesta ganadora, por escrito</a:t>
            </a:r>
            <a:endParaRPr lang="en-US" sz="1500" dirty="0"/>
          </a:p>
        </p:txBody>
      </p:sp>
      <p:sp>
        <p:nvSpPr>
          <p:cNvPr id="30" name="Shape 24"/>
          <p:cNvSpPr/>
          <p:nvPr/>
        </p:nvSpPr>
        <p:spPr>
          <a:xfrm>
            <a:off x="9396740" y="3429000"/>
            <a:ext cx="246888" cy="0"/>
          </a:xfrm>
          <a:prstGeom prst="line">
            <a:avLst/>
          </a:prstGeom>
          <a:noFill/>
          <a:ln w="31750">
            <a:solidFill>
              <a:srgbClr val="3A4664"/>
            </a:solidFill>
            <a:prstDash val="solid"/>
            <a:tailEnd type="triangle"/>
          </a:ln>
        </p:spPr>
      </p:sp>
      <p:sp>
        <p:nvSpPr>
          <p:cNvPr id="31" name="Tarjeta"/>
          <p:cNvSpPr/>
          <p:nvPr/>
        </p:nvSpPr>
        <p:spPr>
          <a:xfrm>
            <a:off x="9680204" y="1645920"/>
            <a:ext cx="1962851" cy="3566160"/>
          </a:xfrm>
          <a:prstGeom prst="roundRect">
            <a:avLst>
              <a:gd name="adj" fmla="val 6988"/>
            </a:avLst>
          </a:prstGeom>
          <a:solidFill>
            <a:schemeClr val="bg2"/>
          </a:solidFill>
          <a:ln/>
        </p:spPr>
      </p:sp>
      <p:sp>
        <p:nvSpPr>
          <p:cNvPr id="32" name="Text 26"/>
          <p:cNvSpPr txBox="1"/>
          <p:nvPr/>
        </p:nvSpPr>
        <p:spPr>
          <a:xfrm>
            <a:off x="11094415"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5</a:t>
            </a:r>
            <a:endParaRPr lang="en-US" sz="2200" dirty="0"/>
          </a:p>
        </p:txBody>
      </p:sp>
      <p:sp>
        <p:nvSpPr>
          <p:cNvPr id="33" name="Presentar y defender"/>
          <p:cNvSpPr/>
          <p:nvPr/>
        </p:nvSpPr>
        <p:spPr>
          <a:xfrm>
            <a:off x="9954524" y="1920240"/>
            <a:ext cx="868680" cy="868680"/>
          </a:xfrm>
          <a:prstGeom prst="ellipse">
            <a:avLst/>
          </a:prstGeom>
          <a:solidFill>
            <a:schemeClr val="accent1"/>
          </a:solidFill>
          <a:ln/>
        </p:spPr>
      </p:sp>
      <p:pic>
        <p:nvPicPr>
          <p:cNvPr id="34" name="Image 4" descr="Presentar y defender"/>
          <p:cNvPicPr>
            <a:picLocks noChangeAspect="1"/>
          </p:cNvPicPr>
          <p:nvPr/>
        </p:nvPicPr>
        <p:blipFill>
          <a:blip r:embed="rId7"/>
          <a:stretch>
            <a:fillRect/>
          </a:stretch>
        </p:blipFill>
        <p:spPr>
          <a:xfrm>
            <a:off x="10163007" y="2128723"/>
            <a:ext cx="451714" cy="451714"/>
          </a:xfrm>
          <a:prstGeom prst="rect">
            <a:avLst/>
          </a:prstGeom>
        </p:spPr>
      </p:pic>
      <p:sp>
        <p:nvSpPr>
          <p:cNvPr id="35" name="Text 28"/>
          <p:cNvSpPr txBox="1"/>
          <p:nvPr/>
        </p:nvSpPr>
        <p:spPr>
          <a:xfrm>
            <a:off x="9954524"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Presentar y defender</a:t>
            </a:r>
            <a:endParaRPr lang="en-US" sz="1900" dirty="0"/>
          </a:p>
        </p:txBody>
      </p:sp>
      <p:sp>
        <p:nvSpPr>
          <p:cNvPr id="36" name="Text 29"/>
          <p:cNvSpPr txBox="1"/>
          <p:nvPr/>
        </p:nvSpPr>
        <p:spPr>
          <a:xfrm>
            <a:off x="9954524"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Ante el grupo</a:t>
            </a:r>
            <a:endParaRPr lang="en-US" sz="1500" dirty="0"/>
          </a:p>
        </p:txBody>
      </p:sp>
      <p:sp>
        <p:nvSpPr>
          <p:cNvPr id="3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¿Por qué hacerlo así?</a:t>
            </a:r>
            <a:endParaRPr lang="en-US" sz="3200" dirty="0"/>
          </a:p>
        </p:txBody>
      </p:sp>
      <p:sp>
        <p:nvSpPr>
          <p:cNvPr id="3" name="Tarjeta"/>
          <p:cNvSpPr/>
          <p:nvPr/>
        </p:nvSpPr>
        <p:spPr>
          <a:xfrm>
            <a:off x="548640" y="1554480"/>
            <a:ext cx="5318608" cy="3291840"/>
          </a:xfrm>
          <a:prstGeom prst="roundRect">
            <a:avLst>
              <a:gd name="adj" fmla="val 4167"/>
            </a:avLst>
          </a:prstGeom>
          <a:solidFill>
            <a:schemeClr val="bg2"/>
          </a:solidFill>
          <a:ln/>
        </p:spPr>
      </p:sp>
      <p:sp>
        <p:nvSpPr>
          <p:cNvPr id="4" name="Cuando lo hacéis vosotros"/>
          <p:cNvSpPr/>
          <p:nvPr/>
        </p:nvSpPr>
        <p:spPr>
          <a:xfrm>
            <a:off x="914400" y="1828800"/>
            <a:ext cx="1097280" cy="1097280"/>
          </a:xfrm>
          <a:prstGeom prst="ellipse">
            <a:avLst/>
          </a:prstGeom>
          <a:solidFill>
            <a:schemeClr val="tx2"/>
          </a:solidFill>
          <a:ln/>
        </p:spPr>
      </p:sp>
      <p:pic>
        <p:nvPicPr>
          <p:cNvPr id="5" name="Image 0" descr="Cuando lo hacéis vosotros"/>
          <p:cNvPicPr>
            <a:picLocks noChangeAspect="1"/>
          </p:cNvPicPr>
          <p:nvPr/>
        </p:nvPicPr>
        <p:blipFill>
          <a:blip r:embed="rId3"/>
          <a:stretch>
            <a:fillRect/>
          </a:stretch>
        </p:blipFill>
        <p:spPr>
          <a:xfrm>
            <a:off x="1177747" y="2092147"/>
            <a:ext cx="570586" cy="570586"/>
          </a:xfrm>
          <a:prstGeom prst="rect">
            <a:avLst/>
          </a:prstGeom>
        </p:spPr>
      </p:pic>
      <p:sp>
        <p:nvSpPr>
          <p:cNvPr id="6" name="Text 3"/>
          <p:cNvSpPr txBox="1"/>
          <p:nvPr/>
        </p:nvSpPr>
        <p:spPr>
          <a:xfrm>
            <a:off x="2240280" y="1828800"/>
            <a:ext cx="3352648" cy="1097280"/>
          </a:xfrm>
          <a:prstGeom prst="rect">
            <a:avLst/>
          </a:prstGeom>
          <a:noFill/>
          <a:ln/>
        </p:spPr>
        <p:txBody>
          <a:bodyPr wrap="square" lIns="0" tIns="0" rIns="0" bIns="0" rtlCol="0" anchor="ctr"/>
          <a:lstStyle/>
          <a:p>
            <a:pPr marL="0" indent="0">
              <a:buNone/>
            </a:pPr>
            <a:r>
              <a:rPr lang="en-US" sz="2400" b="1" dirty="0">
                <a:solidFill>
                  <a:schemeClr val="tx1"/>
                </a:solidFill>
              </a:rPr>
              <a:t>Cuando lo hacéis vosotros</a:t>
            </a:r>
            <a:endParaRPr lang="en-US" sz="2400" dirty="0"/>
          </a:p>
        </p:txBody>
      </p:sp>
      <p:sp>
        <p:nvSpPr>
          <p:cNvPr id="7" name="Text 4"/>
          <p:cNvSpPr txBox="1"/>
          <p:nvPr/>
        </p:nvSpPr>
        <p:spPr>
          <a:xfrm>
            <a:off x="914400" y="3154680"/>
            <a:ext cx="4587088" cy="1554480"/>
          </a:xfrm>
          <a:prstGeom prst="rect">
            <a:avLst/>
          </a:prstGeom>
          <a:noFill/>
          <a:ln/>
        </p:spPr>
        <p:txBody>
          <a:bodyPr wrap="square" lIns="0" tIns="0" rIns="0" bIns="0" rtlCol="0" anchor="t"/>
          <a:lstStyle/>
          <a:p>
            <a:pPr marL="0" indent="0">
              <a:buNone/>
            </a:pPr>
            <a:r>
              <a:rPr lang="en-US" sz="2000" dirty="0">
                <a:solidFill>
                  <a:schemeClr val="tx1"/>
                </a:solidFill>
              </a:rPr>
              <a:t>No escribís una sola línea: lo hacéis todo en la cabeza, en menos de un minuto. Veis las opciones y elegís.</a:t>
            </a:r>
            <a:endParaRPr lang="en-US" sz="2000" dirty="0"/>
          </a:p>
        </p:txBody>
      </p:sp>
      <p:sp>
        <p:nvSpPr>
          <p:cNvPr id="8" name="Tarjeta"/>
          <p:cNvSpPr/>
          <p:nvPr/>
        </p:nvSpPr>
        <p:spPr>
          <a:xfrm>
            <a:off x="6324448" y="1554480"/>
            <a:ext cx="5318608" cy="3291840"/>
          </a:xfrm>
          <a:prstGeom prst="roundRect">
            <a:avLst>
              <a:gd name="adj" fmla="val 4167"/>
            </a:avLst>
          </a:prstGeom>
          <a:solidFill>
            <a:schemeClr val="bg2"/>
          </a:solidFill>
          <a:ln/>
        </p:spPr>
      </p:sp>
      <p:sp>
        <p:nvSpPr>
          <p:cNvPr id="9" name="En un entorno profesional"/>
          <p:cNvSpPr/>
          <p:nvPr/>
        </p:nvSpPr>
        <p:spPr>
          <a:xfrm>
            <a:off x="6690208" y="1828800"/>
            <a:ext cx="1097280" cy="1097280"/>
          </a:xfrm>
          <a:prstGeom prst="ellipse">
            <a:avLst/>
          </a:prstGeom>
          <a:solidFill>
            <a:schemeClr val="accent1"/>
          </a:solidFill>
          <a:ln/>
        </p:spPr>
      </p:sp>
      <p:pic>
        <p:nvPicPr>
          <p:cNvPr id="10" name="Image 1" descr="En un entorno profesional"/>
          <p:cNvPicPr>
            <a:picLocks noChangeAspect="1"/>
          </p:cNvPicPr>
          <p:nvPr/>
        </p:nvPicPr>
        <p:blipFill>
          <a:blip r:embed="rId4"/>
          <a:stretch>
            <a:fillRect/>
          </a:stretch>
        </p:blipFill>
        <p:spPr>
          <a:xfrm>
            <a:off x="6953555" y="2092147"/>
            <a:ext cx="570586" cy="570586"/>
          </a:xfrm>
          <a:prstGeom prst="rect">
            <a:avLst/>
          </a:prstGeom>
        </p:spPr>
      </p:pic>
      <p:sp>
        <p:nvSpPr>
          <p:cNvPr id="11" name="Text 7"/>
          <p:cNvSpPr txBox="1"/>
          <p:nvPr/>
        </p:nvSpPr>
        <p:spPr>
          <a:xfrm>
            <a:off x="8016088" y="1828800"/>
            <a:ext cx="3352648" cy="1097280"/>
          </a:xfrm>
          <a:prstGeom prst="rect">
            <a:avLst/>
          </a:prstGeom>
          <a:noFill/>
          <a:ln/>
        </p:spPr>
        <p:txBody>
          <a:bodyPr wrap="square" lIns="0" tIns="0" rIns="0" bIns="0" rtlCol="0" anchor="ctr"/>
          <a:lstStyle/>
          <a:p>
            <a:pPr marL="0" indent="0">
              <a:buNone/>
            </a:pPr>
            <a:r>
              <a:rPr lang="en-US" sz="2400" b="1" dirty="0">
                <a:solidFill>
                  <a:schemeClr val="tx1"/>
                </a:solidFill>
              </a:rPr>
              <a:t>En un entorno profesional</a:t>
            </a:r>
            <a:endParaRPr lang="en-US" sz="2400" dirty="0"/>
          </a:p>
        </p:txBody>
      </p:sp>
      <p:sp>
        <p:nvSpPr>
          <p:cNvPr id="12" name="Text 8"/>
          <p:cNvSpPr txBox="1"/>
          <p:nvPr/>
        </p:nvSpPr>
        <p:spPr>
          <a:xfrm>
            <a:off x="6690208" y="3154680"/>
            <a:ext cx="4587088" cy="1554480"/>
          </a:xfrm>
          <a:prstGeom prst="rect">
            <a:avLst/>
          </a:prstGeom>
          <a:noFill/>
          <a:ln/>
        </p:spPr>
        <p:txBody>
          <a:bodyPr wrap="square" lIns="0" tIns="0" rIns="0" bIns="0" rtlCol="0" anchor="t"/>
          <a:lstStyle/>
          <a:p>
            <a:pPr marL="0" indent="0">
              <a:buNone/>
            </a:pPr>
            <a:r>
              <a:rPr lang="en-US" sz="2000" dirty="0">
                <a:solidFill>
                  <a:schemeClr val="tx1"/>
                </a:solidFill>
              </a:rPr>
              <a:t>Para poder comunicarlo, hay que hacerlo de esta otra manera: visible y por pasos.</a:t>
            </a:r>
            <a:endParaRPr lang="en-US" sz="2000" dirty="0"/>
          </a:p>
        </p:txBody>
      </p:sp>
      <p:sp>
        <p:nvSpPr>
          <p:cNvPr id="13" name="Shape 9"/>
          <p:cNvSpPr/>
          <p:nvPr/>
        </p:nvSpPr>
        <p:spPr>
          <a:xfrm>
            <a:off x="5922112" y="3200400"/>
            <a:ext cx="347472" cy="0"/>
          </a:xfrm>
          <a:prstGeom prst="line">
            <a:avLst/>
          </a:prstGeom>
          <a:noFill/>
          <a:ln w="38100">
            <a:solidFill>
              <a:srgbClr val="3A4664"/>
            </a:solidFill>
            <a:prstDash val="solid"/>
            <a:tailEnd type="triangle"/>
          </a:ln>
        </p:spPr>
      </p:sp>
      <p:sp>
        <p:nvSpPr>
          <p:cNvPr id="14" name="Text 10"/>
          <p:cNvSpPr txBox="1"/>
          <p:nvPr/>
        </p:nvSpPr>
        <p:spPr>
          <a:xfrm>
            <a:off x="548640" y="5212080"/>
            <a:ext cx="11094415" cy="548640"/>
          </a:xfrm>
          <a:prstGeom prst="rect">
            <a:avLst/>
          </a:prstGeom>
          <a:noFill/>
          <a:ln/>
        </p:spPr>
        <p:txBody>
          <a:bodyPr wrap="square" lIns="0" tIns="0" rIns="0" bIns="0" rtlCol="0" anchor="ctr"/>
          <a:lstStyle/>
          <a:p>
            <a:pPr marL="0" indent="0">
              <a:buNone/>
            </a:pPr>
            <a:r>
              <a:rPr lang="en-US" sz="2200" b="1" dirty="0">
                <a:solidFill>
                  <a:schemeClr val="accent3"/>
                </a:solidFill>
              </a:rPr>
              <a:t>Hay muchas maneras de hacerlo. Esta es una de ellas.</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lIns="0" tIns="0" rIns="0" bIns="0" rtlCol="0" anchor="b"/>
          <a:lstStyle/>
          <a:p>
            <a:pPr marL="0" indent="0" algn="l">
              <a:buNone/>
            </a:pPr>
            <a:r>
              <a:rPr lang="en-US" sz="4400" b="1" dirty="0">
                <a:solidFill>
                  <a:schemeClr val="bg1"/>
                </a:solidFill>
              </a:rPr>
              <a:t>Creatividad, ofimática e IA</a:t>
            </a: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lIns="0" tIns="0" rIns="0" bIns="0" rtlCol="0" anchor="t"/>
          <a:lstStyle/>
          <a:p>
            <a:pPr marL="0" indent="0">
              <a:buNone/>
            </a:pPr>
            <a:r>
              <a:rPr lang="en-US" sz="2000" dirty="0">
                <a:solidFill>
                  <a:schemeClr val="accent1"/>
                </a:solidFill>
              </a:rPr>
              <a:t>Desarrollo de las habilidades creativas e innovadoras con herramientas ofimáticas y de inteligencia artificial</a:t>
            </a:r>
            <a:endParaRPr lang="en-US" sz="2000" dirty="0"/>
          </a:p>
        </p:txBody>
      </p:sp>
      <p:sp>
        <p:nvSpPr>
          <p:cNvPr id="4" name="Bombilla"/>
          <p:cNvSpPr/>
          <p:nvPr/>
        </p:nvSpPr>
        <p:spPr>
          <a:xfrm>
            <a:off x="8869680" y="1828800"/>
            <a:ext cx="2743200" cy="2743200"/>
          </a:xfrm>
          <a:prstGeom prst="ellipse">
            <a:avLst/>
          </a:prstGeom>
          <a:solidFill>
            <a:schemeClr val="accent1"/>
          </a:solidFill>
          <a:ln/>
        </p:spPr>
      </p:sp>
      <p:pic>
        <p:nvPicPr>
          <p:cNvPr id="5" name="Image 0" descr="Bombilla"/>
          <p:cNvPicPr>
            <a:picLocks noChangeAspect="1"/>
          </p:cNvPicPr>
          <p:nvPr/>
        </p:nvPicPr>
        <p:blipFill>
          <a:blip r:embed="rId3"/>
          <a:stretch>
            <a:fillRect/>
          </a:stretch>
        </p:blipFill>
        <p:spPr>
          <a:xfrm>
            <a:off x="9528048" y="2487168"/>
            <a:ext cx="1426464" cy="1426464"/>
          </a:xfrm>
          <a:prstGeom prst="rect">
            <a:avLst/>
          </a:prstGeom>
        </p:spPr>
      </p:pic>
      <p:sp>
        <p:nvSpPr>
          <p:cNvPr id="6" name="Text 3"/>
          <p:cNvSpPr txBox="1"/>
          <p:nvPr/>
        </p:nvSpPr>
        <p:spPr>
          <a:xfrm>
            <a:off x="548640" y="5760720"/>
            <a:ext cx="5486400" cy="457200"/>
          </a:xfrm>
          <a:prstGeom prst="rect">
            <a:avLst/>
          </a:prstGeom>
          <a:noFill/>
          <a:ln/>
        </p:spPr>
        <p:txBody>
          <a:bodyPr wrap="square" lIns="0" tIns="0" rIns="0" bIns="0" rtlCol="0" anchor="ctr"/>
          <a:lstStyle/>
          <a:p>
            <a:pPr marL="0" indent="0">
              <a:buNone/>
            </a:pPr>
            <a:r>
              <a:rPr lang="en-US" sz="1600" dirty="0">
                <a:solidFill>
                  <a:schemeClr val="accent5"/>
                </a:solidFill>
              </a:rPr>
              <a:t>Taller práctico · 5 horas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1</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Activación de la creatividad y brainstorming</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45 minutos</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473175" y="2331720"/>
            <a:ext cx="9245346" cy="0"/>
          </a:xfrm>
          <a:prstGeom prst="line">
            <a:avLst/>
          </a:prstGeom>
          <a:noFill/>
          <a:ln w="50800">
            <a:solidFill>
              <a:srgbClr val="F2F4F8"/>
            </a:solidFill>
            <a:prstDash val="solid"/>
          </a:ln>
        </p:spPr>
      </p:sp>
      <p:sp>
        <p:nvSpPr>
          <p:cNvPr id="4" name="Paso 1"/>
          <p:cNvSpPr/>
          <p:nvPr/>
        </p:nvSpPr>
        <p:spPr>
          <a:xfrm>
            <a:off x="901675" y="1760220"/>
            <a:ext cx="1143000" cy="1143000"/>
          </a:xfrm>
          <a:prstGeom prst="ellipse">
            <a:avLst/>
          </a:prstGeom>
          <a:solidFill>
            <a:schemeClr val="tx2"/>
          </a:solidFill>
          <a:ln/>
        </p:spPr>
      </p:sp>
      <p:sp>
        <p:nvSpPr>
          <p:cNvPr id="5" name="Text 3"/>
          <p:cNvSpPr txBox="1"/>
          <p:nvPr/>
        </p:nvSpPr>
        <p:spPr>
          <a:xfrm>
            <a:off x="901675"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0–10</a:t>
            </a:r>
            <a:endParaRPr lang="en-US" sz="1800" dirty="0"/>
          </a:p>
        </p:txBody>
      </p:sp>
      <p:sp>
        <p:nvSpPr>
          <p:cNvPr id="6" name="Text 4"/>
          <p:cNvSpPr txBox="1"/>
          <p:nvPr/>
        </p:nvSpPr>
        <p:spPr>
          <a:xfrm>
            <a:off x="640080"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Creatividad, innovación y competencia digital</a:t>
            </a:r>
            <a:endParaRPr lang="en-US" sz="1600" dirty="0"/>
          </a:p>
        </p:txBody>
      </p:sp>
      <p:sp>
        <p:nvSpPr>
          <p:cNvPr id="7" name="Paso 2"/>
          <p:cNvSpPr/>
          <p:nvPr/>
        </p:nvSpPr>
        <p:spPr>
          <a:xfrm>
            <a:off x="2750744" y="1760220"/>
            <a:ext cx="1143000" cy="1143000"/>
          </a:xfrm>
          <a:prstGeom prst="ellipse">
            <a:avLst/>
          </a:prstGeom>
          <a:solidFill>
            <a:schemeClr val="tx2"/>
          </a:solidFill>
          <a:ln/>
        </p:spPr>
      </p:sp>
      <p:sp>
        <p:nvSpPr>
          <p:cNvPr id="8" name="Text 6"/>
          <p:cNvSpPr txBox="1"/>
          <p:nvPr/>
        </p:nvSpPr>
        <p:spPr>
          <a:xfrm>
            <a:off x="2750744"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10–15</a:t>
            </a:r>
            <a:endParaRPr lang="en-US" sz="1800" dirty="0"/>
          </a:p>
        </p:txBody>
      </p:sp>
      <p:sp>
        <p:nvSpPr>
          <p:cNvPr id="9" name="Text 7"/>
          <p:cNvSpPr txBox="1"/>
          <p:nvPr/>
        </p:nvSpPr>
        <p:spPr>
          <a:xfrm>
            <a:off x="2489149"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Abrir y cerrar: divergir y converger</a:t>
            </a:r>
            <a:endParaRPr lang="en-US" sz="1600" dirty="0"/>
          </a:p>
        </p:txBody>
      </p:sp>
      <p:sp>
        <p:nvSpPr>
          <p:cNvPr id="10" name="Paso 3"/>
          <p:cNvSpPr/>
          <p:nvPr/>
        </p:nvSpPr>
        <p:spPr>
          <a:xfrm>
            <a:off x="4599813" y="1760220"/>
            <a:ext cx="1143000" cy="1143000"/>
          </a:xfrm>
          <a:prstGeom prst="ellipse">
            <a:avLst/>
          </a:prstGeom>
          <a:solidFill>
            <a:schemeClr val="tx2"/>
          </a:solidFill>
          <a:ln/>
        </p:spPr>
      </p:sp>
      <p:sp>
        <p:nvSpPr>
          <p:cNvPr id="11" name="Text 9"/>
          <p:cNvSpPr txBox="1"/>
          <p:nvPr/>
        </p:nvSpPr>
        <p:spPr>
          <a:xfrm>
            <a:off x="4599813"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15–20</a:t>
            </a:r>
            <a:endParaRPr lang="en-US" sz="1800" dirty="0"/>
          </a:p>
        </p:txBody>
      </p:sp>
      <p:sp>
        <p:nvSpPr>
          <p:cNvPr id="12" name="Text 10"/>
          <p:cNvSpPr txBox="1"/>
          <p:nvPr/>
        </p:nvSpPr>
        <p:spPr>
          <a:xfrm>
            <a:off x="4338218"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La técnica: brainstorming</a:t>
            </a:r>
            <a:endParaRPr lang="en-US" sz="1600" dirty="0"/>
          </a:p>
        </p:txBody>
      </p:sp>
      <p:sp>
        <p:nvSpPr>
          <p:cNvPr id="13" name="Paso 4"/>
          <p:cNvSpPr/>
          <p:nvPr/>
        </p:nvSpPr>
        <p:spPr>
          <a:xfrm>
            <a:off x="6448882" y="1760220"/>
            <a:ext cx="1143000" cy="1143000"/>
          </a:xfrm>
          <a:prstGeom prst="ellipse">
            <a:avLst/>
          </a:prstGeom>
          <a:solidFill>
            <a:schemeClr val="accent1"/>
          </a:solidFill>
          <a:ln/>
        </p:spPr>
      </p:sp>
      <p:sp>
        <p:nvSpPr>
          <p:cNvPr id="14" name="Text 12"/>
          <p:cNvSpPr txBox="1"/>
          <p:nvPr/>
        </p:nvSpPr>
        <p:spPr>
          <a:xfrm>
            <a:off x="6448882" y="1760220"/>
            <a:ext cx="1143000" cy="1143000"/>
          </a:xfrm>
          <a:prstGeom prst="rect">
            <a:avLst/>
          </a:prstGeom>
          <a:noFill/>
          <a:ln/>
        </p:spPr>
        <p:txBody>
          <a:bodyPr wrap="square" lIns="0" tIns="0" rIns="0" bIns="0" rtlCol="0" anchor="ctr"/>
          <a:lstStyle/>
          <a:p>
            <a:pPr marL="0" indent="0" algn="ctr">
              <a:buNone/>
            </a:pPr>
            <a:r>
              <a:rPr lang="en-US" sz="1800" b="1" dirty="0">
                <a:solidFill>
                  <a:schemeClr val="tx1"/>
                </a:solidFill>
              </a:rPr>
              <a:t>20–30</a:t>
            </a:r>
            <a:endParaRPr lang="en-US" sz="1800" dirty="0"/>
          </a:p>
        </p:txBody>
      </p:sp>
      <p:sp>
        <p:nvSpPr>
          <p:cNvPr id="15" name="Text 13"/>
          <p:cNvSpPr txBox="1"/>
          <p:nvPr/>
        </p:nvSpPr>
        <p:spPr>
          <a:xfrm>
            <a:off x="6187288"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Ejercicio 1: ideas del grupo</a:t>
            </a:r>
            <a:endParaRPr lang="en-US" sz="1600" dirty="0"/>
          </a:p>
        </p:txBody>
      </p:sp>
      <p:sp>
        <p:nvSpPr>
          <p:cNvPr id="16" name="Paso 5"/>
          <p:cNvSpPr/>
          <p:nvPr/>
        </p:nvSpPr>
        <p:spPr>
          <a:xfrm>
            <a:off x="8297951" y="1760220"/>
            <a:ext cx="1143000" cy="1143000"/>
          </a:xfrm>
          <a:prstGeom prst="ellipse">
            <a:avLst/>
          </a:prstGeom>
          <a:solidFill>
            <a:schemeClr val="accent2"/>
          </a:solidFill>
          <a:ln/>
        </p:spPr>
      </p:sp>
      <p:sp>
        <p:nvSpPr>
          <p:cNvPr id="17" name="Text 15"/>
          <p:cNvSpPr txBox="1"/>
          <p:nvPr/>
        </p:nvSpPr>
        <p:spPr>
          <a:xfrm>
            <a:off x="8297951"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30–38</a:t>
            </a:r>
            <a:endParaRPr lang="en-US" sz="1800" dirty="0"/>
          </a:p>
        </p:txBody>
      </p:sp>
      <p:sp>
        <p:nvSpPr>
          <p:cNvPr id="18" name="Text 16"/>
          <p:cNvSpPr txBox="1"/>
          <p:nvPr/>
        </p:nvSpPr>
        <p:spPr>
          <a:xfrm>
            <a:off x="8036357"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Ejercicio 1: ideas con IA</a:t>
            </a:r>
            <a:endParaRPr lang="en-US" sz="1600" dirty="0"/>
          </a:p>
        </p:txBody>
      </p:sp>
      <p:sp>
        <p:nvSpPr>
          <p:cNvPr id="19" name="Paso 6"/>
          <p:cNvSpPr/>
          <p:nvPr/>
        </p:nvSpPr>
        <p:spPr>
          <a:xfrm>
            <a:off x="10147021" y="1760220"/>
            <a:ext cx="1143000" cy="1143000"/>
          </a:xfrm>
          <a:prstGeom prst="ellipse">
            <a:avLst/>
          </a:prstGeom>
          <a:solidFill>
            <a:schemeClr val="tx2"/>
          </a:solidFill>
          <a:ln/>
        </p:spPr>
      </p:sp>
      <p:sp>
        <p:nvSpPr>
          <p:cNvPr id="20" name="Text 18"/>
          <p:cNvSpPr txBox="1"/>
          <p:nvPr/>
        </p:nvSpPr>
        <p:spPr>
          <a:xfrm>
            <a:off x="10147021"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38–45</a:t>
            </a:r>
            <a:endParaRPr lang="en-US" sz="1800" dirty="0"/>
          </a:p>
        </p:txBody>
      </p:sp>
      <p:sp>
        <p:nvSpPr>
          <p:cNvPr id="21" name="Text 19"/>
          <p:cNvSpPr txBox="1"/>
          <p:nvPr/>
        </p:nvSpPr>
        <p:spPr>
          <a:xfrm>
            <a:off x="9885426"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Comparamos y cerramos</a:t>
            </a:r>
            <a:endParaRPr lang="en-US" sz="1600" dirty="0"/>
          </a:p>
        </p:txBody>
      </p:sp>
      <p:sp>
        <p:nvSpPr>
          <p:cNvPr id="22" name="Personas"/>
          <p:cNvSpPr/>
          <p:nvPr/>
        </p:nvSpPr>
        <p:spPr>
          <a:xfrm>
            <a:off x="548640" y="4846320"/>
            <a:ext cx="548640" cy="548640"/>
          </a:xfrm>
          <a:prstGeom prst="ellipse">
            <a:avLst/>
          </a:prstGeom>
          <a:solidFill>
            <a:schemeClr val="accent1"/>
          </a:solidFill>
          <a:ln/>
        </p:spPr>
      </p:sp>
      <p:pic>
        <p:nvPicPr>
          <p:cNvPr id="23" name="Image 0" descr="Personas"/>
          <p:cNvPicPr>
            <a:picLocks noChangeAspect="1"/>
          </p:cNvPicPr>
          <p:nvPr/>
        </p:nvPicPr>
        <p:blipFill>
          <a:blip r:embed="rId3"/>
          <a:stretch>
            <a:fillRect/>
          </a:stretch>
        </p:blipFill>
        <p:spPr>
          <a:xfrm>
            <a:off x="680314" y="4977994"/>
            <a:ext cx="285293" cy="285293"/>
          </a:xfrm>
          <a:prstGeom prst="rect">
            <a:avLst/>
          </a:prstGeom>
        </p:spPr>
      </p:pic>
      <p:sp>
        <p:nvSpPr>
          <p:cNvPr id="24" name="Text 21"/>
          <p:cNvSpPr txBox="1"/>
          <p:nvPr/>
        </p:nvSpPr>
        <p:spPr>
          <a:xfrm>
            <a:off x="123444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Ámbar: pensamos las personas</a:t>
            </a:r>
            <a:endParaRPr lang="en-US" sz="1600" dirty="0"/>
          </a:p>
        </p:txBody>
      </p:sp>
      <p:sp>
        <p:nvSpPr>
          <p:cNvPr id="25" name="IA"/>
          <p:cNvSpPr/>
          <p:nvPr/>
        </p:nvSpPr>
        <p:spPr>
          <a:xfrm>
            <a:off x="5394960" y="4846320"/>
            <a:ext cx="548640" cy="548640"/>
          </a:xfrm>
          <a:prstGeom prst="ellipse">
            <a:avLst/>
          </a:prstGeom>
          <a:solidFill>
            <a:schemeClr val="accent2"/>
          </a:solidFill>
          <a:ln/>
        </p:spPr>
      </p:sp>
      <p:pic>
        <p:nvPicPr>
          <p:cNvPr id="26" name="Image 1" descr="IA"/>
          <p:cNvPicPr>
            <a:picLocks noChangeAspect="1"/>
          </p:cNvPicPr>
          <p:nvPr/>
        </p:nvPicPr>
        <p:blipFill>
          <a:blip r:embed="rId4"/>
          <a:stretch>
            <a:fillRect/>
          </a:stretch>
        </p:blipFill>
        <p:spPr>
          <a:xfrm>
            <a:off x="5526634" y="4977994"/>
            <a:ext cx="285293" cy="285293"/>
          </a:xfrm>
          <a:prstGeom prst="rect">
            <a:avLst/>
          </a:prstGeom>
        </p:spPr>
      </p:pic>
      <p:sp>
        <p:nvSpPr>
          <p:cNvPr id="27" name="Text 23"/>
          <p:cNvSpPr txBox="1"/>
          <p:nvPr/>
        </p:nvSpPr>
        <p:spPr>
          <a:xfrm>
            <a:off x="608076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Verde: trabajamos con la IA</a:t>
            </a:r>
            <a:endParaRPr lang="en-US" sz="1600" dirty="0"/>
          </a:p>
        </p:txBody>
      </p:sp>
      <p:sp>
        <p:nvSpPr>
          <p:cNvPr id="28"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Mañana empezáis a trabajar en una empresa. Hay un procedimiento que siempre se ha hecho igual, pero que consume muchísimo tiempo.</a:t>
            </a:r>
            <a:endParaRPr lang="en-US" sz="3400" dirty="0"/>
          </a:p>
          <a:p>
            <a:pPr marL="0" indent="0">
              <a:buNone/>
            </a:pPr>
            <a:r>
              <a:rPr lang="en-US" sz="3400" b="1" dirty="0">
                <a:solidFill>
                  <a:schemeClr val="accent1"/>
                </a:solidFill>
              </a:rPr>
              <a:t>¿Lo repetiríais o buscaríais una manera mejor?</a:t>
            </a:r>
            <a:endParaRPr lang="en-US" sz="3400" dirty="0"/>
          </a:p>
        </p:txBody>
      </p:sp>
      <p:sp>
        <p:nvSpPr>
          <p:cNvPr id="3" name="Etiqueta de tiempo"/>
          <p:cNvSpPr/>
          <p:nvPr/>
        </p:nvSpPr>
        <p:spPr>
          <a:xfrm>
            <a:off x="8662111" y="548640"/>
            <a:ext cx="2980944" cy="457200"/>
          </a:xfrm>
          <a:prstGeom prst="roundRect">
            <a:avLst>
              <a:gd name="adj" fmla="val 50000"/>
            </a:avLst>
          </a:prstGeom>
          <a:solidFill>
            <a:schemeClr val="accent1"/>
          </a:solidFill>
          <a:ln/>
        </p:spPr>
      </p:sp>
      <p:sp>
        <p:nvSpPr>
          <p:cNvPr id="4" name="Text 2"/>
          <p:cNvSpPr txBox="1"/>
          <p:nvPr/>
        </p:nvSpPr>
        <p:spPr>
          <a:xfrm>
            <a:off x="8662111" y="548640"/>
            <a:ext cx="2980944" cy="457200"/>
          </a:xfrm>
          <a:prstGeom prst="rect">
            <a:avLst/>
          </a:prstGeom>
          <a:noFill/>
          <a:ln/>
        </p:spPr>
        <p:txBody>
          <a:bodyPr wrap="square" lIns="0" tIns="0" rIns="0" bIns="0" rtlCol="0" anchor="ctr"/>
          <a:lstStyle/>
          <a:p>
            <a:pPr marL="0" indent="0" algn="ctr">
              <a:buNone/>
            </a:pPr>
            <a:r>
              <a:rPr lang="en-US" sz="1400" b="1" dirty="0">
                <a:solidFill>
                  <a:schemeClr val="tx1"/>
                </a:solidFill>
              </a:rPr>
              <a:t>Min. 0–3 · Todo el grupo</a:t>
            </a:r>
            <a:endParaRPr lang="en-US" sz="1400" dirty="0"/>
          </a:p>
        </p:txBody>
      </p:sp>
      <p:sp>
        <p:nvSpPr>
          <p:cNvPr id="5" name="Text 3"/>
          <p:cNvSpPr txBox="1"/>
          <p:nvPr/>
        </p:nvSpPr>
        <p:spPr>
          <a:xfrm>
            <a:off x="1097280" y="4892040"/>
            <a:ext cx="5486400" cy="411480"/>
          </a:xfrm>
          <a:prstGeom prst="rect">
            <a:avLst/>
          </a:prstGeom>
          <a:noFill/>
          <a:ln/>
        </p:spPr>
        <p:txBody>
          <a:bodyPr wrap="square" lIns="0" tIns="0" rIns="0" bIns="0" rtlCol="0" anchor="ctr"/>
          <a:lstStyle/>
          <a:p>
            <a:pPr marL="0" indent="0">
              <a:buNone/>
            </a:pPr>
            <a:r>
              <a:rPr lang="en-US" sz="1600" dirty="0">
                <a:solidFill>
                  <a:schemeClr val="accent5"/>
                </a:solidFill>
              </a:rPr>
              <a:t>Votación a mano alzada</a:t>
            </a:r>
            <a:endParaRPr lang="en-US" sz="1600" dirty="0"/>
          </a:p>
        </p:txBody>
      </p:sp>
      <p:sp>
        <p:nvSpPr>
          <p:cNvPr id="6" name="Opción 1"/>
          <p:cNvSpPr/>
          <p:nvPr/>
        </p:nvSpPr>
        <p:spPr>
          <a:xfrm>
            <a:off x="1097280" y="5394960"/>
            <a:ext cx="4206240" cy="685800"/>
          </a:xfrm>
          <a:prstGeom prst="roundRect">
            <a:avLst>
              <a:gd name="adj" fmla="val 50000"/>
            </a:avLst>
          </a:prstGeom>
          <a:solidFill>
            <a:schemeClr val="tx2"/>
          </a:solidFill>
          <a:ln/>
        </p:spPr>
      </p:sp>
      <p:sp>
        <p:nvSpPr>
          <p:cNvPr id="7" name="Lo repito tal cual"/>
          <p:cNvSpPr/>
          <p:nvPr/>
        </p:nvSpPr>
        <p:spPr>
          <a:xfrm>
            <a:off x="1207008" y="5468112"/>
            <a:ext cx="548640" cy="548640"/>
          </a:xfrm>
          <a:prstGeom prst="ellipse">
            <a:avLst/>
          </a:prstGeom>
          <a:solidFill>
            <a:schemeClr val="accent1"/>
          </a:solidFill>
          <a:ln/>
        </p:spPr>
      </p:sp>
      <p:pic>
        <p:nvPicPr>
          <p:cNvPr id="8" name="Image 0" descr="Lo repito tal cual"/>
          <p:cNvPicPr>
            <a:picLocks noChangeAspect="1"/>
          </p:cNvPicPr>
          <p:nvPr/>
        </p:nvPicPr>
        <p:blipFill>
          <a:blip r:embed="rId3"/>
          <a:stretch>
            <a:fillRect/>
          </a:stretch>
        </p:blipFill>
        <p:spPr>
          <a:xfrm>
            <a:off x="1338682" y="5599786"/>
            <a:ext cx="285293" cy="285293"/>
          </a:xfrm>
          <a:prstGeom prst="rect">
            <a:avLst/>
          </a:prstGeom>
        </p:spPr>
      </p:pic>
      <p:sp>
        <p:nvSpPr>
          <p:cNvPr id="9" name="Text 6"/>
          <p:cNvSpPr txBox="1"/>
          <p:nvPr/>
        </p:nvSpPr>
        <p:spPr>
          <a:xfrm>
            <a:off x="1874520" y="5394960"/>
            <a:ext cx="3291840" cy="685800"/>
          </a:xfrm>
          <a:prstGeom prst="rect">
            <a:avLst/>
          </a:prstGeom>
          <a:noFill/>
          <a:ln/>
        </p:spPr>
        <p:txBody>
          <a:bodyPr wrap="square" lIns="0" tIns="0" rIns="0" bIns="0" rtlCol="0" anchor="ctr"/>
          <a:lstStyle/>
          <a:p>
            <a:pPr marL="0" indent="0">
              <a:buNone/>
            </a:pPr>
            <a:r>
              <a:rPr lang="en-US" sz="1800" dirty="0">
                <a:solidFill>
                  <a:schemeClr val="bg1"/>
                </a:solidFill>
              </a:rPr>
              <a:t>Lo repito tal cual</a:t>
            </a:r>
            <a:endParaRPr lang="en-US" sz="1800" dirty="0"/>
          </a:p>
        </p:txBody>
      </p:sp>
      <p:sp>
        <p:nvSpPr>
          <p:cNvPr id="10" name="Opción 2"/>
          <p:cNvSpPr/>
          <p:nvPr/>
        </p:nvSpPr>
        <p:spPr>
          <a:xfrm>
            <a:off x="5669280" y="5394960"/>
            <a:ext cx="4206240" cy="685800"/>
          </a:xfrm>
          <a:prstGeom prst="roundRect">
            <a:avLst>
              <a:gd name="adj" fmla="val 50000"/>
            </a:avLst>
          </a:prstGeom>
          <a:solidFill>
            <a:schemeClr val="tx2"/>
          </a:solidFill>
          <a:ln/>
        </p:spPr>
      </p:sp>
      <p:sp>
        <p:nvSpPr>
          <p:cNvPr id="11" name="Busco una manera mejor"/>
          <p:cNvSpPr/>
          <p:nvPr/>
        </p:nvSpPr>
        <p:spPr>
          <a:xfrm>
            <a:off x="5779008" y="5468112"/>
            <a:ext cx="548640" cy="548640"/>
          </a:xfrm>
          <a:prstGeom prst="ellipse">
            <a:avLst/>
          </a:prstGeom>
          <a:solidFill>
            <a:schemeClr val="accent1"/>
          </a:solidFill>
          <a:ln/>
        </p:spPr>
      </p:sp>
      <p:pic>
        <p:nvPicPr>
          <p:cNvPr id="12" name="Image 1" descr="Busco una manera mejor"/>
          <p:cNvPicPr>
            <a:picLocks noChangeAspect="1"/>
          </p:cNvPicPr>
          <p:nvPr/>
        </p:nvPicPr>
        <p:blipFill>
          <a:blip r:embed="rId4"/>
          <a:stretch>
            <a:fillRect/>
          </a:stretch>
        </p:blipFill>
        <p:spPr>
          <a:xfrm>
            <a:off x="5910682" y="5599786"/>
            <a:ext cx="285293" cy="285293"/>
          </a:xfrm>
          <a:prstGeom prst="rect">
            <a:avLst/>
          </a:prstGeom>
        </p:spPr>
      </p:pic>
      <p:sp>
        <p:nvSpPr>
          <p:cNvPr id="13" name="Text 9"/>
          <p:cNvSpPr txBox="1"/>
          <p:nvPr/>
        </p:nvSpPr>
        <p:spPr>
          <a:xfrm>
            <a:off x="6446520" y="5394960"/>
            <a:ext cx="3291840" cy="685800"/>
          </a:xfrm>
          <a:prstGeom prst="rect">
            <a:avLst/>
          </a:prstGeom>
          <a:noFill/>
          <a:ln/>
        </p:spPr>
        <p:txBody>
          <a:bodyPr wrap="square" lIns="0" tIns="0" rIns="0" bIns="0" rtlCol="0" anchor="ctr"/>
          <a:lstStyle/>
          <a:p>
            <a:pPr marL="0" indent="0">
              <a:buNone/>
            </a:pPr>
            <a:r>
              <a:rPr lang="en-US" sz="1800" dirty="0">
                <a:solidFill>
                  <a:schemeClr val="bg1"/>
                </a:solidFill>
              </a:rPr>
              <a:t>Busco una manera mejor</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¿Habéis visto alguna mejora?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0–3 · Voluntarios</a:t>
            </a:r>
            <a:endParaRPr lang="en-US" sz="1400" dirty="0"/>
          </a:p>
        </p:txBody>
      </p:sp>
      <p:sp>
        <p:nvSpPr>
          <p:cNvPr id="5" name="Voluntarios"/>
          <p:cNvSpPr/>
          <p:nvPr/>
        </p:nvSpPr>
        <p:spPr>
          <a:xfrm>
            <a:off x="822960" y="2011680"/>
            <a:ext cx="1828800" cy="1828800"/>
          </a:xfrm>
          <a:prstGeom prst="ellipse">
            <a:avLst/>
          </a:prstGeom>
          <a:solidFill>
            <a:schemeClr val="accent1"/>
          </a:solidFill>
          <a:ln/>
        </p:spPr>
      </p:sp>
      <p:pic>
        <p:nvPicPr>
          <p:cNvPr id="6" name="Image 0" descr="Voluntarios"/>
          <p:cNvPicPr>
            <a:picLocks noChangeAspect="1"/>
          </p:cNvPicPr>
          <p:nvPr/>
        </p:nvPicPr>
        <p:blipFill>
          <a:blip r:embed="rId3"/>
          <a:stretch>
            <a:fillRect/>
          </a:stretch>
        </p:blipFill>
        <p:spPr>
          <a:xfrm>
            <a:off x="1261872" y="2450592"/>
            <a:ext cx="950976" cy="950976"/>
          </a:xfrm>
          <a:prstGeom prst="rect">
            <a:avLst/>
          </a:prstGeom>
        </p:spPr>
      </p:pic>
      <p:sp>
        <p:nvSpPr>
          <p:cNvPr id="7" name="Tarjeta"/>
          <p:cNvSpPr/>
          <p:nvPr/>
        </p:nvSpPr>
        <p:spPr>
          <a:xfrm>
            <a:off x="3108960" y="1737360"/>
            <a:ext cx="8534095" cy="2377440"/>
          </a:xfrm>
          <a:prstGeom prst="roundRect">
            <a:avLst>
              <a:gd name="adj" fmla="val 5769"/>
            </a:avLst>
          </a:prstGeom>
          <a:solidFill>
            <a:schemeClr val="bg2"/>
          </a:solidFill>
          <a:ln/>
        </p:spPr>
      </p:sp>
      <p:sp>
        <p:nvSpPr>
          <p:cNvPr id="8" name="Text 5"/>
          <p:cNvSpPr txBox="1"/>
          <p:nvPr/>
        </p:nvSpPr>
        <p:spPr>
          <a:xfrm>
            <a:off x="3474720" y="1737360"/>
            <a:ext cx="7802575" cy="2377440"/>
          </a:xfrm>
          <a:prstGeom prst="rect">
            <a:avLst/>
          </a:prstGeom>
          <a:noFill/>
          <a:ln/>
        </p:spPr>
        <p:txBody>
          <a:bodyPr wrap="square" lIns="0" tIns="0" rIns="0" bIns="0" rtlCol="0" anchor="ctr"/>
          <a:lstStyle/>
          <a:p>
            <a:pPr marL="0" indent="0">
              <a:buNone/>
            </a:pPr>
            <a:r>
              <a:rPr lang="en-US" sz="3600" i="1" dirty="0">
                <a:solidFill>
                  <a:schemeClr val="tx1"/>
                </a:solidFill>
              </a:rPr>
              <a:t>«Antes se hacía así…</a:t>
            </a:r>
            <a:endParaRPr lang="en-US" sz="3600" dirty="0"/>
          </a:p>
          <a:p>
            <a:pPr marL="0" indent="0">
              <a:buNone/>
            </a:pPr>
            <a:r>
              <a:rPr lang="en-US" sz="3600" i="1" dirty="0">
                <a:solidFill>
                  <a:schemeClr val="tx1"/>
                </a:solidFill>
              </a:rPr>
              <a:t>y alguien lo cambió por…»</a:t>
            </a:r>
            <a:endParaRPr lang="en-US" sz="3600" dirty="0"/>
          </a:p>
        </p:txBody>
      </p:sp>
      <p:sp>
        <p:nvSpPr>
          <p:cNvPr id="9" name="Text 6"/>
          <p:cNvSpPr txBox="1"/>
          <p:nvPr/>
        </p:nvSpPr>
        <p:spPr>
          <a:xfrm>
            <a:off x="3108960" y="4434840"/>
            <a:ext cx="7315200" cy="457200"/>
          </a:xfrm>
          <a:prstGeom prst="rect">
            <a:avLst/>
          </a:prstGeom>
          <a:noFill/>
          <a:ln/>
        </p:spPr>
        <p:txBody>
          <a:bodyPr wrap="square" lIns="0" tIns="0" rIns="0" bIns="0" rtlCol="0" anchor="ctr"/>
          <a:lstStyle/>
          <a:p>
            <a:pPr marL="0" indent="0">
              <a:buNone/>
            </a:pPr>
            <a:r>
              <a:rPr lang="en-US" sz="2000" dirty="0">
                <a:solidFill>
                  <a:schemeClr val="tx2"/>
                </a:solidFill>
              </a:rPr>
              <a:t>Dos o tres voluntarios · una frase cada uno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Tres conceptos que no son lo mismo</a:t>
            </a:r>
            <a:endParaRPr lang="en-US" sz="3200" dirty="0"/>
          </a:p>
        </p:txBody>
      </p:sp>
      <p:sp>
        <p:nvSpPr>
          <p:cNvPr id="3" name="Etiqueta de tiempo"/>
          <p:cNvSpPr/>
          <p:nvPr/>
        </p:nvSpPr>
        <p:spPr>
          <a:xfrm>
            <a:off x="10180015" y="548640"/>
            <a:ext cx="1463040" cy="457200"/>
          </a:xfrm>
          <a:prstGeom prst="roundRect">
            <a:avLst>
              <a:gd name="adj" fmla="val 50000"/>
            </a:avLst>
          </a:prstGeom>
          <a:solidFill>
            <a:schemeClr val="bg2"/>
          </a:solidFill>
          <a:ln/>
        </p:spPr>
      </p:sp>
      <p:sp>
        <p:nvSpPr>
          <p:cNvPr id="4" name="Text 2"/>
          <p:cNvSpPr txBox="1"/>
          <p:nvPr/>
        </p:nvSpPr>
        <p:spPr>
          <a:xfrm>
            <a:off x="10180015" y="548640"/>
            <a:ext cx="1463040" cy="457200"/>
          </a:xfrm>
          <a:prstGeom prst="rect">
            <a:avLst/>
          </a:prstGeom>
          <a:noFill/>
          <a:ln/>
        </p:spPr>
        <p:txBody>
          <a:bodyPr wrap="square" lIns="0" tIns="0" rIns="0" bIns="0" rtlCol="0" anchor="ctr"/>
          <a:lstStyle/>
          <a:p>
            <a:pPr marL="0" indent="0" algn="ctr">
              <a:buNone/>
            </a:pPr>
            <a:r>
              <a:rPr lang="en-US" sz="1400" b="1" dirty="0">
                <a:solidFill>
                  <a:schemeClr val="tx1"/>
                </a:solidFill>
              </a:rPr>
              <a:t>Min. 3–5</a:t>
            </a:r>
            <a:endParaRPr lang="en-US" sz="1400" dirty="0"/>
          </a:p>
        </p:txBody>
      </p:sp>
      <p:sp>
        <p:nvSpPr>
          <p:cNvPr id="5" name="Tarjeta"/>
          <p:cNvSpPr/>
          <p:nvPr/>
        </p:nvSpPr>
        <p:spPr>
          <a:xfrm>
            <a:off x="548640" y="1508760"/>
            <a:ext cx="3454298" cy="3749040"/>
          </a:xfrm>
          <a:prstGeom prst="roundRect">
            <a:avLst>
              <a:gd name="adj" fmla="val 3971"/>
            </a:avLst>
          </a:prstGeom>
          <a:solidFill>
            <a:schemeClr val="bg2"/>
          </a:solidFill>
          <a:ln/>
        </p:spPr>
      </p:sp>
      <p:sp>
        <p:nvSpPr>
          <p:cNvPr id="6" name="Creatividad"/>
          <p:cNvSpPr/>
          <p:nvPr/>
        </p:nvSpPr>
        <p:spPr>
          <a:xfrm>
            <a:off x="868680" y="1783080"/>
            <a:ext cx="914400" cy="914400"/>
          </a:xfrm>
          <a:prstGeom prst="ellipse">
            <a:avLst/>
          </a:prstGeom>
          <a:solidFill>
            <a:schemeClr val="accent1"/>
          </a:solidFill>
          <a:ln/>
        </p:spPr>
      </p:sp>
      <p:pic>
        <p:nvPicPr>
          <p:cNvPr id="7" name="Image 0" descr="Creatividad"/>
          <p:cNvPicPr>
            <a:picLocks noChangeAspect="1"/>
          </p:cNvPicPr>
          <p:nvPr/>
        </p:nvPicPr>
        <p:blipFill>
          <a:blip r:embed="rId3"/>
          <a:stretch>
            <a:fillRect/>
          </a:stretch>
        </p:blipFill>
        <p:spPr>
          <a:xfrm>
            <a:off x="1088136" y="2002536"/>
            <a:ext cx="475488" cy="475488"/>
          </a:xfrm>
          <a:prstGeom prst="rect">
            <a:avLst/>
          </a:prstGeom>
        </p:spPr>
      </p:pic>
      <p:sp>
        <p:nvSpPr>
          <p:cNvPr id="8" name="Text 5"/>
          <p:cNvSpPr txBox="1"/>
          <p:nvPr/>
        </p:nvSpPr>
        <p:spPr>
          <a:xfrm>
            <a:off x="868680"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Creatividad</a:t>
            </a:r>
            <a:endParaRPr lang="en-US" sz="2400" dirty="0"/>
          </a:p>
        </p:txBody>
      </p:sp>
      <p:sp>
        <p:nvSpPr>
          <p:cNvPr id="9" name="Text 6"/>
          <p:cNvSpPr txBox="1"/>
          <p:nvPr/>
        </p:nvSpPr>
        <p:spPr>
          <a:xfrm>
            <a:off x="868680"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Producir ideas nuevas y útiles.</a:t>
            </a:r>
            <a:endParaRPr lang="en-US" sz="1800" dirty="0"/>
          </a:p>
        </p:txBody>
      </p:sp>
      <p:sp>
        <p:nvSpPr>
          <p:cNvPr id="10" name="Text 7"/>
          <p:cNvSpPr txBox="1"/>
          <p:nvPr/>
        </p:nvSpPr>
        <p:spPr>
          <a:xfrm>
            <a:off x="868680"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Imaginar nuevas formas de atender a los clientes.</a:t>
            </a:r>
            <a:endParaRPr lang="en-US" sz="1500" dirty="0"/>
          </a:p>
        </p:txBody>
      </p:sp>
      <p:sp>
        <p:nvSpPr>
          <p:cNvPr id="11" name="Tarjeta"/>
          <p:cNvSpPr/>
          <p:nvPr/>
        </p:nvSpPr>
        <p:spPr>
          <a:xfrm>
            <a:off x="4368698" y="1508760"/>
            <a:ext cx="3454298" cy="3749040"/>
          </a:xfrm>
          <a:prstGeom prst="roundRect">
            <a:avLst>
              <a:gd name="adj" fmla="val 3971"/>
            </a:avLst>
          </a:prstGeom>
          <a:solidFill>
            <a:schemeClr val="bg2"/>
          </a:solidFill>
          <a:ln/>
        </p:spPr>
      </p:sp>
      <p:sp>
        <p:nvSpPr>
          <p:cNvPr id="12" name="Innovación"/>
          <p:cNvSpPr/>
          <p:nvPr/>
        </p:nvSpPr>
        <p:spPr>
          <a:xfrm>
            <a:off x="4688738" y="1783080"/>
            <a:ext cx="914400" cy="914400"/>
          </a:xfrm>
          <a:prstGeom prst="ellipse">
            <a:avLst/>
          </a:prstGeom>
          <a:solidFill>
            <a:schemeClr val="accent3"/>
          </a:solidFill>
          <a:ln/>
        </p:spPr>
      </p:sp>
      <p:pic>
        <p:nvPicPr>
          <p:cNvPr id="13" name="Image 1" descr="Innovación"/>
          <p:cNvPicPr>
            <a:picLocks noChangeAspect="1"/>
          </p:cNvPicPr>
          <p:nvPr/>
        </p:nvPicPr>
        <p:blipFill>
          <a:blip r:embed="rId4"/>
          <a:stretch>
            <a:fillRect/>
          </a:stretch>
        </p:blipFill>
        <p:spPr>
          <a:xfrm>
            <a:off x="4908194" y="2002536"/>
            <a:ext cx="475488" cy="475488"/>
          </a:xfrm>
          <a:prstGeom prst="rect">
            <a:avLst/>
          </a:prstGeom>
        </p:spPr>
      </p:pic>
      <p:sp>
        <p:nvSpPr>
          <p:cNvPr id="14" name="Text 10"/>
          <p:cNvSpPr txBox="1"/>
          <p:nvPr/>
        </p:nvSpPr>
        <p:spPr>
          <a:xfrm>
            <a:off x="4688738"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Innovación</a:t>
            </a:r>
            <a:endParaRPr lang="en-US" sz="2400" dirty="0"/>
          </a:p>
        </p:txBody>
      </p:sp>
      <p:sp>
        <p:nvSpPr>
          <p:cNvPr id="15" name="Text 11"/>
          <p:cNvSpPr txBox="1"/>
          <p:nvPr/>
        </p:nvSpPr>
        <p:spPr>
          <a:xfrm>
            <a:off x="4688738"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Poner en práctica una mejora que aporta valor.</a:t>
            </a:r>
            <a:endParaRPr lang="en-US" sz="1800" dirty="0"/>
          </a:p>
        </p:txBody>
      </p:sp>
      <p:sp>
        <p:nvSpPr>
          <p:cNvPr id="16" name="Text 12"/>
          <p:cNvSpPr txBox="1"/>
          <p:nvPr/>
        </p:nvSpPr>
        <p:spPr>
          <a:xfrm>
            <a:off x="4688738"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Implantar la cita previa para reducir esperas.</a:t>
            </a:r>
            <a:endParaRPr lang="en-US" sz="1500" dirty="0"/>
          </a:p>
        </p:txBody>
      </p:sp>
      <p:sp>
        <p:nvSpPr>
          <p:cNvPr id="17" name="Tarjeta"/>
          <p:cNvSpPr/>
          <p:nvPr/>
        </p:nvSpPr>
        <p:spPr>
          <a:xfrm>
            <a:off x="8188757" y="1508760"/>
            <a:ext cx="3454298" cy="3749040"/>
          </a:xfrm>
          <a:prstGeom prst="roundRect">
            <a:avLst>
              <a:gd name="adj" fmla="val 3971"/>
            </a:avLst>
          </a:prstGeom>
          <a:solidFill>
            <a:schemeClr val="bg2"/>
          </a:solidFill>
          <a:ln/>
        </p:spPr>
      </p:sp>
      <p:sp>
        <p:nvSpPr>
          <p:cNvPr id="18" name="Competencia digital"/>
          <p:cNvSpPr/>
          <p:nvPr/>
        </p:nvSpPr>
        <p:spPr>
          <a:xfrm>
            <a:off x="8508797" y="1783080"/>
            <a:ext cx="914400" cy="914400"/>
          </a:xfrm>
          <a:prstGeom prst="ellipse">
            <a:avLst/>
          </a:prstGeom>
          <a:solidFill>
            <a:schemeClr val="accent4"/>
          </a:solidFill>
          <a:ln/>
        </p:spPr>
      </p:sp>
      <p:pic>
        <p:nvPicPr>
          <p:cNvPr id="19" name="Image 2" descr="Competencia digital"/>
          <p:cNvPicPr>
            <a:picLocks noChangeAspect="1"/>
          </p:cNvPicPr>
          <p:nvPr/>
        </p:nvPicPr>
        <p:blipFill>
          <a:blip r:embed="rId5"/>
          <a:stretch>
            <a:fillRect/>
          </a:stretch>
        </p:blipFill>
        <p:spPr>
          <a:xfrm>
            <a:off x="8728253" y="2002536"/>
            <a:ext cx="475488" cy="475488"/>
          </a:xfrm>
          <a:prstGeom prst="rect">
            <a:avLst/>
          </a:prstGeom>
        </p:spPr>
      </p:pic>
      <p:sp>
        <p:nvSpPr>
          <p:cNvPr id="20" name="Text 15"/>
          <p:cNvSpPr txBox="1"/>
          <p:nvPr/>
        </p:nvSpPr>
        <p:spPr>
          <a:xfrm>
            <a:off x="8508797"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Competencia digital</a:t>
            </a:r>
            <a:endParaRPr lang="en-US" sz="2400" dirty="0"/>
          </a:p>
        </p:txBody>
      </p:sp>
      <p:sp>
        <p:nvSpPr>
          <p:cNvPr id="21" name="Text 16"/>
          <p:cNvSpPr txBox="1"/>
          <p:nvPr/>
        </p:nvSpPr>
        <p:spPr>
          <a:xfrm>
            <a:off x="8508797"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Emplear la tecnología para realizar tareas.</a:t>
            </a:r>
            <a:endParaRPr lang="en-US" sz="1800" dirty="0"/>
          </a:p>
        </p:txBody>
      </p:sp>
      <p:sp>
        <p:nvSpPr>
          <p:cNvPr id="22" name="Text 17"/>
          <p:cNvSpPr txBox="1"/>
          <p:nvPr/>
        </p:nvSpPr>
        <p:spPr>
          <a:xfrm>
            <a:off x="8508797"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Usar una hoja de cálculo para organizar turnos.</a:t>
            </a:r>
            <a:endParaRPr lang="en-US" sz="1500" dirty="0"/>
          </a:p>
        </p:txBody>
      </p:sp>
      <p:sp>
        <p:nvSpPr>
          <p:cNvPr id="23" name="Text 18"/>
          <p:cNvSpPr txBox="1"/>
          <p:nvPr/>
        </p:nvSpPr>
        <p:spPr>
          <a:xfrm>
            <a:off x="548640" y="553212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La creatividad no es solo arte: también es mejorar tareas y procesos de trabajo.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Actividad: ¿qué es cada situación?</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ext 3"/>
          <p:cNvSpPr txBox="1"/>
          <p:nvPr/>
        </p:nvSpPr>
        <p:spPr>
          <a:xfrm>
            <a:off x="548640" y="1417320"/>
            <a:ext cx="9144000" cy="502920"/>
          </a:xfrm>
          <a:prstGeom prst="rect">
            <a:avLst/>
          </a:prstGeom>
          <a:noFill/>
          <a:ln/>
        </p:spPr>
        <p:txBody>
          <a:bodyPr wrap="square" lIns="0" tIns="0" rIns="0" bIns="0" rtlCol="0" anchor="ctr"/>
          <a:lstStyle/>
          <a:p>
            <a:pPr marL="0" indent="0">
              <a:buNone/>
            </a:pPr>
            <a:r>
              <a:rPr lang="en-US" sz="2200" dirty="0">
                <a:solidFill>
                  <a:schemeClr val="tx1"/>
                </a:solidFill>
              </a:rPr>
              <a:t>Os leeré seis situaciones. </a:t>
            </a:r>
            <a:r>
              <a:rPr lang="en-US" sz="2200" dirty="0" err="1">
                <a:solidFill>
                  <a:schemeClr val="tx1"/>
                </a:solidFill>
              </a:rPr>
              <a:t>Votad</a:t>
            </a:r>
            <a:r>
              <a:rPr lang="en-US" sz="2200" dirty="0">
                <a:solidFill>
                  <a:schemeClr val="tx1"/>
                </a:solidFill>
              </a:rPr>
              <a:t> lo </a:t>
            </a:r>
            <a:r>
              <a:rPr lang="en-US" sz="2200" dirty="0" err="1">
                <a:solidFill>
                  <a:schemeClr val="tx1"/>
                </a:solidFill>
              </a:rPr>
              <a:t>que</a:t>
            </a:r>
            <a:r>
              <a:rPr lang="en-US" sz="2200" dirty="0">
                <a:solidFill>
                  <a:schemeClr val="tx1"/>
                </a:solidFill>
              </a:rPr>
              <a:t> </a:t>
            </a:r>
            <a:r>
              <a:rPr lang="en-US" sz="2200" dirty="0" err="1">
                <a:solidFill>
                  <a:schemeClr val="tx1"/>
                </a:solidFill>
              </a:rPr>
              <a:t>penséis</a:t>
            </a:r>
            <a:r>
              <a:rPr lang="en-US" sz="2200" dirty="0">
                <a:solidFill>
                  <a:schemeClr val="tx1"/>
                </a:solidFill>
              </a:rPr>
              <a:t> </a:t>
            </a:r>
            <a:r>
              <a:rPr lang="en-US" sz="2200" dirty="0" err="1">
                <a:solidFill>
                  <a:schemeClr val="tx1"/>
                </a:solidFill>
              </a:rPr>
              <a:t>que</a:t>
            </a:r>
            <a:r>
              <a:rPr lang="en-US" sz="2200" dirty="0">
                <a:solidFill>
                  <a:schemeClr val="tx1"/>
                </a:solidFill>
              </a:rPr>
              <a:t> es:</a:t>
            </a:r>
            <a:endParaRPr lang="en-US" sz="2200" dirty="0"/>
          </a:p>
        </p:txBody>
      </p:sp>
      <p:sp>
        <p:nvSpPr>
          <p:cNvPr id="6" name="Tarjeta"/>
          <p:cNvSpPr/>
          <p:nvPr/>
        </p:nvSpPr>
        <p:spPr>
          <a:xfrm>
            <a:off x="548640" y="2194560"/>
            <a:ext cx="3454298" cy="2834640"/>
          </a:xfrm>
          <a:prstGeom prst="roundRect">
            <a:avLst>
              <a:gd name="adj" fmla="val 4839"/>
            </a:avLst>
          </a:prstGeom>
          <a:solidFill>
            <a:schemeClr val="bg2"/>
          </a:solidFill>
          <a:ln/>
        </p:spPr>
      </p:sp>
      <p:sp>
        <p:nvSpPr>
          <p:cNvPr id="7" name="Opción 1"/>
          <p:cNvSpPr/>
          <p:nvPr/>
        </p:nvSpPr>
        <p:spPr>
          <a:xfrm>
            <a:off x="1498549" y="2423160"/>
            <a:ext cx="1554480" cy="1554480"/>
          </a:xfrm>
          <a:prstGeom prst="ellipse">
            <a:avLst/>
          </a:prstGeom>
          <a:solidFill>
            <a:schemeClr val="accent1"/>
          </a:solidFill>
          <a:ln/>
        </p:spPr>
      </p:sp>
      <p:sp>
        <p:nvSpPr>
          <p:cNvPr id="8" name="Text 6"/>
          <p:cNvSpPr txBox="1"/>
          <p:nvPr/>
        </p:nvSpPr>
        <p:spPr>
          <a:xfrm>
            <a:off x="1498549" y="2423160"/>
            <a:ext cx="1554480" cy="1554480"/>
          </a:xfrm>
          <a:prstGeom prst="rect">
            <a:avLst/>
          </a:prstGeom>
          <a:noFill/>
          <a:ln/>
        </p:spPr>
        <p:txBody>
          <a:bodyPr wrap="square" lIns="0" tIns="0" rIns="0" bIns="0" rtlCol="0" anchor="ctr"/>
          <a:lstStyle/>
          <a:p>
            <a:pPr marL="0" indent="0" algn="ctr">
              <a:buNone/>
            </a:pPr>
            <a:r>
              <a:rPr lang="en-US" sz="6600" b="1" dirty="0">
                <a:solidFill>
                  <a:schemeClr val="tx1"/>
                </a:solidFill>
              </a:rPr>
              <a:t>1</a:t>
            </a:r>
            <a:endParaRPr lang="en-US" sz="6600" dirty="0"/>
          </a:p>
        </p:txBody>
      </p:sp>
      <p:sp>
        <p:nvSpPr>
          <p:cNvPr id="9" name="Text 7"/>
          <p:cNvSpPr txBox="1"/>
          <p:nvPr/>
        </p:nvSpPr>
        <p:spPr>
          <a:xfrm>
            <a:off x="731520"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Creatividad</a:t>
            </a:r>
            <a:endParaRPr lang="en-US" sz="2400" dirty="0"/>
          </a:p>
        </p:txBody>
      </p:sp>
      <p:sp>
        <p:nvSpPr>
          <p:cNvPr id="10" name="Tarjeta"/>
          <p:cNvSpPr/>
          <p:nvPr/>
        </p:nvSpPr>
        <p:spPr>
          <a:xfrm>
            <a:off x="4368698" y="2194560"/>
            <a:ext cx="3454298" cy="2834640"/>
          </a:xfrm>
          <a:prstGeom prst="roundRect">
            <a:avLst>
              <a:gd name="adj" fmla="val 4839"/>
            </a:avLst>
          </a:prstGeom>
          <a:solidFill>
            <a:schemeClr val="bg2"/>
          </a:solidFill>
          <a:ln/>
        </p:spPr>
      </p:sp>
      <p:sp>
        <p:nvSpPr>
          <p:cNvPr id="11" name="Opción 2"/>
          <p:cNvSpPr/>
          <p:nvPr/>
        </p:nvSpPr>
        <p:spPr>
          <a:xfrm>
            <a:off x="5318608" y="2423160"/>
            <a:ext cx="1554480" cy="1554480"/>
          </a:xfrm>
          <a:prstGeom prst="ellipse">
            <a:avLst/>
          </a:prstGeom>
          <a:solidFill>
            <a:schemeClr val="accent3"/>
          </a:solidFill>
          <a:ln/>
        </p:spPr>
      </p:sp>
      <p:sp>
        <p:nvSpPr>
          <p:cNvPr id="12" name="Text 10"/>
          <p:cNvSpPr txBox="1"/>
          <p:nvPr/>
        </p:nvSpPr>
        <p:spPr>
          <a:xfrm>
            <a:off x="5318608" y="2423160"/>
            <a:ext cx="1554480" cy="1554480"/>
          </a:xfrm>
          <a:prstGeom prst="rect">
            <a:avLst/>
          </a:prstGeom>
          <a:noFill/>
          <a:ln/>
        </p:spPr>
        <p:txBody>
          <a:bodyPr wrap="square" lIns="0" tIns="0" rIns="0" bIns="0" rtlCol="0" anchor="ctr"/>
          <a:lstStyle/>
          <a:p>
            <a:pPr marL="0" indent="0" algn="ctr">
              <a:buNone/>
            </a:pPr>
            <a:r>
              <a:rPr lang="en-US" sz="6600" b="1" dirty="0">
                <a:solidFill>
                  <a:schemeClr val="bg1"/>
                </a:solidFill>
              </a:rPr>
              <a:t>2</a:t>
            </a:r>
            <a:endParaRPr lang="en-US" sz="6600" dirty="0"/>
          </a:p>
        </p:txBody>
      </p:sp>
      <p:sp>
        <p:nvSpPr>
          <p:cNvPr id="13" name="Text 11"/>
          <p:cNvSpPr txBox="1"/>
          <p:nvPr/>
        </p:nvSpPr>
        <p:spPr>
          <a:xfrm>
            <a:off x="4551578"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Innovación</a:t>
            </a:r>
            <a:endParaRPr lang="en-US" sz="2400" dirty="0"/>
          </a:p>
        </p:txBody>
      </p:sp>
      <p:sp>
        <p:nvSpPr>
          <p:cNvPr id="14" name="Tarjeta"/>
          <p:cNvSpPr/>
          <p:nvPr/>
        </p:nvSpPr>
        <p:spPr>
          <a:xfrm>
            <a:off x="8188757" y="2194560"/>
            <a:ext cx="3454298" cy="2834640"/>
          </a:xfrm>
          <a:prstGeom prst="roundRect">
            <a:avLst>
              <a:gd name="adj" fmla="val 4839"/>
            </a:avLst>
          </a:prstGeom>
          <a:solidFill>
            <a:schemeClr val="bg2"/>
          </a:solidFill>
          <a:ln/>
        </p:spPr>
      </p:sp>
      <p:sp>
        <p:nvSpPr>
          <p:cNvPr id="15" name="Opción 3"/>
          <p:cNvSpPr/>
          <p:nvPr/>
        </p:nvSpPr>
        <p:spPr>
          <a:xfrm>
            <a:off x="9138666" y="2423160"/>
            <a:ext cx="1554480" cy="1554480"/>
          </a:xfrm>
          <a:prstGeom prst="ellipse">
            <a:avLst/>
          </a:prstGeom>
          <a:solidFill>
            <a:schemeClr val="accent4"/>
          </a:solidFill>
          <a:ln/>
        </p:spPr>
      </p:sp>
      <p:sp>
        <p:nvSpPr>
          <p:cNvPr id="16" name="Text 14"/>
          <p:cNvSpPr txBox="1"/>
          <p:nvPr/>
        </p:nvSpPr>
        <p:spPr>
          <a:xfrm>
            <a:off x="9138666" y="2423160"/>
            <a:ext cx="1554480" cy="1554480"/>
          </a:xfrm>
          <a:prstGeom prst="rect">
            <a:avLst/>
          </a:prstGeom>
          <a:noFill/>
          <a:ln/>
        </p:spPr>
        <p:txBody>
          <a:bodyPr wrap="square" lIns="0" tIns="0" rIns="0" bIns="0" rtlCol="0" anchor="ctr"/>
          <a:lstStyle/>
          <a:p>
            <a:pPr marL="0" indent="0" algn="ctr">
              <a:buNone/>
            </a:pPr>
            <a:r>
              <a:rPr lang="en-US" sz="6600" b="1" dirty="0">
                <a:solidFill>
                  <a:schemeClr val="bg1"/>
                </a:solidFill>
              </a:rPr>
              <a:t>3</a:t>
            </a:r>
            <a:endParaRPr lang="en-US" sz="6600" dirty="0"/>
          </a:p>
        </p:txBody>
      </p:sp>
      <p:sp>
        <p:nvSpPr>
          <p:cNvPr id="17" name="Text 15"/>
          <p:cNvSpPr txBox="1"/>
          <p:nvPr/>
        </p:nvSpPr>
        <p:spPr>
          <a:xfrm>
            <a:off x="8371637"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Competencia digital</a:t>
            </a:r>
            <a:endParaRPr lang="en-US" sz="2400" dirty="0"/>
          </a:p>
        </p:txBody>
      </p:sp>
      <p:sp>
        <p:nvSpPr>
          <p:cNvPr id="18" name="Votación"/>
          <p:cNvSpPr/>
          <p:nvPr/>
        </p:nvSpPr>
        <p:spPr>
          <a:xfrm>
            <a:off x="548640" y="5349240"/>
            <a:ext cx="548640" cy="548640"/>
          </a:xfrm>
          <a:prstGeom prst="ellipse">
            <a:avLst/>
          </a:prstGeom>
          <a:solidFill>
            <a:schemeClr val="tx2"/>
          </a:solidFill>
          <a:ln/>
        </p:spPr>
      </p:sp>
      <p:pic>
        <p:nvPicPr>
          <p:cNvPr id="19" name="Image 0" descr="Votación"/>
          <p:cNvPicPr>
            <a:picLocks noChangeAspect="1"/>
          </p:cNvPicPr>
          <p:nvPr/>
        </p:nvPicPr>
        <p:blipFill>
          <a:blip r:embed="rId3"/>
          <a:stretch>
            <a:fillRect/>
          </a:stretch>
        </p:blipFill>
        <p:spPr>
          <a:xfrm>
            <a:off x="680314" y="5480914"/>
            <a:ext cx="285293" cy="285293"/>
          </a:xfrm>
          <a:prstGeom prst="rect">
            <a:avLst/>
          </a:prstGeom>
        </p:spPr>
      </p:pic>
      <p:sp>
        <p:nvSpPr>
          <p:cNvPr id="20" name="Text 17"/>
          <p:cNvSpPr txBox="1"/>
          <p:nvPr/>
        </p:nvSpPr>
        <p:spPr>
          <a:xfrm>
            <a:off x="1280160" y="5349240"/>
            <a:ext cx="10058400" cy="548640"/>
          </a:xfrm>
          <a:prstGeom prst="rect">
            <a:avLst/>
          </a:prstGeom>
          <a:noFill/>
          <a:ln/>
        </p:spPr>
        <p:txBody>
          <a:bodyPr wrap="square" lIns="0" tIns="0" rIns="0" bIns="0" rtlCol="0" anchor="ctr"/>
          <a:lstStyle/>
          <a:p>
            <a:pPr marL="0" indent="0">
              <a:buNone/>
            </a:pPr>
            <a:r>
              <a:rPr lang="en-US" sz="1800" dirty="0">
                <a:solidFill>
                  <a:schemeClr val="tx1"/>
                </a:solidFill>
              </a:rPr>
              <a:t>Si hay votos repartidos, una persona de cada opción explica por qué.</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1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Una dependienta propone en una reunión que los clientes puedan reservar por WhatsApp.</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1: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13</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«Una dependienta propone en una reunión que los clientes puedan reservar por WhatsApp.»</a:t>
            </a:r>
          </a:p>
        </p:txBody>
      </p:sp>
      <p:sp>
        <p:nvSpPr>
          <p:cNvPr id="27" name="Respuesta"/>
          <p:cNvSpPr/>
          <p:nvPr/>
        </p:nvSpPr>
        <p:spPr>
          <a:xfrm>
            <a:off x="548640" y="2194560"/>
            <a:ext cx="11094415" cy="1463040"/>
          </a:xfrm>
          <a:prstGeom prst="roundRect">
            <a:avLst>
              <a:gd name="adj" fmla="val 9374"/>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1"/>
                </a:solidFill>
              </a:rPr>
              <a:t>1</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tx1"/>
                </a:solidFill>
              </a:rPr>
              <a:t>Creatividad</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Es una idea nueva y útil, pero todavía no se ha puesto en práctica.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2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La tienda pone en marcha las reservas por WhatsApp y las esperas se reducen.</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2: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15</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«La tienda pone en marcha las reservas por WhatsApp y las esperas se reducen.»</a:t>
            </a:r>
          </a:p>
        </p:txBody>
      </p:sp>
      <p:sp>
        <p:nvSpPr>
          <p:cNvPr id="27" name="Respuesta"/>
          <p:cNvSpPr/>
          <p:nvPr/>
        </p:nvSpPr>
        <p:spPr>
          <a:xfrm>
            <a:off x="548640" y="2194560"/>
            <a:ext cx="11094415" cy="1463040"/>
          </a:xfrm>
          <a:prstGeom prst="roundRect">
            <a:avLst>
              <a:gd name="adj" fmla="val 9374"/>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3"/>
                </a:solidFill>
              </a:rPr>
              <a:t>2</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Innovación</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La idea se ha puesto en práctica y aporta valor: las esperas se reducen.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3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 administrativo usa una tabla dinámica para resumir las ventas del mes.</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3: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17</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 administrativo usa una tabla dinámica para resumir las ventas del mes.»</a:t>
            </a:r>
          </a:p>
        </p:txBody>
      </p:sp>
      <p:sp>
        <p:nvSpPr>
          <p:cNvPr id="27" name="Respuesta"/>
          <p:cNvSpPr/>
          <p:nvPr/>
        </p:nvSpPr>
        <p:spPr>
          <a:xfrm>
            <a:off x="548640" y="2194560"/>
            <a:ext cx="11094415" cy="1463040"/>
          </a:xfrm>
          <a:prstGeom prst="roundRect">
            <a:avLst>
              <a:gd name="adj" fmla="val 9374"/>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4"/>
                </a:solidFill>
              </a:rPr>
              <a:t>3</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Competencia digital</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Usa una herramienta digital para hacer bien su tarea, pero no cambia cómo se trabaja.</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4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 taller empieza a enviar al </a:t>
            </a:r>
            <a:r>
              <a:rPr lang="en-US" sz="3000" dirty="0" err="1">
                <a:solidFill>
                  <a:schemeClr val="tx1"/>
                </a:solidFill>
              </a:rPr>
              <a:t>cliente</a:t>
            </a:r>
            <a:r>
              <a:rPr lang="en-US" sz="3000" dirty="0">
                <a:solidFill>
                  <a:schemeClr val="tx1"/>
                </a:solidFill>
              </a:rPr>
              <a:t> </a:t>
            </a:r>
            <a:r>
              <a:rPr lang="en-US" sz="3000" dirty="0" err="1">
                <a:solidFill>
                  <a:schemeClr val="tx1"/>
                </a:solidFill>
              </a:rPr>
              <a:t>fotos</a:t>
            </a:r>
            <a:r>
              <a:rPr lang="en-US" sz="3000" dirty="0">
                <a:solidFill>
                  <a:schemeClr val="tx1"/>
                </a:solidFill>
              </a:rPr>
              <a:t> del </a:t>
            </a:r>
            <a:r>
              <a:rPr lang="en-US" sz="3000" dirty="0" err="1">
                <a:solidFill>
                  <a:schemeClr val="tx1"/>
                </a:solidFill>
              </a:rPr>
              <a:t>coche</a:t>
            </a:r>
            <a:r>
              <a:rPr lang="en-US" sz="3000" dirty="0">
                <a:solidFill>
                  <a:schemeClr val="tx1"/>
                </a:solidFill>
              </a:rPr>
              <a:t> a </a:t>
            </a:r>
            <a:r>
              <a:rPr lang="en-US" sz="3000" dirty="0" err="1">
                <a:solidFill>
                  <a:schemeClr val="tx1"/>
                </a:solidFill>
              </a:rPr>
              <a:t>medida</a:t>
            </a:r>
            <a:r>
              <a:rPr lang="en-US" sz="3000" dirty="0">
                <a:solidFill>
                  <a:schemeClr val="tx1"/>
                </a:solidFill>
              </a:rPr>
              <a:t> </a:t>
            </a:r>
            <a:r>
              <a:rPr lang="en-US" sz="3000" dirty="0" err="1">
                <a:solidFill>
                  <a:schemeClr val="tx1"/>
                </a:solidFill>
              </a:rPr>
              <a:t>que</a:t>
            </a:r>
            <a:r>
              <a:rPr lang="en-US" sz="3000" dirty="0">
                <a:solidFill>
                  <a:schemeClr val="tx1"/>
                </a:solidFill>
              </a:rPr>
              <a:t> lo </a:t>
            </a:r>
            <a:r>
              <a:rPr lang="en-US" sz="3000" dirty="0" err="1">
                <a:solidFill>
                  <a:schemeClr val="tx1"/>
                </a:solidFill>
              </a:rPr>
              <a:t>repara</a:t>
            </a:r>
            <a:r>
              <a:rPr lang="en-US" sz="3000" dirty="0">
                <a:solidFill>
                  <a:schemeClr val="tx1"/>
                </a:solidFill>
              </a:rPr>
              <a:t> y recibe menos llamadas preguntando.</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4: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19</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 taller empieza a enviar al cliente fotos del coche a medida que lo repara y recibe menos llamadas preguntando.»</a:t>
            </a:r>
          </a:p>
        </p:txBody>
      </p:sp>
      <p:sp>
        <p:nvSpPr>
          <p:cNvPr id="27" name="Respuesta"/>
          <p:cNvSpPr/>
          <p:nvPr/>
        </p:nvSpPr>
        <p:spPr>
          <a:xfrm>
            <a:off x="548640" y="2194560"/>
            <a:ext cx="11094415" cy="1463040"/>
          </a:xfrm>
          <a:prstGeom prst="roundRect">
            <a:avLst>
              <a:gd name="adj" fmla="val 9374"/>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3"/>
                </a:solidFill>
              </a:rPr>
              <a:t>2</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Innovación</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Es un cambio ya puesto en práctica que aporta valor: el cliente está informado y el taller recibe menos llamadas.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5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A un empleado se le ocurre usar las cajas de los pedidos como expositor en el mostrador.</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5: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21</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«A un empleado se le ocurre usar las cajas de los pedidos como expositor en el mostrador.»</a:t>
            </a:r>
          </a:p>
        </p:txBody>
      </p:sp>
      <p:sp>
        <p:nvSpPr>
          <p:cNvPr id="27" name="Respuesta"/>
          <p:cNvSpPr/>
          <p:nvPr/>
        </p:nvSpPr>
        <p:spPr>
          <a:xfrm>
            <a:off x="548640" y="2194560"/>
            <a:ext cx="11094415" cy="1463040"/>
          </a:xfrm>
          <a:prstGeom prst="roundRect">
            <a:avLst>
              <a:gd name="adj" fmla="val 9374"/>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1"/>
                </a:solidFill>
              </a:rPr>
              <a:t>1</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tx1"/>
                </a:solidFill>
              </a:rPr>
              <a:t>Creatividad</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Por ahora es solo una idea. Si se pone en práctica y funciona, pasa a ser innovación.</a:t>
            </a:r>
          </a:p>
        </p:txBody>
      </p:sp>
      <p:sp>
        <p:nvSpPr>
          <p:cNvPr id="33" name="Aviso"/>
          <p:cNvSpPr txBox="1"/>
          <p:nvPr/>
        </p:nvSpPr>
        <p:spPr>
          <a:xfrm>
            <a:off x="548640" y="5669280"/>
            <a:ext cx="11094415" cy="411480"/>
          </a:xfrm>
          <a:prstGeom prst="rect">
            <a:avLst/>
          </a:prstGeom>
          <a:noFill/>
        </p:spPr>
        <p:txBody>
          <a:bodyPr wrap="square" lIns="0" tIns="0" rIns="0" bIns="0" anchor="ctr">
            <a:spAutoFit/>
          </a:bodyPr>
          <a:lstStyle/>
          <a:p>
            <a:r>
              <a:rPr sz="1600" b="1" i="1">
                <a:solidFill>
                  <a:schemeClr val="accent3"/>
                </a:solidFill>
              </a:rPr>
              <a:t>Situación discutible a propósito: lo importante es el razonamiento, no acertar.</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6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Una camarera usa una IA para traducir la carta al inglés.</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6: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23</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«Una camarera usa una IA para traducir la carta al inglés.»</a:t>
            </a:r>
          </a:p>
        </p:txBody>
      </p:sp>
      <p:sp>
        <p:nvSpPr>
          <p:cNvPr id="27" name="Respuesta"/>
          <p:cNvSpPr/>
          <p:nvPr/>
        </p:nvSpPr>
        <p:spPr>
          <a:xfrm>
            <a:off x="548640" y="2194560"/>
            <a:ext cx="11094415" cy="1463040"/>
          </a:xfrm>
          <a:prstGeom prst="roundRect">
            <a:avLst>
              <a:gd name="adj" fmla="val 9374"/>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4"/>
                </a:solidFill>
              </a:rPr>
              <a:t>3</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Competencia digital</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Usa la IA para una tarea concreta, sin cambiar cómo se atiende. Sería innovación si cambiara la forma de atender a los clientes extranjeros.</a:t>
            </a:r>
          </a:p>
        </p:txBody>
      </p:sp>
      <p:sp>
        <p:nvSpPr>
          <p:cNvPr id="33" name="Aviso"/>
          <p:cNvSpPr txBox="1"/>
          <p:nvPr/>
        </p:nvSpPr>
        <p:spPr>
          <a:xfrm>
            <a:off x="548640" y="5669280"/>
            <a:ext cx="11094415" cy="411480"/>
          </a:xfrm>
          <a:prstGeom prst="rect">
            <a:avLst/>
          </a:prstGeom>
          <a:noFill/>
        </p:spPr>
        <p:txBody>
          <a:bodyPr wrap="square" lIns="0" tIns="0" rIns="0" bIns="0" anchor="ctr">
            <a:spAutoFit/>
          </a:bodyPr>
          <a:lstStyle/>
          <a:p>
            <a:r>
              <a:rPr sz="1600" b="1" i="1">
                <a:solidFill>
                  <a:schemeClr val="accent3"/>
                </a:solidFill>
              </a:rPr>
              <a:t>Situación discutible a propósito: lo importante es el razonamiento, no acertar.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Criterio para resolver las dudas</a:t>
            </a:r>
            <a:endParaRPr lang="en-US" sz="3200" dirty="0"/>
          </a:p>
        </p:txBody>
      </p:sp>
      <p:sp>
        <p:nvSpPr>
          <p:cNvPr id="3" name="Etiqueta de tiempo"/>
          <p:cNvSpPr/>
          <p:nvPr/>
        </p:nvSpPr>
        <p:spPr>
          <a:xfrm>
            <a:off x="10180015" y="548640"/>
            <a:ext cx="1463040" cy="457200"/>
          </a:xfrm>
          <a:prstGeom prst="roundRect">
            <a:avLst>
              <a:gd name="adj" fmla="val 50000"/>
            </a:avLst>
          </a:prstGeom>
          <a:solidFill>
            <a:schemeClr val="bg2"/>
          </a:solidFill>
          <a:ln/>
        </p:spPr>
      </p:sp>
      <p:sp>
        <p:nvSpPr>
          <p:cNvPr id="4" name="Text 2"/>
          <p:cNvSpPr txBox="1"/>
          <p:nvPr/>
        </p:nvSpPr>
        <p:spPr>
          <a:xfrm>
            <a:off x="10180015" y="548640"/>
            <a:ext cx="146304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a:t>
            </a:r>
            <a:endParaRPr lang="en-US" sz="1400" dirty="0"/>
          </a:p>
        </p:txBody>
      </p:sp>
      <p:sp>
        <p:nvSpPr>
          <p:cNvPr id="5" name="Una idea nueva"/>
          <p:cNvSpPr/>
          <p:nvPr/>
        </p:nvSpPr>
        <p:spPr>
          <a:xfrm>
            <a:off x="548640" y="1828800"/>
            <a:ext cx="2331720" cy="1371600"/>
          </a:xfrm>
          <a:prstGeom prst="roundRect">
            <a:avLst>
              <a:gd name="adj" fmla="val 10000"/>
            </a:avLst>
          </a:prstGeom>
          <a:solidFill>
            <a:schemeClr val="accent1"/>
          </a:solidFill>
          <a:ln/>
        </p:spPr>
      </p:sp>
      <p:sp>
        <p:nvSpPr>
          <p:cNvPr id="6" name="Text 4"/>
          <p:cNvSpPr txBox="1"/>
          <p:nvPr/>
        </p:nvSpPr>
        <p:spPr>
          <a:xfrm>
            <a:off x="685800"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Una idea nueva</a:t>
            </a:r>
            <a:endParaRPr lang="en-US" sz="2100" dirty="0"/>
          </a:p>
        </p:txBody>
      </p:sp>
      <p:sp>
        <p:nvSpPr>
          <p:cNvPr id="7" name="Shape 5"/>
          <p:cNvSpPr/>
          <p:nvPr/>
        </p:nvSpPr>
        <p:spPr>
          <a:xfrm>
            <a:off x="2990088" y="2514600"/>
            <a:ext cx="369722" cy="0"/>
          </a:xfrm>
          <a:prstGeom prst="line">
            <a:avLst/>
          </a:prstGeom>
          <a:noFill/>
          <a:ln w="31750">
            <a:solidFill>
              <a:srgbClr val="3A4664"/>
            </a:solidFill>
            <a:prstDash val="solid"/>
            <a:tailEnd type="triangle"/>
          </a:ln>
        </p:spPr>
      </p:sp>
      <p:sp>
        <p:nvSpPr>
          <p:cNvPr id="8" name="Text 6"/>
          <p:cNvSpPr txBox="1"/>
          <p:nvPr/>
        </p:nvSpPr>
        <p:spPr>
          <a:xfrm>
            <a:off x="2880360"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9" name="¿Se ha puesto en práctica?"/>
          <p:cNvSpPr/>
          <p:nvPr/>
        </p:nvSpPr>
        <p:spPr>
          <a:xfrm>
            <a:off x="3469538" y="1828800"/>
            <a:ext cx="2331720" cy="1371600"/>
          </a:xfrm>
          <a:prstGeom prst="roundRect">
            <a:avLst>
              <a:gd name="adj" fmla="val 10000"/>
            </a:avLst>
          </a:prstGeom>
          <a:solidFill>
            <a:schemeClr val="bg2"/>
          </a:solidFill>
          <a:ln/>
        </p:spPr>
      </p:sp>
      <p:sp>
        <p:nvSpPr>
          <p:cNvPr id="10" name="Text 8"/>
          <p:cNvSpPr txBox="1"/>
          <p:nvPr/>
        </p:nvSpPr>
        <p:spPr>
          <a:xfrm>
            <a:off x="3606698"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¿Se ha puesto en práctica?</a:t>
            </a:r>
            <a:endParaRPr lang="en-US" sz="2100" dirty="0"/>
          </a:p>
        </p:txBody>
      </p:sp>
      <p:sp>
        <p:nvSpPr>
          <p:cNvPr id="11" name="Shape 9"/>
          <p:cNvSpPr/>
          <p:nvPr/>
        </p:nvSpPr>
        <p:spPr>
          <a:xfrm>
            <a:off x="5910986" y="2514600"/>
            <a:ext cx="369722" cy="0"/>
          </a:xfrm>
          <a:prstGeom prst="line">
            <a:avLst/>
          </a:prstGeom>
          <a:noFill/>
          <a:ln w="31750">
            <a:solidFill>
              <a:srgbClr val="3A4664"/>
            </a:solidFill>
            <a:prstDash val="solid"/>
            <a:tailEnd type="triangle"/>
          </a:ln>
        </p:spPr>
      </p:sp>
      <p:sp>
        <p:nvSpPr>
          <p:cNvPr id="12" name="Text 10"/>
          <p:cNvSpPr txBox="1"/>
          <p:nvPr/>
        </p:nvSpPr>
        <p:spPr>
          <a:xfrm>
            <a:off x="5801258"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13" name="¿Aporta valor?"/>
          <p:cNvSpPr/>
          <p:nvPr/>
        </p:nvSpPr>
        <p:spPr>
          <a:xfrm>
            <a:off x="6390437" y="1828800"/>
            <a:ext cx="2331720" cy="1371600"/>
          </a:xfrm>
          <a:prstGeom prst="roundRect">
            <a:avLst>
              <a:gd name="adj" fmla="val 10000"/>
            </a:avLst>
          </a:prstGeom>
          <a:solidFill>
            <a:schemeClr val="bg2"/>
          </a:solidFill>
          <a:ln/>
        </p:spPr>
      </p:sp>
      <p:sp>
        <p:nvSpPr>
          <p:cNvPr id="14" name="Text 12"/>
          <p:cNvSpPr txBox="1"/>
          <p:nvPr/>
        </p:nvSpPr>
        <p:spPr>
          <a:xfrm>
            <a:off x="6527597"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¿Aporta valor?</a:t>
            </a:r>
            <a:endParaRPr lang="en-US" sz="2100" dirty="0"/>
          </a:p>
        </p:txBody>
      </p:sp>
      <p:sp>
        <p:nvSpPr>
          <p:cNvPr id="15" name="Shape 13"/>
          <p:cNvSpPr/>
          <p:nvPr/>
        </p:nvSpPr>
        <p:spPr>
          <a:xfrm>
            <a:off x="8831885" y="2514600"/>
            <a:ext cx="369722" cy="0"/>
          </a:xfrm>
          <a:prstGeom prst="line">
            <a:avLst/>
          </a:prstGeom>
          <a:noFill/>
          <a:ln w="31750">
            <a:solidFill>
              <a:srgbClr val="3A4664"/>
            </a:solidFill>
            <a:prstDash val="solid"/>
            <a:tailEnd type="triangle"/>
          </a:ln>
        </p:spPr>
      </p:sp>
      <p:sp>
        <p:nvSpPr>
          <p:cNvPr id="16" name="Text 14"/>
          <p:cNvSpPr txBox="1"/>
          <p:nvPr/>
        </p:nvSpPr>
        <p:spPr>
          <a:xfrm>
            <a:off x="8722157"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17" name="Innovación"/>
          <p:cNvSpPr/>
          <p:nvPr/>
        </p:nvSpPr>
        <p:spPr>
          <a:xfrm>
            <a:off x="9311335" y="1828800"/>
            <a:ext cx="2331720" cy="1371600"/>
          </a:xfrm>
          <a:prstGeom prst="roundRect">
            <a:avLst>
              <a:gd name="adj" fmla="val 10000"/>
            </a:avLst>
          </a:prstGeom>
          <a:solidFill>
            <a:schemeClr val="accent3"/>
          </a:solidFill>
          <a:ln/>
        </p:spPr>
      </p:sp>
      <p:sp>
        <p:nvSpPr>
          <p:cNvPr id="18" name="Text 16"/>
          <p:cNvSpPr txBox="1"/>
          <p:nvPr/>
        </p:nvSpPr>
        <p:spPr>
          <a:xfrm>
            <a:off x="9448495" y="1828800"/>
            <a:ext cx="2057400" cy="1371600"/>
          </a:xfrm>
          <a:prstGeom prst="rect">
            <a:avLst/>
          </a:prstGeom>
          <a:noFill/>
          <a:ln/>
        </p:spPr>
        <p:txBody>
          <a:bodyPr wrap="square" lIns="0" tIns="0" rIns="0" bIns="0" rtlCol="0" anchor="ctr"/>
          <a:lstStyle/>
          <a:p>
            <a:pPr marL="0" indent="0" algn="ctr">
              <a:buNone/>
            </a:pPr>
            <a:r>
              <a:rPr lang="en-US" sz="2100" b="1" dirty="0">
                <a:solidFill>
                  <a:schemeClr val="bg1"/>
                </a:solidFill>
              </a:rPr>
              <a:t>Innovación</a:t>
            </a:r>
            <a:endParaRPr lang="en-US" sz="2100" dirty="0"/>
          </a:p>
        </p:txBody>
      </p:sp>
      <p:sp>
        <p:nvSpPr>
          <p:cNvPr id="19" name="Shape 17"/>
          <p:cNvSpPr/>
          <p:nvPr/>
        </p:nvSpPr>
        <p:spPr>
          <a:xfrm>
            <a:off x="4635398" y="3246120"/>
            <a:ext cx="914" cy="548640"/>
          </a:xfrm>
          <a:prstGeom prst="line">
            <a:avLst/>
          </a:prstGeom>
          <a:noFill/>
          <a:ln w="31750">
            <a:solidFill>
              <a:srgbClr val="3A4664"/>
            </a:solidFill>
            <a:prstDash val="solid"/>
            <a:tailEnd type="triangle"/>
          </a:ln>
        </p:spPr>
      </p:sp>
      <p:sp>
        <p:nvSpPr>
          <p:cNvPr id="20" name="Text 18"/>
          <p:cNvSpPr txBox="1"/>
          <p:nvPr/>
        </p:nvSpPr>
        <p:spPr>
          <a:xfrm>
            <a:off x="3103778" y="3840480"/>
            <a:ext cx="3063240" cy="457200"/>
          </a:xfrm>
          <a:prstGeom prst="rect">
            <a:avLst/>
          </a:prstGeom>
          <a:noFill/>
          <a:ln/>
        </p:spPr>
        <p:txBody>
          <a:bodyPr wrap="square" lIns="0" tIns="0" rIns="0" bIns="0" rtlCol="0" anchor="ctr"/>
          <a:lstStyle/>
          <a:p>
            <a:pPr marL="0" indent="0" algn="ctr">
              <a:buNone/>
            </a:pPr>
            <a:r>
              <a:rPr lang="en-US" sz="1700" b="1" dirty="0">
                <a:solidFill>
                  <a:schemeClr val="tx1"/>
                </a:solidFill>
              </a:rPr>
              <a:t>No: </a:t>
            </a:r>
            <a:r>
              <a:rPr lang="en-US" sz="1700" dirty="0">
                <a:solidFill>
                  <a:schemeClr val="tx1"/>
                </a:solidFill>
              </a:rPr>
              <a:t>sigue siendo creatividad</a:t>
            </a:r>
            <a:endParaRPr lang="en-US" sz="1700" dirty="0"/>
          </a:p>
        </p:txBody>
      </p:sp>
      <p:sp>
        <p:nvSpPr>
          <p:cNvPr id="21" name="Tarjeta"/>
          <p:cNvSpPr/>
          <p:nvPr/>
        </p:nvSpPr>
        <p:spPr>
          <a:xfrm>
            <a:off x="548640" y="4572000"/>
            <a:ext cx="11094415" cy="960120"/>
          </a:xfrm>
          <a:prstGeom prst="roundRect">
            <a:avLst>
              <a:gd name="adj" fmla="val 14286"/>
            </a:avLst>
          </a:prstGeom>
          <a:solidFill>
            <a:schemeClr val="bg2"/>
          </a:solidFill>
          <a:ln/>
        </p:spPr>
      </p:sp>
      <p:sp>
        <p:nvSpPr>
          <p:cNvPr id="22" name="Competencia digital"/>
          <p:cNvSpPr/>
          <p:nvPr/>
        </p:nvSpPr>
        <p:spPr>
          <a:xfrm>
            <a:off x="777240" y="4727448"/>
            <a:ext cx="640080" cy="640080"/>
          </a:xfrm>
          <a:prstGeom prst="ellipse">
            <a:avLst/>
          </a:prstGeom>
          <a:solidFill>
            <a:schemeClr val="accent4"/>
          </a:solidFill>
          <a:ln/>
        </p:spPr>
      </p:sp>
      <p:pic>
        <p:nvPicPr>
          <p:cNvPr id="23" name="Image 0" descr="Competencia digital"/>
          <p:cNvPicPr>
            <a:picLocks noChangeAspect="1"/>
          </p:cNvPicPr>
          <p:nvPr/>
        </p:nvPicPr>
        <p:blipFill>
          <a:blip r:embed="rId3"/>
          <a:stretch>
            <a:fillRect/>
          </a:stretch>
        </p:blipFill>
        <p:spPr>
          <a:xfrm>
            <a:off x="930859" y="4881067"/>
            <a:ext cx="332842" cy="332842"/>
          </a:xfrm>
          <a:prstGeom prst="rect">
            <a:avLst/>
          </a:prstGeom>
        </p:spPr>
      </p:pic>
      <p:sp>
        <p:nvSpPr>
          <p:cNvPr id="24" name="Text 21"/>
          <p:cNvSpPr txBox="1"/>
          <p:nvPr/>
        </p:nvSpPr>
        <p:spPr>
          <a:xfrm>
            <a:off x="1645920" y="4572000"/>
            <a:ext cx="9722815" cy="960120"/>
          </a:xfrm>
          <a:prstGeom prst="rect">
            <a:avLst/>
          </a:prstGeom>
          <a:noFill/>
          <a:ln/>
        </p:spPr>
        <p:txBody>
          <a:bodyPr wrap="square" lIns="0" tIns="0" rIns="0" bIns="0" rtlCol="0" anchor="ctr"/>
          <a:lstStyle/>
          <a:p>
            <a:pPr marL="0" indent="0">
              <a:buNone/>
            </a:pPr>
            <a:r>
              <a:rPr lang="en-US" sz="1900" dirty="0">
                <a:solidFill>
                  <a:schemeClr val="tx1"/>
                </a:solidFill>
              </a:rPr>
              <a:t>Usar una herramienta digital sin cambiar cómo se trabaja es competencia digital.</a:t>
            </a:r>
            <a:endParaRPr lang="en-US" sz="1900" dirty="0"/>
          </a:p>
        </p:txBody>
      </p:sp>
      <p:sp>
        <p:nvSpPr>
          <p:cNvPr id="25" name="Text 22"/>
          <p:cNvSpPr txBox="1"/>
          <p:nvPr/>
        </p:nvSpPr>
        <p:spPr>
          <a:xfrm>
            <a:off x="548640" y="5669280"/>
            <a:ext cx="11094415" cy="457200"/>
          </a:xfrm>
          <a:prstGeom prst="rect">
            <a:avLst/>
          </a:prstGeom>
          <a:noFill/>
          <a:ln/>
        </p:spPr>
        <p:txBody>
          <a:bodyPr wrap="square" lIns="0" tIns="0" rIns="0" bIns="0" rtlCol="0" anchor="ctr"/>
          <a:lstStyle/>
          <a:p>
            <a:pPr marL="0" indent="0">
              <a:buNone/>
            </a:pPr>
            <a:r>
              <a:rPr lang="en-US" sz="1900" b="1" dirty="0">
                <a:solidFill>
                  <a:schemeClr val="accent3"/>
                </a:solidFill>
              </a:rPr>
              <a:t>Lo importante es el razonamiento, no acertar.</a:t>
            </a:r>
            <a:endParaRPr lang="en-US" sz="19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Abrid el cuaderno de ejercicios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 · Cada persona</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cuaderno_ejercicios.docx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Escribid vuestro nombre en la portada.</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Id al «Bloque 1»: el clip y el Ejercicio 1 se anotan ahí.</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Lo vuestro va en los recuadros ámbar; lo que diga la IA, en los verdes.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¿Para </a:t>
            </a:r>
            <a:r>
              <a:rPr lang="en-US" sz="3200" b="1" dirty="0" err="1">
                <a:solidFill>
                  <a:schemeClr val="tx1"/>
                </a:solidFill>
              </a:rPr>
              <a:t>qué</a:t>
            </a:r>
            <a:r>
              <a:rPr lang="en-US" sz="3200" b="1" dirty="0">
                <a:solidFill>
                  <a:schemeClr val="tx1"/>
                </a:solidFill>
              </a:rPr>
              <a:t> se </a:t>
            </a:r>
            <a:r>
              <a:rPr lang="en-US" sz="3200" b="1" dirty="0" err="1">
                <a:solidFill>
                  <a:schemeClr val="tx1"/>
                </a:solidFill>
              </a:rPr>
              <a:t>podría</a:t>
            </a:r>
            <a:r>
              <a:rPr lang="en-US" sz="3200" b="1">
                <a:solidFill>
                  <a:schemeClr val="tx1"/>
                </a:solidFill>
              </a:rPr>
              <a:t> usar un </a:t>
            </a:r>
            <a:r>
              <a:rPr lang="en-US" sz="3200" b="1" dirty="0">
                <a:solidFill>
                  <a:schemeClr val="tx1"/>
                </a:solidFill>
              </a:rPr>
              <a:t>clip?</a:t>
            </a:r>
            <a:endParaRPr lang="en-US" sz="3200" dirty="0"/>
          </a:p>
        </p:txBody>
      </p:sp>
      <p:sp>
        <p:nvSpPr>
          <p:cNvPr id="3" name="Etiqueta de tiempo"/>
          <p:cNvSpPr/>
          <p:nvPr/>
        </p:nvSpPr>
        <p:spPr>
          <a:xfrm>
            <a:off x="8767267" y="548640"/>
            <a:ext cx="2875788" cy="457200"/>
          </a:xfrm>
          <a:prstGeom prst="roundRect">
            <a:avLst>
              <a:gd name="adj" fmla="val 50000"/>
            </a:avLst>
          </a:prstGeom>
          <a:solidFill>
            <a:schemeClr val="accent1"/>
          </a:solidFill>
          <a:ln/>
        </p:spPr>
      </p:sp>
      <p:sp>
        <p:nvSpPr>
          <p:cNvPr id="4" name="Text 2"/>
          <p:cNvSpPr txBox="1"/>
          <p:nvPr/>
        </p:nvSpPr>
        <p:spPr>
          <a:xfrm>
            <a:off x="8767267" y="548640"/>
            <a:ext cx="2875788" cy="457200"/>
          </a:xfrm>
          <a:prstGeom prst="rect">
            <a:avLst/>
          </a:prstGeom>
          <a:noFill/>
          <a:ln/>
        </p:spPr>
        <p:txBody>
          <a:bodyPr wrap="square" lIns="0" tIns="0" rIns="0" bIns="0" rtlCol="0" anchor="ctr"/>
          <a:lstStyle/>
          <a:p>
            <a:pPr marL="0" indent="0" algn="ctr">
              <a:buNone/>
            </a:pPr>
            <a:r>
              <a:rPr lang="en-US" sz="1400" b="1" dirty="0">
                <a:solidFill>
                  <a:schemeClr val="tx1"/>
                </a:solidFill>
              </a:rPr>
              <a:t>Min. 10–12 · Individual</a:t>
            </a:r>
            <a:endParaRPr lang="en-US" sz="1400" dirty="0"/>
          </a:p>
        </p:txBody>
      </p:sp>
      <p:sp>
        <p:nvSpPr>
          <p:cNvPr id="5" name="Clip"/>
          <p:cNvSpPr/>
          <p:nvPr/>
        </p:nvSpPr>
        <p:spPr>
          <a:xfrm>
            <a:off x="914400" y="1645920"/>
            <a:ext cx="3291840" cy="3291840"/>
          </a:xfrm>
          <a:prstGeom prst="ellipse">
            <a:avLst/>
          </a:prstGeom>
          <a:solidFill>
            <a:schemeClr val="accent1"/>
          </a:solidFill>
          <a:ln/>
        </p:spPr>
      </p:sp>
      <p:pic>
        <p:nvPicPr>
          <p:cNvPr id="6" name="Image 0" descr="Clip"/>
          <p:cNvPicPr>
            <a:picLocks noChangeAspect="1"/>
          </p:cNvPicPr>
          <p:nvPr/>
        </p:nvPicPr>
        <p:blipFill>
          <a:blip r:embed="rId3"/>
          <a:stretch>
            <a:fillRect/>
          </a:stretch>
        </p:blipFill>
        <p:spPr>
          <a:xfrm>
            <a:off x="1704442" y="2435962"/>
            <a:ext cx="1711757" cy="1711757"/>
          </a:xfrm>
          <a:prstGeom prst="rect">
            <a:avLst/>
          </a:prstGeom>
        </p:spPr>
      </p:pic>
      <p:sp>
        <p:nvSpPr>
          <p:cNvPr id="7" name="90 segundos"/>
          <p:cNvSpPr/>
          <p:nvPr/>
        </p:nvSpPr>
        <p:spPr>
          <a:xfrm>
            <a:off x="5029200" y="1828800"/>
            <a:ext cx="777240" cy="777240"/>
          </a:xfrm>
          <a:prstGeom prst="ellipse">
            <a:avLst/>
          </a:prstGeom>
          <a:solidFill>
            <a:schemeClr val="tx2"/>
          </a:solidFill>
          <a:ln/>
        </p:spPr>
      </p:sp>
      <p:pic>
        <p:nvPicPr>
          <p:cNvPr id="8" name="Image 1" descr="90 segundos"/>
          <p:cNvPicPr>
            <a:picLocks noChangeAspect="1"/>
          </p:cNvPicPr>
          <p:nvPr/>
        </p:nvPicPr>
        <p:blipFill>
          <a:blip r:embed="rId4"/>
          <a:stretch>
            <a:fillRect/>
          </a:stretch>
        </p:blipFill>
        <p:spPr>
          <a:xfrm>
            <a:off x="5215738" y="2015338"/>
            <a:ext cx="404165" cy="404165"/>
          </a:xfrm>
          <a:prstGeom prst="rect">
            <a:avLst/>
          </a:prstGeom>
        </p:spPr>
      </p:pic>
      <p:sp>
        <p:nvSpPr>
          <p:cNvPr id="9" name="Text 5"/>
          <p:cNvSpPr txBox="1"/>
          <p:nvPr/>
        </p:nvSpPr>
        <p:spPr>
          <a:xfrm>
            <a:off x="6035040" y="1828800"/>
            <a:ext cx="5577840" cy="777240"/>
          </a:xfrm>
          <a:prstGeom prst="rect">
            <a:avLst/>
          </a:prstGeom>
          <a:noFill/>
          <a:ln/>
        </p:spPr>
        <p:txBody>
          <a:bodyPr wrap="square" lIns="0" tIns="0" rIns="0" bIns="0" rtlCol="0" anchor="ctr"/>
          <a:lstStyle/>
          <a:p>
            <a:pPr marL="0" indent="0">
              <a:buNone/>
            </a:pPr>
            <a:r>
              <a:rPr lang="en-US" sz="2400" dirty="0">
                <a:solidFill>
                  <a:schemeClr val="tx1"/>
                </a:solidFill>
              </a:rPr>
              <a:t>No </a:t>
            </a:r>
            <a:r>
              <a:rPr lang="en-US" sz="2400" dirty="0" err="1">
                <a:solidFill>
                  <a:schemeClr val="tx1"/>
                </a:solidFill>
              </a:rPr>
              <a:t>más</a:t>
            </a:r>
            <a:r>
              <a:rPr lang="en-US" sz="2400" dirty="0">
                <a:solidFill>
                  <a:schemeClr val="tx1"/>
                </a:solidFill>
              </a:rPr>
              <a:t> de 5 </a:t>
            </a:r>
            <a:r>
              <a:rPr lang="en-US" sz="2400" dirty="0" err="1">
                <a:solidFill>
                  <a:schemeClr val="tx1"/>
                </a:solidFill>
              </a:rPr>
              <a:t>minutos</a:t>
            </a:r>
            <a:endParaRPr lang="en-US" sz="2400" dirty="0"/>
          </a:p>
        </p:txBody>
      </p:sp>
      <p:sp>
        <p:nvSpPr>
          <p:cNvPr id="10" name="En silencio"/>
          <p:cNvSpPr/>
          <p:nvPr/>
        </p:nvSpPr>
        <p:spPr>
          <a:xfrm>
            <a:off x="5029200" y="2880360"/>
            <a:ext cx="777240" cy="777240"/>
          </a:xfrm>
          <a:prstGeom prst="ellipse">
            <a:avLst/>
          </a:prstGeom>
          <a:solidFill>
            <a:schemeClr val="tx2"/>
          </a:solidFill>
          <a:ln/>
        </p:spPr>
      </p:sp>
      <p:pic>
        <p:nvPicPr>
          <p:cNvPr id="11" name="Image 2" descr="En silencio"/>
          <p:cNvPicPr>
            <a:picLocks noChangeAspect="1"/>
          </p:cNvPicPr>
          <p:nvPr/>
        </p:nvPicPr>
        <p:blipFill>
          <a:blip r:embed="rId5"/>
          <a:stretch>
            <a:fillRect/>
          </a:stretch>
        </p:blipFill>
        <p:spPr>
          <a:xfrm>
            <a:off x="5215738" y="3066898"/>
            <a:ext cx="404165" cy="404165"/>
          </a:xfrm>
          <a:prstGeom prst="rect">
            <a:avLst/>
          </a:prstGeom>
        </p:spPr>
      </p:pic>
      <p:sp>
        <p:nvSpPr>
          <p:cNvPr id="12" name="Text 7"/>
          <p:cNvSpPr txBox="1"/>
          <p:nvPr/>
        </p:nvSpPr>
        <p:spPr>
          <a:xfrm>
            <a:off x="6035040" y="2880360"/>
            <a:ext cx="5577840" cy="777240"/>
          </a:xfrm>
          <a:prstGeom prst="rect">
            <a:avLst/>
          </a:prstGeom>
          <a:noFill/>
          <a:ln/>
        </p:spPr>
        <p:txBody>
          <a:bodyPr wrap="square" lIns="0" tIns="0" rIns="0" bIns="0" rtlCol="0" anchor="ctr"/>
          <a:lstStyle/>
          <a:p>
            <a:pPr marL="0" indent="0">
              <a:buNone/>
            </a:pPr>
            <a:r>
              <a:rPr lang="en-US" sz="2400" dirty="0">
                <a:solidFill>
                  <a:schemeClr val="tx1"/>
                </a:solidFill>
              </a:rPr>
              <a:t>En silencio</a:t>
            </a:r>
            <a:endParaRPr lang="en-US" sz="2400" dirty="0"/>
          </a:p>
        </p:txBody>
      </p:sp>
      <p:sp>
        <p:nvSpPr>
          <p:cNvPr id="13" name="Por escrito: todos los usos que se os ocurran"/>
          <p:cNvSpPr/>
          <p:nvPr/>
        </p:nvSpPr>
        <p:spPr>
          <a:xfrm>
            <a:off x="5029200" y="3931920"/>
            <a:ext cx="777240" cy="777240"/>
          </a:xfrm>
          <a:prstGeom prst="ellipse">
            <a:avLst/>
          </a:prstGeom>
          <a:solidFill>
            <a:schemeClr val="tx2"/>
          </a:solidFill>
          <a:ln/>
        </p:spPr>
      </p:sp>
      <p:pic>
        <p:nvPicPr>
          <p:cNvPr id="14" name="Image 3" descr="Por escrito: todos los usos que se os ocurran"/>
          <p:cNvPicPr>
            <a:picLocks noChangeAspect="1"/>
          </p:cNvPicPr>
          <p:nvPr/>
        </p:nvPicPr>
        <p:blipFill>
          <a:blip r:embed="rId6"/>
          <a:stretch>
            <a:fillRect/>
          </a:stretch>
        </p:blipFill>
        <p:spPr>
          <a:xfrm>
            <a:off x="5215738" y="4118458"/>
            <a:ext cx="404165" cy="404165"/>
          </a:xfrm>
          <a:prstGeom prst="rect">
            <a:avLst/>
          </a:prstGeom>
        </p:spPr>
      </p:pic>
      <p:sp>
        <p:nvSpPr>
          <p:cNvPr id="15" name="Text 9"/>
          <p:cNvSpPr txBox="1"/>
          <p:nvPr/>
        </p:nvSpPr>
        <p:spPr>
          <a:xfrm>
            <a:off x="6035040" y="3931920"/>
            <a:ext cx="5577840" cy="777240"/>
          </a:xfrm>
          <a:prstGeom prst="rect">
            <a:avLst/>
          </a:prstGeom>
          <a:noFill/>
          <a:ln/>
        </p:spPr>
        <p:txBody>
          <a:bodyPr wrap="square" lIns="0" tIns="0" rIns="0" bIns="0" rtlCol="0" anchor="ctr"/>
          <a:lstStyle/>
          <a:p>
            <a:pPr marL="0" indent="0">
              <a:buNone/>
            </a:pPr>
            <a:r>
              <a:rPr lang="en-US" sz="2400" dirty="0">
                <a:solidFill>
                  <a:schemeClr val="tx1"/>
                </a:solidFill>
              </a:rPr>
              <a:t>Por escrito: todos los usos que se os ocurran</a:t>
            </a:r>
            <a:endParaRPr lang="en-US" sz="2400" dirty="0"/>
          </a:p>
        </p:txBody>
      </p:sp>
      <p:sp>
        <p:nvSpPr>
          <p:cNvPr id="16" name="Text 10"/>
          <p:cNvSpPr txBox="1"/>
          <p:nvPr/>
        </p:nvSpPr>
        <p:spPr>
          <a:xfrm>
            <a:off x="5029200" y="5166360"/>
            <a:ext cx="6583680" cy="548640"/>
          </a:xfrm>
          <a:prstGeom prst="rect">
            <a:avLst/>
          </a:prstGeom>
          <a:noFill/>
          <a:ln/>
        </p:spPr>
        <p:txBody>
          <a:bodyPr wrap="square" lIns="0" tIns="0" rIns="0" bIns="0" rtlCol="0" anchor="ctr"/>
          <a:lstStyle/>
          <a:p>
            <a:pPr marL="0" indent="0">
              <a:buNone/>
            </a:pPr>
            <a:r>
              <a:rPr lang="en-US" sz="2000" b="1" dirty="0">
                <a:solidFill>
                  <a:schemeClr val="tx2"/>
                </a:solidFill>
              </a:rPr>
              <a:t>Después: ¿cuántos usos habéis escrito?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26</a:t>
            </a:fld>
            <a:endParaRPr lang="en-US"/>
          </a:p>
        </p:txBody>
      </p:sp>
      <p:sp>
        <p:nvSpPr>
          <p:cNvPr id="26" name="Dónde escribir"/>
          <p:cNvSpPr/>
          <p:nvPr/>
        </p:nvSpPr>
        <p:spPr>
          <a:xfrm>
            <a:off x="6404457" y="6291072"/>
            <a:ext cx="4522622"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1  ›  Calentamiento</a:t>
            </a:r>
          </a:p>
        </p:txBody>
      </p:sp>
      <p:sp>
        <p:nvSpPr>
          <p:cNvPr id="27" name="Dónde escribir: círculo"/>
          <p:cNvSpPr/>
          <p:nvPr/>
        </p:nvSpPr>
        <p:spPr>
          <a:xfrm>
            <a:off x="6459321"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7"/>
          <a:stretch>
            <a:fillRect/>
          </a:stretch>
        </p:blipFill>
        <p:spPr>
          <a:xfrm>
            <a:off x="6532473" y="6409944"/>
            <a:ext cx="146304" cy="146304"/>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No vendemos el clip: vendemos su idea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12–14</a:t>
            </a:r>
            <a:endParaRPr lang="en-US" sz="1400" dirty="0"/>
          </a:p>
        </p:txBody>
      </p:sp>
      <p:sp>
        <p:nvSpPr>
          <p:cNvPr id="5" name="Text 3"/>
          <p:cNvSpPr txBox="1"/>
          <p:nvPr/>
        </p:nvSpPr>
        <p:spPr>
          <a:xfrm>
            <a:off x="548640" y="1325880"/>
            <a:ext cx="3108960" cy="457200"/>
          </a:xfrm>
          <a:prstGeom prst="rect">
            <a:avLst/>
          </a:prstGeom>
          <a:noFill/>
          <a:ln/>
        </p:spPr>
        <p:txBody>
          <a:bodyPr wrap="square" lIns="0" tIns="0" rIns="0" bIns="0" rtlCol="0" anchor="ctr"/>
          <a:lstStyle/>
          <a:p>
            <a:pPr marL="0" indent="0">
              <a:buNone/>
            </a:pPr>
            <a:r>
              <a:rPr lang="en-US" sz="1800" b="1" dirty="0">
                <a:solidFill>
                  <a:schemeClr val="tx1"/>
                </a:solidFill>
              </a:rPr>
              <a:t>Del clip tomamos el concepto:</a:t>
            </a:r>
            <a:endParaRPr lang="en-US" sz="1800" dirty="0"/>
          </a:p>
        </p:txBody>
      </p:sp>
      <p:sp>
        <p:nvSpPr>
          <p:cNvPr id="6" name="Sujetar por presión"/>
          <p:cNvSpPr/>
          <p:nvPr/>
        </p:nvSpPr>
        <p:spPr>
          <a:xfrm>
            <a:off x="3520440" y="1325880"/>
            <a:ext cx="2514600" cy="457200"/>
          </a:xfrm>
          <a:prstGeom prst="roundRect">
            <a:avLst>
              <a:gd name="adj" fmla="val 50000"/>
            </a:avLst>
          </a:prstGeom>
          <a:solidFill>
            <a:schemeClr val="accent3"/>
          </a:solidFill>
          <a:ln/>
        </p:spPr>
      </p:sp>
      <p:sp>
        <p:nvSpPr>
          <p:cNvPr id="7" name="Text 5"/>
          <p:cNvSpPr txBox="1"/>
          <p:nvPr/>
        </p:nvSpPr>
        <p:spPr>
          <a:xfrm>
            <a:off x="352044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Sujetar por presión</a:t>
            </a:r>
            <a:endParaRPr lang="en-US" sz="1500" dirty="0"/>
          </a:p>
        </p:txBody>
      </p:sp>
      <p:sp>
        <p:nvSpPr>
          <p:cNvPr id="8" name="Doblarse sin romperse"/>
          <p:cNvSpPr/>
          <p:nvPr/>
        </p:nvSpPr>
        <p:spPr>
          <a:xfrm>
            <a:off x="6217920" y="1325880"/>
            <a:ext cx="2514600" cy="457200"/>
          </a:xfrm>
          <a:prstGeom prst="roundRect">
            <a:avLst>
              <a:gd name="adj" fmla="val 50000"/>
            </a:avLst>
          </a:prstGeom>
          <a:solidFill>
            <a:schemeClr val="accent4"/>
          </a:solidFill>
          <a:ln/>
        </p:spPr>
      </p:sp>
      <p:sp>
        <p:nvSpPr>
          <p:cNvPr id="9" name="Text 7"/>
          <p:cNvSpPr txBox="1"/>
          <p:nvPr/>
        </p:nvSpPr>
        <p:spPr>
          <a:xfrm>
            <a:off x="621792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Doblarse sin romperse</a:t>
            </a:r>
            <a:endParaRPr lang="en-US" sz="1500" dirty="0"/>
          </a:p>
        </p:txBody>
      </p:sp>
      <p:sp>
        <p:nvSpPr>
          <p:cNvPr id="10" name="Unir y separar fácilmente"/>
          <p:cNvSpPr/>
          <p:nvPr/>
        </p:nvSpPr>
        <p:spPr>
          <a:xfrm>
            <a:off x="8915400" y="1325880"/>
            <a:ext cx="2514600" cy="457200"/>
          </a:xfrm>
          <a:prstGeom prst="roundRect">
            <a:avLst>
              <a:gd name="adj" fmla="val 50000"/>
            </a:avLst>
          </a:prstGeom>
          <a:solidFill>
            <a:schemeClr val="tx2"/>
          </a:solidFill>
          <a:ln/>
        </p:spPr>
      </p:sp>
      <p:sp>
        <p:nvSpPr>
          <p:cNvPr id="11" name="Text 9"/>
          <p:cNvSpPr txBox="1"/>
          <p:nvPr/>
        </p:nvSpPr>
        <p:spPr>
          <a:xfrm>
            <a:off x="891540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Unir y separar fácilmente</a:t>
            </a:r>
            <a:endParaRPr lang="en-US" sz="1500" dirty="0"/>
          </a:p>
        </p:txBody>
      </p:sp>
      <p:sp>
        <p:nvSpPr>
          <p:cNvPr id="12" name="Organizador de cables"/>
          <p:cNvSpPr/>
          <p:nvPr/>
        </p:nvSpPr>
        <p:spPr>
          <a:xfrm>
            <a:off x="548640" y="2057400"/>
            <a:ext cx="3515258" cy="1828800"/>
          </a:xfrm>
          <a:prstGeom prst="roundRect">
            <a:avLst>
              <a:gd name="adj" fmla="val 7500"/>
            </a:avLst>
          </a:prstGeom>
          <a:solidFill>
            <a:schemeClr val="bg2"/>
          </a:solidFill>
          <a:ln/>
        </p:spPr>
      </p:sp>
      <p:sp>
        <p:nvSpPr>
          <p:cNvPr id="13" name="Organizador de cables"/>
          <p:cNvSpPr/>
          <p:nvPr/>
        </p:nvSpPr>
        <p:spPr>
          <a:xfrm>
            <a:off x="777240" y="2258568"/>
            <a:ext cx="640080" cy="640080"/>
          </a:xfrm>
          <a:prstGeom prst="ellipse">
            <a:avLst/>
          </a:prstGeom>
          <a:solidFill>
            <a:schemeClr val="accent4"/>
          </a:solidFill>
          <a:ln/>
        </p:spPr>
      </p:sp>
      <p:pic>
        <p:nvPicPr>
          <p:cNvPr id="14" name="Image 0" descr="Organizador de cables"/>
          <p:cNvPicPr>
            <a:picLocks noChangeAspect="1"/>
          </p:cNvPicPr>
          <p:nvPr/>
        </p:nvPicPr>
        <p:blipFill>
          <a:blip r:embed="rId3"/>
          <a:stretch>
            <a:fillRect/>
          </a:stretch>
        </p:blipFill>
        <p:spPr>
          <a:xfrm>
            <a:off x="930859" y="2412187"/>
            <a:ext cx="332842" cy="332842"/>
          </a:xfrm>
          <a:prstGeom prst="rect">
            <a:avLst/>
          </a:prstGeom>
        </p:spPr>
      </p:pic>
      <p:sp>
        <p:nvSpPr>
          <p:cNvPr id="15" name="Text 12"/>
          <p:cNvSpPr txBox="1"/>
          <p:nvPr/>
        </p:nvSpPr>
        <p:spPr>
          <a:xfrm>
            <a:off x="1554480"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Organizador de cables</a:t>
            </a:r>
            <a:endParaRPr lang="en-US" sz="1800" dirty="0"/>
          </a:p>
        </p:txBody>
      </p:sp>
      <p:sp>
        <p:nvSpPr>
          <p:cNvPr id="16" name="Text 13"/>
          <p:cNvSpPr txBox="1"/>
          <p:nvPr/>
        </p:nvSpPr>
        <p:spPr>
          <a:xfrm>
            <a:off x="777240"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Pieza de silicona que agrupa los cargadores y evita enredos.</a:t>
            </a:r>
            <a:endParaRPr lang="en-US" sz="1400" dirty="0"/>
          </a:p>
        </p:txBody>
      </p:sp>
      <p:sp>
        <p:nvSpPr>
          <p:cNvPr id="17" name="Text 14"/>
          <p:cNvSpPr txBox="1"/>
          <p:nvPr/>
        </p:nvSpPr>
        <p:spPr>
          <a:xfrm>
            <a:off x="777240"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Teletrabajadores y viajeros</a:t>
            </a:r>
            <a:endParaRPr lang="en-US" sz="1200" dirty="0"/>
          </a:p>
        </p:txBody>
      </p:sp>
      <p:sp>
        <p:nvSpPr>
          <p:cNvPr id="18" name="Cierre para alimentos"/>
          <p:cNvSpPr/>
          <p:nvPr/>
        </p:nvSpPr>
        <p:spPr>
          <a:xfrm>
            <a:off x="4338218" y="2057400"/>
            <a:ext cx="3515258" cy="1828800"/>
          </a:xfrm>
          <a:prstGeom prst="roundRect">
            <a:avLst>
              <a:gd name="adj" fmla="val 7500"/>
            </a:avLst>
          </a:prstGeom>
          <a:solidFill>
            <a:schemeClr val="bg2"/>
          </a:solidFill>
          <a:ln/>
        </p:spPr>
      </p:sp>
      <p:sp>
        <p:nvSpPr>
          <p:cNvPr id="19" name="Cierre para alimentos"/>
          <p:cNvSpPr/>
          <p:nvPr/>
        </p:nvSpPr>
        <p:spPr>
          <a:xfrm>
            <a:off x="4566818" y="2258568"/>
            <a:ext cx="640080" cy="640080"/>
          </a:xfrm>
          <a:prstGeom prst="ellipse">
            <a:avLst/>
          </a:prstGeom>
          <a:solidFill>
            <a:schemeClr val="accent3"/>
          </a:solidFill>
          <a:ln/>
        </p:spPr>
      </p:sp>
      <p:pic>
        <p:nvPicPr>
          <p:cNvPr id="20" name="Image 1" descr="Cierre para alimentos"/>
          <p:cNvPicPr>
            <a:picLocks noChangeAspect="1"/>
          </p:cNvPicPr>
          <p:nvPr/>
        </p:nvPicPr>
        <p:blipFill>
          <a:blip r:embed="rId4"/>
          <a:stretch>
            <a:fillRect/>
          </a:stretch>
        </p:blipFill>
        <p:spPr>
          <a:xfrm>
            <a:off x="4720438" y="2412187"/>
            <a:ext cx="332842" cy="332842"/>
          </a:xfrm>
          <a:prstGeom prst="rect">
            <a:avLst/>
          </a:prstGeom>
        </p:spPr>
      </p:pic>
      <p:sp>
        <p:nvSpPr>
          <p:cNvPr id="21" name="Text 17"/>
          <p:cNvSpPr txBox="1"/>
          <p:nvPr/>
        </p:nvSpPr>
        <p:spPr>
          <a:xfrm>
            <a:off x="5344058"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Cierre para alimentos</a:t>
            </a:r>
            <a:endParaRPr lang="en-US" sz="1800" dirty="0"/>
          </a:p>
        </p:txBody>
      </p:sp>
      <p:sp>
        <p:nvSpPr>
          <p:cNvPr id="22" name="Text 18"/>
          <p:cNvSpPr txBox="1"/>
          <p:nvPr/>
        </p:nvSpPr>
        <p:spPr>
          <a:xfrm>
            <a:off x="4566818"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Pinza grande y reutilizable que mantiene cerrados los envases abiertos.</a:t>
            </a:r>
            <a:endParaRPr lang="en-US" sz="1400" dirty="0"/>
          </a:p>
        </p:txBody>
      </p:sp>
      <p:sp>
        <p:nvSpPr>
          <p:cNvPr id="23" name="Text 19"/>
          <p:cNvSpPr txBox="1"/>
          <p:nvPr/>
        </p:nvSpPr>
        <p:spPr>
          <a:xfrm>
            <a:off x="4566818"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Familias y tiendas de alimentación</a:t>
            </a:r>
            <a:endParaRPr lang="en-US" sz="1200" dirty="0"/>
          </a:p>
        </p:txBody>
      </p:sp>
      <p:sp>
        <p:nvSpPr>
          <p:cNvPr id="24" name="Conectores para muebles"/>
          <p:cNvSpPr/>
          <p:nvPr/>
        </p:nvSpPr>
        <p:spPr>
          <a:xfrm>
            <a:off x="8127797" y="2057400"/>
            <a:ext cx="3515258" cy="1828800"/>
          </a:xfrm>
          <a:prstGeom prst="roundRect">
            <a:avLst>
              <a:gd name="adj" fmla="val 7500"/>
            </a:avLst>
          </a:prstGeom>
          <a:solidFill>
            <a:schemeClr val="bg2"/>
          </a:solidFill>
          <a:ln/>
        </p:spPr>
      </p:sp>
      <p:sp>
        <p:nvSpPr>
          <p:cNvPr id="25" name="Conectores para muebles"/>
          <p:cNvSpPr/>
          <p:nvPr/>
        </p:nvSpPr>
        <p:spPr>
          <a:xfrm>
            <a:off x="8356397" y="2258568"/>
            <a:ext cx="640080" cy="640080"/>
          </a:xfrm>
          <a:prstGeom prst="ellipse">
            <a:avLst/>
          </a:prstGeom>
          <a:solidFill>
            <a:schemeClr val="tx2"/>
          </a:solidFill>
          <a:ln/>
        </p:spPr>
      </p:sp>
      <p:pic>
        <p:nvPicPr>
          <p:cNvPr id="26" name="Image 2" descr="Conectores para muebles"/>
          <p:cNvPicPr>
            <a:picLocks noChangeAspect="1"/>
          </p:cNvPicPr>
          <p:nvPr/>
        </p:nvPicPr>
        <p:blipFill>
          <a:blip r:embed="rId5"/>
          <a:stretch>
            <a:fillRect/>
          </a:stretch>
        </p:blipFill>
        <p:spPr>
          <a:xfrm>
            <a:off x="8510016" y="2412187"/>
            <a:ext cx="332842" cy="332842"/>
          </a:xfrm>
          <a:prstGeom prst="rect">
            <a:avLst/>
          </a:prstGeom>
        </p:spPr>
      </p:pic>
      <p:sp>
        <p:nvSpPr>
          <p:cNvPr id="27" name="Text 22"/>
          <p:cNvSpPr txBox="1"/>
          <p:nvPr/>
        </p:nvSpPr>
        <p:spPr>
          <a:xfrm>
            <a:off x="9133637"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Conectores para muebles</a:t>
            </a:r>
            <a:endParaRPr lang="en-US" sz="1800" dirty="0"/>
          </a:p>
        </p:txBody>
      </p:sp>
      <p:sp>
        <p:nvSpPr>
          <p:cNvPr id="28" name="Text 23"/>
          <p:cNvSpPr txBox="1"/>
          <p:nvPr/>
        </p:nvSpPr>
        <p:spPr>
          <a:xfrm>
            <a:off x="8356397"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Piezas de presión para montar y desmontar estructuras sin tornillos.</a:t>
            </a:r>
            <a:endParaRPr lang="en-US" sz="1400" dirty="0"/>
          </a:p>
        </p:txBody>
      </p:sp>
      <p:sp>
        <p:nvSpPr>
          <p:cNvPr id="29" name="Text 24"/>
          <p:cNvSpPr txBox="1"/>
          <p:nvPr/>
        </p:nvSpPr>
        <p:spPr>
          <a:xfrm>
            <a:off x="8356397"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Feriantes y pequeños comercios</a:t>
            </a:r>
            <a:endParaRPr lang="en-US" sz="1200" dirty="0"/>
          </a:p>
        </p:txBody>
      </p:sp>
      <p:sp>
        <p:nvSpPr>
          <p:cNvPr id="30" name="Sujetaplantas"/>
          <p:cNvSpPr/>
          <p:nvPr/>
        </p:nvSpPr>
        <p:spPr>
          <a:xfrm>
            <a:off x="548640" y="4069080"/>
            <a:ext cx="3515258" cy="1828800"/>
          </a:xfrm>
          <a:prstGeom prst="roundRect">
            <a:avLst>
              <a:gd name="adj" fmla="val 7500"/>
            </a:avLst>
          </a:prstGeom>
          <a:solidFill>
            <a:schemeClr val="bg2"/>
          </a:solidFill>
          <a:ln/>
        </p:spPr>
      </p:sp>
      <p:sp>
        <p:nvSpPr>
          <p:cNvPr id="31" name="Sujetaplantas"/>
          <p:cNvSpPr/>
          <p:nvPr/>
        </p:nvSpPr>
        <p:spPr>
          <a:xfrm>
            <a:off x="777240" y="4270248"/>
            <a:ext cx="640080" cy="640080"/>
          </a:xfrm>
          <a:prstGeom prst="ellipse">
            <a:avLst/>
          </a:prstGeom>
          <a:solidFill>
            <a:schemeClr val="accent3"/>
          </a:solidFill>
          <a:ln/>
        </p:spPr>
      </p:sp>
      <p:pic>
        <p:nvPicPr>
          <p:cNvPr id="32" name="Image 3" descr="Sujetaplantas"/>
          <p:cNvPicPr>
            <a:picLocks noChangeAspect="1"/>
          </p:cNvPicPr>
          <p:nvPr/>
        </p:nvPicPr>
        <p:blipFill>
          <a:blip r:embed="rId6"/>
          <a:stretch>
            <a:fillRect/>
          </a:stretch>
        </p:blipFill>
        <p:spPr>
          <a:xfrm>
            <a:off x="930859" y="4423867"/>
            <a:ext cx="332842" cy="332842"/>
          </a:xfrm>
          <a:prstGeom prst="rect">
            <a:avLst/>
          </a:prstGeom>
        </p:spPr>
      </p:pic>
      <p:sp>
        <p:nvSpPr>
          <p:cNvPr id="33" name="Text 27"/>
          <p:cNvSpPr txBox="1"/>
          <p:nvPr/>
        </p:nvSpPr>
        <p:spPr>
          <a:xfrm>
            <a:off x="1554480"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Sujetaplantas</a:t>
            </a:r>
            <a:endParaRPr lang="en-US" sz="1800" dirty="0"/>
          </a:p>
        </p:txBody>
      </p:sp>
      <p:sp>
        <p:nvSpPr>
          <p:cNvPr id="34" name="Text 28"/>
          <p:cNvSpPr txBox="1"/>
          <p:nvPr/>
        </p:nvSpPr>
        <p:spPr>
          <a:xfrm>
            <a:off x="777240"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Abrazadera que guía los tallos sin dañarlos.</a:t>
            </a:r>
            <a:endParaRPr lang="en-US" sz="1400" dirty="0"/>
          </a:p>
        </p:txBody>
      </p:sp>
      <p:sp>
        <p:nvSpPr>
          <p:cNvPr id="35" name="Text 29"/>
          <p:cNvSpPr txBox="1"/>
          <p:nvPr/>
        </p:nvSpPr>
        <p:spPr>
          <a:xfrm>
            <a:off x="777240"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Jardinería y viveros</a:t>
            </a:r>
            <a:endParaRPr lang="en-US" sz="1200" dirty="0"/>
          </a:p>
        </p:txBody>
      </p:sp>
      <p:sp>
        <p:nvSpPr>
          <p:cNvPr id="36" name="Soporte para el móvil"/>
          <p:cNvSpPr/>
          <p:nvPr/>
        </p:nvSpPr>
        <p:spPr>
          <a:xfrm>
            <a:off x="4338218" y="4069080"/>
            <a:ext cx="3515258" cy="1828800"/>
          </a:xfrm>
          <a:prstGeom prst="roundRect">
            <a:avLst>
              <a:gd name="adj" fmla="val 7500"/>
            </a:avLst>
          </a:prstGeom>
          <a:solidFill>
            <a:schemeClr val="bg2"/>
          </a:solidFill>
          <a:ln/>
        </p:spPr>
      </p:sp>
      <p:sp>
        <p:nvSpPr>
          <p:cNvPr id="37" name="Soporte para el móvil"/>
          <p:cNvSpPr/>
          <p:nvPr/>
        </p:nvSpPr>
        <p:spPr>
          <a:xfrm>
            <a:off x="4566818" y="4270248"/>
            <a:ext cx="640080" cy="640080"/>
          </a:xfrm>
          <a:prstGeom prst="ellipse">
            <a:avLst/>
          </a:prstGeom>
          <a:solidFill>
            <a:schemeClr val="accent4"/>
          </a:solidFill>
          <a:ln/>
        </p:spPr>
      </p:sp>
      <p:pic>
        <p:nvPicPr>
          <p:cNvPr id="38" name="Image 4" descr="Soporte para el móvil"/>
          <p:cNvPicPr>
            <a:picLocks noChangeAspect="1"/>
          </p:cNvPicPr>
          <p:nvPr/>
        </p:nvPicPr>
        <p:blipFill>
          <a:blip r:embed="rId7"/>
          <a:stretch>
            <a:fillRect/>
          </a:stretch>
        </p:blipFill>
        <p:spPr>
          <a:xfrm>
            <a:off x="4720438" y="4423867"/>
            <a:ext cx="332842" cy="332842"/>
          </a:xfrm>
          <a:prstGeom prst="rect">
            <a:avLst/>
          </a:prstGeom>
        </p:spPr>
      </p:pic>
      <p:sp>
        <p:nvSpPr>
          <p:cNvPr id="39" name="Text 32"/>
          <p:cNvSpPr txBox="1"/>
          <p:nvPr/>
        </p:nvSpPr>
        <p:spPr>
          <a:xfrm>
            <a:off x="5344058"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Soporte para el móvil</a:t>
            </a:r>
            <a:endParaRPr lang="en-US" sz="1800" dirty="0"/>
          </a:p>
        </p:txBody>
      </p:sp>
      <p:sp>
        <p:nvSpPr>
          <p:cNvPr id="40" name="Text 33"/>
          <p:cNvSpPr txBox="1"/>
          <p:nvPr/>
        </p:nvSpPr>
        <p:spPr>
          <a:xfrm>
            <a:off x="4566818"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Alambre flexible recubierto que mantiene el teléfono inclinado.</a:t>
            </a:r>
            <a:endParaRPr lang="en-US" sz="1400" dirty="0"/>
          </a:p>
        </p:txBody>
      </p:sp>
      <p:sp>
        <p:nvSpPr>
          <p:cNvPr id="41" name="Text 34"/>
          <p:cNvSpPr txBox="1"/>
          <p:nvPr/>
        </p:nvSpPr>
        <p:spPr>
          <a:xfrm>
            <a:off x="4566818"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Estudiantes y profesionales</a:t>
            </a:r>
            <a:endParaRPr lang="en-US" sz="1200" dirty="0"/>
          </a:p>
        </p:txBody>
      </p:sp>
      <p:sp>
        <p:nvSpPr>
          <p:cNvPr id="42" name="Carteles sin agujeros"/>
          <p:cNvSpPr/>
          <p:nvPr/>
        </p:nvSpPr>
        <p:spPr>
          <a:xfrm>
            <a:off x="8127797" y="4069080"/>
            <a:ext cx="3515258" cy="1828800"/>
          </a:xfrm>
          <a:prstGeom prst="roundRect">
            <a:avLst>
              <a:gd name="adj" fmla="val 7500"/>
            </a:avLst>
          </a:prstGeom>
          <a:solidFill>
            <a:schemeClr val="bg2"/>
          </a:solidFill>
          <a:ln/>
        </p:spPr>
      </p:sp>
      <p:sp>
        <p:nvSpPr>
          <p:cNvPr id="43" name="Carteles sin agujeros"/>
          <p:cNvSpPr/>
          <p:nvPr/>
        </p:nvSpPr>
        <p:spPr>
          <a:xfrm>
            <a:off x="8356397" y="4270248"/>
            <a:ext cx="640080" cy="640080"/>
          </a:xfrm>
          <a:prstGeom prst="ellipse">
            <a:avLst/>
          </a:prstGeom>
          <a:solidFill>
            <a:schemeClr val="tx2"/>
          </a:solidFill>
          <a:ln/>
        </p:spPr>
      </p:sp>
      <p:pic>
        <p:nvPicPr>
          <p:cNvPr id="44" name="Image 5" descr="Carteles sin agujeros"/>
          <p:cNvPicPr>
            <a:picLocks noChangeAspect="1"/>
          </p:cNvPicPr>
          <p:nvPr/>
        </p:nvPicPr>
        <p:blipFill>
          <a:blip r:embed="rId8"/>
          <a:stretch>
            <a:fillRect/>
          </a:stretch>
        </p:blipFill>
        <p:spPr>
          <a:xfrm>
            <a:off x="8510016" y="4423867"/>
            <a:ext cx="332842" cy="332842"/>
          </a:xfrm>
          <a:prstGeom prst="rect">
            <a:avLst/>
          </a:prstGeom>
        </p:spPr>
      </p:pic>
      <p:sp>
        <p:nvSpPr>
          <p:cNvPr id="45" name="Text 37"/>
          <p:cNvSpPr txBox="1"/>
          <p:nvPr/>
        </p:nvSpPr>
        <p:spPr>
          <a:xfrm>
            <a:off x="9133637"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Carteles sin agujeros</a:t>
            </a:r>
            <a:endParaRPr lang="en-US" sz="1800" dirty="0"/>
          </a:p>
        </p:txBody>
      </p:sp>
      <p:sp>
        <p:nvSpPr>
          <p:cNvPr id="46" name="Text 38"/>
          <p:cNvSpPr txBox="1"/>
          <p:nvPr/>
        </p:nvSpPr>
        <p:spPr>
          <a:xfrm>
            <a:off x="8356397"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Pinzas grandes para cambiar carteles sin perforar paredes ni mostradores.</a:t>
            </a:r>
            <a:endParaRPr lang="en-US" sz="1400" dirty="0"/>
          </a:p>
        </p:txBody>
      </p:sp>
      <p:sp>
        <p:nvSpPr>
          <p:cNvPr id="47" name="Text 39"/>
          <p:cNvSpPr txBox="1"/>
          <p:nvPr/>
        </p:nvSpPr>
        <p:spPr>
          <a:xfrm>
            <a:off x="8356397"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Comercios y ferias</a:t>
            </a:r>
            <a:endParaRPr lang="en-US" sz="1200" dirty="0"/>
          </a:p>
        </p:txBody>
      </p:sp>
      <p:sp>
        <p:nvSpPr>
          <p:cNvPr id="48" name="Text 40"/>
          <p:cNvSpPr txBox="1"/>
          <p:nvPr/>
        </p:nvSpPr>
        <p:spPr>
          <a:xfrm>
            <a:off x="548640" y="5943600"/>
            <a:ext cx="11094415" cy="347472"/>
          </a:xfrm>
          <a:prstGeom prst="rect">
            <a:avLst/>
          </a:prstGeom>
          <a:noFill/>
          <a:ln/>
        </p:spPr>
        <p:txBody>
          <a:bodyPr wrap="square" lIns="0" tIns="0" rIns="0" bIns="0" rtlCol="0" anchor="ctr"/>
          <a:lstStyle/>
          <a:p>
            <a:pPr marL="0" indent="0">
              <a:buNone/>
            </a:pPr>
            <a:r>
              <a:rPr lang="en-US" sz="1600" b="1" dirty="0">
                <a:solidFill>
                  <a:schemeClr val="accent3"/>
                </a:solidFill>
              </a:rPr>
              <a:t>Casi todos tienen ya productos parecidos a la venta: el concepto de clip sí se vende.</a:t>
            </a:r>
            <a:endParaRPr lang="en-US" sz="1600" dirty="0"/>
          </a:p>
        </p:txBody>
      </p:sp>
      <p:sp>
        <p:nvSpPr>
          <p:cNvPr id="49"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Y ahora, elegimos uno</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12–14 · Todo el grupo</a:t>
            </a:r>
            <a:endParaRPr lang="en-US" sz="1400" dirty="0"/>
          </a:p>
        </p:txBody>
      </p:sp>
      <p:sp>
        <p:nvSpPr>
          <p:cNvPr id="5" name="Tarjeta"/>
          <p:cNvSpPr/>
          <p:nvPr/>
        </p:nvSpPr>
        <p:spPr>
          <a:xfrm>
            <a:off x="548640" y="1645920"/>
            <a:ext cx="11094415" cy="2743200"/>
          </a:xfrm>
          <a:prstGeom prst="roundRect">
            <a:avLst>
              <a:gd name="adj" fmla="val 5000"/>
            </a:avLst>
          </a:prstGeom>
          <a:solidFill>
            <a:schemeClr val="bg2"/>
          </a:solidFill>
          <a:ln/>
        </p:spPr>
      </p:sp>
      <p:sp>
        <p:nvSpPr>
          <p:cNvPr id="6" name="Producto"/>
          <p:cNvSpPr/>
          <p:nvPr/>
        </p:nvSpPr>
        <p:spPr>
          <a:xfrm>
            <a:off x="1005840" y="2331720"/>
            <a:ext cx="1371600" cy="1371600"/>
          </a:xfrm>
          <a:prstGeom prst="ellipse">
            <a:avLst/>
          </a:prstGeom>
          <a:solidFill>
            <a:schemeClr val="accent1"/>
          </a:solidFill>
          <a:ln/>
        </p:spPr>
      </p:sp>
      <p:pic>
        <p:nvPicPr>
          <p:cNvPr id="7" name="Image 0" descr="Producto"/>
          <p:cNvPicPr>
            <a:picLocks noChangeAspect="1"/>
          </p:cNvPicPr>
          <p:nvPr/>
        </p:nvPicPr>
        <p:blipFill>
          <a:blip r:embed="rId3"/>
          <a:stretch>
            <a:fillRect/>
          </a:stretch>
        </p:blipFill>
        <p:spPr>
          <a:xfrm>
            <a:off x="1335024" y="2660904"/>
            <a:ext cx="713232" cy="713232"/>
          </a:xfrm>
          <a:prstGeom prst="rect">
            <a:avLst/>
          </a:prstGeom>
        </p:spPr>
      </p:pic>
      <p:sp>
        <p:nvSpPr>
          <p:cNvPr id="8" name="Text 5"/>
          <p:cNvSpPr txBox="1"/>
          <p:nvPr/>
        </p:nvSpPr>
        <p:spPr>
          <a:xfrm>
            <a:off x="2743200" y="1645920"/>
            <a:ext cx="8534095" cy="2743200"/>
          </a:xfrm>
          <a:prstGeom prst="rect">
            <a:avLst/>
          </a:prstGeom>
          <a:noFill/>
          <a:ln/>
        </p:spPr>
        <p:txBody>
          <a:bodyPr wrap="square" lIns="0" tIns="0" rIns="0" bIns="0" rtlCol="0" anchor="ctr"/>
          <a:lstStyle/>
          <a:p>
            <a:pPr marL="0" indent="0">
              <a:buNone/>
            </a:pPr>
            <a:r>
              <a:rPr lang="en-US" sz="3200" dirty="0">
                <a:solidFill>
                  <a:schemeClr val="tx1"/>
                </a:solidFill>
              </a:rPr>
              <a:t>De todos esos usos, ¿cuál podría convertirse en un producto que alguien compraría?</a:t>
            </a:r>
            <a:endParaRPr lang="en-US" sz="3200" dirty="0"/>
          </a:p>
        </p:txBody>
      </p:sp>
      <p:sp>
        <p:nvSpPr>
          <p:cNvPr id="9" name="Votación"/>
          <p:cNvSpPr/>
          <p:nvPr/>
        </p:nvSpPr>
        <p:spPr>
          <a:xfrm>
            <a:off x="548640" y="4800600"/>
            <a:ext cx="548640" cy="548640"/>
          </a:xfrm>
          <a:prstGeom prst="ellipse">
            <a:avLst/>
          </a:prstGeom>
          <a:solidFill>
            <a:schemeClr val="tx2"/>
          </a:solidFill>
          <a:ln/>
        </p:spPr>
      </p:sp>
      <p:pic>
        <p:nvPicPr>
          <p:cNvPr id="10" name="Image 1" descr="Votación"/>
          <p:cNvPicPr>
            <a:picLocks noChangeAspect="1"/>
          </p:cNvPicPr>
          <p:nvPr/>
        </p:nvPicPr>
        <p:blipFill>
          <a:blip r:embed="rId4"/>
          <a:stretch>
            <a:fillRect/>
          </a:stretch>
        </p:blipFill>
        <p:spPr>
          <a:xfrm>
            <a:off x="680314" y="4932274"/>
            <a:ext cx="285293" cy="285293"/>
          </a:xfrm>
          <a:prstGeom prst="rect">
            <a:avLst/>
          </a:prstGeom>
        </p:spPr>
      </p:pic>
      <p:sp>
        <p:nvSpPr>
          <p:cNvPr id="11" name="Text 7"/>
          <p:cNvSpPr txBox="1"/>
          <p:nvPr/>
        </p:nvSpPr>
        <p:spPr>
          <a:xfrm>
            <a:off x="1280160" y="4800600"/>
            <a:ext cx="7315200" cy="548640"/>
          </a:xfrm>
          <a:prstGeom prst="rect">
            <a:avLst/>
          </a:prstGeom>
          <a:noFill/>
          <a:ln/>
        </p:spPr>
        <p:txBody>
          <a:bodyPr wrap="square" lIns="0" tIns="0" rIns="0" bIns="0" rtlCol="0" anchor="ctr"/>
          <a:lstStyle/>
          <a:p>
            <a:pPr marL="0" indent="0">
              <a:buNone/>
            </a:pPr>
            <a:r>
              <a:rPr lang="en-US" sz="1800" dirty="0">
                <a:solidFill>
                  <a:schemeClr val="tx1"/>
                </a:solidFill>
              </a:rPr>
              <a:t>Votación a mano alzada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Primero abrir, después cerrar</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14–15</a:t>
            </a:r>
            <a:endParaRPr lang="en-US" sz="1400" dirty="0"/>
          </a:p>
        </p:txBody>
      </p:sp>
      <p:sp>
        <p:nvSpPr>
          <p:cNvPr id="5" name="Shape 3"/>
          <p:cNvSpPr/>
          <p:nvPr/>
        </p:nvSpPr>
        <p:spPr>
          <a:xfrm flipV="1">
            <a:off x="1005840" y="1691640"/>
            <a:ext cx="3108960" cy="1280160"/>
          </a:xfrm>
          <a:prstGeom prst="line">
            <a:avLst/>
          </a:prstGeom>
          <a:noFill/>
          <a:ln w="19050">
            <a:solidFill>
              <a:srgbClr val="8A94A6"/>
            </a:solidFill>
            <a:prstDash val="solid"/>
          </a:ln>
        </p:spPr>
      </p:sp>
      <p:sp>
        <p:nvSpPr>
          <p:cNvPr id="6" name="Shape 4"/>
          <p:cNvSpPr/>
          <p:nvPr/>
        </p:nvSpPr>
        <p:spPr>
          <a:xfrm>
            <a:off x="4114800" y="1691640"/>
            <a:ext cx="3017520" cy="1280160"/>
          </a:xfrm>
          <a:prstGeom prst="line">
            <a:avLst/>
          </a:prstGeom>
          <a:noFill/>
          <a:ln w="19050">
            <a:solidFill>
              <a:srgbClr val="8A94A6"/>
            </a:solidFill>
            <a:prstDash val="solid"/>
          </a:ln>
        </p:spPr>
      </p:sp>
      <p:sp>
        <p:nvSpPr>
          <p:cNvPr id="7" name="Shape 5"/>
          <p:cNvSpPr/>
          <p:nvPr/>
        </p:nvSpPr>
        <p:spPr>
          <a:xfrm flipV="1">
            <a:off x="1005840" y="2121408"/>
            <a:ext cx="3108960" cy="850392"/>
          </a:xfrm>
          <a:prstGeom prst="line">
            <a:avLst/>
          </a:prstGeom>
          <a:noFill/>
          <a:ln w="19050">
            <a:solidFill>
              <a:srgbClr val="8A94A6"/>
            </a:solidFill>
            <a:prstDash val="solid"/>
          </a:ln>
        </p:spPr>
      </p:sp>
      <p:sp>
        <p:nvSpPr>
          <p:cNvPr id="8" name="Shape 6"/>
          <p:cNvSpPr/>
          <p:nvPr/>
        </p:nvSpPr>
        <p:spPr>
          <a:xfrm>
            <a:off x="4114800" y="2121408"/>
            <a:ext cx="3017520" cy="850392"/>
          </a:xfrm>
          <a:prstGeom prst="line">
            <a:avLst/>
          </a:prstGeom>
          <a:noFill/>
          <a:ln w="19050">
            <a:solidFill>
              <a:srgbClr val="8A94A6"/>
            </a:solidFill>
            <a:prstDash val="solid"/>
          </a:ln>
        </p:spPr>
      </p:sp>
      <p:sp>
        <p:nvSpPr>
          <p:cNvPr id="9" name="Shape 7"/>
          <p:cNvSpPr/>
          <p:nvPr/>
        </p:nvSpPr>
        <p:spPr>
          <a:xfrm flipV="1">
            <a:off x="1005840" y="2551176"/>
            <a:ext cx="3108960" cy="420624"/>
          </a:xfrm>
          <a:prstGeom prst="line">
            <a:avLst/>
          </a:prstGeom>
          <a:noFill/>
          <a:ln w="19050">
            <a:solidFill>
              <a:srgbClr val="8A94A6"/>
            </a:solidFill>
            <a:prstDash val="solid"/>
          </a:ln>
        </p:spPr>
      </p:sp>
      <p:sp>
        <p:nvSpPr>
          <p:cNvPr id="10" name="Shape 8"/>
          <p:cNvSpPr/>
          <p:nvPr/>
        </p:nvSpPr>
        <p:spPr>
          <a:xfrm>
            <a:off x="4114800" y="2551176"/>
            <a:ext cx="3017520" cy="420624"/>
          </a:xfrm>
          <a:prstGeom prst="line">
            <a:avLst/>
          </a:prstGeom>
          <a:noFill/>
          <a:ln w="19050">
            <a:solidFill>
              <a:srgbClr val="8A94A6"/>
            </a:solidFill>
            <a:prstDash val="solid"/>
          </a:ln>
        </p:spPr>
      </p:sp>
      <p:sp>
        <p:nvSpPr>
          <p:cNvPr id="11" name="Shape 9"/>
          <p:cNvSpPr/>
          <p:nvPr/>
        </p:nvSpPr>
        <p:spPr>
          <a:xfrm>
            <a:off x="1005840" y="2971800"/>
            <a:ext cx="3108960" cy="0"/>
          </a:xfrm>
          <a:prstGeom prst="line">
            <a:avLst/>
          </a:prstGeom>
          <a:noFill/>
          <a:ln w="19050">
            <a:solidFill>
              <a:srgbClr val="8A94A6"/>
            </a:solidFill>
            <a:prstDash val="solid"/>
          </a:ln>
        </p:spPr>
      </p:sp>
      <p:sp>
        <p:nvSpPr>
          <p:cNvPr id="12" name="Shape 10"/>
          <p:cNvSpPr/>
          <p:nvPr/>
        </p:nvSpPr>
        <p:spPr>
          <a:xfrm>
            <a:off x="4114800" y="2971800"/>
            <a:ext cx="3017520" cy="0"/>
          </a:xfrm>
          <a:prstGeom prst="line">
            <a:avLst/>
          </a:prstGeom>
          <a:noFill/>
          <a:ln w="19050">
            <a:solidFill>
              <a:srgbClr val="8A94A6"/>
            </a:solidFill>
            <a:prstDash val="solid"/>
          </a:ln>
        </p:spPr>
      </p:sp>
      <p:sp>
        <p:nvSpPr>
          <p:cNvPr id="13" name="Shape 11"/>
          <p:cNvSpPr/>
          <p:nvPr/>
        </p:nvSpPr>
        <p:spPr>
          <a:xfrm>
            <a:off x="1005840" y="2971800"/>
            <a:ext cx="3108960" cy="420624"/>
          </a:xfrm>
          <a:prstGeom prst="line">
            <a:avLst/>
          </a:prstGeom>
          <a:noFill/>
          <a:ln w="19050">
            <a:solidFill>
              <a:srgbClr val="8A94A6"/>
            </a:solidFill>
            <a:prstDash val="solid"/>
          </a:ln>
        </p:spPr>
      </p:sp>
      <p:sp>
        <p:nvSpPr>
          <p:cNvPr id="14" name="Shape 12"/>
          <p:cNvSpPr/>
          <p:nvPr/>
        </p:nvSpPr>
        <p:spPr>
          <a:xfrm flipV="1">
            <a:off x="4114800" y="2971800"/>
            <a:ext cx="3017520" cy="420624"/>
          </a:xfrm>
          <a:prstGeom prst="line">
            <a:avLst/>
          </a:prstGeom>
          <a:noFill/>
          <a:ln w="19050">
            <a:solidFill>
              <a:srgbClr val="8A94A6"/>
            </a:solidFill>
            <a:prstDash val="solid"/>
          </a:ln>
        </p:spPr>
      </p:sp>
      <p:sp>
        <p:nvSpPr>
          <p:cNvPr id="15" name="Shape 13"/>
          <p:cNvSpPr/>
          <p:nvPr/>
        </p:nvSpPr>
        <p:spPr>
          <a:xfrm>
            <a:off x="1005840" y="2971800"/>
            <a:ext cx="3108960" cy="850392"/>
          </a:xfrm>
          <a:prstGeom prst="line">
            <a:avLst/>
          </a:prstGeom>
          <a:noFill/>
          <a:ln w="19050">
            <a:solidFill>
              <a:srgbClr val="8A94A6"/>
            </a:solidFill>
            <a:prstDash val="solid"/>
          </a:ln>
        </p:spPr>
      </p:sp>
      <p:sp>
        <p:nvSpPr>
          <p:cNvPr id="16" name="Shape 14"/>
          <p:cNvSpPr/>
          <p:nvPr/>
        </p:nvSpPr>
        <p:spPr>
          <a:xfrm flipV="1">
            <a:off x="4114800" y="2971800"/>
            <a:ext cx="3017520" cy="850392"/>
          </a:xfrm>
          <a:prstGeom prst="line">
            <a:avLst/>
          </a:prstGeom>
          <a:noFill/>
          <a:ln w="19050">
            <a:solidFill>
              <a:srgbClr val="8A94A6"/>
            </a:solidFill>
            <a:prstDash val="solid"/>
          </a:ln>
        </p:spPr>
      </p:sp>
      <p:sp>
        <p:nvSpPr>
          <p:cNvPr id="17" name="Shape 15"/>
          <p:cNvSpPr/>
          <p:nvPr/>
        </p:nvSpPr>
        <p:spPr>
          <a:xfrm>
            <a:off x="1005840" y="2971800"/>
            <a:ext cx="3108960" cy="1280160"/>
          </a:xfrm>
          <a:prstGeom prst="line">
            <a:avLst/>
          </a:prstGeom>
          <a:noFill/>
          <a:ln w="19050">
            <a:solidFill>
              <a:srgbClr val="8A94A6"/>
            </a:solidFill>
            <a:prstDash val="solid"/>
          </a:ln>
        </p:spPr>
      </p:sp>
      <p:sp>
        <p:nvSpPr>
          <p:cNvPr id="18" name="Shape 16"/>
          <p:cNvSpPr/>
          <p:nvPr/>
        </p:nvSpPr>
        <p:spPr>
          <a:xfrm flipV="1">
            <a:off x="4114800" y="2971800"/>
            <a:ext cx="3017520" cy="1280160"/>
          </a:xfrm>
          <a:prstGeom prst="line">
            <a:avLst/>
          </a:prstGeom>
          <a:noFill/>
          <a:ln w="19050">
            <a:solidFill>
              <a:srgbClr val="8A94A6"/>
            </a:solidFill>
            <a:prstDash val="solid"/>
          </a:ln>
        </p:spPr>
      </p:sp>
      <p:sp>
        <p:nvSpPr>
          <p:cNvPr id="19" name="Idea"/>
          <p:cNvSpPr/>
          <p:nvPr/>
        </p:nvSpPr>
        <p:spPr>
          <a:xfrm>
            <a:off x="3968496" y="1545336"/>
            <a:ext cx="292608" cy="292608"/>
          </a:xfrm>
          <a:prstGeom prst="ellipse">
            <a:avLst/>
          </a:prstGeom>
          <a:solidFill>
            <a:schemeClr val="accent1"/>
          </a:solidFill>
          <a:ln/>
        </p:spPr>
      </p:sp>
      <p:sp>
        <p:nvSpPr>
          <p:cNvPr id="20" name="Idea"/>
          <p:cNvSpPr/>
          <p:nvPr/>
        </p:nvSpPr>
        <p:spPr>
          <a:xfrm>
            <a:off x="3968496" y="1975104"/>
            <a:ext cx="292608" cy="292608"/>
          </a:xfrm>
          <a:prstGeom prst="ellipse">
            <a:avLst/>
          </a:prstGeom>
          <a:solidFill>
            <a:schemeClr val="accent1"/>
          </a:solidFill>
          <a:ln/>
        </p:spPr>
      </p:sp>
      <p:sp>
        <p:nvSpPr>
          <p:cNvPr id="21" name="Idea"/>
          <p:cNvSpPr/>
          <p:nvPr/>
        </p:nvSpPr>
        <p:spPr>
          <a:xfrm>
            <a:off x="3968496" y="2404872"/>
            <a:ext cx="292608" cy="292608"/>
          </a:xfrm>
          <a:prstGeom prst="ellipse">
            <a:avLst/>
          </a:prstGeom>
          <a:solidFill>
            <a:schemeClr val="accent1"/>
          </a:solidFill>
          <a:ln/>
        </p:spPr>
      </p:sp>
      <p:sp>
        <p:nvSpPr>
          <p:cNvPr id="22" name="Idea"/>
          <p:cNvSpPr/>
          <p:nvPr/>
        </p:nvSpPr>
        <p:spPr>
          <a:xfrm>
            <a:off x="3968496" y="2825496"/>
            <a:ext cx="292608" cy="292608"/>
          </a:xfrm>
          <a:prstGeom prst="ellipse">
            <a:avLst/>
          </a:prstGeom>
          <a:solidFill>
            <a:schemeClr val="accent1"/>
          </a:solidFill>
          <a:ln/>
        </p:spPr>
      </p:sp>
      <p:sp>
        <p:nvSpPr>
          <p:cNvPr id="23" name="Idea"/>
          <p:cNvSpPr/>
          <p:nvPr/>
        </p:nvSpPr>
        <p:spPr>
          <a:xfrm>
            <a:off x="3968496" y="3246120"/>
            <a:ext cx="292608" cy="292608"/>
          </a:xfrm>
          <a:prstGeom prst="ellipse">
            <a:avLst/>
          </a:prstGeom>
          <a:solidFill>
            <a:schemeClr val="accent1"/>
          </a:solidFill>
          <a:ln/>
        </p:spPr>
      </p:sp>
      <p:sp>
        <p:nvSpPr>
          <p:cNvPr id="24" name="Idea"/>
          <p:cNvSpPr/>
          <p:nvPr/>
        </p:nvSpPr>
        <p:spPr>
          <a:xfrm>
            <a:off x="3968496" y="3675888"/>
            <a:ext cx="292608" cy="292608"/>
          </a:xfrm>
          <a:prstGeom prst="ellipse">
            <a:avLst/>
          </a:prstGeom>
          <a:solidFill>
            <a:schemeClr val="accent1"/>
          </a:solidFill>
          <a:ln/>
        </p:spPr>
      </p:sp>
      <p:sp>
        <p:nvSpPr>
          <p:cNvPr id="25" name="Idea"/>
          <p:cNvSpPr/>
          <p:nvPr/>
        </p:nvSpPr>
        <p:spPr>
          <a:xfrm>
            <a:off x="3968496" y="4105656"/>
            <a:ext cx="292608" cy="292608"/>
          </a:xfrm>
          <a:prstGeom prst="ellipse">
            <a:avLst/>
          </a:prstGeom>
          <a:solidFill>
            <a:schemeClr val="accent1"/>
          </a:solidFill>
          <a:ln/>
        </p:spPr>
      </p:sp>
      <p:sp>
        <p:nvSpPr>
          <p:cNvPr id="26" name="Reto"/>
          <p:cNvSpPr/>
          <p:nvPr/>
        </p:nvSpPr>
        <p:spPr>
          <a:xfrm>
            <a:off x="777240" y="2743200"/>
            <a:ext cx="457200" cy="457200"/>
          </a:xfrm>
          <a:prstGeom prst="ellipse">
            <a:avLst/>
          </a:prstGeom>
          <a:solidFill>
            <a:schemeClr val="tx1"/>
          </a:solidFill>
          <a:ln/>
        </p:spPr>
      </p:sp>
      <p:sp>
        <p:nvSpPr>
          <p:cNvPr id="27" name="Idea elegida"/>
          <p:cNvSpPr/>
          <p:nvPr/>
        </p:nvSpPr>
        <p:spPr>
          <a:xfrm>
            <a:off x="6720840" y="2560320"/>
            <a:ext cx="822960" cy="822960"/>
          </a:xfrm>
          <a:prstGeom prst="ellipse">
            <a:avLst/>
          </a:prstGeom>
          <a:solidFill>
            <a:schemeClr val="accent3"/>
          </a:solidFill>
          <a:ln/>
        </p:spPr>
      </p:sp>
      <p:pic>
        <p:nvPicPr>
          <p:cNvPr id="28" name="Image 0" descr="Idea elegida"/>
          <p:cNvPicPr>
            <a:picLocks noChangeAspect="1"/>
          </p:cNvPicPr>
          <p:nvPr/>
        </p:nvPicPr>
        <p:blipFill>
          <a:blip r:embed="rId3"/>
          <a:stretch>
            <a:fillRect/>
          </a:stretch>
        </p:blipFill>
        <p:spPr>
          <a:xfrm>
            <a:off x="6918350" y="2757830"/>
            <a:ext cx="427939" cy="427939"/>
          </a:xfrm>
          <a:prstGeom prst="rect">
            <a:avLst/>
          </a:prstGeom>
        </p:spPr>
      </p:pic>
      <p:sp>
        <p:nvSpPr>
          <p:cNvPr id="29" name="Text 26"/>
          <p:cNvSpPr txBox="1"/>
          <p:nvPr/>
        </p:nvSpPr>
        <p:spPr>
          <a:xfrm>
            <a:off x="457200" y="3291840"/>
            <a:ext cx="1097280" cy="365760"/>
          </a:xfrm>
          <a:prstGeom prst="rect">
            <a:avLst/>
          </a:prstGeom>
          <a:noFill/>
          <a:ln/>
        </p:spPr>
        <p:txBody>
          <a:bodyPr wrap="square" lIns="0" tIns="0" rIns="0" bIns="0" rtlCol="0" anchor="ctr"/>
          <a:lstStyle/>
          <a:p>
            <a:pPr marL="0" indent="0" algn="ctr">
              <a:buNone/>
            </a:pPr>
            <a:r>
              <a:rPr lang="en-US" sz="1500" b="1" dirty="0">
                <a:solidFill>
                  <a:schemeClr val="tx1"/>
                </a:solidFill>
              </a:rPr>
              <a:t>Reto</a:t>
            </a:r>
            <a:endParaRPr lang="en-US" sz="1500" dirty="0"/>
          </a:p>
        </p:txBody>
      </p:sp>
      <p:sp>
        <p:nvSpPr>
          <p:cNvPr id="30" name="Text 27"/>
          <p:cNvSpPr txBox="1"/>
          <p:nvPr/>
        </p:nvSpPr>
        <p:spPr>
          <a:xfrm>
            <a:off x="548640" y="4617720"/>
            <a:ext cx="3383280" cy="1097280"/>
          </a:xfrm>
          <a:prstGeom prst="rect">
            <a:avLst/>
          </a:prstGeom>
          <a:noFill/>
          <a:ln/>
        </p:spPr>
        <p:txBody>
          <a:bodyPr wrap="square" lIns="0" tIns="0" rIns="0" bIns="0" rtlCol="0" anchor="t"/>
          <a:lstStyle/>
          <a:p>
            <a:pPr marL="0" indent="0">
              <a:buNone/>
            </a:pPr>
            <a:r>
              <a:rPr lang="en-US" sz="2100" b="1" dirty="0">
                <a:solidFill>
                  <a:schemeClr val="tx1"/>
                </a:solidFill>
              </a:rPr>
              <a:t>Divergente</a:t>
            </a:r>
            <a:endParaRPr lang="en-US" sz="1600" dirty="0"/>
          </a:p>
          <a:p>
            <a:pPr marL="0" indent="0">
              <a:buNone/>
            </a:pPr>
            <a:r>
              <a:rPr lang="en-US" sz="1600" dirty="0">
                <a:solidFill>
                  <a:schemeClr val="tx1"/>
                </a:solidFill>
              </a:rPr>
              <a:t>Proponer tantas soluciones distintas como sea posible, sin juzgar.</a:t>
            </a:r>
            <a:endParaRPr lang="en-US" sz="1600" dirty="0"/>
          </a:p>
        </p:txBody>
      </p:sp>
      <p:sp>
        <p:nvSpPr>
          <p:cNvPr id="31" name="Text 28"/>
          <p:cNvSpPr txBox="1"/>
          <p:nvPr/>
        </p:nvSpPr>
        <p:spPr>
          <a:xfrm>
            <a:off x="4206240" y="4617720"/>
            <a:ext cx="3383280" cy="1097280"/>
          </a:xfrm>
          <a:prstGeom prst="rect">
            <a:avLst/>
          </a:prstGeom>
          <a:noFill/>
          <a:ln/>
        </p:spPr>
        <p:txBody>
          <a:bodyPr wrap="square" lIns="0" tIns="0" rIns="0" bIns="0" rtlCol="0" anchor="t"/>
          <a:lstStyle/>
          <a:p>
            <a:pPr marL="0" indent="0">
              <a:buNone/>
            </a:pPr>
            <a:r>
              <a:rPr lang="en-US" sz="2100" b="1" dirty="0">
                <a:solidFill>
                  <a:schemeClr val="tx1"/>
                </a:solidFill>
              </a:rPr>
              <a:t>Convergente</a:t>
            </a:r>
            <a:endParaRPr lang="en-US" sz="1600" dirty="0"/>
          </a:p>
          <a:p>
            <a:pPr marL="0" indent="0">
              <a:buNone/>
            </a:pPr>
            <a:r>
              <a:rPr lang="en-US" sz="1600" dirty="0">
                <a:solidFill>
                  <a:schemeClr val="tx1"/>
                </a:solidFill>
              </a:rPr>
              <a:t>Comparar coste, viabilidad e impacto para elegir qué probar.</a:t>
            </a:r>
            <a:endParaRPr lang="en-US" sz="1600" dirty="0"/>
          </a:p>
        </p:txBody>
      </p:sp>
      <p:sp>
        <p:nvSpPr>
          <p:cNvPr id="32" name="Tarjeta"/>
          <p:cNvSpPr/>
          <p:nvPr/>
        </p:nvSpPr>
        <p:spPr>
          <a:xfrm>
            <a:off x="8092440" y="1463040"/>
            <a:ext cx="3550615" cy="4251960"/>
          </a:xfrm>
          <a:prstGeom prst="roundRect">
            <a:avLst>
              <a:gd name="adj" fmla="val 3863"/>
            </a:avLst>
          </a:prstGeom>
          <a:solidFill>
            <a:schemeClr val="bg2"/>
          </a:solidFill>
          <a:ln/>
        </p:spPr>
      </p:sp>
      <p:sp>
        <p:nvSpPr>
          <p:cNvPr id="33" name="Text 30"/>
          <p:cNvSpPr txBox="1"/>
          <p:nvPr/>
        </p:nvSpPr>
        <p:spPr>
          <a:xfrm>
            <a:off x="8366760" y="1691640"/>
            <a:ext cx="3001975" cy="3840480"/>
          </a:xfrm>
          <a:prstGeom prst="rect">
            <a:avLst/>
          </a:prstGeom>
          <a:noFill/>
          <a:ln/>
        </p:spPr>
        <p:txBody>
          <a:bodyPr wrap="square" lIns="0" tIns="0" rIns="0" bIns="0" rtlCol="0" anchor="t"/>
          <a:lstStyle/>
          <a:p>
            <a:pPr marL="0" indent="0">
              <a:spcAft>
                <a:spcPts val="400"/>
              </a:spcAft>
              <a:buNone/>
            </a:pPr>
            <a:r>
              <a:rPr lang="en-US" sz="2100" b="1" dirty="0">
                <a:solidFill>
                  <a:schemeClr val="tx1"/>
                </a:solidFill>
              </a:rPr>
              <a:t>En este curso</a:t>
            </a:r>
            <a:endParaRPr lang="en-US" sz="1800" dirty="0"/>
          </a:p>
          <a:p>
            <a:pPr marL="0" indent="0">
              <a:spcAft>
                <a:spcPts val="400"/>
              </a:spcAft>
              <a:buNone/>
            </a:pPr>
            <a:r>
              <a:rPr lang="en-US" sz="800" dirty="0">
                <a:solidFill>
                  <a:schemeClr val="tx1"/>
                </a:solidFill>
              </a:rPr>
              <a:t> </a:t>
            </a:r>
            <a:endParaRPr lang="en-US" sz="1800" dirty="0"/>
          </a:p>
          <a:p>
            <a:pPr marL="0" indent="0">
              <a:spcAft>
                <a:spcPts val="400"/>
              </a:spcAft>
              <a:buNone/>
            </a:pPr>
            <a:r>
              <a:rPr lang="en-US" sz="1800" b="1" dirty="0">
                <a:solidFill>
                  <a:schemeClr val="tx2"/>
                </a:solidFill>
              </a:rPr>
              <a:t>Abren el abanico:</a:t>
            </a:r>
            <a:endParaRPr lang="en-US" sz="1800" dirty="0"/>
          </a:p>
          <a:p>
            <a:pPr marL="342900" indent="-342900">
              <a:spcAft>
                <a:spcPts val="400"/>
              </a:spcAft>
              <a:buSzPct val="100000"/>
              <a:buChar char="•"/>
            </a:pPr>
            <a:r>
              <a:rPr lang="en-US" sz="1800" dirty="0">
                <a:solidFill>
                  <a:schemeClr val="tx1"/>
                </a:solidFill>
              </a:rPr>
              <a:t>Brainstorming</a:t>
            </a:r>
            <a:endParaRPr lang="en-US" sz="1800" dirty="0"/>
          </a:p>
          <a:p>
            <a:pPr marL="342900" indent="-342900">
              <a:spcAft>
                <a:spcPts val="400"/>
              </a:spcAft>
              <a:buSzPct val="100000"/>
              <a:buChar char="•"/>
            </a:pPr>
            <a:r>
              <a:rPr lang="en-US" sz="1800" dirty="0">
                <a:solidFill>
                  <a:schemeClr val="tx1"/>
                </a:solidFill>
              </a:rPr>
              <a:t>SCAMPER</a:t>
            </a:r>
            <a:endParaRPr lang="en-US" sz="1800" dirty="0"/>
          </a:p>
          <a:p>
            <a:pPr marL="342900" indent="-342900">
              <a:spcAft>
                <a:spcPts val="400"/>
              </a:spcAft>
              <a:buSzPct val="100000"/>
              <a:buChar char="•"/>
            </a:pPr>
            <a:r>
              <a:rPr lang="en-US" sz="1800" dirty="0">
                <a:solidFill>
                  <a:schemeClr val="tx1"/>
                </a:solidFill>
              </a:rPr>
              <a:t>Provocación</a:t>
            </a:r>
            <a:endParaRPr lang="en-US" sz="1800" dirty="0"/>
          </a:p>
          <a:p>
            <a:pPr marL="0" indent="0">
              <a:spcAft>
                <a:spcPts val="400"/>
              </a:spcAft>
              <a:buNone/>
            </a:pPr>
            <a:r>
              <a:rPr lang="en-US" sz="800" dirty="0">
                <a:solidFill>
                  <a:schemeClr val="tx1"/>
                </a:solidFill>
              </a:rPr>
              <a:t> </a:t>
            </a:r>
            <a:endParaRPr lang="en-US" sz="1800" dirty="0"/>
          </a:p>
          <a:p>
            <a:pPr marL="0" indent="0">
              <a:spcAft>
                <a:spcPts val="400"/>
              </a:spcAft>
              <a:buNone/>
            </a:pPr>
            <a:r>
              <a:rPr lang="en-US" sz="1800" b="1" dirty="0">
                <a:solidFill>
                  <a:schemeClr val="tx2"/>
                </a:solidFill>
              </a:rPr>
              <a:t>Lo cierra:</a:t>
            </a:r>
            <a:endParaRPr lang="en-US" sz="1800" dirty="0"/>
          </a:p>
          <a:p>
            <a:pPr marL="342900" indent="-342900">
              <a:spcAft>
                <a:spcPts val="400"/>
              </a:spcAft>
              <a:buSzPct val="100000"/>
              <a:buChar char="•"/>
            </a:pPr>
            <a:r>
              <a:rPr lang="en-US" sz="1800" dirty="0">
                <a:solidFill>
                  <a:schemeClr val="tx1"/>
                </a:solidFill>
              </a:rPr>
              <a:t>La matriz de decisión (bloque 3)</a:t>
            </a:r>
            <a:endParaRPr lang="en-US" sz="1800" dirty="0"/>
          </a:p>
        </p:txBody>
      </p:sp>
      <p:sp>
        <p:nvSpPr>
          <p:cNvPr id="34" name="Text 31"/>
          <p:cNvSpPr txBox="1"/>
          <p:nvPr/>
        </p:nvSpPr>
        <p:spPr>
          <a:xfrm>
            <a:off x="548640" y="5806440"/>
            <a:ext cx="11094415" cy="457200"/>
          </a:xfrm>
          <a:prstGeom prst="rect">
            <a:avLst/>
          </a:prstGeom>
          <a:noFill/>
          <a:ln/>
        </p:spPr>
        <p:txBody>
          <a:bodyPr wrap="square" lIns="0" tIns="0" rIns="0" bIns="0" rtlCol="0" anchor="ctr"/>
          <a:lstStyle/>
          <a:p>
            <a:pPr marL="0" indent="0">
              <a:buNone/>
            </a:pPr>
            <a:r>
              <a:rPr lang="en-US" sz="1800" b="1" dirty="0">
                <a:solidFill>
                  <a:schemeClr val="accent3"/>
                </a:solidFill>
              </a:rPr>
              <a:t>Si se mezclan los dos pasos, se juzga demasiado pronto y salen pocas ideas.</a:t>
            </a:r>
            <a:endParaRPr lang="en-US" sz="1800" dirty="0"/>
          </a:p>
        </p:txBody>
      </p:sp>
      <p:sp>
        <p:nvSpPr>
          <p:cNvPr id="3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regla de todo el curso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arjeta"/>
          <p:cNvSpPr/>
          <p:nvPr/>
        </p:nvSpPr>
        <p:spPr>
          <a:xfrm>
            <a:off x="548640" y="1554480"/>
            <a:ext cx="5212080" cy="1828800"/>
          </a:xfrm>
          <a:prstGeom prst="roundRect">
            <a:avLst>
              <a:gd name="adj" fmla="val 7500"/>
            </a:avLst>
          </a:prstGeom>
          <a:solidFill>
            <a:schemeClr val="bg2"/>
          </a:solidFill>
          <a:ln/>
        </p:spPr>
      </p:sp>
      <p:sp>
        <p:nvSpPr>
          <p:cNvPr id="6" name="Primero, las personas"/>
          <p:cNvSpPr/>
          <p:nvPr/>
        </p:nvSpPr>
        <p:spPr>
          <a:xfrm>
            <a:off x="868680" y="1828800"/>
            <a:ext cx="1280160" cy="1280160"/>
          </a:xfrm>
          <a:prstGeom prst="ellipse">
            <a:avLst/>
          </a:prstGeom>
          <a:solidFill>
            <a:schemeClr val="accent1"/>
          </a:solidFill>
          <a:ln/>
        </p:spPr>
      </p:sp>
      <p:pic>
        <p:nvPicPr>
          <p:cNvPr id="7" name="Image 0" descr="Primero, las personas"/>
          <p:cNvPicPr>
            <a:picLocks noChangeAspect="1"/>
          </p:cNvPicPr>
          <p:nvPr/>
        </p:nvPicPr>
        <p:blipFill>
          <a:blip r:embed="rId3"/>
          <a:stretch>
            <a:fillRect/>
          </a:stretch>
        </p:blipFill>
        <p:spPr>
          <a:xfrm>
            <a:off x="1175918" y="2136038"/>
            <a:ext cx="665683" cy="665683"/>
          </a:xfrm>
          <a:prstGeom prst="rect">
            <a:avLst/>
          </a:prstGeom>
        </p:spPr>
      </p:pic>
      <p:sp>
        <p:nvSpPr>
          <p:cNvPr id="8" name="Text 5"/>
          <p:cNvSpPr txBox="1"/>
          <p:nvPr/>
        </p:nvSpPr>
        <p:spPr>
          <a:xfrm>
            <a:off x="2377440" y="1554480"/>
            <a:ext cx="3200400" cy="1828800"/>
          </a:xfrm>
          <a:prstGeom prst="rect">
            <a:avLst/>
          </a:prstGeom>
          <a:noFill/>
          <a:ln/>
        </p:spPr>
        <p:txBody>
          <a:bodyPr wrap="square" lIns="0" tIns="0" rIns="0" bIns="0" rtlCol="0" anchor="ctr"/>
          <a:lstStyle/>
          <a:p>
            <a:pPr marL="0" indent="0">
              <a:buNone/>
            </a:pPr>
            <a:r>
              <a:rPr lang="en-US" sz="2800" b="1" dirty="0">
                <a:solidFill>
                  <a:schemeClr val="accent5"/>
                </a:solidFill>
              </a:rPr>
              <a:t>1</a:t>
            </a:r>
            <a:endParaRPr lang="en-US" sz="2800" dirty="0"/>
          </a:p>
          <a:p>
            <a:pPr marL="0" indent="0">
              <a:buNone/>
            </a:pPr>
            <a:r>
              <a:rPr lang="en-US" sz="2800" b="1" dirty="0">
                <a:solidFill>
                  <a:schemeClr val="tx1"/>
                </a:solidFill>
              </a:rPr>
              <a:t>Primero, las personas</a:t>
            </a:r>
            <a:endParaRPr lang="en-US" sz="2800" dirty="0"/>
          </a:p>
        </p:txBody>
      </p:sp>
      <p:sp>
        <p:nvSpPr>
          <p:cNvPr id="9" name="Tarjeta"/>
          <p:cNvSpPr/>
          <p:nvPr/>
        </p:nvSpPr>
        <p:spPr>
          <a:xfrm>
            <a:off x="6400800" y="1554480"/>
            <a:ext cx="5212080" cy="1828800"/>
          </a:xfrm>
          <a:prstGeom prst="roundRect">
            <a:avLst>
              <a:gd name="adj" fmla="val 7500"/>
            </a:avLst>
          </a:prstGeom>
          <a:solidFill>
            <a:schemeClr val="bg2"/>
          </a:solidFill>
          <a:ln/>
        </p:spPr>
      </p:sp>
      <p:sp>
        <p:nvSpPr>
          <p:cNvPr id="10" name="Después, la IA"/>
          <p:cNvSpPr/>
          <p:nvPr/>
        </p:nvSpPr>
        <p:spPr>
          <a:xfrm>
            <a:off x="6720840" y="1828800"/>
            <a:ext cx="1280160" cy="1280160"/>
          </a:xfrm>
          <a:prstGeom prst="ellipse">
            <a:avLst/>
          </a:prstGeom>
          <a:solidFill>
            <a:schemeClr val="accent2"/>
          </a:solidFill>
          <a:ln/>
        </p:spPr>
      </p:sp>
      <p:pic>
        <p:nvPicPr>
          <p:cNvPr id="11" name="Image 1" descr="Después, la IA"/>
          <p:cNvPicPr>
            <a:picLocks noChangeAspect="1"/>
          </p:cNvPicPr>
          <p:nvPr/>
        </p:nvPicPr>
        <p:blipFill>
          <a:blip r:embed="rId4"/>
          <a:stretch>
            <a:fillRect/>
          </a:stretch>
        </p:blipFill>
        <p:spPr>
          <a:xfrm>
            <a:off x="7028078" y="2136038"/>
            <a:ext cx="665683" cy="665683"/>
          </a:xfrm>
          <a:prstGeom prst="rect">
            <a:avLst/>
          </a:prstGeom>
        </p:spPr>
      </p:pic>
      <p:sp>
        <p:nvSpPr>
          <p:cNvPr id="12" name="Text 8"/>
          <p:cNvSpPr txBox="1"/>
          <p:nvPr/>
        </p:nvSpPr>
        <p:spPr>
          <a:xfrm>
            <a:off x="8229600" y="1554480"/>
            <a:ext cx="3200400" cy="1828800"/>
          </a:xfrm>
          <a:prstGeom prst="rect">
            <a:avLst/>
          </a:prstGeom>
          <a:noFill/>
          <a:ln/>
        </p:spPr>
        <p:txBody>
          <a:bodyPr wrap="square" lIns="0" tIns="0" rIns="0" bIns="0" rtlCol="0" anchor="ctr"/>
          <a:lstStyle/>
          <a:p>
            <a:pPr marL="0" indent="0">
              <a:buNone/>
            </a:pPr>
            <a:r>
              <a:rPr lang="en-US" sz="2800" b="1" dirty="0">
                <a:solidFill>
                  <a:schemeClr val="accent5"/>
                </a:solidFill>
              </a:rPr>
              <a:t>2</a:t>
            </a:r>
            <a:endParaRPr lang="en-US" sz="2800" dirty="0"/>
          </a:p>
          <a:p>
            <a:pPr marL="0" indent="0">
              <a:buNone/>
            </a:pPr>
            <a:r>
              <a:rPr lang="en-US" sz="2800" b="1" dirty="0">
                <a:solidFill>
                  <a:schemeClr val="tx1"/>
                </a:solidFill>
              </a:rPr>
              <a:t>Después, la IA</a:t>
            </a:r>
            <a:endParaRPr lang="en-US" sz="2800" dirty="0"/>
          </a:p>
        </p:txBody>
      </p:sp>
      <p:sp>
        <p:nvSpPr>
          <p:cNvPr id="13" name="Shape 9"/>
          <p:cNvSpPr/>
          <p:nvPr/>
        </p:nvSpPr>
        <p:spPr>
          <a:xfrm>
            <a:off x="5852160" y="2468880"/>
            <a:ext cx="457200" cy="0"/>
          </a:xfrm>
          <a:prstGeom prst="line">
            <a:avLst/>
          </a:prstGeom>
          <a:noFill/>
          <a:ln w="38100">
            <a:solidFill>
              <a:srgbClr val="3A4664"/>
            </a:solidFill>
            <a:prstDash val="solid"/>
            <a:tailEnd type="triangle"/>
          </a:ln>
        </p:spPr>
      </p:sp>
      <p:sp>
        <p:nvSpPr>
          <p:cNvPr id="14" name="Razón"/>
          <p:cNvSpPr/>
          <p:nvPr/>
        </p:nvSpPr>
        <p:spPr>
          <a:xfrm>
            <a:off x="548640" y="3931920"/>
            <a:ext cx="685800" cy="685800"/>
          </a:xfrm>
          <a:prstGeom prst="ellipse">
            <a:avLst/>
          </a:prstGeom>
          <a:solidFill>
            <a:schemeClr val="tx2"/>
          </a:solidFill>
          <a:ln/>
        </p:spPr>
      </p:sp>
      <p:pic>
        <p:nvPicPr>
          <p:cNvPr id="15" name="Image 2" descr="Razón"/>
          <p:cNvPicPr>
            <a:picLocks noChangeAspect="1"/>
          </p:cNvPicPr>
          <p:nvPr/>
        </p:nvPicPr>
        <p:blipFill>
          <a:blip r:embed="rId5"/>
          <a:stretch>
            <a:fillRect/>
          </a:stretch>
        </p:blipFill>
        <p:spPr>
          <a:xfrm>
            <a:off x="713232" y="4096512"/>
            <a:ext cx="356616" cy="356616"/>
          </a:xfrm>
          <a:prstGeom prst="rect">
            <a:avLst/>
          </a:prstGeom>
        </p:spPr>
      </p:pic>
      <p:sp>
        <p:nvSpPr>
          <p:cNvPr id="16" name="Text 11"/>
          <p:cNvSpPr txBox="1"/>
          <p:nvPr/>
        </p:nvSpPr>
        <p:spPr>
          <a:xfrm>
            <a:off x="1463040" y="3931920"/>
            <a:ext cx="10058400" cy="685800"/>
          </a:xfrm>
          <a:prstGeom prst="rect">
            <a:avLst/>
          </a:prstGeom>
          <a:noFill/>
          <a:ln/>
        </p:spPr>
        <p:txBody>
          <a:bodyPr wrap="square" lIns="0" tIns="0" rIns="0" bIns="0" rtlCol="0" anchor="ctr"/>
          <a:lstStyle/>
          <a:p>
            <a:pPr marL="0" indent="0">
              <a:buNone/>
            </a:pPr>
            <a:r>
              <a:rPr lang="en-US" sz="2000" dirty="0">
                <a:solidFill>
                  <a:schemeClr val="tx1"/>
                </a:solidFill>
              </a:rPr>
              <a:t>Si la IA va primero, el grupo se «ancla» en sus ideas y deja de pensar por su cuenta.</a:t>
            </a:r>
            <a:endParaRPr lang="en-US" sz="2000" dirty="0"/>
          </a:p>
        </p:txBody>
      </p:sp>
      <p:sp>
        <p:nvSpPr>
          <p:cNvPr id="17" name="Razón"/>
          <p:cNvSpPr/>
          <p:nvPr/>
        </p:nvSpPr>
        <p:spPr>
          <a:xfrm>
            <a:off x="548640" y="4846320"/>
            <a:ext cx="685800" cy="685800"/>
          </a:xfrm>
          <a:prstGeom prst="ellipse">
            <a:avLst/>
          </a:prstGeom>
          <a:solidFill>
            <a:schemeClr val="tx2"/>
          </a:solidFill>
          <a:ln/>
        </p:spPr>
      </p:sp>
      <p:pic>
        <p:nvPicPr>
          <p:cNvPr id="18" name="Image 3" descr="Razón"/>
          <p:cNvPicPr>
            <a:picLocks noChangeAspect="1"/>
          </p:cNvPicPr>
          <p:nvPr/>
        </p:nvPicPr>
        <p:blipFill>
          <a:blip r:embed="rId6"/>
          <a:stretch>
            <a:fillRect/>
          </a:stretch>
        </p:blipFill>
        <p:spPr>
          <a:xfrm>
            <a:off x="713232" y="5010912"/>
            <a:ext cx="356616" cy="356616"/>
          </a:xfrm>
          <a:prstGeom prst="rect">
            <a:avLst/>
          </a:prstGeom>
        </p:spPr>
      </p:pic>
      <p:sp>
        <p:nvSpPr>
          <p:cNvPr id="19" name="Text 13"/>
          <p:cNvSpPr txBox="1"/>
          <p:nvPr/>
        </p:nvSpPr>
        <p:spPr>
          <a:xfrm>
            <a:off x="1463040" y="4846320"/>
            <a:ext cx="10058400" cy="685800"/>
          </a:xfrm>
          <a:prstGeom prst="rect">
            <a:avLst/>
          </a:prstGeom>
          <a:noFill/>
          <a:ln/>
        </p:spPr>
        <p:txBody>
          <a:bodyPr wrap="square" lIns="0" tIns="0" rIns="0" bIns="0" rtlCol="0" anchor="ctr"/>
          <a:lstStyle/>
          <a:p>
            <a:pPr marL="0" indent="0">
              <a:buNone/>
            </a:pPr>
            <a:r>
              <a:rPr lang="en-US" sz="2000" dirty="0">
                <a:solidFill>
                  <a:schemeClr val="tx1"/>
                </a:solidFill>
              </a:rPr>
              <a:t>Así podemos comparar qué aporta cada uno.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Misma herramienta, mismo resultado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31</a:t>
            </a:fld>
            <a:endParaRPr lang="en-US"/>
          </a:p>
        </p:txBody>
      </p:sp>
      <p:sp>
        <p:nvSpPr>
          <p:cNvPr id="6" name="Text 0">
            <a:extLst>
              <a:ext uri="{FF2B5EF4-FFF2-40B4-BE49-F238E27FC236}">
                <a16:creationId xmlns:a16="http://schemas.microsoft.com/office/drawing/2014/main" id="{A283B16A-A781-DFDA-EEC3-BD382FEE5646}"/>
              </a:ext>
            </a:extLst>
          </p:cNvPr>
          <p:cNvSpPr txBox="1">
            <a:spLocks/>
          </p:cNvSpPr>
          <p:nvPr/>
        </p:nvSpPr>
        <p:spPr>
          <a:xfrm>
            <a:off x="868309" y="2994660"/>
            <a:ext cx="11094415" cy="777240"/>
          </a:xfrm>
          <a:prstGeom prst="rect">
            <a:avLst/>
          </a:prstGeom>
          <a:noFill/>
          <a:ln/>
        </p:spPr>
        <p:txBody>
          <a:bodyPr wrap="square" lIns="0" tIns="0" rIns="0" bIns="0" rtlCol="0" anchor="ctr"/>
          <a:lstStyle>
            <a:lvl1pPr marL="0" indent="0" algn="l" defTabSz="914400" rtl="0" eaLnBrk="1" latinLnBrk="0" hangingPunct="1">
              <a:spcBef>
                <a:spcPct val="0"/>
              </a:spcBef>
              <a:buNone/>
              <a:defRPr lang="en-US" sz="3200" b="1" kern="1200" dirty="0">
                <a:solidFill>
                  <a:schemeClr val="tx1"/>
                </a:solidFill>
                <a:latin typeface="+mj-lt"/>
                <a:ea typeface="+mj-ea"/>
                <a:cs typeface="+mj-cs"/>
              </a:defRPr>
            </a:lvl1pPr>
          </a:lstStyle>
          <a:p>
            <a:r>
              <a:rPr lang="es-ES" dirty="0"/>
              <a:t>Ver casos:</a:t>
            </a:r>
            <a:br>
              <a:rPr lang="es-ES" dirty="0"/>
            </a:br>
            <a:r>
              <a:rPr lang="es-ES" dirty="0" err="1"/>
              <a:t>Unreal</a:t>
            </a:r>
            <a:r>
              <a:rPr lang="es-ES" dirty="0"/>
              <a:t> </a:t>
            </a:r>
            <a:r>
              <a:rPr lang="es-ES" dirty="0" err="1"/>
              <a:t>Engine</a:t>
            </a:r>
            <a:r>
              <a:rPr lang="es-ES" dirty="0"/>
              <a:t> 5 y Relatos cortos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Nuestro ejemplo: una peluquería de barrio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Peluquería"/>
          <p:cNvSpPr/>
          <p:nvPr/>
        </p:nvSpPr>
        <p:spPr>
          <a:xfrm>
            <a:off x="548640" y="1554480"/>
            <a:ext cx="1097280" cy="1097280"/>
          </a:xfrm>
          <a:prstGeom prst="ellipse">
            <a:avLst/>
          </a:prstGeom>
          <a:solidFill>
            <a:schemeClr val="tx1"/>
          </a:solidFill>
          <a:ln/>
        </p:spPr>
      </p:sp>
      <p:pic>
        <p:nvPicPr>
          <p:cNvPr id="6" name="Image 0" descr="Peluquería"/>
          <p:cNvPicPr>
            <a:picLocks noChangeAspect="1"/>
          </p:cNvPicPr>
          <p:nvPr/>
        </p:nvPicPr>
        <p:blipFill>
          <a:blip r:embed="rId3"/>
          <a:stretch>
            <a:fillRect/>
          </a:stretch>
        </p:blipFill>
        <p:spPr>
          <a:xfrm>
            <a:off x="811987" y="1817827"/>
            <a:ext cx="570586" cy="570586"/>
          </a:xfrm>
          <a:prstGeom prst="rect">
            <a:avLst/>
          </a:prstGeom>
        </p:spPr>
      </p:pic>
      <p:sp>
        <p:nvSpPr>
          <p:cNvPr id="7" name="Text 4"/>
          <p:cNvSpPr txBox="1"/>
          <p:nvPr/>
        </p:nvSpPr>
        <p:spPr>
          <a:xfrm>
            <a:off x="1874520" y="1554480"/>
            <a:ext cx="8229600" cy="1097280"/>
          </a:xfrm>
          <a:prstGeom prst="rect">
            <a:avLst/>
          </a:prstGeom>
          <a:noFill/>
          <a:ln/>
        </p:spPr>
        <p:txBody>
          <a:bodyPr wrap="square" lIns="0" tIns="0" rIns="0" bIns="0" rtlCol="0" anchor="ctr"/>
          <a:lstStyle/>
          <a:p>
            <a:pPr marL="0" indent="0">
              <a:buNone/>
            </a:pPr>
            <a:r>
              <a:rPr lang="en-US" sz="2600" b="1" dirty="0">
                <a:solidFill>
                  <a:schemeClr val="tx1"/>
                </a:solidFill>
              </a:rPr>
              <a:t>Da las citas solo por teléfono</a:t>
            </a:r>
            <a:endParaRPr lang="en-US" sz="2600" dirty="0"/>
          </a:p>
        </p:txBody>
      </p:sp>
      <p:sp>
        <p:nvSpPr>
          <p:cNvPr id="8" name="Tarjeta"/>
          <p:cNvSpPr/>
          <p:nvPr/>
        </p:nvSpPr>
        <p:spPr>
          <a:xfrm>
            <a:off x="548640" y="2971800"/>
            <a:ext cx="3454298" cy="2148840"/>
          </a:xfrm>
          <a:prstGeom prst="roundRect">
            <a:avLst>
              <a:gd name="adj" fmla="val 6383"/>
            </a:avLst>
          </a:prstGeom>
          <a:solidFill>
            <a:schemeClr val="bg2"/>
          </a:solidFill>
          <a:ln/>
        </p:spPr>
      </p:sp>
      <p:sp>
        <p:nvSpPr>
          <p:cNvPr id="9" name="Problema"/>
          <p:cNvSpPr/>
          <p:nvPr/>
        </p:nvSpPr>
        <p:spPr>
          <a:xfrm>
            <a:off x="868680" y="3246120"/>
            <a:ext cx="822960" cy="822960"/>
          </a:xfrm>
          <a:prstGeom prst="ellipse">
            <a:avLst/>
          </a:prstGeom>
          <a:solidFill>
            <a:schemeClr val="accent3"/>
          </a:solidFill>
          <a:ln/>
        </p:spPr>
      </p:sp>
      <p:pic>
        <p:nvPicPr>
          <p:cNvPr id="10" name="Image 1" descr="Problema"/>
          <p:cNvPicPr>
            <a:picLocks noChangeAspect="1"/>
          </p:cNvPicPr>
          <p:nvPr/>
        </p:nvPicPr>
        <p:blipFill>
          <a:blip r:embed="rId4"/>
          <a:stretch>
            <a:fillRect/>
          </a:stretch>
        </p:blipFill>
        <p:spPr>
          <a:xfrm>
            <a:off x="1066190" y="3443630"/>
            <a:ext cx="427939" cy="427939"/>
          </a:xfrm>
          <a:prstGeom prst="rect">
            <a:avLst/>
          </a:prstGeom>
        </p:spPr>
      </p:pic>
      <p:sp>
        <p:nvSpPr>
          <p:cNvPr id="11" name="Text 7"/>
          <p:cNvSpPr txBox="1"/>
          <p:nvPr/>
        </p:nvSpPr>
        <p:spPr>
          <a:xfrm>
            <a:off x="868680"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El teléfono suena mientras se atiende a los clientes.</a:t>
            </a:r>
            <a:endParaRPr lang="en-US" sz="1900" dirty="0"/>
          </a:p>
        </p:txBody>
      </p:sp>
      <p:sp>
        <p:nvSpPr>
          <p:cNvPr id="12" name="Tarjeta"/>
          <p:cNvSpPr/>
          <p:nvPr/>
        </p:nvSpPr>
        <p:spPr>
          <a:xfrm>
            <a:off x="4368698" y="2971800"/>
            <a:ext cx="3454298" cy="2148840"/>
          </a:xfrm>
          <a:prstGeom prst="roundRect">
            <a:avLst>
              <a:gd name="adj" fmla="val 6383"/>
            </a:avLst>
          </a:prstGeom>
          <a:solidFill>
            <a:schemeClr val="bg2"/>
          </a:solidFill>
          <a:ln/>
        </p:spPr>
      </p:sp>
      <p:sp>
        <p:nvSpPr>
          <p:cNvPr id="13" name="Problema"/>
          <p:cNvSpPr/>
          <p:nvPr/>
        </p:nvSpPr>
        <p:spPr>
          <a:xfrm>
            <a:off x="4688738" y="3246120"/>
            <a:ext cx="822960" cy="822960"/>
          </a:xfrm>
          <a:prstGeom prst="ellipse">
            <a:avLst/>
          </a:prstGeom>
          <a:solidFill>
            <a:schemeClr val="accent3"/>
          </a:solidFill>
          <a:ln/>
        </p:spPr>
      </p:sp>
      <p:pic>
        <p:nvPicPr>
          <p:cNvPr id="14" name="Image 2" descr="Problema"/>
          <p:cNvPicPr>
            <a:picLocks noChangeAspect="1"/>
          </p:cNvPicPr>
          <p:nvPr/>
        </p:nvPicPr>
        <p:blipFill>
          <a:blip r:embed="rId5"/>
          <a:stretch>
            <a:fillRect/>
          </a:stretch>
        </p:blipFill>
        <p:spPr>
          <a:xfrm>
            <a:off x="4886249" y="3443630"/>
            <a:ext cx="427939" cy="427939"/>
          </a:xfrm>
          <a:prstGeom prst="rect">
            <a:avLst/>
          </a:prstGeom>
        </p:spPr>
      </p:pic>
      <p:sp>
        <p:nvSpPr>
          <p:cNvPr id="15" name="Text 10"/>
          <p:cNvSpPr txBox="1"/>
          <p:nvPr/>
        </p:nvSpPr>
        <p:spPr>
          <a:xfrm>
            <a:off x="4688738"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Hay clientes que olvidan su cita.</a:t>
            </a:r>
            <a:endParaRPr lang="en-US" sz="1900" dirty="0"/>
          </a:p>
        </p:txBody>
      </p:sp>
      <p:sp>
        <p:nvSpPr>
          <p:cNvPr id="16" name="Tarjeta"/>
          <p:cNvSpPr/>
          <p:nvPr/>
        </p:nvSpPr>
        <p:spPr>
          <a:xfrm>
            <a:off x="8188757" y="2971800"/>
            <a:ext cx="3454298" cy="2148840"/>
          </a:xfrm>
          <a:prstGeom prst="roundRect">
            <a:avLst>
              <a:gd name="adj" fmla="val 6383"/>
            </a:avLst>
          </a:prstGeom>
          <a:solidFill>
            <a:schemeClr val="bg2"/>
          </a:solidFill>
          <a:ln/>
        </p:spPr>
      </p:sp>
      <p:sp>
        <p:nvSpPr>
          <p:cNvPr id="17" name="Problema"/>
          <p:cNvSpPr/>
          <p:nvPr/>
        </p:nvSpPr>
        <p:spPr>
          <a:xfrm>
            <a:off x="8508797" y="3246120"/>
            <a:ext cx="822960" cy="822960"/>
          </a:xfrm>
          <a:prstGeom prst="ellipse">
            <a:avLst/>
          </a:prstGeom>
          <a:solidFill>
            <a:schemeClr val="accent3"/>
          </a:solidFill>
          <a:ln/>
        </p:spPr>
      </p:sp>
      <p:pic>
        <p:nvPicPr>
          <p:cNvPr id="18" name="Image 3" descr="Problema"/>
          <p:cNvPicPr>
            <a:picLocks noChangeAspect="1"/>
          </p:cNvPicPr>
          <p:nvPr/>
        </p:nvPicPr>
        <p:blipFill>
          <a:blip r:embed="rId6"/>
          <a:stretch>
            <a:fillRect/>
          </a:stretch>
        </p:blipFill>
        <p:spPr>
          <a:xfrm>
            <a:off x="8706307" y="3443630"/>
            <a:ext cx="427939" cy="427939"/>
          </a:xfrm>
          <a:prstGeom prst="rect">
            <a:avLst/>
          </a:prstGeom>
        </p:spPr>
      </p:pic>
      <p:sp>
        <p:nvSpPr>
          <p:cNvPr id="19" name="Text 13"/>
          <p:cNvSpPr txBox="1"/>
          <p:nvPr/>
        </p:nvSpPr>
        <p:spPr>
          <a:xfrm>
            <a:off x="8508797"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Los lunes por la mañana está vacía.</a:t>
            </a:r>
            <a:endParaRPr lang="en-US" sz="1900" dirty="0"/>
          </a:p>
        </p:txBody>
      </p:sp>
      <p:sp>
        <p:nvSpPr>
          <p:cNvPr id="20" name="Text 14"/>
          <p:cNvSpPr txBox="1"/>
          <p:nvPr/>
        </p:nvSpPr>
        <p:spPr>
          <a:xfrm>
            <a:off x="548640" y="5440680"/>
            <a:ext cx="11094415" cy="457200"/>
          </a:xfrm>
          <a:prstGeom prst="rect">
            <a:avLst/>
          </a:prstGeom>
          <a:noFill/>
          <a:ln/>
        </p:spPr>
        <p:txBody>
          <a:bodyPr wrap="square" lIns="0" tIns="0" rIns="0" bIns="0" rtlCol="0" anchor="ctr"/>
          <a:lstStyle/>
          <a:p>
            <a:pPr marL="0" indent="0">
              <a:buNone/>
            </a:pPr>
            <a:r>
              <a:rPr lang="en-US" sz="1800" i="1" dirty="0">
                <a:solidFill>
                  <a:schemeClr val="tx2"/>
                </a:solidFill>
              </a:rPr>
              <a:t>La usaremos para explicar las tres técnicas: brainstorming, SCAMPER y provocación.</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Brainstorming: cuatro reglas</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ext 3"/>
          <p:cNvSpPr txBox="1"/>
          <p:nvPr/>
        </p:nvSpPr>
        <p:spPr>
          <a:xfrm>
            <a:off x="548640" y="1371600"/>
            <a:ext cx="11094415" cy="548640"/>
          </a:xfrm>
          <a:prstGeom prst="rect">
            <a:avLst/>
          </a:prstGeom>
          <a:noFill/>
          <a:ln/>
        </p:spPr>
        <p:txBody>
          <a:bodyPr wrap="square" lIns="0" tIns="0" rIns="0" bIns="0" rtlCol="0" anchor="ctr"/>
          <a:lstStyle/>
          <a:p>
            <a:pPr marL="0" indent="0">
              <a:buNone/>
            </a:pPr>
            <a:r>
              <a:rPr lang="en-US" sz="2000" i="1" dirty="0">
                <a:solidFill>
                  <a:schemeClr val="tx2"/>
                </a:solidFill>
              </a:rPr>
              <a:t>Generar en grupo el mayor número posible de ideas sobre un reto, dejando el juicio para después.</a:t>
            </a:r>
            <a:endParaRPr lang="en-US" sz="2000" dirty="0"/>
          </a:p>
        </p:txBody>
      </p:sp>
      <p:sp>
        <p:nvSpPr>
          <p:cNvPr id="6" name="Tarjeta"/>
          <p:cNvSpPr/>
          <p:nvPr/>
        </p:nvSpPr>
        <p:spPr>
          <a:xfrm>
            <a:off x="548640" y="2194560"/>
            <a:ext cx="5364328" cy="1554480"/>
          </a:xfrm>
          <a:prstGeom prst="roundRect">
            <a:avLst>
              <a:gd name="adj" fmla="val 8824"/>
            </a:avLst>
          </a:prstGeom>
          <a:solidFill>
            <a:schemeClr val="bg2"/>
          </a:solidFill>
          <a:ln/>
        </p:spPr>
      </p:sp>
      <p:sp>
        <p:nvSpPr>
          <p:cNvPr id="7" name="Regla 1"/>
          <p:cNvSpPr/>
          <p:nvPr/>
        </p:nvSpPr>
        <p:spPr>
          <a:xfrm>
            <a:off x="822960" y="2560320"/>
            <a:ext cx="822960" cy="822960"/>
          </a:xfrm>
          <a:prstGeom prst="ellipse">
            <a:avLst/>
          </a:prstGeom>
          <a:solidFill>
            <a:schemeClr val="accent1"/>
          </a:solidFill>
          <a:ln/>
        </p:spPr>
      </p:sp>
      <p:sp>
        <p:nvSpPr>
          <p:cNvPr id="8" name="Text 6"/>
          <p:cNvSpPr txBox="1"/>
          <p:nvPr/>
        </p:nvSpPr>
        <p:spPr>
          <a:xfrm>
            <a:off x="822960" y="25603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1</a:t>
            </a:r>
            <a:endParaRPr lang="en-US" sz="3000" dirty="0"/>
          </a:p>
        </p:txBody>
      </p:sp>
      <p:sp>
        <p:nvSpPr>
          <p:cNvPr id="9" name="Text 7"/>
          <p:cNvSpPr txBox="1"/>
          <p:nvPr/>
        </p:nvSpPr>
        <p:spPr>
          <a:xfrm>
            <a:off x="1874520" y="21945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Cantidad antes que calidad.</a:t>
            </a:r>
            <a:endParaRPr lang="en-US" sz="2100" dirty="0"/>
          </a:p>
        </p:txBody>
      </p:sp>
      <p:sp>
        <p:nvSpPr>
          <p:cNvPr id="10" name="Tarjeta"/>
          <p:cNvSpPr/>
          <p:nvPr/>
        </p:nvSpPr>
        <p:spPr>
          <a:xfrm>
            <a:off x="6278728" y="2194560"/>
            <a:ext cx="5364328" cy="1554480"/>
          </a:xfrm>
          <a:prstGeom prst="roundRect">
            <a:avLst>
              <a:gd name="adj" fmla="val 8824"/>
            </a:avLst>
          </a:prstGeom>
          <a:solidFill>
            <a:schemeClr val="bg2"/>
          </a:solidFill>
          <a:ln/>
        </p:spPr>
      </p:sp>
      <p:sp>
        <p:nvSpPr>
          <p:cNvPr id="11" name="Regla 2"/>
          <p:cNvSpPr/>
          <p:nvPr/>
        </p:nvSpPr>
        <p:spPr>
          <a:xfrm>
            <a:off x="6553048" y="2560320"/>
            <a:ext cx="822960" cy="822960"/>
          </a:xfrm>
          <a:prstGeom prst="ellipse">
            <a:avLst/>
          </a:prstGeom>
          <a:solidFill>
            <a:schemeClr val="accent1"/>
          </a:solidFill>
          <a:ln/>
        </p:spPr>
      </p:sp>
      <p:sp>
        <p:nvSpPr>
          <p:cNvPr id="12" name="Text 10"/>
          <p:cNvSpPr txBox="1"/>
          <p:nvPr/>
        </p:nvSpPr>
        <p:spPr>
          <a:xfrm>
            <a:off x="6553048" y="25603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2</a:t>
            </a:r>
            <a:endParaRPr lang="en-US" sz="3000" dirty="0"/>
          </a:p>
        </p:txBody>
      </p:sp>
      <p:sp>
        <p:nvSpPr>
          <p:cNvPr id="13" name="Text 11"/>
          <p:cNvSpPr txBox="1"/>
          <p:nvPr/>
        </p:nvSpPr>
        <p:spPr>
          <a:xfrm>
            <a:off x="7604608" y="21945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No se critica ninguna idea durante la sesión.</a:t>
            </a:r>
            <a:endParaRPr lang="en-US" sz="2100" dirty="0"/>
          </a:p>
        </p:txBody>
      </p:sp>
      <p:sp>
        <p:nvSpPr>
          <p:cNvPr id="14" name="Tarjeta"/>
          <p:cNvSpPr/>
          <p:nvPr/>
        </p:nvSpPr>
        <p:spPr>
          <a:xfrm>
            <a:off x="548640" y="4023360"/>
            <a:ext cx="5364328" cy="1554480"/>
          </a:xfrm>
          <a:prstGeom prst="roundRect">
            <a:avLst>
              <a:gd name="adj" fmla="val 8824"/>
            </a:avLst>
          </a:prstGeom>
          <a:solidFill>
            <a:schemeClr val="bg2"/>
          </a:solidFill>
          <a:ln/>
        </p:spPr>
      </p:sp>
      <p:sp>
        <p:nvSpPr>
          <p:cNvPr id="15" name="Regla 3"/>
          <p:cNvSpPr/>
          <p:nvPr/>
        </p:nvSpPr>
        <p:spPr>
          <a:xfrm>
            <a:off x="822960" y="4389120"/>
            <a:ext cx="822960" cy="822960"/>
          </a:xfrm>
          <a:prstGeom prst="ellipse">
            <a:avLst/>
          </a:prstGeom>
          <a:solidFill>
            <a:schemeClr val="accent1"/>
          </a:solidFill>
          <a:ln/>
        </p:spPr>
      </p:sp>
      <p:sp>
        <p:nvSpPr>
          <p:cNvPr id="16" name="Text 14"/>
          <p:cNvSpPr txBox="1"/>
          <p:nvPr/>
        </p:nvSpPr>
        <p:spPr>
          <a:xfrm>
            <a:off x="822960" y="43891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3</a:t>
            </a:r>
            <a:endParaRPr lang="en-US" sz="3000" dirty="0"/>
          </a:p>
        </p:txBody>
      </p:sp>
      <p:sp>
        <p:nvSpPr>
          <p:cNvPr id="17" name="Text 15"/>
          <p:cNvSpPr txBox="1"/>
          <p:nvPr/>
        </p:nvSpPr>
        <p:spPr>
          <a:xfrm>
            <a:off x="1874520" y="40233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Se vale construir sobre la idea de otra persona: «y además…».</a:t>
            </a:r>
            <a:endParaRPr lang="en-US" sz="2100" dirty="0"/>
          </a:p>
        </p:txBody>
      </p:sp>
      <p:sp>
        <p:nvSpPr>
          <p:cNvPr id="18" name="Tarjeta"/>
          <p:cNvSpPr/>
          <p:nvPr/>
        </p:nvSpPr>
        <p:spPr>
          <a:xfrm>
            <a:off x="6278728" y="4023360"/>
            <a:ext cx="5364328" cy="1554480"/>
          </a:xfrm>
          <a:prstGeom prst="roundRect">
            <a:avLst>
              <a:gd name="adj" fmla="val 8824"/>
            </a:avLst>
          </a:prstGeom>
          <a:solidFill>
            <a:schemeClr val="bg2"/>
          </a:solidFill>
          <a:ln/>
        </p:spPr>
      </p:sp>
      <p:sp>
        <p:nvSpPr>
          <p:cNvPr id="19" name="Regla 4"/>
          <p:cNvSpPr/>
          <p:nvPr/>
        </p:nvSpPr>
        <p:spPr>
          <a:xfrm>
            <a:off x="6553048" y="4389120"/>
            <a:ext cx="822960" cy="822960"/>
          </a:xfrm>
          <a:prstGeom prst="ellipse">
            <a:avLst/>
          </a:prstGeom>
          <a:solidFill>
            <a:schemeClr val="accent1"/>
          </a:solidFill>
          <a:ln/>
        </p:spPr>
      </p:sp>
      <p:sp>
        <p:nvSpPr>
          <p:cNvPr id="20" name="Text 18"/>
          <p:cNvSpPr txBox="1"/>
          <p:nvPr/>
        </p:nvSpPr>
        <p:spPr>
          <a:xfrm>
            <a:off x="6553048" y="43891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4</a:t>
            </a:r>
            <a:endParaRPr lang="en-US" sz="3000" dirty="0"/>
          </a:p>
        </p:txBody>
      </p:sp>
      <p:sp>
        <p:nvSpPr>
          <p:cNvPr id="21" name="Text 19"/>
          <p:cNvSpPr txBox="1"/>
          <p:nvPr/>
        </p:nvSpPr>
        <p:spPr>
          <a:xfrm>
            <a:off x="7604608" y="40233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Las ideas disparatadas son bienvenidas: a menudo llevan a ideas buenas.</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Ejemplo: brainstorming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2000" b="1" i="1" dirty="0">
                <a:solidFill>
                  <a:schemeClr val="tx2"/>
                </a:solidFill>
              </a:rPr>
              <a:t>¿Cómo podríamos conseguir que la peluquería tenga clientes los lunes por la mañana?</a:t>
            </a:r>
            <a:endParaRPr lang="en-US" sz="2000" dirty="0"/>
          </a:p>
        </p:txBody>
      </p:sp>
      <p:sp>
        <p:nvSpPr>
          <p:cNvPr id="6" name="Idea"/>
          <p:cNvSpPr/>
          <p:nvPr/>
        </p:nvSpPr>
        <p:spPr>
          <a:xfrm>
            <a:off x="548640" y="2103120"/>
            <a:ext cx="5943600" cy="603504"/>
          </a:xfrm>
          <a:prstGeom prst="roundRect">
            <a:avLst>
              <a:gd name="adj" fmla="val 22727"/>
            </a:avLst>
          </a:prstGeom>
          <a:solidFill>
            <a:schemeClr val="bg2"/>
          </a:solidFill>
          <a:ln/>
        </p:spPr>
      </p:sp>
      <p:sp>
        <p:nvSpPr>
          <p:cNvPr id="7" name="Text 5"/>
          <p:cNvSpPr txBox="1"/>
          <p:nvPr/>
        </p:nvSpPr>
        <p:spPr>
          <a:xfrm>
            <a:off x="777240" y="2103120"/>
            <a:ext cx="5577840" cy="603504"/>
          </a:xfrm>
          <a:prstGeom prst="rect">
            <a:avLst/>
          </a:prstGeom>
          <a:noFill/>
          <a:ln/>
        </p:spPr>
        <p:txBody>
          <a:bodyPr wrap="square" lIns="0" tIns="0" rIns="0" bIns="0" rtlCol="0" anchor="ctr"/>
          <a:lstStyle/>
          <a:p>
            <a:pPr marL="0" indent="0">
              <a:buNone/>
            </a:pPr>
            <a:r>
              <a:rPr lang="en-US" sz="1600" dirty="0">
                <a:solidFill>
                  <a:schemeClr val="tx1"/>
                </a:solidFill>
              </a:rPr>
              <a:t>Descuento para quien reserve los lunes.</a:t>
            </a:r>
            <a:endParaRPr lang="en-US" sz="1600" dirty="0"/>
          </a:p>
        </p:txBody>
      </p:sp>
      <p:sp>
        <p:nvSpPr>
          <p:cNvPr id="8" name="Idea"/>
          <p:cNvSpPr/>
          <p:nvPr/>
        </p:nvSpPr>
        <p:spPr>
          <a:xfrm>
            <a:off x="548640" y="2852928"/>
            <a:ext cx="5943600" cy="603504"/>
          </a:xfrm>
          <a:prstGeom prst="roundRect">
            <a:avLst>
              <a:gd name="adj" fmla="val 22727"/>
            </a:avLst>
          </a:prstGeom>
          <a:solidFill>
            <a:schemeClr val="bg2"/>
          </a:solidFill>
          <a:ln/>
        </p:spPr>
      </p:sp>
      <p:sp>
        <p:nvSpPr>
          <p:cNvPr id="9" name="Text 7"/>
          <p:cNvSpPr txBox="1"/>
          <p:nvPr/>
        </p:nvSpPr>
        <p:spPr>
          <a:xfrm>
            <a:off x="777240" y="2852928"/>
            <a:ext cx="5577840" cy="603504"/>
          </a:xfrm>
          <a:prstGeom prst="rect">
            <a:avLst/>
          </a:prstGeom>
          <a:noFill/>
          <a:ln/>
        </p:spPr>
        <p:txBody>
          <a:bodyPr wrap="square" lIns="0" tIns="0" rIns="0" bIns="0" rtlCol="0" anchor="ctr"/>
          <a:lstStyle/>
          <a:p>
            <a:pPr marL="0" indent="0">
              <a:buNone/>
            </a:pPr>
            <a:r>
              <a:rPr lang="en-US" sz="1600" dirty="0">
                <a:solidFill>
                  <a:schemeClr val="tx1"/>
                </a:solidFill>
              </a:rPr>
              <a:t>Lunes reservado a personas mayores, con café incluido.</a:t>
            </a:r>
            <a:endParaRPr lang="en-US" sz="1600" dirty="0"/>
          </a:p>
        </p:txBody>
      </p:sp>
      <p:sp>
        <p:nvSpPr>
          <p:cNvPr id="10" name="Idea"/>
          <p:cNvSpPr/>
          <p:nvPr/>
        </p:nvSpPr>
        <p:spPr>
          <a:xfrm>
            <a:off x="548640" y="3602736"/>
            <a:ext cx="5943600" cy="603504"/>
          </a:xfrm>
          <a:prstGeom prst="roundRect">
            <a:avLst>
              <a:gd name="adj" fmla="val 22727"/>
            </a:avLst>
          </a:prstGeom>
          <a:solidFill>
            <a:schemeClr val="bg2"/>
          </a:solidFill>
          <a:ln/>
        </p:spPr>
      </p:sp>
      <p:sp>
        <p:nvSpPr>
          <p:cNvPr id="11" name="Text 9"/>
          <p:cNvSpPr txBox="1"/>
          <p:nvPr/>
        </p:nvSpPr>
        <p:spPr>
          <a:xfrm>
            <a:off x="777240" y="3602736"/>
            <a:ext cx="5577840" cy="603504"/>
          </a:xfrm>
          <a:prstGeom prst="rect">
            <a:avLst/>
          </a:prstGeom>
          <a:noFill/>
          <a:ln/>
        </p:spPr>
        <p:txBody>
          <a:bodyPr wrap="square" lIns="0" tIns="0" rIns="0" bIns="0" rtlCol="0" anchor="ctr"/>
          <a:lstStyle/>
          <a:p>
            <a:pPr marL="0" indent="0">
              <a:buNone/>
            </a:pPr>
            <a:r>
              <a:rPr lang="en-US" sz="1600" dirty="0">
                <a:solidFill>
                  <a:schemeClr val="tx1"/>
                </a:solidFill>
              </a:rPr>
              <a:t>Cortes gratis de estudiantes de peluquería, que practican supervisados.</a:t>
            </a:r>
            <a:endParaRPr lang="en-US" sz="1600" dirty="0"/>
          </a:p>
        </p:txBody>
      </p:sp>
      <p:sp>
        <p:nvSpPr>
          <p:cNvPr id="12" name="Idea"/>
          <p:cNvSpPr/>
          <p:nvPr/>
        </p:nvSpPr>
        <p:spPr>
          <a:xfrm>
            <a:off x="548640" y="4352544"/>
            <a:ext cx="5943600" cy="603504"/>
          </a:xfrm>
          <a:prstGeom prst="roundRect">
            <a:avLst>
              <a:gd name="adj" fmla="val 22727"/>
            </a:avLst>
          </a:prstGeom>
          <a:solidFill>
            <a:schemeClr val="bg2"/>
          </a:solidFill>
          <a:ln/>
        </p:spPr>
      </p:sp>
      <p:sp>
        <p:nvSpPr>
          <p:cNvPr id="13" name="Text 11"/>
          <p:cNvSpPr txBox="1"/>
          <p:nvPr/>
        </p:nvSpPr>
        <p:spPr>
          <a:xfrm>
            <a:off x="777240" y="4352544"/>
            <a:ext cx="5577840" cy="603504"/>
          </a:xfrm>
          <a:prstGeom prst="rect">
            <a:avLst/>
          </a:prstGeom>
          <a:noFill/>
          <a:ln/>
        </p:spPr>
        <p:txBody>
          <a:bodyPr wrap="square" lIns="0" tIns="0" rIns="0" bIns="0" rtlCol="0" anchor="ctr"/>
          <a:lstStyle/>
          <a:p>
            <a:pPr marL="0" indent="0">
              <a:buNone/>
            </a:pPr>
            <a:r>
              <a:rPr lang="en-US" sz="1600" dirty="0">
                <a:solidFill>
                  <a:schemeClr val="tx1"/>
                </a:solidFill>
              </a:rPr>
              <a:t>Ofrecer el lunes a domicilio para residencias cercanas.</a:t>
            </a:r>
            <a:endParaRPr lang="en-US" sz="1600" dirty="0"/>
          </a:p>
        </p:txBody>
      </p:sp>
      <p:sp>
        <p:nvSpPr>
          <p:cNvPr id="14" name="Idea"/>
          <p:cNvSpPr/>
          <p:nvPr/>
        </p:nvSpPr>
        <p:spPr>
          <a:xfrm>
            <a:off x="548640" y="5102352"/>
            <a:ext cx="5943600" cy="603504"/>
          </a:xfrm>
          <a:prstGeom prst="roundRect">
            <a:avLst>
              <a:gd name="adj" fmla="val 22727"/>
            </a:avLst>
          </a:prstGeom>
          <a:solidFill>
            <a:schemeClr val="bg2"/>
          </a:solidFill>
          <a:ln/>
        </p:spPr>
      </p:sp>
      <p:sp>
        <p:nvSpPr>
          <p:cNvPr id="15" name="Text 13"/>
          <p:cNvSpPr txBox="1"/>
          <p:nvPr/>
        </p:nvSpPr>
        <p:spPr>
          <a:xfrm>
            <a:off x="777240" y="5102352"/>
            <a:ext cx="5577840" cy="603504"/>
          </a:xfrm>
          <a:prstGeom prst="rect">
            <a:avLst/>
          </a:prstGeom>
          <a:noFill/>
          <a:ln/>
        </p:spPr>
        <p:txBody>
          <a:bodyPr wrap="square" lIns="0" tIns="0" rIns="0" bIns="0" rtlCol="0" anchor="ctr"/>
          <a:lstStyle/>
          <a:p>
            <a:pPr marL="0" indent="0">
              <a:buNone/>
            </a:pPr>
            <a:r>
              <a:rPr lang="en-US" sz="1600" dirty="0">
                <a:solidFill>
                  <a:schemeClr val="tx1"/>
                </a:solidFill>
              </a:rPr>
              <a:t>Sorteo mensual entre los clientes del lunes.</a:t>
            </a:r>
            <a:endParaRPr lang="en-US" sz="1600" dirty="0"/>
          </a:p>
        </p:txBody>
      </p:sp>
      <p:sp>
        <p:nvSpPr>
          <p:cNvPr id="16" name="Idea disparatada"/>
          <p:cNvSpPr/>
          <p:nvPr/>
        </p:nvSpPr>
        <p:spPr>
          <a:xfrm>
            <a:off x="6903720" y="2103120"/>
            <a:ext cx="4739335" cy="1325880"/>
          </a:xfrm>
          <a:prstGeom prst="roundRect">
            <a:avLst>
              <a:gd name="adj" fmla="val 10345"/>
            </a:avLst>
          </a:prstGeom>
          <a:solidFill>
            <a:schemeClr val="accent3"/>
          </a:solidFill>
          <a:ln/>
        </p:spPr>
      </p:sp>
      <p:sp>
        <p:nvSpPr>
          <p:cNvPr id="17" name="Text 15"/>
          <p:cNvSpPr txBox="1"/>
          <p:nvPr/>
        </p:nvSpPr>
        <p:spPr>
          <a:xfrm>
            <a:off x="7178040" y="2103120"/>
            <a:ext cx="4190695" cy="1325880"/>
          </a:xfrm>
          <a:prstGeom prst="rect">
            <a:avLst/>
          </a:prstGeom>
          <a:noFill/>
          <a:ln/>
        </p:spPr>
        <p:txBody>
          <a:bodyPr wrap="square" lIns="0" tIns="0" rIns="0" bIns="0" rtlCol="0" anchor="ctr"/>
          <a:lstStyle/>
          <a:p>
            <a:pPr marL="0" indent="0">
              <a:buNone/>
            </a:pPr>
            <a:r>
              <a:rPr lang="en-US" sz="1500" b="1" dirty="0">
                <a:solidFill>
                  <a:schemeClr val="bg1"/>
                </a:solidFill>
              </a:rPr>
              <a:t>Idea disparatada</a:t>
            </a:r>
            <a:endParaRPr lang="en-US" sz="2100" dirty="0"/>
          </a:p>
          <a:p>
            <a:pPr marL="0" indent="0">
              <a:buNone/>
            </a:pPr>
            <a:r>
              <a:rPr lang="en-US" sz="2100" dirty="0">
                <a:solidFill>
                  <a:schemeClr val="bg1"/>
                </a:solidFill>
              </a:rPr>
              <a:t>Cerrar los sábados y abrir los lunes.</a:t>
            </a:r>
            <a:endParaRPr lang="en-US" sz="2100" dirty="0"/>
          </a:p>
        </p:txBody>
      </p:sp>
      <p:sp>
        <p:nvSpPr>
          <p:cNvPr id="18" name="Shape 16"/>
          <p:cNvSpPr/>
          <p:nvPr/>
        </p:nvSpPr>
        <p:spPr>
          <a:xfrm>
            <a:off x="9273388" y="3520440"/>
            <a:ext cx="914" cy="457200"/>
          </a:xfrm>
          <a:prstGeom prst="line">
            <a:avLst/>
          </a:prstGeom>
          <a:noFill/>
          <a:ln w="38100">
            <a:solidFill>
              <a:srgbClr val="3A4664"/>
            </a:solidFill>
            <a:prstDash val="solid"/>
            <a:tailEnd type="triangle"/>
          </a:ln>
        </p:spPr>
      </p:sp>
      <p:sp>
        <p:nvSpPr>
          <p:cNvPr id="19" name="Idea sensata"/>
          <p:cNvSpPr/>
          <p:nvPr/>
        </p:nvSpPr>
        <p:spPr>
          <a:xfrm>
            <a:off x="6903720" y="4069080"/>
            <a:ext cx="4739335" cy="1655064"/>
          </a:xfrm>
          <a:prstGeom prst="roundRect">
            <a:avLst>
              <a:gd name="adj" fmla="val 8287"/>
            </a:avLst>
          </a:prstGeom>
          <a:solidFill>
            <a:schemeClr val="tx1"/>
          </a:solidFill>
          <a:ln/>
        </p:spPr>
      </p:sp>
      <p:sp>
        <p:nvSpPr>
          <p:cNvPr id="20" name="Text 18"/>
          <p:cNvSpPr txBox="1"/>
          <p:nvPr/>
        </p:nvSpPr>
        <p:spPr>
          <a:xfrm>
            <a:off x="7178040" y="4069080"/>
            <a:ext cx="4190695" cy="1655064"/>
          </a:xfrm>
          <a:prstGeom prst="rect">
            <a:avLst/>
          </a:prstGeom>
          <a:noFill/>
          <a:ln/>
        </p:spPr>
        <p:txBody>
          <a:bodyPr wrap="square" lIns="0" tIns="0" rIns="0" bIns="0" rtlCol="0" anchor="ctr"/>
          <a:lstStyle/>
          <a:p>
            <a:pPr marL="0" indent="0">
              <a:buNone/>
            </a:pPr>
            <a:r>
              <a:rPr lang="en-US" sz="1500" b="1" dirty="0">
                <a:solidFill>
                  <a:schemeClr val="accent1"/>
                </a:solidFill>
              </a:rPr>
              <a:t>Construyendo sobre ella</a:t>
            </a:r>
            <a:endParaRPr lang="en-US" sz="1800" dirty="0"/>
          </a:p>
          <a:p>
            <a:pPr marL="0" indent="0">
              <a:buNone/>
            </a:pPr>
            <a:r>
              <a:rPr lang="en-US" sz="1800" dirty="0">
                <a:solidFill>
                  <a:schemeClr val="bg1"/>
                </a:solidFill>
              </a:rPr>
              <a:t>Repartir la demanda: precio más bajo en los días flojos y más alto en los de más demanda.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1: brainstorming entre todos</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tx1"/>
                </a:solidFill>
              </a:rPr>
              <a:t>Min. 20–30 · Sin IA</a:t>
            </a:r>
            <a:endParaRPr lang="en-US" sz="1400" dirty="0"/>
          </a:p>
        </p:txBody>
      </p:sp>
      <p:sp>
        <p:nvSpPr>
          <p:cNvPr id="5" name="Reto"/>
          <p:cNvSpPr/>
          <p:nvPr/>
        </p:nvSpPr>
        <p:spPr>
          <a:xfrm>
            <a:off x="548640" y="1463040"/>
            <a:ext cx="11094415" cy="1600200"/>
          </a:xfrm>
          <a:prstGeom prst="roundRect">
            <a:avLst>
              <a:gd name="adj" fmla="val 8571"/>
            </a:avLst>
          </a:prstGeom>
          <a:solidFill>
            <a:schemeClr val="tx1"/>
          </a:solidFill>
          <a:ln/>
        </p:spPr>
      </p:sp>
      <p:sp>
        <p:nvSpPr>
          <p:cNvPr id="6" name="Text 4"/>
          <p:cNvSpPr txBox="1"/>
          <p:nvPr/>
        </p:nvSpPr>
        <p:spPr>
          <a:xfrm>
            <a:off x="914400" y="1463040"/>
            <a:ext cx="10362895" cy="1600200"/>
          </a:xfrm>
          <a:prstGeom prst="rect">
            <a:avLst/>
          </a:prstGeom>
          <a:noFill/>
          <a:ln/>
        </p:spPr>
        <p:txBody>
          <a:bodyPr wrap="square" lIns="0" tIns="0" rIns="0" bIns="0" rtlCol="0" anchor="ctr"/>
          <a:lstStyle/>
          <a:p>
            <a:pPr marL="0" indent="0">
              <a:buNone/>
            </a:pPr>
            <a:r>
              <a:rPr lang="en-US" sz="1500" b="1" i="1" dirty="0">
                <a:solidFill>
                  <a:schemeClr val="accent1"/>
                </a:solidFill>
              </a:rPr>
              <a:t>El reto</a:t>
            </a:r>
            <a:endParaRPr lang="en-US" sz="2300" dirty="0"/>
          </a:p>
          <a:p>
            <a:pPr marL="0" indent="0">
              <a:buNone/>
            </a:pPr>
            <a:r>
              <a:rPr lang="en-US" sz="2300" i="1" dirty="0">
                <a:solidFill>
                  <a:schemeClr val="bg1"/>
                </a:solidFill>
              </a:rPr>
              <a:t>¿Cómo podríamos conseguir que más personas pidan información sobre los cursos de una academia de formación que recibe pocas solicitudes?</a:t>
            </a:r>
            <a:endParaRPr lang="en-US" sz="2300" dirty="0"/>
          </a:p>
        </p:txBody>
      </p:sp>
      <p:sp>
        <p:nvSpPr>
          <p:cNvPr id="7" name="Instrucción"/>
          <p:cNvSpPr/>
          <p:nvPr/>
        </p:nvSpPr>
        <p:spPr>
          <a:xfrm>
            <a:off x="548640" y="3429000"/>
            <a:ext cx="685800" cy="685800"/>
          </a:xfrm>
          <a:prstGeom prst="ellipse">
            <a:avLst/>
          </a:prstGeom>
          <a:solidFill>
            <a:schemeClr val="accent1"/>
          </a:solidFill>
          <a:ln/>
        </p:spPr>
      </p:sp>
      <p:pic>
        <p:nvPicPr>
          <p:cNvPr id="8" name="Image 0" descr="Instrucción"/>
          <p:cNvPicPr>
            <a:picLocks noChangeAspect="1"/>
          </p:cNvPicPr>
          <p:nvPr/>
        </p:nvPicPr>
        <p:blipFill>
          <a:blip r:embed="rId3"/>
          <a:stretch>
            <a:fillRect/>
          </a:stretch>
        </p:blipFill>
        <p:spPr>
          <a:xfrm>
            <a:off x="713232" y="3593592"/>
            <a:ext cx="356616" cy="356616"/>
          </a:xfrm>
          <a:prstGeom prst="rect">
            <a:avLst/>
          </a:prstGeom>
        </p:spPr>
      </p:pic>
      <p:sp>
        <p:nvSpPr>
          <p:cNvPr id="9" name="Text 6"/>
          <p:cNvSpPr txBox="1"/>
          <p:nvPr/>
        </p:nvSpPr>
        <p:spPr>
          <a:xfrm>
            <a:off x="1463040" y="3429000"/>
            <a:ext cx="10058400" cy="685800"/>
          </a:xfrm>
          <a:prstGeom prst="rect">
            <a:avLst/>
          </a:prstGeom>
          <a:noFill/>
          <a:ln/>
        </p:spPr>
        <p:txBody>
          <a:bodyPr wrap="square" lIns="0" tIns="0" rIns="0" bIns="0" rtlCol="0" anchor="ctr"/>
          <a:lstStyle/>
          <a:p>
            <a:pPr marL="0" indent="0">
              <a:buNone/>
            </a:pPr>
            <a:r>
              <a:rPr lang="en-US" sz="2000" dirty="0">
                <a:solidFill>
                  <a:schemeClr val="tx1"/>
                </a:solidFill>
              </a:rPr>
              <a:t>Turno en rueda: habla todo el mundo. Si no tienes idea, di «paso».</a:t>
            </a:r>
            <a:endParaRPr lang="en-US" sz="2000" dirty="0"/>
          </a:p>
        </p:txBody>
      </p:sp>
      <p:sp>
        <p:nvSpPr>
          <p:cNvPr id="10" name="Instrucción"/>
          <p:cNvSpPr/>
          <p:nvPr/>
        </p:nvSpPr>
        <p:spPr>
          <a:xfrm>
            <a:off x="548640" y="4297680"/>
            <a:ext cx="685800" cy="685800"/>
          </a:xfrm>
          <a:prstGeom prst="ellipse">
            <a:avLst/>
          </a:prstGeom>
          <a:solidFill>
            <a:schemeClr val="accent1"/>
          </a:solidFill>
          <a:ln/>
        </p:spPr>
      </p:sp>
      <p:pic>
        <p:nvPicPr>
          <p:cNvPr id="11" name="Image 1" descr="Instrucción"/>
          <p:cNvPicPr>
            <a:picLocks noChangeAspect="1"/>
          </p:cNvPicPr>
          <p:nvPr/>
        </p:nvPicPr>
        <p:blipFill>
          <a:blip r:embed="rId4"/>
          <a:stretch>
            <a:fillRect/>
          </a:stretch>
        </p:blipFill>
        <p:spPr>
          <a:xfrm>
            <a:off x="713232" y="4462272"/>
            <a:ext cx="356616" cy="356616"/>
          </a:xfrm>
          <a:prstGeom prst="rect">
            <a:avLst/>
          </a:prstGeom>
        </p:spPr>
      </p:pic>
      <p:sp>
        <p:nvSpPr>
          <p:cNvPr id="12" name="Text 8"/>
          <p:cNvSpPr txBox="1"/>
          <p:nvPr/>
        </p:nvSpPr>
        <p:spPr>
          <a:xfrm>
            <a:off x="1463040" y="4297680"/>
            <a:ext cx="10058400" cy="685800"/>
          </a:xfrm>
          <a:prstGeom prst="rect">
            <a:avLst/>
          </a:prstGeom>
          <a:noFill/>
          <a:ln/>
        </p:spPr>
        <p:txBody>
          <a:bodyPr wrap="square" lIns="0" tIns="0" rIns="0" bIns="0" rtlCol="0" anchor="ctr"/>
          <a:lstStyle/>
          <a:p>
            <a:pPr marL="0" indent="0">
              <a:buNone/>
            </a:pPr>
            <a:r>
              <a:rPr lang="en-US" sz="2000" dirty="0">
                <a:solidFill>
                  <a:schemeClr val="tx1"/>
                </a:solidFill>
              </a:rPr>
              <a:t>Se apuntan todas las ideas, numeradas y sin comentarlas.</a:t>
            </a:r>
            <a:endParaRPr lang="en-US" sz="2000" dirty="0"/>
          </a:p>
        </p:txBody>
      </p:sp>
      <p:sp>
        <p:nvSpPr>
          <p:cNvPr id="13" name="Instrucción"/>
          <p:cNvSpPr/>
          <p:nvPr/>
        </p:nvSpPr>
        <p:spPr>
          <a:xfrm>
            <a:off x="548640" y="5166360"/>
            <a:ext cx="685800" cy="685800"/>
          </a:xfrm>
          <a:prstGeom prst="ellipse">
            <a:avLst/>
          </a:prstGeom>
          <a:solidFill>
            <a:schemeClr val="accent1"/>
          </a:solidFill>
          <a:ln/>
        </p:spPr>
      </p:sp>
      <p:pic>
        <p:nvPicPr>
          <p:cNvPr id="14" name="Image 2" descr="Instrucción"/>
          <p:cNvPicPr>
            <a:picLocks noChangeAspect="1"/>
          </p:cNvPicPr>
          <p:nvPr/>
        </p:nvPicPr>
        <p:blipFill>
          <a:blip r:embed="rId5"/>
          <a:stretch>
            <a:fillRect/>
          </a:stretch>
        </p:blipFill>
        <p:spPr>
          <a:xfrm>
            <a:off x="713232" y="5330952"/>
            <a:ext cx="356616" cy="356616"/>
          </a:xfrm>
          <a:prstGeom prst="rect">
            <a:avLst/>
          </a:prstGeom>
        </p:spPr>
      </p:pic>
      <p:sp>
        <p:nvSpPr>
          <p:cNvPr id="15" name="Text 10"/>
          <p:cNvSpPr txBox="1"/>
          <p:nvPr/>
        </p:nvSpPr>
        <p:spPr>
          <a:xfrm>
            <a:off x="1463040" y="5166360"/>
            <a:ext cx="10058400" cy="685800"/>
          </a:xfrm>
          <a:prstGeom prst="rect">
            <a:avLst/>
          </a:prstGeom>
          <a:noFill/>
          <a:ln/>
        </p:spPr>
        <p:txBody>
          <a:bodyPr wrap="square" lIns="0" tIns="0" rIns="0" bIns="0" rtlCol="0" anchor="ctr"/>
          <a:lstStyle/>
          <a:p>
            <a:pPr marL="0" indent="0">
              <a:buNone/>
            </a:pPr>
            <a:r>
              <a:rPr lang="en-US" sz="2000" dirty="0">
                <a:solidFill>
                  <a:schemeClr val="tx1"/>
                </a:solidFill>
              </a:rPr>
              <a:t>Al final, contamos cuántas ideas hemos generado.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35</a:t>
            </a:fld>
            <a:endParaRPr lang="en-US"/>
          </a:p>
        </p:txBody>
      </p:sp>
      <p:sp>
        <p:nvSpPr>
          <p:cNvPr id="26" name="Dónde escribir"/>
          <p:cNvSpPr/>
          <p:nvPr/>
        </p:nvSpPr>
        <p:spPr>
          <a:xfrm>
            <a:off x="6559905" y="6291072"/>
            <a:ext cx="4367174"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1  ›  Ronda sin IA</a:t>
            </a:r>
          </a:p>
        </p:txBody>
      </p:sp>
      <p:sp>
        <p:nvSpPr>
          <p:cNvPr id="27" name="Dónde escribir: círculo"/>
          <p:cNvSpPr/>
          <p:nvPr/>
        </p:nvSpPr>
        <p:spPr>
          <a:xfrm>
            <a:off x="6614769"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4"/>
          <a:stretch>
            <a:fillRect/>
          </a:stretch>
        </p:blipFill>
        <p:spPr>
          <a:xfrm>
            <a:off x="6687921" y="6409944"/>
            <a:ext cx="146304" cy="146304"/>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1C157-5BF1-068C-44E4-96E0189EFD0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250E45F-F7A9-F415-62DF-B564E5E32E7E}"/>
              </a:ext>
            </a:extLst>
          </p:cNvPr>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1: brainstorming entre todos</a:t>
            </a:r>
            <a:endParaRPr lang="en-US" sz="3200" dirty="0"/>
          </a:p>
        </p:txBody>
      </p:sp>
      <p:sp>
        <p:nvSpPr>
          <p:cNvPr id="3" name="Etiqueta de tiempo">
            <a:extLst>
              <a:ext uri="{FF2B5EF4-FFF2-40B4-BE49-F238E27FC236}">
                <a16:creationId xmlns:a16="http://schemas.microsoft.com/office/drawing/2014/main" id="{13192E66-AB85-DE66-C4FF-058EFD35EEFB}"/>
              </a:ext>
            </a:extLst>
          </p:cNvPr>
          <p:cNvSpPr/>
          <p:nvPr/>
        </p:nvSpPr>
        <p:spPr>
          <a:xfrm>
            <a:off x="9187891" y="548640"/>
            <a:ext cx="2455164" cy="457200"/>
          </a:xfrm>
          <a:prstGeom prst="roundRect">
            <a:avLst>
              <a:gd name="adj" fmla="val 50000"/>
            </a:avLst>
          </a:prstGeom>
          <a:solidFill>
            <a:schemeClr val="accent1"/>
          </a:solidFill>
          <a:ln/>
        </p:spPr>
      </p:sp>
      <p:sp>
        <p:nvSpPr>
          <p:cNvPr id="4" name="Text 2">
            <a:extLst>
              <a:ext uri="{FF2B5EF4-FFF2-40B4-BE49-F238E27FC236}">
                <a16:creationId xmlns:a16="http://schemas.microsoft.com/office/drawing/2014/main" id="{E2F56FB2-259E-D9C6-7954-61A7B332E9BC}"/>
              </a:ext>
            </a:extLst>
          </p:cNvPr>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tx1"/>
                </a:solidFill>
              </a:rPr>
              <a:t>Min. 20–30 · Sin IA</a:t>
            </a:r>
            <a:endParaRPr lang="en-US" sz="1400" dirty="0"/>
          </a:p>
        </p:txBody>
      </p:sp>
      <p:sp>
        <p:nvSpPr>
          <p:cNvPr id="5" name="Reto">
            <a:extLst>
              <a:ext uri="{FF2B5EF4-FFF2-40B4-BE49-F238E27FC236}">
                <a16:creationId xmlns:a16="http://schemas.microsoft.com/office/drawing/2014/main" id="{8A1AC13D-B64D-FA10-DA67-135898C3FC12}"/>
              </a:ext>
            </a:extLst>
          </p:cNvPr>
          <p:cNvSpPr/>
          <p:nvPr/>
        </p:nvSpPr>
        <p:spPr>
          <a:xfrm>
            <a:off x="548640" y="1463040"/>
            <a:ext cx="11094415" cy="1600200"/>
          </a:xfrm>
          <a:prstGeom prst="roundRect">
            <a:avLst>
              <a:gd name="adj" fmla="val 8571"/>
            </a:avLst>
          </a:prstGeom>
          <a:solidFill>
            <a:schemeClr val="tx1"/>
          </a:solidFill>
          <a:ln/>
        </p:spPr>
      </p:sp>
      <p:sp>
        <p:nvSpPr>
          <p:cNvPr id="6" name="Text 4">
            <a:extLst>
              <a:ext uri="{FF2B5EF4-FFF2-40B4-BE49-F238E27FC236}">
                <a16:creationId xmlns:a16="http://schemas.microsoft.com/office/drawing/2014/main" id="{B0867E15-DC7F-411C-B61D-A0D0F7BF5D22}"/>
              </a:ext>
            </a:extLst>
          </p:cNvPr>
          <p:cNvSpPr txBox="1"/>
          <p:nvPr/>
        </p:nvSpPr>
        <p:spPr>
          <a:xfrm>
            <a:off x="914400" y="1463040"/>
            <a:ext cx="10362895" cy="1600200"/>
          </a:xfrm>
          <a:prstGeom prst="rect">
            <a:avLst/>
          </a:prstGeom>
          <a:noFill/>
          <a:ln/>
        </p:spPr>
        <p:txBody>
          <a:bodyPr wrap="square" lIns="0" tIns="0" rIns="0" bIns="0" rtlCol="0" anchor="ctr"/>
          <a:lstStyle/>
          <a:p>
            <a:pPr marL="0" indent="0">
              <a:buNone/>
            </a:pPr>
            <a:r>
              <a:rPr lang="en-US" sz="1500" b="1" i="1" dirty="0">
                <a:solidFill>
                  <a:schemeClr val="accent1"/>
                </a:solidFill>
              </a:rPr>
              <a:t>Las ideas</a:t>
            </a:r>
            <a:endParaRPr lang="en-US" sz="2300" dirty="0"/>
          </a:p>
          <a:p>
            <a:pPr marL="0" indent="0">
              <a:buNone/>
            </a:pPr>
            <a:r>
              <a:rPr lang="en-US" sz="2300" i="1" dirty="0" err="1">
                <a:solidFill>
                  <a:schemeClr val="bg1"/>
                </a:solidFill>
              </a:rPr>
              <a:t>Agrupar</a:t>
            </a:r>
            <a:r>
              <a:rPr lang="en-US" sz="2300" i="1" dirty="0">
                <a:solidFill>
                  <a:schemeClr val="bg1"/>
                </a:solidFill>
              </a:rPr>
              <a:t> las ideas </a:t>
            </a:r>
            <a:r>
              <a:rPr lang="en-US" sz="2300" i="1" dirty="0" err="1">
                <a:solidFill>
                  <a:schemeClr val="bg1"/>
                </a:solidFill>
              </a:rPr>
              <a:t>según</a:t>
            </a:r>
            <a:r>
              <a:rPr lang="en-US" sz="2300" i="1" dirty="0">
                <a:solidFill>
                  <a:schemeClr val="bg1"/>
                </a:solidFill>
              </a:rPr>
              <a:t> </a:t>
            </a:r>
            <a:r>
              <a:rPr lang="en-US" sz="2300" i="1" dirty="0" err="1">
                <a:solidFill>
                  <a:schemeClr val="bg1"/>
                </a:solidFill>
              </a:rPr>
              <a:t>categorías</a:t>
            </a:r>
            <a:r>
              <a:rPr lang="en-US" sz="2300" i="1" dirty="0">
                <a:solidFill>
                  <a:schemeClr val="bg1"/>
                </a:solidFill>
              </a:rPr>
              <a:t>. Eso </a:t>
            </a:r>
            <a:r>
              <a:rPr lang="en-US" sz="2300" i="1" dirty="0" err="1">
                <a:solidFill>
                  <a:schemeClr val="bg1"/>
                </a:solidFill>
              </a:rPr>
              <a:t>ayuda</a:t>
            </a:r>
            <a:r>
              <a:rPr lang="en-US" sz="2300" i="1" dirty="0">
                <a:solidFill>
                  <a:schemeClr val="bg1"/>
                </a:solidFill>
              </a:rPr>
              <a:t> a fomenter </a:t>
            </a:r>
            <a:r>
              <a:rPr lang="en-US" sz="2300" i="1" dirty="0" err="1">
                <a:solidFill>
                  <a:schemeClr val="bg1"/>
                </a:solidFill>
              </a:rPr>
              <a:t>nuevas</a:t>
            </a:r>
            <a:r>
              <a:rPr lang="en-US" sz="2300" i="1" dirty="0">
                <a:solidFill>
                  <a:schemeClr val="bg1"/>
                </a:solidFill>
              </a:rPr>
              <a:t> ideas</a:t>
            </a:r>
            <a:endParaRPr lang="en-US" sz="2300" dirty="0"/>
          </a:p>
        </p:txBody>
      </p:sp>
      <p:grpSp>
        <p:nvGrpSpPr>
          <p:cNvPr id="16" name="Grupo 15">
            <a:extLst>
              <a:ext uri="{FF2B5EF4-FFF2-40B4-BE49-F238E27FC236}">
                <a16:creationId xmlns:a16="http://schemas.microsoft.com/office/drawing/2014/main" id="{4B5B82EB-27D5-BDC6-FF57-36BE1E05844D}"/>
              </a:ext>
            </a:extLst>
          </p:cNvPr>
          <p:cNvGrpSpPr/>
          <p:nvPr/>
        </p:nvGrpSpPr>
        <p:grpSpPr>
          <a:xfrm>
            <a:off x="548639" y="3429000"/>
            <a:ext cx="556591" cy="521208"/>
            <a:chOff x="548640" y="3429000"/>
            <a:chExt cx="685800" cy="685800"/>
          </a:xfrm>
        </p:grpSpPr>
        <p:sp>
          <p:nvSpPr>
            <p:cNvPr id="7" name="Instrucción">
              <a:extLst>
                <a:ext uri="{FF2B5EF4-FFF2-40B4-BE49-F238E27FC236}">
                  <a16:creationId xmlns:a16="http://schemas.microsoft.com/office/drawing/2014/main" id="{7C5C656A-5C42-49B4-842E-AFCF11101760}"/>
                </a:ext>
              </a:extLst>
            </p:cNvPr>
            <p:cNvSpPr/>
            <p:nvPr/>
          </p:nvSpPr>
          <p:spPr>
            <a:xfrm>
              <a:off x="548640" y="3429000"/>
              <a:ext cx="685800" cy="685800"/>
            </a:xfrm>
            <a:prstGeom prst="ellipse">
              <a:avLst/>
            </a:prstGeom>
            <a:solidFill>
              <a:schemeClr val="accent1"/>
            </a:solidFill>
            <a:ln/>
          </p:spPr>
        </p:sp>
        <p:pic>
          <p:nvPicPr>
            <p:cNvPr id="8" name="Image 0" descr="Instrucción">
              <a:extLst>
                <a:ext uri="{FF2B5EF4-FFF2-40B4-BE49-F238E27FC236}">
                  <a16:creationId xmlns:a16="http://schemas.microsoft.com/office/drawing/2014/main" id="{2DAC96DE-0330-03D0-89FD-BF8FA9236CEE}"/>
                </a:ext>
              </a:extLst>
            </p:cNvPr>
            <p:cNvPicPr>
              <a:picLocks noChangeAspect="1"/>
            </p:cNvPicPr>
            <p:nvPr/>
          </p:nvPicPr>
          <p:blipFill>
            <a:blip r:embed="rId3"/>
            <a:stretch>
              <a:fillRect/>
            </a:stretch>
          </p:blipFill>
          <p:spPr>
            <a:xfrm>
              <a:off x="713232" y="3593592"/>
              <a:ext cx="356616" cy="356616"/>
            </a:xfrm>
            <a:prstGeom prst="rect">
              <a:avLst/>
            </a:prstGeom>
          </p:spPr>
        </p:pic>
      </p:grpSp>
      <p:sp>
        <p:nvSpPr>
          <p:cNvPr id="9" name="Text 6">
            <a:extLst>
              <a:ext uri="{FF2B5EF4-FFF2-40B4-BE49-F238E27FC236}">
                <a16:creationId xmlns:a16="http://schemas.microsoft.com/office/drawing/2014/main" id="{C6E5E876-BF4D-437A-2968-9B3B8924CB5C}"/>
              </a:ext>
            </a:extLst>
          </p:cNvPr>
          <p:cNvSpPr txBox="1"/>
          <p:nvPr/>
        </p:nvSpPr>
        <p:spPr>
          <a:xfrm>
            <a:off x="1288112" y="3337560"/>
            <a:ext cx="10058400" cy="685800"/>
          </a:xfrm>
          <a:prstGeom prst="rect">
            <a:avLst/>
          </a:prstGeom>
          <a:noFill/>
          <a:ln/>
        </p:spPr>
        <p:txBody>
          <a:bodyPr wrap="square" lIns="0" tIns="0" rIns="0" bIns="0" rtlCol="0" anchor="ctr"/>
          <a:lstStyle/>
          <a:p>
            <a:r>
              <a:rPr lang="es-ES" sz="2000" dirty="0"/>
              <a:t>Visibilidad y captación</a:t>
            </a:r>
            <a:endParaRPr lang="en-US" sz="2000" dirty="0"/>
          </a:p>
        </p:txBody>
      </p:sp>
      <p:grpSp>
        <p:nvGrpSpPr>
          <p:cNvPr id="17" name="Grupo 16">
            <a:extLst>
              <a:ext uri="{FF2B5EF4-FFF2-40B4-BE49-F238E27FC236}">
                <a16:creationId xmlns:a16="http://schemas.microsoft.com/office/drawing/2014/main" id="{600700F3-8B53-F616-8B99-2C3E6AEA5D9D}"/>
              </a:ext>
            </a:extLst>
          </p:cNvPr>
          <p:cNvGrpSpPr/>
          <p:nvPr/>
        </p:nvGrpSpPr>
        <p:grpSpPr>
          <a:xfrm>
            <a:off x="567192" y="4023360"/>
            <a:ext cx="556591" cy="521208"/>
            <a:chOff x="548640" y="4297680"/>
            <a:chExt cx="685800" cy="685800"/>
          </a:xfrm>
        </p:grpSpPr>
        <p:sp>
          <p:nvSpPr>
            <p:cNvPr id="10" name="Instrucción">
              <a:extLst>
                <a:ext uri="{FF2B5EF4-FFF2-40B4-BE49-F238E27FC236}">
                  <a16:creationId xmlns:a16="http://schemas.microsoft.com/office/drawing/2014/main" id="{F02C3D60-68BC-AD5C-5CAF-D96EFFF31F05}"/>
                </a:ext>
              </a:extLst>
            </p:cNvPr>
            <p:cNvSpPr/>
            <p:nvPr/>
          </p:nvSpPr>
          <p:spPr>
            <a:xfrm>
              <a:off x="548640" y="4297680"/>
              <a:ext cx="685800" cy="685800"/>
            </a:xfrm>
            <a:prstGeom prst="ellipse">
              <a:avLst/>
            </a:prstGeom>
            <a:solidFill>
              <a:schemeClr val="accent1"/>
            </a:solidFill>
            <a:ln/>
          </p:spPr>
        </p:sp>
        <p:pic>
          <p:nvPicPr>
            <p:cNvPr id="11" name="Image 1" descr="Instrucción">
              <a:extLst>
                <a:ext uri="{FF2B5EF4-FFF2-40B4-BE49-F238E27FC236}">
                  <a16:creationId xmlns:a16="http://schemas.microsoft.com/office/drawing/2014/main" id="{3EB6B9E4-DF8D-E150-6186-78820B9D45C0}"/>
                </a:ext>
              </a:extLst>
            </p:cNvPr>
            <p:cNvPicPr>
              <a:picLocks noChangeAspect="1"/>
            </p:cNvPicPr>
            <p:nvPr/>
          </p:nvPicPr>
          <p:blipFill>
            <a:blip r:embed="rId4"/>
            <a:stretch>
              <a:fillRect/>
            </a:stretch>
          </p:blipFill>
          <p:spPr>
            <a:xfrm>
              <a:off x="713232" y="4462272"/>
              <a:ext cx="356616" cy="356616"/>
            </a:xfrm>
            <a:prstGeom prst="rect">
              <a:avLst/>
            </a:prstGeom>
          </p:spPr>
        </p:pic>
      </p:grpSp>
      <p:sp>
        <p:nvSpPr>
          <p:cNvPr id="12" name="Text 8">
            <a:extLst>
              <a:ext uri="{FF2B5EF4-FFF2-40B4-BE49-F238E27FC236}">
                <a16:creationId xmlns:a16="http://schemas.microsoft.com/office/drawing/2014/main" id="{BD0DF7C1-EFE9-A852-AB12-909ADCF0BF0C}"/>
              </a:ext>
            </a:extLst>
          </p:cNvPr>
          <p:cNvSpPr txBox="1"/>
          <p:nvPr/>
        </p:nvSpPr>
        <p:spPr>
          <a:xfrm>
            <a:off x="1257365" y="3898127"/>
            <a:ext cx="10058400" cy="685800"/>
          </a:xfrm>
          <a:prstGeom prst="rect">
            <a:avLst/>
          </a:prstGeom>
          <a:noFill/>
          <a:ln/>
        </p:spPr>
        <p:txBody>
          <a:bodyPr wrap="square" lIns="0" tIns="0" rIns="0" bIns="0" rtlCol="0" anchor="ctr"/>
          <a:lstStyle/>
          <a:p>
            <a:r>
              <a:rPr lang="es-ES" sz="2000" dirty="0"/>
              <a:t>Ofrecer algo antes de vender</a:t>
            </a:r>
            <a:endParaRPr lang="en-US" sz="2000" dirty="0"/>
          </a:p>
        </p:txBody>
      </p:sp>
      <p:sp>
        <p:nvSpPr>
          <p:cNvPr id="15" name="Text 10">
            <a:extLst>
              <a:ext uri="{FF2B5EF4-FFF2-40B4-BE49-F238E27FC236}">
                <a16:creationId xmlns:a16="http://schemas.microsoft.com/office/drawing/2014/main" id="{8E9447C0-588A-3220-74C8-762ED63D88AE}"/>
              </a:ext>
            </a:extLst>
          </p:cNvPr>
          <p:cNvSpPr txBox="1"/>
          <p:nvPr/>
        </p:nvSpPr>
        <p:spPr>
          <a:xfrm>
            <a:off x="1257365" y="4544568"/>
            <a:ext cx="10058400" cy="685800"/>
          </a:xfrm>
          <a:prstGeom prst="rect">
            <a:avLst/>
          </a:prstGeom>
          <a:noFill/>
          <a:ln/>
        </p:spPr>
        <p:txBody>
          <a:bodyPr wrap="square" lIns="0" tIns="0" rIns="0" bIns="0" rtlCol="0" anchor="ctr"/>
          <a:lstStyle/>
          <a:p>
            <a:r>
              <a:rPr lang="es-ES" sz="2000" dirty="0"/>
              <a:t>Facilitar el contacto</a:t>
            </a:r>
            <a:endParaRPr lang="en-US" sz="2000" dirty="0"/>
          </a:p>
        </p:txBody>
      </p:sp>
      <p:sp>
        <p:nvSpPr>
          <p:cNvPr id="25" name="Slide Number Placeholder 0">
            <a:extLst>
              <a:ext uri="{FF2B5EF4-FFF2-40B4-BE49-F238E27FC236}">
                <a16:creationId xmlns:a16="http://schemas.microsoft.com/office/drawing/2014/main" id="{D7F9C04F-7B15-CCEC-10FA-C3FC293DB6A7}"/>
              </a:ext>
            </a:extLst>
          </p:cNvPr>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36</a:t>
            </a:fld>
            <a:endParaRPr lang="en-US"/>
          </a:p>
        </p:txBody>
      </p:sp>
      <p:grpSp>
        <p:nvGrpSpPr>
          <p:cNvPr id="26" name="Grupo 25">
            <a:extLst>
              <a:ext uri="{FF2B5EF4-FFF2-40B4-BE49-F238E27FC236}">
                <a16:creationId xmlns:a16="http://schemas.microsoft.com/office/drawing/2014/main" id="{CB3DE359-162F-F021-8250-AEA5366D0C63}"/>
              </a:ext>
            </a:extLst>
          </p:cNvPr>
          <p:cNvGrpSpPr/>
          <p:nvPr/>
        </p:nvGrpSpPr>
        <p:grpSpPr>
          <a:xfrm>
            <a:off x="567192" y="5259248"/>
            <a:ext cx="556591" cy="521208"/>
            <a:chOff x="526900" y="5384338"/>
            <a:chExt cx="556591" cy="521208"/>
          </a:xfrm>
        </p:grpSpPr>
        <p:sp>
          <p:nvSpPr>
            <p:cNvPr id="20" name="Instrucción">
              <a:extLst>
                <a:ext uri="{FF2B5EF4-FFF2-40B4-BE49-F238E27FC236}">
                  <a16:creationId xmlns:a16="http://schemas.microsoft.com/office/drawing/2014/main" id="{887F219A-5147-EECF-1A6B-1209C695311C}"/>
                </a:ext>
              </a:extLst>
            </p:cNvPr>
            <p:cNvSpPr/>
            <p:nvPr/>
          </p:nvSpPr>
          <p:spPr>
            <a:xfrm>
              <a:off x="526900" y="5384338"/>
              <a:ext cx="556591" cy="521208"/>
            </a:xfrm>
            <a:prstGeom prst="ellipse">
              <a:avLst/>
            </a:prstGeom>
            <a:solidFill>
              <a:schemeClr val="accent1"/>
            </a:solidFill>
            <a:ln/>
          </p:spPr>
        </p:sp>
        <p:pic>
          <p:nvPicPr>
            <p:cNvPr id="21" name="Image 2" descr="Instrucción">
              <a:extLst>
                <a:ext uri="{FF2B5EF4-FFF2-40B4-BE49-F238E27FC236}">
                  <a16:creationId xmlns:a16="http://schemas.microsoft.com/office/drawing/2014/main" id="{71DAB963-B98C-001F-D2B1-90F17BD99CFC}"/>
                </a:ext>
              </a:extLst>
            </p:cNvPr>
            <p:cNvPicPr>
              <a:picLocks noChangeAspect="1"/>
            </p:cNvPicPr>
            <p:nvPr/>
          </p:nvPicPr>
          <p:blipFill>
            <a:blip r:embed="rId5"/>
            <a:stretch>
              <a:fillRect/>
            </a:stretch>
          </p:blipFill>
          <p:spPr>
            <a:xfrm>
              <a:off x="660482" y="5509428"/>
              <a:ext cx="289427" cy="271028"/>
            </a:xfrm>
            <a:prstGeom prst="rect">
              <a:avLst/>
            </a:prstGeom>
          </p:spPr>
        </p:pic>
      </p:grpSp>
      <p:grpSp>
        <p:nvGrpSpPr>
          <p:cNvPr id="24" name="Grupo 23">
            <a:extLst>
              <a:ext uri="{FF2B5EF4-FFF2-40B4-BE49-F238E27FC236}">
                <a16:creationId xmlns:a16="http://schemas.microsoft.com/office/drawing/2014/main" id="{31CD4B49-0EEF-41F2-63E3-C0772F3E58C4}"/>
              </a:ext>
            </a:extLst>
          </p:cNvPr>
          <p:cNvGrpSpPr/>
          <p:nvPr/>
        </p:nvGrpSpPr>
        <p:grpSpPr>
          <a:xfrm>
            <a:off x="553940" y="4617720"/>
            <a:ext cx="556591" cy="521208"/>
            <a:chOff x="540154" y="4703849"/>
            <a:chExt cx="556591" cy="521208"/>
          </a:xfrm>
        </p:grpSpPr>
        <p:sp>
          <p:nvSpPr>
            <p:cNvPr id="13" name="Instrucción">
              <a:extLst>
                <a:ext uri="{FF2B5EF4-FFF2-40B4-BE49-F238E27FC236}">
                  <a16:creationId xmlns:a16="http://schemas.microsoft.com/office/drawing/2014/main" id="{92BCD082-ECB9-4289-9BB3-7B2DA02D3013}"/>
                </a:ext>
              </a:extLst>
            </p:cNvPr>
            <p:cNvSpPr/>
            <p:nvPr/>
          </p:nvSpPr>
          <p:spPr>
            <a:xfrm>
              <a:off x="540154" y="4703849"/>
              <a:ext cx="556591" cy="521208"/>
            </a:xfrm>
            <a:prstGeom prst="ellipse">
              <a:avLst/>
            </a:prstGeom>
            <a:solidFill>
              <a:schemeClr val="accent1"/>
            </a:solidFill>
            <a:ln/>
          </p:spPr>
        </p:sp>
        <p:pic>
          <p:nvPicPr>
            <p:cNvPr id="23" name="Image 1" descr="Problema">
              <a:extLst>
                <a:ext uri="{FF2B5EF4-FFF2-40B4-BE49-F238E27FC236}">
                  <a16:creationId xmlns:a16="http://schemas.microsoft.com/office/drawing/2014/main" id="{A8CB38C2-DB7D-922C-AC09-2FEC75F0D151}"/>
                </a:ext>
              </a:extLst>
            </p:cNvPr>
            <p:cNvPicPr>
              <a:picLocks noChangeAspect="1"/>
            </p:cNvPicPr>
            <p:nvPr/>
          </p:nvPicPr>
          <p:blipFill>
            <a:blip r:embed="rId6"/>
            <a:stretch>
              <a:fillRect/>
            </a:stretch>
          </p:blipFill>
          <p:spPr>
            <a:xfrm>
              <a:off x="674988" y="4820992"/>
              <a:ext cx="286922" cy="286922"/>
            </a:xfrm>
            <a:prstGeom prst="rect">
              <a:avLst/>
            </a:prstGeom>
          </p:spPr>
        </p:pic>
      </p:grpSp>
      <p:sp>
        <p:nvSpPr>
          <p:cNvPr id="28" name="CuadroTexto 27">
            <a:extLst>
              <a:ext uri="{FF2B5EF4-FFF2-40B4-BE49-F238E27FC236}">
                <a16:creationId xmlns:a16="http://schemas.microsoft.com/office/drawing/2014/main" id="{56587CBF-2FBF-0E07-CB43-1938064A9ECC}"/>
              </a:ext>
            </a:extLst>
          </p:cNvPr>
          <p:cNvSpPr txBox="1"/>
          <p:nvPr/>
        </p:nvSpPr>
        <p:spPr>
          <a:xfrm>
            <a:off x="1172818" y="5320022"/>
            <a:ext cx="6096000" cy="369332"/>
          </a:xfrm>
          <a:prstGeom prst="rect">
            <a:avLst/>
          </a:prstGeom>
          <a:noFill/>
        </p:spPr>
        <p:txBody>
          <a:bodyPr wrap="square">
            <a:spAutoFit/>
          </a:bodyPr>
          <a:lstStyle/>
          <a:p>
            <a:r>
              <a:rPr lang="es-ES" dirty="0"/>
              <a:t>Confianza y recomendaciones</a:t>
            </a:r>
          </a:p>
        </p:txBody>
      </p:sp>
      <p:sp>
        <p:nvSpPr>
          <p:cNvPr id="29" name="Dónde escribir"/>
          <p:cNvSpPr/>
          <p:nvPr/>
        </p:nvSpPr>
        <p:spPr>
          <a:xfrm>
            <a:off x="6559905" y="6291072"/>
            <a:ext cx="4367174"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1  ›  Ronda sin IA</a:t>
            </a:r>
          </a:p>
        </p:txBody>
      </p:sp>
      <p:sp>
        <p:nvSpPr>
          <p:cNvPr id="30" name="Dónde escribir: círculo"/>
          <p:cNvSpPr/>
          <p:nvPr/>
        </p:nvSpPr>
        <p:spPr>
          <a:xfrm>
            <a:off x="6614769" y="6336792"/>
            <a:ext cx="292608" cy="292608"/>
          </a:xfrm>
          <a:prstGeom prst="ellipse">
            <a:avLst/>
          </a:prstGeom>
          <a:solidFill>
            <a:schemeClr val="accent1"/>
          </a:solidFill>
          <a:ln>
            <a:noFill/>
          </a:ln>
        </p:spPr>
      </p:sp>
      <p:pic>
        <p:nvPicPr>
          <p:cNvPr id="31" name="Dónde escribir: lápiz" descr="Lápiz"/>
          <p:cNvPicPr>
            <a:picLocks noChangeAspect="1"/>
          </p:cNvPicPr>
          <p:nvPr/>
        </p:nvPicPr>
        <p:blipFill>
          <a:blip r:embed="rId4"/>
          <a:stretch>
            <a:fillRect/>
          </a:stretch>
        </p:blipFill>
        <p:spPr>
          <a:xfrm>
            <a:off x="6687921" y="6409944"/>
            <a:ext cx="146304" cy="146304"/>
          </a:xfrm>
          <a:prstGeom prst="rect">
            <a:avLst/>
          </a:prstGeom>
        </p:spPr>
      </p:pic>
    </p:spTree>
    <p:extLst>
      <p:ext uri="{BB962C8B-B14F-4D97-AF65-F5344CB8AC3E}">
        <p14:creationId xmlns:p14="http://schemas.microsoft.com/office/powerpoint/2010/main" val="3482379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bg1"/>
                </a:solidFill>
              </a:rPr>
              <a:t>Min. 30–38 · Con IA</a:t>
            </a:r>
            <a:endParaRPr lang="en-US" sz="1400" dirty="0"/>
          </a:p>
        </p:txBody>
      </p:sp>
      <p:sp>
        <p:nvSpPr>
          <p:cNvPr id="5" name="Prompt"/>
          <p:cNvSpPr/>
          <p:nvPr/>
        </p:nvSpPr>
        <p:spPr>
          <a:xfrm>
            <a:off x="548640" y="1325880"/>
            <a:ext cx="6858000" cy="4846320"/>
          </a:xfrm>
          <a:prstGeom prst="roundRect">
            <a:avLst>
              <a:gd name="adj" fmla="val 2264"/>
            </a:avLst>
          </a:prstGeom>
          <a:solidFill>
            <a:schemeClr val="tx1"/>
          </a:solidFill>
          <a:ln/>
        </p:spPr>
      </p:sp>
      <p:sp>
        <p:nvSpPr>
          <p:cNvPr id="6" name="Text 4"/>
          <p:cNvSpPr txBox="1"/>
          <p:nvPr/>
        </p:nvSpPr>
        <p:spPr>
          <a:xfrm>
            <a:off x="822960" y="1508760"/>
            <a:ext cx="6309360" cy="4480560"/>
          </a:xfrm>
          <a:prstGeom prst="rect">
            <a:avLst/>
          </a:prstGeom>
          <a:noFill/>
          <a:ln/>
        </p:spPr>
        <p:txBody>
          <a:bodyPr wrap="square" lIns="0" tIns="0" rIns="0" bIns="0" rtlCol="0" anchor="t"/>
          <a:lstStyle/>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Actúa como facilitador experto en sesiones de</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brainstorming para pequeñas empresas.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Contexto: una academia de formación con cinco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trabajadores y poco presupuesto recibe pocas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solicitudes de información de posibles alumnos.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Reto: ¿cómo podríamos conseguir que más personas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pidan información sobre nuestros cursos?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Nuestro grupo ya ha propuesto estas ideas:</a:t>
            </a:r>
            <a:endParaRPr lang="en-US" sz="1400" dirty="0"/>
          </a:p>
          <a:p>
            <a:pPr marL="0" indent="0">
              <a:lnSpc>
                <a:spcPct val="95000"/>
              </a:lnSpc>
              <a:buNone/>
            </a:pPr>
            <a:r>
              <a:rPr lang="en-US" sz="1400" b="1" dirty="0">
                <a:solidFill>
                  <a:schemeClr val="accent1"/>
                </a:solidFill>
                <a:latin typeface="Courier New" pitchFamily="34" charset="0"/>
                <a:ea typeface="Courier New" pitchFamily="34" charset="-122"/>
                <a:cs typeface="Courier New" pitchFamily="34" charset="-120"/>
              </a:rPr>
              <a:t>[pegar la lista del grupo]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Tu tarea:</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1. Propón 15 ideas nuevas que no repitan ni</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reformulen las nuestras.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2. Repártelas así: 5 de bajo coste que puedan</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aplicarse esta semana, 5 digitales y 5 poco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convencionales o atrevidas.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3. Escribe una sola línea por idea, sin explicaciones.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4. No inventes cifras ni resultados.</a:t>
            </a:r>
            <a:endParaRPr lang="en-US" sz="1400" dirty="0"/>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indent="0">
              <a:buNone/>
            </a:pPr>
            <a:r>
              <a:rPr lang="en-US" sz="2200" b="1" dirty="0">
                <a:solidFill>
                  <a:schemeClr val="tx1"/>
                </a:solidFill>
              </a:rPr>
              <a:t>Por qué funciona</a:t>
            </a:r>
            <a:endParaRPr lang="en-US" sz="2200" dirty="0"/>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indent="0">
              <a:buNone/>
            </a:pPr>
            <a:r>
              <a:rPr lang="en-US" sz="1600" dirty="0">
                <a:solidFill>
                  <a:schemeClr val="tx1"/>
                </a:solidFill>
              </a:rPr>
              <a:t>Da un rol y un contexto concretos.</a:t>
            </a:r>
            <a:endParaRPr lang="en-US" sz="1600" dirty="0"/>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indent="0">
              <a:buNone/>
            </a:pPr>
            <a:r>
              <a:rPr lang="en-US" sz="1600" dirty="0">
                <a:solidFill>
                  <a:schemeClr val="tx1"/>
                </a:solidFill>
              </a:rPr>
              <a:t>Incluye nuestras ideas para que la IA no las repita.</a:t>
            </a:r>
            <a:endParaRPr lang="en-US" sz="1600" dirty="0"/>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indent="0">
              <a:buNone/>
            </a:pPr>
            <a:r>
              <a:rPr lang="en-US" sz="1600" dirty="0">
                <a:solidFill>
                  <a:schemeClr val="tx1"/>
                </a:solidFill>
              </a:rPr>
              <a:t>Pide categorías para forzar la variedad: sin ellas, la IA da ideas muy parecidas.</a:t>
            </a:r>
            <a:endParaRPr lang="en-US" sz="1600" dirty="0"/>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indent="0">
              <a:buNone/>
            </a:pPr>
            <a:r>
              <a:rPr lang="en-US" sz="1600" dirty="0">
                <a:solidFill>
                  <a:schemeClr val="tx1"/>
                </a:solidFill>
              </a:rPr>
              <a:t>Formato corto, para leerlo en voz alta.</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37</a:t>
            </a:fld>
            <a:endParaRPr lang="en-US"/>
          </a:p>
        </p:txBody>
      </p:sp>
      <p:sp>
        <p:nvSpPr>
          <p:cNvPr id="26" name="Dónde escribir"/>
          <p:cNvSpPr/>
          <p:nvPr/>
        </p:nvSpPr>
        <p:spPr>
          <a:xfrm>
            <a:off x="6506870" y="6291072"/>
            <a:ext cx="4420209"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1  ›  Ronda con IA</a:t>
            </a:r>
          </a:p>
        </p:txBody>
      </p:sp>
      <p:sp>
        <p:nvSpPr>
          <p:cNvPr id="27" name="Dónde escribir: círculo"/>
          <p:cNvSpPr/>
          <p:nvPr/>
        </p:nvSpPr>
        <p:spPr>
          <a:xfrm>
            <a:off x="6561734"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6634886" y="6409944"/>
            <a:ext cx="146304" cy="146304"/>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Segundo prompt: combinar ideas</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bg1"/>
                </a:solidFill>
              </a:rPr>
              <a:t>Min. 30–38 · Con IA</a:t>
            </a:r>
            <a:endParaRPr lang="en-US" sz="1400" dirty="0"/>
          </a:p>
        </p:txBody>
      </p:sp>
      <p:sp>
        <p:nvSpPr>
          <p:cNvPr id="5" name="Nuestras ideas"/>
          <p:cNvSpPr/>
          <p:nvPr/>
        </p:nvSpPr>
        <p:spPr>
          <a:xfrm>
            <a:off x="2011680" y="1417320"/>
            <a:ext cx="1188720" cy="1188720"/>
          </a:xfrm>
          <a:prstGeom prst="ellipse">
            <a:avLst/>
          </a:prstGeom>
          <a:solidFill>
            <a:schemeClr val="accent1"/>
          </a:solidFill>
          <a:ln/>
        </p:spPr>
      </p:sp>
      <p:pic>
        <p:nvPicPr>
          <p:cNvPr id="6" name="Image 0" descr="Nuestras ideas"/>
          <p:cNvPicPr>
            <a:picLocks noChangeAspect="1"/>
          </p:cNvPicPr>
          <p:nvPr/>
        </p:nvPicPr>
        <p:blipFill>
          <a:blip r:embed="rId3"/>
          <a:stretch>
            <a:fillRect/>
          </a:stretch>
        </p:blipFill>
        <p:spPr>
          <a:xfrm>
            <a:off x="2296973" y="1702613"/>
            <a:ext cx="618134" cy="618134"/>
          </a:xfrm>
          <a:prstGeom prst="rect">
            <a:avLst/>
          </a:prstGeom>
        </p:spPr>
      </p:pic>
      <p:sp>
        <p:nvSpPr>
          <p:cNvPr id="7" name="Text 4"/>
          <p:cNvSpPr txBox="1"/>
          <p:nvPr/>
        </p:nvSpPr>
        <p:spPr>
          <a:xfrm>
            <a:off x="146304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Nuestras ideas</a:t>
            </a:r>
            <a:endParaRPr lang="en-US" sz="1700" dirty="0"/>
          </a:p>
        </p:txBody>
      </p:sp>
      <p:sp>
        <p:nvSpPr>
          <p:cNvPr id="8" name="Ideas de la IA"/>
          <p:cNvSpPr/>
          <p:nvPr/>
        </p:nvSpPr>
        <p:spPr>
          <a:xfrm>
            <a:off x="5394960" y="1417320"/>
            <a:ext cx="1188720" cy="1188720"/>
          </a:xfrm>
          <a:prstGeom prst="ellipse">
            <a:avLst/>
          </a:prstGeom>
          <a:solidFill>
            <a:schemeClr val="accent2"/>
          </a:solidFill>
          <a:ln/>
        </p:spPr>
      </p:sp>
      <p:pic>
        <p:nvPicPr>
          <p:cNvPr id="9" name="Image 1" descr="Ideas de la IA"/>
          <p:cNvPicPr>
            <a:picLocks noChangeAspect="1"/>
          </p:cNvPicPr>
          <p:nvPr/>
        </p:nvPicPr>
        <p:blipFill>
          <a:blip r:embed="rId4"/>
          <a:stretch>
            <a:fillRect/>
          </a:stretch>
        </p:blipFill>
        <p:spPr>
          <a:xfrm>
            <a:off x="5680253" y="1702613"/>
            <a:ext cx="618134" cy="618134"/>
          </a:xfrm>
          <a:prstGeom prst="rect">
            <a:avLst/>
          </a:prstGeom>
        </p:spPr>
      </p:pic>
      <p:sp>
        <p:nvSpPr>
          <p:cNvPr id="10" name="Text 6"/>
          <p:cNvSpPr txBox="1"/>
          <p:nvPr/>
        </p:nvSpPr>
        <p:spPr>
          <a:xfrm>
            <a:off x="484632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Ideas de la IA</a:t>
            </a:r>
            <a:endParaRPr lang="en-US" sz="1700" dirty="0"/>
          </a:p>
        </p:txBody>
      </p:sp>
      <p:sp>
        <p:nvSpPr>
          <p:cNvPr id="11" name="Ideas mejores"/>
          <p:cNvSpPr/>
          <p:nvPr/>
        </p:nvSpPr>
        <p:spPr>
          <a:xfrm>
            <a:off x="8778240" y="1417320"/>
            <a:ext cx="1188720" cy="1188720"/>
          </a:xfrm>
          <a:prstGeom prst="ellipse">
            <a:avLst/>
          </a:prstGeom>
          <a:solidFill>
            <a:schemeClr val="accent3"/>
          </a:solidFill>
          <a:ln/>
        </p:spPr>
      </p:sp>
      <p:pic>
        <p:nvPicPr>
          <p:cNvPr id="12" name="Image 2" descr="Ideas mejores"/>
          <p:cNvPicPr>
            <a:picLocks noChangeAspect="1"/>
          </p:cNvPicPr>
          <p:nvPr/>
        </p:nvPicPr>
        <p:blipFill>
          <a:blip r:embed="rId5"/>
          <a:stretch>
            <a:fillRect/>
          </a:stretch>
        </p:blipFill>
        <p:spPr>
          <a:xfrm>
            <a:off x="9063533" y="1702613"/>
            <a:ext cx="618134" cy="618134"/>
          </a:xfrm>
          <a:prstGeom prst="rect">
            <a:avLst/>
          </a:prstGeom>
        </p:spPr>
      </p:pic>
      <p:sp>
        <p:nvSpPr>
          <p:cNvPr id="13" name="Text 8"/>
          <p:cNvSpPr txBox="1"/>
          <p:nvPr/>
        </p:nvSpPr>
        <p:spPr>
          <a:xfrm>
            <a:off x="822960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Ideas mejores</a:t>
            </a:r>
            <a:endParaRPr lang="en-US" sz="1700" dirty="0"/>
          </a:p>
        </p:txBody>
      </p:sp>
      <p:sp>
        <p:nvSpPr>
          <p:cNvPr id="14" name="Text 9"/>
          <p:cNvSpPr txBox="1"/>
          <p:nvPr/>
        </p:nvSpPr>
        <p:spPr>
          <a:xfrm>
            <a:off x="3200400" y="1417320"/>
            <a:ext cx="2194560" cy="1188720"/>
          </a:xfrm>
          <a:prstGeom prst="rect">
            <a:avLst/>
          </a:prstGeom>
          <a:noFill/>
          <a:ln/>
        </p:spPr>
        <p:txBody>
          <a:bodyPr wrap="square" lIns="0" tIns="0" rIns="0" bIns="0" rtlCol="0" anchor="ctr"/>
          <a:lstStyle/>
          <a:p>
            <a:pPr marL="0" indent="0" algn="ctr">
              <a:buNone/>
            </a:pPr>
            <a:r>
              <a:rPr lang="en-US" sz="4800" b="1" dirty="0">
                <a:solidFill>
                  <a:schemeClr val="tx2"/>
                </a:solidFill>
              </a:rPr>
              <a:t>+</a:t>
            </a:r>
            <a:endParaRPr lang="en-US" sz="4800" dirty="0"/>
          </a:p>
        </p:txBody>
      </p:sp>
      <p:sp>
        <p:nvSpPr>
          <p:cNvPr id="15" name="Text 10"/>
          <p:cNvSpPr txBox="1"/>
          <p:nvPr/>
        </p:nvSpPr>
        <p:spPr>
          <a:xfrm>
            <a:off x="6583680" y="1417320"/>
            <a:ext cx="2194560" cy="1188720"/>
          </a:xfrm>
          <a:prstGeom prst="rect">
            <a:avLst/>
          </a:prstGeom>
          <a:noFill/>
          <a:ln/>
        </p:spPr>
        <p:txBody>
          <a:bodyPr wrap="square" lIns="0" tIns="0" rIns="0" bIns="0" rtlCol="0" anchor="ctr"/>
          <a:lstStyle/>
          <a:p>
            <a:pPr marL="0" indent="0" algn="ctr">
              <a:buNone/>
            </a:pPr>
            <a:r>
              <a:rPr lang="en-US" sz="4800" b="1" dirty="0">
                <a:solidFill>
                  <a:schemeClr val="tx2"/>
                </a:solidFill>
              </a:rPr>
              <a:t>=</a:t>
            </a:r>
            <a:endParaRPr lang="en-US" sz="4800" dirty="0"/>
          </a:p>
        </p:txBody>
      </p:sp>
      <p:sp>
        <p:nvSpPr>
          <p:cNvPr id="16" name="Prompt"/>
          <p:cNvSpPr/>
          <p:nvPr/>
        </p:nvSpPr>
        <p:spPr>
          <a:xfrm>
            <a:off x="548640" y="3383280"/>
            <a:ext cx="11094415" cy="1691640"/>
          </a:xfrm>
          <a:prstGeom prst="roundRect">
            <a:avLst>
              <a:gd name="adj" fmla="val 6486"/>
            </a:avLst>
          </a:prstGeom>
          <a:solidFill>
            <a:schemeClr val="tx1"/>
          </a:solidFill>
          <a:ln/>
        </p:spPr>
      </p:sp>
      <p:sp>
        <p:nvSpPr>
          <p:cNvPr id="17" name="Text 12"/>
          <p:cNvSpPr txBox="1"/>
          <p:nvPr/>
        </p:nvSpPr>
        <p:spPr>
          <a:xfrm>
            <a:off x="822960" y="3566160"/>
            <a:ext cx="10545775" cy="1325880"/>
          </a:xfrm>
          <a:prstGeom prst="rect">
            <a:avLst/>
          </a:prstGeom>
          <a:noFill/>
          <a:ln/>
        </p:spPr>
        <p:txBody>
          <a:bodyPr wrap="square" lIns="0" tIns="0" rIns="0" bIns="0" rtlCol="0" anchor="t"/>
          <a:lstStyle/>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Elige tres ideas de nuestro grupo y combina cada una con </a:t>
            </a:r>
            <a:r>
              <a:rPr lang="en-US" sz="1800" dirty="0" err="1">
                <a:solidFill>
                  <a:schemeClr val="bg1"/>
                </a:solidFill>
                <a:latin typeface="Courier New" pitchFamily="34" charset="0"/>
                <a:ea typeface="Courier New" pitchFamily="34" charset="-122"/>
                <a:cs typeface="Courier New" pitchFamily="34" charset="-120"/>
              </a:rPr>
              <a:t>una</a:t>
            </a:r>
            <a:r>
              <a:rPr lang="en-US" sz="1800" dirty="0">
                <a:solidFill>
                  <a:schemeClr val="bg1"/>
                </a:solidFill>
                <a:latin typeface="Courier New" pitchFamily="34" charset="0"/>
                <a:ea typeface="Courier New" pitchFamily="34" charset="-122"/>
                <a:cs typeface="Courier New" pitchFamily="34" charset="-120"/>
              </a:rPr>
              <a:t> de</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las </a:t>
            </a:r>
            <a:r>
              <a:rPr lang="en-US" sz="1800" dirty="0" err="1">
                <a:solidFill>
                  <a:schemeClr val="bg1"/>
                </a:solidFill>
                <a:latin typeface="Courier New" pitchFamily="34" charset="0"/>
                <a:ea typeface="Courier New" pitchFamily="34" charset="-122"/>
                <a:cs typeface="Courier New" pitchFamily="34" charset="-120"/>
              </a:rPr>
              <a:t>tuyas</a:t>
            </a:r>
            <a:r>
              <a:rPr lang="en-US" sz="1800" dirty="0">
                <a:solidFill>
                  <a:schemeClr val="bg1"/>
                </a:solidFill>
                <a:latin typeface="Courier New" pitchFamily="34" charset="0"/>
                <a:ea typeface="Courier New" pitchFamily="34" charset="-122"/>
                <a:cs typeface="Courier New" pitchFamily="34" charset="-120"/>
              </a:rPr>
              <a:t> para crear tres ideas mejores que las originales.</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Indica de qué dos ideas parte cada combinación y qué mejora aporta.</a:t>
            </a:r>
            <a:endParaRPr lang="en-US" sz="1800" dirty="0"/>
          </a:p>
        </p:txBody>
      </p:sp>
      <p:sp>
        <p:nvSpPr>
          <p:cNvPr id="18" name="Text 13"/>
          <p:cNvSpPr txBox="1"/>
          <p:nvPr/>
        </p:nvSpPr>
        <p:spPr>
          <a:xfrm>
            <a:off x="548640" y="5349240"/>
            <a:ext cx="11094415" cy="457200"/>
          </a:xfrm>
          <a:prstGeom prst="rect">
            <a:avLst/>
          </a:prstGeom>
          <a:noFill/>
          <a:ln/>
        </p:spPr>
        <p:txBody>
          <a:bodyPr wrap="square" lIns="0" tIns="0" rIns="0" bIns="0" rtlCol="0" anchor="ctr"/>
          <a:lstStyle/>
          <a:p>
            <a:pPr marL="0" indent="0">
              <a:buNone/>
            </a:pPr>
            <a:r>
              <a:rPr lang="en-US" sz="1800" i="1" dirty="0">
                <a:solidFill>
                  <a:schemeClr val="tx2"/>
                </a:solidFill>
              </a:rPr>
              <a:t>Es la regla 3 del brainstorming —construir sobre otras ideas— aplicada a personas + IA.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38</a:t>
            </a:fld>
            <a:endParaRPr lang="en-US"/>
          </a:p>
        </p:txBody>
      </p:sp>
      <p:sp>
        <p:nvSpPr>
          <p:cNvPr id="26" name="Dónde escribir"/>
          <p:cNvSpPr/>
          <p:nvPr/>
        </p:nvSpPr>
        <p:spPr>
          <a:xfrm>
            <a:off x="6506870" y="6291072"/>
            <a:ext cx="4420209"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1  ›  Ronda con IA</a:t>
            </a:r>
          </a:p>
        </p:txBody>
      </p:sp>
      <p:sp>
        <p:nvSpPr>
          <p:cNvPr id="27" name="Dónde escribir: círculo"/>
          <p:cNvSpPr/>
          <p:nvPr/>
        </p:nvSpPr>
        <p:spPr>
          <a:xfrm>
            <a:off x="6561734"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6"/>
          <a:stretch>
            <a:fillRect/>
          </a:stretch>
        </p:blipFill>
        <p:spPr>
          <a:xfrm>
            <a:off x="6634886" y="6409944"/>
            <a:ext cx="146304" cy="146304"/>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Votad las tres ideas más originales</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38–45 · Todo el grupo</a:t>
            </a:r>
            <a:endParaRPr lang="en-US" sz="1400" dirty="0"/>
          </a:p>
        </p:txBody>
      </p:sp>
      <p:sp>
        <p:nvSpPr>
          <p:cNvPr id="5" name="Instrucción"/>
          <p:cNvSpPr/>
          <p:nvPr/>
        </p:nvSpPr>
        <p:spPr>
          <a:xfrm>
            <a:off x="548640" y="1737360"/>
            <a:ext cx="777240" cy="777240"/>
          </a:xfrm>
          <a:prstGeom prst="ellipse">
            <a:avLst/>
          </a:prstGeom>
          <a:solidFill>
            <a:schemeClr val="tx2"/>
          </a:solidFill>
          <a:ln/>
        </p:spPr>
      </p:sp>
      <p:pic>
        <p:nvPicPr>
          <p:cNvPr id="6" name="Image 0" descr="Instrucción"/>
          <p:cNvPicPr>
            <a:picLocks noChangeAspect="1"/>
          </p:cNvPicPr>
          <p:nvPr/>
        </p:nvPicPr>
        <p:blipFill>
          <a:blip r:embed="rId3"/>
          <a:stretch>
            <a:fillRect/>
          </a:stretch>
        </p:blipFill>
        <p:spPr>
          <a:xfrm>
            <a:off x="735178" y="1923898"/>
            <a:ext cx="404165" cy="404165"/>
          </a:xfrm>
          <a:prstGeom prst="rect">
            <a:avLst/>
          </a:prstGeom>
        </p:spPr>
      </p:pic>
      <p:sp>
        <p:nvSpPr>
          <p:cNvPr id="7" name="Text 4"/>
          <p:cNvSpPr txBox="1"/>
          <p:nvPr/>
        </p:nvSpPr>
        <p:spPr>
          <a:xfrm>
            <a:off x="1554480" y="1737360"/>
            <a:ext cx="4114800" cy="777240"/>
          </a:xfrm>
          <a:prstGeom prst="rect">
            <a:avLst/>
          </a:prstGeom>
          <a:noFill/>
          <a:ln/>
        </p:spPr>
        <p:txBody>
          <a:bodyPr wrap="square" lIns="0" tIns="0" rIns="0" bIns="0" rtlCol="0" anchor="ctr"/>
          <a:lstStyle/>
          <a:p>
            <a:pPr marL="0" indent="0">
              <a:buNone/>
            </a:pPr>
            <a:r>
              <a:rPr lang="en-US" sz="2000" dirty="0">
                <a:solidFill>
                  <a:schemeClr val="tx1"/>
                </a:solidFill>
              </a:rPr>
              <a:t>Cada persona marca tres ideas.</a:t>
            </a:r>
            <a:endParaRPr lang="en-US" sz="2000" dirty="0"/>
          </a:p>
        </p:txBody>
      </p:sp>
      <p:sp>
        <p:nvSpPr>
          <p:cNvPr id="8" name="Instrucción"/>
          <p:cNvSpPr/>
          <p:nvPr/>
        </p:nvSpPr>
        <p:spPr>
          <a:xfrm>
            <a:off x="548640" y="2834640"/>
            <a:ext cx="777240" cy="777240"/>
          </a:xfrm>
          <a:prstGeom prst="ellipse">
            <a:avLst/>
          </a:prstGeom>
          <a:solidFill>
            <a:schemeClr val="tx2"/>
          </a:solidFill>
          <a:ln/>
        </p:spPr>
      </p:sp>
      <p:pic>
        <p:nvPicPr>
          <p:cNvPr id="9" name="Image 1" descr="Instrucción"/>
          <p:cNvPicPr>
            <a:picLocks noChangeAspect="1"/>
          </p:cNvPicPr>
          <p:nvPr/>
        </p:nvPicPr>
        <p:blipFill>
          <a:blip r:embed="rId4"/>
          <a:stretch>
            <a:fillRect/>
          </a:stretch>
        </p:blipFill>
        <p:spPr>
          <a:xfrm>
            <a:off x="735178" y="3021178"/>
            <a:ext cx="404165" cy="404165"/>
          </a:xfrm>
          <a:prstGeom prst="rect">
            <a:avLst/>
          </a:prstGeom>
        </p:spPr>
      </p:pic>
      <p:sp>
        <p:nvSpPr>
          <p:cNvPr id="10" name="Text 6"/>
          <p:cNvSpPr txBox="1"/>
          <p:nvPr/>
        </p:nvSpPr>
        <p:spPr>
          <a:xfrm>
            <a:off x="1554480" y="2834640"/>
            <a:ext cx="4114800" cy="777240"/>
          </a:xfrm>
          <a:prstGeom prst="rect">
            <a:avLst/>
          </a:prstGeom>
          <a:noFill/>
          <a:ln/>
        </p:spPr>
        <p:txBody>
          <a:bodyPr wrap="square" lIns="0" tIns="0" rIns="0" bIns="0" rtlCol="0" anchor="ctr"/>
          <a:lstStyle/>
          <a:p>
            <a:pPr marL="0" indent="0">
              <a:buNone/>
            </a:pPr>
            <a:r>
              <a:rPr lang="en-US" sz="2000" dirty="0">
                <a:solidFill>
                  <a:schemeClr val="tx1"/>
                </a:solidFill>
              </a:rPr>
              <a:t>Sin fijarse en si vienen del grupo o de la IA.</a:t>
            </a:r>
            <a:endParaRPr lang="en-US" sz="2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943600" y="1737360"/>
          <a:ext cx="5513832" cy="3108960"/>
        </p:xfrm>
        <a:graphic>
          <a:graphicData uri="http://schemas.openxmlformats.org/drawingml/2006/table">
            <a:tbl>
              <a:tblPr/>
              <a:tblGrid>
                <a:gridCol w="2587752">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731520">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tx1"/>
                          </a:solidFill>
                        </a:rPr>
                        <a:t>Sin IA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Con IA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1188720">
                <a:tc>
                  <a:txBody>
                    <a:bodyPr/>
                    <a:lstStyle/>
                    <a:p>
                      <a:pPr marL="0" indent="0">
                        <a:buNone/>
                      </a:pPr>
                      <a:r>
                        <a:rPr lang="en-US" sz="1800" b="1" dirty="0">
                          <a:solidFill>
                            <a:schemeClr val="tx1"/>
                          </a:solidFill>
                        </a:rPr>
                        <a:t>Número de ideas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1188720">
                <a:tc>
                  <a:txBody>
                    <a:bodyPr/>
                    <a:lstStyle/>
                    <a:p>
                      <a:pPr marL="0" indent="0">
                        <a:buNone/>
                      </a:pPr>
                      <a:r>
                        <a:rPr lang="en-US" sz="1800" b="1" dirty="0">
                          <a:solidFill>
                            <a:schemeClr val="tx1"/>
                          </a:solidFill>
                        </a:rPr>
                        <a:t>Ideas entre las más votadas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12" name="Text 7"/>
          <p:cNvSpPr txBox="1"/>
          <p:nvPr/>
        </p:nvSpPr>
        <p:spPr>
          <a:xfrm>
            <a:off x="5943600" y="5120640"/>
            <a:ext cx="5699455" cy="457200"/>
          </a:xfrm>
          <a:prstGeom prst="rect">
            <a:avLst/>
          </a:prstGeom>
          <a:noFill/>
          <a:ln/>
        </p:spPr>
        <p:txBody>
          <a:bodyPr wrap="square" lIns="0" tIns="0" rIns="0" bIns="0" rtlCol="0" anchor="ctr"/>
          <a:lstStyle/>
          <a:p>
            <a:pPr marL="0" indent="0">
              <a:buNone/>
            </a:pPr>
            <a:r>
              <a:rPr lang="en-US" sz="1600" i="1" dirty="0">
                <a:solidFill>
                  <a:schemeClr val="tx2"/>
                </a:solidFill>
              </a:rPr>
              <a:t>Rellenamos la tabla entre todos con el recuento.</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39</a:t>
            </a:fld>
            <a:endParaRPr lang="en-US"/>
          </a:p>
        </p:txBody>
      </p:sp>
      <p:sp>
        <p:nvSpPr>
          <p:cNvPr id="28" name="Dónde escribir"/>
          <p:cNvSpPr/>
          <p:nvPr/>
        </p:nvSpPr>
        <p:spPr>
          <a:xfrm>
            <a:off x="6501383" y="6291072"/>
            <a:ext cx="4425696"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1  ›  Comparación</a:t>
            </a:r>
          </a:p>
        </p:txBody>
      </p:sp>
      <p:sp>
        <p:nvSpPr>
          <p:cNvPr id="29" name="Dónde escribir: círculo"/>
          <p:cNvSpPr/>
          <p:nvPr/>
        </p:nvSpPr>
        <p:spPr>
          <a:xfrm>
            <a:off x="6556247" y="6336792"/>
            <a:ext cx="292608" cy="292608"/>
          </a:xfrm>
          <a:prstGeom prst="ellipse">
            <a:avLst/>
          </a:prstGeom>
          <a:solidFill>
            <a:schemeClr val="accent1"/>
          </a:solidFill>
          <a:ln>
            <a:noFill/>
          </a:ln>
        </p:spPr>
      </p:sp>
      <p:pic>
        <p:nvPicPr>
          <p:cNvPr id="30" name="Dónde escribir: lápiz" descr="Lápiz"/>
          <p:cNvPicPr>
            <a:picLocks noChangeAspect="1"/>
          </p:cNvPicPr>
          <p:nvPr/>
        </p:nvPicPr>
        <p:blipFill>
          <a:blip r:embed="rId5"/>
          <a:stretch>
            <a:fillRect/>
          </a:stretch>
        </p:blipFill>
        <p:spPr>
          <a:xfrm>
            <a:off x="6629399" y="6409944"/>
            <a:ext cx="146304" cy="146304"/>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ha aportado la IA?</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38–45 · Todo el grupo</a:t>
            </a:r>
            <a:endParaRPr lang="en-US" sz="1400" dirty="0"/>
          </a:p>
        </p:txBody>
      </p:sp>
      <p:sp>
        <p:nvSpPr>
          <p:cNvPr id="5" name="Tarjeta"/>
          <p:cNvSpPr/>
          <p:nvPr/>
        </p:nvSpPr>
        <p:spPr>
          <a:xfrm>
            <a:off x="548640" y="1600200"/>
            <a:ext cx="3454298" cy="3566160"/>
          </a:xfrm>
          <a:prstGeom prst="roundRect">
            <a:avLst>
              <a:gd name="adj" fmla="val 3971"/>
            </a:avLst>
          </a:prstGeom>
          <a:solidFill>
            <a:schemeClr val="bg2"/>
          </a:solidFill>
          <a:ln/>
        </p:spPr>
      </p:sp>
      <p:sp>
        <p:nvSpPr>
          <p:cNvPr id="6" name="Pregunta"/>
          <p:cNvSpPr/>
          <p:nvPr/>
        </p:nvSpPr>
        <p:spPr>
          <a:xfrm>
            <a:off x="1681429" y="196596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51253"/>
            <a:ext cx="618134" cy="618134"/>
          </a:xfrm>
          <a:prstGeom prst="rect">
            <a:avLst/>
          </a:prstGeom>
        </p:spPr>
      </p:pic>
      <p:sp>
        <p:nvSpPr>
          <p:cNvPr id="8" name="Text 5"/>
          <p:cNvSpPr txBox="1"/>
          <p:nvPr/>
        </p:nvSpPr>
        <p:spPr>
          <a:xfrm>
            <a:off x="868680"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¿La IA ha dado ideas mejores o solo más ideas?</a:t>
            </a:r>
            <a:endParaRPr lang="en-US" sz="2400" dirty="0"/>
          </a:p>
        </p:txBody>
      </p:sp>
      <p:sp>
        <p:nvSpPr>
          <p:cNvPr id="9" name="Tarjeta"/>
          <p:cNvSpPr/>
          <p:nvPr/>
        </p:nvSpPr>
        <p:spPr>
          <a:xfrm>
            <a:off x="4368698" y="1600200"/>
            <a:ext cx="3454298" cy="3566160"/>
          </a:xfrm>
          <a:prstGeom prst="roundRect">
            <a:avLst>
              <a:gd name="adj" fmla="val 3971"/>
            </a:avLst>
          </a:prstGeom>
          <a:solidFill>
            <a:schemeClr val="bg2"/>
          </a:solidFill>
          <a:ln/>
        </p:spPr>
      </p:sp>
      <p:sp>
        <p:nvSpPr>
          <p:cNvPr id="10" name="Pregunta"/>
          <p:cNvSpPr/>
          <p:nvPr/>
        </p:nvSpPr>
        <p:spPr>
          <a:xfrm>
            <a:off x="5501488" y="196596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51253"/>
            <a:ext cx="618134" cy="618134"/>
          </a:xfrm>
          <a:prstGeom prst="rect">
            <a:avLst/>
          </a:prstGeom>
        </p:spPr>
      </p:pic>
      <p:sp>
        <p:nvSpPr>
          <p:cNvPr id="12" name="Text 8"/>
          <p:cNvSpPr txBox="1"/>
          <p:nvPr/>
        </p:nvSpPr>
        <p:spPr>
          <a:xfrm>
            <a:off x="4688738"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¿Las combinaciones han mejorado las ideas de partida?</a:t>
            </a:r>
            <a:endParaRPr lang="en-US" sz="2400" dirty="0"/>
          </a:p>
        </p:txBody>
      </p:sp>
      <p:sp>
        <p:nvSpPr>
          <p:cNvPr id="13" name="Tarjeta"/>
          <p:cNvSpPr/>
          <p:nvPr/>
        </p:nvSpPr>
        <p:spPr>
          <a:xfrm>
            <a:off x="8188757" y="1600200"/>
            <a:ext cx="3454298" cy="3566160"/>
          </a:xfrm>
          <a:prstGeom prst="roundRect">
            <a:avLst>
              <a:gd name="adj" fmla="val 3971"/>
            </a:avLst>
          </a:prstGeom>
          <a:solidFill>
            <a:schemeClr val="bg2"/>
          </a:solidFill>
          <a:ln/>
        </p:spPr>
      </p:sp>
      <p:sp>
        <p:nvSpPr>
          <p:cNvPr id="14" name="Pregunta"/>
          <p:cNvSpPr/>
          <p:nvPr/>
        </p:nvSpPr>
        <p:spPr>
          <a:xfrm>
            <a:off x="9321546" y="196596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51253"/>
            <a:ext cx="618134" cy="618134"/>
          </a:xfrm>
          <a:prstGeom prst="rect">
            <a:avLst/>
          </a:prstGeom>
        </p:spPr>
      </p:pic>
      <p:sp>
        <p:nvSpPr>
          <p:cNvPr id="16" name="Text 11"/>
          <p:cNvSpPr txBox="1"/>
          <p:nvPr/>
        </p:nvSpPr>
        <p:spPr>
          <a:xfrm>
            <a:off x="8508797"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¿Qué propuestas podrían aplicarse con pocos recursos?</a:t>
            </a:r>
            <a:endParaRPr lang="en-US" sz="2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40</a:t>
            </a:fld>
            <a:endParaRPr lang="en-US"/>
          </a:p>
        </p:txBody>
      </p:sp>
      <p:sp>
        <p:nvSpPr>
          <p:cNvPr id="26" name="Dónde escribir"/>
          <p:cNvSpPr/>
          <p:nvPr/>
        </p:nvSpPr>
        <p:spPr>
          <a:xfrm>
            <a:off x="6501383" y="6291072"/>
            <a:ext cx="4425696"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1  ›  Comparación</a:t>
            </a:r>
          </a:p>
        </p:txBody>
      </p:sp>
      <p:sp>
        <p:nvSpPr>
          <p:cNvPr id="27" name="Dónde escribir: círculo"/>
          <p:cNvSpPr/>
          <p:nvPr/>
        </p:nvSpPr>
        <p:spPr>
          <a:xfrm>
            <a:off x="6556247"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6"/>
          <a:stretch>
            <a:fillRect/>
          </a:stretch>
        </p:blipFill>
        <p:spPr>
          <a:xfrm>
            <a:off x="6629399" y="6409944"/>
            <a:ext cx="146304" cy="146304"/>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Idea clave del bloque 1</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creatividad produce posibilidades.</a:t>
            </a:r>
            <a:endParaRPr lang="en-US" sz="3400" dirty="0"/>
          </a:p>
          <a:p>
            <a:pPr marL="0" indent="0">
              <a:buNone/>
            </a:pPr>
            <a:r>
              <a:rPr lang="en-US" sz="3400" dirty="0">
                <a:solidFill>
                  <a:schemeClr val="accent1"/>
                </a:solidFill>
              </a:rPr>
              <a:t>La innovación exige elegirlas, probarlas y convertirlas en mejoras reales.</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2</a:t>
            </a:r>
            <a:endParaRPr kumimoji="0" lang="en-US" sz="20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SCAMPER y provocación con IA</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 · por parejas</a:t>
            </a:r>
            <a:endParaRPr lang="en-US" sz="2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Seguimos en el cuaderno</a:t>
            </a:r>
            <a:endParaRPr lang="en-US" sz="3200" dirty="0"/>
          </a:p>
        </p:txBody>
      </p:sp>
      <p:sp>
        <p:nvSpPr>
          <p:cNvPr id="3" name="Etiqueta de tiempo"/>
          <p:cNvSpPr/>
          <p:nvPr/>
        </p:nvSpPr>
        <p:spPr>
          <a:xfrm>
            <a:off x="9398203" y="548640"/>
            <a:ext cx="2244852" cy="457200"/>
          </a:xfrm>
          <a:prstGeom prst="roundRect">
            <a:avLst>
              <a:gd name="adj" fmla="val 50000"/>
            </a:avLst>
          </a:prstGeom>
          <a:solidFill>
            <a:schemeClr val="accent1"/>
          </a:solidFill>
          <a:ln/>
        </p:spPr>
      </p:sp>
      <p:sp>
        <p:nvSpPr>
          <p:cNvPr id="4" name="Text 2"/>
          <p:cNvSpPr txBox="1"/>
          <p:nvPr/>
        </p:nvSpPr>
        <p:spPr>
          <a:xfrm>
            <a:off x="9398203" y="548640"/>
            <a:ext cx="2244852" cy="457200"/>
          </a:xfrm>
          <a:prstGeom prst="rect">
            <a:avLst/>
          </a:prstGeom>
          <a:noFill/>
          <a:ln/>
        </p:spPr>
        <p:txBody>
          <a:bodyPr wrap="square" lIns="0" tIns="0" rIns="0" bIns="0" rtlCol="0" anchor="ctr"/>
          <a:lstStyle/>
          <a:p>
            <a:pPr marL="0" indent="0" algn="ctr">
              <a:buNone/>
            </a:pPr>
            <a:r>
              <a:rPr lang="en-US" sz="1400" b="1" dirty="0">
                <a:solidFill>
                  <a:schemeClr val="tx1"/>
                </a:solidFill>
              </a:rPr>
              <a:t>Min. 45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cuaderno_ejercicios.docx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Por parejas: un solo cuaderno para los dos.</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Id al «Bloque 2» y marcad vuestro caso.</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Los prompts están en el cuaderno: copiadlos y completad lo que va entre corchetes.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Por parejas: elegid un caso</a:t>
            </a:r>
            <a:endParaRPr lang="en-US" sz="3200" dirty="0"/>
          </a:p>
        </p:txBody>
      </p:sp>
      <p:sp>
        <p:nvSpPr>
          <p:cNvPr id="3" name="Etiqueta de tiempo"/>
          <p:cNvSpPr/>
          <p:nvPr/>
        </p:nvSpPr>
        <p:spPr>
          <a:xfrm>
            <a:off x="9398203" y="548640"/>
            <a:ext cx="2244852" cy="457200"/>
          </a:xfrm>
          <a:prstGeom prst="roundRect">
            <a:avLst>
              <a:gd name="adj" fmla="val 50000"/>
            </a:avLst>
          </a:prstGeom>
          <a:solidFill>
            <a:schemeClr val="accent1"/>
          </a:solidFill>
          <a:ln/>
        </p:spPr>
      </p:sp>
      <p:sp>
        <p:nvSpPr>
          <p:cNvPr id="4" name="Text 2"/>
          <p:cNvSpPr txBox="1"/>
          <p:nvPr/>
        </p:nvSpPr>
        <p:spPr>
          <a:xfrm>
            <a:off x="9398203" y="548640"/>
            <a:ext cx="224485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463040"/>
            <a:ext cx="3454298" cy="3749040"/>
          </a:xfrm>
          <a:prstGeom prst="roundRect">
            <a:avLst>
              <a:gd name="adj" fmla="val 3971"/>
            </a:avLst>
          </a:prstGeom>
          <a:solidFill>
            <a:schemeClr val="bg2"/>
          </a:solidFill>
          <a:ln/>
        </p:spPr>
      </p:sp>
      <p:sp>
        <p:nvSpPr>
          <p:cNvPr id="6" name="Text 4"/>
          <p:cNvSpPr txBox="1"/>
          <p:nvPr/>
        </p:nvSpPr>
        <p:spPr>
          <a:xfrm>
            <a:off x="3225698"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1</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Un comercio que pierde pedidos"/>
          <p:cNvSpPr/>
          <p:nvPr/>
        </p:nvSpPr>
        <p:spPr>
          <a:xfrm>
            <a:off x="868680" y="1737360"/>
            <a:ext cx="914400" cy="914400"/>
          </a:xfrm>
          <a:prstGeom prst="ellipse">
            <a:avLst/>
          </a:prstGeom>
          <a:solidFill>
            <a:schemeClr val="tx2"/>
          </a:solidFill>
          <a:ln/>
        </p:spPr>
      </p:sp>
      <p:pic>
        <p:nvPicPr>
          <p:cNvPr id="8" name="Image 0" descr="Un comercio que pierde pedidos"/>
          <p:cNvPicPr>
            <a:picLocks noChangeAspect="1"/>
          </p:cNvPicPr>
          <p:nvPr/>
        </p:nvPicPr>
        <p:blipFill>
          <a:blip r:embed="rId3"/>
          <a:stretch>
            <a:fillRect/>
          </a:stretch>
        </p:blipFill>
        <p:spPr>
          <a:xfrm>
            <a:off x="1088136" y="1956816"/>
            <a:ext cx="475488" cy="475488"/>
          </a:xfrm>
          <a:prstGeom prst="rect">
            <a:avLst/>
          </a:prstGeom>
        </p:spPr>
      </p:pic>
      <p:sp>
        <p:nvSpPr>
          <p:cNvPr id="9" name="Text 6"/>
          <p:cNvSpPr txBox="1"/>
          <p:nvPr/>
        </p:nvSpPr>
        <p:spPr>
          <a:xfrm>
            <a:off x="868680"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 comercio que pierde pedidos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7"/>
          <p:cNvSpPr txBox="1"/>
          <p:nvPr/>
        </p:nvSpPr>
        <p:spPr>
          <a:xfrm>
            <a:off x="868680"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Los pedidos llegan por teléfono, WhatsApp y en el mostrador; se apuntan en una libreta y a veces se olvidan o se sirven tarde.</a:t>
            </a:r>
          </a:p>
        </p:txBody>
      </p:sp>
      <p:sp>
        <p:nvSpPr>
          <p:cNvPr id="11" name="Tarjeta"/>
          <p:cNvSpPr/>
          <p:nvPr/>
        </p:nvSpPr>
        <p:spPr>
          <a:xfrm>
            <a:off x="4368698" y="1463040"/>
            <a:ext cx="3454298" cy="3749040"/>
          </a:xfrm>
          <a:prstGeom prst="roundRect">
            <a:avLst>
              <a:gd name="adj" fmla="val 3971"/>
            </a:avLst>
          </a:prstGeom>
          <a:solidFill>
            <a:schemeClr val="bg2"/>
          </a:solidFill>
          <a:ln/>
        </p:spPr>
      </p:sp>
      <p:sp>
        <p:nvSpPr>
          <p:cNvPr id="12" name="Text 9"/>
          <p:cNvSpPr txBox="1"/>
          <p:nvPr/>
        </p:nvSpPr>
        <p:spPr>
          <a:xfrm>
            <a:off x="7045757"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2</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Una asociación que pierde tiempo"/>
          <p:cNvSpPr/>
          <p:nvPr/>
        </p:nvSpPr>
        <p:spPr>
          <a:xfrm>
            <a:off x="4688738" y="1737360"/>
            <a:ext cx="914400" cy="914400"/>
          </a:xfrm>
          <a:prstGeom prst="ellipse">
            <a:avLst/>
          </a:prstGeom>
          <a:solidFill>
            <a:schemeClr val="tx2"/>
          </a:solidFill>
          <a:ln/>
        </p:spPr>
      </p:sp>
      <p:pic>
        <p:nvPicPr>
          <p:cNvPr id="14" name="Image 1" descr="Una asociación que pierde tiempo"/>
          <p:cNvPicPr>
            <a:picLocks noChangeAspect="1"/>
          </p:cNvPicPr>
          <p:nvPr/>
        </p:nvPicPr>
        <p:blipFill>
          <a:blip r:embed="rId4"/>
          <a:stretch>
            <a:fillRect/>
          </a:stretch>
        </p:blipFill>
        <p:spPr>
          <a:xfrm>
            <a:off x="4908194" y="1956816"/>
            <a:ext cx="475488" cy="475488"/>
          </a:xfrm>
          <a:prstGeom prst="rect">
            <a:avLst/>
          </a:prstGeom>
        </p:spPr>
      </p:pic>
      <p:sp>
        <p:nvSpPr>
          <p:cNvPr id="15" name="Text 11"/>
          <p:cNvSpPr txBox="1"/>
          <p:nvPr/>
        </p:nvSpPr>
        <p:spPr>
          <a:xfrm>
            <a:off x="4688738"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Una asociación que </a:t>
            </a:r>
            <a:r>
              <a:rPr kumimoji="0" lang="en-US" sz="2100" b="1" i="0" u="none" strike="noStrike" kern="1200" cap="none" spc="0" normalizeH="0" baseline="0" noProof="0" dirty="0" err="1">
                <a:ln>
                  <a:noFill/>
                </a:ln>
                <a:solidFill>
                  <a:srgbClr val="1F2A44"/>
                </a:solidFill>
                <a:effectLst/>
                <a:uLnTx/>
                <a:uFillTx/>
                <a:latin typeface="Calibri"/>
                <a:ea typeface="+mn-ea"/>
                <a:cs typeface="+mn-cs"/>
              </a:rPr>
              <a:t>pierde</a:t>
            </a:r>
            <a:r>
              <a:rPr kumimoji="0" lang="en-US" sz="2100" b="1" i="0" u="none" strike="noStrike" kern="1200" cap="none" spc="0" normalizeH="0" baseline="0" noProof="0" dirty="0">
                <a:ln>
                  <a:noFill/>
                </a:ln>
                <a:solidFill>
                  <a:srgbClr val="1F2A44"/>
                </a:solidFill>
                <a:effectLst/>
                <a:uLnTx/>
                <a:uFillTx/>
                <a:latin typeface="Calibri"/>
                <a:ea typeface="+mn-ea"/>
                <a:cs typeface="+mn-cs"/>
              </a:rPr>
              <a:t> </a:t>
            </a:r>
            <a:r>
              <a:rPr kumimoji="0" lang="en-US" sz="2100" b="1" i="0" u="none" strike="noStrike" kern="1200" cap="none" spc="0" normalizeH="0" baseline="0" noProof="0" dirty="0" err="1">
                <a:ln>
                  <a:noFill/>
                </a:ln>
                <a:solidFill>
                  <a:srgbClr val="1F2A44"/>
                </a:solidFill>
                <a:effectLst/>
                <a:uLnTx/>
                <a:uFillTx/>
                <a:latin typeface="Calibri"/>
                <a:ea typeface="+mn-ea"/>
                <a:cs typeface="+mn-cs"/>
              </a:rPr>
              <a:t>gente</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4688738"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Las actividades se anuncian por WhatsApp y las inscripciones se apuntan en un Excel que solo actualiza una persona; se pierden inscripciones y quedan plazas libres.</a:t>
            </a:r>
          </a:p>
        </p:txBody>
      </p:sp>
      <p:sp>
        <p:nvSpPr>
          <p:cNvPr id="17" name="Tarjeta"/>
          <p:cNvSpPr/>
          <p:nvPr/>
        </p:nvSpPr>
        <p:spPr>
          <a:xfrm>
            <a:off x="8188757" y="1463040"/>
            <a:ext cx="3454298" cy="3749040"/>
          </a:xfrm>
          <a:prstGeom prst="roundRect">
            <a:avLst>
              <a:gd name="adj" fmla="val 3971"/>
            </a:avLst>
          </a:prstGeom>
          <a:solidFill>
            <a:schemeClr val="bg2"/>
          </a:solidFill>
          <a:ln/>
        </p:spPr>
      </p:sp>
      <p:sp>
        <p:nvSpPr>
          <p:cNvPr id="18" name="Text 14"/>
          <p:cNvSpPr txBox="1"/>
          <p:nvPr/>
        </p:nvSpPr>
        <p:spPr>
          <a:xfrm>
            <a:off x="10865815"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3</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Una oficina con las mismas preguntas"/>
          <p:cNvSpPr/>
          <p:nvPr/>
        </p:nvSpPr>
        <p:spPr>
          <a:xfrm>
            <a:off x="8508797" y="1737360"/>
            <a:ext cx="914400" cy="914400"/>
          </a:xfrm>
          <a:prstGeom prst="ellipse">
            <a:avLst/>
          </a:prstGeom>
          <a:solidFill>
            <a:schemeClr val="tx2"/>
          </a:solidFill>
          <a:ln/>
        </p:spPr>
      </p:sp>
      <p:pic>
        <p:nvPicPr>
          <p:cNvPr id="20" name="Image 2" descr="Una oficina con las mismas preguntas"/>
          <p:cNvPicPr>
            <a:picLocks noChangeAspect="1"/>
          </p:cNvPicPr>
          <p:nvPr/>
        </p:nvPicPr>
        <p:blipFill>
          <a:blip r:embed="rId5"/>
          <a:stretch>
            <a:fillRect/>
          </a:stretch>
        </p:blipFill>
        <p:spPr>
          <a:xfrm>
            <a:off x="8728253" y="1956816"/>
            <a:ext cx="475488" cy="475488"/>
          </a:xfrm>
          <a:prstGeom prst="rect">
            <a:avLst/>
          </a:prstGeom>
        </p:spPr>
      </p:pic>
      <p:sp>
        <p:nvSpPr>
          <p:cNvPr id="21" name="Text 16"/>
          <p:cNvSpPr txBox="1"/>
          <p:nvPr/>
        </p:nvSpPr>
        <p:spPr>
          <a:xfrm>
            <a:off x="8508797"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Una oficina con las mismas preguntas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7"/>
          <p:cNvSpPr txBox="1"/>
          <p:nvPr/>
        </p:nvSpPr>
        <p:spPr>
          <a:xfrm>
            <a:off x="8508797"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Por teléfono y por correo llegan a diario las mismas consultas (horarios, documentación, plazos) y se responden una a una.</a:t>
            </a:r>
          </a:p>
        </p:txBody>
      </p:sp>
      <p:sp>
        <p:nvSpPr>
          <p:cNvPr id="23" name="Text 18"/>
          <p:cNvSpPr txBox="1"/>
          <p:nvPr/>
        </p:nvSpPr>
        <p:spPr>
          <a:xfrm>
            <a:off x="548640" y="54406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3A4664"/>
                </a:solidFill>
                <a:effectLst/>
                <a:uLnTx/>
                <a:uFillTx/>
                <a:latin typeface="Calibri"/>
                <a:ea typeface="+mn-ea"/>
                <a:cs typeface="+mn-cs"/>
              </a:rPr>
              <a:t>Trabajaréis con el mismo caso todo el bloque. Vuestras tres mejores propuestas pasarán a la matriz del bloque 3.</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6" name="Dónde escribir"/>
          <p:cNvSpPr/>
          <p:nvPr/>
        </p:nvSpPr>
        <p:spPr>
          <a:xfrm>
            <a:off x="6515099" y="6291072"/>
            <a:ext cx="4411980"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2  ›  Nuestro caso</a:t>
            </a:r>
          </a:p>
        </p:txBody>
      </p:sp>
      <p:sp>
        <p:nvSpPr>
          <p:cNvPr id="27" name="Dónde escribir: círculo"/>
          <p:cNvSpPr/>
          <p:nvPr/>
        </p:nvSpPr>
        <p:spPr>
          <a:xfrm>
            <a:off x="6569963"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6"/>
          <a:stretch>
            <a:fillRect/>
          </a:stretch>
        </p:blipFill>
        <p:spPr>
          <a:xfrm>
            <a:off x="6643115" y="6409944"/>
            <a:ext cx="146304" cy="146304"/>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SCAMPER: siete preguntas</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45–50</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0" i="0" u="none" strike="noStrike" kern="1200" cap="none" spc="0" normalizeH="0" baseline="0" noProof="0" dirty="0">
                <a:ln>
                  <a:noFill/>
                </a:ln>
                <a:solidFill>
                  <a:srgbClr val="3A4664"/>
                </a:solidFill>
                <a:effectLst/>
                <a:uLnTx/>
                <a:uFillTx/>
                <a:latin typeface="Calibri"/>
                <a:ea typeface="+mn-ea"/>
                <a:cs typeface="+mn-cs"/>
              </a:rPr>
              <a:t>Para transformar algo que ya existe, mirándolo desde siete ángulos.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Letra S"/>
          <p:cNvSpPr/>
          <p:nvPr/>
        </p:nvSpPr>
        <p:spPr>
          <a:xfrm>
            <a:off x="548640" y="2103120"/>
            <a:ext cx="1428162" cy="1428162"/>
          </a:xfrm>
          <a:prstGeom prst="roundRect">
            <a:avLst>
              <a:gd name="adj" fmla="val 9604"/>
            </a:avLst>
          </a:prstGeom>
          <a:solidFill>
            <a:schemeClr val="accent1"/>
          </a:solidFill>
          <a:ln/>
        </p:spPr>
      </p:sp>
      <p:sp>
        <p:nvSpPr>
          <p:cNvPr id="7" name="Text 5"/>
          <p:cNvSpPr txBox="1"/>
          <p:nvPr/>
        </p:nvSpPr>
        <p:spPr>
          <a:xfrm>
            <a:off x="548640"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S</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Text 6"/>
          <p:cNvSpPr txBox="1"/>
          <p:nvPr/>
        </p:nvSpPr>
        <p:spPr>
          <a:xfrm>
            <a:off x="502920"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Sustituir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7"/>
          <p:cNvSpPr txBox="1"/>
          <p:nvPr/>
        </p:nvSpPr>
        <p:spPr>
          <a:xfrm>
            <a:off x="502920"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podemos cambiar por otra cosa?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Letra C"/>
          <p:cNvSpPr/>
          <p:nvPr/>
        </p:nvSpPr>
        <p:spPr>
          <a:xfrm>
            <a:off x="2159682" y="2103120"/>
            <a:ext cx="1428162" cy="1428162"/>
          </a:xfrm>
          <a:prstGeom prst="roundRect">
            <a:avLst>
              <a:gd name="adj" fmla="val 9604"/>
            </a:avLst>
          </a:prstGeom>
          <a:solidFill>
            <a:schemeClr val="accent1"/>
          </a:solidFill>
          <a:ln/>
        </p:spPr>
      </p:sp>
      <p:sp>
        <p:nvSpPr>
          <p:cNvPr id="11" name="Text 9"/>
          <p:cNvSpPr txBox="1"/>
          <p:nvPr/>
        </p:nvSpPr>
        <p:spPr>
          <a:xfrm>
            <a:off x="2159682"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C</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2" name="Text 10"/>
          <p:cNvSpPr txBox="1"/>
          <p:nvPr/>
        </p:nvSpPr>
        <p:spPr>
          <a:xfrm>
            <a:off x="2113962"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Combinar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2113962"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elementos podemos unir?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Letra A"/>
          <p:cNvSpPr/>
          <p:nvPr/>
        </p:nvSpPr>
        <p:spPr>
          <a:xfrm>
            <a:off x="3770724" y="2103120"/>
            <a:ext cx="1428162" cy="1428162"/>
          </a:xfrm>
          <a:prstGeom prst="roundRect">
            <a:avLst>
              <a:gd name="adj" fmla="val 9604"/>
            </a:avLst>
          </a:prstGeom>
          <a:solidFill>
            <a:schemeClr val="accent1"/>
          </a:solidFill>
          <a:ln/>
        </p:spPr>
      </p:sp>
      <p:sp>
        <p:nvSpPr>
          <p:cNvPr id="15" name="Text 13"/>
          <p:cNvSpPr txBox="1"/>
          <p:nvPr/>
        </p:nvSpPr>
        <p:spPr>
          <a:xfrm>
            <a:off x="3770724"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A</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3725004"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Adaptar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7" name="Text 15"/>
          <p:cNvSpPr txBox="1"/>
          <p:nvPr/>
        </p:nvSpPr>
        <p:spPr>
          <a:xfrm>
            <a:off x="3725004"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funciona en otro sector?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8" name="Letra M"/>
          <p:cNvSpPr/>
          <p:nvPr/>
        </p:nvSpPr>
        <p:spPr>
          <a:xfrm>
            <a:off x="5381767" y="2103120"/>
            <a:ext cx="1428162" cy="1428162"/>
          </a:xfrm>
          <a:prstGeom prst="roundRect">
            <a:avLst>
              <a:gd name="adj" fmla="val 9604"/>
            </a:avLst>
          </a:prstGeom>
          <a:solidFill>
            <a:schemeClr val="accent1"/>
          </a:solidFill>
          <a:ln/>
        </p:spPr>
      </p:sp>
      <p:sp>
        <p:nvSpPr>
          <p:cNvPr id="19" name="Text 17"/>
          <p:cNvSpPr txBox="1"/>
          <p:nvPr/>
        </p:nvSpPr>
        <p:spPr>
          <a:xfrm>
            <a:off x="5381767"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M</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0" name="Text 18"/>
          <p:cNvSpPr txBox="1"/>
          <p:nvPr/>
        </p:nvSpPr>
        <p:spPr>
          <a:xfrm>
            <a:off x="5336047"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Modificar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1" name="Text 19"/>
          <p:cNvSpPr txBox="1"/>
          <p:nvPr/>
        </p:nvSpPr>
        <p:spPr>
          <a:xfrm>
            <a:off x="5336047"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podemos ampliar o reducir?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Letra P"/>
          <p:cNvSpPr/>
          <p:nvPr/>
        </p:nvSpPr>
        <p:spPr>
          <a:xfrm>
            <a:off x="6992809" y="2103120"/>
            <a:ext cx="1428162" cy="1428162"/>
          </a:xfrm>
          <a:prstGeom prst="roundRect">
            <a:avLst>
              <a:gd name="adj" fmla="val 9604"/>
            </a:avLst>
          </a:prstGeom>
          <a:solidFill>
            <a:schemeClr val="accent1"/>
          </a:solidFill>
          <a:ln/>
        </p:spPr>
      </p:sp>
      <p:sp>
        <p:nvSpPr>
          <p:cNvPr id="23" name="Text 21"/>
          <p:cNvSpPr txBox="1"/>
          <p:nvPr/>
        </p:nvSpPr>
        <p:spPr>
          <a:xfrm>
            <a:off x="6992809"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P</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Text 22"/>
          <p:cNvSpPr txBox="1"/>
          <p:nvPr/>
        </p:nvSpPr>
        <p:spPr>
          <a:xfrm>
            <a:off x="6947089"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Proponer otros usos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Text 23"/>
          <p:cNvSpPr txBox="1"/>
          <p:nvPr/>
        </p:nvSpPr>
        <p:spPr>
          <a:xfrm>
            <a:off x="6947089"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¿Para qué más puede servir?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6" name="Letra E"/>
          <p:cNvSpPr/>
          <p:nvPr/>
        </p:nvSpPr>
        <p:spPr>
          <a:xfrm>
            <a:off x="8603851" y="2103120"/>
            <a:ext cx="1428162" cy="1428162"/>
          </a:xfrm>
          <a:prstGeom prst="roundRect">
            <a:avLst>
              <a:gd name="adj" fmla="val 9604"/>
            </a:avLst>
          </a:prstGeom>
          <a:solidFill>
            <a:schemeClr val="accent1"/>
          </a:solidFill>
          <a:ln/>
        </p:spPr>
      </p:sp>
      <p:sp>
        <p:nvSpPr>
          <p:cNvPr id="27" name="Text 25"/>
          <p:cNvSpPr txBox="1"/>
          <p:nvPr/>
        </p:nvSpPr>
        <p:spPr>
          <a:xfrm>
            <a:off x="8603851"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E</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8" name="Text 26"/>
          <p:cNvSpPr txBox="1"/>
          <p:nvPr/>
        </p:nvSpPr>
        <p:spPr>
          <a:xfrm>
            <a:off x="8558131"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Eliminar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9" name="Text 27"/>
          <p:cNvSpPr txBox="1"/>
          <p:nvPr/>
        </p:nvSpPr>
        <p:spPr>
          <a:xfrm>
            <a:off x="8558131"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pasos sobran?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0" name="Letra R"/>
          <p:cNvSpPr/>
          <p:nvPr/>
        </p:nvSpPr>
        <p:spPr>
          <a:xfrm>
            <a:off x="10214893" y="2103120"/>
            <a:ext cx="1428162" cy="1428162"/>
          </a:xfrm>
          <a:prstGeom prst="roundRect">
            <a:avLst>
              <a:gd name="adj" fmla="val 9604"/>
            </a:avLst>
          </a:prstGeom>
          <a:solidFill>
            <a:schemeClr val="accent1"/>
          </a:solidFill>
          <a:ln/>
        </p:spPr>
      </p:sp>
      <p:sp>
        <p:nvSpPr>
          <p:cNvPr id="31" name="Text 29"/>
          <p:cNvSpPr txBox="1"/>
          <p:nvPr/>
        </p:nvSpPr>
        <p:spPr>
          <a:xfrm>
            <a:off x="10214893"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R</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2" name="Text 30"/>
          <p:cNvSpPr txBox="1"/>
          <p:nvPr/>
        </p:nvSpPr>
        <p:spPr>
          <a:xfrm>
            <a:off x="10169173"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Reorganizar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3" name="Text 31"/>
          <p:cNvSpPr txBox="1"/>
          <p:nvPr/>
        </p:nvSpPr>
        <p:spPr>
          <a:xfrm>
            <a:off x="10169173"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orden podemos cambiar?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4" name="Tarjeta"/>
          <p:cNvSpPr/>
          <p:nvPr/>
        </p:nvSpPr>
        <p:spPr>
          <a:xfrm>
            <a:off x="548640" y="5349240"/>
            <a:ext cx="11094415" cy="731520"/>
          </a:xfrm>
          <a:prstGeom prst="roundRect">
            <a:avLst>
              <a:gd name="adj" fmla="val 18750"/>
            </a:avLst>
          </a:prstGeom>
          <a:solidFill>
            <a:schemeClr val="bg2"/>
          </a:solidFill>
          <a:ln/>
        </p:spPr>
      </p:sp>
      <p:sp>
        <p:nvSpPr>
          <p:cNvPr id="35" name="Text 33"/>
          <p:cNvSpPr txBox="1"/>
          <p:nvPr/>
        </p:nvSpPr>
        <p:spPr>
          <a:xfrm>
            <a:off x="868680" y="5349240"/>
            <a:ext cx="10454335"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1F2A44"/>
                </a:solidFill>
                <a:effectLst/>
                <a:uLnTx/>
                <a:uFillTx/>
                <a:latin typeface="Calibri"/>
                <a:ea typeface="+mn-ea"/>
                <a:cs typeface="+mn-cs"/>
              </a:rPr>
              <a:t>El brainstorming parte de cero. </a:t>
            </a:r>
            <a:r>
              <a:rPr kumimoji="0" lang="en-US" sz="1900" b="1" i="0" u="none" strike="noStrike" kern="1200" cap="none" spc="0" normalizeH="0" baseline="0" noProof="0" dirty="0">
                <a:ln>
                  <a:noFill/>
                </a:ln>
                <a:solidFill>
                  <a:srgbClr val="1F2A44"/>
                </a:solidFill>
                <a:effectLst/>
                <a:uLnTx/>
                <a:uFillTx/>
                <a:latin typeface="Calibri"/>
                <a:ea typeface="+mn-ea"/>
                <a:cs typeface="+mn-cs"/>
              </a:rPr>
              <a:t>SCAMPER parte de cómo se hace hoy.</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SCAMPER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45–50</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eluquería"/>
          <p:cNvSpPr/>
          <p:nvPr/>
        </p:nvSpPr>
        <p:spPr>
          <a:xfrm>
            <a:off x="548640" y="1325880"/>
            <a:ext cx="548640" cy="548640"/>
          </a:xfrm>
          <a:prstGeom prst="ellipse">
            <a:avLst/>
          </a:prstGeom>
          <a:solidFill>
            <a:schemeClr val="tx1"/>
          </a:solidFill>
          <a:ln/>
        </p:spPr>
      </p:sp>
      <p:pic>
        <p:nvPicPr>
          <p:cNvPr id="6" name="Image 0" descr="Peluquería"/>
          <p:cNvPicPr>
            <a:picLocks noChangeAspect="1"/>
          </p:cNvPicPr>
          <p:nvPr/>
        </p:nvPicPr>
        <p:blipFill>
          <a:blip r:embed="rId3"/>
          <a:stretch>
            <a:fillRect/>
          </a:stretch>
        </p:blipFill>
        <p:spPr>
          <a:xfrm>
            <a:off x="680314" y="1457554"/>
            <a:ext cx="285293" cy="285293"/>
          </a:xfrm>
          <a:prstGeom prst="rect">
            <a:avLst/>
          </a:prstGeom>
        </p:spPr>
      </p:pic>
      <p:sp>
        <p:nvSpPr>
          <p:cNvPr id="7" name="Text 4"/>
          <p:cNvSpPr txBox="1"/>
          <p:nvPr/>
        </p:nvSpPr>
        <p:spPr>
          <a:xfrm>
            <a:off x="1280160" y="1325880"/>
            <a:ext cx="100584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Proceso actual: </a:t>
            </a:r>
            <a:r>
              <a:rPr kumimoji="0" lang="en-US" sz="1900" b="0" i="0" u="none" strike="noStrike" kern="1200" cap="none" spc="0" normalizeH="0" baseline="0" noProof="0" dirty="0">
                <a:ln>
                  <a:noFill/>
                </a:ln>
                <a:solidFill>
                  <a:srgbClr val="1F2A44"/>
                </a:solidFill>
                <a:effectLst/>
                <a:uLnTx/>
                <a:uFillTx/>
                <a:latin typeface="Calibri"/>
                <a:ea typeface="+mn-ea"/>
                <a:cs typeface="+mn-cs"/>
              </a:rPr>
              <a:t>los clientes llaman por teléfono para pedir cita.</a:t>
            </a:r>
          </a:p>
        </p:txBody>
      </p:sp>
      <p:graphicFrame>
        <p:nvGraphicFramePr>
          <p:cNvPr id="8" name="Table 0"/>
          <p:cNvGraphicFramePr>
            <a:graphicFrameLocks noGrp="1"/>
          </p:cNvGraphicFramePr>
          <p:nvPr/>
        </p:nvGraphicFramePr>
        <p:xfrm>
          <a:off x="548640" y="1965960"/>
          <a:ext cx="11094415" cy="3700272"/>
        </p:xfrm>
        <a:graphic>
          <a:graphicData uri="http://schemas.openxmlformats.org/drawingml/2006/table">
            <a:tbl>
              <a:tblPr/>
              <a:tblGrid>
                <a:gridCol w="224028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5882335">
                  <a:extLst>
                    <a:ext uri="{9D8B030D-6E8A-4147-A177-3AD203B41FA5}">
                      <a16:colId xmlns:a16="http://schemas.microsoft.com/office/drawing/2014/main" val="20002"/>
                    </a:ext>
                  </a:extLst>
                </a:gridCol>
              </a:tblGrid>
              <a:tr h="384048">
                <a:tc>
                  <a:txBody>
                    <a:bodyPr/>
                    <a:lstStyle/>
                    <a:p>
                      <a:pPr marL="0" indent="0">
                        <a:buNone/>
                      </a:pP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Pregunta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Ejemplo en la peluquería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457200">
                <a:tc>
                  <a:txBody>
                    <a:bodyPr/>
                    <a:lstStyle/>
                    <a:p>
                      <a:pPr marL="0" indent="0" algn="l">
                        <a:buNone/>
                      </a:pPr>
                      <a:r>
                        <a:rPr lang="en-US" sz="2000" b="1" dirty="0">
                          <a:solidFill>
                            <a:schemeClr val="tx1"/>
                          </a:solidFill>
                        </a:rPr>
                        <a:t>S</a:t>
                      </a:r>
                      <a:r>
                        <a:rPr lang="en-US" sz="1300" b="1" dirty="0">
                          <a:solidFill>
                            <a:schemeClr val="tx1"/>
                          </a:solidFill>
                        </a:rPr>
                        <a:t>  Sustituir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podemos cambiar por otra cosa?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Sustituir la llamada por una reserva por internet sencilla.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lgn="l">
                        <a:buNone/>
                      </a:pPr>
                      <a:r>
                        <a:rPr lang="en-US" sz="2000" b="1" dirty="0">
                          <a:solidFill>
                            <a:schemeClr val="tx1"/>
                          </a:solidFill>
                        </a:rPr>
                        <a:t>C</a:t>
                      </a:r>
                      <a:r>
                        <a:rPr lang="en-US" sz="1300" b="1" dirty="0">
                          <a:solidFill>
                            <a:schemeClr val="tx1"/>
                          </a:solidFill>
                        </a:rPr>
                        <a:t>  Combinar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elementos podemos unir?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Combinar la confirmación de la cita con un recordatorio el día anterior.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lgn="l">
                        <a:buNone/>
                      </a:pPr>
                      <a:r>
                        <a:rPr lang="en-US" sz="2000" b="1" dirty="0">
                          <a:solidFill>
                            <a:schemeClr val="tx1"/>
                          </a:solidFill>
                        </a:rPr>
                        <a:t>A</a:t>
                      </a:r>
                      <a:r>
                        <a:rPr lang="en-US" sz="1300" b="1" dirty="0">
                          <a:solidFill>
                            <a:schemeClr val="tx1"/>
                          </a:solidFill>
                        </a:rPr>
                        <a:t>  Adaptar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funciona en otro sector?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Adaptar la lista de espera de los restaurantes: avisar si queda un hueco libre.</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lgn="l">
                        <a:buNone/>
                      </a:pPr>
                      <a:r>
                        <a:rPr lang="en-US" sz="2000" b="1" dirty="0">
                          <a:solidFill>
                            <a:schemeClr val="tx1"/>
                          </a:solidFill>
                        </a:rPr>
                        <a:t>M</a:t>
                      </a:r>
                      <a:r>
                        <a:rPr lang="en-US" sz="1300" b="1" dirty="0">
                          <a:solidFill>
                            <a:schemeClr val="tx1"/>
                          </a:solidFill>
                        </a:rPr>
                        <a:t>  Modificar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podemos ampliar o reducir?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Reducir la llamada a tres preguntas fijas: servicio, día y hora.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lgn="l">
                        <a:buNone/>
                      </a:pPr>
                      <a:r>
                        <a:rPr lang="en-US" sz="2000" b="1" dirty="0">
                          <a:solidFill>
                            <a:schemeClr val="tx1"/>
                          </a:solidFill>
                        </a:rPr>
                        <a:t>P</a:t>
                      </a:r>
                      <a:r>
                        <a:rPr lang="en-US" sz="1300" b="1" dirty="0">
                          <a:solidFill>
                            <a:schemeClr val="tx1"/>
                          </a:solidFill>
                        </a:rPr>
                        <a:t>  Proponer otros usos</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¿Para qué más puede servir?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Usar el recordatorio también para pedir una valoración del servicio.</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lgn="l">
                        <a:buNone/>
                      </a:pPr>
                      <a:r>
                        <a:rPr lang="en-US" sz="2000" b="1" dirty="0">
                          <a:solidFill>
                            <a:schemeClr val="tx1"/>
                          </a:solidFill>
                        </a:rPr>
                        <a:t>E</a:t>
                      </a:r>
                      <a:r>
                        <a:rPr lang="en-US" sz="1300" b="1" dirty="0">
                          <a:solidFill>
                            <a:schemeClr val="tx1"/>
                          </a:solidFill>
                        </a:rPr>
                        <a:t>  Eliminar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pasos sobran?</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Eliminar la llamada para confirmar la cita.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6"/>
                  </a:ext>
                </a:extLst>
              </a:tr>
              <a:tr h="457200">
                <a:tc>
                  <a:txBody>
                    <a:bodyPr/>
                    <a:lstStyle/>
                    <a:p>
                      <a:pPr marL="0" indent="0" algn="l">
                        <a:buNone/>
                      </a:pPr>
                      <a:r>
                        <a:rPr lang="en-US" sz="2000" b="1" dirty="0">
                          <a:solidFill>
                            <a:schemeClr val="tx1"/>
                          </a:solidFill>
                        </a:rPr>
                        <a:t>R</a:t>
                      </a:r>
                      <a:r>
                        <a:rPr lang="en-US" sz="1300" b="1" dirty="0">
                          <a:solidFill>
                            <a:schemeClr val="tx1"/>
                          </a:solidFill>
                        </a:rPr>
                        <a:t>  Reorganizar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orden podemos cambiar?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Preguntar el servicio al reservar, para preparar el material antes de que llegue el cliente.</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2: SCAMPER en vuestro caso</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50–62 · Sin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Instrucción"/>
          <p:cNvSpPr/>
          <p:nvPr/>
        </p:nvSpPr>
        <p:spPr>
          <a:xfrm>
            <a:off x="548640" y="1508760"/>
            <a:ext cx="685800" cy="685800"/>
          </a:xfrm>
          <a:prstGeom prst="ellipse">
            <a:avLst/>
          </a:prstGeom>
          <a:solidFill>
            <a:schemeClr val="accent1"/>
          </a:solidFill>
          <a:ln/>
        </p:spPr>
      </p:sp>
      <p:pic>
        <p:nvPicPr>
          <p:cNvPr id="6" name="Image 0" descr="Instrucción"/>
          <p:cNvPicPr>
            <a:picLocks noChangeAspect="1"/>
          </p:cNvPicPr>
          <p:nvPr/>
        </p:nvPicPr>
        <p:blipFill>
          <a:blip r:embed="rId3"/>
          <a:stretch>
            <a:fillRect/>
          </a:stretch>
        </p:blipFill>
        <p:spPr>
          <a:xfrm>
            <a:off x="713232" y="1673352"/>
            <a:ext cx="356616" cy="356616"/>
          </a:xfrm>
          <a:prstGeom prst="rect">
            <a:avLst/>
          </a:prstGeom>
        </p:spPr>
      </p:pic>
      <p:sp>
        <p:nvSpPr>
          <p:cNvPr id="7" name="Text 4"/>
          <p:cNvSpPr txBox="1"/>
          <p:nvPr/>
        </p:nvSpPr>
        <p:spPr>
          <a:xfrm>
            <a:off x="1463040" y="1508760"/>
            <a:ext cx="100584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F2A44"/>
                </a:solidFill>
                <a:effectLst/>
                <a:uLnTx/>
                <a:uFillTx/>
                <a:latin typeface="Calibri"/>
                <a:ea typeface="+mn-ea"/>
                <a:cs typeface="+mn-cs"/>
              </a:rPr>
              <a:t>Describid en tres o cuatro líneas cómo funciona hoy el proceso.</a:t>
            </a:r>
          </a:p>
        </p:txBody>
      </p:sp>
      <p:sp>
        <p:nvSpPr>
          <p:cNvPr id="8" name="Instrucción"/>
          <p:cNvSpPr/>
          <p:nvPr/>
        </p:nvSpPr>
        <p:spPr>
          <a:xfrm>
            <a:off x="548640" y="2468880"/>
            <a:ext cx="685800" cy="685800"/>
          </a:xfrm>
          <a:prstGeom prst="ellipse">
            <a:avLst/>
          </a:prstGeom>
          <a:solidFill>
            <a:schemeClr val="accent1"/>
          </a:solidFill>
          <a:ln/>
        </p:spPr>
      </p:sp>
      <p:pic>
        <p:nvPicPr>
          <p:cNvPr id="9" name="Image 1" descr="Instrucción"/>
          <p:cNvPicPr>
            <a:picLocks noChangeAspect="1"/>
          </p:cNvPicPr>
          <p:nvPr/>
        </p:nvPicPr>
        <p:blipFill>
          <a:blip r:embed="rId4"/>
          <a:stretch>
            <a:fillRect/>
          </a:stretch>
        </p:blipFill>
        <p:spPr>
          <a:xfrm>
            <a:off x="713232" y="2633472"/>
            <a:ext cx="356616" cy="356616"/>
          </a:xfrm>
          <a:prstGeom prst="rect">
            <a:avLst/>
          </a:prstGeom>
        </p:spPr>
      </p:pic>
      <p:sp>
        <p:nvSpPr>
          <p:cNvPr id="10" name="Text 6"/>
          <p:cNvSpPr txBox="1"/>
          <p:nvPr/>
        </p:nvSpPr>
        <p:spPr>
          <a:xfrm>
            <a:off x="1463040" y="2468880"/>
            <a:ext cx="100584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F2A44"/>
                </a:solidFill>
                <a:effectLst/>
                <a:uLnTx/>
                <a:uFillTx/>
                <a:latin typeface="Calibri"/>
                <a:ea typeface="+mn-ea"/>
                <a:cs typeface="+mn-cs"/>
              </a:rPr>
              <a:t>Escribid al menos una idea por cada letra de SCAMPER.</a:t>
            </a:r>
          </a:p>
        </p:txBody>
      </p:sp>
      <p:sp>
        <p:nvSpPr>
          <p:cNvPr id="11" name="Letra S"/>
          <p:cNvSpPr/>
          <p:nvPr/>
        </p:nvSpPr>
        <p:spPr>
          <a:xfrm>
            <a:off x="548640" y="3611880"/>
            <a:ext cx="1428162" cy="1554480"/>
          </a:xfrm>
          <a:prstGeom prst="roundRect">
            <a:avLst>
              <a:gd name="adj" fmla="val 9604"/>
            </a:avLst>
          </a:prstGeom>
          <a:solidFill>
            <a:schemeClr val="bg2"/>
          </a:solidFill>
          <a:ln w="25400">
            <a:solidFill>
              <a:srgbClr val="F4A300"/>
            </a:solidFill>
            <a:prstDash val="solid"/>
          </a:ln>
        </p:spPr>
      </p:sp>
      <p:sp>
        <p:nvSpPr>
          <p:cNvPr id="12" name="Text 8"/>
          <p:cNvSpPr txBox="1"/>
          <p:nvPr/>
        </p:nvSpPr>
        <p:spPr>
          <a:xfrm>
            <a:off x="548640"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S</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9"/>
          <p:cNvSpPr txBox="1"/>
          <p:nvPr/>
        </p:nvSpPr>
        <p:spPr>
          <a:xfrm>
            <a:off x="594360"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Sustituir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Letra C"/>
          <p:cNvSpPr/>
          <p:nvPr/>
        </p:nvSpPr>
        <p:spPr>
          <a:xfrm>
            <a:off x="2159682" y="3611880"/>
            <a:ext cx="1428162" cy="1554480"/>
          </a:xfrm>
          <a:prstGeom prst="roundRect">
            <a:avLst>
              <a:gd name="adj" fmla="val 9604"/>
            </a:avLst>
          </a:prstGeom>
          <a:solidFill>
            <a:schemeClr val="bg2"/>
          </a:solidFill>
          <a:ln w="25400">
            <a:solidFill>
              <a:srgbClr val="F4A300"/>
            </a:solidFill>
            <a:prstDash val="solid"/>
          </a:ln>
        </p:spPr>
      </p:sp>
      <p:sp>
        <p:nvSpPr>
          <p:cNvPr id="15" name="Text 11"/>
          <p:cNvSpPr txBox="1"/>
          <p:nvPr/>
        </p:nvSpPr>
        <p:spPr>
          <a:xfrm>
            <a:off x="2159682"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C</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2205402"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Combinar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7" name="Letra A"/>
          <p:cNvSpPr/>
          <p:nvPr/>
        </p:nvSpPr>
        <p:spPr>
          <a:xfrm>
            <a:off x="3770724" y="3611880"/>
            <a:ext cx="1428162" cy="1554480"/>
          </a:xfrm>
          <a:prstGeom prst="roundRect">
            <a:avLst>
              <a:gd name="adj" fmla="val 9604"/>
            </a:avLst>
          </a:prstGeom>
          <a:solidFill>
            <a:schemeClr val="bg2"/>
          </a:solidFill>
          <a:ln w="25400">
            <a:solidFill>
              <a:srgbClr val="F4A300"/>
            </a:solidFill>
            <a:prstDash val="solid"/>
          </a:ln>
        </p:spPr>
      </p:sp>
      <p:sp>
        <p:nvSpPr>
          <p:cNvPr id="18" name="Text 14"/>
          <p:cNvSpPr txBox="1"/>
          <p:nvPr/>
        </p:nvSpPr>
        <p:spPr>
          <a:xfrm>
            <a:off x="3770724"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A</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5"/>
          <p:cNvSpPr txBox="1"/>
          <p:nvPr/>
        </p:nvSpPr>
        <p:spPr>
          <a:xfrm>
            <a:off x="3816444"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Adaptar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0" name="Letra M"/>
          <p:cNvSpPr/>
          <p:nvPr/>
        </p:nvSpPr>
        <p:spPr>
          <a:xfrm>
            <a:off x="5381767" y="3611880"/>
            <a:ext cx="1428162" cy="1554480"/>
          </a:xfrm>
          <a:prstGeom prst="roundRect">
            <a:avLst>
              <a:gd name="adj" fmla="val 9604"/>
            </a:avLst>
          </a:prstGeom>
          <a:solidFill>
            <a:schemeClr val="bg2"/>
          </a:solidFill>
          <a:ln w="25400">
            <a:solidFill>
              <a:srgbClr val="F4A300"/>
            </a:solidFill>
            <a:prstDash val="solid"/>
          </a:ln>
        </p:spPr>
      </p:sp>
      <p:sp>
        <p:nvSpPr>
          <p:cNvPr id="21" name="Text 17"/>
          <p:cNvSpPr txBox="1"/>
          <p:nvPr/>
        </p:nvSpPr>
        <p:spPr>
          <a:xfrm>
            <a:off x="5381767"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M</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8"/>
          <p:cNvSpPr txBox="1"/>
          <p:nvPr/>
        </p:nvSpPr>
        <p:spPr>
          <a:xfrm>
            <a:off x="5427487"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Modificar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3" name="Letra P"/>
          <p:cNvSpPr/>
          <p:nvPr/>
        </p:nvSpPr>
        <p:spPr>
          <a:xfrm>
            <a:off x="6992809" y="3611880"/>
            <a:ext cx="1428162" cy="1554480"/>
          </a:xfrm>
          <a:prstGeom prst="roundRect">
            <a:avLst>
              <a:gd name="adj" fmla="val 9604"/>
            </a:avLst>
          </a:prstGeom>
          <a:solidFill>
            <a:schemeClr val="bg2"/>
          </a:solidFill>
          <a:ln w="25400">
            <a:solidFill>
              <a:srgbClr val="F4A300"/>
            </a:solidFill>
            <a:prstDash val="solid"/>
          </a:ln>
        </p:spPr>
      </p:sp>
      <p:sp>
        <p:nvSpPr>
          <p:cNvPr id="24" name="Text 20"/>
          <p:cNvSpPr txBox="1"/>
          <p:nvPr/>
        </p:nvSpPr>
        <p:spPr>
          <a:xfrm>
            <a:off x="6992809"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P</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Text 21"/>
          <p:cNvSpPr txBox="1"/>
          <p:nvPr/>
        </p:nvSpPr>
        <p:spPr>
          <a:xfrm>
            <a:off x="7038529"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Proponer otros usos</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6" name="Letra E"/>
          <p:cNvSpPr/>
          <p:nvPr/>
        </p:nvSpPr>
        <p:spPr>
          <a:xfrm>
            <a:off x="8603851" y="3611880"/>
            <a:ext cx="1428162" cy="1554480"/>
          </a:xfrm>
          <a:prstGeom prst="roundRect">
            <a:avLst>
              <a:gd name="adj" fmla="val 9604"/>
            </a:avLst>
          </a:prstGeom>
          <a:solidFill>
            <a:schemeClr val="bg2"/>
          </a:solidFill>
          <a:ln w="25400">
            <a:solidFill>
              <a:srgbClr val="F4A300"/>
            </a:solidFill>
            <a:prstDash val="solid"/>
          </a:ln>
        </p:spPr>
      </p:sp>
      <p:sp>
        <p:nvSpPr>
          <p:cNvPr id="27" name="Text 23"/>
          <p:cNvSpPr txBox="1"/>
          <p:nvPr/>
        </p:nvSpPr>
        <p:spPr>
          <a:xfrm>
            <a:off x="8603851"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E</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8" name="Text 24"/>
          <p:cNvSpPr txBox="1"/>
          <p:nvPr/>
        </p:nvSpPr>
        <p:spPr>
          <a:xfrm>
            <a:off x="8649571"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Eliminar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9" name="Letra R"/>
          <p:cNvSpPr/>
          <p:nvPr/>
        </p:nvSpPr>
        <p:spPr>
          <a:xfrm>
            <a:off x="10214893" y="3611880"/>
            <a:ext cx="1428162" cy="1554480"/>
          </a:xfrm>
          <a:prstGeom prst="roundRect">
            <a:avLst>
              <a:gd name="adj" fmla="val 9604"/>
            </a:avLst>
          </a:prstGeom>
          <a:solidFill>
            <a:schemeClr val="bg2"/>
          </a:solidFill>
          <a:ln w="25400">
            <a:solidFill>
              <a:srgbClr val="F4A300"/>
            </a:solidFill>
            <a:prstDash val="solid"/>
          </a:ln>
        </p:spPr>
      </p:sp>
      <p:sp>
        <p:nvSpPr>
          <p:cNvPr id="30" name="Text 26"/>
          <p:cNvSpPr txBox="1"/>
          <p:nvPr/>
        </p:nvSpPr>
        <p:spPr>
          <a:xfrm>
            <a:off x="10214893"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R</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1" name="Text 27"/>
          <p:cNvSpPr txBox="1"/>
          <p:nvPr/>
        </p:nvSpPr>
        <p:spPr>
          <a:xfrm>
            <a:off x="10260613"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Reorganizar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2" name="Text 28"/>
          <p:cNvSpPr txBox="1"/>
          <p:nvPr/>
        </p:nvSpPr>
        <p:spPr>
          <a:xfrm>
            <a:off x="548640" y="548640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srgbClr val="3A4664"/>
                </a:solidFill>
                <a:effectLst/>
                <a:uLnTx/>
                <a:uFillTx/>
                <a:latin typeface="Calibri"/>
                <a:ea typeface="+mn-ea"/>
                <a:cs typeface="+mn-cs"/>
              </a:rPr>
              <a:t>Guardad vuestras ideas: las usaréis en el prompt.</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3"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34" name="Dónde escribir"/>
          <p:cNvSpPr/>
          <p:nvPr/>
        </p:nvSpPr>
        <p:spPr>
          <a:xfrm>
            <a:off x="4376318" y="6291072"/>
            <a:ext cx="6550761"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2  ›  Proceso, problema y tabla SCAMPER (ámbar)</a:t>
            </a:r>
          </a:p>
        </p:txBody>
      </p:sp>
      <p:sp>
        <p:nvSpPr>
          <p:cNvPr id="35" name="Dónde escribir: círculo"/>
          <p:cNvSpPr/>
          <p:nvPr/>
        </p:nvSpPr>
        <p:spPr>
          <a:xfrm>
            <a:off x="4431182" y="6336792"/>
            <a:ext cx="292608" cy="292608"/>
          </a:xfrm>
          <a:prstGeom prst="ellipse">
            <a:avLst/>
          </a:prstGeom>
          <a:solidFill>
            <a:schemeClr val="accent1"/>
          </a:solidFill>
          <a:ln>
            <a:noFill/>
          </a:ln>
        </p:spPr>
      </p:sp>
      <p:pic>
        <p:nvPicPr>
          <p:cNvPr id="36" name="Dónde escribir: lápiz" descr="Lápiz"/>
          <p:cNvPicPr>
            <a:picLocks noChangeAspect="1"/>
          </p:cNvPicPr>
          <p:nvPr/>
        </p:nvPicPr>
        <p:blipFill>
          <a:blip r:embed="rId3"/>
          <a:stretch>
            <a:fillRect/>
          </a:stretch>
        </p:blipFill>
        <p:spPr>
          <a:xfrm>
            <a:off x="4504334" y="6409944"/>
            <a:ext cx="146304" cy="146304"/>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62–72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325880"/>
            <a:ext cx="6858000" cy="4572000"/>
          </a:xfrm>
          <a:prstGeom prst="roundRect">
            <a:avLst>
              <a:gd name="adj" fmla="val 2400"/>
            </a:avLst>
          </a:prstGeom>
          <a:solidFill>
            <a:schemeClr val="tx1"/>
          </a:solidFill>
          <a:ln/>
        </p:spPr>
      </p:sp>
      <p:sp>
        <p:nvSpPr>
          <p:cNvPr id="6" name="Text 4"/>
          <p:cNvSpPr txBox="1"/>
          <p:nvPr/>
        </p:nvSpPr>
        <p:spPr>
          <a:xfrm>
            <a:off x="822960" y="1508760"/>
            <a:ext cx="6309360" cy="4206240"/>
          </a:xfrm>
          <a:prstGeom prst="rect">
            <a:avLst/>
          </a:prstGeom>
          <a:noFill/>
          <a:ln/>
        </p:spPr>
        <p:txBody>
          <a:bodyPr wrap="square" lIns="0" tIns="0" rIns="0" bIns="0" rtlCol="0" anchor="t"/>
          <a:lstStyle/>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Actúa como especialista en mejora de procesos de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pequeñas empresas y organizaciones.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Proceso actual: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[describir en 3 o 4 líneas cómo se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hace hoy, sin nombres ni datos personales]</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Problema: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[qué falla y a quién afecta]</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Restricciones: sin comprar software caro, sin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contratar personal y que pueda probarse en un mes.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Ya hemos aplicado SCAMPER y tenemos estas ideas: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[pegar las ideas de la pareja, indicando 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letra de cada una]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Aplica SCAMPER al proceso: para cada una de las siete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letras, propón dos ideas que no repitan las nuestras.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Preséntalo en una tabla con estas columnas: letra,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idea, qué cambia en el proceso, beneficio principal y</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dificultad (baja, media o alta).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No inventes cifras de ahorro ni de resultados.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Por qué funciona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1</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Describe el proceso actual: la materia prima de SCAMPER.</a:t>
            </a:r>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2</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Incluye vuestras ideas para que la IA no las repita.</a:t>
            </a:r>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3</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Las restricciones evitan soluciones caras o irreales.</a:t>
            </a:r>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4</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tabla obliga a concretar cada idea y facilita compararla con las vuestras.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6" name="Dónde escribir"/>
          <p:cNvSpPr/>
          <p:nvPr/>
        </p:nvSpPr>
        <p:spPr>
          <a:xfrm>
            <a:off x="4707331" y="6291072"/>
            <a:ext cx="6219748"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Ejercicio 2  ›  prompt bajo la tabla; su idea, en verde</a:t>
            </a:r>
          </a:p>
        </p:txBody>
      </p:sp>
      <p:sp>
        <p:nvSpPr>
          <p:cNvPr id="27" name="Dónde escribir: círculo"/>
          <p:cNvSpPr/>
          <p:nvPr/>
        </p:nvSpPr>
        <p:spPr>
          <a:xfrm>
            <a:off x="4762195"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4835347" y="6409944"/>
            <a:ext cx="146304" cy="146304"/>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No os quedéis en el primer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62–72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3A4664"/>
                </a:solidFill>
                <a:effectLst/>
                <a:uLnTx/>
                <a:uFillTx/>
                <a:latin typeface="Calibri"/>
                <a:ea typeface="+mn-ea"/>
                <a:cs typeface="+mn-cs"/>
              </a:rPr>
              <a:t>Seguid la conversación con al menos una de estas peticiones:</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Petición"/>
          <p:cNvSpPr/>
          <p:nvPr/>
        </p:nvSpPr>
        <p:spPr>
          <a:xfrm>
            <a:off x="548640" y="2103120"/>
            <a:ext cx="731520" cy="731520"/>
          </a:xfrm>
          <a:prstGeom prst="ellipse">
            <a:avLst/>
          </a:prstGeom>
          <a:solidFill>
            <a:schemeClr val="accent2"/>
          </a:solidFill>
          <a:ln/>
        </p:spPr>
      </p:sp>
      <p:pic>
        <p:nvPicPr>
          <p:cNvPr id="7" name="Image 0" descr="Petición"/>
          <p:cNvPicPr>
            <a:picLocks noChangeAspect="1"/>
          </p:cNvPicPr>
          <p:nvPr/>
        </p:nvPicPr>
        <p:blipFill>
          <a:blip r:embed="rId3"/>
          <a:stretch>
            <a:fillRect/>
          </a:stretch>
        </p:blipFill>
        <p:spPr>
          <a:xfrm>
            <a:off x="724205" y="2278685"/>
            <a:ext cx="380390" cy="380390"/>
          </a:xfrm>
          <a:prstGeom prst="rect">
            <a:avLst/>
          </a:prstGeom>
        </p:spPr>
      </p:pic>
      <p:sp>
        <p:nvSpPr>
          <p:cNvPr id="8" name="Petición"/>
          <p:cNvSpPr/>
          <p:nvPr/>
        </p:nvSpPr>
        <p:spPr>
          <a:xfrm>
            <a:off x="1554480" y="2057400"/>
            <a:ext cx="10088575" cy="822960"/>
          </a:xfrm>
          <a:prstGeom prst="roundRect">
            <a:avLst>
              <a:gd name="adj" fmla="val 13333"/>
            </a:avLst>
          </a:prstGeom>
          <a:solidFill>
            <a:schemeClr val="tx1"/>
          </a:solidFill>
          <a:ln/>
        </p:spPr>
      </p:sp>
      <p:sp>
        <p:nvSpPr>
          <p:cNvPr id="9" name="Text 6"/>
          <p:cNvSpPr txBox="1"/>
          <p:nvPr/>
        </p:nvSpPr>
        <p:spPr>
          <a:xfrm>
            <a:off x="1828800" y="205740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Descarta las ideas que requieran más de 100 € o conocimientos técnicos.</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Petición"/>
          <p:cNvSpPr/>
          <p:nvPr/>
        </p:nvSpPr>
        <p:spPr>
          <a:xfrm>
            <a:off x="548640" y="3154680"/>
            <a:ext cx="731520" cy="731520"/>
          </a:xfrm>
          <a:prstGeom prst="ellipse">
            <a:avLst/>
          </a:prstGeom>
          <a:solidFill>
            <a:schemeClr val="accent2"/>
          </a:solidFill>
          <a:ln/>
        </p:spPr>
      </p:sp>
      <p:pic>
        <p:nvPicPr>
          <p:cNvPr id="11" name="Image 1" descr="Petición"/>
          <p:cNvPicPr>
            <a:picLocks noChangeAspect="1"/>
          </p:cNvPicPr>
          <p:nvPr/>
        </p:nvPicPr>
        <p:blipFill>
          <a:blip r:embed="rId4"/>
          <a:stretch>
            <a:fillRect/>
          </a:stretch>
        </p:blipFill>
        <p:spPr>
          <a:xfrm>
            <a:off x="724205" y="3330245"/>
            <a:ext cx="380390" cy="380390"/>
          </a:xfrm>
          <a:prstGeom prst="rect">
            <a:avLst/>
          </a:prstGeom>
        </p:spPr>
      </p:pic>
      <p:sp>
        <p:nvSpPr>
          <p:cNvPr id="12" name="Petición"/>
          <p:cNvSpPr/>
          <p:nvPr/>
        </p:nvSpPr>
        <p:spPr>
          <a:xfrm>
            <a:off x="1554480" y="3108960"/>
            <a:ext cx="10088575" cy="822960"/>
          </a:xfrm>
          <a:prstGeom prst="roundRect">
            <a:avLst>
              <a:gd name="adj" fmla="val 13333"/>
            </a:avLst>
          </a:prstGeom>
          <a:solidFill>
            <a:schemeClr val="tx1"/>
          </a:solidFill>
          <a:ln/>
        </p:spPr>
      </p:sp>
      <p:sp>
        <p:nvSpPr>
          <p:cNvPr id="13" name="Text 9"/>
          <p:cNvSpPr txBox="1"/>
          <p:nvPr/>
        </p:nvSpPr>
        <p:spPr>
          <a:xfrm>
            <a:off x="1828800" y="310896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Prioriza las ideas que puedan probarse en una semana.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Petición"/>
          <p:cNvSpPr/>
          <p:nvPr/>
        </p:nvSpPr>
        <p:spPr>
          <a:xfrm>
            <a:off x="548640" y="4206240"/>
            <a:ext cx="731520" cy="731520"/>
          </a:xfrm>
          <a:prstGeom prst="ellipse">
            <a:avLst/>
          </a:prstGeom>
          <a:solidFill>
            <a:schemeClr val="accent2"/>
          </a:solidFill>
          <a:ln/>
        </p:spPr>
      </p:sp>
      <p:pic>
        <p:nvPicPr>
          <p:cNvPr id="15" name="Image 2" descr="Petición"/>
          <p:cNvPicPr>
            <a:picLocks noChangeAspect="1"/>
          </p:cNvPicPr>
          <p:nvPr/>
        </p:nvPicPr>
        <p:blipFill>
          <a:blip r:embed="rId5"/>
          <a:stretch>
            <a:fillRect/>
          </a:stretch>
        </p:blipFill>
        <p:spPr>
          <a:xfrm>
            <a:off x="724205" y="4381805"/>
            <a:ext cx="380390" cy="380390"/>
          </a:xfrm>
          <a:prstGeom prst="rect">
            <a:avLst/>
          </a:prstGeom>
        </p:spPr>
      </p:pic>
      <p:sp>
        <p:nvSpPr>
          <p:cNvPr id="16" name="Petición"/>
          <p:cNvSpPr/>
          <p:nvPr/>
        </p:nvSpPr>
        <p:spPr>
          <a:xfrm>
            <a:off x="1554480" y="4160520"/>
            <a:ext cx="10088575" cy="822960"/>
          </a:xfrm>
          <a:prstGeom prst="roundRect">
            <a:avLst>
              <a:gd name="adj" fmla="val 13333"/>
            </a:avLst>
          </a:prstGeom>
          <a:solidFill>
            <a:schemeClr val="tx1"/>
          </a:solidFill>
          <a:ln/>
        </p:spPr>
      </p:sp>
      <p:sp>
        <p:nvSpPr>
          <p:cNvPr id="17" name="Text 12"/>
          <p:cNvSpPr txBox="1"/>
          <p:nvPr/>
        </p:nvSpPr>
        <p:spPr>
          <a:xfrm>
            <a:off x="1828800" y="416052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Señala los inconvenientes de las tres mejores ideas.</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8" name="Iterar"/>
          <p:cNvSpPr/>
          <p:nvPr/>
        </p:nvSpPr>
        <p:spPr>
          <a:xfrm>
            <a:off x="548640" y="5349240"/>
            <a:ext cx="640080" cy="640080"/>
          </a:xfrm>
          <a:prstGeom prst="ellipse">
            <a:avLst/>
          </a:prstGeom>
          <a:solidFill>
            <a:schemeClr val="tx2"/>
          </a:solidFill>
          <a:ln/>
        </p:spPr>
      </p:sp>
      <p:pic>
        <p:nvPicPr>
          <p:cNvPr id="19" name="Image 3" descr="Iterar"/>
          <p:cNvPicPr>
            <a:picLocks noChangeAspect="1"/>
          </p:cNvPicPr>
          <p:nvPr/>
        </p:nvPicPr>
        <p:blipFill>
          <a:blip r:embed="rId6"/>
          <a:stretch>
            <a:fillRect/>
          </a:stretch>
        </p:blipFill>
        <p:spPr>
          <a:xfrm>
            <a:off x="702259" y="5502859"/>
            <a:ext cx="332842" cy="332842"/>
          </a:xfrm>
          <a:prstGeom prst="rect">
            <a:avLst/>
          </a:prstGeom>
        </p:spPr>
      </p:pic>
      <p:sp>
        <p:nvSpPr>
          <p:cNvPr id="20" name="Text 14"/>
          <p:cNvSpPr txBox="1"/>
          <p:nvPr/>
        </p:nvSpPr>
        <p:spPr>
          <a:xfrm>
            <a:off x="1417320" y="5349240"/>
            <a:ext cx="1005840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 buen trabajo con IA es iterativo: no termina en el primer prompt.</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Conclusiones de SCAMPER</a:t>
            </a:r>
            <a:endParaRPr lang="en-US" sz="3200" dirty="0"/>
          </a:p>
        </p:txBody>
      </p:sp>
      <p:sp>
        <p:nvSpPr>
          <p:cNvPr id="3" name="Etiqueta de tiempo"/>
          <p:cNvSpPr/>
          <p:nvPr/>
        </p:nvSpPr>
        <p:spPr>
          <a:xfrm>
            <a:off x="9082735" y="548640"/>
            <a:ext cx="2560320" cy="457200"/>
          </a:xfrm>
          <a:prstGeom prst="roundRect">
            <a:avLst>
              <a:gd name="adj" fmla="val 50000"/>
            </a:avLst>
          </a:prstGeom>
          <a:solidFill>
            <a:schemeClr val="accent1"/>
          </a:solidFill>
          <a:ln/>
        </p:spPr>
      </p:sp>
      <p:sp>
        <p:nvSpPr>
          <p:cNvPr id="4" name="Text 2"/>
          <p:cNvSpPr txBox="1"/>
          <p:nvPr/>
        </p:nvSpPr>
        <p:spPr>
          <a:xfrm>
            <a:off x="9082735" y="548640"/>
            <a:ext cx="256032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62–72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Cada pareja </a:t>
            </a:r>
            <a:r>
              <a:rPr kumimoji="0" lang="en-US" sz="1900" b="0" i="0" u="none" strike="noStrike" kern="1200" cap="none" spc="0" normalizeH="0" baseline="0" noProof="0" dirty="0" err="1">
                <a:ln>
                  <a:noFill/>
                </a:ln>
                <a:solidFill>
                  <a:srgbClr val="3A4664"/>
                </a:solidFill>
                <a:effectLst/>
                <a:uLnTx/>
                <a:uFillTx/>
                <a:latin typeface="Calibri"/>
                <a:ea typeface="+mn-ea"/>
                <a:cs typeface="+mn-cs"/>
              </a:rPr>
              <a:t>cuenta</a:t>
            </a:r>
            <a:r>
              <a:rPr kumimoji="0" lang="en-US" sz="1900" b="0" i="0" u="none" strike="noStrike" kern="1200" cap="none" spc="0" normalizeH="0" baseline="0" noProof="0" dirty="0">
                <a:ln>
                  <a:noFill/>
                </a:ln>
                <a:solidFill>
                  <a:srgbClr val="3A4664"/>
                </a:solidFill>
                <a:effectLst/>
                <a:uLnTx/>
                <a:uFillTx/>
                <a:latin typeface="Calibri"/>
                <a:ea typeface="+mn-ea"/>
                <a:cs typeface="+mn-cs"/>
              </a:rPr>
              <a:t> lo que ha sacado de SCAMPER:</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Idea práctica"/>
          <p:cNvSpPr/>
          <p:nvPr/>
        </p:nvSpPr>
        <p:spPr>
          <a:xfrm>
            <a:off x="548640" y="2057400"/>
            <a:ext cx="3454298" cy="548640"/>
          </a:xfrm>
          <a:prstGeom prst="roundRect">
            <a:avLst>
              <a:gd name="adj" fmla="val 16667"/>
            </a:avLst>
          </a:prstGeom>
          <a:solidFill>
            <a:schemeClr val="accent1"/>
          </a:solidFill>
          <a:ln/>
        </p:spPr>
      </p:sp>
      <p:sp>
        <p:nvSpPr>
          <p:cNvPr id="23" name="Text 21"/>
          <p:cNvSpPr txBox="1"/>
          <p:nvPr/>
        </p:nvSpPr>
        <p:spPr>
          <a:xfrm>
            <a:off x="548640"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F2A44"/>
                </a:solidFill>
                <a:effectLst/>
                <a:uLnTx/>
                <a:uFillTx/>
                <a:latin typeface="Calibri"/>
                <a:ea typeface="+mn-ea"/>
                <a:cs typeface="+mn-cs"/>
              </a:rPr>
              <a:t>Nuestra mejor idea sin IA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Hueco"/>
          <p:cNvSpPr/>
          <p:nvPr/>
        </p:nvSpPr>
        <p:spPr>
          <a:xfrm>
            <a:off x="548640" y="2788920"/>
            <a:ext cx="3454298" cy="2423160"/>
          </a:xfrm>
          <a:prstGeom prst="roundRect">
            <a:avLst>
              <a:gd name="adj" fmla="val 10526"/>
            </a:avLst>
          </a:prstGeom>
          <a:solidFill>
            <a:schemeClr val="bg2"/>
          </a:solidFill>
          <a:ln w="12700">
            <a:solidFill>
              <a:srgbClr val="8A94A6"/>
            </a:solidFill>
            <a:prstDash val="dash"/>
          </a:ln>
        </p:spPr>
      </p:sp>
      <p:sp>
        <p:nvSpPr>
          <p:cNvPr id="14" name="Principio útil"/>
          <p:cNvSpPr/>
          <p:nvPr/>
        </p:nvSpPr>
        <p:spPr>
          <a:xfrm>
            <a:off x="4368698" y="2057400"/>
            <a:ext cx="3454298" cy="548640"/>
          </a:xfrm>
          <a:prstGeom prst="roundRect">
            <a:avLst>
              <a:gd name="adj" fmla="val 16667"/>
            </a:avLst>
          </a:prstGeom>
          <a:solidFill>
            <a:schemeClr val="accent2"/>
          </a:solidFill>
          <a:ln/>
        </p:spPr>
      </p:sp>
      <p:sp>
        <p:nvSpPr>
          <p:cNvPr id="15" name="Text 13"/>
          <p:cNvSpPr txBox="1"/>
          <p:nvPr/>
        </p:nvSpPr>
        <p:spPr>
          <a:xfrm>
            <a:off x="4368698"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La mejor idea de la IA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Hueco"/>
          <p:cNvSpPr/>
          <p:nvPr/>
        </p:nvSpPr>
        <p:spPr>
          <a:xfrm>
            <a:off x="4368698" y="2788920"/>
            <a:ext cx="3454298" cy="2423160"/>
          </a:xfrm>
          <a:prstGeom prst="roundRect">
            <a:avLst>
              <a:gd name="adj" fmla="val 10526"/>
            </a:avLst>
          </a:prstGeom>
          <a:solidFill>
            <a:schemeClr val="bg2"/>
          </a:solidFill>
          <a:ln w="12700">
            <a:solidFill>
              <a:srgbClr val="8A94A6"/>
            </a:solidFill>
            <a:prstDash val="dash"/>
          </a:ln>
        </p:spPr>
      </p:sp>
      <p:sp>
        <p:nvSpPr>
          <p:cNvPr id="6" name="Provocación"/>
          <p:cNvSpPr/>
          <p:nvPr/>
        </p:nvSpPr>
        <p:spPr>
          <a:xfrm>
            <a:off x="8188756" y="2057400"/>
            <a:ext cx="3454298" cy="548640"/>
          </a:xfrm>
          <a:prstGeom prst="roundRect">
            <a:avLst>
              <a:gd name="adj" fmla="val 16667"/>
            </a:avLst>
          </a:prstGeom>
          <a:solidFill>
            <a:schemeClr val="accent3"/>
          </a:solidFill>
          <a:ln/>
        </p:spPr>
      </p:sp>
      <p:sp>
        <p:nvSpPr>
          <p:cNvPr id="7" name="Text 5"/>
          <p:cNvSpPr txBox="1"/>
          <p:nvPr/>
        </p:nvSpPr>
        <p:spPr>
          <a:xfrm>
            <a:off x="8188756"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Lo que la IA no entendió</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Hueco"/>
          <p:cNvSpPr/>
          <p:nvPr/>
        </p:nvSpPr>
        <p:spPr>
          <a:xfrm>
            <a:off x="8188756" y="2788920"/>
            <a:ext cx="3454298" cy="2423160"/>
          </a:xfrm>
          <a:prstGeom prst="roundRect">
            <a:avLst>
              <a:gd name="adj" fmla="val 10526"/>
            </a:avLst>
          </a:prstGeom>
          <a:solidFill>
            <a:schemeClr val="bg2"/>
          </a:solidFill>
          <a:ln w="12700">
            <a:solidFill>
              <a:srgbClr val="8A94A6"/>
            </a:solidFill>
            <a:prstDash val="dash"/>
          </a:ln>
        </p:spPr>
      </p:sp>
      <p:sp>
        <p:nvSpPr>
          <p:cNvPr id="11" name="Text 3"/>
          <p:cNvSpPr txBox="1"/>
          <p:nvPr/>
        </p:nvSpPr>
        <p:spPr>
          <a:xfrm>
            <a:off x="548640" y="54406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Para todos: ¿qué ha aportado la IA que no se os hubiera ocurrido? ¿Y qué no ha entendido de vuestro caso?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6" name="Dónde escribir"/>
          <p:cNvSpPr/>
          <p:nvPr/>
        </p:nvSpPr>
        <p:spPr>
          <a:xfrm>
            <a:off x="5517489" y="6291072"/>
            <a:ext cx="5409590"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Ejercicio 2  ›  Conclusiones de SCAMPER</a:t>
            </a:r>
          </a:p>
        </p:txBody>
      </p:sp>
      <p:sp>
        <p:nvSpPr>
          <p:cNvPr id="27" name="Dónde escribir: círculo"/>
          <p:cNvSpPr/>
          <p:nvPr/>
        </p:nvSpPr>
        <p:spPr>
          <a:xfrm>
            <a:off x="5572353"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5645505" y="6409944"/>
            <a:ext cx="146304" cy="146304"/>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Provocación: salir de lo de siempre</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72–77</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3A4664"/>
                </a:solidFill>
                <a:effectLst/>
                <a:uLnTx/>
                <a:uFillTx/>
                <a:latin typeface="Calibri"/>
                <a:ea typeface="+mn-ea"/>
                <a:cs typeface="+mn-cs"/>
              </a:rPr>
              <a:t>Una técnica de pensamiento lateral de Edward de Bono, en tres pasos:</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Tarjeta"/>
          <p:cNvSpPr/>
          <p:nvPr/>
        </p:nvSpPr>
        <p:spPr>
          <a:xfrm>
            <a:off x="548640" y="2011680"/>
            <a:ext cx="3332378" cy="2880360"/>
          </a:xfrm>
          <a:prstGeom prst="roundRect">
            <a:avLst>
              <a:gd name="adj" fmla="val 4762"/>
            </a:avLst>
          </a:prstGeom>
          <a:solidFill>
            <a:schemeClr val="bg2"/>
          </a:solidFill>
          <a:ln/>
        </p:spPr>
      </p:sp>
      <p:sp>
        <p:nvSpPr>
          <p:cNvPr id="7" name="1. Provocación"/>
          <p:cNvSpPr/>
          <p:nvPr/>
        </p:nvSpPr>
        <p:spPr>
          <a:xfrm>
            <a:off x="868680" y="2240280"/>
            <a:ext cx="914400" cy="914400"/>
          </a:xfrm>
          <a:prstGeom prst="ellipse">
            <a:avLst/>
          </a:prstGeom>
          <a:solidFill>
            <a:schemeClr val="accent3"/>
          </a:solidFill>
          <a:ln/>
        </p:spPr>
      </p:sp>
      <p:pic>
        <p:nvPicPr>
          <p:cNvPr id="8" name="Image 0" descr="1. Provocación"/>
          <p:cNvPicPr>
            <a:picLocks noChangeAspect="1"/>
          </p:cNvPicPr>
          <p:nvPr/>
        </p:nvPicPr>
        <p:blipFill>
          <a:blip r:embed="rId3"/>
          <a:stretch>
            <a:fillRect/>
          </a:stretch>
        </p:blipFill>
        <p:spPr>
          <a:xfrm>
            <a:off x="1088136" y="2459736"/>
            <a:ext cx="475488" cy="475488"/>
          </a:xfrm>
          <a:prstGeom prst="rect">
            <a:avLst/>
          </a:prstGeom>
        </p:spPr>
      </p:pic>
      <p:sp>
        <p:nvSpPr>
          <p:cNvPr id="9" name="Text 6"/>
          <p:cNvSpPr txBox="1"/>
          <p:nvPr/>
        </p:nvSpPr>
        <p:spPr>
          <a:xfrm>
            <a:off x="868680"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1. Provocación</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7"/>
          <p:cNvSpPr txBox="1"/>
          <p:nvPr/>
        </p:nvSpPr>
        <p:spPr>
          <a:xfrm>
            <a:off x="868680"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Una afirmación deliberadamente absurda o imposible, que rompe algo que damos por hecho.</a:t>
            </a:r>
          </a:p>
        </p:txBody>
      </p:sp>
      <p:sp>
        <p:nvSpPr>
          <p:cNvPr id="11" name="Shape 8"/>
          <p:cNvSpPr/>
          <p:nvPr/>
        </p:nvSpPr>
        <p:spPr>
          <a:xfrm>
            <a:off x="3972458" y="3429000"/>
            <a:ext cx="365760" cy="0"/>
          </a:xfrm>
          <a:prstGeom prst="line">
            <a:avLst/>
          </a:prstGeom>
          <a:noFill/>
          <a:ln w="38100">
            <a:solidFill>
              <a:srgbClr val="3A4664"/>
            </a:solidFill>
            <a:prstDash val="solid"/>
            <a:tailEnd type="triangle"/>
          </a:ln>
        </p:spPr>
      </p:sp>
      <p:sp>
        <p:nvSpPr>
          <p:cNvPr id="12" name="Tarjeta"/>
          <p:cNvSpPr/>
          <p:nvPr/>
        </p:nvSpPr>
        <p:spPr>
          <a:xfrm>
            <a:off x="4429658" y="2011680"/>
            <a:ext cx="3332378" cy="2880360"/>
          </a:xfrm>
          <a:prstGeom prst="roundRect">
            <a:avLst>
              <a:gd name="adj" fmla="val 4762"/>
            </a:avLst>
          </a:prstGeom>
          <a:solidFill>
            <a:schemeClr val="bg2"/>
          </a:solidFill>
          <a:ln/>
        </p:spPr>
      </p:sp>
      <p:sp>
        <p:nvSpPr>
          <p:cNvPr id="13" name="2. Movimiento"/>
          <p:cNvSpPr/>
          <p:nvPr/>
        </p:nvSpPr>
        <p:spPr>
          <a:xfrm>
            <a:off x="4749698" y="2240280"/>
            <a:ext cx="914400" cy="914400"/>
          </a:xfrm>
          <a:prstGeom prst="ellipse">
            <a:avLst/>
          </a:prstGeom>
          <a:solidFill>
            <a:schemeClr val="tx2"/>
          </a:solidFill>
          <a:ln/>
        </p:spPr>
      </p:sp>
      <p:pic>
        <p:nvPicPr>
          <p:cNvPr id="14" name="Image 1" descr="2. Movimiento"/>
          <p:cNvPicPr>
            <a:picLocks noChangeAspect="1"/>
          </p:cNvPicPr>
          <p:nvPr/>
        </p:nvPicPr>
        <p:blipFill>
          <a:blip r:embed="rId4"/>
          <a:stretch>
            <a:fillRect/>
          </a:stretch>
        </p:blipFill>
        <p:spPr>
          <a:xfrm>
            <a:off x="4969154" y="2459736"/>
            <a:ext cx="475488" cy="475488"/>
          </a:xfrm>
          <a:prstGeom prst="rect">
            <a:avLst/>
          </a:prstGeom>
        </p:spPr>
      </p:pic>
      <p:sp>
        <p:nvSpPr>
          <p:cNvPr id="15" name="Text 11"/>
          <p:cNvSpPr txBox="1"/>
          <p:nvPr/>
        </p:nvSpPr>
        <p:spPr>
          <a:xfrm>
            <a:off x="4749698"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2. Movimiento</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4749698"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Buscar qué principio útil se esconde en ese absurdo.</a:t>
            </a:r>
          </a:p>
        </p:txBody>
      </p:sp>
      <p:sp>
        <p:nvSpPr>
          <p:cNvPr id="17" name="Shape 13"/>
          <p:cNvSpPr/>
          <p:nvPr/>
        </p:nvSpPr>
        <p:spPr>
          <a:xfrm>
            <a:off x="7853477" y="3429000"/>
            <a:ext cx="365760" cy="0"/>
          </a:xfrm>
          <a:prstGeom prst="line">
            <a:avLst/>
          </a:prstGeom>
          <a:noFill/>
          <a:ln w="38100">
            <a:solidFill>
              <a:srgbClr val="3A4664"/>
            </a:solidFill>
            <a:prstDash val="solid"/>
            <a:tailEnd type="triangle"/>
          </a:ln>
        </p:spPr>
      </p:sp>
      <p:sp>
        <p:nvSpPr>
          <p:cNvPr id="18" name="Tarjeta"/>
          <p:cNvSpPr/>
          <p:nvPr/>
        </p:nvSpPr>
        <p:spPr>
          <a:xfrm>
            <a:off x="8310677" y="2011680"/>
            <a:ext cx="3332378" cy="2880360"/>
          </a:xfrm>
          <a:prstGeom prst="roundRect">
            <a:avLst>
              <a:gd name="adj" fmla="val 4762"/>
            </a:avLst>
          </a:prstGeom>
          <a:solidFill>
            <a:schemeClr val="bg2"/>
          </a:solidFill>
          <a:ln/>
        </p:spPr>
      </p:sp>
      <p:sp>
        <p:nvSpPr>
          <p:cNvPr id="19" name="3. Idea práctica"/>
          <p:cNvSpPr/>
          <p:nvPr/>
        </p:nvSpPr>
        <p:spPr>
          <a:xfrm>
            <a:off x="8630717" y="2240280"/>
            <a:ext cx="914400" cy="914400"/>
          </a:xfrm>
          <a:prstGeom prst="ellipse">
            <a:avLst/>
          </a:prstGeom>
          <a:solidFill>
            <a:schemeClr val="accent1"/>
          </a:solidFill>
          <a:ln/>
        </p:spPr>
      </p:sp>
      <p:pic>
        <p:nvPicPr>
          <p:cNvPr id="20" name="Image 2" descr="3. Idea práctica"/>
          <p:cNvPicPr>
            <a:picLocks noChangeAspect="1"/>
          </p:cNvPicPr>
          <p:nvPr/>
        </p:nvPicPr>
        <p:blipFill>
          <a:blip r:embed="rId5"/>
          <a:stretch>
            <a:fillRect/>
          </a:stretch>
        </p:blipFill>
        <p:spPr>
          <a:xfrm>
            <a:off x="8850173" y="2459736"/>
            <a:ext cx="475488" cy="475488"/>
          </a:xfrm>
          <a:prstGeom prst="rect">
            <a:avLst/>
          </a:prstGeom>
        </p:spPr>
      </p:pic>
      <p:sp>
        <p:nvSpPr>
          <p:cNvPr id="21" name="Text 16"/>
          <p:cNvSpPr txBox="1"/>
          <p:nvPr/>
        </p:nvSpPr>
        <p:spPr>
          <a:xfrm>
            <a:off x="8630717"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3. Idea práctica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7"/>
          <p:cNvSpPr txBox="1"/>
          <p:nvPr/>
        </p:nvSpPr>
        <p:spPr>
          <a:xfrm>
            <a:off x="8630717"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Convertir ese principio en algo que se pueda hacer de verdad.</a:t>
            </a:r>
          </a:p>
        </p:txBody>
      </p:sp>
      <p:sp>
        <p:nvSpPr>
          <p:cNvPr id="23" name="Tarjeta"/>
          <p:cNvSpPr/>
          <p:nvPr/>
        </p:nvSpPr>
        <p:spPr>
          <a:xfrm>
            <a:off x="548640" y="5212080"/>
            <a:ext cx="11094415" cy="777240"/>
          </a:xfrm>
          <a:prstGeom prst="roundRect">
            <a:avLst>
              <a:gd name="adj" fmla="val 17647"/>
            </a:avLst>
          </a:prstGeom>
          <a:solidFill>
            <a:schemeClr val="bg2"/>
          </a:solidFill>
          <a:ln/>
        </p:spPr>
      </p:sp>
      <p:sp>
        <p:nvSpPr>
          <p:cNvPr id="24" name="Text 19"/>
          <p:cNvSpPr txBox="1"/>
          <p:nvPr/>
        </p:nvSpPr>
        <p:spPr>
          <a:xfrm>
            <a:off x="868680" y="5212080"/>
            <a:ext cx="10454335" cy="7772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1F2A44"/>
                </a:solidFill>
                <a:effectLst/>
                <a:uLnTx/>
                <a:uFillTx/>
                <a:latin typeface="Calibri"/>
                <a:ea typeface="+mn-ea"/>
                <a:cs typeface="+mn-cs"/>
              </a:rPr>
              <a:t>SCAMPER mejora lo que existe. </a:t>
            </a:r>
            <a:r>
              <a:rPr kumimoji="0" lang="en-US" sz="1900" b="1" i="0" u="none" strike="noStrike" kern="1200" cap="none" spc="0" normalizeH="0" baseline="0" noProof="0" dirty="0">
                <a:ln>
                  <a:noFill/>
                </a:ln>
                <a:solidFill>
                  <a:srgbClr val="1F2A44"/>
                </a:solidFill>
                <a:effectLst/>
                <a:uLnTx/>
                <a:uFillTx/>
                <a:latin typeface="Calibri"/>
                <a:ea typeface="+mn-ea"/>
                <a:cs typeface="+mn-cs"/>
              </a:rPr>
              <a:t>La provocación rompe lo que damos por hecho.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Cuatro tipos de provocación,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72–77</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graphicFrame>
        <p:nvGraphicFramePr>
          <p:cNvPr id="11" name="Table 0"/>
          <p:cNvGraphicFramePr>
            <a:graphicFrameLocks noGrp="1"/>
          </p:cNvGraphicFramePr>
          <p:nvPr/>
        </p:nvGraphicFramePr>
        <p:xfrm>
          <a:off x="548640" y="1417320"/>
          <a:ext cx="11094415" cy="4206240"/>
        </p:xfrm>
        <a:graphic>
          <a:graphicData uri="http://schemas.openxmlformats.org/drawingml/2006/table">
            <a:tbl>
              <a:tblPr/>
              <a:tblGrid>
                <a:gridCol w="192024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3230575">
                  <a:extLst>
                    <a:ext uri="{9D8B030D-6E8A-4147-A177-3AD203B41FA5}">
                      <a16:colId xmlns:a16="http://schemas.microsoft.com/office/drawing/2014/main" val="20003"/>
                    </a:ext>
                  </a:extLst>
                </a:gridCol>
              </a:tblGrid>
              <a:tr h="457200">
                <a:tc>
                  <a:txBody>
                    <a:bodyPr/>
                    <a:lstStyle/>
                    <a:p>
                      <a:pPr marL="0" indent="0">
                        <a:buNone/>
                      </a:pPr>
                      <a:r>
                        <a:rPr lang="en-US" sz="1500" b="1" dirty="0">
                          <a:solidFill>
                            <a:schemeClr val="bg1"/>
                          </a:solidFill>
                        </a:rPr>
                        <a:t>Tipo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Provocación</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buNone/>
                      </a:pPr>
                      <a:r>
                        <a:rPr lang="en-US" sz="1500" b="1" dirty="0">
                          <a:solidFill>
                            <a:schemeClr val="bg1"/>
                          </a:solidFill>
                        </a:rPr>
                        <a:t>Movimiento: principio útil</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2"/>
                    </a:solidFill>
                  </a:tcPr>
                </a:tc>
                <a:tc>
                  <a:txBody>
                    <a:bodyPr/>
                    <a:lstStyle/>
                    <a:p>
                      <a:pPr marL="0" indent="0">
                        <a:buNone/>
                      </a:pPr>
                      <a:r>
                        <a:rPr lang="en-US" sz="1500" b="1" dirty="0">
                          <a:solidFill>
                            <a:schemeClr val="tx1"/>
                          </a:solidFill>
                        </a:rPr>
                        <a:t>Idea práctica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960120">
                <a:tc>
                  <a:txBody>
                    <a:bodyPr/>
                    <a:lstStyle/>
                    <a:p>
                      <a:pPr marL="0" indent="0">
                        <a:buNone/>
                      </a:pPr>
                      <a:r>
                        <a:rPr lang="en-US" sz="1500" b="1" dirty="0">
                          <a:solidFill>
                            <a:schemeClr val="tx1"/>
                          </a:solidFill>
                        </a:rPr>
                        <a:t>Inversión</a:t>
                      </a:r>
                      <a:endParaRPr lang="en-US" sz="1500" dirty="0"/>
                    </a:p>
                    <a:p>
                      <a:pPr marL="0" indent="0">
                        <a:buNone/>
                      </a:pPr>
                      <a:r>
                        <a:rPr lang="en-US" sz="1200" i="1" dirty="0">
                          <a:solidFill>
                            <a:schemeClr val="tx1"/>
                          </a:solidFill>
                        </a:rPr>
                        <a:t>darle la vuelta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«La peluquería llama a los clientes, y no al revés».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La peluquería puede tomar la iniciativa.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Al terminar cada servicio, proponer ya la fecha de la siguiente cita.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914400">
                <a:tc>
                  <a:txBody>
                    <a:bodyPr/>
                    <a:lstStyle/>
                    <a:p>
                      <a:pPr marL="0" indent="0">
                        <a:buNone/>
                      </a:pPr>
                      <a:r>
                        <a:rPr lang="en-US" sz="1500" b="1" dirty="0">
                          <a:solidFill>
                            <a:schemeClr val="tx1"/>
                          </a:solidFill>
                        </a:rPr>
                        <a:t>Exageración</a:t>
                      </a:r>
                      <a:endParaRPr lang="en-US" sz="1500" dirty="0"/>
                    </a:p>
                    <a:p>
                      <a:pPr marL="0" indent="0">
                        <a:buNone/>
                      </a:pPr>
                      <a:r>
                        <a:rPr lang="en-US" sz="1200" i="1" dirty="0">
                          <a:solidFill>
                            <a:schemeClr val="tx1"/>
                          </a:solidFill>
                        </a:rPr>
                        <a:t>llevarlo al extremo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«Cada cliente viene todos los días».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Clientes con citas fijas y recurrentes.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Abono mensual con cita fija para clientes habituales.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914400">
                <a:tc>
                  <a:txBody>
                    <a:bodyPr/>
                    <a:lstStyle/>
                    <a:p>
                      <a:pPr marL="0" indent="0">
                        <a:buNone/>
                      </a:pPr>
                      <a:r>
                        <a:rPr lang="en-US" sz="1500" b="1" dirty="0">
                          <a:solidFill>
                            <a:schemeClr val="tx1"/>
                          </a:solidFill>
                        </a:rPr>
                        <a:t>Eliminación</a:t>
                      </a:r>
                      <a:endParaRPr lang="en-US" sz="1500" dirty="0"/>
                    </a:p>
                    <a:p>
                      <a:pPr marL="0" indent="0">
                        <a:buNone/>
                      </a:pPr>
                      <a:r>
                        <a:rPr lang="en-US" sz="1200" i="1" dirty="0">
                          <a:solidFill>
                            <a:schemeClr val="tx1"/>
                          </a:solidFill>
                        </a:rPr>
                        <a:t>quitar lo imprescindible</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«La peluquería no tiene teléfono».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El teléfono no tiene por qué ser el canal principal.</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Reservas por otros canales; el teléfono, solo para imprevistos.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r h="960120">
                <a:tc>
                  <a:txBody>
                    <a:bodyPr/>
                    <a:lstStyle/>
                    <a:p>
                      <a:pPr marL="0" indent="0">
                        <a:buNone/>
                      </a:pPr>
                      <a:r>
                        <a:rPr lang="en-US" sz="1500" b="1" dirty="0">
                          <a:solidFill>
                            <a:schemeClr val="tx1"/>
                          </a:solidFill>
                        </a:rPr>
                        <a:t>Deseo</a:t>
                      </a:r>
                      <a:endParaRPr lang="en-US" sz="1500" dirty="0"/>
                    </a:p>
                    <a:p>
                      <a:pPr marL="0" indent="0">
                        <a:buNone/>
                      </a:pPr>
                      <a:r>
                        <a:rPr lang="en-US" sz="1200" i="1" dirty="0">
                          <a:solidFill>
                            <a:schemeClr val="tx1"/>
                          </a:solidFill>
                        </a:rPr>
                        <a:t>¿y si…? imposible</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«¿Y si el cliente supiera exactamente cuándo le toca, aunque llegue sin cita?».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Hacer visible la espera.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Turno visible en el móvil o en una pantalla en la puerta.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4A300"/>
                </a:solidFill>
                <a:effectLst/>
                <a:uLnTx/>
                <a:uFillTx/>
                <a:latin typeface="Calibri"/>
                <a:ea typeface="+mn-ea"/>
                <a:cs typeface="+mn-cs"/>
              </a:rPr>
              <a:t>El error típico</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Quedarse en la provocación y reírse.</a:t>
            </a:r>
            <a:endParaRPr lang="en-US" sz="3400" dirty="0"/>
          </a:p>
          <a:p>
            <a:pPr marL="0" indent="0">
              <a:buNone/>
            </a:pPr>
            <a:r>
              <a:rPr lang="en-US" sz="3400" b="1" dirty="0">
                <a:solidFill>
                  <a:schemeClr val="accent1"/>
                </a:solidFill>
              </a:rPr>
              <a:t>Sin movimiento no hay idea: ¿qué principio útil sacamos de esto?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3: provocación en vuestro caso</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77–85 · Sin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Tres provocaciones de tipos distintos, sobre el mismo caso. Para cada una, llegad hasta la idea práctica:</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Provocación"/>
          <p:cNvSpPr/>
          <p:nvPr/>
        </p:nvSpPr>
        <p:spPr>
          <a:xfrm>
            <a:off x="548640" y="2057400"/>
            <a:ext cx="3362858" cy="548640"/>
          </a:xfrm>
          <a:prstGeom prst="roundRect">
            <a:avLst>
              <a:gd name="adj" fmla="val 16667"/>
            </a:avLst>
          </a:prstGeom>
          <a:solidFill>
            <a:schemeClr val="accent3"/>
          </a:solidFill>
          <a:ln/>
        </p:spPr>
      </p:sp>
      <p:sp>
        <p:nvSpPr>
          <p:cNvPr id="7" name="Text 5"/>
          <p:cNvSpPr txBox="1"/>
          <p:nvPr/>
        </p:nvSpPr>
        <p:spPr>
          <a:xfrm>
            <a:off x="548640"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Provocación</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Hueco"/>
          <p:cNvSpPr/>
          <p:nvPr/>
        </p:nvSpPr>
        <p:spPr>
          <a:xfrm>
            <a:off x="548640" y="2788920"/>
            <a:ext cx="3362858" cy="868680"/>
          </a:xfrm>
          <a:prstGeom prst="roundRect">
            <a:avLst>
              <a:gd name="adj" fmla="val 10526"/>
            </a:avLst>
          </a:prstGeom>
          <a:solidFill>
            <a:schemeClr val="bg2"/>
          </a:solidFill>
          <a:ln w="12700">
            <a:solidFill>
              <a:srgbClr val="8A94A6"/>
            </a:solidFill>
            <a:prstDash val="dash"/>
          </a:ln>
        </p:spPr>
      </p:sp>
      <p:sp>
        <p:nvSpPr>
          <p:cNvPr id="9" name="Shape 7"/>
          <p:cNvSpPr/>
          <p:nvPr/>
        </p:nvSpPr>
        <p:spPr>
          <a:xfrm>
            <a:off x="3984650" y="3218688"/>
            <a:ext cx="356616" cy="0"/>
          </a:xfrm>
          <a:prstGeom prst="line">
            <a:avLst/>
          </a:prstGeom>
          <a:noFill/>
          <a:ln w="31750">
            <a:solidFill>
              <a:srgbClr val="3A4664"/>
            </a:solidFill>
            <a:prstDash val="solid"/>
            <a:tailEnd type="triangle"/>
          </a:ln>
        </p:spPr>
      </p:sp>
      <p:sp>
        <p:nvSpPr>
          <p:cNvPr id="10" name="Hueco"/>
          <p:cNvSpPr/>
          <p:nvPr/>
        </p:nvSpPr>
        <p:spPr>
          <a:xfrm>
            <a:off x="548640" y="3840480"/>
            <a:ext cx="3362858" cy="868680"/>
          </a:xfrm>
          <a:prstGeom prst="roundRect">
            <a:avLst>
              <a:gd name="adj" fmla="val 10526"/>
            </a:avLst>
          </a:prstGeom>
          <a:solidFill>
            <a:schemeClr val="bg2"/>
          </a:solidFill>
          <a:ln w="12700">
            <a:solidFill>
              <a:srgbClr val="8A94A6"/>
            </a:solidFill>
            <a:prstDash val="dash"/>
          </a:ln>
        </p:spPr>
      </p:sp>
      <p:sp>
        <p:nvSpPr>
          <p:cNvPr id="11" name="Shape 9"/>
          <p:cNvSpPr/>
          <p:nvPr/>
        </p:nvSpPr>
        <p:spPr>
          <a:xfrm>
            <a:off x="3984650" y="4270248"/>
            <a:ext cx="356616" cy="0"/>
          </a:xfrm>
          <a:prstGeom prst="line">
            <a:avLst/>
          </a:prstGeom>
          <a:noFill/>
          <a:ln w="31750">
            <a:solidFill>
              <a:srgbClr val="3A4664"/>
            </a:solidFill>
            <a:prstDash val="solid"/>
            <a:tailEnd type="triangle"/>
          </a:ln>
        </p:spPr>
      </p:sp>
      <p:sp>
        <p:nvSpPr>
          <p:cNvPr id="12" name="Hueco"/>
          <p:cNvSpPr/>
          <p:nvPr/>
        </p:nvSpPr>
        <p:spPr>
          <a:xfrm>
            <a:off x="548640" y="4892040"/>
            <a:ext cx="3362858" cy="868680"/>
          </a:xfrm>
          <a:prstGeom prst="roundRect">
            <a:avLst>
              <a:gd name="adj" fmla="val 10526"/>
            </a:avLst>
          </a:prstGeom>
          <a:solidFill>
            <a:schemeClr val="bg2"/>
          </a:solidFill>
          <a:ln w="12700">
            <a:solidFill>
              <a:srgbClr val="8A94A6"/>
            </a:solidFill>
            <a:prstDash val="dash"/>
          </a:ln>
        </p:spPr>
      </p:sp>
      <p:sp>
        <p:nvSpPr>
          <p:cNvPr id="13" name="Shape 11"/>
          <p:cNvSpPr/>
          <p:nvPr/>
        </p:nvSpPr>
        <p:spPr>
          <a:xfrm>
            <a:off x="3984650" y="5321808"/>
            <a:ext cx="356616" cy="0"/>
          </a:xfrm>
          <a:prstGeom prst="line">
            <a:avLst/>
          </a:prstGeom>
          <a:noFill/>
          <a:ln w="31750">
            <a:solidFill>
              <a:srgbClr val="3A4664"/>
            </a:solidFill>
            <a:prstDash val="solid"/>
            <a:tailEnd type="triangle"/>
          </a:ln>
        </p:spPr>
      </p:sp>
      <p:sp>
        <p:nvSpPr>
          <p:cNvPr id="14" name="Principio útil"/>
          <p:cNvSpPr/>
          <p:nvPr/>
        </p:nvSpPr>
        <p:spPr>
          <a:xfrm>
            <a:off x="4414418" y="2057400"/>
            <a:ext cx="3362858" cy="548640"/>
          </a:xfrm>
          <a:prstGeom prst="roundRect">
            <a:avLst>
              <a:gd name="adj" fmla="val 16667"/>
            </a:avLst>
          </a:prstGeom>
          <a:solidFill>
            <a:schemeClr val="tx2"/>
          </a:solidFill>
          <a:ln/>
        </p:spPr>
      </p:sp>
      <p:sp>
        <p:nvSpPr>
          <p:cNvPr id="15" name="Text 13"/>
          <p:cNvSpPr txBox="1"/>
          <p:nvPr/>
        </p:nvSpPr>
        <p:spPr>
          <a:xfrm>
            <a:off x="4414418"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Principio útil</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Hueco"/>
          <p:cNvSpPr/>
          <p:nvPr/>
        </p:nvSpPr>
        <p:spPr>
          <a:xfrm>
            <a:off x="4414418" y="2788920"/>
            <a:ext cx="3362858" cy="868680"/>
          </a:xfrm>
          <a:prstGeom prst="roundRect">
            <a:avLst>
              <a:gd name="adj" fmla="val 10526"/>
            </a:avLst>
          </a:prstGeom>
          <a:solidFill>
            <a:schemeClr val="bg2"/>
          </a:solidFill>
          <a:ln w="12700">
            <a:solidFill>
              <a:srgbClr val="8A94A6"/>
            </a:solidFill>
            <a:prstDash val="dash"/>
          </a:ln>
        </p:spPr>
      </p:sp>
      <p:sp>
        <p:nvSpPr>
          <p:cNvPr id="17" name="Shape 15"/>
          <p:cNvSpPr/>
          <p:nvPr/>
        </p:nvSpPr>
        <p:spPr>
          <a:xfrm>
            <a:off x="7850429" y="3218688"/>
            <a:ext cx="356616" cy="0"/>
          </a:xfrm>
          <a:prstGeom prst="line">
            <a:avLst/>
          </a:prstGeom>
          <a:noFill/>
          <a:ln w="31750">
            <a:solidFill>
              <a:srgbClr val="3A4664"/>
            </a:solidFill>
            <a:prstDash val="solid"/>
            <a:tailEnd type="triangle"/>
          </a:ln>
        </p:spPr>
      </p:sp>
      <p:sp>
        <p:nvSpPr>
          <p:cNvPr id="18" name="Hueco"/>
          <p:cNvSpPr/>
          <p:nvPr/>
        </p:nvSpPr>
        <p:spPr>
          <a:xfrm>
            <a:off x="4414418" y="3840480"/>
            <a:ext cx="3362858" cy="868680"/>
          </a:xfrm>
          <a:prstGeom prst="roundRect">
            <a:avLst>
              <a:gd name="adj" fmla="val 10526"/>
            </a:avLst>
          </a:prstGeom>
          <a:solidFill>
            <a:schemeClr val="bg2"/>
          </a:solidFill>
          <a:ln w="12700">
            <a:solidFill>
              <a:srgbClr val="8A94A6"/>
            </a:solidFill>
            <a:prstDash val="dash"/>
          </a:ln>
        </p:spPr>
      </p:sp>
      <p:sp>
        <p:nvSpPr>
          <p:cNvPr id="19" name="Shape 17"/>
          <p:cNvSpPr/>
          <p:nvPr/>
        </p:nvSpPr>
        <p:spPr>
          <a:xfrm>
            <a:off x="7850429" y="4270248"/>
            <a:ext cx="356616" cy="0"/>
          </a:xfrm>
          <a:prstGeom prst="line">
            <a:avLst/>
          </a:prstGeom>
          <a:noFill/>
          <a:ln w="31750">
            <a:solidFill>
              <a:srgbClr val="3A4664"/>
            </a:solidFill>
            <a:prstDash val="solid"/>
            <a:tailEnd type="triangle"/>
          </a:ln>
        </p:spPr>
      </p:sp>
      <p:sp>
        <p:nvSpPr>
          <p:cNvPr id="20" name="Hueco"/>
          <p:cNvSpPr/>
          <p:nvPr/>
        </p:nvSpPr>
        <p:spPr>
          <a:xfrm>
            <a:off x="4414418" y="4892040"/>
            <a:ext cx="3362858" cy="868680"/>
          </a:xfrm>
          <a:prstGeom prst="roundRect">
            <a:avLst>
              <a:gd name="adj" fmla="val 10526"/>
            </a:avLst>
          </a:prstGeom>
          <a:solidFill>
            <a:schemeClr val="bg2"/>
          </a:solidFill>
          <a:ln w="12700">
            <a:solidFill>
              <a:srgbClr val="8A94A6"/>
            </a:solidFill>
            <a:prstDash val="dash"/>
          </a:ln>
        </p:spPr>
      </p:sp>
      <p:sp>
        <p:nvSpPr>
          <p:cNvPr id="21" name="Shape 19"/>
          <p:cNvSpPr/>
          <p:nvPr/>
        </p:nvSpPr>
        <p:spPr>
          <a:xfrm>
            <a:off x="7850429" y="5321808"/>
            <a:ext cx="356616" cy="0"/>
          </a:xfrm>
          <a:prstGeom prst="line">
            <a:avLst/>
          </a:prstGeom>
          <a:noFill/>
          <a:ln w="31750">
            <a:solidFill>
              <a:srgbClr val="3A4664"/>
            </a:solidFill>
            <a:prstDash val="solid"/>
            <a:tailEnd type="triangle"/>
          </a:ln>
        </p:spPr>
      </p:sp>
      <p:sp>
        <p:nvSpPr>
          <p:cNvPr id="22" name="Idea práctica"/>
          <p:cNvSpPr/>
          <p:nvPr/>
        </p:nvSpPr>
        <p:spPr>
          <a:xfrm>
            <a:off x="8280197" y="2057400"/>
            <a:ext cx="3362858" cy="548640"/>
          </a:xfrm>
          <a:prstGeom prst="roundRect">
            <a:avLst>
              <a:gd name="adj" fmla="val 16667"/>
            </a:avLst>
          </a:prstGeom>
          <a:solidFill>
            <a:schemeClr val="accent1"/>
          </a:solidFill>
          <a:ln/>
        </p:spPr>
      </p:sp>
      <p:sp>
        <p:nvSpPr>
          <p:cNvPr id="23" name="Text 21"/>
          <p:cNvSpPr txBox="1"/>
          <p:nvPr/>
        </p:nvSpPr>
        <p:spPr>
          <a:xfrm>
            <a:off x="8280197"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F2A44"/>
                </a:solidFill>
                <a:effectLst/>
                <a:uLnTx/>
                <a:uFillTx/>
                <a:latin typeface="Calibri"/>
                <a:ea typeface="+mn-ea"/>
                <a:cs typeface="+mn-cs"/>
              </a:rPr>
              <a:t>Idea práctica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Hueco"/>
          <p:cNvSpPr/>
          <p:nvPr/>
        </p:nvSpPr>
        <p:spPr>
          <a:xfrm>
            <a:off x="8280197" y="2788920"/>
            <a:ext cx="3362858" cy="868680"/>
          </a:xfrm>
          <a:prstGeom prst="roundRect">
            <a:avLst>
              <a:gd name="adj" fmla="val 10526"/>
            </a:avLst>
          </a:prstGeom>
          <a:solidFill>
            <a:schemeClr val="bg2"/>
          </a:solidFill>
          <a:ln w="12700">
            <a:solidFill>
              <a:srgbClr val="8A94A6"/>
            </a:solidFill>
            <a:prstDash val="dash"/>
          </a:ln>
        </p:spPr>
      </p:sp>
      <p:sp>
        <p:nvSpPr>
          <p:cNvPr id="25" name="Hueco"/>
          <p:cNvSpPr/>
          <p:nvPr/>
        </p:nvSpPr>
        <p:spPr>
          <a:xfrm>
            <a:off x="8280197" y="3840480"/>
            <a:ext cx="3362858" cy="868680"/>
          </a:xfrm>
          <a:prstGeom prst="roundRect">
            <a:avLst>
              <a:gd name="adj" fmla="val 10526"/>
            </a:avLst>
          </a:prstGeom>
          <a:solidFill>
            <a:schemeClr val="bg2"/>
          </a:solidFill>
          <a:ln w="12700">
            <a:solidFill>
              <a:srgbClr val="8A94A6"/>
            </a:solidFill>
            <a:prstDash val="dash"/>
          </a:ln>
        </p:spPr>
      </p:sp>
      <p:sp>
        <p:nvSpPr>
          <p:cNvPr id="26" name="Hueco"/>
          <p:cNvSpPr/>
          <p:nvPr/>
        </p:nvSpPr>
        <p:spPr>
          <a:xfrm>
            <a:off x="8280197" y="4892040"/>
            <a:ext cx="3362858" cy="868680"/>
          </a:xfrm>
          <a:prstGeom prst="roundRect">
            <a:avLst>
              <a:gd name="adj" fmla="val 10526"/>
            </a:avLst>
          </a:prstGeom>
          <a:solidFill>
            <a:schemeClr val="bg2"/>
          </a:solidFill>
          <a:ln w="12700">
            <a:solidFill>
              <a:srgbClr val="8A94A6"/>
            </a:solidFill>
            <a:prstDash val="dash"/>
          </a:ln>
        </p:spPr>
      </p:sp>
      <p:sp>
        <p:nvSpPr>
          <p:cNvPr id="2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8" name="Dónde escribir"/>
          <p:cNvSpPr/>
          <p:nvPr/>
        </p:nvSpPr>
        <p:spPr>
          <a:xfrm>
            <a:off x="5763463" y="6291072"/>
            <a:ext cx="5163616"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Ejercicio 3  ›  tabla de la ronda sin IA</a:t>
            </a:r>
          </a:p>
        </p:txBody>
      </p:sp>
      <p:sp>
        <p:nvSpPr>
          <p:cNvPr id="29" name="Dónde escribir: círculo"/>
          <p:cNvSpPr/>
          <p:nvPr/>
        </p:nvSpPr>
        <p:spPr>
          <a:xfrm>
            <a:off x="5818327" y="6336792"/>
            <a:ext cx="292608" cy="292608"/>
          </a:xfrm>
          <a:prstGeom prst="ellipse">
            <a:avLst/>
          </a:prstGeom>
          <a:solidFill>
            <a:schemeClr val="accent1"/>
          </a:solidFill>
          <a:ln>
            <a:noFill/>
          </a:ln>
        </p:spPr>
      </p:sp>
      <p:pic>
        <p:nvPicPr>
          <p:cNvPr id="30" name="Dónde escribir: lápiz" descr="Lápiz"/>
          <p:cNvPicPr>
            <a:picLocks noChangeAspect="1"/>
          </p:cNvPicPr>
          <p:nvPr/>
        </p:nvPicPr>
        <p:blipFill>
          <a:blip r:embed="rId3"/>
          <a:stretch>
            <a:fillRect/>
          </a:stretch>
        </p:blipFill>
        <p:spPr>
          <a:xfrm>
            <a:off x="5891479" y="6409944"/>
            <a:ext cx="146304" cy="146304"/>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85–92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325880"/>
            <a:ext cx="6858000" cy="4754880"/>
          </a:xfrm>
          <a:prstGeom prst="roundRect">
            <a:avLst>
              <a:gd name="adj" fmla="val 2308"/>
            </a:avLst>
          </a:prstGeom>
          <a:solidFill>
            <a:schemeClr val="tx1"/>
          </a:solidFill>
          <a:ln/>
        </p:spPr>
      </p:sp>
      <p:sp>
        <p:nvSpPr>
          <p:cNvPr id="6" name="Text 4"/>
          <p:cNvSpPr txBox="1"/>
          <p:nvPr/>
        </p:nvSpPr>
        <p:spPr>
          <a:xfrm>
            <a:off x="822960" y="1508760"/>
            <a:ext cx="6309360" cy="4389120"/>
          </a:xfrm>
          <a:prstGeom prst="rect">
            <a:avLst/>
          </a:prstGeom>
          <a:noFill/>
          <a:ln/>
        </p:spPr>
        <p:txBody>
          <a:bodyPr wrap="square" lIns="0" tIns="0" rIns="0" bIns="0" rtlCol="0" anchor="t"/>
          <a:lstStyle/>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Actúa como experto en pensamiento lateral y en 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técnica de provocación de Edward de Bono.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Situación: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[describir el proceso actual y el</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problema, sin nombres ni datos personales]</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1. Escribe 6 provocaciones: afirmaciones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deliberadamente absurdas o imposibles que rompan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una suposición sobre esta situación. Incluye al</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menos una de cada tipo: inversión, exageración,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eliminación y deseo («¿Y si…?»).</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2. Para cada provocación, haz el movimiento: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explica qué principio útil puede extraerse de ella.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3. Convierte cada principio en una idea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práctica, realista y de bajo coste.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Preséntalo en una tabla con cuatro columnas: tipo,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provocación, principio útil e idea práctica.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No repitas estas provocaciones nuestras: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[pegar las de la pareja]</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Por qué funciona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1</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Separa los tres pasos de la técnica: la IA no salta directamente a una idea convencional.</a:t>
            </a:r>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2</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Exige los cuatro tipos para forzar la variedad.</a:t>
            </a:r>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3</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tabla permite comprobar si el movimiento tiene sentido o solo suena bien.</a:t>
            </a:r>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4</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Incluye vuestras provocaciones para que no las repita.</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55</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6" name="Dónde escribir"/>
          <p:cNvSpPr/>
          <p:nvPr/>
        </p:nvSpPr>
        <p:spPr>
          <a:xfrm>
            <a:off x="5082235" y="6291072"/>
            <a:ext cx="5844844"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Ejercicio 3  ›  el prompt está debajo de la tabla</a:t>
            </a:r>
          </a:p>
        </p:txBody>
      </p:sp>
      <p:sp>
        <p:nvSpPr>
          <p:cNvPr id="27" name="Dónde escribir: círculo"/>
          <p:cNvSpPr/>
          <p:nvPr/>
        </p:nvSpPr>
        <p:spPr>
          <a:xfrm>
            <a:off x="5137099"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5210251" y="6409944"/>
            <a:ext cx="146304" cy="146304"/>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Revisad lo que dice la IA</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85–92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554480"/>
            <a:ext cx="5364328" cy="3291840"/>
          </a:xfrm>
          <a:prstGeom prst="roundRect">
            <a:avLst>
              <a:gd name="adj" fmla="val 4167"/>
            </a:avLst>
          </a:prstGeom>
          <a:solidFill>
            <a:schemeClr val="bg2"/>
          </a:solidFill>
          <a:ln/>
        </p:spPr>
      </p:sp>
      <p:sp>
        <p:nvSpPr>
          <p:cNvPr id="6" name="Pregunta"/>
          <p:cNvSpPr/>
          <p:nvPr/>
        </p:nvSpPr>
        <p:spPr>
          <a:xfrm>
            <a:off x="914400" y="1828800"/>
            <a:ext cx="1097280" cy="1097280"/>
          </a:xfrm>
          <a:prstGeom prst="ellipse">
            <a:avLst/>
          </a:prstGeom>
          <a:solidFill>
            <a:schemeClr val="accent2"/>
          </a:solidFill>
          <a:ln/>
        </p:spPr>
      </p:sp>
      <p:pic>
        <p:nvPicPr>
          <p:cNvPr id="7" name="Image 0" descr="Pregunta"/>
          <p:cNvPicPr>
            <a:picLocks noChangeAspect="1"/>
          </p:cNvPicPr>
          <p:nvPr/>
        </p:nvPicPr>
        <p:blipFill>
          <a:blip r:embed="rId3"/>
          <a:stretch>
            <a:fillRect/>
          </a:stretch>
        </p:blipFill>
        <p:spPr>
          <a:xfrm>
            <a:off x="1177747" y="2092147"/>
            <a:ext cx="570586" cy="570586"/>
          </a:xfrm>
          <a:prstGeom prst="rect">
            <a:avLst/>
          </a:prstGeom>
        </p:spPr>
      </p:pic>
      <p:sp>
        <p:nvSpPr>
          <p:cNvPr id="8" name="Text 5"/>
          <p:cNvSpPr txBox="1"/>
          <p:nvPr/>
        </p:nvSpPr>
        <p:spPr>
          <a:xfrm>
            <a:off x="914400" y="3108960"/>
            <a:ext cx="463280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¿El principio útil se deduce de verdad de la provocación?</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914400" y="4069080"/>
            <a:ext cx="4632808"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3A4664"/>
                </a:solidFill>
                <a:effectLst/>
                <a:uLnTx/>
                <a:uFillTx/>
                <a:latin typeface="Calibri"/>
                <a:ea typeface="+mn-ea"/>
                <a:cs typeface="+mn-cs"/>
              </a:rPr>
              <a:t>¿O la IA se ha inventado la conexión?</a:t>
            </a:r>
            <a:endParaRPr kumimoji="0" lang="en-US" sz="17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arjeta"/>
          <p:cNvSpPr/>
          <p:nvPr/>
        </p:nvSpPr>
        <p:spPr>
          <a:xfrm>
            <a:off x="6278728" y="1554480"/>
            <a:ext cx="5364328" cy="3291840"/>
          </a:xfrm>
          <a:prstGeom prst="roundRect">
            <a:avLst>
              <a:gd name="adj" fmla="val 4167"/>
            </a:avLst>
          </a:prstGeom>
          <a:solidFill>
            <a:schemeClr val="bg2"/>
          </a:solidFill>
          <a:ln/>
        </p:spPr>
      </p:sp>
      <p:sp>
        <p:nvSpPr>
          <p:cNvPr id="11" name="Pregunta"/>
          <p:cNvSpPr/>
          <p:nvPr/>
        </p:nvSpPr>
        <p:spPr>
          <a:xfrm>
            <a:off x="6644488" y="1828800"/>
            <a:ext cx="1097280" cy="1097280"/>
          </a:xfrm>
          <a:prstGeom prst="ellipse">
            <a:avLst/>
          </a:prstGeom>
          <a:solidFill>
            <a:schemeClr val="accent2"/>
          </a:solidFill>
          <a:ln/>
        </p:spPr>
      </p:sp>
      <p:pic>
        <p:nvPicPr>
          <p:cNvPr id="12" name="Image 1" descr="Pregunta"/>
          <p:cNvPicPr>
            <a:picLocks noChangeAspect="1"/>
          </p:cNvPicPr>
          <p:nvPr/>
        </p:nvPicPr>
        <p:blipFill>
          <a:blip r:embed="rId4"/>
          <a:stretch>
            <a:fillRect/>
          </a:stretch>
        </p:blipFill>
        <p:spPr>
          <a:xfrm>
            <a:off x="6907835" y="2092147"/>
            <a:ext cx="570586" cy="570586"/>
          </a:xfrm>
          <a:prstGeom prst="rect">
            <a:avLst/>
          </a:prstGeom>
        </p:spPr>
      </p:pic>
      <p:sp>
        <p:nvSpPr>
          <p:cNvPr id="13" name="Text 9"/>
          <p:cNvSpPr txBox="1"/>
          <p:nvPr/>
        </p:nvSpPr>
        <p:spPr>
          <a:xfrm>
            <a:off x="6644488" y="3108960"/>
            <a:ext cx="463280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¿La idea práctica es aplicable, o es un tópico?</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6644488" y="4069080"/>
            <a:ext cx="4632808"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3A4664"/>
                </a:solidFill>
                <a:effectLst/>
                <a:uLnTx/>
                <a:uFillTx/>
                <a:latin typeface="Calibri"/>
                <a:ea typeface="+mn-ea"/>
                <a:cs typeface="+mn-cs"/>
              </a:rPr>
              <a:t>¿Se podría probar en vuestro caso con pocos recursos?</a:t>
            </a:r>
            <a:endParaRPr kumimoji="0" lang="en-US" sz="17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5" name="Text 11"/>
          <p:cNvSpPr txBox="1"/>
          <p:nvPr/>
        </p:nvSpPr>
        <p:spPr>
          <a:xfrm>
            <a:off x="548640" y="52120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D64933"/>
                </a:solidFill>
                <a:effectLst/>
                <a:uLnTx/>
                <a:uFillTx/>
                <a:latin typeface="Calibri"/>
                <a:ea typeface="+mn-ea"/>
                <a:cs typeface="+mn-cs"/>
              </a:rPr>
              <a:t>La IA es muy atrevida provocando. Lo difícil es el movimiento: ahí, vuestro criterio.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56</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6" name="Dónde escribir"/>
          <p:cNvSpPr/>
          <p:nvPr/>
        </p:nvSpPr>
        <p:spPr>
          <a:xfrm>
            <a:off x="5466283" y="6291072"/>
            <a:ext cx="5460796"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Ejercicio 3  ›  Revisión de la tabla de la IA</a:t>
            </a:r>
          </a:p>
        </p:txBody>
      </p:sp>
      <p:sp>
        <p:nvSpPr>
          <p:cNvPr id="27" name="Dónde escribir: círculo"/>
          <p:cNvSpPr/>
          <p:nvPr/>
        </p:nvSpPr>
        <p:spPr>
          <a:xfrm>
            <a:off x="5521147"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5"/>
          <a:stretch>
            <a:fillRect/>
          </a:stretch>
        </p:blipFill>
        <p:spPr>
          <a:xfrm>
            <a:off x="5594299" y="6409944"/>
            <a:ext cx="146304" cy="146304"/>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Elegid vuestras tres mejores propuestas</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1"/>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92–100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Juntad las ideas de SCAMPER y de la provocación, vuestras y de la IA. Justificad cada elección:</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Coste"/>
          <p:cNvSpPr/>
          <p:nvPr/>
        </p:nvSpPr>
        <p:spPr>
          <a:xfrm>
            <a:off x="548640" y="2011680"/>
            <a:ext cx="640080" cy="640080"/>
          </a:xfrm>
          <a:prstGeom prst="ellipse">
            <a:avLst/>
          </a:prstGeom>
          <a:solidFill>
            <a:schemeClr val="accent1"/>
          </a:solidFill>
          <a:ln/>
        </p:spPr>
      </p:sp>
      <p:pic>
        <p:nvPicPr>
          <p:cNvPr id="7" name="Image 0" descr="Coste"/>
          <p:cNvPicPr>
            <a:picLocks noChangeAspect="1"/>
          </p:cNvPicPr>
          <p:nvPr/>
        </p:nvPicPr>
        <p:blipFill>
          <a:blip r:embed="rId3"/>
          <a:stretch>
            <a:fillRect/>
          </a:stretch>
        </p:blipFill>
        <p:spPr>
          <a:xfrm>
            <a:off x="702259" y="2165299"/>
            <a:ext cx="332842" cy="332842"/>
          </a:xfrm>
          <a:prstGeom prst="rect">
            <a:avLst/>
          </a:prstGeom>
        </p:spPr>
      </p:pic>
      <p:sp>
        <p:nvSpPr>
          <p:cNvPr id="8" name="Text 5"/>
          <p:cNvSpPr txBox="1"/>
          <p:nvPr/>
        </p:nvSpPr>
        <p:spPr>
          <a:xfrm>
            <a:off x="132588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Coste</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Beneficio"/>
          <p:cNvSpPr/>
          <p:nvPr/>
        </p:nvSpPr>
        <p:spPr>
          <a:xfrm>
            <a:off x="3474720" y="2011680"/>
            <a:ext cx="640080" cy="640080"/>
          </a:xfrm>
          <a:prstGeom prst="ellipse">
            <a:avLst/>
          </a:prstGeom>
          <a:solidFill>
            <a:schemeClr val="accent1"/>
          </a:solidFill>
          <a:ln/>
        </p:spPr>
      </p:sp>
      <p:pic>
        <p:nvPicPr>
          <p:cNvPr id="10" name="Image 1" descr="Beneficio"/>
          <p:cNvPicPr>
            <a:picLocks noChangeAspect="1"/>
          </p:cNvPicPr>
          <p:nvPr/>
        </p:nvPicPr>
        <p:blipFill>
          <a:blip r:embed="rId4"/>
          <a:stretch>
            <a:fillRect/>
          </a:stretch>
        </p:blipFill>
        <p:spPr>
          <a:xfrm>
            <a:off x="3628339" y="2165299"/>
            <a:ext cx="332842" cy="332842"/>
          </a:xfrm>
          <a:prstGeom prst="rect">
            <a:avLst/>
          </a:prstGeom>
        </p:spPr>
      </p:pic>
      <p:sp>
        <p:nvSpPr>
          <p:cNvPr id="11" name="Text 7"/>
          <p:cNvSpPr txBox="1"/>
          <p:nvPr/>
        </p:nvSpPr>
        <p:spPr>
          <a:xfrm>
            <a:off x="425196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Beneficio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2" name="Facilidad de aplicación"/>
          <p:cNvSpPr/>
          <p:nvPr/>
        </p:nvSpPr>
        <p:spPr>
          <a:xfrm>
            <a:off x="6400800" y="2011680"/>
            <a:ext cx="640080" cy="640080"/>
          </a:xfrm>
          <a:prstGeom prst="ellipse">
            <a:avLst/>
          </a:prstGeom>
          <a:solidFill>
            <a:schemeClr val="accent1"/>
          </a:solidFill>
          <a:ln/>
        </p:spPr>
      </p:sp>
      <p:pic>
        <p:nvPicPr>
          <p:cNvPr id="13" name="Image 2" descr="Facilidad de aplicación"/>
          <p:cNvPicPr>
            <a:picLocks noChangeAspect="1"/>
          </p:cNvPicPr>
          <p:nvPr/>
        </p:nvPicPr>
        <p:blipFill>
          <a:blip r:embed="rId5"/>
          <a:stretch>
            <a:fillRect/>
          </a:stretch>
        </p:blipFill>
        <p:spPr>
          <a:xfrm>
            <a:off x="6554419" y="2165299"/>
            <a:ext cx="332842" cy="332842"/>
          </a:xfrm>
          <a:prstGeom prst="rect">
            <a:avLst/>
          </a:prstGeom>
        </p:spPr>
      </p:pic>
      <p:sp>
        <p:nvSpPr>
          <p:cNvPr id="14" name="Text 9"/>
          <p:cNvSpPr txBox="1"/>
          <p:nvPr/>
        </p:nvSpPr>
        <p:spPr>
          <a:xfrm>
            <a:off x="717804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Facilidad de aplicación</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graphicFrame>
        <p:nvGraphicFramePr>
          <p:cNvPr id="16" name="Table 0"/>
          <p:cNvGraphicFramePr>
            <a:graphicFrameLocks noGrp="1"/>
          </p:cNvGraphicFramePr>
          <p:nvPr/>
        </p:nvGraphicFramePr>
        <p:xfrm>
          <a:off x="548640" y="2971800"/>
          <a:ext cx="11094415" cy="2651760"/>
        </p:xfrm>
        <a:graphic>
          <a:graphicData uri="http://schemas.openxmlformats.org/drawingml/2006/table">
            <a:tbl>
              <a:tblPr/>
              <a:tblGrid>
                <a:gridCol w="3840480">
                  <a:extLst>
                    <a:ext uri="{9D8B030D-6E8A-4147-A177-3AD203B41FA5}">
                      <a16:colId xmlns:a16="http://schemas.microsoft.com/office/drawing/2014/main" val="20000"/>
                    </a:ext>
                  </a:extLst>
                </a:gridCol>
                <a:gridCol w="4967935">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457200">
                <a:tc>
                  <a:txBody>
                    <a:bodyPr/>
                    <a:lstStyle/>
                    <a:p>
                      <a:pPr marL="0" indent="0">
                        <a:buNone/>
                      </a:pPr>
                      <a:r>
                        <a:rPr lang="en-US" sz="1600" b="1" dirty="0">
                          <a:solidFill>
                            <a:schemeClr val="bg1"/>
                          </a:solidFill>
                        </a:rPr>
                        <a:t>Propuesta</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Por qué la elegimos</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Origen</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31520">
                <a:tc>
                  <a:txBody>
                    <a:bodyPr/>
                    <a:lstStyle/>
                    <a:p>
                      <a:pPr marL="0" indent="0">
                        <a:buNone/>
                      </a:pPr>
                      <a:r>
                        <a:rPr lang="en-US" sz="1600" dirty="0">
                          <a:solidFill>
                            <a:schemeClr val="tx1"/>
                          </a:solidFill>
                        </a:rPr>
                        <a:t>1.</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731520">
                <a:tc>
                  <a:txBody>
                    <a:bodyPr/>
                    <a:lstStyle/>
                    <a:p>
                      <a:pPr marL="0" indent="0">
                        <a:buNone/>
                      </a:pPr>
                      <a:r>
                        <a:rPr lang="en-US" sz="1600" dirty="0">
                          <a:solidFill>
                            <a:schemeClr val="tx1"/>
                          </a:solidFill>
                        </a:rPr>
                        <a:t>2.</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r h="731520">
                <a:tc>
                  <a:txBody>
                    <a:bodyPr/>
                    <a:lstStyle/>
                    <a:p>
                      <a:pPr marL="0" indent="0">
                        <a:buNone/>
                      </a:pPr>
                      <a:r>
                        <a:rPr lang="en-US" sz="1600" dirty="0">
                          <a:solidFill>
                            <a:schemeClr val="tx1"/>
                          </a:solidFill>
                        </a:rPr>
                        <a:t>3.</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5" name="Text 10"/>
          <p:cNvSpPr txBox="1"/>
          <p:nvPr/>
        </p:nvSpPr>
        <p:spPr>
          <a:xfrm>
            <a:off x="548640" y="5715000"/>
            <a:ext cx="11094415"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3A4664"/>
                </a:solidFill>
                <a:effectLst/>
                <a:uLnTx/>
                <a:uFillTx/>
                <a:latin typeface="Calibri"/>
                <a:ea typeface="+mn-ea"/>
                <a:cs typeface="+mn-cs"/>
              </a:rPr>
              <a:t>Origen: pareja, IA o combinación de las dos.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57</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6" name="Dónde escribir"/>
          <p:cNvSpPr/>
          <p:nvPr/>
        </p:nvSpPr>
        <p:spPr>
          <a:xfrm>
            <a:off x="5512003" y="6291072"/>
            <a:ext cx="5415076"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2  ›  Las tres mejores propuestas</a:t>
            </a:r>
          </a:p>
        </p:txBody>
      </p:sp>
      <p:sp>
        <p:nvSpPr>
          <p:cNvPr id="27" name="Dónde escribir: círculo"/>
          <p:cNvSpPr/>
          <p:nvPr/>
        </p:nvSpPr>
        <p:spPr>
          <a:xfrm>
            <a:off x="5566867"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6"/>
          <a:stretch>
            <a:fillRect/>
          </a:stretch>
        </p:blipFill>
        <p:spPr>
          <a:xfrm>
            <a:off x="5640019" y="6409944"/>
            <a:ext cx="146304" cy="146304"/>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Puesta en común</a:t>
            </a:r>
            <a:endParaRPr lang="en-US" sz="3200" dirty="0"/>
          </a:p>
        </p:txBody>
      </p:sp>
      <p:sp>
        <p:nvSpPr>
          <p:cNvPr id="3" name="Etiqueta de tiempo"/>
          <p:cNvSpPr/>
          <p:nvPr/>
        </p:nvSpPr>
        <p:spPr>
          <a:xfrm>
            <a:off x="8346643" y="548640"/>
            <a:ext cx="3296412" cy="457200"/>
          </a:xfrm>
          <a:prstGeom prst="roundRect">
            <a:avLst>
              <a:gd name="adj" fmla="val 50000"/>
            </a:avLst>
          </a:prstGeom>
          <a:solidFill>
            <a:schemeClr val="accent1"/>
          </a:solidFill>
          <a:ln/>
        </p:spPr>
      </p:sp>
      <p:sp>
        <p:nvSpPr>
          <p:cNvPr id="4" name="Text 2"/>
          <p:cNvSpPr txBox="1"/>
          <p:nvPr/>
        </p:nvSpPr>
        <p:spPr>
          <a:xfrm>
            <a:off x="8346643" y="548640"/>
            <a:ext cx="329641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92–100 · Todo el grupo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600200"/>
            <a:ext cx="3454298" cy="3566160"/>
          </a:xfrm>
          <a:prstGeom prst="roundRect">
            <a:avLst>
              <a:gd name="adj" fmla="val 3971"/>
            </a:avLst>
          </a:prstGeom>
          <a:solidFill>
            <a:schemeClr val="bg2"/>
          </a:solidFill>
          <a:ln/>
        </p:spPr>
      </p:sp>
      <p:sp>
        <p:nvSpPr>
          <p:cNvPr id="6" name="Pregunta"/>
          <p:cNvSpPr/>
          <p:nvPr/>
        </p:nvSpPr>
        <p:spPr>
          <a:xfrm>
            <a:off x="1681429" y="196596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51253"/>
            <a:ext cx="618134" cy="618134"/>
          </a:xfrm>
          <a:prstGeom prst="rect">
            <a:avLst/>
          </a:prstGeom>
        </p:spPr>
      </p:pic>
      <p:sp>
        <p:nvSpPr>
          <p:cNvPr id="8" name="Text 5"/>
          <p:cNvSpPr txBox="1"/>
          <p:nvPr/>
        </p:nvSpPr>
        <p:spPr>
          <a:xfrm>
            <a:off x="868680"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¿De dónde han salido las propuestas elegidas: de la pareja, de la IA o de una combinación?</a:t>
            </a:r>
          </a:p>
        </p:txBody>
      </p:sp>
      <p:sp>
        <p:nvSpPr>
          <p:cNvPr id="9" name="Tarjeta"/>
          <p:cNvSpPr/>
          <p:nvPr/>
        </p:nvSpPr>
        <p:spPr>
          <a:xfrm>
            <a:off x="4368698" y="1600200"/>
            <a:ext cx="3454298" cy="3566160"/>
          </a:xfrm>
          <a:prstGeom prst="roundRect">
            <a:avLst>
              <a:gd name="adj" fmla="val 3971"/>
            </a:avLst>
          </a:prstGeom>
          <a:solidFill>
            <a:schemeClr val="bg2"/>
          </a:solidFill>
          <a:ln/>
        </p:spPr>
      </p:sp>
      <p:sp>
        <p:nvSpPr>
          <p:cNvPr id="10" name="Pregunta"/>
          <p:cNvSpPr/>
          <p:nvPr/>
        </p:nvSpPr>
        <p:spPr>
          <a:xfrm>
            <a:off x="5501488" y="196596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51253"/>
            <a:ext cx="618134" cy="618134"/>
          </a:xfrm>
          <a:prstGeom prst="rect">
            <a:avLst/>
          </a:prstGeom>
        </p:spPr>
      </p:pic>
      <p:sp>
        <p:nvSpPr>
          <p:cNvPr id="12" name="Text 8"/>
          <p:cNvSpPr txBox="1"/>
          <p:nvPr/>
        </p:nvSpPr>
        <p:spPr>
          <a:xfrm>
            <a:off x="4688738"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¿Qué técnica ha dado ideas más aplicables?</a:t>
            </a:r>
          </a:p>
        </p:txBody>
      </p:sp>
      <p:sp>
        <p:nvSpPr>
          <p:cNvPr id="13" name="Tarjeta"/>
          <p:cNvSpPr/>
          <p:nvPr/>
        </p:nvSpPr>
        <p:spPr>
          <a:xfrm>
            <a:off x="8188757" y="1600200"/>
            <a:ext cx="3454298" cy="3566160"/>
          </a:xfrm>
          <a:prstGeom prst="roundRect">
            <a:avLst>
              <a:gd name="adj" fmla="val 3971"/>
            </a:avLst>
          </a:prstGeom>
          <a:solidFill>
            <a:schemeClr val="bg2"/>
          </a:solidFill>
          <a:ln/>
        </p:spPr>
      </p:sp>
      <p:sp>
        <p:nvSpPr>
          <p:cNvPr id="14" name="Pregunta"/>
          <p:cNvSpPr/>
          <p:nvPr/>
        </p:nvSpPr>
        <p:spPr>
          <a:xfrm>
            <a:off x="9321546" y="196596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51253"/>
            <a:ext cx="618134" cy="618134"/>
          </a:xfrm>
          <a:prstGeom prst="rect">
            <a:avLst/>
          </a:prstGeom>
        </p:spPr>
      </p:pic>
      <p:sp>
        <p:nvSpPr>
          <p:cNvPr id="16" name="Text 11"/>
          <p:cNvSpPr txBox="1"/>
          <p:nvPr/>
        </p:nvSpPr>
        <p:spPr>
          <a:xfrm>
            <a:off x="8508797"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¿Y más originales?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58</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6" name="Dónde escribir"/>
          <p:cNvSpPr/>
          <p:nvPr/>
        </p:nvSpPr>
        <p:spPr>
          <a:xfrm>
            <a:off x="6229807" y="6291072"/>
            <a:ext cx="4697272"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2  ›  Puesta en común</a:t>
            </a:r>
          </a:p>
        </p:txBody>
      </p:sp>
      <p:sp>
        <p:nvSpPr>
          <p:cNvPr id="27" name="Dónde escribir: círculo"/>
          <p:cNvSpPr/>
          <p:nvPr/>
        </p:nvSpPr>
        <p:spPr>
          <a:xfrm>
            <a:off x="6284671"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6"/>
          <a:stretch>
            <a:fillRect/>
          </a:stretch>
        </p:blipFill>
        <p:spPr>
          <a:xfrm>
            <a:off x="6357823" y="6409944"/>
            <a:ext cx="146304" cy="146304"/>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falla aquí?</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100–103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463040"/>
            <a:ext cx="5364328" cy="4023360"/>
          </a:xfrm>
          <a:prstGeom prst="roundRect">
            <a:avLst>
              <a:gd name="adj" fmla="val 3409"/>
            </a:avLst>
          </a:prstGeom>
          <a:solidFill>
            <a:schemeClr val="tx1"/>
          </a:solidFill>
          <a:ln/>
        </p:spPr>
      </p:sp>
      <p:sp>
        <p:nvSpPr>
          <p:cNvPr id="6" name="Prompt"/>
          <p:cNvSpPr/>
          <p:nvPr/>
        </p:nvSpPr>
        <p:spPr>
          <a:xfrm>
            <a:off x="868680" y="1691640"/>
            <a:ext cx="640080" cy="640080"/>
          </a:xfrm>
          <a:prstGeom prst="ellipse">
            <a:avLst/>
          </a:prstGeom>
          <a:solidFill>
            <a:schemeClr val="accent1"/>
          </a:solidFill>
          <a:ln/>
        </p:spPr>
      </p:sp>
      <p:pic>
        <p:nvPicPr>
          <p:cNvPr id="7" name="Image 0" descr="Prompt"/>
          <p:cNvPicPr>
            <a:picLocks noChangeAspect="1"/>
          </p:cNvPicPr>
          <p:nvPr/>
        </p:nvPicPr>
        <p:blipFill>
          <a:blip r:embed="rId3"/>
          <a:stretch>
            <a:fillRect/>
          </a:stretch>
        </p:blipFill>
        <p:spPr>
          <a:xfrm>
            <a:off x="1022299" y="1845259"/>
            <a:ext cx="332842" cy="332842"/>
          </a:xfrm>
          <a:prstGeom prst="rect">
            <a:avLst/>
          </a:prstGeom>
        </p:spPr>
      </p:pic>
      <p:sp>
        <p:nvSpPr>
          <p:cNvPr id="8" name="Text 5"/>
          <p:cNvSpPr txBox="1"/>
          <p:nvPr/>
        </p:nvSpPr>
        <p:spPr>
          <a:xfrm>
            <a:off x="1691640" y="1691640"/>
            <a:ext cx="3901288"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4A300"/>
                </a:solidFill>
                <a:effectLst/>
                <a:uLnTx/>
                <a:uFillTx/>
                <a:latin typeface="Calibri"/>
                <a:ea typeface="+mn-ea"/>
                <a:cs typeface="+mn-cs"/>
              </a:rPr>
              <a:t>El prompt</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868680" y="2514600"/>
            <a:ext cx="4724248" cy="2743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1" u="none" strike="noStrike" kern="1200" cap="none" spc="0" normalizeH="0" baseline="0" noProof="0" dirty="0">
                <a:ln>
                  <a:noFill/>
                </a:ln>
                <a:solidFill>
                  <a:srgbClr val="FFFFFF"/>
                </a:solidFill>
                <a:effectLst/>
                <a:uLnTx/>
                <a:uFillTx/>
                <a:latin typeface="Calibri"/>
                <a:ea typeface="+mn-ea"/>
                <a:cs typeface="+mn-cs"/>
              </a:rPr>
              <a:t>«Nuestra clienta María García Ruiz, de la calle Mayor 12, falta siempre a sus citas y no paga las anulaciones. ¿Cómo reducimos las ausencias?»</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arjeta"/>
          <p:cNvSpPr/>
          <p:nvPr/>
        </p:nvSpPr>
        <p:spPr>
          <a:xfrm>
            <a:off x="6278728" y="1463040"/>
            <a:ext cx="5364328" cy="4023360"/>
          </a:xfrm>
          <a:prstGeom prst="roundRect">
            <a:avLst>
              <a:gd name="adj" fmla="val 3409"/>
            </a:avLst>
          </a:prstGeom>
          <a:solidFill>
            <a:schemeClr val="bg2"/>
          </a:solidFill>
          <a:ln/>
        </p:spPr>
      </p:sp>
      <p:sp>
        <p:nvSpPr>
          <p:cNvPr id="11" name="IA"/>
          <p:cNvSpPr/>
          <p:nvPr/>
        </p:nvSpPr>
        <p:spPr>
          <a:xfrm>
            <a:off x="6598768" y="1691640"/>
            <a:ext cx="640080" cy="640080"/>
          </a:xfrm>
          <a:prstGeom prst="ellipse">
            <a:avLst/>
          </a:prstGeom>
          <a:solidFill>
            <a:schemeClr val="accent2"/>
          </a:solidFill>
          <a:ln/>
        </p:spPr>
      </p:sp>
      <p:pic>
        <p:nvPicPr>
          <p:cNvPr id="12" name="Image 1" descr="IA"/>
          <p:cNvPicPr>
            <a:picLocks noChangeAspect="1"/>
          </p:cNvPicPr>
          <p:nvPr/>
        </p:nvPicPr>
        <p:blipFill>
          <a:blip r:embed="rId4"/>
          <a:stretch>
            <a:fillRect/>
          </a:stretch>
        </p:blipFill>
        <p:spPr>
          <a:xfrm>
            <a:off x="6752387" y="1845259"/>
            <a:ext cx="332842" cy="332842"/>
          </a:xfrm>
          <a:prstGeom prst="rect">
            <a:avLst/>
          </a:prstGeom>
        </p:spPr>
      </p:pic>
      <p:sp>
        <p:nvSpPr>
          <p:cNvPr id="13" name="Text 9"/>
          <p:cNvSpPr txBox="1"/>
          <p:nvPr/>
        </p:nvSpPr>
        <p:spPr>
          <a:xfrm>
            <a:off x="7421728" y="1691640"/>
            <a:ext cx="3901288"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F7C70"/>
                </a:solidFill>
                <a:effectLst/>
                <a:uLnTx/>
                <a:uFillTx/>
                <a:latin typeface="Calibri"/>
                <a:ea typeface="+mn-ea"/>
                <a:cs typeface="+mn-cs"/>
              </a:rPr>
              <a:t>La respuesta de la IA</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6598768" y="2514600"/>
            <a:ext cx="4724248" cy="2834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1F2A44"/>
                </a:solidFill>
                <a:effectLst/>
                <a:uLnTx/>
                <a:uFillTx/>
                <a:latin typeface="Calibri"/>
                <a:ea typeface="+mn-ea"/>
                <a:cs typeface="+mn-cs"/>
              </a:rPr>
              <a:t>«Según un estudio de la Universidad de Salamanca de 2023, enviar recordatorios reduce las ausencias un 47 %. Os recomiendo activar la función de recordatorios automáticos gratuita que incluye vuestra aplicación de mensajería. También podéis cobrar una fianza del 50 % al reservar; es la práctica habitual en todas las peluquerías».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5" name="Text 11"/>
          <p:cNvSpPr txBox="1"/>
          <p:nvPr/>
        </p:nvSpPr>
        <p:spPr>
          <a:xfrm>
            <a:off x="548640" y="566928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Por parejas: encontrad todos los problemas.</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59</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6" name="Dónde escribir"/>
          <p:cNvSpPr/>
          <p:nvPr/>
        </p:nvSpPr>
        <p:spPr>
          <a:xfrm>
            <a:off x="6305702" y="6291072"/>
            <a:ext cx="4621377"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2  ›  ¿Qué falla aquí?</a:t>
            </a:r>
          </a:p>
        </p:txBody>
      </p:sp>
      <p:sp>
        <p:nvSpPr>
          <p:cNvPr id="27" name="Dónde escribir: círculo"/>
          <p:cNvSpPr/>
          <p:nvPr/>
        </p:nvSpPr>
        <p:spPr>
          <a:xfrm>
            <a:off x="6360566"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5"/>
          <a:stretch>
            <a:fillRect/>
          </a:stretch>
        </p:blipFill>
        <p:spPr>
          <a:xfrm>
            <a:off x="6433718" y="6409944"/>
            <a:ext cx="146304" cy="146304"/>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Cuatro problemas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103–105</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463040"/>
            <a:ext cx="5364328" cy="1737360"/>
          </a:xfrm>
          <a:prstGeom prst="roundRect">
            <a:avLst>
              <a:gd name="adj" fmla="val 7895"/>
            </a:avLst>
          </a:prstGeom>
          <a:solidFill>
            <a:schemeClr val="bg2"/>
          </a:solidFill>
          <a:ln/>
        </p:spPr>
      </p:sp>
      <p:sp>
        <p:nvSpPr>
          <p:cNvPr id="6" name="Datos personales en el prompt"/>
          <p:cNvSpPr/>
          <p:nvPr/>
        </p:nvSpPr>
        <p:spPr>
          <a:xfrm>
            <a:off x="822960" y="1737360"/>
            <a:ext cx="777240" cy="777240"/>
          </a:xfrm>
          <a:prstGeom prst="ellipse">
            <a:avLst/>
          </a:prstGeom>
          <a:solidFill>
            <a:schemeClr val="accent3"/>
          </a:solidFill>
          <a:ln/>
        </p:spPr>
      </p:sp>
      <p:pic>
        <p:nvPicPr>
          <p:cNvPr id="7" name="Image 0" descr="Datos personales en el prompt"/>
          <p:cNvPicPr>
            <a:picLocks noChangeAspect="1"/>
          </p:cNvPicPr>
          <p:nvPr/>
        </p:nvPicPr>
        <p:blipFill>
          <a:blip r:embed="rId3"/>
          <a:stretch>
            <a:fillRect/>
          </a:stretch>
        </p:blipFill>
        <p:spPr>
          <a:xfrm>
            <a:off x="1009498" y="1923898"/>
            <a:ext cx="404165" cy="404165"/>
          </a:xfrm>
          <a:prstGeom prst="rect">
            <a:avLst/>
          </a:prstGeom>
        </p:spPr>
      </p:pic>
      <p:sp>
        <p:nvSpPr>
          <p:cNvPr id="8" name="Text 5"/>
          <p:cNvSpPr txBox="1"/>
          <p:nvPr/>
        </p:nvSpPr>
        <p:spPr>
          <a:xfrm>
            <a:off x="1828800" y="169164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Datos personales en el prompt</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1828800" y="219456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Nombre, apellidos y dirección de una clienta. Bastaba con «algunos clientes faltan a sus citas».</a:t>
            </a:r>
          </a:p>
        </p:txBody>
      </p:sp>
      <p:sp>
        <p:nvSpPr>
          <p:cNvPr id="10" name="Tarjeta"/>
          <p:cNvSpPr/>
          <p:nvPr/>
        </p:nvSpPr>
        <p:spPr>
          <a:xfrm>
            <a:off x="6278728" y="1463040"/>
            <a:ext cx="5364328" cy="1737360"/>
          </a:xfrm>
          <a:prstGeom prst="roundRect">
            <a:avLst>
              <a:gd name="adj" fmla="val 7895"/>
            </a:avLst>
          </a:prstGeom>
          <a:solidFill>
            <a:schemeClr val="bg2"/>
          </a:solidFill>
          <a:ln/>
        </p:spPr>
      </p:sp>
      <p:sp>
        <p:nvSpPr>
          <p:cNvPr id="11" name="Estudio y cifra sin verificar"/>
          <p:cNvSpPr/>
          <p:nvPr/>
        </p:nvSpPr>
        <p:spPr>
          <a:xfrm>
            <a:off x="6553048" y="1737360"/>
            <a:ext cx="777240" cy="777240"/>
          </a:xfrm>
          <a:prstGeom prst="ellipse">
            <a:avLst/>
          </a:prstGeom>
          <a:solidFill>
            <a:schemeClr val="accent3"/>
          </a:solidFill>
          <a:ln/>
        </p:spPr>
      </p:sp>
      <p:pic>
        <p:nvPicPr>
          <p:cNvPr id="12" name="Image 1" descr="Estudio y cifra sin verificar"/>
          <p:cNvPicPr>
            <a:picLocks noChangeAspect="1"/>
          </p:cNvPicPr>
          <p:nvPr/>
        </p:nvPicPr>
        <p:blipFill>
          <a:blip r:embed="rId4"/>
          <a:stretch>
            <a:fillRect/>
          </a:stretch>
        </p:blipFill>
        <p:spPr>
          <a:xfrm>
            <a:off x="6739585" y="1923898"/>
            <a:ext cx="404165" cy="404165"/>
          </a:xfrm>
          <a:prstGeom prst="rect">
            <a:avLst/>
          </a:prstGeom>
        </p:spPr>
      </p:pic>
      <p:sp>
        <p:nvSpPr>
          <p:cNvPr id="13" name="Text 9"/>
          <p:cNvSpPr txBox="1"/>
          <p:nvPr/>
        </p:nvSpPr>
        <p:spPr>
          <a:xfrm>
            <a:off x="7558888" y="169164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Estudio y cifra sin verificar</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7558888" y="219456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Pueden ser inventados. Hay que comprobar la fuente antes de usarlos.</a:t>
            </a:r>
          </a:p>
        </p:txBody>
      </p:sp>
      <p:sp>
        <p:nvSpPr>
          <p:cNvPr id="15" name="Tarjeta"/>
          <p:cNvSpPr/>
          <p:nvPr/>
        </p:nvSpPr>
        <p:spPr>
          <a:xfrm>
            <a:off x="548640" y="3429000"/>
            <a:ext cx="5364328" cy="1737360"/>
          </a:xfrm>
          <a:prstGeom prst="roundRect">
            <a:avLst>
              <a:gd name="adj" fmla="val 7895"/>
            </a:avLst>
          </a:prstGeom>
          <a:solidFill>
            <a:schemeClr val="bg2"/>
          </a:solidFill>
          <a:ln/>
        </p:spPr>
      </p:sp>
      <p:sp>
        <p:nvSpPr>
          <p:cNvPr id="16" name="Una función que puede no existir"/>
          <p:cNvSpPr/>
          <p:nvPr/>
        </p:nvSpPr>
        <p:spPr>
          <a:xfrm>
            <a:off x="822960" y="3703320"/>
            <a:ext cx="777240" cy="777240"/>
          </a:xfrm>
          <a:prstGeom prst="ellipse">
            <a:avLst/>
          </a:prstGeom>
          <a:solidFill>
            <a:schemeClr val="accent3"/>
          </a:solidFill>
          <a:ln/>
        </p:spPr>
      </p:sp>
      <p:pic>
        <p:nvPicPr>
          <p:cNvPr id="17" name="Image 2" descr="Una función que puede no existir"/>
          <p:cNvPicPr>
            <a:picLocks noChangeAspect="1"/>
          </p:cNvPicPr>
          <p:nvPr/>
        </p:nvPicPr>
        <p:blipFill>
          <a:blip r:embed="rId5"/>
          <a:stretch>
            <a:fillRect/>
          </a:stretch>
        </p:blipFill>
        <p:spPr>
          <a:xfrm>
            <a:off x="1009498" y="3889858"/>
            <a:ext cx="404165" cy="404165"/>
          </a:xfrm>
          <a:prstGeom prst="rect">
            <a:avLst/>
          </a:prstGeom>
        </p:spPr>
      </p:pic>
      <p:sp>
        <p:nvSpPr>
          <p:cNvPr id="18" name="Text 13"/>
          <p:cNvSpPr txBox="1"/>
          <p:nvPr/>
        </p:nvSpPr>
        <p:spPr>
          <a:xfrm>
            <a:off x="1828800" y="365760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Una función que puede no existir</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4"/>
          <p:cNvSpPr txBox="1"/>
          <p:nvPr/>
        </p:nvSpPr>
        <p:spPr>
          <a:xfrm>
            <a:off x="1828800" y="416052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Antes de proponerla, comprobar que la herramienta la tiene y que es gratuita.</a:t>
            </a:r>
          </a:p>
        </p:txBody>
      </p:sp>
      <p:sp>
        <p:nvSpPr>
          <p:cNvPr id="20" name="Tarjeta"/>
          <p:cNvSpPr/>
          <p:nvPr/>
        </p:nvSpPr>
        <p:spPr>
          <a:xfrm>
            <a:off x="6278728" y="3429000"/>
            <a:ext cx="5364328" cy="1737360"/>
          </a:xfrm>
          <a:prstGeom prst="roundRect">
            <a:avLst>
              <a:gd name="adj" fmla="val 7895"/>
            </a:avLst>
          </a:prstGeom>
          <a:solidFill>
            <a:schemeClr val="bg2"/>
          </a:solidFill>
          <a:ln/>
        </p:spPr>
      </p:sp>
      <p:sp>
        <p:nvSpPr>
          <p:cNvPr id="21" name="Una generalización falsa"/>
          <p:cNvSpPr/>
          <p:nvPr/>
        </p:nvSpPr>
        <p:spPr>
          <a:xfrm>
            <a:off x="6553048" y="3703320"/>
            <a:ext cx="777240" cy="777240"/>
          </a:xfrm>
          <a:prstGeom prst="ellipse">
            <a:avLst/>
          </a:prstGeom>
          <a:solidFill>
            <a:schemeClr val="accent3"/>
          </a:solidFill>
          <a:ln/>
        </p:spPr>
      </p:sp>
      <p:pic>
        <p:nvPicPr>
          <p:cNvPr id="22" name="Image 3" descr="Una generalización falsa"/>
          <p:cNvPicPr>
            <a:picLocks noChangeAspect="1"/>
          </p:cNvPicPr>
          <p:nvPr/>
        </p:nvPicPr>
        <p:blipFill>
          <a:blip r:embed="rId6"/>
          <a:stretch>
            <a:fillRect/>
          </a:stretch>
        </p:blipFill>
        <p:spPr>
          <a:xfrm>
            <a:off x="6739585" y="3889858"/>
            <a:ext cx="404165" cy="404165"/>
          </a:xfrm>
          <a:prstGeom prst="rect">
            <a:avLst/>
          </a:prstGeom>
        </p:spPr>
      </p:pic>
      <p:sp>
        <p:nvSpPr>
          <p:cNvPr id="23" name="Text 17"/>
          <p:cNvSpPr txBox="1"/>
          <p:nvPr/>
        </p:nvSpPr>
        <p:spPr>
          <a:xfrm>
            <a:off x="7558888" y="365760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Una generalización falsa</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Text 18"/>
          <p:cNvSpPr txBox="1"/>
          <p:nvPr/>
        </p:nvSpPr>
        <p:spPr>
          <a:xfrm>
            <a:off x="7558888" y="416052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práctica habitual en todas las peluquerías» no está demostrado, y una fianza puede ahuyentar clientes.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4A300"/>
                </a:solidFill>
                <a:effectLst/>
                <a:uLnTx/>
                <a:uFillTx/>
                <a:latin typeface="Calibri"/>
                <a:ea typeface="+mn-ea"/>
                <a:cs typeface="+mn-cs"/>
              </a:rPr>
              <a:t>Idea clave del bloque 2</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IA puede inventar funciones, cifras o estudios: cada idea se revisa antes de aceptarla.</a:t>
            </a:r>
            <a:endParaRPr lang="en-US" sz="3400" dirty="0"/>
          </a:p>
          <a:p>
            <a:pPr marL="0" indent="0">
              <a:buNone/>
            </a:pPr>
            <a:r>
              <a:rPr lang="en-US" sz="3400" b="1" dirty="0">
                <a:solidFill>
                  <a:schemeClr val="accent1"/>
                </a:solidFill>
              </a:rPr>
              <a:t>En los prompts se describe el proceso, nunca a las personas.</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3</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Comparar, decidir y documentar</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 · por parejas</a:t>
            </a:r>
            <a:endParaRPr lang="en-US" sz="2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tx2"/>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105–113</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La matriz de decisión</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113–140</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Ejercicio 4: elegir la ganadora</a:t>
            </a:r>
            <a:endParaRPr lang="en-US" sz="1700" dirty="0"/>
          </a:p>
        </p:txBody>
      </p:sp>
      <p:sp>
        <p:nvSpPr>
          <p:cNvPr id="10" name="Paso 3"/>
          <p:cNvSpPr/>
          <p:nvPr/>
        </p:nvSpPr>
        <p:spPr>
          <a:xfrm>
            <a:off x="5478628" y="1760220"/>
            <a:ext cx="1234440" cy="1234440"/>
          </a:xfrm>
          <a:prstGeom prst="ellipse">
            <a:avLst/>
          </a:prstGeom>
          <a:solidFill>
            <a:schemeClr val="tx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140–145</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Una propuesta en una página</a:t>
            </a:r>
            <a:endParaRPr lang="en-US" sz="1700" dirty="0"/>
          </a:p>
        </p:txBody>
      </p:sp>
      <p:sp>
        <p:nvSpPr>
          <p:cNvPr id="13" name="Paso 4"/>
          <p:cNvSpPr/>
          <p:nvPr/>
        </p:nvSpPr>
        <p:spPr>
          <a:xfrm>
            <a:off x="7697511" y="1760220"/>
            <a:ext cx="1234440" cy="1234440"/>
          </a:xfrm>
          <a:prstGeom prst="ellipse">
            <a:avLst/>
          </a:prstGeom>
          <a:solidFill>
            <a:schemeClr val="accent2"/>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145–160</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Ficha exprés de la ganadora</a:t>
            </a:r>
            <a:endParaRPr lang="en-US" sz="1700" dirty="0"/>
          </a:p>
        </p:txBody>
      </p:sp>
      <p:sp>
        <p:nvSpPr>
          <p:cNvPr id="16" name="Paso 5"/>
          <p:cNvSpPr/>
          <p:nvPr/>
        </p:nvSpPr>
        <p:spPr>
          <a:xfrm>
            <a:off x="9916394" y="1760220"/>
            <a:ext cx="1234440" cy="1234440"/>
          </a:xfrm>
          <a:prstGeom prst="ellipse">
            <a:avLst/>
          </a:prstGeom>
          <a:solidFill>
            <a:schemeClr val="tx2"/>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160–165</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Síntesis</a:t>
            </a:r>
            <a:endParaRPr lang="en-US" sz="1700" dirty="0"/>
          </a:p>
        </p:txBody>
      </p:sp>
      <p:sp>
        <p:nvSpPr>
          <p:cNvPr id="19" name="Personas"/>
          <p:cNvSpPr/>
          <p:nvPr/>
        </p:nvSpPr>
        <p:spPr>
          <a:xfrm>
            <a:off x="548640" y="4846320"/>
            <a:ext cx="548640" cy="548640"/>
          </a:xfrm>
          <a:prstGeom prst="ellipse">
            <a:avLst/>
          </a:prstGeom>
          <a:solidFill>
            <a:schemeClr val="accent1"/>
          </a:solidFill>
          <a:ln/>
        </p:spPr>
      </p:sp>
      <p:pic>
        <p:nvPicPr>
          <p:cNvPr id="20" name="Image 0" descr="Personas"/>
          <p:cNvPicPr>
            <a:picLocks noChangeAspect="1"/>
          </p:cNvPicPr>
          <p:nvPr/>
        </p:nvPicPr>
        <p:blipFill>
          <a:blip r:embed="rId3"/>
          <a:stretch>
            <a:fillRect/>
          </a:stretch>
        </p:blipFill>
        <p:spPr>
          <a:xfrm>
            <a:off x="680314" y="4977994"/>
            <a:ext cx="285293" cy="285293"/>
          </a:xfrm>
          <a:prstGeom prst="rect">
            <a:avLst/>
          </a:prstGeom>
        </p:spPr>
      </p:pic>
      <p:sp>
        <p:nvSpPr>
          <p:cNvPr id="21" name="Text 18"/>
          <p:cNvSpPr txBox="1"/>
          <p:nvPr/>
        </p:nvSpPr>
        <p:spPr>
          <a:xfrm>
            <a:off x="123444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Ámbar: piensa la pareja</a:t>
            </a:r>
            <a:endParaRPr lang="en-US" sz="1600" dirty="0"/>
          </a:p>
        </p:txBody>
      </p:sp>
      <p:sp>
        <p:nvSpPr>
          <p:cNvPr id="22" name="IA"/>
          <p:cNvSpPr/>
          <p:nvPr/>
        </p:nvSpPr>
        <p:spPr>
          <a:xfrm>
            <a:off x="5394960" y="4846320"/>
            <a:ext cx="548640" cy="548640"/>
          </a:xfrm>
          <a:prstGeom prst="ellipse">
            <a:avLst/>
          </a:prstGeom>
          <a:solidFill>
            <a:schemeClr val="accent2"/>
          </a:solidFill>
          <a:ln/>
        </p:spPr>
      </p:sp>
      <p:pic>
        <p:nvPicPr>
          <p:cNvPr id="23" name="Image 1" descr="IA"/>
          <p:cNvPicPr>
            <a:picLocks noChangeAspect="1"/>
          </p:cNvPicPr>
          <p:nvPr/>
        </p:nvPicPr>
        <p:blipFill>
          <a:blip r:embed="rId4"/>
          <a:stretch>
            <a:fillRect/>
          </a:stretch>
        </p:blipFill>
        <p:spPr>
          <a:xfrm>
            <a:off x="5526634" y="4977994"/>
            <a:ext cx="285293" cy="285293"/>
          </a:xfrm>
          <a:prstGeom prst="rect">
            <a:avLst/>
          </a:prstGeom>
        </p:spPr>
      </p:pic>
      <p:sp>
        <p:nvSpPr>
          <p:cNvPr id="24" name="Text 20"/>
          <p:cNvSpPr txBox="1"/>
          <p:nvPr/>
        </p:nvSpPr>
        <p:spPr>
          <a:xfrm>
            <a:off x="608076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Verde: trabajamos con la IA</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matriz de decisión</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propuesta se puntúa del 1 al 5 en cuatro criterios. Cada criterio pesa distinto:</a:t>
            </a:r>
            <a:endParaRPr lang="en-US" sz="1900" dirty="0"/>
          </a:p>
        </p:txBody>
      </p:sp>
      <p:sp>
        <p:nvSpPr>
          <p:cNvPr id="6" name="Impacto"/>
          <p:cNvSpPr/>
          <p:nvPr/>
        </p:nvSpPr>
        <p:spPr>
          <a:xfrm>
            <a:off x="548640" y="2148840"/>
            <a:ext cx="3883045" cy="1463040"/>
          </a:xfrm>
          <a:prstGeom prst="rect">
            <a:avLst/>
          </a:prstGeom>
          <a:solidFill>
            <a:schemeClr val="accent1"/>
          </a:solidFill>
          <a:ln w="25400">
            <a:solidFill>
              <a:srgbClr val="FFFFFF"/>
            </a:solidFill>
            <a:prstDash val="solid"/>
          </a:ln>
        </p:spPr>
      </p:sp>
      <p:sp>
        <p:nvSpPr>
          <p:cNvPr id="7" name="Text 5"/>
          <p:cNvSpPr txBox="1"/>
          <p:nvPr/>
        </p:nvSpPr>
        <p:spPr>
          <a:xfrm>
            <a:off x="640080" y="2148840"/>
            <a:ext cx="3700165" cy="1463040"/>
          </a:xfrm>
          <a:prstGeom prst="rect">
            <a:avLst/>
          </a:prstGeom>
          <a:noFill/>
          <a:ln/>
        </p:spPr>
        <p:txBody>
          <a:bodyPr wrap="square" lIns="0" tIns="0" rIns="0" bIns="0" rtlCol="0" anchor="ctr"/>
          <a:lstStyle/>
          <a:p>
            <a:pPr marL="0" indent="0" algn="ctr">
              <a:buNone/>
            </a:pPr>
            <a:r>
              <a:rPr lang="en-US" sz="4000" b="1" dirty="0">
                <a:solidFill>
                  <a:schemeClr val="tx1"/>
                </a:solidFill>
              </a:rPr>
              <a:t>35 %</a:t>
            </a:r>
            <a:endParaRPr lang="en-US" sz="4000" dirty="0"/>
          </a:p>
          <a:p>
            <a:pPr marL="0" indent="0" algn="ctr">
              <a:buNone/>
            </a:pPr>
            <a:r>
              <a:rPr lang="en-US" sz="1900" b="1" dirty="0">
                <a:solidFill>
                  <a:schemeClr val="tx1"/>
                </a:solidFill>
              </a:rPr>
              <a:t>Impacto</a:t>
            </a:r>
            <a:endParaRPr lang="en-US" sz="4000" dirty="0"/>
          </a:p>
        </p:txBody>
      </p:sp>
      <p:sp>
        <p:nvSpPr>
          <p:cNvPr id="8" name="Viabilidad"/>
          <p:cNvSpPr/>
          <p:nvPr/>
        </p:nvSpPr>
        <p:spPr>
          <a:xfrm>
            <a:off x="4431685" y="2148840"/>
            <a:ext cx="3328325" cy="1463040"/>
          </a:xfrm>
          <a:prstGeom prst="rect">
            <a:avLst/>
          </a:prstGeom>
          <a:solidFill>
            <a:schemeClr val="accent2"/>
          </a:solidFill>
          <a:ln w="25400">
            <a:solidFill>
              <a:srgbClr val="FFFFFF"/>
            </a:solidFill>
            <a:prstDash val="solid"/>
          </a:ln>
        </p:spPr>
      </p:sp>
      <p:sp>
        <p:nvSpPr>
          <p:cNvPr id="9" name="Text 7"/>
          <p:cNvSpPr txBox="1"/>
          <p:nvPr/>
        </p:nvSpPr>
        <p:spPr>
          <a:xfrm>
            <a:off x="4523125" y="2148840"/>
            <a:ext cx="3145445" cy="1463040"/>
          </a:xfrm>
          <a:prstGeom prst="rect">
            <a:avLst/>
          </a:prstGeom>
          <a:noFill/>
          <a:ln/>
        </p:spPr>
        <p:txBody>
          <a:bodyPr wrap="square" lIns="0" tIns="0" rIns="0" bIns="0" rtlCol="0" anchor="ctr"/>
          <a:lstStyle/>
          <a:p>
            <a:pPr marL="0" indent="0" algn="ctr">
              <a:buNone/>
            </a:pPr>
            <a:r>
              <a:rPr lang="en-US" sz="4000" b="1" dirty="0">
                <a:solidFill>
                  <a:schemeClr val="bg1"/>
                </a:solidFill>
              </a:rPr>
              <a:t>30 %</a:t>
            </a:r>
            <a:endParaRPr lang="en-US" sz="4000" dirty="0"/>
          </a:p>
          <a:p>
            <a:pPr marL="0" indent="0" algn="ctr">
              <a:buNone/>
            </a:pPr>
            <a:r>
              <a:rPr lang="en-US" sz="1900" b="1" dirty="0">
                <a:solidFill>
                  <a:schemeClr val="bg1"/>
                </a:solidFill>
              </a:rPr>
              <a:t>Viabilidad</a:t>
            </a:r>
            <a:endParaRPr lang="en-US" sz="4000" dirty="0"/>
          </a:p>
        </p:txBody>
      </p:sp>
      <p:sp>
        <p:nvSpPr>
          <p:cNvPr id="10" name="Bajo coste"/>
          <p:cNvSpPr/>
          <p:nvPr/>
        </p:nvSpPr>
        <p:spPr>
          <a:xfrm>
            <a:off x="7760010" y="2148840"/>
            <a:ext cx="2218883" cy="1463040"/>
          </a:xfrm>
          <a:prstGeom prst="rect">
            <a:avLst/>
          </a:prstGeom>
          <a:solidFill>
            <a:schemeClr val="accent4"/>
          </a:solidFill>
          <a:ln w="25400">
            <a:solidFill>
              <a:srgbClr val="FFFFFF"/>
            </a:solidFill>
            <a:prstDash val="solid"/>
          </a:ln>
        </p:spPr>
      </p:sp>
      <p:sp>
        <p:nvSpPr>
          <p:cNvPr id="11" name="Text 9"/>
          <p:cNvSpPr txBox="1"/>
          <p:nvPr/>
        </p:nvSpPr>
        <p:spPr>
          <a:xfrm>
            <a:off x="7851450" y="2148840"/>
            <a:ext cx="2036003" cy="1463040"/>
          </a:xfrm>
          <a:prstGeom prst="rect">
            <a:avLst/>
          </a:prstGeom>
          <a:noFill/>
          <a:ln/>
        </p:spPr>
        <p:txBody>
          <a:bodyPr wrap="square" lIns="0" tIns="0" rIns="0" bIns="0" rtlCol="0" anchor="ctr"/>
          <a:lstStyle/>
          <a:p>
            <a:pPr marL="0" indent="0" algn="ctr">
              <a:buNone/>
            </a:pPr>
            <a:r>
              <a:rPr lang="en-US" sz="4000" b="1" dirty="0">
                <a:solidFill>
                  <a:schemeClr val="bg1"/>
                </a:solidFill>
              </a:rPr>
              <a:t>20 %</a:t>
            </a:r>
            <a:endParaRPr lang="en-US" sz="4000" dirty="0"/>
          </a:p>
          <a:p>
            <a:pPr marL="0" indent="0" algn="ctr">
              <a:buNone/>
            </a:pPr>
            <a:r>
              <a:rPr lang="en-US" sz="1900" b="1" dirty="0">
                <a:solidFill>
                  <a:schemeClr val="bg1"/>
                </a:solidFill>
              </a:rPr>
              <a:t>Bajo coste</a:t>
            </a:r>
            <a:endParaRPr lang="en-US" sz="4000" dirty="0"/>
          </a:p>
        </p:txBody>
      </p:sp>
      <p:sp>
        <p:nvSpPr>
          <p:cNvPr id="12" name="Originalidad"/>
          <p:cNvSpPr/>
          <p:nvPr/>
        </p:nvSpPr>
        <p:spPr>
          <a:xfrm>
            <a:off x="9978893" y="2148840"/>
            <a:ext cx="1664162" cy="1463040"/>
          </a:xfrm>
          <a:prstGeom prst="rect">
            <a:avLst/>
          </a:prstGeom>
          <a:solidFill>
            <a:schemeClr val="accent3"/>
          </a:solidFill>
          <a:ln w="25400">
            <a:solidFill>
              <a:srgbClr val="FFFFFF"/>
            </a:solidFill>
            <a:prstDash val="solid"/>
          </a:ln>
        </p:spPr>
      </p:sp>
      <p:sp>
        <p:nvSpPr>
          <p:cNvPr id="13" name="Text 11"/>
          <p:cNvSpPr txBox="1"/>
          <p:nvPr/>
        </p:nvSpPr>
        <p:spPr>
          <a:xfrm>
            <a:off x="10070333" y="2148840"/>
            <a:ext cx="1481282" cy="1463040"/>
          </a:xfrm>
          <a:prstGeom prst="rect">
            <a:avLst/>
          </a:prstGeom>
          <a:noFill/>
          <a:ln/>
        </p:spPr>
        <p:txBody>
          <a:bodyPr wrap="square" lIns="0" tIns="0" rIns="0" bIns="0" rtlCol="0" anchor="ctr"/>
          <a:lstStyle/>
          <a:p>
            <a:pPr marL="0" indent="0" algn="ctr">
              <a:buNone/>
            </a:pPr>
            <a:r>
              <a:rPr lang="en-US" sz="4000" b="1" dirty="0">
                <a:solidFill>
                  <a:schemeClr val="bg1"/>
                </a:solidFill>
              </a:rPr>
              <a:t>15 %</a:t>
            </a:r>
            <a:endParaRPr lang="en-US" sz="4000" dirty="0"/>
          </a:p>
          <a:p>
            <a:pPr marL="0" indent="0" algn="ctr">
              <a:buNone/>
            </a:pPr>
            <a:r>
              <a:rPr lang="en-US" sz="1900" b="1" dirty="0">
                <a:solidFill>
                  <a:schemeClr val="bg1"/>
                </a:solidFill>
              </a:rPr>
              <a:t>Originalidad</a:t>
            </a:r>
            <a:endParaRPr lang="en-US" sz="4000" dirty="0"/>
          </a:p>
        </p:txBody>
      </p:sp>
      <p:sp>
        <p:nvSpPr>
          <p:cNvPr id="14" name="Text 12"/>
          <p:cNvSpPr txBox="1"/>
          <p:nvPr/>
        </p:nvSpPr>
        <p:spPr>
          <a:xfrm>
            <a:off x="548640" y="3749040"/>
            <a:ext cx="11094415" cy="411480"/>
          </a:xfrm>
          <a:prstGeom prst="rect">
            <a:avLst/>
          </a:prstGeom>
          <a:noFill/>
          <a:ln/>
        </p:spPr>
        <p:txBody>
          <a:bodyPr wrap="square" lIns="0" tIns="0" rIns="0" bIns="0" rtlCol="0" anchor="ctr"/>
          <a:lstStyle/>
          <a:p>
            <a:pPr marL="0" indent="0" algn="r">
              <a:buNone/>
            </a:pPr>
            <a:r>
              <a:rPr lang="en-US" sz="1600" i="1" dirty="0">
                <a:solidFill>
                  <a:schemeClr val="tx2"/>
                </a:solidFill>
              </a:rPr>
              <a:t>Total: 100 %</a:t>
            </a:r>
            <a:endParaRPr lang="en-US" sz="1600" dirty="0"/>
          </a:p>
        </p:txBody>
      </p:sp>
      <p:sp>
        <p:nvSpPr>
          <p:cNvPr id="15" name="Tarjeta"/>
          <p:cNvSpPr/>
          <p:nvPr/>
        </p:nvSpPr>
        <p:spPr>
          <a:xfrm>
            <a:off x="548640" y="4343400"/>
            <a:ext cx="11094415" cy="960120"/>
          </a:xfrm>
          <a:prstGeom prst="roundRect">
            <a:avLst>
              <a:gd name="adj" fmla="val 14286"/>
            </a:avLst>
          </a:prstGeom>
          <a:solidFill>
            <a:schemeClr val="bg2"/>
          </a:solidFill>
          <a:ln/>
        </p:spPr>
      </p:sp>
      <p:sp>
        <p:nvSpPr>
          <p:cNvPr id="16" name="Atención"/>
          <p:cNvSpPr/>
          <p:nvPr/>
        </p:nvSpPr>
        <p:spPr>
          <a:xfrm>
            <a:off x="822960" y="4498848"/>
            <a:ext cx="640080" cy="640080"/>
          </a:xfrm>
          <a:prstGeom prst="ellipse">
            <a:avLst/>
          </a:prstGeom>
          <a:solidFill>
            <a:schemeClr val="accent4"/>
          </a:solidFill>
          <a:ln/>
        </p:spPr>
      </p:sp>
      <p:pic>
        <p:nvPicPr>
          <p:cNvPr id="17" name="Image 0" descr="Atención"/>
          <p:cNvPicPr>
            <a:picLocks noChangeAspect="1"/>
          </p:cNvPicPr>
          <p:nvPr/>
        </p:nvPicPr>
        <p:blipFill>
          <a:blip r:embed="rId3"/>
          <a:stretch>
            <a:fillRect/>
          </a:stretch>
        </p:blipFill>
        <p:spPr>
          <a:xfrm>
            <a:off x="976579" y="4652467"/>
            <a:ext cx="332842" cy="332842"/>
          </a:xfrm>
          <a:prstGeom prst="rect">
            <a:avLst/>
          </a:prstGeom>
        </p:spPr>
      </p:pic>
      <p:sp>
        <p:nvSpPr>
          <p:cNvPr id="18" name="Text 15"/>
          <p:cNvSpPr txBox="1"/>
          <p:nvPr/>
        </p:nvSpPr>
        <p:spPr>
          <a:xfrm>
            <a:off x="1645920" y="4343400"/>
            <a:ext cx="9722815" cy="960120"/>
          </a:xfrm>
          <a:prstGeom prst="rect">
            <a:avLst/>
          </a:prstGeom>
          <a:noFill/>
          <a:ln/>
        </p:spPr>
        <p:txBody>
          <a:bodyPr wrap="square" lIns="0" tIns="0" rIns="0" bIns="0" rtlCol="0" anchor="ctr"/>
          <a:lstStyle/>
          <a:p>
            <a:pPr marL="0" indent="0">
              <a:buNone/>
            </a:pPr>
            <a:r>
              <a:rPr lang="en-US" sz="1900" b="1" dirty="0">
                <a:solidFill>
                  <a:schemeClr val="tx1"/>
                </a:solidFill>
              </a:rPr>
              <a:t>Ojo con «Bajo coste»: </a:t>
            </a:r>
            <a:r>
              <a:rPr lang="en-US" sz="1900" dirty="0">
                <a:solidFill>
                  <a:schemeClr val="tx1"/>
                </a:solidFill>
              </a:rPr>
              <a:t>un 5 significa muy económica, no muy cara.</a:t>
            </a:r>
            <a:endParaRPr lang="en-US" sz="1900" dirty="0"/>
          </a:p>
        </p:txBody>
      </p:sp>
      <p:sp>
        <p:nvSpPr>
          <p:cNvPr id="19" name="Text 16"/>
          <p:cNvSpPr txBox="1"/>
          <p:nvPr/>
        </p:nvSpPr>
        <p:spPr>
          <a:xfrm>
            <a:off x="548640" y="5532120"/>
            <a:ext cx="11094415" cy="457200"/>
          </a:xfrm>
          <a:prstGeom prst="rect">
            <a:avLst/>
          </a:prstGeom>
          <a:noFill/>
          <a:ln/>
        </p:spPr>
        <p:txBody>
          <a:bodyPr wrap="square" lIns="0" tIns="0" rIns="0" bIns="0" rtlCol="0" anchor="ctr"/>
          <a:lstStyle/>
          <a:p>
            <a:pPr marL="0" indent="0">
              <a:buNone/>
            </a:pPr>
            <a:r>
              <a:rPr lang="en-US" sz="1900" b="1" dirty="0">
                <a:solidFill>
                  <a:schemeClr val="accent3"/>
                </a:solidFill>
              </a:rPr>
              <a:t>La matriz es una ayuda para razonar, no una prueba objetiva.</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Calculadlo vosotros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Con la calculadora del móvil, calculad el resultado de la propuesta que os toque:</a:t>
            </a:r>
            <a:endParaRPr lang="en-US" sz="1900" dirty="0"/>
          </a:p>
        </p:txBody>
      </p:sp>
      <p:graphicFrame>
        <p:nvGraphicFramePr>
          <p:cNvPr id="6" name="Table 0"/>
          <p:cNvGraphicFramePr>
            <a:graphicFrameLocks noGrp="1"/>
          </p:cNvGraphicFramePr>
          <p:nvPr/>
        </p:nvGraphicFramePr>
        <p:xfrm>
          <a:off x="548640" y="1965960"/>
          <a:ext cx="11094415" cy="2697480"/>
        </p:xfrm>
        <a:graphic>
          <a:graphicData uri="http://schemas.openxmlformats.org/drawingml/2006/table">
            <a:tbl>
              <a:tblPr/>
              <a:tblGrid>
                <a:gridCol w="3047695">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tblGrid>
              <a:tr h="777240">
                <a:tc>
                  <a:txBody>
                    <a:bodyPr/>
                    <a:lstStyle/>
                    <a:p>
                      <a:pPr marL="0" indent="0" algn="ctr">
                        <a:buNone/>
                      </a:pPr>
                      <a:r>
                        <a:rPr lang="en-US" sz="1800" b="1" dirty="0">
                          <a:solidFill>
                            <a:schemeClr val="bg1"/>
                          </a:solidFill>
                        </a:rPr>
                        <a:t>Propuesta</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Impacto</a:t>
                      </a:r>
                      <a:endParaRPr lang="en-US" sz="1800" dirty="0"/>
                    </a:p>
                    <a:p>
                      <a:pPr marL="0" indent="0" algn="ctr">
                        <a:buNone/>
                      </a:pPr>
                      <a:r>
                        <a:rPr lang="en-US" sz="1800" b="1" dirty="0">
                          <a:solidFill>
                            <a:schemeClr val="tx1"/>
                          </a:solidFill>
                        </a:rPr>
                        <a:t>35 %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Viabilidad</a:t>
                      </a:r>
                      <a:endParaRPr lang="en-US" sz="1800" dirty="0"/>
                    </a:p>
                    <a:p>
                      <a:pPr marL="0" indent="0" algn="ctr">
                        <a:buNone/>
                      </a:pPr>
                      <a:r>
                        <a:rPr lang="en-US" sz="1800" b="1" dirty="0">
                          <a:solidFill>
                            <a:schemeClr val="bg1"/>
                          </a:solidFill>
                        </a:rPr>
                        <a:t>30 %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2"/>
                    </a:solidFill>
                  </a:tcPr>
                </a:tc>
                <a:tc>
                  <a:txBody>
                    <a:bodyPr/>
                    <a:lstStyle/>
                    <a:p>
                      <a:pPr marL="0" indent="0" algn="ctr">
                        <a:buNone/>
                      </a:pPr>
                      <a:r>
                        <a:rPr lang="en-US" sz="1800" b="1" dirty="0">
                          <a:solidFill>
                            <a:schemeClr val="bg1"/>
                          </a:solidFill>
                        </a:rPr>
                        <a:t>Bajo coste</a:t>
                      </a:r>
                      <a:endParaRPr lang="en-US" sz="1800" dirty="0"/>
                    </a:p>
                    <a:p>
                      <a:pPr marL="0" indent="0" algn="ctr">
                        <a:buNone/>
                      </a:pPr>
                      <a:r>
                        <a:rPr lang="en-US" sz="1800" b="1" dirty="0">
                          <a:solidFill>
                            <a:schemeClr val="bg1"/>
                          </a:solidFill>
                        </a:rPr>
                        <a:t>20 %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4"/>
                    </a:solidFill>
                  </a:tcPr>
                </a:tc>
                <a:tc>
                  <a:txBody>
                    <a:bodyPr/>
                    <a:lstStyle/>
                    <a:p>
                      <a:pPr marL="0" indent="0" algn="ctr">
                        <a:buNone/>
                      </a:pPr>
                      <a:r>
                        <a:rPr lang="en-US" sz="1800" b="1" dirty="0">
                          <a:solidFill>
                            <a:schemeClr val="bg1"/>
                          </a:solidFill>
                        </a:rPr>
                        <a:t>Originalidad</a:t>
                      </a:r>
                      <a:endParaRPr lang="en-US" sz="1800" dirty="0"/>
                    </a:p>
                    <a:p>
                      <a:pPr marL="0" indent="0" algn="ctr">
                        <a:buNone/>
                      </a:pPr>
                      <a:r>
                        <a:rPr lang="en-US" sz="1800" b="1" dirty="0">
                          <a:solidFill>
                            <a:schemeClr val="bg1"/>
                          </a:solidFill>
                        </a:rPr>
                        <a:t>15 %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lgn="ctr">
                        <a:buNone/>
                      </a:pPr>
                      <a:r>
                        <a:rPr lang="en-US" sz="1800" b="1" dirty="0">
                          <a:solidFill>
                            <a:schemeClr val="bg1"/>
                          </a:solidFill>
                        </a:rPr>
                        <a:t>Resultado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40080">
                <a:tc>
                  <a:txBody>
                    <a:bodyPr/>
                    <a:lstStyle/>
                    <a:p>
                      <a:pPr marL="0" indent="0">
                        <a:buNone/>
                      </a:pPr>
                      <a:r>
                        <a:rPr lang="en-US" sz="1800" b="1" dirty="0">
                          <a:solidFill>
                            <a:schemeClr val="tx1"/>
                          </a:solidFill>
                        </a:rPr>
                        <a:t>Reserva por internet</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640080">
                <a:tc>
                  <a:txBody>
                    <a:bodyPr/>
                    <a:lstStyle/>
                    <a:p>
                      <a:pPr marL="0" indent="0">
                        <a:buNone/>
                      </a:pPr>
                      <a:r>
                        <a:rPr lang="en-US" sz="1800" b="1" dirty="0">
                          <a:solidFill>
                            <a:schemeClr val="tx1"/>
                          </a:solidFill>
                        </a:rPr>
                        <a:t>Turno visible en el móvil</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2</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640080">
                <a:tc>
                  <a:txBody>
                    <a:bodyPr/>
                    <a:lstStyle/>
                    <a:p>
                      <a:pPr marL="0" indent="0">
                        <a:buNone/>
                      </a:pPr>
                      <a:r>
                        <a:rPr lang="en-US" sz="1800" b="1" dirty="0">
                          <a:solidFill>
                            <a:schemeClr val="tx1"/>
                          </a:solidFill>
                        </a:rPr>
                        <a:t>Abono con cita fija</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arjeta"/>
          <p:cNvSpPr/>
          <p:nvPr/>
        </p:nvSpPr>
        <p:spPr>
          <a:xfrm>
            <a:off x="548640" y="4983480"/>
            <a:ext cx="11094415" cy="960120"/>
          </a:xfrm>
          <a:prstGeom prst="roundRect">
            <a:avLst>
              <a:gd name="adj" fmla="val 14286"/>
            </a:avLst>
          </a:prstGeom>
          <a:solidFill>
            <a:schemeClr val="bg2"/>
          </a:solidFill>
          <a:ln/>
        </p:spPr>
      </p:sp>
      <p:sp>
        <p:nvSpPr>
          <p:cNvPr id="8" name="Calculadora"/>
          <p:cNvSpPr/>
          <p:nvPr/>
        </p:nvSpPr>
        <p:spPr>
          <a:xfrm>
            <a:off x="822960" y="5138928"/>
            <a:ext cx="640080" cy="640080"/>
          </a:xfrm>
          <a:prstGeom prst="ellipse">
            <a:avLst/>
          </a:prstGeom>
          <a:solidFill>
            <a:schemeClr val="accent1"/>
          </a:solidFill>
          <a:ln/>
        </p:spPr>
      </p:sp>
      <p:pic>
        <p:nvPicPr>
          <p:cNvPr id="9" name="Image 0" descr="Calculadora"/>
          <p:cNvPicPr>
            <a:picLocks noChangeAspect="1"/>
          </p:cNvPicPr>
          <p:nvPr/>
        </p:nvPicPr>
        <p:blipFill>
          <a:blip r:embed="rId3"/>
          <a:stretch>
            <a:fillRect/>
          </a:stretch>
        </p:blipFill>
        <p:spPr>
          <a:xfrm>
            <a:off x="976579" y="5292547"/>
            <a:ext cx="332842" cy="332842"/>
          </a:xfrm>
          <a:prstGeom prst="rect">
            <a:avLst/>
          </a:prstGeom>
        </p:spPr>
      </p:pic>
      <p:sp>
        <p:nvSpPr>
          <p:cNvPr id="10" name="Text 6"/>
          <p:cNvSpPr txBox="1"/>
          <p:nvPr/>
        </p:nvSpPr>
        <p:spPr>
          <a:xfrm>
            <a:off x="1645920" y="4983480"/>
            <a:ext cx="9722815" cy="960120"/>
          </a:xfrm>
          <a:prstGeom prst="rect">
            <a:avLst/>
          </a:prstGeom>
          <a:noFill/>
          <a:ln/>
        </p:spPr>
        <p:txBody>
          <a:bodyPr wrap="square" lIns="0" tIns="0" rIns="0" bIns="0" rtlCol="0" anchor="ctr"/>
          <a:lstStyle/>
          <a:p>
            <a:pPr marL="0" indent="0">
              <a:buNone/>
            </a:pPr>
            <a:r>
              <a:rPr lang="en-US" sz="2000" b="1" dirty="0">
                <a:solidFill>
                  <a:schemeClr val="tx1"/>
                </a:solidFill>
              </a:rPr>
              <a:t>Impacto × 0,35  +  Viabilidad × 0,30  +  Bajo coste × 0,20  +  Originalidad × 0,15</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Los resultados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graphicFrame>
        <p:nvGraphicFramePr>
          <p:cNvPr id="6" name="Table 0"/>
          <p:cNvGraphicFramePr>
            <a:graphicFrameLocks noGrp="1"/>
          </p:cNvGraphicFramePr>
          <p:nvPr/>
        </p:nvGraphicFramePr>
        <p:xfrm>
          <a:off x="548640" y="1417320"/>
          <a:ext cx="11094415" cy="2697480"/>
        </p:xfrm>
        <a:graphic>
          <a:graphicData uri="http://schemas.openxmlformats.org/drawingml/2006/table">
            <a:tbl>
              <a:tblPr/>
              <a:tblGrid>
                <a:gridCol w="3047695">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tblGrid>
              <a:tr h="777240">
                <a:tc>
                  <a:txBody>
                    <a:bodyPr/>
                    <a:lstStyle/>
                    <a:p>
                      <a:pPr marL="0" indent="0" algn="ctr">
                        <a:buNone/>
                      </a:pPr>
                      <a:r>
                        <a:rPr lang="en-US" sz="1800" b="1" dirty="0">
                          <a:solidFill>
                            <a:schemeClr val="bg1"/>
                          </a:solidFill>
                        </a:rPr>
                        <a:t>Propuesta</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Impacto</a:t>
                      </a:r>
                      <a:endParaRPr lang="en-US" sz="1800" dirty="0"/>
                    </a:p>
                    <a:p>
                      <a:pPr marL="0" indent="0" algn="ctr">
                        <a:buNone/>
                      </a:pPr>
                      <a:r>
                        <a:rPr lang="en-US" sz="1800" b="1" dirty="0">
                          <a:solidFill>
                            <a:schemeClr val="tx1"/>
                          </a:solidFill>
                        </a:rPr>
                        <a:t>35 %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Viabilidad</a:t>
                      </a:r>
                      <a:endParaRPr lang="en-US" sz="1800" dirty="0"/>
                    </a:p>
                    <a:p>
                      <a:pPr marL="0" indent="0" algn="ctr">
                        <a:buNone/>
                      </a:pPr>
                      <a:r>
                        <a:rPr lang="en-US" sz="1800" b="1" dirty="0">
                          <a:solidFill>
                            <a:schemeClr val="bg1"/>
                          </a:solidFill>
                        </a:rPr>
                        <a:t>30 %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2"/>
                    </a:solidFill>
                  </a:tcPr>
                </a:tc>
                <a:tc>
                  <a:txBody>
                    <a:bodyPr/>
                    <a:lstStyle/>
                    <a:p>
                      <a:pPr marL="0" indent="0" algn="ctr">
                        <a:buNone/>
                      </a:pPr>
                      <a:r>
                        <a:rPr lang="en-US" sz="1800" b="1" dirty="0">
                          <a:solidFill>
                            <a:schemeClr val="bg1"/>
                          </a:solidFill>
                        </a:rPr>
                        <a:t>Bajo coste</a:t>
                      </a:r>
                      <a:endParaRPr lang="en-US" sz="1800" dirty="0"/>
                    </a:p>
                    <a:p>
                      <a:pPr marL="0" indent="0" algn="ctr">
                        <a:buNone/>
                      </a:pPr>
                      <a:r>
                        <a:rPr lang="en-US" sz="1800" b="1" dirty="0">
                          <a:solidFill>
                            <a:schemeClr val="bg1"/>
                          </a:solidFill>
                        </a:rPr>
                        <a:t>20 %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4"/>
                    </a:solidFill>
                  </a:tcPr>
                </a:tc>
                <a:tc>
                  <a:txBody>
                    <a:bodyPr/>
                    <a:lstStyle/>
                    <a:p>
                      <a:pPr marL="0" indent="0" algn="ctr">
                        <a:buNone/>
                      </a:pPr>
                      <a:r>
                        <a:rPr lang="en-US" sz="1800" b="1" dirty="0">
                          <a:solidFill>
                            <a:schemeClr val="bg1"/>
                          </a:solidFill>
                        </a:rPr>
                        <a:t>Originalidad</a:t>
                      </a:r>
                      <a:endParaRPr lang="en-US" sz="1800" dirty="0"/>
                    </a:p>
                    <a:p>
                      <a:pPr marL="0" indent="0" algn="ctr">
                        <a:buNone/>
                      </a:pPr>
                      <a:r>
                        <a:rPr lang="en-US" sz="1800" b="1" dirty="0">
                          <a:solidFill>
                            <a:schemeClr val="bg1"/>
                          </a:solidFill>
                        </a:rPr>
                        <a:t>15 %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lgn="ctr">
                        <a:buNone/>
                      </a:pPr>
                      <a:r>
                        <a:rPr lang="en-US" sz="1800" b="1" dirty="0">
                          <a:solidFill>
                            <a:schemeClr val="bg1"/>
                          </a:solidFill>
                        </a:rPr>
                        <a:t>Resultado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40080">
                <a:tc>
                  <a:txBody>
                    <a:bodyPr/>
                    <a:lstStyle/>
                    <a:p>
                      <a:pPr marL="0" indent="0">
                        <a:buNone/>
                      </a:pPr>
                      <a:r>
                        <a:rPr lang="en-US" sz="1800" b="1" dirty="0">
                          <a:solidFill>
                            <a:schemeClr val="tx1"/>
                          </a:solidFill>
                        </a:rPr>
                        <a:t>Reserva por internet</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4,35</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640080">
                <a:tc>
                  <a:txBody>
                    <a:bodyPr/>
                    <a:lstStyle/>
                    <a:p>
                      <a:pPr marL="0" indent="0">
                        <a:buNone/>
                      </a:pPr>
                      <a:r>
                        <a:rPr lang="en-US" sz="1800" b="1" dirty="0">
                          <a:solidFill>
                            <a:schemeClr val="tx1"/>
                          </a:solidFill>
                        </a:rPr>
                        <a:t>Turno visible en el móvil</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2</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3,30</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640080">
                <a:tc>
                  <a:txBody>
                    <a:bodyPr/>
                    <a:lstStyle/>
                    <a:p>
                      <a:pPr marL="0" indent="0">
                        <a:buNone/>
                      </a:pPr>
                      <a:r>
                        <a:rPr lang="en-US" sz="1800" b="1" dirty="0">
                          <a:solidFill>
                            <a:schemeClr val="tx1"/>
                          </a:solidFill>
                        </a:rPr>
                        <a:t>Abono con cita fija</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4,20</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3"/>
          <p:cNvSpPr txBox="1"/>
          <p:nvPr/>
        </p:nvSpPr>
        <p:spPr>
          <a:xfrm>
            <a:off x="548640" y="4434840"/>
            <a:ext cx="11094415" cy="411480"/>
          </a:xfrm>
          <a:prstGeom prst="rect">
            <a:avLst/>
          </a:prstGeom>
          <a:noFill/>
          <a:ln/>
        </p:spPr>
        <p:txBody>
          <a:bodyPr wrap="square" lIns="0" tIns="0" rIns="0" bIns="0" rtlCol="0" anchor="ctr"/>
          <a:lstStyle/>
          <a:p>
            <a:pPr marL="0" indent="0">
              <a:buNone/>
            </a:pPr>
            <a:r>
              <a:rPr lang="en-US" sz="1700" b="1" dirty="0">
                <a:solidFill>
                  <a:schemeClr val="tx2"/>
                </a:solidFill>
              </a:rPr>
              <a:t>Ejemplo, la reserva por internet:</a:t>
            </a:r>
            <a:endParaRPr lang="en-US" sz="1700" dirty="0"/>
          </a:p>
        </p:txBody>
      </p:sp>
      <p:sp>
        <p:nvSpPr>
          <p:cNvPr id="7" name="Tarjeta"/>
          <p:cNvSpPr/>
          <p:nvPr/>
        </p:nvSpPr>
        <p:spPr>
          <a:xfrm>
            <a:off x="548640" y="4937760"/>
            <a:ext cx="1965960" cy="868680"/>
          </a:xfrm>
          <a:prstGeom prst="roundRect">
            <a:avLst>
              <a:gd name="adj" fmla="val 15789"/>
            </a:avLst>
          </a:prstGeom>
          <a:solidFill>
            <a:schemeClr val="bg2"/>
          </a:solidFill>
          <a:ln/>
        </p:spPr>
      </p:sp>
      <p:sp>
        <p:nvSpPr>
          <p:cNvPr id="8" name="Text 5"/>
          <p:cNvSpPr txBox="1"/>
          <p:nvPr/>
        </p:nvSpPr>
        <p:spPr>
          <a:xfrm>
            <a:off x="54864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4 × 0,35 = </a:t>
            </a:r>
            <a:r>
              <a:rPr lang="en-US" sz="1800" b="1" dirty="0">
                <a:solidFill>
                  <a:schemeClr val="tx1"/>
                </a:solidFill>
              </a:rPr>
              <a:t>1,40</a:t>
            </a:r>
            <a:endParaRPr lang="en-US" sz="1800" dirty="0"/>
          </a:p>
        </p:txBody>
      </p:sp>
      <p:sp>
        <p:nvSpPr>
          <p:cNvPr id="9" name="Text 6"/>
          <p:cNvSpPr txBox="1"/>
          <p:nvPr/>
        </p:nvSpPr>
        <p:spPr>
          <a:xfrm>
            <a:off x="251460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0" name="Tarjeta"/>
          <p:cNvSpPr/>
          <p:nvPr/>
        </p:nvSpPr>
        <p:spPr>
          <a:xfrm>
            <a:off x="2926080" y="4937760"/>
            <a:ext cx="1965960" cy="868680"/>
          </a:xfrm>
          <a:prstGeom prst="roundRect">
            <a:avLst>
              <a:gd name="adj" fmla="val 15789"/>
            </a:avLst>
          </a:prstGeom>
          <a:solidFill>
            <a:schemeClr val="bg2"/>
          </a:solidFill>
          <a:ln/>
        </p:spPr>
      </p:sp>
      <p:sp>
        <p:nvSpPr>
          <p:cNvPr id="11" name="Text 8"/>
          <p:cNvSpPr txBox="1"/>
          <p:nvPr/>
        </p:nvSpPr>
        <p:spPr>
          <a:xfrm>
            <a:off x="292608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5 × 0,30 = </a:t>
            </a:r>
            <a:r>
              <a:rPr lang="en-US" sz="1800" b="1" dirty="0">
                <a:solidFill>
                  <a:schemeClr val="tx1"/>
                </a:solidFill>
              </a:rPr>
              <a:t>1,50</a:t>
            </a:r>
            <a:endParaRPr lang="en-US" sz="1800" dirty="0"/>
          </a:p>
        </p:txBody>
      </p:sp>
      <p:sp>
        <p:nvSpPr>
          <p:cNvPr id="12" name="Text 9"/>
          <p:cNvSpPr txBox="1"/>
          <p:nvPr/>
        </p:nvSpPr>
        <p:spPr>
          <a:xfrm>
            <a:off x="489204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3" name="Tarjeta"/>
          <p:cNvSpPr/>
          <p:nvPr/>
        </p:nvSpPr>
        <p:spPr>
          <a:xfrm>
            <a:off x="5303520" y="4937760"/>
            <a:ext cx="1965960" cy="868680"/>
          </a:xfrm>
          <a:prstGeom prst="roundRect">
            <a:avLst>
              <a:gd name="adj" fmla="val 15789"/>
            </a:avLst>
          </a:prstGeom>
          <a:solidFill>
            <a:schemeClr val="bg2"/>
          </a:solidFill>
          <a:ln/>
        </p:spPr>
      </p:sp>
      <p:sp>
        <p:nvSpPr>
          <p:cNvPr id="14" name="Text 11"/>
          <p:cNvSpPr txBox="1"/>
          <p:nvPr/>
        </p:nvSpPr>
        <p:spPr>
          <a:xfrm>
            <a:off x="530352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5 × 0,20 = </a:t>
            </a:r>
            <a:r>
              <a:rPr lang="en-US" sz="1800" b="1" dirty="0">
                <a:solidFill>
                  <a:schemeClr val="tx1"/>
                </a:solidFill>
              </a:rPr>
              <a:t>1,00</a:t>
            </a:r>
            <a:endParaRPr lang="en-US" sz="1800" dirty="0"/>
          </a:p>
        </p:txBody>
      </p:sp>
      <p:sp>
        <p:nvSpPr>
          <p:cNvPr id="15" name="Text 12"/>
          <p:cNvSpPr txBox="1"/>
          <p:nvPr/>
        </p:nvSpPr>
        <p:spPr>
          <a:xfrm>
            <a:off x="726948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6" name="Tarjeta"/>
          <p:cNvSpPr/>
          <p:nvPr/>
        </p:nvSpPr>
        <p:spPr>
          <a:xfrm>
            <a:off x="7680960" y="4937760"/>
            <a:ext cx="1965960" cy="868680"/>
          </a:xfrm>
          <a:prstGeom prst="roundRect">
            <a:avLst>
              <a:gd name="adj" fmla="val 15789"/>
            </a:avLst>
          </a:prstGeom>
          <a:solidFill>
            <a:schemeClr val="bg2"/>
          </a:solidFill>
          <a:ln/>
        </p:spPr>
      </p:sp>
      <p:sp>
        <p:nvSpPr>
          <p:cNvPr id="17" name="Text 14"/>
          <p:cNvSpPr txBox="1"/>
          <p:nvPr/>
        </p:nvSpPr>
        <p:spPr>
          <a:xfrm>
            <a:off x="768096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3 × 0,15 = </a:t>
            </a:r>
            <a:r>
              <a:rPr lang="en-US" sz="1800" b="1" dirty="0">
                <a:solidFill>
                  <a:schemeClr val="tx1"/>
                </a:solidFill>
              </a:rPr>
              <a:t>0,45</a:t>
            </a:r>
            <a:endParaRPr lang="en-US" sz="1800" dirty="0"/>
          </a:p>
        </p:txBody>
      </p:sp>
      <p:sp>
        <p:nvSpPr>
          <p:cNvPr id="18" name="Text 15"/>
          <p:cNvSpPr txBox="1"/>
          <p:nvPr/>
        </p:nvSpPr>
        <p:spPr>
          <a:xfrm>
            <a:off x="964692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9" name="Resultado"/>
          <p:cNvSpPr/>
          <p:nvPr/>
        </p:nvSpPr>
        <p:spPr>
          <a:xfrm>
            <a:off x="10058400" y="4937760"/>
            <a:ext cx="1584655" cy="868680"/>
          </a:xfrm>
          <a:prstGeom prst="roundRect">
            <a:avLst>
              <a:gd name="adj" fmla="val 15789"/>
            </a:avLst>
          </a:prstGeom>
          <a:solidFill>
            <a:schemeClr val="accent3"/>
          </a:solidFill>
          <a:ln/>
        </p:spPr>
      </p:sp>
      <p:sp>
        <p:nvSpPr>
          <p:cNvPr id="20" name="Text 17"/>
          <p:cNvSpPr txBox="1"/>
          <p:nvPr/>
        </p:nvSpPr>
        <p:spPr>
          <a:xfrm>
            <a:off x="10058400" y="4937760"/>
            <a:ext cx="1584655" cy="868680"/>
          </a:xfrm>
          <a:prstGeom prst="rect">
            <a:avLst/>
          </a:prstGeom>
          <a:noFill/>
          <a:ln/>
        </p:spPr>
        <p:txBody>
          <a:bodyPr wrap="square" lIns="0" tIns="0" rIns="0" bIns="0" rtlCol="0" anchor="ctr"/>
          <a:lstStyle/>
          <a:p>
            <a:pPr marL="0" indent="0" algn="ctr">
              <a:buNone/>
            </a:pPr>
            <a:r>
              <a:rPr lang="en-US" sz="2600" b="1" dirty="0">
                <a:solidFill>
                  <a:schemeClr val="bg1"/>
                </a:solidFill>
              </a:rPr>
              <a:t>4,35</a:t>
            </a:r>
            <a:endParaRPr lang="en-US" sz="2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fórmula en Excel o Google Sheets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Si las puntuaciones están en las columnas B a E, en la celda F2:</a:t>
            </a:r>
            <a:endParaRPr lang="en-US" sz="1900" dirty="0"/>
          </a:p>
        </p:txBody>
      </p:sp>
      <p:sp>
        <p:nvSpPr>
          <p:cNvPr id="6" name="Fórmula"/>
          <p:cNvSpPr/>
          <p:nvPr/>
        </p:nvSpPr>
        <p:spPr>
          <a:xfrm>
            <a:off x="548640" y="2011680"/>
            <a:ext cx="11094415" cy="1188720"/>
          </a:xfrm>
          <a:prstGeom prst="roundRect">
            <a:avLst>
              <a:gd name="adj" fmla="val 9231"/>
            </a:avLst>
          </a:prstGeom>
          <a:solidFill>
            <a:schemeClr val="tx1"/>
          </a:solidFill>
          <a:ln/>
        </p:spPr>
      </p:sp>
      <p:sp>
        <p:nvSpPr>
          <p:cNvPr id="7" name="Text 5"/>
          <p:cNvSpPr txBox="1"/>
          <p:nvPr/>
        </p:nvSpPr>
        <p:spPr>
          <a:xfrm>
            <a:off x="548640" y="2011680"/>
            <a:ext cx="11094415" cy="1188720"/>
          </a:xfrm>
          <a:prstGeom prst="rect">
            <a:avLst/>
          </a:prstGeom>
          <a:noFill/>
          <a:ln/>
        </p:spPr>
        <p:txBody>
          <a:bodyPr wrap="square" lIns="0" tIns="0" rIns="0" bIns="0" rtlCol="0" anchor="ctr"/>
          <a:lstStyle/>
          <a:p>
            <a:pPr marL="0" indent="0" algn="ctr">
              <a:buNone/>
            </a:pPr>
            <a:r>
              <a:rPr lang="en-US" sz="3600" b="1" dirty="0">
                <a:solidFill>
                  <a:schemeClr val="accent1"/>
                </a:solidFill>
                <a:latin typeface="Courier New" pitchFamily="34" charset="0"/>
                <a:ea typeface="Courier New" pitchFamily="34" charset="-122"/>
                <a:cs typeface="Courier New" pitchFamily="34" charset="-120"/>
              </a:rPr>
              <a:t>=B2*35%+C2*30%+D2*20%+E2*15%</a:t>
            </a:r>
            <a:endParaRPr lang="en-US" sz="3600" dirty="0"/>
          </a:p>
        </p:txBody>
      </p:sp>
      <p:sp>
        <p:nvSpPr>
          <p:cNvPr id="8" name="Columna B"/>
          <p:cNvSpPr/>
          <p:nvPr/>
        </p:nvSpPr>
        <p:spPr>
          <a:xfrm>
            <a:off x="548640" y="3474720"/>
            <a:ext cx="2567864" cy="822960"/>
          </a:xfrm>
          <a:prstGeom prst="roundRect">
            <a:avLst>
              <a:gd name="adj" fmla="val 13333"/>
            </a:avLst>
          </a:prstGeom>
          <a:solidFill>
            <a:schemeClr val="accent1"/>
          </a:solidFill>
          <a:ln/>
        </p:spPr>
      </p:sp>
      <p:sp>
        <p:nvSpPr>
          <p:cNvPr id="9" name="Text 7"/>
          <p:cNvSpPr txBox="1"/>
          <p:nvPr/>
        </p:nvSpPr>
        <p:spPr>
          <a:xfrm>
            <a:off x="548640" y="3474720"/>
            <a:ext cx="2567864" cy="822960"/>
          </a:xfrm>
          <a:prstGeom prst="rect">
            <a:avLst/>
          </a:prstGeom>
          <a:noFill/>
          <a:ln/>
        </p:spPr>
        <p:txBody>
          <a:bodyPr wrap="square" lIns="0" tIns="0" rIns="0" bIns="0" rtlCol="0" anchor="ctr"/>
          <a:lstStyle/>
          <a:p>
            <a:pPr marL="0" indent="0" algn="ctr">
              <a:buNone/>
            </a:pPr>
            <a:r>
              <a:rPr lang="en-US" sz="1800" b="1" dirty="0">
                <a:solidFill>
                  <a:schemeClr val="tx1"/>
                </a:solidFill>
              </a:rPr>
              <a:t>Columna B  </a:t>
            </a:r>
            <a:r>
              <a:rPr lang="en-US" sz="1800" dirty="0">
                <a:solidFill>
                  <a:schemeClr val="tx1"/>
                </a:solidFill>
              </a:rPr>
              <a:t>Impacto</a:t>
            </a:r>
            <a:endParaRPr lang="en-US" sz="1800" dirty="0"/>
          </a:p>
        </p:txBody>
      </p:sp>
      <p:sp>
        <p:nvSpPr>
          <p:cNvPr id="10" name="Columna C"/>
          <p:cNvSpPr/>
          <p:nvPr/>
        </p:nvSpPr>
        <p:spPr>
          <a:xfrm>
            <a:off x="3390824" y="3474720"/>
            <a:ext cx="2567864" cy="822960"/>
          </a:xfrm>
          <a:prstGeom prst="roundRect">
            <a:avLst>
              <a:gd name="adj" fmla="val 13333"/>
            </a:avLst>
          </a:prstGeom>
          <a:solidFill>
            <a:schemeClr val="accent2"/>
          </a:solidFill>
          <a:ln/>
        </p:spPr>
      </p:sp>
      <p:sp>
        <p:nvSpPr>
          <p:cNvPr id="11" name="Text 9"/>
          <p:cNvSpPr txBox="1"/>
          <p:nvPr/>
        </p:nvSpPr>
        <p:spPr>
          <a:xfrm>
            <a:off x="3390824"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C  </a:t>
            </a:r>
            <a:r>
              <a:rPr lang="en-US" sz="1800" dirty="0">
                <a:solidFill>
                  <a:schemeClr val="bg1"/>
                </a:solidFill>
              </a:rPr>
              <a:t>Viabilidad</a:t>
            </a:r>
            <a:endParaRPr lang="en-US" sz="1800" dirty="0"/>
          </a:p>
        </p:txBody>
      </p:sp>
      <p:sp>
        <p:nvSpPr>
          <p:cNvPr id="12" name="Columna D"/>
          <p:cNvSpPr/>
          <p:nvPr/>
        </p:nvSpPr>
        <p:spPr>
          <a:xfrm>
            <a:off x="6233008" y="3474720"/>
            <a:ext cx="2567864" cy="822960"/>
          </a:xfrm>
          <a:prstGeom prst="roundRect">
            <a:avLst>
              <a:gd name="adj" fmla="val 13333"/>
            </a:avLst>
          </a:prstGeom>
          <a:solidFill>
            <a:schemeClr val="accent4"/>
          </a:solidFill>
          <a:ln/>
        </p:spPr>
      </p:sp>
      <p:sp>
        <p:nvSpPr>
          <p:cNvPr id="13" name="Text 11"/>
          <p:cNvSpPr txBox="1"/>
          <p:nvPr/>
        </p:nvSpPr>
        <p:spPr>
          <a:xfrm>
            <a:off x="6233008"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D  </a:t>
            </a:r>
            <a:r>
              <a:rPr lang="en-US" sz="1800" dirty="0">
                <a:solidFill>
                  <a:schemeClr val="bg1"/>
                </a:solidFill>
              </a:rPr>
              <a:t>Bajo coste</a:t>
            </a:r>
            <a:endParaRPr lang="en-US" sz="1800" dirty="0"/>
          </a:p>
        </p:txBody>
      </p:sp>
      <p:sp>
        <p:nvSpPr>
          <p:cNvPr id="14" name="Columna E"/>
          <p:cNvSpPr/>
          <p:nvPr/>
        </p:nvSpPr>
        <p:spPr>
          <a:xfrm>
            <a:off x="9075191" y="3474720"/>
            <a:ext cx="2567864" cy="822960"/>
          </a:xfrm>
          <a:prstGeom prst="roundRect">
            <a:avLst>
              <a:gd name="adj" fmla="val 13333"/>
            </a:avLst>
          </a:prstGeom>
          <a:solidFill>
            <a:schemeClr val="accent3"/>
          </a:solidFill>
          <a:ln/>
        </p:spPr>
      </p:sp>
      <p:sp>
        <p:nvSpPr>
          <p:cNvPr id="15" name="Text 13"/>
          <p:cNvSpPr txBox="1"/>
          <p:nvPr/>
        </p:nvSpPr>
        <p:spPr>
          <a:xfrm>
            <a:off x="9075191"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E  </a:t>
            </a:r>
            <a:r>
              <a:rPr lang="en-US" sz="1800" dirty="0">
                <a:solidFill>
                  <a:schemeClr val="bg1"/>
                </a:solidFill>
              </a:rPr>
              <a:t>Originalidad</a:t>
            </a:r>
            <a:endParaRPr lang="en-US" sz="1800" dirty="0"/>
          </a:p>
        </p:txBody>
      </p:sp>
      <p:sp>
        <p:nvSpPr>
          <p:cNvPr id="16" name="Copiadla hacia abajo para el resto de propuestas."/>
          <p:cNvSpPr/>
          <p:nvPr/>
        </p:nvSpPr>
        <p:spPr>
          <a:xfrm>
            <a:off x="548640" y="4572000"/>
            <a:ext cx="594360" cy="594360"/>
          </a:xfrm>
          <a:prstGeom prst="ellipse">
            <a:avLst/>
          </a:prstGeom>
          <a:solidFill>
            <a:schemeClr val="tx2"/>
          </a:solidFill>
          <a:ln/>
        </p:spPr>
      </p:sp>
      <p:pic>
        <p:nvPicPr>
          <p:cNvPr id="17" name="Image 0" descr="Copiadla hacia abajo para el resto de propuestas."/>
          <p:cNvPicPr>
            <a:picLocks noChangeAspect="1"/>
          </p:cNvPicPr>
          <p:nvPr/>
        </p:nvPicPr>
        <p:blipFill>
          <a:blip r:embed="rId3"/>
          <a:stretch>
            <a:fillRect/>
          </a:stretch>
        </p:blipFill>
        <p:spPr>
          <a:xfrm>
            <a:off x="691286" y="4714646"/>
            <a:ext cx="309067" cy="309067"/>
          </a:xfrm>
          <a:prstGeom prst="rect">
            <a:avLst/>
          </a:prstGeom>
        </p:spPr>
      </p:pic>
      <p:sp>
        <p:nvSpPr>
          <p:cNvPr id="18" name="Text 15"/>
          <p:cNvSpPr txBox="1"/>
          <p:nvPr/>
        </p:nvSpPr>
        <p:spPr>
          <a:xfrm>
            <a:off x="1371600" y="4572000"/>
            <a:ext cx="10058400" cy="594360"/>
          </a:xfrm>
          <a:prstGeom prst="rect">
            <a:avLst/>
          </a:prstGeom>
          <a:noFill/>
          <a:ln/>
        </p:spPr>
        <p:txBody>
          <a:bodyPr wrap="square" lIns="0" tIns="0" rIns="0" bIns="0" rtlCol="0" anchor="ctr"/>
          <a:lstStyle/>
          <a:p>
            <a:pPr marL="0" indent="0">
              <a:buNone/>
            </a:pPr>
            <a:r>
              <a:rPr lang="en-US" sz="1900" dirty="0">
                <a:solidFill>
                  <a:schemeClr val="tx1"/>
                </a:solidFill>
              </a:rPr>
              <a:t>Copiadla hacia abajo para el resto de propuestas.</a:t>
            </a:r>
            <a:endParaRPr lang="en-US" sz="1900" dirty="0"/>
          </a:p>
        </p:txBody>
      </p:sp>
      <p:sp>
        <p:nvSpPr>
          <p:cNvPr id="19" name="Ordenad las propuestas por resultado."/>
          <p:cNvSpPr/>
          <p:nvPr/>
        </p:nvSpPr>
        <p:spPr>
          <a:xfrm>
            <a:off x="548640" y="5349240"/>
            <a:ext cx="594360" cy="594360"/>
          </a:xfrm>
          <a:prstGeom prst="ellipse">
            <a:avLst/>
          </a:prstGeom>
          <a:solidFill>
            <a:schemeClr val="tx2"/>
          </a:solidFill>
          <a:ln/>
        </p:spPr>
      </p:sp>
      <p:pic>
        <p:nvPicPr>
          <p:cNvPr id="20" name="Image 1" descr="Ordenad las propuestas por resultado."/>
          <p:cNvPicPr>
            <a:picLocks noChangeAspect="1"/>
          </p:cNvPicPr>
          <p:nvPr/>
        </p:nvPicPr>
        <p:blipFill>
          <a:blip r:embed="rId4"/>
          <a:stretch>
            <a:fillRect/>
          </a:stretch>
        </p:blipFill>
        <p:spPr>
          <a:xfrm>
            <a:off x="691286" y="5491886"/>
            <a:ext cx="309067" cy="309067"/>
          </a:xfrm>
          <a:prstGeom prst="rect">
            <a:avLst/>
          </a:prstGeom>
        </p:spPr>
      </p:pic>
      <p:sp>
        <p:nvSpPr>
          <p:cNvPr id="21" name="Text 17"/>
          <p:cNvSpPr txBox="1"/>
          <p:nvPr/>
        </p:nvSpPr>
        <p:spPr>
          <a:xfrm>
            <a:off x="1371600" y="5349240"/>
            <a:ext cx="10058400" cy="594360"/>
          </a:xfrm>
          <a:prstGeom prst="rect">
            <a:avLst/>
          </a:prstGeom>
          <a:noFill/>
          <a:ln/>
        </p:spPr>
        <p:txBody>
          <a:bodyPr wrap="square" lIns="0" tIns="0" rIns="0" bIns="0" rtlCol="0" anchor="ctr"/>
          <a:lstStyle/>
          <a:p>
            <a:pPr marL="0" indent="0">
              <a:buNone/>
            </a:pPr>
            <a:r>
              <a:rPr lang="en-US" sz="1900" dirty="0">
                <a:solidFill>
                  <a:schemeClr val="tx1"/>
                </a:solidFill>
              </a:rPr>
              <a:t>Ordenad las propuestas por resultado.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Abrid la matriz de decisión</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marL="0" indent="0" algn="ctr">
              <a:buNone/>
            </a:pPr>
            <a:r>
              <a:rPr lang="en-US" sz="1400" b="1" dirty="0">
                <a:solidFill>
                  <a:schemeClr val="tx1"/>
                </a:solidFill>
              </a:rPr>
              <a:t>Min. 113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matriz_decision.xlsx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Excel o Google Sheets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Copiad vuestras tres propuestas del cuaderno en la columna «Propuesta».</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Puntuad del 1 al 5 en las celdas ámbar: el «Resultado» se calcula solo.</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Abajo, en «Nuestra decisión», escribid la ganadora y por qué.</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4: elegir con criterio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113–140 · Parejas</a:t>
            </a:r>
            <a:endParaRPr lang="en-US" sz="1400" dirty="0"/>
          </a:p>
        </p:txBody>
      </p:sp>
      <p:sp>
        <p:nvSpPr>
          <p:cNvPr id="5" name="Paso 1"/>
          <p:cNvSpPr/>
          <p:nvPr/>
        </p:nvSpPr>
        <p:spPr>
          <a:xfrm>
            <a:off x="548640" y="1554480"/>
            <a:ext cx="502920" cy="502920"/>
          </a:xfrm>
          <a:prstGeom prst="ellipse">
            <a:avLst/>
          </a:prstGeom>
          <a:solidFill>
            <a:schemeClr val="accent1"/>
          </a:solidFill>
          <a:ln/>
        </p:spPr>
      </p:sp>
      <p:sp>
        <p:nvSpPr>
          <p:cNvPr id="6" name="Text 4"/>
          <p:cNvSpPr txBox="1"/>
          <p:nvPr/>
        </p:nvSpPr>
        <p:spPr>
          <a:xfrm>
            <a:off x="548640" y="155448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1</a:t>
            </a:r>
            <a:endParaRPr lang="en-US" sz="1800" dirty="0"/>
          </a:p>
        </p:txBody>
      </p:sp>
      <p:sp>
        <p:nvSpPr>
          <p:cNvPr id="7" name="Paso 1"/>
          <p:cNvSpPr/>
          <p:nvPr/>
        </p:nvSpPr>
        <p:spPr>
          <a:xfrm>
            <a:off x="1280160" y="1463040"/>
            <a:ext cx="685800" cy="685800"/>
          </a:xfrm>
          <a:prstGeom prst="ellipse">
            <a:avLst/>
          </a:prstGeom>
          <a:solidFill>
            <a:schemeClr val="tx2"/>
          </a:solidFill>
          <a:ln/>
        </p:spPr>
      </p:sp>
      <p:pic>
        <p:nvPicPr>
          <p:cNvPr id="8" name="Image 0" descr="Paso 1"/>
          <p:cNvPicPr>
            <a:picLocks noChangeAspect="1"/>
          </p:cNvPicPr>
          <p:nvPr/>
        </p:nvPicPr>
        <p:blipFill>
          <a:blip r:embed="rId3"/>
          <a:stretch>
            <a:fillRect/>
          </a:stretch>
        </p:blipFill>
        <p:spPr>
          <a:xfrm>
            <a:off x="1444752" y="1627632"/>
            <a:ext cx="356616" cy="356616"/>
          </a:xfrm>
          <a:prstGeom prst="rect">
            <a:avLst/>
          </a:prstGeom>
        </p:spPr>
      </p:pic>
      <p:sp>
        <p:nvSpPr>
          <p:cNvPr id="9" name="Text 6"/>
          <p:cNvSpPr txBox="1"/>
          <p:nvPr/>
        </p:nvSpPr>
        <p:spPr>
          <a:xfrm>
            <a:off x="2194560" y="1463040"/>
            <a:ext cx="9448495" cy="685800"/>
          </a:xfrm>
          <a:prstGeom prst="rect">
            <a:avLst/>
          </a:prstGeom>
          <a:noFill/>
          <a:ln/>
        </p:spPr>
        <p:txBody>
          <a:bodyPr wrap="square" lIns="0" tIns="0" rIns="0" bIns="0" rtlCol="0" anchor="ctr"/>
          <a:lstStyle/>
          <a:p>
            <a:pPr marL="0" indent="0">
              <a:buNone/>
            </a:pPr>
            <a:r>
              <a:rPr lang="en-US" sz="1900" dirty="0">
                <a:solidFill>
                  <a:schemeClr val="tx1"/>
                </a:solidFill>
              </a:rPr>
              <a:t>Introducid vuestras tres propuestas del bloque 2 en Excel o Sheets.</a:t>
            </a:r>
            <a:endParaRPr lang="en-US" sz="1900" dirty="0"/>
          </a:p>
        </p:txBody>
      </p:sp>
      <p:sp>
        <p:nvSpPr>
          <p:cNvPr id="10" name="Paso 2"/>
          <p:cNvSpPr/>
          <p:nvPr/>
        </p:nvSpPr>
        <p:spPr>
          <a:xfrm>
            <a:off x="548640" y="2423160"/>
            <a:ext cx="502920" cy="502920"/>
          </a:xfrm>
          <a:prstGeom prst="ellipse">
            <a:avLst/>
          </a:prstGeom>
          <a:solidFill>
            <a:schemeClr val="accent1"/>
          </a:solidFill>
          <a:ln/>
        </p:spPr>
      </p:sp>
      <p:sp>
        <p:nvSpPr>
          <p:cNvPr id="11" name="Text 8"/>
          <p:cNvSpPr txBox="1"/>
          <p:nvPr/>
        </p:nvSpPr>
        <p:spPr>
          <a:xfrm>
            <a:off x="548640" y="242316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2</a:t>
            </a:r>
            <a:endParaRPr lang="en-US" sz="1800" dirty="0"/>
          </a:p>
        </p:txBody>
      </p:sp>
      <p:sp>
        <p:nvSpPr>
          <p:cNvPr id="12" name="Paso 2"/>
          <p:cNvSpPr/>
          <p:nvPr/>
        </p:nvSpPr>
        <p:spPr>
          <a:xfrm>
            <a:off x="1280160" y="2331720"/>
            <a:ext cx="685800" cy="685800"/>
          </a:xfrm>
          <a:prstGeom prst="ellipse">
            <a:avLst/>
          </a:prstGeom>
          <a:solidFill>
            <a:schemeClr val="tx2"/>
          </a:solidFill>
          <a:ln/>
        </p:spPr>
      </p:sp>
      <p:pic>
        <p:nvPicPr>
          <p:cNvPr id="13" name="Image 1" descr="Paso 2"/>
          <p:cNvPicPr>
            <a:picLocks noChangeAspect="1"/>
          </p:cNvPicPr>
          <p:nvPr/>
        </p:nvPicPr>
        <p:blipFill>
          <a:blip r:embed="rId4"/>
          <a:stretch>
            <a:fillRect/>
          </a:stretch>
        </p:blipFill>
        <p:spPr>
          <a:xfrm>
            <a:off x="1444752" y="2496312"/>
            <a:ext cx="356616" cy="356616"/>
          </a:xfrm>
          <a:prstGeom prst="rect">
            <a:avLst/>
          </a:prstGeom>
        </p:spPr>
      </p:pic>
      <p:sp>
        <p:nvSpPr>
          <p:cNvPr id="14" name="Text 10"/>
          <p:cNvSpPr txBox="1"/>
          <p:nvPr/>
        </p:nvSpPr>
        <p:spPr>
          <a:xfrm>
            <a:off x="2194560" y="2331720"/>
            <a:ext cx="9448495" cy="685800"/>
          </a:xfrm>
          <a:prstGeom prst="rect">
            <a:avLst/>
          </a:prstGeom>
          <a:noFill/>
          <a:ln/>
        </p:spPr>
        <p:txBody>
          <a:bodyPr wrap="square" lIns="0" tIns="0" rIns="0" bIns="0" rtlCol="0" anchor="ctr"/>
          <a:lstStyle/>
          <a:p>
            <a:pPr marL="0" indent="0">
              <a:buNone/>
            </a:pPr>
            <a:r>
              <a:rPr lang="en-US" sz="1900" dirty="0">
                <a:solidFill>
                  <a:schemeClr val="tx1"/>
                </a:solidFill>
              </a:rPr>
              <a:t>Puntuad cada criterio y calculad el total ponderado.</a:t>
            </a:r>
            <a:endParaRPr lang="en-US" sz="1900" dirty="0"/>
          </a:p>
        </p:txBody>
      </p:sp>
      <p:sp>
        <p:nvSpPr>
          <p:cNvPr id="15" name="Paso 3"/>
          <p:cNvSpPr/>
          <p:nvPr/>
        </p:nvSpPr>
        <p:spPr>
          <a:xfrm>
            <a:off x="548640" y="3291840"/>
            <a:ext cx="502920" cy="502920"/>
          </a:xfrm>
          <a:prstGeom prst="ellipse">
            <a:avLst/>
          </a:prstGeom>
          <a:solidFill>
            <a:schemeClr val="accent1"/>
          </a:solidFill>
          <a:ln/>
        </p:spPr>
      </p:sp>
      <p:sp>
        <p:nvSpPr>
          <p:cNvPr id="16" name="Text 12"/>
          <p:cNvSpPr txBox="1"/>
          <p:nvPr/>
        </p:nvSpPr>
        <p:spPr>
          <a:xfrm>
            <a:off x="548640" y="329184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3</a:t>
            </a:r>
            <a:endParaRPr lang="en-US" sz="1800" dirty="0"/>
          </a:p>
        </p:txBody>
      </p:sp>
      <p:sp>
        <p:nvSpPr>
          <p:cNvPr id="17" name="Paso 3"/>
          <p:cNvSpPr/>
          <p:nvPr/>
        </p:nvSpPr>
        <p:spPr>
          <a:xfrm>
            <a:off x="1280160" y="3200400"/>
            <a:ext cx="685800" cy="685800"/>
          </a:xfrm>
          <a:prstGeom prst="ellipse">
            <a:avLst/>
          </a:prstGeom>
          <a:solidFill>
            <a:schemeClr val="tx2"/>
          </a:solidFill>
          <a:ln/>
        </p:spPr>
      </p:sp>
      <p:pic>
        <p:nvPicPr>
          <p:cNvPr id="18" name="Image 2" descr="Paso 3"/>
          <p:cNvPicPr>
            <a:picLocks noChangeAspect="1"/>
          </p:cNvPicPr>
          <p:nvPr/>
        </p:nvPicPr>
        <p:blipFill>
          <a:blip r:embed="rId5"/>
          <a:stretch>
            <a:fillRect/>
          </a:stretch>
        </p:blipFill>
        <p:spPr>
          <a:xfrm>
            <a:off x="1444752" y="3364992"/>
            <a:ext cx="356616" cy="356616"/>
          </a:xfrm>
          <a:prstGeom prst="rect">
            <a:avLst/>
          </a:prstGeom>
        </p:spPr>
      </p:pic>
      <p:sp>
        <p:nvSpPr>
          <p:cNvPr id="19" name="Text 14"/>
          <p:cNvSpPr txBox="1"/>
          <p:nvPr/>
        </p:nvSpPr>
        <p:spPr>
          <a:xfrm>
            <a:off x="2194560" y="3200400"/>
            <a:ext cx="9448495" cy="685800"/>
          </a:xfrm>
          <a:prstGeom prst="rect">
            <a:avLst/>
          </a:prstGeom>
          <a:noFill/>
          <a:ln/>
        </p:spPr>
        <p:txBody>
          <a:bodyPr wrap="square" lIns="0" tIns="0" rIns="0" bIns="0" rtlCol="0" anchor="ctr"/>
          <a:lstStyle/>
          <a:p>
            <a:pPr marL="0" indent="0">
              <a:buNone/>
            </a:pPr>
            <a:r>
              <a:rPr lang="en-US" sz="1900" dirty="0">
                <a:solidFill>
                  <a:schemeClr val="tx1"/>
                </a:solidFill>
              </a:rPr>
              <a:t>Ordenad las propuestas por resultado.</a:t>
            </a:r>
            <a:endParaRPr lang="en-US" sz="1900" dirty="0"/>
          </a:p>
        </p:txBody>
      </p:sp>
      <p:sp>
        <p:nvSpPr>
          <p:cNvPr id="20" name="Paso 4"/>
          <p:cNvSpPr/>
          <p:nvPr/>
        </p:nvSpPr>
        <p:spPr>
          <a:xfrm>
            <a:off x="548640" y="4160520"/>
            <a:ext cx="502920" cy="502920"/>
          </a:xfrm>
          <a:prstGeom prst="ellipse">
            <a:avLst/>
          </a:prstGeom>
          <a:solidFill>
            <a:schemeClr val="accent1"/>
          </a:solidFill>
          <a:ln/>
        </p:spPr>
      </p:sp>
      <p:sp>
        <p:nvSpPr>
          <p:cNvPr id="21" name="Text 16"/>
          <p:cNvSpPr txBox="1"/>
          <p:nvPr/>
        </p:nvSpPr>
        <p:spPr>
          <a:xfrm>
            <a:off x="548640" y="416052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4</a:t>
            </a:r>
            <a:endParaRPr lang="en-US" sz="1800" dirty="0"/>
          </a:p>
        </p:txBody>
      </p:sp>
      <p:sp>
        <p:nvSpPr>
          <p:cNvPr id="22" name="Paso 4"/>
          <p:cNvSpPr/>
          <p:nvPr/>
        </p:nvSpPr>
        <p:spPr>
          <a:xfrm>
            <a:off x="1280160" y="4069080"/>
            <a:ext cx="685800" cy="685800"/>
          </a:xfrm>
          <a:prstGeom prst="ellipse">
            <a:avLst/>
          </a:prstGeom>
          <a:solidFill>
            <a:schemeClr val="tx2"/>
          </a:solidFill>
          <a:ln/>
        </p:spPr>
      </p:sp>
      <p:pic>
        <p:nvPicPr>
          <p:cNvPr id="23" name="Image 3" descr="Paso 4"/>
          <p:cNvPicPr>
            <a:picLocks noChangeAspect="1"/>
          </p:cNvPicPr>
          <p:nvPr/>
        </p:nvPicPr>
        <p:blipFill>
          <a:blip r:embed="rId6"/>
          <a:stretch>
            <a:fillRect/>
          </a:stretch>
        </p:blipFill>
        <p:spPr>
          <a:xfrm>
            <a:off x="1444752" y="4233672"/>
            <a:ext cx="356616" cy="356616"/>
          </a:xfrm>
          <a:prstGeom prst="rect">
            <a:avLst/>
          </a:prstGeom>
        </p:spPr>
      </p:pic>
      <p:sp>
        <p:nvSpPr>
          <p:cNvPr id="24" name="Text 18"/>
          <p:cNvSpPr txBox="1"/>
          <p:nvPr/>
        </p:nvSpPr>
        <p:spPr>
          <a:xfrm>
            <a:off x="2194560" y="4069080"/>
            <a:ext cx="9448495" cy="685800"/>
          </a:xfrm>
          <a:prstGeom prst="rect">
            <a:avLst/>
          </a:prstGeom>
          <a:noFill/>
          <a:ln/>
        </p:spPr>
        <p:txBody>
          <a:bodyPr wrap="square" lIns="0" tIns="0" rIns="0" bIns="0" rtlCol="0" anchor="ctr"/>
          <a:lstStyle/>
          <a:p>
            <a:pPr marL="0" indent="0">
              <a:buNone/>
            </a:pPr>
            <a:r>
              <a:rPr lang="en-US" sz="1900" dirty="0">
                <a:solidFill>
                  <a:schemeClr val="tx1"/>
                </a:solidFill>
              </a:rPr>
              <a:t>Discutid: ¿la primera os parece de verdad la más adecuada?</a:t>
            </a:r>
            <a:endParaRPr lang="en-US" sz="1900" dirty="0"/>
          </a:p>
        </p:txBody>
      </p:sp>
      <p:sp>
        <p:nvSpPr>
          <p:cNvPr id="25" name="Paso 5"/>
          <p:cNvSpPr/>
          <p:nvPr/>
        </p:nvSpPr>
        <p:spPr>
          <a:xfrm>
            <a:off x="548640" y="5029200"/>
            <a:ext cx="502920" cy="502920"/>
          </a:xfrm>
          <a:prstGeom prst="ellipse">
            <a:avLst/>
          </a:prstGeom>
          <a:solidFill>
            <a:schemeClr val="accent1"/>
          </a:solidFill>
          <a:ln/>
        </p:spPr>
      </p:sp>
      <p:sp>
        <p:nvSpPr>
          <p:cNvPr id="26" name="Text 20"/>
          <p:cNvSpPr txBox="1"/>
          <p:nvPr/>
        </p:nvSpPr>
        <p:spPr>
          <a:xfrm>
            <a:off x="548640" y="502920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5</a:t>
            </a:r>
            <a:endParaRPr lang="en-US" sz="1800" dirty="0"/>
          </a:p>
        </p:txBody>
      </p:sp>
      <p:sp>
        <p:nvSpPr>
          <p:cNvPr id="27" name="Paso 5"/>
          <p:cNvSpPr/>
          <p:nvPr/>
        </p:nvSpPr>
        <p:spPr>
          <a:xfrm>
            <a:off x="1280160" y="4937760"/>
            <a:ext cx="685800" cy="685800"/>
          </a:xfrm>
          <a:prstGeom prst="ellipse">
            <a:avLst/>
          </a:prstGeom>
          <a:solidFill>
            <a:schemeClr val="tx2"/>
          </a:solidFill>
          <a:ln/>
        </p:spPr>
      </p:sp>
      <p:pic>
        <p:nvPicPr>
          <p:cNvPr id="28" name="Image 4" descr="Paso 5"/>
          <p:cNvPicPr>
            <a:picLocks noChangeAspect="1"/>
          </p:cNvPicPr>
          <p:nvPr/>
        </p:nvPicPr>
        <p:blipFill>
          <a:blip r:embed="rId7"/>
          <a:stretch>
            <a:fillRect/>
          </a:stretch>
        </p:blipFill>
        <p:spPr>
          <a:xfrm>
            <a:off x="1444752" y="5102352"/>
            <a:ext cx="356616" cy="356616"/>
          </a:xfrm>
          <a:prstGeom prst="rect">
            <a:avLst/>
          </a:prstGeom>
        </p:spPr>
      </p:pic>
      <p:sp>
        <p:nvSpPr>
          <p:cNvPr id="29" name="Text 22"/>
          <p:cNvSpPr txBox="1"/>
          <p:nvPr/>
        </p:nvSpPr>
        <p:spPr>
          <a:xfrm>
            <a:off x="2194560" y="4937760"/>
            <a:ext cx="9448495" cy="685800"/>
          </a:xfrm>
          <a:prstGeom prst="rect">
            <a:avLst/>
          </a:prstGeom>
          <a:noFill/>
          <a:ln/>
        </p:spPr>
        <p:txBody>
          <a:bodyPr wrap="square" lIns="0" tIns="0" rIns="0" bIns="0" rtlCol="0" anchor="ctr"/>
          <a:lstStyle/>
          <a:p>
            <a:pPr marL="0" indent="0">
              <a:buNone/>
            </a:pPr>
            <a:r>
              <a:rPr lang="en-US" sz="1900" dirty="0">
                <a:solidFill>
                  <a:schemeClr val="tx1"/>
                </a:solidFill>
              </a:rPr>
              <a:t>Cambiad los pesos (sin pasar del 100 %), dando más importancia al coste. ¿Cambia la clasificación?</a:t>
            </a:r>
            <a:endParaRPr lang="en-US" sz="1900" dirty="0"/>
          </a:p>
        </p:txBody>
      </p:sp>
      <p:sp>
        <p:nvSpPr>
          <p:cNvPr id="30" name="Text 23"/>
          <p:cNvSpPr txBox="1"/>
          <p:nvPr/>
        </p:nvSpPr>
        <p:spPr>
          <a:xfrm>
            <a:off x="548640" y="5760720"/>
            <a:ext cx="11094415" cy="457200"/>
          </a:xfrm>
          <a:prstGeom prst="rect">
            <a:avLst/>
          </a:prstGeom>
          <a:noFill/>
          <a:ln/>
        </p:spPr>
        <p:txBody>
          <a:bodyPr wrap="square" lIns="0" tIns="0" rIns="0" bIns="0" rtlCol="0" anchor="ctr"/>
          <a:lstStyle/>
          <a:p>
            <a:pPr marL="0" indent="0">
              <a:buNone/>
            </a:pPr>
            <a:r>
              <a:rPr lang="en-US" sz="2200" b="1" dirty="0">
                <a:solidFill>
                  <a:schemeClr val="accent2"/>
                </a:solidFill>
              </a:rPr>
              <a:t>6 y 7  </a:t>
            </a:r>
            <a:r>
              <a:rPr lang="en-US" sz="1900" b="1" dirty="0">
                <a:solidFill>
                  <a:schemeClr val="accent2"/>
                </a:solidFill>
              </a:rPr>
              <a:t>Después, la IA revisa vuestra matriz y vosotros decidís →</a:t>
            </a:r>
            <a:endParaRPr lang="en-US" sz="1900" dirty="0"/>
          </a:p>
        </p:txBody>
      </p:sp>
      <p:sp>
        <p:nvSpPr>
          <p:cNvPr id="31"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69</a:t>
            </a:fld>
            <a:endParaRPr lang="en-US"/>
          </a:p>
        </p:txBody>
      </p:sp>
      <p:sp>
        <p:nvSpPr>
          <p:cNvPr id="32" name="Dónde escribir"/>
          <p:cNvSpPr/>
          <p:nvPr/>
        </p:nvSpPr>
        <p:spPr>
          <a:xfrm>
            <a:off x="6506870" y="6291072"/>
            <a:ext cx="4420209"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matriz_decision.xlsx</a:t>
            </a:r>
            <a:r>
              <a:rPr lang="es-ES" sz="1300" dirty="0">
                <a:solidFill>
                  <a:schemeClr val="tx1"/>
                </a:solidFill>
                <a:latin typeface="+mn-lt"/>
              </a:rPr>
              <a:t>  ›  hoja «Matriz»  ›  celdas ámbar</a:t>
            </a:r>
          </a:p>
        </p:txBody>
      </p:sp>
      <p:sp>
        <p:nvSpPr>
          <p:cNvPr id="33" name="Dónde escribir: círculo"/>
          <p:cNvSpPr/>
          <p:nvPr/>
        </p:nvSpPr>
        <p:spPr>
          <a:xfrm>
            <a:off x="6561734" y="6336792"/>
            <a:ext cx="292608" cy="292608"/>
          </a:xfrm>
          <a:prstGeom prst="ellipse">
            <a:avLst/>
          </a:prstGeom>
          <a:solidFill>
            <a:schemeClr val="accent1"/>
          </a:solidFill>
          <a:ln>
            <a:noFill/>
          </a:ln>
        </p:spPr>
      </p:sp>
      <p:pic>
        <p:nvPicPr>
          <p:cNvPr id="34" name="Dónde escribir: lápiz" descr="Lápiz"/>
          <p:cNvPicPr>
            <a:picLocks noChangeAspect="1"/>
          </p:cNvPicPr>
          <p:nvPr/>
        </p:nvPicPr>
        <p:blipFill>
          <a:blip r:embed="rId8"/>
          <a:stretch>
            <a:fillRect/>
          </a:stretch>
        </p:blipFill>
        <p:spPr>
          <a:xfrm>
            <a:off x="6634886" y="6409944"/>
            <a:ext cx="146304" cy="146304"/>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Paso 6: que la IA revise la matriz</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113–140 · Con IA</a:t>
            </a:r>
            <a:endParaRPr lang="en-US" sz="1400" dirty="0"/>
          </a:p>
        </p:txBody>
      </p:sp>
      <p:sp>
        <p:nvSpPr>
          <p:cNvPr id="5" name="Prompt"/>
          <p:cNvSpPr/>
          <p:nvPr/>
        </p:nvSpPr>
        <p:spPr>
          <a:xfrm>
            <a:off x="548640" y="1417320"/>
            <a:ext cx="11094415" cy="1828800"/>
          </a:xfrm>
          <a:prstGeom prst="roundRect">
            <a:avLst>
              <a:gd name="adj" fmla="val 6000"/>
            </a:avLst>
          </a:prstGeom>
          <a:solidFill>
            <a:schemeClr val="tx1"/>
          </a:solidFill>
          <a:ln/>
        </p:spPr>
      </p:sp>
      <p:sp>
        <p:nvSpPr>
          <p:cNvPr id="6" name="Text 4"/>
          <p:cNvSpPr txBox="1"/>
          <p:nvPr/>
        </p:nvSpPr>
        <p:spPr>
          <a:xfrm>
            <a:off x="822960" y="1600200"/>
            <a:ext cx="10545775" cy="1463040"/>
          </a:xfrm>
          <a:prstGeom prst="rect">
            <a:avLst/>
          </a:prstGeom>
          <a:noFill/>
          <a:ln/>
        </p:spPr>
        <p:txBody>
          <a:bodyPr wrap="square" lIns="0" tIns="0" rIns="0" bIns="0" rtlCol="0" anchor="t"/>
          <a:lstStyle/>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Te paso una matriz de decisión con tres propuestas, cuatro criterios</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puntuados del 1 al 5 y sus pesos: </a:t>
            </a:r>
            <a:r>
              <a:rPr lang="en-US" sz="1700" b="1" dirty="0">
                <a:solidFill>
                  <a:schemeClr val="accent1"/>
                </a:solidFill>
                <a:latin typeface="Courier New" pitchFamily="34" charset="0"/>
                <a:ea typeface="Courier New" pitchFamily="34" charset="-122"/>
                <a:cs typeface="Courier New" pitchFamily="34" charset="-120"/>
              </a:rPr>
              <a:t>[pegar la tabla con los pesos]</a:t>
            </a:r>
            <a:r>
              <a:rPr lang="en-US" sz="1700" dirty="0">
                <a:solidFill>
                  <a:schemeClr val="bg1"/>
                </a:solidFill>
                <a:latin typeface="Courier New" pitchFamily="34" charset="0"/>
                <a:ea typeface="Courier New" pitchFamily="34" charset="-122"/>
                <a:cs typeface="Courier New" pitchFamily="34" charset="-120"/>
              </a:rPr>
              <a:t>.</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Revísala: comprueba si los cálculos son correctos, si alguna</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puntuación parece incoherente con la descripción de la propuesta</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y si falta algún criterio importante. Justifica cada observación.</a:t>
            </a:r>
            <a:endParaRPr lang="en-US" sz="1700" dirty="0"/>
          </a:p>
        </p:txBody>
      </p:sp>
      <p:sp>
        <p:nvSpPr>
          <p:cNvPr id="7" name="Tarjeta"/>
          <p:cNvSpPr/>
          <p:nvPr/>
        </p:nvSpPr>
        <p:spPr>
          <a:xfrm>
            <a:off x="548640" y="3566160"/>
            <a:ext cx="5364328" cy="2240280"/>
          </a:xfrm>
          <a:prstGeom prst="roundRect">
            <a:avLst>
              <a:gd name="adj" fmla="val 6122"/>
            </a:avLst>
          </a:prstGeom>
          <a:solidFill>
            <a:schemeClr val="bg2"/>
          </a:solidFill>
          <a:ln/>
        </p:spPr>
      </p:sp>
      <p:sp>
        <p:nvSpPr>
          <p:cNvPr id="8" name="¿Son correctas sus observaciones?"/>
          <p:cNvSpPr/>
          <p:nvPr/>
        </p:nvSpPr>
        <p:spPr>
          <a:xfrm>
            <a:off x="868680" y="3794760"/>
            <a:ext cx="822960" cy="822960"/>
          </a:xfrm>
          <a:prstGeom prst="ellipse">
            <a:avLst/>
          </a:prstGeom>
          <a:solidFill>
            <a:schemeClr val="accent2"/>
          </a:solidFill>
          <a:ln/>
        </p:spPr>
      </p:sp>
      <p:pic>
        <p:nvPicPr>
          <p:cNvPr id="9" name="Image 0" descr="¿Son correctas sus observaciones?"/>
          <p:cNvPicPr>
            <a:picLocks noChangeAspect="1"/>
          </p:cNvPicPr>
          <p:nvPr/>
        </p:nvPicPr>
        <p:blipFill>
          <a:blip r:embed="rId3"/>
          <a:stretch>
            <a:fillRect/>
          </a:stretch>
        </p:blipFill>
        <p:spPr>
          <a:xfrm>
            <a:off x="1066190" y="3992270"/>
            <a:ext cx="427939" cy="427939"/>
          </a:xfrm>
          <a:prstGeom prst="rect">
            <a:avLst/>
          </a:prstGeom>
        </p:spPr>
      </p:pic>
      <p:sp>
        <p:nvSpPr>
          <p:cNvPr id="10" name="Text 7"/>
          <p:cNvSpPr txBox="1"/>
          <p:nvPr/>
        </p:nvSpPr>
        <p:spPr>
          <a:xfrm>
            <a:off x="1920240" y="3794760"/>
            <a:ext cx="3718408" cy="822960"/>
          </a:xfrm>
          <a:prstGeom prst="rect">
            <a:avLst/>
          </a:prstGeom>
          <a:noFill/>
          <a:ln/>
        </p:spPr>
        <p:txBody>
          <a:bodyPr wrap="square" lIns="0" tIns="0" rIns="0" bIns="0" rtlCol="0" anchor="ctr"/>
          <a:lstStyle/>
          <a:p>
            <a:pPr marL="0" indent="0">
              <a:buNone/>
            </a:pPr>
            <a:r>
              <a:rPr lang="en-US" sz="2000" b="1" dirty="0">
                <a:solidFill>
                  <a:schemeClr val="tx1"/>
                </a:solidFill>
              </a:rPr>
              <a:t>¿Son correctas sus observaciones?</a:t>
            </a:r>
            <a:endParaRPr lang="en-US" sz="2000" dirty="0"/>
          </a:p>
        </p:txBody>
      </p:sp>
      <p:sp>
        <p:nvSpPr>
          <p:cNvPr id="11" name="Text 8"/>
          <p:cNvSpPr txBox="1"/>
          <p:nvPr/>
        </p:nvSpPr>
        <p:spPr>
          <a:xfrm>
            <a:off x="868680" y="4800600"/>
            <a:ext cx="4724248" cy="868680"/>
          </a:xfrm>
          <a:prstGeom prst="rect">
            <a:avLst/>
          </a:prstGeom>
          <a:noFill/>
          <a:ln/>
        </p:spPr>
        <p:txBody>
          <a:bodyPr wrap="square" lIns="0" tIns="0" rIns="0" bIns="0" rtlCol="0" anchor="t"/>
          <a:lstStyle/>
          <a:p>
            <a:pPr marL="0" indent="0">
              <a:buNone/>
            </a:pPr>
            <a:r>
              <a:rPr lang="en-US" sz="1700" dirty="0">
                <a:solidFill>
                  <a:schemeClr val="tx1"/>
                </a:solidFill>
              </a:rPr>
              <a:t>Comprobad cada una: la IA también se equivoca con los números.</a:t>
            </a:r>
            <a:endParaRPr lang="en-US" sz="1700" dirty="0"/>
          </a:p>
        </p:txBody>
      </p:sp>
      <p:sp>
        <p:nvSpPr>
          <p:cNvPr id="12" name="Tarjeta"/>
          <p:cNvSpPr/>
          <p:nvPr/>
        </p:nvSpPr>
        <p:spPr>
          <a:xfrm>
            <a:off x="6278728" y="3566160"/>
            <a:ext cx="5364328" cy="2240280"/>
          </a:xfrm>
          <a:prstGeom prst="roundRect">
            <a:avLst>
              <a:gd name="adj" fmla="val 6122"/>
            </a:avLst>
          </a:prstGeom>
          <a:solidFill>
            <a:schemeClr val="bg2"/>
          </a:solidFill>
          <a:ln/>
        </p:spPr>
      </p:sp>
      <p:sp>
        <p:nvSpPr>
          <p:cNvPr id="13" name="¿Cambiaríais algo por lo que dice?"/>
          <p:cNvSpPr/>
          <p:nvPr/>
        </p:nvSpPr>
        <p:spPr>
          <a:xfrm>
            <a:off x="6598768" y="3794760"/>
            <a:ext cx="822960" cy="822960"/>
          </a:xfrm>
          <a:prstGeom prst="ellipse">
            <a:avLst/>
          </a:prstGeom>
          <a:solidFill>
            <a:schemeClr val="accent2"/>
          </a:solidFill>
          <a:ln/>
        </p:spPr>
      </p:sp>
      <p:pic>
        <p:nvPicPr>
          <p:cNvPr id="14" name="Image 1" descr="¿Cambiaríais algo por lo que dice?"/>
          <p:cNvPicPr>
            <a:picLocks noChangeAspect="1"/>
          </p:cNvPicPr>
          <p:nvPr/>
        </p:nvPicPr>
        <p:blipFill>
          <a:blip r:embed="rId4"/>
          <a:stretch>
            <a:fillRect/>
          </a:stretch>
        </p:blipFill>
        <p:spPr>
          <a:xfrm>
            <a:off x="6796278" y="3992270"/>
            <a:ext cx="427939" cy="427939"/>
          </a:xfrm>
          <a:prstGeom prst="rect">
            <a:avLst/>
          </a:prstGeom>
        </p:spPr>
      </p:pic>
      <p:sp>
        <p:nvSpPr>
          <p:cNvPr id="15" name="Text 11"/>
          <p:cNvSpPr txBox="1"/>
          <p:nvPr/>
        </p:nvSpPr>
        <p:spPr>
          <a:xfrm>
            <a:off x="7650328" y="3794760"/>
            <a:ext cx="3718408" cy="822960"/>
          </a:xfrm>
          <a:prstGeom prst="rect">
            <a:avLst/>
          </a:prstGeom>
          <a:noFill/>
          <a:ln/>
        </p:spPr>
        <p:txBody>
          <a:bodyPr wrap="square" lIns="0" tIns="0" rIns="0" bIns="0" rtlCol="0" anchor="ctr"/>
          <a:lstStyle/>
          <a:p>
            <a:pPr marL="0" indent="0">
              <a:buNone/>
            </a:pPr>
            <a:r>
              <a:rPr lang="en-US" sz="2000" b="1" dirty="0">
                <a:solidFill>
                  <a:schemeClr val="tx1"/>
                </a:solidFill>
              </a:rPr>
              <a:t>¿Cambiaríais algo por lo que dice?</a:t>
            </a:r>
            <a:endParaRPr lang="en-US" sz="2000" dirty="0"/>
          </a:p>
        </p:txBody>
      </p:sp>
      <p:sp>
        <p:nvSpPr>
          <p:cNvPr id="16" name="Text 12"/>
          <p:cNvSpPr txBox="1"/>
          <p:nvPr/>
        </p:nvSpPr>
        <p:spPr>
          <a:xfrm>
            <a:off x="6598768" y="4800600"/>
            <a:ext cx="4724248" cy="868680"/>
          </a:xfrm>
          <a:prstGeom prst="rect">
            <a:avLst/>
          </a:prstGeom>
          <a:noFill/>
          <a:ln/>
        </p:spPr>
        <p:txBody>
          <a:bodyPr wrap="square" lIns="0" tIns="0" rIns="0" bIns="0" rtlCol="0" anchor="t"/>
          <a:lstStyle/>
          <a:p>
            <a:pPr marL="0" indent="0">
              <a:buNone/>
            </a:pPr>
            <a:r>
              <a:rPr lang="en-US" sz="1700" dirty="0">
                <a:solidFill>
                  <a:schemeClr val="tx1"/>
                </a:solidFill>
              </a:rPr>
              <a:t>Solo si os convence el argumento, no porque lo diga la IA.</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70</a:t>
            </a:fld>
            <a:endParaRPr lang="en-US"/>
          </a:p>
        </p:txBody>
      </p:sp>
      <p:sp>
        <p:nvSpPr>
          <p:cNvPr id="26" name="Dónde escribir"/>
          <p:cNvSpPr/>
          <p:nvPr/>
        </p:nvSpPr>
        <p:spPr>
          <a:xfrm>
            <a:off x="4935016" y="6291072"/>
            <a:ext cx="5992063"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matriz_decision.xlsx</a:t>
            </a:r>
            <a:r>
              <a:rPr lang="es-ES" sz="1300" dirty="0">
                <a:solidFill>
                  <a:schemeClr val="tx1"/>
                </a:solidFill>
                <a:latin typeface="+mn-lt"/>
              </a:rPr>
              <a:t>  ›  Nuestra decisión  ›  ¿Qué observó la IA? ¿Tenía razón?</a:t>
            </a:r>
          </a:p>
        </p:txBody>
      </p:sp>
      <p:sp>
        <p:nvSpPr>
          <p:cNvPr id="27" name="Dónde escribir: círculo"/>
          <p:cNvSpPr/>
          <p:nvPr/>
        </p:nvSpPr>
        <p:spPr>
          <a:xfrm>
            <a:off x="4989880"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5"/>
          <a:stretch>
            <a:fillRect/>
          </a:stretch>
        </p:blipFill>
        <p:spPr>
          <a:xfrm>
            <a:off x="5063032" y="6409944"/>
            <a:ext cx="146304" cy="146304"/>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Paso 7: decidid</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113–140 · Parejas</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Elegid vuestra propuesta ganadora y justificadla en una frase:</a:t>
            </a:r>
            <a:endParaRPr lang="en-US" sz="1900" dirty="0"/>
          </a:p>
        </p:txBody>
      </p:sp>
      <p:sp>
        <p:nvSpPr>
          <p:cNvPr id="6" name="Tarjeta"/>
          <p:cNvSpPr/>
          <p:nvPr/>
        </p:nvSpPr>
        <p:spPr>
          <a:xfrm>
            <a:off x="548640" y="2057400"/>
            <a:ext cx="11094415" cy="2377440"/>
          </a:xfrm>
          <a:prstGeom prst="roundRect">
            <a:avLst>
              <a:gd name="adj" fmla="val 5769"/>
            </a:avLst>
          </a:prstGeom>
          <a:solidFill>
            <a:schemeClr val="bg2"/>
          </a:solidFill>
          <a:ln/>
        </p:spPr>
      </p:sp>
      <p:sp>
        <p:nvSpPr>
          <p:cNvPr id="7" name="Decisión"/>
          <p:cNvSpPr/>
          <p:nvPr/>
        </p:nvSpPr>
        <p:spPr>
          <a:xfrm>
            <a:off x="914400" y="2606040"/>
            <a:ext cx="1280160" cy="1280160"/>
          </a:xfrm>
          <a:prstGeom prst="ellipse">
            <a:avLst/>
          </a:prstGeom>
          <a:solidFill>
            <a:schemeClr val="accent1"/>
          </a:solidFill>
          <a:ln/>
        </p:spPr>
      </p:sp>
      <p:pic>
        <p:nvPicPr>
          <p:cNvPr id="8" name="Image 0" descr="Decisión"/>
          <p:cNvPicPr>
            <a:picLocks noChangeAspect="1"/>
          </p:cNvPicPr>
          <p:nvPr/>
        </p:nvPicPr>
        <p:blipFill>
          <a:blip r:embed="rId3"/>
          <a:stretch>
            <a:fillRect/>
          </a:stretch>
        </p:blipFill>
        <p:spPr>
          <a:xfrm>
            <a:off x="1221638" y="2913278"/>
            <a:ext cx="665683" cy="665683"/>
          </a:xfrm>
          <a:prstGeom prst="rect">
            <a:avLst/>
          </a:prstGeom>
        </p:spPr>
      </p:pic>
      <p:sp>
        <p:nvSpPr>
          <p:cNvPr id="9" name="Text 6"/>
          <p:cNvSpPr txBox="1"/>
          <p:nvPr/>
        </p:nvSpPr>
        <p:spPr>
          <a:xfrm>
            <a:off x="2560320" y="2331720"/>
            <a:ext cx="1554480" cy="731520"/>
          </a:xfrm>
          <a:prstGeom prst="rect">
            <a:avLst/>
          </a:prstGeom>
          <a:noFill/>
          <a:ln/>
        </p:spPr>
        <p:txBody>
          <a:bodyPr wrap="square" lIns="0" tIns="0" rIns="0" bIns="0" rtlCol="0" anchor="ctr"/>
          <a:lstStyle/>
          <a:p>
            <a:pPr marL="0" indent="0">
              <a:buNone/>
            </a:pPr>
            <a:r>
              <a:rPr lang="en-US" sz="2600" b="1" dirty="0">
                <a:solidFill>
                  <a:schemeClr val="tx1"/>
                </a:solidFill>
              </a:rPr>
              <a:t>Elegimos</a:t>
            </a:r>
            <a:endParaRPr lang="en-US" sz="2600" dirty="0"/>
          </a:p>
        </p:txBody>
      </p:sp>
      <p:sp>
        <p:nvSpPr>
          <p:cNvPr id="10" name="Hueco"/>
          <p:cNvSpPr/>
          <p:nvPr/>
        </p:nvSpPr>
        <p:spPr>
          <a:xfrm>
            <a:off x="4206240" y="2331720"/>
            <a:ext cx="7071055" cy="731520"/>
          </a:xfrm>
          <a:prstGeom prst="roundRect">
            <a:avLst>
              <a:gd name="adj" fmla="val 12500"/>
            </a:avLst>
          </a:prstGeom>
          <a:solidFill>
            <a:schemeClr val="bg1"/>
          </a:solidFill>
          <a:ln w="12700">
            <a:solidFill>
              <a:srgbClr val="8A94A6"/>
            </a:solidFill>
            <a:prstDash val="dash"/>
          </a:ln>
        </p:spPr>
      </p:sp>
      <p:sp>
        <p:nvSpPr>
          <p:cNvPr id="11" name="Text 8"/>
          <p:cNvSpPr txBox="1"/>
          <p:nvPr/>
        </p:nvSpPr>
        <p:spPr>
          <a:xfrm>
            <a:off x="2560320" y="3337560"/>
            <a:ext cx="1554480" cy="731520"/>
          </a:xfrm>
          <a:prstGeom prst="rect">
            <a:avLst/>
          </a:prstGeom>
          <a:noFill/>
          <a:ln/>
        </p:spPr>
        <p:txBody>
          <a:bodyPr wrap="square" lIns="0" tIns="0" rIns="0" bIns="0" rtlCol="0" anchor="ctr"/>
          <a:lstStyle/>
          <a:p>
            <a:pPr marL="0" indent="0">
              <a:buNone/>
            </a:pPr>
            <a:r>
              <a:rPr lang="en-US" sz="2600" b="1" dirty="0">
                <a:solidFill>
                  <a:schemeClr val="tx1"/>
                </a:solidFill>
              </a:rPr>
              <a:t>porque</a:t>
            </a:r>
            <a:endParaRPr lang="en-US" sz="2600" dirty="0"/>
          </a:p>
        </p:txBody>
      </p:sp>
      <p:sp>
        <p:nvSpPr>
          <p:cNvPr id="12" name="Hueco"/>
          <p:cNvSpPr/>
          <p:nvPr/>
        </p:nvSpPr>
        <p:spPr>
          <a:xfrm>
            <a:off x="4206240" y="3337560"/>
            <a:ext cx="7071055" cy="731520"/>
          </a:xfrm>
          <a:prstGeom prst="roundRect">
            <a:avLst>
              <a:gd name="adj" fmla="val 12500"/>
            </a:avLst>
          </a:prstGeom>
          <a:solidFill>
            <a:schemeClr val="bg1"/>
          </a:solidFill>
          <a:ln w="12700">
            <a:solidFill>
              <a:srgbClr val="8A94A6"/>
            </a:solidFill>
            <a:prstDash val="dash"/>
          </a:ln>
        </p:spPr>
      </p:sp>
      <p:sp>
        <p:nvSpPr>
          <p:cNvPr id="13" name="Tarjeta"/>
          <p:cNvSpPr/>
          <p:nvPr/>
        </p:nvSpPr>
        <p:spPr>
          <a:xfrm>
            <a:off x="548640" y="4709160"/>
            <a:ext cx="11094415" cy="1051560"/>
          </a:xfrm>
          <a:prstGeom prst="roundRect">
            <a:avLst>
              <a:gd name="adj" fmla="val 13043"/>
            </a:avLst>
          </a:prstGeom>
          <a:solidFill>
            <a:schemeClr val="bg2"/>
          </a:solidFill>
          <a:ln/>
        </p:spPr>
      </p:sp>
      <p:sp>
        <p:nvSpPr>
          <p:cNvPr id="14" name="Criterio"/>
          <p:cNvSpPr/>
          <p:nvPr/>
        </p:nvSpPr>
        <p:spPr>
          <a:xfrm>
            <a:off x="822960" y="4892040"/>
            <a:ext cx="685800" cy="685800"/>
          </a:xfrm>
          <a:prstGeom prst="ellipse">
            <a:avLst/>
          </a:prstGeom>
          <a:solidFill>
            <a:schemeClr val="tx2"/>
          </a:solidFill>
          <a:ln/>
        </p:spPr>
      </p:sp>
      <p:pic>
        <p:nvPicPr>
          <p:cNvPr id="15" name="Image 1" descr="Criterio"/>
          <p:cNvPicPr>
            <a:picLocks noChangeAspect="1"/>
          </p:cNvPicPr>
          <p:nvPr/>
        </p:nvPicPr>
        <p:blipFill>
          <a:blip r:embed="rId4"/>
          <a:stretch>
            <a:fillRect/>
          </a:stretch>
        </p:blipFill>
        <p:spPr>
          <a:xfrm>
            <a:off x="987552" y="5056632"/>
            <a:ext cx="356616" cy="356616"/>
          </a:xfrm>
          <a:prstGeom prst="rect">
            <a:avLst/>
          </a:prstGeom>
        </p:spPr>
      </p:pic>
      <p:sp>
        <p:nvSpPr>
          <p:cNvPr id="16" name="Text 12"/>
          <p:cNvSpPr txBox="1"/>
          <p:nvPr/>
        </p:nvSpPr>
        <p:spPr>
          <a:xfrm>
            <a:off x="1737360" y="4709160"/>
            <a:ext cx="9631375" cy="1051560"/>
          </a:xfrm>
          <a:prstGeom prst="rect">
            <a:avLst/>
          </a:prstGeom>
          <a:noFill/>
          <a:ln/>
        </p:spPr>
        <p:txBody>
          <a:bodyPr wrap="square" lIns="0" tIns="0" rIns="0" bIns="0" rtlCol="0" anchor="ctr"/>
          <a:lstStyle/>
          <a:p>
            <a:pPr marL="0" indent="0">
              <a:buNone/>
            </a:pPr>
            <a:r>
              <a:rPr lang="en-US" sz="1900" b="1" dirty="0">
                <a:solidFill>
                  <a:schemeClr val="tx1"/>
                </a:solidFill>
              </a:rPr>
              <a:t>No tiene por qué ser la de mayor puntuación. Pero si no lo es, tenéis que explicar </a:t>
            </a:r>
            <a:r>
              <a:rPr lang="en-US" sz="1900" b="1" dirty="0" err="1">
                <a:solidFill>
                  <a:schemeClr val="tx1"/>
                </a:solidFill>
              </a:rPr>
              <a:t>por</a:t>
            </a:r>
            <a:r>
              <a:rPr lang="en-US" sz="1900" b="1" dirty="0">
                <a:solidFill>
                  <a:schemeClr val="tx1"/>
                </a:solidFill>
              </a:rPr>
              <a:t> </a:t>
            </a:r>
            <a:r>
              <a:rPr lang="en-US" sz="1900" b="1" dirty="0" err="1">
                <a:solidFill>
                  <a:schemeClr val="tx1"/>
                </a:solidFill>
              </a:rPr>
              <a:t>qué</a:t>
            </a:r>
            <a:r>
              <a:rPr lang="en-US" sz="1900" b="1" dirty="0"/>
              <a:t>.</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71</a:t>
            </a:fld>
            <a:endParaRPr lang="en-US"/>
          </a:p>
        </p:txBody>
      </p:sp>
      <p:sp>
        <p:nvSpPr>
          <p:cNvPr id="26" name="Dónde escribir"/>
          <p:cNvSpPr/>
          <p:nvPr/>
        </p:nvSpPr>
        <p:spPr>
          <a:xfrm>
            <a:off x="4193438" y="6291072"/>
            <a:ext cx="6733641"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matriz_decision.xlsx</a:t>
            </a:r>
            <a:r>
              <a:rPr lang="es-ES" sz="1300" dirty="0">
                <a:solidFill>
                  <a:schemeClr val="tx1"/>
                </a:solidFill>
                <a:latin typeface="+mn-lt"/>
              </a:rPr>
              <a:t>  ›  Nuestra decisión  ›  Propuesta ganadora y «Elegimos… porque…»</a:t>
            </a:r>
          </a:p>
        </p:txBody>
      </p:sp>
      <p:sp>
        <p:nvSpPr>
          <p:cNvPr id="27" name="Dónde escribir: círculo"/>
          <p:cNvSpPr/>
          <p:nvPr/>
        </p:nvSpPr>
        <p:spPr>
          <a:xfrm>
            <a:off x="4248302"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5"/>
          <a:stretch>
            <a:fillRect/>
          </a:stretch>
        </p:blipFill>
        <p:spPr>
          <a:xfrm>
            <a:off x="4321454" y="6409944"/>
            <a:ext cx="146304" cy="146304"/>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4: vuestras conclusiones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136–140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cuenta en 30 segundos:</a:t>
            </a:r>
            <a:endParaRPr lang="en-US" sz="1900" dirty="0"/>
          </a:p>
        </p:txBody>
      </p:sp>
      <p:sp>
        <p:nvSpPr>
          <p:cNvPr id="6" name="Nuestra propuesta ganadora"/>
          <p:cNvSpPr/>
          <p:nvPr/>
        </p:nvSpPr>
        <p:spPr>
          <a:xfrm>
            <a:off x="548640" y="2057400"/>
            <a:ext cx="3454298" cy="548640"/>
          </a:xfrm>
          <a:prstGeom prst="roundRect">
            <a:avLst>
              <a:gd name="adj" fmla="val 16667"/>
            </a:avLst>
          </a:prstGeom>
          <a:solidFill>
            <a:schemeClr val="accent1"/>
          </a:solidFill>
          <a:ln/>
        </p:spPr>
      </p:sp>
      <p:sp>
        <p:nvSpPr>
          <p:cNvPr id="7" name="Text 5"/>
          <p:cNvSpPr txBox="1"/>
          <p:nvPr/>
        </p:nvSpPr>
        <p:spPr>
          <a:xfrm>
            <a:off x="640080" y="2057400"/>
            <a:ext cx="3271418" cy="548640"/>
          </a:xfrm>
          <a:prstGeom prst="rect">
            <a:avLst/>
          </a:prstGeom>
          <a:noFill/>
          <a:ln/>
        </p:spPr>
        <p:txBody>
          <a:bodyPr wrap="square" lIns="0" tIns="0" rIns="0" bIns="0" rtlCol="0" anchor="ctr"/>
          <a:lstStyle/>
          <a:p>
            <a:pPr marL="0" indent="0" algn="ctr">
              <a:buNone/>
            </a:pPr>
            <a:r>
              <a:rPr lang="en-US" sz="1800" b="1" dirty="0">
                <a:solidFill>
                  <a:schemeClr val="tx1"/>
                </a:solidFill>
              </a:rPr>
              <a:t>Nuestra propuesta ganadora</a:t>
            </a:r>
            <a:endParaRPr lang="en-US" sz="1800" dirty="0"/>
          </a:p>
        </p:txBody>
      </p:sp>
      <p:sp>
        <p:nvSpPr>
          <p:cNvPr id="8" name="Hueco"/>
          <p:cNvSpPr/>
          <p:nvPr/>
        </p:nvSpPr>
        <p:spPr>
          <a:xfrm>
            <a:off x="548640" y="2788920"/>
            <a:ext cx="3454298" cy="2423160"/>
          </a:xfrm>
          <a:prstGeom prst="roundRect">
            <a:avLst>
              <a:gd name="adj" fmla="val 3774"/>
            </a:avLst>
          </a:prstGeom>
          <a:solidFill>
            <a:schemeClr val="bg2"/>
          </a:solidFill>
          <a:ln w="12700">
            <a:solidFill>
              <a:srgbClr val="8A94A6"/>
            </a:solidFill>
            <a:prstDash val="dash"/>
          </a:ln>
        </p:spPr>
      </p:sp>
      <p:sp>
        <p:nvSpPr>
          <p:cNvPr id="9" name="¿Cambió al mover los pesos?"/>
          <p:cNvSpPr/>
          <p:nvPr/>
        </p:nvSpPr>
        <p:spPr>
          <a:xfrm>
            <a:off x="4368698" y="2057400"/>
            <a:ext cx="3454298" cy="548640"/>
          </a:xfrm>
          <a:prstGeom prst="roundRect">
            <a:avLst>
              <a:gd name="adj" fmla="val 16667"/>
            </a:avLst>
          </a:prstGeom>
          <a:solidFill>
            <a:schemeClr val="tx2"/>
          </a:solidFill>
          <a:ln/>
        </p:spPr>
      </p:sp>
      <p:sp>
        <p:nvSpPr>
          <p:cNvPr id="10" name="Text 8"/>
          <p:cNvSpPr txBox="1"/>
          <p:nvPr/>
        </p:nvSpPr>
        <p:spPr>
          <a:xfrm>
            <a:off x="4460138"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¿Cambió al mover los pesos?</a:t>
            </a:r>
            <a:endParaRPr lang="en-US" sz="1800" dirty="0"/>
          </a:p>
        </p:txBody>
      </p:sp>
      <p:sp>
        <p:nvSpPr>
          <p:cNvPr id="11" name="Hueco"/>
          <p:cNvSpPr/>
          <p:nvPr/>
        </p:nvSpPr>
        <p:spPr>
          <a:xfrm>
            <a:off x="4368698" y="2788920"/>
            <a:ext cx="3454298" cy="2423160"/>
          </a:xfrm>
          <a:prstGeom prst="roundRect">
            <a:avLst>
              <a:gd name="adj" fmla="val 3774"/>
            </a:avLst>
          </a:prstGeom>
          <a:solidFill>
            <a:schemeClr val="bg2"/>
          </a:solidFill>
          <a:ln w="12700">
            <a:solidFill>
              <a:srgbClr val="8A94A6"/>
            </a:solidFill>
            <a:prstDash val="dash"/>
          </a:ln>
        </p:spPr>
      </p:sp>
      <p:sp>
        <p:nvSpPr>
          <p:cNvPr id="12" name="¿Tenía razón la IA?"/>
          <p:cNvSpPr/>
          <p:nvPr/>
        </p:nvSpPr>
        <p:spPr>
          <a:xfrm>
            <a:off x="8188757" y="2057400"/>
            <a:ext cx="3454298" cy="548640"/>
          </a:xfrm>
          <a:prstGeom prst="roundRect">
            <a:avLst>
              <a:gd name="adj" fmla="val 16667"/>
            </a:avLst>
          </a:prstGeom>
          <a:solidFill>
            <a:schemeClr val="accent2"/>
          </a:solidFill>
          <a:ln/>
        </p:spPr>
      </p:sp>
      <p:sp>
        <p:nvSpPr>
          <p:cNvPr id="13" name="Text 11"/>
          <p:cNvSpPr txBox="1"/>
          <p:nvPr/>
        </p:nvSpPr>
        <p:spPr>
          <a:xfrm>
            <a:off x="8280197"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¿Tenía razón la IA?</a:t>
            </a:r>
            <a:endParaRPr lang="en-US" sz="1800" dirty="0"/>
          </a:p>
        </p:txBody>
      </p:sp>
      <p:sp>
        <p:nvSpPr>
          <p:cNvPr id="14" name="Hueco"/>
          <p:cNvSpPr/>
          <p:nvPr/>
        </p:nvSpPr>
        <p:spPr>
          <a:xfrm>
            <a:off x="8188757" y="2788920"/>
            <a:ext cx="3454298" cy="2423160"/>
          </a:xfrm>
          <a:prstGeom prst="roundRect">
            <a:avLst>
              <a:gd name="adj" fmla="val 3774"/>
            </a:avLst>
          </a:prstGeom>
          <a:solidFill>
            <a:schemeClr val="bg2"/>
          </a:solidFill>
          <a:ln w="12700">
            <a:solidFill>
              <a:srgbClr val="8A94A6"/>
            </a:solidFill>
            <a:prstDash val="dash"/>
          </a:ln>
        </p:spPr>
      </p:sp>
      <p:sp>
        <p:nvSpPr>
          <p:cNvPr id="15" name="Text 13"/>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Entregable: la hoja de cálculo con la decisión argumentada. Ahora, a ponerla por escrito.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Una propuesta en una página</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140–145</a:t>
            </a:r>
            <a:endParaRPr lang="en-US" sz="1400" dirty="0"/>
          </a:p>
        </p:txBody>
      </p:sp>
      <p:sp>
        <p:nvSpPr>
          <p:cNvPr id="5" name="Text 3"/>
          <p:cNvSpPr txBox="1"/>
          <p:nvPr/>
        </p:nvSpPr>
        <p:spPr>
          <a:xfrm>
            <a:off x="548640" y="1371600"/>
            <a:ext cx="4937760" cy="457200"/>
          </a:xfrm>
          <a:prstGeom prst="rect">
            <a:avLst/>
          </a:prstGeom>
          <a:noFill/>
          <a:ln/>
        </p:spPr>
        <p:txBody>
          <a:bodyPr wrap="square" lIns="0" tIns="0" rIns="0" bIns="0" rtlCol="0" anchor="ctr"/>
          <a:lstStyle/>
          <a:p>
            <a:pPr marL="0" indent="0">
              <a:buNone/>
            </a:pPr>
            <a:r>
              <a:rPr lang="en-US" sz="1900" dirty="0">
                <a:solidFill>
                  <a:schemeClr val="tx2"/>
                </a:solidFill>
              </a:rPr>
              <a:t>Seis apartados, en Word o Google Docs:</a:t>
            </a:r>
            <a:endParaRPr lang="en-US" sz="1900" dirty="0"/>
          </a:p>
        </p:txBody>
      </p:sp>
      <p:sp>
        <p:nvSpPr>
          <p:cNvPr id="6" name="Apartado 1"/>
          <p:cNvSpPr/>
          <p:nvPr/>
        </p:nvSpPr>
        <p:spPr>
          <a:xfrm>
            <a:off x="548640" y="1965960"/>
            <a:ext cx="411480" cy="411480"/>
          </a:xfrm>
          <a:prstGeom prst="ellipse">
            <a:avLst/>
          </a:prstGeom>
          <a:solidFill>
            <a:schemeClr val="accent1"/>
          </a:solidFill>
          <a:ln/>
        </p:spPr>
      </p:sp>
      <p:sp>
        <p:nvSpPr>
          <p:cNvPr id="7" name="Text 5"/>
          <p:cNvSpPr txBox="1"/>
          <p:nvPr/>
        </p:nvSpPr>
        <p:spPr>
          <a:xfrm>
            <a:off x="548640" y="196596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1</a:t>
            </a:r>
            <a:endParaRPr lang="en-US" sz="1500" dirty="0"/>
          </a:p>
        </p:txBody>
      </p:sp>
      <p:sp>
        <p:nvSpPr>
          <p:cNvPr id="8" name="Text 6"/>
          <p:cNvSpPr txBox="1"/>
          <p:nvPr/>
        </p:nvSpPr>
        <p:spPr>
          <a:xfrm>
            <a:off x="1143000" y="1965960"/>
            <a:ext cx="4114800" cy="411480"/>
          </a:xfrm>
          <a:prstGeom prst="rect">
            <a:avLst/>
          </a:prstGeom>
          <a:noFill/>
          <a:ln/>
        </p:spPr>
        <p:txBody>
          <a:bodyPr wrap="square" lIns="0" tIns="0" rIns="0" bIns="0" rtlCol="0" anchor="ctr"/>
          <a:lstStyle/>
          <a:p>
            <a:pPr marL="0" indent="0">
              <a:buNone/>
            </a:pPr>
            <a:r>
              <a:rPr lang="en-US" sz="1900" dirty="0">
                <a:solidFill>
                  <a:schemeClr val="tx1"/>
                </a:solidFill>
              </a:rPr>
              <a:t>Nombre de la propuesta</a:t>
            </a:r>
            <a:endParaRPr lang="en-US" sz="1900" dirty="0"/>
          </a:p>
        </p:txBody>
      </p:sp>
      <p:sp>
        <p:nvSpPr>
          <p:cNvPr id="9" name="Apartado 2"/>
          <p:cNvSpPr/>
          <p:nvPr/>
        </p:nvSpPr>
        <p:spPr>
          <a:xfrm>
            <a:off x="548640" y="2514600"/>
            <a:ext cx="411480" cy="411480"/>
          </a:xfrm>
          <a:prstGeom prst="ellipse">
            <a:avLst/>
          </a:prstGeom>
          <a:solidFill>
            <a:schemeClr val="accent1"/>
          </a:solidFill>
          <a:ln/>
        </p:spPr>
      </p:sp>
      <p:sp>
        <p:nvSpPr>
          <p:cNvPr id="10" name="Text 8"/>
          <p:cNvSpPr txBox="1"/>
          <p:nvPr/>
        </p:nvSpPr>
        <p:spPr>
          <a:xfrm>
            <a:off x="548640" y="251460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2</a:t>
            </a:r>
            <a:endParaRPr lang="en-US" sz="1500" dirty="0"/>
          </a:p>
        </p:txBody>
      </p:sp>
      <p:sp>
        <p:nvSpPr>
          <p:cNvPr id="11" name="Text 9"/>
          <p:cNvSpPr txBox="1"/>
          <p:nvPr/>
        </p:nvSpPr>
        <p:spPr>
          <a:xfrm>
            <a:off x="1143000" y="2514600"/>
            <a:ext cx="4114800" cy="411480"/>
          </a:xfrm>
          <a:prstGeom prst="rect">
            <a:avLst/>
          </a:prstGeom>
          <a:noFill/>
          <a:ln/>
        </p:spPr>
        <p:txBody>
          <a:bodyPr wrap="square" lIns="0" tIns="0" rIns="0" bIns="0" rtlCol="0" anchor="ctr"/>
          <a:lstStyle/>
          <a:p>
            <a:pPr marL="0" indent="0">
              <a:buNone/>
            </a:pPr>
            <a:r>
              <a:rPr lang="en-US" sz="1900" dirty="0">
                <a:solidFill>
                  <a:schemeClr val="tx1"/>
                </a:solidFill>
              </a:rPr>
              <a:t>Problema</a:t>
            </a:r>
            <a:endParaRPr lang="en-US" sz="1900" dirty="0"/>
          </a:p>
        </p:txBody>
      </p:sp>
      <p:sp>
        <p:nvSpPr>
          <p:cNvPr id="12" name="Apartado 3"/>
          <p:cNvSpPr/>
          <p:nvPr/>
        </p:nvSpPr>
        <p:spPr>
          <a:xfrm>
            <a:off x="548640" y="3063240"/>
            <a:ext cx="411480" cy="411480"/>
          </a:xfrm>
          <a:prstGeom prst="ellipse">
            <a:avLst/>
          </a:prstGeom>
          <a:solidFill>
            <a:schemeClr val="accent1"/>
          </a:solidFill>
          <a:ln/>
        </p:spPr>
      </p:sp>
      <p:sp>
        <p:nvSpPr>
          <p:cNvPr id="13" name="Text 11"/>
          <p:cNvSpPr txBox="1"/>
          <p:nvPr/>
        </p:nvSpPr>
        <p:spPr>
          <a:xfrm>
            <a:off x="548640" y="306324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3</a:t>
            </a:r>
            <a:endParaRPr lang="en-US" sz="1500" dirty="0"/>
          </a:p>
        </p:txBody>
      </p:sp>
      <p:sp>
        <p:nvSpPr>
          <p:cNvPr id="14" name="Text 12"/>
          <p:cNvSpPr txBox="1"/>
          <p:nvPr/>
        </p:nvSpPr>
        <p:spPr>
          <a:xfrm>
            <a:off x="1143000" y="3063240"/>
            <a:ext cx="4114800" cy="411480"/>
          </a:xfrm>
          <a:prstGeom prst="rect">
            <a:avLst/>
          </a:prstGeom>
          <a:noFill/>
          <a:ln/>
        </p:spPr>
        <p:txBody>
          <a:bodyPr wrap="square" lIns="0" tIns="0" rIns="0" bIns="0" rtlCol="0" anchor="ctr"/>
          <a:lstStyle/>
          <a:p>
            <a:pPr marL="0" indent="0">
              <a:buNone/>
            </a:pPr>
            <a:r>
              <a:rPr lang="en-US" sz="1900" dirty="0">
                <a:solidFill>
                  <a:schemeClr val="tx1"/>
                </a:solidFill>
              </a:rPr>
              <a:t>Solución</a:t>
            </a:r>
            <a:endParaRPr lang="en-US" sz="1900" dirty="0"/>
          </a:p>
        </p:txBody>
      </p:sp>
      <p:sp>
        <p:nvSpPr>
          <p:cNvPr id="15" name="Apartado 4"/>
          <p:cNvSpPr/>
          <p:nvPr/>
        </p:nvSpPr>
        <p:spPr>
          <a:xfrm>
            <a:off x="548640" y="3611880"/>
            <a:ext cx="411480" cy="411480"/>
          </a:xfrm>
          <a:prstGeom prst="ellipse">
            <a:avLst/>
          </a:prstGeom>
          <a:solidFill>
            <a:schemeClr val="accent1"/>
          </a:solidFill>
          <a:ln/>
        </p:spPr>
      </p:sp>
      <p:sp>
        <p:nvSpPr>
          <p:cNvPr id="16" name="Text 14"/>
          <p:cNvSpPr txBox="1"/>
          <p:nvPr/>
        </p:nvSpPr>
        <p:spPr>
          <a:xfrm>
            <a:off x="548640" y="361188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4</a:t>
            </a:r>
            <a:endParaRPr lang="en-US" sz="1500" dirty="0"/>
          </a:p>
        </p:txBody>
      </p:sp>
      <p:sp>
        <p:nvSpPr>
          <p:cNvPr id="17" name="Text 15"/>
          <p:cNvSpPr txBox="1"/>
          <p:nvPr/>
        </p:nvSpPr>
        <p:spPr>
          <a:xfrm>
            <a:off x="1143000" y="3611880"/>
            <a:ext cx="4114800" cy="411480"/>
          </a:xfrm>
          <a:prstGeom prst="rect">
            <a:avLst/>
          </a:prstGeom>
          <a:noFill/>
          <a:ln/>
        </p:spPr>
        <p:txBody>
          <a:bodyPr wrap="square" lIns="0" tIns="0" rIns="0" bIns="0" rtlCol="0" anchor="ctr"/>
          <a:lstStyle/>
          <a:p>
            <a:pPr marL="0" indent="0">
              <a:buNone/>
            </a:pPr>
            <a:r>
              <a:rPr lang="en-US" sz="1900" dirty="0">
                <a:solidFill>
                  <a:schemeClr val="tx1"/>
                </a:solidFill>
              </a:rPr>
              <a:t>Beneficios esperados</a:t>
            </a:r>
            <a:endParaRPr lang="en-US" sz="1900" dirty="0"/>
          </a:p>
        </p:txBody>
      </p:sp>
      <p:sp>
        <p:nvSpPr>
          <p:cNvPr id="18" name="Apartado 5"/>
          <p:cNvSpPr/>
          <p:nvPr/>
        </p:nvSpPr>
        <p:spPr>
          <a:xfrm>
            <a:off x="548640" y="4160520"/>
            <a:ext cx="411480" cy="411480"/>
          </a:xfrm>
          <a:prstGeom prst="ellipse">
            <a:avLst/>
          </a:prstGeom>
          <a:solidFill>
            <a:schemeClr val="accent1"/>
          </a:solidFill>
          <a:ln/>
        </p:spPr>
      </p:sp>
      <p:sp>
        <p:nvSpPr>
          <p:cNvPr id="19" name="Text 17"/>
          <p:cNvSpPr txBox="1"/>
          <p:nvPr/>
        </p:nvSpPr>
        <p:spPr>
          <a:xfrm>
            <a:off x="548640" y="416052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5</a:t>
            </a:r>
            <a:endParaRPr lang="en-US" sz="1500" dirty="0"/>
          </a:p>
        </p:txBody>
      </p:sp>
      <p:sp>
        <p:nvSpPr>
          <p:cNvPr id="20" name="Text 18"/>
          <p:cNvSpPr txBox="1"/>
          <p:nvPr/>
        </p:nvSpPr>
        <p:spPr>
          <a:xfrm>
            <a:off x="1143000" y="4160520"/>
            <a:ext cx="4114800" cy="411480"/>
          </a:xfrm>
          <a:prstGeom prst="rect">
            <a:avLst/>
          </a:prstGeom>
          <a:noFill/>
          <a:ln/>
        </p:spPr>
        <p:txBody>
          <a:bodyPr wrap="square" lIns="0" tIns="0" rIns="0" bIns="0" rtlCol="0" anchor="ctr"/>
          <a:lstStyle/>
          <a:p>
            <a:pPr marL="0" indent="0">
              <a:buNone/>
            </a:pPr>
            <a:r>
              <a:rPr lang="en-US" sz="1900" dirty="0">
                <a:solidFill>
                  <a:schemeClr val="tx1"/>
                </a:solidFill>
              </a:rPr>
              <a:t>Recursos</a:t>
            </a:r>
            <a:endParaRPr lang="en-US" sz="1900" dirty="0"/>
          </a:p>
        </p:txBody>
      </p:sp>
      <p:sp>
        <p:nvSpPr>
          <p:cNvPr id="21" name="Apartado 6"/>
          <p:cNvSpPr/>
          <p:nvPr/>
        </p:nvSpPr>
        <p:spPr>
          <a:xfrm>
            <a:off x="548640" y="4709160"/>
            <a:ext cx="411480" cy="411480"/>
          </a:xfrm>
          <a:prstGeom prst="ellipse">
            <a:avLst/>
          </a:prstGeom>
          <a:solidFill>
            <a:schemeClr val="accent1"/>
          </a:solidFill>
          <a:ln/>
        </p:spPr>
      </p:sp>
      <p:sp>
        <p:nvSpPr>
          <p:cNvPr id="22" name="Text 20"/>
          <p:cNvSpPr txBox="1"/>
          <p:nvPr/>
        </p:nvSpPr>
        <p:spPr>
          <a:xfrm>
            <a:off x="548640" y="470916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6</a:t>
            </a:r>
            <a:endParaRPr lang="en-US" sz="1500" dirty="0"/>
          </a:p>
        </p:txBody>
      </p:sp>
      <p:sp>
        <p:nvSpPr>
          <p:cNvPr id="23" name="Text 21"/>
          <p:cNvSpPr txBox="1"/>
          <p:nvPr/>
        </p:nvSpPr>
        <p:spPr>
          <a:xfrm>
            <a:off x="1143000" y="4709160"/>
            <a:ext cx="4114800" cy="411480"/>
          </a:xfrm>
          <a:prstGeom prst="rect">
            <a:avLst/>
          </a:prstGeom>
          <a:noFill/>
          <a:ln/>
        </p:spPr>
        <p:txBody>
          <a:bodyPr wrap="square" lIns="0" tIns="0" rIns="0" bIns="0" rtlCol="0" anchor="ctr"/>
          <a:lstStyle/>
          <a:p>
            <a:pPr marL="0" indent="0">
              <a:buNone/>
            </a:pPr>
            <a:r>
              <a:rPr lang="en-US" sz="1900" dirty="0">
                <a:solidFill>
                  <a:schemeClr val="tx1"/>
                </a:solidFill>
              </a:rPr>
              <a:t>Riesgos</a:t>
            </a:r>
            <a:endParaRPr lang="en-US" sz="1900" dirty="0"/>
          </a:p>
        </p:txBody>
      </p:sp>
      <p:sp>
        <p:nvSpPr>
          <p:cNvPr id="27" name="Página"/>
          <p:cNvSpPr/>
          <p:nvPr/>
        </p:nvSpPr>
        <p:spPr>
          <a:xfrm>
            <a:off x="5852160" y="1325880"/>
            <a:ext cx="5790895" cy="4800600"/>
          </a:xfrm>
          <a:prstGeom prst="rect">
            <a:avLst/>
          </a:prstGeom>
          <a:solidFill>
            <a:schemeClr val="bg1"/>
          </a:solidFill>
          <a:ln w="12700">
            <a:solidFill>
              <a:srgbClr val="8A94A6"/>
            </a:solidFill>
            <a:prstDash val="solid"/>
          </a:ln>
          <a:effectLst>
            <a:outerShdw blurRad="101600" dist="38100" dir="5400000" algn="bl" rotWithShape="0">
              <a:srgbClr val="8A94A6">
                <a:alpha val="35000"/>
              </a:srgbClr>
            </a:outerShdw>
          </a:effectLst>
        </p:spPr>
      </p:sp>
      <p:sp>
        <p:nvSpPr>
          <p:cNvPr id="28" name="Documento"/>
          <p:cNvSpPr/>
          <p:nvPr/>
        </p:nvSpPr>
        <p:spPr>
          <a:xfrm>
            <a:off x="6172200" y="1600200"/>
            <a:ext cx="548640" cy="548640"/>
          </a:xfrm>
          <a:prstGeom prst="ellipse">
            <a:avLst/>
          </a:prstGeom>
          <a:solidFill>
            <a:schemeClr val="tx2"/>
          </a:solidFill>
          <a:ln/>
        </p:spPr>
      </p:sp>
      <p:pic>
        <p:nvPicPr>
          <p:cNvPr id="29" name="Image 0" descr="Documento"/>
          <p:cNvPicPr>
            <a:picLocks noChangeAspect="1"/>
          </p:cNvPicPr>
          <p:nvPr/>
        </p:nvPicPr>
        <p:blipFill>
          <a:blip r:embed="rId3"/>
          <a:stretch>
            <a:fillRect/>
          </a:stretch>
        </p:blipFill>
        <p:spPr>
          <a:xfrm>
            <a:off x="6303874" y="1731874"/>
            <a:ext cx="285293" cy="285293"/>
          </a:xfrm>
          <a:prstGeom prst="rect">
            <a:avLst/>
          </a:prstGeom>
        </p:spPr>
      </p:pic>
      <p:sp>
        <p:nvSpPr>
          <p:cNvPr id="30" name="Text 27"/>
          <p:cNvSpPr txBox="1"/>
          <p:nvPr/>
        </p:nvSpPr>
        <p:spPr>
          <a:xfrm>
            <a:off x="6858000" y="1554480"/>
            <a:ext cx="4510735" cy="685800"/>
          </a:xfrm>
          <a:prstGeom prst="rect">
            <a:avLst/>
          </a:prstGeom>
          <a:noFill/>
          <a:ln/>
        </p:spPr>
        <p:txBody>
          <a:bodyPr wrap="square" lIns="0" tIns="0" rIns="0" bIns="0" rtlCol="0" anchor="ctr"/>
          <a:lstStyle/>
          <a:p>
            <a:pPr marL="0" indent="0">
              <a:buNone/>
            </a:pPr>
            <a:r>
              <a:rPr lang="en-US" sz="1200" b="1" dirty="0">
                <a:solidFill>
                  <a:schemeClr val="accent5"/>
                </a:solidFill>
              </a:rPr>
              <a:t>EJEMPLO · NOMBRE DE LA PROPUESTA</a:t>
            </a:r>
            <a:endParaRPr lang="en-US" sz="1200" dirty="0"/>
          </a:p>
          <a:p>
            <a:pPr marL="0" indent="0">
              <a:buNone/>
            </a:pPr>
            <a:r>
              <a:rPr lang="en-US" sz="1900" b="1" dirty="0">
                <a:solidFill>
                  <a:schemeClr val="tx1"/>
                </a:solidFill>
              </a:rPr>
              <a:t>Reserva y recordatorio de citas</a:t>
            </a:r>
            <a:endParaRPr lang="en-US" sz="1200" dirty="0"/>
          </a:p>
        </p:txBody>
      </p:sp>
      <p:sp>
        <p:nvSpPr>
          <p:cNvPr id="31" name="Text 28"/>
          <p:cNvSpPr txBox="1"/>
          <p:nvPr/>
        </p:nvSpPr>
        <p:spPr>
          <a:xfrm>
            <a:off x="6172200" y="2468880"/>
            <a:ext cx="5150815" cy="3429000"/>
          </a:xfrm>
          <a:prstGeom prst="rect">
            <a:avLst/>
          </a:prstGeom>
          <a:noFill/>
          <a:ln/>
        </p:spPr>
        <p:txBody>
          <a:bodyPr wrap="square" lIns="0" tIns="0" rIns="0" bIns="0" rtlCol="0" anchor="t"/>
          <a:lstStyle/>
          <a:p>
            <a:pPr marL="0" indent="0">
              <a:spcAft>
                <a:spcPts val="1000"/>
              </a:spcAft>
              <a:buNone/>
            </a:pPr>
            <a:r>
              <a:rPr lang="en-US" sz="1600" b="1" dirty="0">
                <a:solidFill>
                  <a:schemeClr val="tx1"/>
                </a:solidFill>
              </a:rPr>
              <a:t>Problema: </a:t>
            </a:r>
            <a:r>
              <a:rPr lang="en-US" sz="1600" dirty="0">
                <a:solidFill>
                  <a:schemeClr val="tx1"/>
                </a:solidFill>
              </a:rPr>
              <a:t>el teléfono interrumpe el trabajo y hay clientes que olvidan su cita.</a:t>
            </a:r>
            <a:endParaRPr lang="en-US" sz="1600" dirty="0"/>
          </a:p>
          <a:p>
            <a:pPr marL="0" indent="0">
              <a:spcAft>
                <a:spcPts val="1000"/>
              </a:spcAft>
              <a:buNone/>
            </a:pPr>
            <a:r>
              <a:rPr lang="en-US" sz="1600" b="1" dirty="0">
                <a:solidFill>
                  <a:schemeClr val="tx1"/>
                </a:solidFill>
              </a:rPr>
              <a:t>Solución: </a:t>
            </a:r>
            <a:r>
              <a:rPr lang="en-US" sz="1600" dirty="0">
                <a:solidFill>
                  <a:schemeClr val="tx1"/>
                </a:solidFill>
              </a:rPr>
              <a:t>formulario de reserva, agenda en una hoja compartida y recordatorio el día anterior.</a:t>
            </a:r>
            <a:endParaRPr lang="en-US" sz="1600" dirty="0"/>
          </a:p>
          <a:p>
            <a:pPr marL="0" indent="0">
              <a:spcAft>
                <a:spcPts val="1000"/>
              </a:spcAft>
              <a:buNone/>
            </a:pPr>
            <a:r>
              <a:rPr lang="en-US" sz="1600" b="1" dirty="0">
                <a:solidFill>
                  <a:schemeClr val="tx1"/>
                </a:solidFill>
              </a:rPr>
              <a:t>Beneficios esperados: </a:t>
            </a:r>
            <a:r>
              <a:rPr lang="en-US" sz="1600" dirty="0">
                <a:solidFill>
                  <a:schemeClr val="tx1"/>
                </a:solidFill>
              </a:rPr>
              <a:t>menos interrupciones y menos citas perdidas.</a:t>
            </a:r>
            <a:endParaRPr lang="en-US" sz="1600" dirty="0"/>
          </a:p>
          <a:p>
            <a:pPr marL="0" indent="0">
              <a:spcAft>
                <a:spcPts val="1000"/>
              </a:spcAft>
              <a:buNone/>
            </a:pPr>
            <a:r>
              <a:rPr lang="en-US" sz="1600" b="1" dirty="0">
                <a:solidFill>
                  <a:schemeClr val="tx1"/>
                </a:solidFill>
              </a:rPr>
              <a:t>Recursos: </a:t>
            </a:r>
            <a:r>
              <a:rPr lang="en-US" sz="1600" dirty="0">
                <a:solidFill>
                  <a:schemeClr val="tx1"/>
                </a:solidFill>
              </a:rPr>
              <a:t>herramientas ya disponibles y una breve formación interna.</a:t>
            </a:r>
            <a:endParaRPr lang="en-US" sz="1600" dirty="0"/>
          </a:p>
          <a:p>
            <a:pPr marL="0" indent="0">
              <a:spcAft>
                <a:spcPts val="1000"/>
              </a:spcAft>
              <a:buNone/>
            </a:pPr>
            <a:r>
              <a:rPr lang="en-US" sz="1600" b="1" dirty="0">
                <a:solidFill>
                  <a:schemeClr val="tx1"/>
                </a:solidFill>
              </a:rPr>
              <a:t>Riesgos: </a:t>
            </a:r>
            <a:r>
              <a:rPr lang="en-US" sz="1600" dirty="0">
                <a:solidFill>
                  <a:schemeClr val="tx1"/>
                </a:solidFill>
              </a:rPr>
              <a:t>datos de clientes, clientes que prefieren llamar y olvidos al enviar el recordatorio.</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IA propone, vosotros decidís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140–145</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Demostración: pedir a la IA una versión más clara y concisa del documento.</a:t>
            </a:r>
            <a:endParaRPr lang="en-US" sz="1900" dirty="0"/>
          </a:p>
        </p:txBody>
      </p:sp>
      <p:sp>
        <p:nvSpPr>
          <p:cNvPr id="6" name="Tarjeta"/>
          <p:cNvSpPr/>
          <p:nvPr/>
        </p:nvSpPr>
        <p:spPr>
          <a:xfrm>
            <a:off x="548640" y="2057400"/>
            <a:ext cx="5318608" cy="3108960"/>
          </a:xfrm>
          <a:prstGeom prst="roundRect">
            <a:avLst>
              <a:gd name="adj" fmla="val 4412"/>
            </a:avLst>
          </a:prstGeom>
          <a:solidFill>
            <a:schemeClr val="bg2"/>
          </a:solidFill>
          <a:ln/>
        </p:spPr>
      </p:sp>
      <p:sp>
        <p:nvSpPr>
          <p:cNvPr id="7" name="IA"/>
          <p:cNvSpPr/>
          <p:nvPr/>
        </p:nvSpPr>
        <p:spPr>
          <a:xfrm>
            <a:off x="868680" y="2331720"/>
            <a:ext cx="914400" cy="914400"/>
          </a:xfrm>
          <a:prstGeom prst="ellipse">
            <a:avLst/>
          </a:prstGeom>
          <a:solidFill>
            <a:schemeClr val="accent2"/>
          </a:solidFill>
          <a:ln/>
        </p:spPr>
      </p:sp>
      <p:pic>
        <p:nvPicPr>
          <p:cNvPr id="8" name="Image 0" descr="IA"/>
          <p:cNvPicPr>
            <a:picLocks noChangeAspect="1"/>
          </p:cNvPicPr>
          <p:nvPr/>
        </p:nvPicPr>
        <p:blipFill>
          <a:blip r:embed="rId3"/>
          <a:stretch>
            <a:fillRect/>
          </a:stretch>
        </p:blipFill>
        <p:spPr>
          <a:xfrm>
            <a:off x="1088136" y="2551176"/>
            <a:ext cx="475488" cy="475488"/>
          </a:xfrm>
          <a:prstGeom prst="rect">
            <a:avLst/>
          </a:prstGeom>
        </p:spPr>
      </p:pic>
      <p:sp>
        <p:nvSpPr>
          <p:cNvPr id="9" name="Text 6"/>
          <p:cNvSpPr txBox="1"/>
          <p:nvPr/>
        </p:nvSpPr>
        <p:spPr>
          <a:xfrm>
            <a:off x="2011680" y="2331720"/>
            <a:ext cx="3581248" cy="914400"/>
          </a:xfrm>
          <a:prstGeom prst="rect">
            <a:avLst/>
          </a:prstGeom>
          <a:noFill/>
          <a:ln/>
        </p:spPr>
        <p:txBody>
          <a:bodyPr wrap="square" lIns="0" tIns="0" rIns="0" bIns="0" rtlCol="0" anchor="ctr"/>
          <a:lstStyle/>
          <a:p>
            <a:pPr marL="0" indent="0">
              <a:buNone/>
            </a:pPr>
            <a:r>
              <a:rPr lang="en-US" sz="2200" b="1" dirty="0">
                <a:solidFill>
                  <a:schemeClr val="tx1"/>
                </a:solidFill>
              </a:rPr>
              <a:t>La IA propone cambios</a:t>
            </a:r>
            <a:endParaRPr lang="en-US" sz="2200" dirty="0"/>
          </a:p>
        </p:txBody>
      </p:sp>
      <p:sp>
        <p:nvSpPr>
          <p:cNvPr id="10" name="Text 7"/>
          <p:cNvSpPr txBox="1"/>
          <p:nvPr/>
        </p:nvSpPr>
        <p:spPr>
          <a:xfrm>
            <a:off x="868680" y="3474720"/>
            <a:ext cx="4678528" cy="1463040"/>
          </a:xfrm>
          <a:prstGeom prst="rect">
            <a:avLst/>
          </a:prstGeom>
          <a:noFill/>
          <a:ln/>
        </p:spPr>
        <p:txBody>
          <a:bodyPr wrap="square" lIns="0" tIns="0" rIns="0" bIns="0" rtlCol="0" anchor="t"/>
          <a:lstStyle/>
          <a:p>
            <a:pPr marL="0" indent="0">
              <a:buNone/>
            </a:pPr>
            <a:r>
              <a:rPr lang="en-US" sz="1800" dirty="0">
                <a:solidFill>
                  <a:schemeClr val="tx1"/>
                </a:solidFill>
              </a:rPr>
              <a:t>Frases más cortas, otro orden, otras palabras… y a veces datos o afirmaciones que no estaban.</a:t>
            </a:r>
            <a:endParaRPr lang="en-US" sz="1800" dirty="0"/>
          </a:p>
        </p:txBody>
      </p:sp>
      <p:sp>
        <p:nvSpPr>
          <p:cNvPr id="11" name="Tarjeta"/>
          <p:cNvSpPr/>
          <p:nvPr/>
        </p:nvSpPr>
        <p:spPr>
          <a:xfrm>
            <a:off x="6324448" y="2057400"/>
            <a:ext cx="5318608" cy="3108960"/>
          </a:xfrm>
          <a:prstGeom prst="roundRect">
            <a:avLst>
              <a:gd name="adj" fmla="val 4412"/>
            </a:avLst>
          </a:prstGeom>
          <a:solidFill>
            <a:schemeClr val="bg2"/>
          </a:solidFill>
          <a:ln/>
        </p:spPr>
      </p:sp>
      <p:sp>
        <p:nvSpPr>
          <p:cNvPr id="12" name="Personas"/>
          <p:cNvSpPr/>
          <p:nvPr/>
        </p:nvSpPr>
        <p:spPr>
          <a:xfrm>
            <a:off x="6644488" y="2331720"/>
            <a:ext cx="914400" cy="914400"/>
          </a:xfrm>
          <a:prstGeom prst="ellipse">
            <a:avLst/>
          </a:prstGeom>
          <a:solidFill>
            <a:schemeClr val="accent1"/>
          </a:solidFill>
          <a:ln/>
        </p:spPr>
      </p:sp>
      <p:pic>
        <p:nvPicPr>
          <p:cNvPr id="13" name="Image 1" descr="Personas"/>
          <p:cNvPicPr>
            <a:picLocks noChangeAspect="1"/>
          </p:cNvPicPr>
          <p:nvPr/>
        </p:nvPicPr>
        <p:blipFill>
          <a:blip r:embed="rId4"/>
          <a:stretch>
            <a:fillRect/>
          </a:stretch>
        </p:blipFill>
        <p:spPr>
          <a:xfrm>
            <a:off x="6863944" y="2551176"/>
            <a:ext cx="475488" cy="475488"/>
          </a:xfrm>
          <a:prstGeom prst="rect">
            <a:avLst/>
          </a:prstGeom>
        </p:spPr>
      </p:pic>
      <p:sp>
        <p:nvSpPr>
          <p:cNvPr id="14" name="Text 10"/>
          <p:cNvSpPr txBox="1"/>
          <p:nvPr/>
        </p:nvSpPr>
        <p:spPr>
          <a:xfrm>
            <a:off x="7787488" y="2331720"/>
            <a:ext cx="3581248" cy="914400"/>
          </a:xfrm>
          <a:prstGeom prst="rect">
            <a:avLst/>
          </a:prstGeom>
          <a:noFill/>
          <a:ln/>
        </p:spPr>
        <p:txBody>
          <a:bodyPr wrap="square" lIns="0" tIns="0" rIns="0" bIns="0" rtlCol="0" anchor="ctr"/>
          <a:lstStyle/>
          <a:p>
            <a:pPr marL="0" indent="0">
              <a:buNone/>
            </a:pPr>
            <a:r>
              <a:rPr lang="en-US" sz="2200" b="1" dirty="0">
                <a:solidFill>
                  <a:schemeClr val="tx1"/>
                </a:solidFill>
              </a:rPr>
              <a:t>Vosotros decidís</a:t>
            </a:r>
            <a:endParaRPr lang="en-US" sz="2200" dirty="0"/>
          </a:p>
        </p:txBody>
      </p:sp>
      <p:sp>
        <p:nvSpPr>
          <p:cNvPr id="15" name="Aceptar lo que mejora el texto."/>
          <p:cNvSpPr/>
          <p:nvPr/>
        </p:nvSpPr>
        <p:spPr>
          <a:xfrm>
            <a:off x="6644488" y="3520440"/>
            <a:ext cx="548640" cy="548640"/>
          </a:xfrm>
          <a:prstGeom prst="ellipse">
            <a:avLst/>
          </a:prstGeom>
          <a:solidFill>
            <a:schemeClr val="accent6"/>
          </a:solidFill>
          <a:ln/>
        </p:spPr>
      </p:sp>
      <p:pic>
        <p:nvPicPr>
          <p:cNvPr id="16" name="Image 2" descr="Aceptar lo que mejora el texto."/>
          <p:cNvPicPr>
            <a:picLocks noChangeAspect="1"/>
          </p:cNvPicPr>
          <p:nvPr/>
        </p:nvPicPr>
        <p:blipFill>
          <a:blip r:embed="rId5"/>
          <a:stretch>
            <a:fillRect/>
          </a:stretch>
        </p:blipFill>
        <p:spPr>
          <a:xfrm>
            <a:off x="6776161" y="3652114"/>
            <a:ext cx="285293" cy="285293"/>
          </a:xfrm>
          <a:prstGeom prst="rect">
            <a:avLst/>
          </a:prstGeom>
        </p:spPr>
      </p:pic>
      <p:sp>
        <p:nvSpPr>
          <p:cNvPr id="17" name="Text 12"/>
          <p:cNvSpPr txBox="1"/>
          <p:nvPr/>
        </p:nvSpPr>
        <p:spPr>
          <a:xfrm>
            <a:off x="7376008" y="3520440"/>
            <a:ext cx="3947008" cy="548640"/>
          </a:xfrm>
          <a:prstGeom prst="rect">
            <a:avLst/>
          </a:prstGeom>
          <a:noFill/>
          <a:ln/>
        </p:spPr>
        <p:txBody>
          <a:bodyPr wrap="square" lIns="0" tIns="0" rIns="0" bIns="0" rtlCol="0" anchor="ctr"/>
          <a:lstStyle/>
          <a:p>
            <a:pPr marL="0" indent="0">
              <a:buNone/>
            </a:pPr>
            <a:r>
              <a:rPr lang="en-US" sz="1800" dirty="0">
                <a:solidFill>
                  <a:schemeClr val="tx1"/>
                </a:solidFill>
              </a:rPr>
              <a:t>Aceptar lo que mejora el texto.</a:t>
            </a:r>
            <a:endParaRPr lang="en-US" sz="1800" dirty="0"/>
          </a:p>
        </p:txBody>
      </p:sp>
      <p:sp>
        <p:nvSpPr>
          <p:cNvPr id="18" name="Rechazar lo que cambia el sentido o no es cierto."/>
          <p:cNvSpPr/>
          <p:nvPr/>
        </p:nvSpPr>
        <p:spPr>
          <a:xfrm>
            <a:off x="6644488" y="4251960"/>
            <a:ext cx="548640" cy="548640"/>
          </a:xfrm>
          <a:prstGeom prst="ellipse">
            <a:avLst/>
          </a:prstGeom>
          <a:solidFill>
            <a:schemeClr val="accent3"/>
          </a:solidFill>
          <a:ln/>
        </p:spPr>
      </p:sp>
      <p:pic>
        <p:nvPicPr>
          <p:cNvPr id="19" name="Image 3" descr="Rechazar lo que cambia el sentido o no es cierto."/>
          <p:cNvPicPr>
            <a:picLocks noChangeAspect="1"/>
          </p:cNvPicPr>
          <p:nvPr/>
        </p:nvPicPr>
        <p:blipFill>
          <a:blip r:embed="rId6"/>
          <a:stretch>
            <a:fillRect/>
          </a:stretch>
        </p:blipFill>
        <p:spPr>
          <a:xfrm>
            <a:off x="6776161" y="4383634"/>
            <a:ext cx="285293" cy="285293"/>
          </a:xfrm>
          <a:prstGeom prst="rect">
            <a:avLst/>
          </a:prstGeom>
        </p:spPr>
      </p:pic>
      <p:sp>
        <p:nvSpPr>
          <p:cNvPr id="20" name="Text 14"/>
          <p:cNvSpPr txBox="1"/>
          <p:nvPr/>
        </p:nvSpPr>
        <p:spPr>
          <a:xfrm>
            <a:off x="7376008" y="4251960"/>
            <a:ext cx="3947008" cy="548640"/>
          </a:xfrm>
          <a:prstGeom prst="rect">
            <a:avLst/>
          </a:prstGeom>
          <a:noFill/>
          <a:ln/>
        </p:spPr>
        <p:txBody>
          <a:bodyPr wrap="square" lIns="0" tIns="0" rIns="0" bIns="0" rtlCol="0" anchor="ctr"/>
          <a:lstStyle/>
          <a:p>
            <a:pPr marL="0" indent="0">
              <a:buNone/>
            </a:pPr>
            <a:r>
              <a:rPr lang="en-US" sz="1800" dirty="0">
                <a:solidFill>
                  <a:schemeClr val="tx1"/>
                </a:solidFill>
              </a:rPr>
              <a:t>Rechazar lo que cambia el sentido o no es cierto.</a:t>
            </a:r>
            <a:endParaRPr lang="en-US" sz="1800" dirty="0"/>
          </a:p>
        </p:txBody>
      </p:sp>
      <p:sp>
        <p:nvSpPr>
          <p:cNvPr id="21" name="Shape 15"/>
          <p:cNvSpPr/>
          <p:nvPr/>
        </p:nvSpPr>
        <p:spPr>
          <a:xfrm>
            <a:off x="5912968" y="3611880"/>
            <a:ext cx="365760" cy="0"/>
          </a:xfrm>
          <a:prstGeom prst="line">
            <a:avLst/>
          </a:prstGeom>
          <a:noFill/>
          <a:ln w="38100">
            <a:solidFill>
              <a:srgbClr val="3A4664"/>
            </a:solidFill>
            <a:prstDash val="solid"/>
            <a:tailEnd type="triangle"/>
          </a:ln>
        </p:spPr>
      </p:sp>
      <p:sp>
        <p:nvSpPr>
          <p:cNvPr id="22" name="Text 16"/>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2000" b="1" dirty="0">
                <a:solidFill>
                  <a:schemeClr val="accent3"/>
                </a:solidFill>
              </a:rPr>
              <a:t>El documento es vuestro: la IA no firma la propuesta.</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Abrid el documento del proyecto</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marL="0" indent="0" algn="ctr">
              <a:buNone/>
            </a:pPr>
            <a:r>
              <a:rPr lang="en-US" sz="1400" b="1" dirty="0">
                <a:solidFill>
                  <a:schemeClr val="tx1"/>
                </a:solidFill>
              </a:rPr>
              <a:t>Min. 145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documento_proyecto.docx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El prompt está en la página de trabajo: pedid la ficha a la IA.</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Pegad la respuesta en los apartados 1 a 6, en versión corta.</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Corregid tres cosas y anotadlas en la página de trabajo. Guardad el archivo.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Ficha exprés con IA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145–160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Con la propuesta ganadora que acabáis de elegir:</a:t>
            </a:r>
            <a:endParaRPr lang="en-US" sz="1900" dirty="0"/>
          </a:p>
        </p:txBody>
      </p:sp>
      <p:sp>
        <p:nvSpPr>
          <p:cNvPr id="6" name="Text 4"/>
          <p:cNvSpPr txBox="1"/>
          <p:nvPr/>
        </p:nvSpPr>
        <p:spPr>
          <a:xfrm>
            <a:off x="548640" y="1920240"/>
            <a:ext cx="457200" cy="457200"/>
          </a:xfrm>
          <a:prstGeom prst="rect">
            <a:avLst/>
          </a:prstGeom>
          <a:noFill/>
          <a:ln/>
        </p:spPr>
        <p:txBody>
          <a:bodyPr wrap="square" lIns="0" tIns="0" rIns="0" bIns="0" rtlCol="0" anchor="ctr"/>
          <a:lstStyle/>
          <a:p>
            <a:pPr marL="0" indent="0">
              <a:buNone/>
            </a:pPr>
            <a:r>
              <a:rPr lang="en-US" sz="2600" b="1" dirty="0">
                <a:solidFill>
                  <a:schemeClr val="accent2"/>
                </a:solidFill>
              </a:rPr>
              <a:t>1</a:t>
            </a:r>
            <a:endParaRPr lang="en-US" sz="2600" dirty="0"/>
          </a:p>
        </p:txBody>
      </p:sp>
      <p:sp>
        <p:nvSpPr>
          <p:cNvPr id="7" name="Prompt"/>
          <p:cNvSpPr/>
          <p:nvPr/>
        </p:nvSpPr>
        <p:spPr>
          <a:xfrm>
            <a:off x="1097280" y="1874520"/>
            <a:ext cx="10545775" cy="1417320"/>
          </a:xfrm>
          <a:prstGeom prst="roundRect">
            <a:avLst>
              <a:gd name="adj" fmla="val 7742"/>
            </a:avLst>
          </a:prstGeom>
          <a:solidFill>
            <a:schemeClr val="tx1"/>
          </a:solidFill>
          <a:ln/>
        </p:spPr>
      </p:sp>
      <p:sp>
        <p:nvSpPr>
          <p:cNvPr id="8" name="Text 6"/>
          <p:cNvSpPr txBox="1"/>
          <p:nvPr/>
        </p:nvSpPr>
        <p:spPr>
          <a:xfrm>
            <a:off x="1371600" y="2057400"/>
            <a:ext cx="9997135" cy="1051560"/>
          </a:xfrm>
          <a:prstGeom prst="rect">
            <a:avLst/>
          </a:prstGeom>
          <a:noFill/>
          <a:ln/>
        </p:spPr>
        <p:txBody>
          <a:bodyPr wrap="square" lIns="0" tIns="0" rIns="0" bIns="0" rtlCol="0" anchor="t"/>
          <a:lstStyle/>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Redacta una ficha de una página con estos apartados: nombre de la</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propuesta, problema, solución, beneficios esperados, recursos y riesgos.</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La propuesta es: </a:t>
            </a:r>
            <a:r>
              <a:rPr lang="en-US" sz="1600" b="1" dirty="0">
                <a:solidFill>
                  <a:schemeClr val="accent1"/>
                </a:solidFill>
                <a:latin typeface="Courier New" pitchFamily="34" charset="0"/>
                <a:ea typeface="Courier New" pitchFamily="34" charset="-122"/>
                <a:cs typeface="Courier New" pitchFamily="34" charset="-120"/>
              </a:rPr>
              <a:t>[describir la propuesta sin datos personales]</a:t>
            </a:r>
            <a:r>
              <a:rPr lang="en-US" sz="1600" dirty="0">
                <a:solidFill>
                  <a:schemeClr val="bg1"/>
                </a:solidFill>
                <a:latin typeface="Courier New" pitchFamily="34" charset="0"/>
                <a:ea typeface="Courier New" pitchFamily="34" charset="-122"/>
                <a:cs typeface="Courier New" pitchFamily="34" charset="-120"/>
              </a:rPr>
              <a:t>.</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Usa frases cortas y no inventes cifras ni resultados.</a:t>
            </a:r>
            <a:endParaRPr lang="en-US" sz="1600" dirty="0"/>
          </a:p>
        </p:txBody>
      </p:sp>
      <p:sp>
        <p:nvSpPr>
          <p:cNvPr id="9" name="Text 7"/>
          <p:cNvSpPr txBox="1"/>
          <p:nvPr/>
        </p:nvSpPr>
        <p:spPr>
          <a:xfrm>
            <a:off x="548640" y="3520440"/>
            <a:ext cx="11094415" cy="502920"/>
          </a:xfrm>
          <a:prstGeom prst="rect">
            <a:avLst/>
          </a:prstGeom>
          <a:noFill/>
          <a:ln/>
        </p:spPr>
        <p:txBody>
          <a:bodyPr wrap="square" lIns="0" tIns="0" rIns="0" bIns="0" rtlCol="0" anchor="ctr"/>
          <a:lstStyle/>
          <a:p>
            <a:pPr marL="0" indent="0">
              <a:buNone/>
            </a:pPr>
            <a:r>
              <a:rPr lang="en-US" sz="2600" b="1" dirty="0">
                <a:solidFill>
                  <a:schemeClr val="accent1"/>
                </a:solidFill>
              </a:rPr>
              <a:t>2  </a:t>
            </a:r>
            <a:r>
              <a:rPr lang="en-US" sz="1900" dirty="0">
                <a:solidFill>
                  <a:schemeClr val="tx1"/>
                </a:solidFill>
              </a:rPr>
              <a:t>Pasadla a Word o Google Docs y marcad tres cosas que cambiaríais:</a:t>
            </a:r>
            <a:endParaRPr lang="en-US" sz="1900" dirty="0"/>
          </a:p>
        </p:txBody>
      </p:sp>
      <p:sp>
        <p:nvSpPr>
          <p:cNvPr id="10" name="Tarjeta"/>
          <p:cNvSpPr/>
          <p:nvPr/>
        </p:nvSpPr>
        <p:spPr>
          <a:xfrm>
            <a:off x="1097280" y="4160520"/>
            <a:ext cx="3271418" cy="1005840"/>
          </a:xfrm>
          <a:prstGeom prst="roundRect">
            <a:avLst>
              <a:gd name="adj" fmla="val 13636"/>
            </a:avLst>
          </a:prstGeom>
          <a:solidFill>
            <a:schemeClr val="bg2"/>
          </a:solidFill>
          <a:ln/>
        </p:spPr>
      </p:sp>
      <p:sp>
        <p:nvSpPr>
          <p:cNvPr id="11" name="Algo que sobra"/>
          <p:cNvSpPr/>
          <p:nvPr/>
        </p:nvSpPr>
        <p:spPr>
          <a:xfrm>
            <a:off x="1325880" y="4343400"/>
            <a:ext cx="640080" cy="640080"/>
          </a:xfrm>
          <a:prstGeom prst="ellipse">
            <a:avLst/>
          </a:prstGeom>
          <a:solidFill>
            <a:schemeClr val="accent1"/>
          </a:solidFill>
          <a:ln/>
        </p:spPr>
      </p:sp>
      <p:pic>
        <p:nvPicPr>
          <p:cNvPr id="12" name="Image 0" descr="Algo que sobra"/>
          <p:cNvPicPr>
            <a:picLocks noChangeAspect="1"/>
          </p:cNvPicPr>
          <p:nvPr/>
        </p:nvPicPr>
        <p:blipFill>
          <a:blip r:embed="rId3"/>
          <a:stretch>
            <a:fillRect/>
          </a:stretch>
        </p:blipFill>
        <p:spPr>
          <a:xfrm>
            <a:off x="1479499" y="4497019"/>
            <a:ext cx="332842" cy="332842"/>
          </a:xfrm>
          <a:prstGeom prst="rect">
            <a:avLst/>
          </a:prstGeom>
        </p:spPr>
      </p:pic>
      <p:sp>
        <p:nvSpPr>
          <p:cNvPr id="13" name="Text 10"/>
          <p:cNvSpPr txBox="1"/>
          <p:nvPr/>
        </p:nvSpPr>
        <p:spPr>
          <a:xfrm>
            <a:off x="2103120"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sobra</a:t>
            </a:r>
            <a:endParaRPr lang="en-US" sz="1700" dirty="0"/>
          </a:p>
        </p:txBody>
      </p:sp>
      <p:sp>
        <p:nvSpPr>
          <p:cNvPr id="14" name="Tarjeta"/>
          <p:cNvSpPr/>
          <p:nvPr/>
        </p:nvSpPr>
        <p:spPr>
          <a:xfrm>
            <a:off x="4734458" y="4160520"/>
            <a:ext cx="3271418" cy="1005840"/>
          </a:xfrm>
          <a:prstGeom prst="roundRect">
            <a:avLst>
              <a:gd name="adj" fmla="val 13636"/>
            </a:avLst>
          </a:prstGeom>
          <a:solidFill>
            <a:schemeClr val="bg2"/>
          </a:solidFill>
          <a:ln/>
        </p:spPr>
      </p:sp>
      <p:sp>
        <p:nvSpPr>
          <p:cNvPr id="15" name="Algo que falta"/>
          <p:cNvSpPr/>
          <p:nvPr/>
        </p:nvSpPr>
        <p:spPr>
          <a:xfrm>
            <a:off x="4963058" y="4343400"/>
            <a:ext cx="640080" cy="640080"/>
          </a:xfrm>
          <a:prstGeom prst="ellipse">
            <a:avLst/>
          </a:prstGeom>
          <a:solidFill>
            <a:schemeClr val="accent1"/>
          </a:solidFill>
          <a:ln/>
        </p:spPr>
      </p:sp>
      <p:pic>
        <p:nvPicPr>
          <p:cNvPr id="16" name="Image 1" descr="Algo que falta"/>
          <p:cNvPicPr>
            <a:picLocks noChangeAspect="1"/>
          </p:cNvPicPr>
          <p:nvPr/>
        </p:nvPicPr>
        <p:blipFill>
          <a:blip r:embed="rId4"/>
          <a:stretch>
            <a:fillRect/>
          </a:stretch>
        </p:blipFill>
        <p:spPr>
          <a:xfrm>
            <a:off x="5116678" y="4497019"/>
            <a:ext cx="332842" cy="332842"/>
          </a:xfrm>
          <a:prstGeom prst="rect">
            <a:avLst/>
          </a:prstGeom>
        </p:spPr>
      </p:pic>
      <p:sp>
        <p:nvSpPr>
          <p:cNvPr id="17" name="Text 13"/>
          <p:cNvSpPr txBox="1"/>
          <p:nvPr/>
        </p:nvSpPr>
        <p:spPr>
          <a:xfrm>
            <a:off x="5740298"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falta</a:t>
            </a:r>
            <a:endParaRPr lang="en-US" sz="1700" dirty="0"/>
          </a:p>
        </p:txBody>
      </p:sp>
      <p:sp>
        <p:nvSpPr>
          <p:cNvPr id="18" name="Tarjeta"/>
          <p:cNvSpPr/>
          <p:nvPr/>
        </p:nvSpPr>
        <p:spPr>
          <a:xfrm>
            <a:off x="8371637" y="4160520"/>
            <a:ext cx="3271418" cy="1005840"/>
          </a:xfrm>
          <a:prstGeom prst="roundRect">
            <a:avLst>
              <a:gd name="adj" fmla="val 13636"/>
            </a:avLst>
          </a:prstGeom>
          <a:solidFill>
            <a:schemeClr val="bg2"/>
          </a:solidFill>
          <a:ln/>
        </p:spPr>
      </p:sp>
      <p:sp>
        <p:nvSpPr>
          <p:cNvPr id="19" name="Algo que no es cierto o no está justificado"/>
          <p:cNvSpPr/>
          <p:nvPr/>
        </p:nvSpPr>
        <p:spPr>
          <a:xfrm>
            <a:off x="8600237" y="4343400"/>
            <a:ext cx="640080" cy="640080"/>
          </a:xfrm>
          <a:prstGeom prst="ellipse">
            <a:avLst/>
          </a:prstGeom>
          <a:solidFill>
            <a:schemeClr val="accent1"/>
          </a:solidFill>
          <a:ln/>
        </p:spPr>
      </p:sp>
      <p:pic>
        <p:nvPicPr>
          <p:cNvPr id="20" name="Image 2" descr="Algo que no es cierto o no está justificado"/>
          <p:cNvPicPr>
            <a:picLocks noChangeAspect="1"/>
          </p:cNvPicPr>
          <p:nvPr/>
        </p:nvPicPr>
        <p:blipFill>
          <a:blip r:embed="rId5"/>
          <a:stretch>
            <a:fillRect/>
          </a:stretch>
        </p:blipFill>
        <p:spPr>
          <a:xfrm>
            <a:off x="8753856" y="4497019"/>
            <a:ext cx="332842" cy="332842"/>
          </a:xfrm>
          <a:prstGeom prst="rect">
            <a:avLst/>
          </a:prstGeom>
        </p:spPr>
      </p:pic>
      <p:sp>
        <p:nvSpPr>
          <p:cNvPr id="21" name="Text 16"/>
          <p:cNvSpPr txBox="1"/>
          <p:nvPr/>
        </p:nvSpPr>
        <p:spPr>
          <a:xfrm>
            <a:off x="9377477"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no es cierto o no está justificado</a:t>
            </a:r>
            <a:endParaRPr lang="en-US" sz="1700" dirty="0"/>
          </a:p>
        </p:txBody>
      </p:sp>
      <p:sp>
        <p:nvSpPr>
          <p:cNvPr id="22" name="Text 17"/>
          <p:cNvSpPr txBox="1"/>
          <p:nvPr/>
        </p:nvSpPr>
        <p:spPr>
          <a:xfrm>
            <a:off x="548640" y="5394960"/>
            <a:ext cx="11094415" cy="502920"/>
          </a:xfrm>
          <a:prstGeom prst="rect">
            <a:avLst/>
          </a:prstGeom>
          <a:noFill/>
          <a:ln/>
        </p:spPr>
        <p:txBody>
          <a:bodyPr wrap="square" lIns="0" tIns="0" rIns="0" bIns="0" rtlCol="0" anchor="ctr"/>
          <a:lstStyle/>
          <a:p>
            <a:pPr marL="0" indent="0">
              <a:buNone/>
            </a:pPr>
            <a:r>
              <a:rPr lang="en-US" sz="2600" b="1" dirty="0">
                <a:solidFill>
                  <a:schemeClr val="accent1"/>
                </a:solidFill>
              </a:rPr>
              <a:t>3  </a:t>
            </a:r>
            <a:r>
              <a:rPr lang="en-US" sz="1900" dirty="0">
                <a:solidFill>
                  <a:schemeClr val="tx1"/>
                </a:solidFill>
              </a:rPr>
              <a:t>Corregidlas.</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76</a:t>
            </a:fld>
            <a:endParaRPr lang="en-US"/>
          </a:p>
        </p:txBody>
      </p:sp>
      <p:sp>
        <p:nvSpPr>
          <p:cNvPr id="26" name="Dónde escribir"/>
          <p:cNvSpPr/>
          <p:nvPr/>
        </p:nvSpPr>
        <p:spPr>
          <a:xfrm>
            <a:off x="4376318" y="6291072"/>
            <a:ext cx="6550761"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documento_proyecto.docx</a:t>
            </a:r>
            <a:r>
              <a:rPr lang="es-ES" sz="1300" dirty="0">
                <a:solidFill>
                  <a:schemeClr val="tx1"/>
                </a:solidFill>
                <a:latin typeface="+mn-lt"/>
              </a:rPr>
              <a:t>  ›  apartados 1 a 6 · el prompt está en la página de trabajo</a:t>
            </a:r>
          </a:p>
        </p:txBody>
      </p:sp>
      <p:sp>
        <p:nvSpPr>
          <p:cNvPr id="27" name="Dónde escribir: círculo"/>
          <p:cNvSpPr/>
          <p:nvPr/>
        </p:nvSpPr>
        <p:spPr>
          <a:xfrm>
            <a:off x="4431182"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6"/>
          <a:stretch>
            <a:fillRect/>
          </a:stretch>
        </p:blipFill>
        <p:spPr>
          <a:xfrm>
            <a:off x="4504334" y="6409944"/>
            <a:ext cx="146304" cy="146304"/>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Ficha exprés: ¿qué habéis cambiado?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156–160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Los </a:t>
            </a:r>
            <a:r>
              <a:rPr lang="en-US" sz="1900" dirty="0" err="1">
                <a:solidFill>
                  <a:schemeClr val="tx2"/>
                </a:solidFill>
              </a:rPr>
              <a:t>grupos</a:t>
            </a:r>
            <a:r>
              <a:rPr lang="en-US" sz="1900" dirty="0">
                <a:solidFill>
                  <a:schemeClr val="tx2"/>
                </a:solidFill>
              </a:rPr>
              <a:t> cuentan qué han corregido y por qué:</a:t>
            </a:r>
            <a:endParaRPr lang="en-US" sz="1900" dirty="0"/>
          </a:p>
        </p:txBody>
      </p:sp>
      <p:sp>
        <p:nvSpPr>
          <p:cNvPr id="6" name="Lo que sobraba"/>
          <p:cNvSpPr/>
          <p:nvPr/>
        </p:nvSpPr>
        <p:spPr>
          <a:xfrm>
            <a:off x="548640" y="2057400"/>
            <a:ext cx="3454298" cy="548640"/>
          </a:xfrm>
          <a:prstGeom prst="roundRect">
            <a:avLst>
              <a:gd name="adj" fmla="val 16667"/>
            </a:avLst>
          </a:prstGeom>
          <a:solidFill>
            <a:schemeClr val="accent1"/>
          </a:solidFill>
          <a:ln/>
        </p:spPr>
      </p:sp>
      <p:sp>
        <p:nvSpPr>
          <p:cNvPr id="7" name="Text 5"/>
          <p:cNvSpPr txBox="1"/>
          <p:nvPr/>
        </p:nvSpPr>
        <p:spPr>
          <a:xfrm>
            <a:off x="640080" y="2057400"/>
            <a:ext cx="3271418" cy="548640"/>
          </a:xfrm>
          <a:prstGeom prst="rect">
            <a:avLst/>
          </a:prstGeom>
          <a:noFill/>
          <a:ln/>
        </p:spPr>
        <p:txBody>
          <a:bodyPr wrap="square" lIns="0" tIns="0" rIns="0" bIns="0" rtlCol="0" anchor="ctr"/>
          <a:lstStyle/>
          <a:p>
            <a:pPr marL="0" indent="0" algn="ctr">
              <a:buNone/>
            </a:pPr>
            <a:r>
              <a:rPr lang="en-US" sz="1800" b="1" dirty="0">
                <a:solidFill>
                  <a:schemeClr val="tx1"/>
                </a:solidFill>
              </a:rPr>
              <a:t>Lo que sobraba</a:t>
            </a:r>
            <a:endParaRPr lang="en-US" sz="1800" dirty="0"/>
          </a:p>
        </p:txBody>
      </p:sp>
      <p:sp>
        <p:nvSpPr>
          <p:cNvPr id="8" name="Hueco"/>
          <p:cNvSpPr/>
          <p:nvPr/>
        </p:nvSpPr>
        <p:spPr>
          <a:xfrm>
            <a:off x="548640" y="2788920"/>
            <a:ext cx="3454298" cy="2423160"/>
          </a:xfrm>
          <a:prstGeom prst="roundRect">
            <a:avLst>
              <a:gd name="adj" fmla="val 3774"/>
            </a:avLst>
          </a:prstGeom>
          <a:solidFill>
            <a:schemeClr val="bg2"/>
          </a:solidFill>
          <a:ln w="12700">
            <a:solidFill>
              <a:srgbClr val="8A94A6"/>
            </a:solidFill>
            <a:prstDash val="dash"/>
          </a:ln>
        </p:spPr>
      </p:sp>
      <p:sp>
        <p:nvSpPr>
          <p:cNvPr id="9" name="Lo que faltaba"/>
          <p:cNvSpPr/>
          <p:nvPr/>
        </p:nvSpPr>
        <p:spPr>
          <a:xfrm>
            <a:off x="4368698" y="2057400"/>
            <a:ext cx="3454298" cy="548640"/>
          </a:xfrm>
          <a:prstGeom prst="roundRect">
            <a:avLst>
              <a:gd name="adj" fmla="val 16667"/>
            </a:avLst>
          </a:prstGeom>
          <a:solidFill>
            <a:schemeClr val="accent2"/>
          </a:solidFill>
          <a:ln/>
        </p:spPr>
      </p:sp>
      <p:sp>
        <p:nvSpPr>
          <p:cNvPr id="10" name="Text 8"/>
          <p:cNvSpPr txBox="1"/>
          <p:nvPr/>
        </p:nvSpPr>
        <p:spPr>
          <a:xfrm>
            <a:off x="4460138"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Lo que faltaba</a:t>
            </a:r>
            <a:endParaRPr lang="en-US" sz="1800" dirty="0"/>
          </a:p>
        </p:txBody>
      </p:sp>
      <p:sp>
        <p:nvSpPr>
          <p:cNvPr id="11" name="Hueco"/>
          <p:cNvSpPr/>
          <p:nvPr/>
        </p:nvSpPr>
        <p:spPr>
          <a:xfrm>
            <a:off x="4368698" y="2788920"/>
            <a:ext cx="3454298" cy="2423160"/>
          </a:xfrm>
          <a:prstGeom prst="roundRect">
            <a:avLst>
              <a:gd name="adj" fmla="val 3774"/>
            </a:avLst>
          </a:prstGeom>
          <a:solidFill>
            <a:schemeClr val="bg2"/>
          </a:solidFill>
          <a:ln w="12700">
            <a:solidFill>
              <a:srgbClr val="8A94A6"/>
            </a:solidFill>
            <a:prstDash val="dash"/>
          </a:ln>
        </p:spPr>
      </p:sp>
      <p:sp>
        <p:nvSpPr>
          <p:cNvPr id="12" name="Lo que no era cierto"/>
          <p:cNvSpPr/>
          <p:nvPr/>
        </p:nvSpPr>
        <p:spPr>
          <a:xfrm>
            <a:off x="8188757" y="2057400"/>
            <a:ext cx="3454298" cy="548640"/>
          </a:xfrm>
          <a:prstGeom prst="roundRect">
            <a:avLst>
              <a:gd name="adj" fmla="val 16667"/>
            </a:avLst>
          </a:prstGeom>
          <a:solidFill>
            <a:schemeClr val="accent3"/>
          </a:solidFill>
          <a:ln/>
        </p:spPr>
      </p:sp>
      <p:sp>
        <p:nvSpPr>
          <p:cNvPr id="13" name="Text 11"/>
          <p:cNvSpPr txBox="1"/>
          <p:nvPr/>
        </p:nvSpPr>
        <p:spPr>
          <a:xfrm>
            <a:off x="8280197"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Lo que no era cierto</a:t>
            </a:r>
            <a:endParaRPr lang="en-US" sz="1800" dirty="0"/>
          </a:p>
        </p:txBody>
      </p:sp>
      <p:sp>
        <p:nvSpPr>
          <p:cNvPr id="14" name="Hueco"/>
          <p:cNvSpPr/>
          <p:nvPr/>
        </p:nvSpPr>
        <p:spPr>
          <a:xfrm>
            <a:off x="8188757" y="2788920"/>
            <a:ext cx="3454298" cy="2423160"/>
          </a:xfrm>
          <a:prstGeom prst="roundRect">
            <a:avLst>
              <a:gd name="adj" fmla="val 3774"/>
            </a:avLst>
          </a:prstGeom>
          <a:solidFill>
            <a:schemeClr val="bg2"/>
          </a:solidFill>
          <a:ln w="12700">
            <a:solidFill>
              <a:srgbClr val="8A94A6"/>
            </a:solidFill>
            <a:prstDash val="dash"/>
          </a:ln>
        </p:spPr>
      </p:sp>
      <p:sp>
        <p:nvSpPr>
          <p:cNvPr id="15" name="Text 13"/>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Guardad el archivo: en el bloque 4 lo ampliaréis hasta el documento.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77</a:t>
            </a:fld>
            <a:endParaRPr lang="en-US"/>
          </a:p>
        </p:txBody>
      </p:sp>
      <p:sp>
        <p:nvSpPr>
          <p:cNvPr id="26" name="Dónde escribir"/>
          <p:cNvSpPr/>
          <p:nvPr/>
        </p:nvSpPr>
        <p:spPr>
          <a:xfrm>
            <a:off x="4924958" y="6291072"/>
            <a:ext cx="6002121"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documento_proyecto.docx</a:t>
            </a:r>
            <a:r>
              <a:rPr lang="es-ES" sz="1300" dirty="0">
                <a:solidFill>
                  <a:schemeClr val="tx1"/>
                </a:solidFill>
                <a:latin typeface="+mn-lt"/>
              </a:rPr>
              <a:t>  ›  página de trabajo  ›  Tres cosas que cambiamos</a:t>
            </a:r>
          </a:p>
        </p:txBody>
      </p:sp>
      <p:sp>
        <p:nvSpPr>
          <p:cNvPr id="27" name="Dónde escribir: círculo"/>
          <p:cNvSpPr/>
          <p:nvPr/>
        </p:nvSpPr>
        <p:spPr>
          <a:xfrm>
            <a:off x="4979822"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5052974" y="6409944"/>
            <a:ext cx="146304" cy="146304"/>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llevamos hecho</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160–165 · Todo el grupo</a:t>
            </a:r>
            <a:endParaRPr lang="en-US" sz="1400" dirty="0"/>
          </a:p>
        </p:txBody>
      </p:sp>
      <p:sp>
        <p:nvSpPr>
          <p:cNvPr id="5" name="Detectar"/>
          <p:cNvSpPr/>
          <p:nvPr/>
        </p:nvSpPr>
        <p:spPr>
          <a:xfrm>
            <a:off x="594360" y="1645920"/>
            <a:ext cx="2127443" cy="1463040"/>
          </a:xfrm>
          <a:prstGeom prst="chevron">
            <a:avLst/>
          </a:prstGeom>
          <a:solidFill>
            <a:schemeClr val="tx1"/>
          </a:solidFill>
          <a:ln/>
        </p:spPr>
      </p:sp>
      <p:sp>
        <p:nvSpPr>
          <p:cNvPr id="6" name="Detectar"/>
          <p:cNvSpPr/>
          <p:nvPr/>
        </p:nvSpPr>
        <p:spPr>
          <a:xfrm>
            <a:off x="1338042" y="1783080"/>
            <a:ext cx="640080" cy="640080"/>
          </a:xfrm>
          <a:prstGeom prst="ellipse">
            <a:avLst/>
          </a:prstGeom>
          <a:solidFill>
            <a:schemeClr val="accent1"/>
          </a:solidFill>
          <a:ln/>
        </p:spPr>
      </p:sp>
      <p:pic>
        <p:nvPicPr>
          <p:cNvPr id="7" name="Image 0" descr="Detectar"/>
          <p:cNvPicPr>
            <a:picLocks noChangeAspect="1"/>
          </p:cNvPicPr>
          <p:nvPr/>
        </p:nvPicPr>
        <p:blipFill>
          <a:blip r:embed="rId3"/>
          <a:stretch>
            <a:fillRect/>
          </a:stretch>
        </p:blipFill>
        <p:spPr>
          <a:xfrm>
            <a:off x="1491661" y="1936699"/>
            <a:ext cx="332842" cy="332842"/>
          </a:xfrm>
          <a:prstGeom prst="rect">
            <a:avLst/>
          </a:prstGeom>
        </p:spPr>
      </p:pic>
      <p:sp>
        <p:nvSpPr>
          <p:cNvPr id="8" name="Text 5"/>
          <p:cNvSpPr txBox="1"/>
          <p:nvPr/>
        </p:nvSpPr>
        <p:spPr>
          <a:xfrm>
            <a:off x="822960"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Detectar</a:t>
            </a:r>
            <a:endParaRPr lang="en-US" sz="1900" dirty="0"/>
          </a:p>
        </p:txBody>
      </p:sp>
      <p:sp>
        <p:nvSpPr>
          <p:cNvPr id="9" name="Idear"/>
          <p:cNvSpPr/>
          <p:nvPr/>
        </p:nvSpPr>
        <p:spPr>
          <a:xfrm>
            <a:off x="2813243" y="1645920"/>
            <a:ext cx="2127443" cy="1463040"/>
          </a:xfrm>
          <a:prstGeom prst="chevron">
            <a:avLst/>
          </a:prstGeom>
          <a:solidFill>
            <a:schemeClr val="tx2"/>
          </a:solidFill>
          <a:ln/>
        </p:spPr>
      </p:sp>
      <p:sp>
        <p:nvSpPr>
          <p:cNvPr id="10" name="Idear"/>
          <p:cNvSpPr/>
          <p:nvPr/>
        </p:nvSpPr>
        <p:spPr>
          <a:xfrm>
            <a:off x="3556925" y="1783080"/>
            <a:ext cx="640080" cy="640080"/>
          </a:xfrm>
          <a:prstGeom prst="ellipse">
            <a:avLst/>
          </a:prstGeom>
          <a:solidFill>
            <a:schemeClr val="accent1"/>
          </a:solidFill>
          <a:ln/>
        </p:spPr>
      </p:sp>
      <p:pic>
        <p:nvPicPr>
          <p:cNvPr id="11" name="Image 1" descr="Idear"/>
          <p:cNvPicPr>
            <a:picLocks noChangeAspect="1"/>
          </p:cNvPicPr>
          <p:nvPr/>
        </p:nvPicPr>
        <p:blipFill>
          <a:blip r:embed="rId4"/>
          <a:stretch>
            <a:fillRect/>
          </a:stretch>
        </p:blipFill>
        <p:spPr>
          <a:xfrm>
            <a:off x="3710544" y="1936699"/>
            <a:ext cx="332842" cy="332842"/>
          </a:xfrm>
          <a:prstGeom prst="rect">
            <a:avLst/>
          </a:prstGeom>
        </p:spPr>
      </p:pic>
      <p:sp>
        <p:nvSpPr>
          <p:cNvPr id="12" name="Text 8"/>
          <p:cNvSpPr txBox="1"/>
          <p:nvPr/>
        </p:nvSpPr>
        <p:spPr>
          <a:xfrm>
            <a:off x="3041843"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Idear</a:t>
            </a:r>
            <a:endParaRPr lang="en-US" sz="1900" dirty="0"/>
          </a:p>
        </p:txBody>
      </p:sp>
      <p:sp>
        <p:nvSpPr>
          <p:cNvPr id="13" name="Comparar"/>
          <p:cNvSpPr/>
          <p:nvPr/>
        </p:nvSpPr>
        <p:spPr>
          <a:xfrm>
            <a:off x="5032126" y="1645920"/>
            <a:ext cx="2127443" cy="1463040"/>
          </a:xfrm>
          <a:prstGeom prst="chevron">
            <a:avLst/>
          </a:prstGeom>
          <a:solidFill>
            <a:schemeClr val="tx1"/>
          </a:solidFill>
          <a:ln/>
        </p:spPr>
      </p:sp>
      <p:sp>
        <p:nvSpPr>
          <p:cNvPr id="14" name="Comparar"/>
          <p:cNvSpPr/>
          <p:nvPr/>
        </p:nvSpPr>
        <p:spPr>
          <a:xfrm>
            <a:off x="5775808" y="1783080"/>
            <a:ext cx="640080" cy="640080"/>
          </a:xfrm>
          <a:prstGeom prst="ellipse">
            <a:avLst/>
          </a:prstGeom>
          <a:solidFill>
            <a:schemeClr val="accent1"/>
          </a:solidFill>
          <a:ln/>
        </p:spPr>
      </p:sp>
      <p:pic>
        <p:nvPicPr>
          <p:cNvPr id="15" name="Image 2" descr="Comparar"/>
          <p:cNvPicPr>
            <a:picLocks noChangeAspect="1"/>
          </p:cNvPicPr>
          <p:nvPr/>
        </p:nvPicPr>
        <p:blipFill>
          <a:blip r:embed="rId5"/>
          <a:stretch>
            <a:fillRect/>
          </a:stretch>
        </p:blipFill>
        <p:spPr>
          <a:xfrm>
            <a:off x="5929427" y="1936699"/>
            <a:ext cx="332842" cy="332842"/>
          </a:xfrm>
          <a:prstGeom prst="rect">
            <a:avLst/>
          </a:prstGeom>
        </p:spPr>
      </p:pic>
      <p:sp>
        <p:nvSpPr>
          <p:cNvPr id="16" name="Text 11"/>
          <p:cNvSpPr txBox="1"/>
          <p:nvPr/>
        </p:nvSpPr>
        <p:spPr>
          <a:xfrm>
            <a:off x="5260726"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Comparar</a:t>
            </a:r>
            <a:endParaRPr lang="en-US" sz="1900" dirty="0"/>
          </a:p>
        </p:txBody>
      </p:sp>
      <p:sp>
        <p:nvSpPr>
          <p:cNvPr id="17" name="Decidir"/>
          <p:cNvSpPr/>
          <p:nvPr/>
        </p:nvSpPr>
        <p:spPr>
          <a:xfrm>
            <a:off x="7251009" y="1645920"/>
            <a:ext cx="2127443" cy="1463040"/>
          </a:xfrm>
          <a:prstGeom prst="chevron">
            <a:avLst/>
          </a:prstGeom>
          <a:solidFill>
            <a:schemeClr val="tx2"/>
          </a:solidFill>
          <a:ln/>
        </p:spPr>
      </p:sp>
      <p:sp>
        <p:nvSpPr>
          <p:cNvPr id="18" name="Decidir"/>
          <p:cNvSpPr/>
          <p:nvPr/>
        </p:nvSpPr>
        <p:spPr>
          <a:xfrm>
            <a:off x="7994691" y="1783080"/>
            <a:ext cx="640080" cy="640080"/>
          </a:xfrm>
          <a:prstGeom prst="ellipse">
            <a:avLst/>
          </a:prstGeom>
          <a:solidFill>
            <a:schemeClr val="accent1"/>
          </a:solidFill>
          <a:ln/>
        </p:spPr>
      </p:sp>
      <p:pic>
        <p:nvPicPr>
          <p:cNvPr id="19" name="Image 3" descr="Decidir"/>
          <p:cNvPicPr>
            <a:picLocks noChangeAspect="1"/>
          </p:cNvPicPr>
          <p:nvPr/>
        </p:nvPicPr>
        <p:blipFill>
          <a:blip r:embed="rId6"/>
          <a:stretch>
            <a:fillRect/>
          </a:stretch>
        </p:blipFill>
        <p:spPr>
          <a:xfrm>
            <a:off x="8148310" y="1936699"/>
            <a:ext cx="332842" cy="332842"/>
          </a:xfrm>
          <a:prstGeom prst="rect">
            <a:avLst/>
          </a:prstGeom>
        </p:spPr>
      </p:pic>
      <p:sp>
        <p:nvSpPr>
          <p:cNvPr id="20" name="Text 14"/>
          <p:cNvSpPr txBox="1"/>
          <p:nvPr/>
        </p:nvSpPr>
        <p:spPr>
          <a:xfrm>
            <a:off x="7479609"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Decidir</a:t>
            </a:r>
            <a:endParaRPr lang="en-US" sz="1900" dirty="0"/>
          </a:p>
        </p:txBody>
      </p:sp>
      <p:sp>
        <p:nvSpPr>
          <p:cNvPr id="21" name="Documentar"/>
          <p:cNvSpPr/>
          <p:nvPr/>
        </p:nvSpPr>
        <p:spPr>
          <a:xfrm>
            <a:off x="9469892" y="1645920"/>
            <a:ext cx="2127443" cy="1463040"/>
          </a:xfrm>
          <a:prstGeom prst="chevron">
            <a:avLst/>
          </a:prstGeom>
          <a:solidFill>
            <a:schemeClr val="tx1"/>
          </a:solidFill>
          <a:ln/>
        </p:spPr>
      </p:sp>
      <p:sp>
        <p:nvSpPr>
          <p:cNvPr id="22" name="Documentar"/>
          <p:cNvSpPr/>
          <p:nvPr/>
        </p:nvSpPr>
        <p:spPr>
          <a:xfrm>
            <a:off x="10213574" y="1783080"/>
            <a:ext cx="640080" cy="640080"/>
          </a:xfrm>
          <a:prstGeom prst="ellipse">
            <a:avLst/>
          </a:prstGeom>
          <a:solidFill>
            <a:schemeClr val="accent1"/>
          </a:solidFill>
          <a:ln/>
        </p:spPr>
      </p:sp>
      <p:pic>
        <p:nvPicPr>
          <p:cNvPr id="23" name="Image 4" descr="Documentar"/>
          <p:cNvPicPr>
            <a:picLocks noChangeAspect="1"/>
          </p:cNvPicPr>
          <p:nvPr/>
        </p:nvPicPr>
        <p:blipFill>
          <a:blip r:embed="rId7"/>
          <a:stretch>
            <a:fillRect/>
          </a:stretch>
        </p:blipFill>
        <p:spPr>
          <a:xfrm>
            <a:off x="10367193" y="1936699"/>
            <a:ext cx="332842" cy="332842"/>
          </a:xfrm>
          <a:prstGeom prst="rect">
            <a:avLst/>
          </a:prstGeom>
        </p:spPr>
      </p:pic>
      <p:sp>
        <p:nvSpPr>
          <p:cNvPr id="24" name="Text 17"/>
          <p:cNvSpPr txBox="1"/>
          <p:nvPr/>
        </p:nvSpPr>
        <p:spPr>
          <a:xfrm>
            <a:off x="9698492"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Documentar</a:t>
            </a:r>
            <a:endParaRPr lang="en-US" sz="1900" dirty="0"/>
          </a:p>
        </p:txBody>
      </p:sp>
      <p:sp>
        <p:nvSpPr>
          <p:cNvPr id="25" name="Tarjeta"/>
          <p:cNvSpPr/>
          <p:nvPr/>
        </p:nvSpPr>
        <p:spPr>
          <a:xfrm>
            <a:off x="548640" y="3657600"/>
            <a:ext cx="11094415" cy="1828800"/>
          </a:xfrm>
          <a:prstGeom prst="roundRect">
            <a:avLst>
              <a:gd name="adj" fmla="val 7500"/>
            </a:avLst>
          </a:prstGeom>
          <a:solidFill>
            <a:schemeClr val="bg2"/>
          </a:solidFill>
          <a:ln/>
        </p:spPr>
      </p:sp>
      <p:sp>
        <p:nvSpPr>
          <p:cNvPr id="26" name="Ronda"/>
          <p:cNvSpPr/>
          <p:nvPr/>
        </p:nvSpPr>
        <p:spPr>
          <a:xfrm>
            <a:off x="914400" y="4023360"/>
            <a:ext cx="1097280" cy="1097280"/>
          </a:xfrm>
          <a:prstGeom prst="ellipse">
            <a:avLst/>
          </a:prstGeom>
          <a:solidFill>
            <a:schemeClr val="accent1"/>
          </a:solidFill>
          <a:ln/>
        </p:spPr>
      </p:sp>
      <p:pic>
        <p:nvPicPr>
          <p:cNvPr id="27" name="Image 5" descr="Ronda"/>
          <p:cNvPicPr>
            <a:picLocks noChangeAspect="1"/>
          </p:cNvPicPr>
          <p:nvPr/>
        </p:nvPicPr>
        <p:blipFill>
          <a:blip r:embed="rId8"/>
          <a:stretch>
            <a:fillRect/>
          </a:stretch>
        </p:blipFill>
        <p:spPr>
          <a:xfrm>
            <a:off x="1177747" y="4286707"/>
            <a:ext cx="570586" cy="570586"/>
          </a:xfrm>
          <a:prstGeom prst="rect">
            <a:avLst/>
          </a:prstGeom>
        </p:spPr>
      </p:pic>
      <p:sp>
        <p:nvSpPr>
          <p:cNvPr id="28" name="Text 20"/>
          <p:cNvSpPr txBox="1"/>
          <p:nvPr/>
        </p:nvSpPr>
        <p:spPr>
          <a:xfrm>
            <a:off x="2286000" y="3657600"/>
            <a:ext cx="9082735" cy="1828800"/>
          </a:xfrm>
          <a:prstGeom prst="rect">
            <a:avLst/>
          </a:prstGeom>
          <a:noFill/>
          <a:ln/>
        </p:spPr>
        <p:txBody>
          <a:bodyPr wrap="square" lIns="0" tIns="0" rIns="0" bIns="0" rtlCol="0" anchor="ctr"/>
          <a:lstStyle/>
          <a:p>
            <a:pPr marL="0" indent="0">
              <a:buNone/>
            </a:pPr>
            <a:r>
              <a:rPr lang="en-US" sz="2400" b="1" dirty="0">
                <a:solidFill>
                  <a:schemeClr val="tx1"/>
                </a:solidFill>
              </a:rPr>
              <a:t>Ronda rápida</a:t>
            </a:r>
            <a:endParaRPr lang="en-US" sz="2100" dirty="0"/>
          </a:p>
          <a:p>
            <a:pPr marL="0" indent="0">
              <a:buNone/>
            </a:pPr>
            <a:r>
              <a:rPr lang="en-US" sz="2100" dirty="0">
                <a:solidFill>
                  <a:schemeClr val="tx1"/>
                </a:solidFill>
              </a:rPr>
              <a:t>Cada pareja, en una frase: ¿qué paso os ha costado más hasta ahora y por qué?</a:t>
            </a:r>
            <a:endParaRPr lang="en-US" sz="2100" dirty="0"/>
          </a:p>
        </p:txBody>
      </p:sp>
      <p:sp>
        <p:nvSpPr>
          <p:cNvPr id="29"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Idea clave del bloque 3</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Un documento de la IA no está terminado hasta que lo </a:t>
            </a:r>
            <a:r>
              <a:rPr lang="en-US" sz="3400" dirty="0" err="1">
                <a:solidFill>
                  <a:schemeClr val="bg1"/>
                </a:solidFill>
              </a:rPr>
              <a:t>revisáis</a:t>
            </a:r>
            <a:r>
              <a:rPr lang="en-US" sz="3400">
                <a:solidFill>
                  <a:schemeClr val="bg1"/>
                </a:solidFill>
              </a:rPr>
              <a:t>. </a:t>
            </a:r>
            <a:r>
              <a:rPr lang="en-US" sz="3400" b="1">
                <a:solidFill>
                  <a:schemeClr val="accent1"/>
                </a:solidFill>
              </a:rPr>
              <a:t>Y </a:t>
            </a:r>
            <a:r>
              <a:rPr lang="en-US" sz="3400" b="1" dirty="0">
                <a:solidFill>
                  <a:schemeClr val="accent1"/>
                </a:solidFill>
              </a:rPr>
              <a:t>la matriz no decide por vosotros: os ayuda a razonar.</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4</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Desarrollo de la propuesta ganadora</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75 minutos · por parejas</a:t>
            </a:r>
            <a:endParaRPr lang="en-US" sz="22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accent1"/>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165–175</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Preguntas difíciles</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175–195</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Documento del proyecto</a:t>
            </a:r>
            <a:endParaRPr lang="en-US" sz="1700" dirty="0"/>
          </a:p>
        </p:txBody>
      </p:sp>
      <p:sp>
        <p:nvSpPr>
          <p:cNvPr id="10" name="Paso 3"/>
          <p:cNvSpPr/>
          <p:nvPr/>
        </p:nvSpPr>
        <p:spPr>
          <a:xfrm>
            <a:off x="5478628" y="1760220"/>
            <a:ext cx="1234440" cy="1234440"/>
          </a:xfrm>
          <a:prstGeom prst="ellipse">
            <a:avLst/>
          </a:prstGeom>
          <a:solidFill>
            <a:schemeClr val="accent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195–210</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¿Cómo sabremos si funciona?</a:t>
            </a:r>
            <a:endParaRPr lang="en-US" sz="1700" dirty="0"/>
          </a:p>
        </p:txBody>
      </p:sp>
      <p:sp>
        <p:nvSpPr>
          <p:cNvPr id="13" name="Paso 4"/>
          <p:cNvSpPr/>
          <p:nvPr/>
        </p:nvSpPr>
        <p:spPr>
          <a:xfrm>
            <a:off x="7697511" y="1760220"/>
            <a:ext cx="1234440" cy="1234440"/>
          </a:xfrm>
          <a:prstGeom prst="ellipse">
            <a:avLst/>
          </a:prstGeom>
          <a:solidFill>
            <a:schemeClr val="accent1"/>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210–235</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Presentación en tres diapositivas</a:t>
            </a:r>
            <a:endParaRPr lang="en-US" sz="1700" dirty="0"/>
          </a:p>
        </p:txBody>
      </p:sp>
      <p:sp>
        <p:nvSpPr>
          <p:cNvPr id="16" name="Paso 5"/>
          <p:cNvSpPr/>
          <p:nvPr/>
        </p:nvSpPr>
        <p:spPr>
          <a:xfrm>
            <a:off x="9916394" y="1760220"/>
            <a:ext cx="1234440" cy="1234440"/>
          </a:xfrm>
          <a:prstGeom prst="ellipse">
            <a:avLst/>
          </a:prstGeom>
          <a:solidFill>
            <a:schemeClr val="accent1"/>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235–240</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Revisión cruzada</a:t>
            </a:r>
            <a:endParaRPr lang="en-US" sz="1700" dirty="0"/>
          </a:p>
        </p:txBody>
      </p:sp>
      <p:sp>
        <p:nvSpPr>
          <p:cNvPr id="19" name="Tarjeta"/>
          <p:cNvSpPr/>
          <p:nvPr/>
        </p:nvSpPr>
        <p:spPr>
          <a:xfrm>
            <a:off x="548640" y="4663440"/>
            <a:ext cx="11094415" cy="1005840"/>
          </a:xfrm>
          <a:prstGeom prst="roundRect">
            <a:avLst>
              <a:gd name="adj" fmla="val 13636"/>
            </a:avLst>
          </a:prstGeom>
          <a:solidFill>
            <a:schemeClr val="bg2"/>
          </a:solidFill>
          <a:ln/>
        </p:spPr>
      </p:sp>
      <p:sp>
        <p:nvSpPr>
          <p:cNvPr id="20" name="Text 18"/>
          <p:cNvSpPr txBox="1"/>
          <p:nvPr/>
        </p:nvSpPr>
        <p:spPr>
          <a:xfrm>
            <a:off x="868680" y="4663440"/>
            <a:ext cx="10454335" cy="1005840"/>
          </a:xfrm>
          <a:prstGeom prst="rect">
            <a:avLst/>
          </a:prstGeom>
          <a:noFill/>
          <a:ln/>
        </p:spPr>
        <p:txBody>
          <a:bodyPr wrap="square" lIns="0" tIns="0" rIns="0" bIns="0" rtlCol="0" anchor="ctr"/>
          <a:lstStyle/>
          <a:p>
            <a:pPr marL="0" indent="0">
              <a:buNone/>
            </a:pPr>
            <a:r>
              <a:rPr lang="en-US" sz="2000" b="1" dirty="0">
                <a:solidFill>
                  <a:schemeClr val="tx1"/>
                </a:solidFill>
              </a:rPr>
              <a:t>Sin caso nuevo: </a:t>
            </a:r>
            <a:r>
              <a:rPr lang="en-US" sz="2000" dirty="0">
                <a:solidFill>
                  <a:schemeClr val="tx1"/>
                </a:solidFill>
              </a:rPr>
              <a:t>cada pareja sigue con su propuesta ganadora del bloque 3 y su ficha exprés.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Seguimos en el documento del proyecto</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marL="0" indent="0" algn="ctr">
              <a:buNone/>
            </a:pPr>
            <a:r>
              <a:rPr lang="en-US" sz="1400" b="1" dirty="0">
                <a:solidFill>
                  <a:schemeClr val="tx1"/>
                </a:solidFill>
              </a:rPr>
              <a:t>Min. 165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documento_proyecto.docx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En el intercambio, apuntad en la página de trabajo las preguntas que no sepáis responder.</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Después, ampliad cada apartado y rellenad lo marcado «bloque 4».</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Antes de entregar, repasad la lista de la página de trabajo. Máximo dos páginas.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Antes de seguir, ponedla a prueba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165–175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Juntaos con otra pareja:</a:t>
            </a:r>
            <a:endParaRPr lang="en-US" sz="1900" dirty="0"/>
          </a:p>
        </p:txBody>
      </p:sp>
      <p:sp>
        <p:nvSpPr>
          <p:cNvPr id="6" name="Tarjeta"/>
          <p:cNvSpPr/>
          <p:nvPr/>
        </p:nvSpPr>
        <p:spPr>
          <a:xfrm>
            <a:off x="548640" y="1920240"/>
            <a:ext cx="3362858" cy="1828800"/>
          </a:xfrm>
          <a:prstGeom prst="roundRect">
            <a:avLst>
              <a:gd name="adj" fmla="val 7500"/>
            </a:avLst>
          </a:prstGeom>
          <a:solidFill>
            <a:schemeClr val="bg2"/>
          </a:solidFill>
          <a:ln/>
        </p:spPr>
      </p:sp>
      <p:sp>
        <p:nvSpPr>
          <p:cNvPr id="7" name="Paso 1"/>
          <p:cNvSpPr/>
          <p:nvPr/>
        </p:nvSpPr>
        <p:spPr>
          <a:xfrm>
            <a:off x="822960" y="2148840"/>
            <a:ext cx="777240" cy="777240"/>
          </a:xfrm>
          <a:prstGeom prst="ellipse">
            <a:avLst/>
          </a:prstGeom>
          <a:solidFill>
            <a:schemeClr val="accent1"/>
          </a:solidFill>
          <a:ln/>
        </p:spPr>
      </p:sp>
      <p:pic>
        <p:nvPicPr>
          <p:cNvPr id="8" name="Image 0" descr="Paso 1"/>
          <p:cNvPicPr>
            <a:picLocks noChangeAspect="1"/>
          </p:cNvPicPr>
          <p:nvPr/>
        </p:nvPicPr>
        <p:blipFill>
          <a:blip r:embed="rId3"/>
          <a:stretch>
            <a:fillRect/>
          </a:stretch>
        </p:blipFill>
        <p:spPr>
          <a:xfrm>
            <a:off x="1009498" y="2335378"/>
            <a:ext cx="404165" cy="404165"/>
          </a:xfrm>
          <a:prstGeom prst="rect">
            <a:avLst/>
          </a:prstGeom>
        </p:spPr>
      </p:pic>
      <p:sp>
        <p:nvSpPr>
          <p:cNvPr id="9" name="Text 6"/>
          <p:cNvSpPr txBox="1"/>
          <p:nvPr/>
        </p:nvSpPr>
        <p:spPr>
          <a:xfrm>
            <a:off x="1783080"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La pareja A explica su propuesta </a:t>
            </a:r>
            <a:r>
              <a:rPr lang="en-US" sz="1800" dirty="0" err="1">
                <a:solidFill>
                  <a:schemeClr val="tx1"/>
                </a:solidFill>
              </a:rPr>
              <a:t>en</a:t>
            </a:r>
            <a:r>
              <a:rPr lang="en-US" sz="1800" dirty="0">
                <a:solidFill>
                  <a:schemeClr val="tx1"/>
                </a:solidFill>
              </a:rPr>
              <a:t> </a:t>
            </a:r>
            <a:r>
              <a:rPr lang="en-US" sz="1800" dirty="0" err="1">
                <a:solidFill>
                  <a:schemeClr val="tx1"/>
                </a:solidFill>
              </a:rPr>
              <a:t>pocos</a:t>
            </a:r>
            <a:r>
              <a:rPr lang="en-US" sz="1800" dirty="0">
                <a:solidFill>
                  <a:schemeClr val="tx1"/>
                </a:solidFill>
              </a:rPr>
              <a:t> </a:t>
            </a:r>
            <a:r>
              <a:rPr lang="en-US" sz="1800" dirty="0" err="1">
                <a:solidFill>
                  <a:schemeClr val="tx1"/>
                </a:solidFill>
              </a:rPr>
              <a:t>minutos</a:t>
            </a:r>
            <a:r>
              <a:rPr lang="en-US" sz="1800" dirty="0">
                <a:solidFill>
                  <a:schemeClr val="tx1"/>
                </a:solidFill>
              </a:rPr>
              <a:t>, con la ficha exprés delante.</a:t>
            </a:r>
            <a:endParaRPr lang="en-US" sz="1800" dirty="0"/>
          </a:p>
        </p:txBody>
      </p:sp>
      <p:sp>
        <p:nvSpPr>
          <p:cNvPr id="10" name="Shape 7"/>
          <p:cNvSpPr/>
          <p:nvPr/>
        </p:nvSpPr>
        <p:spPr>
          <a:xfrm>
            <a:off x="3984650" y="2834640"/>
            <a:ext cx="356616" cy="0"/>
          </a:xfrm>
          <a:prstGeom prst="line">
            <a:avLst/>
          </a:prstGeom>
          <a:noFill/>
          <a:ln w="38100">
            <a:solidFill>
              <a:srgbClr val="3A4664"/>
            </a:solidFill>
            <a:prstDash val="solid"/>
            <a:tailEnd type="triangle"/>
          </a:ln>
        </p:spPr>
      </p:sp>
      <p:sp>
        <p:nvSpPr>
          <p:cNvPr id="11" name="Tarjeta"/>
          <p:cNvSpPr/>
          <p:nvPr/>
        </p:nvSpPr>
        <p:spPr>
          <a:xfrm>
            <a:off x="4414418" y="1920240"/>
            <a:ext cx="3362858" cy="1828800"/>
          </a:xfrm>
          <a:prstGeom prst="roundRect">
            <a:avLst>
              <a:gd name="adj" fmla="val 7500"/>
            </a:avLst>
          </a:prstGeom>
          <a:solidFill>
            <a:schemeClr val="bg2"/>
          </a:solidFill>
          <a:ln/>
        </p:spPr>
      </p:sp>
      <p:sp>
        <p:nvSpPr>
          <p:cNvPr id="12" name="Paso 2"/>
          <p:cNvSpPr/>
          <p:nvPr/>
        </p:nvSpPr>
        <p:spPr>
          <a:xfrm>
            <a:off x="4688738" y="2148840"/>
            <a:ext cx="777240" cy="777240"/>
          </a:xfrm>
          <a:prstGeom prst="ellipse">
            <a:avLst/>
          </a:prstGeom>
          <a:solidFill>
            <a:schemeClr val="accent1"/>
          </a:solidFill>
          <a:ln/>
        </p:spPr>
      </p:sp>
      <p:pic>
        <p:nvPicPr>
          <p:cNvPr id="13" name="Image 1" descr="Paso 2"/>
          <p:cNvPicPr>
            <a:picLocks noChangeAspect="1"/>
          </p:cNvPicPr>
          <p:nvPr/>
        </p:nvPicPr>
        <p:blipFill>
          <a:blip r:embed="rId4"/>
          <a:stretch>
            <a:fillRect/>
          </a:stretch>
        </p:blipFill>
        <p:spPr>
          <a:xfrm>
            <a:off x="4875276" y="2335378"/>
            <a:ext cx="404165" cy="404165"/>
          </a:xfrm>
          <a:prstGeom prst="rect">
            <a:avLst/>
          </a:prstGeom>
        </p:spPr>
      </p:pic>
      <p:sp>
        <p:nvSpPr>
          <p:cNvPr id="14" name="Text 10"/>
          <p:cNvSpPr txBox="1"/>
          <p:nvPr/>
        </p:nvSpPr>
        <p:spPr>
          <a:xfrm>
            <a:off x="5648858"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La pareja B le </a:t>
            </a:r>
            <a:r>
              <a:rPr lang="en-US" sz="1800" dirty="0" err="1">
                <a:solidFill>
                  <a:schemeClr val="tx1"/>
                </a:solidFill>
              </a:rPr>
              <a:t>hace</a:t>
            </a:r>
            <a:r>
              <a:rPr lang="en-US" sz="1800" dirty="0">
                <a:solidFill>
                  <a:schemeClr val="tx1"/>
                </a:solidFill>
              </a:rPr>
              <a:t> </a:t>
            </a:r>
            <a:r>
              <a:rPr lang="en-US" sz="1800" dirty="0" err="1">
                <a:solidFill>
                  <a:schemeClr val="tx1"/>
                </a:solidFill>
              </a:rPr>
              <a:t>varias</a:t>
            </a:r>
            <a:r>
              <a:rPr lang="en-US" sz="1800" dirty="0">
                <a:solidFill>
                  <a:schemeClr val="tx1"/>
                </a:solidFill>
              </a:rPr>
              <a:t> preguntas difíciles.</a:t>
            </a:r>
            <a:endParaRPr lang="en-US" sz="1800" dirty="0"/>
          </a:p>
        </p:txBody>
      </p:sp>
      <p:sp>
        <p:nvSpPr>
          <p:cNvPr id="15" name="Shape 11"/>
          <p:cNvSpPr/>
          <p:nvPr/>
        </p:nvSpPr>
        <p:spPr>
          <a:xfrm>
            <a:off x="7850429" y="2834640"/>
            <a:ext cx="356616" cy="0"/>
          </a:xfrm>
          <a:prstGeom prst="line">
            <a:avLst/>
          </a:prstGeom>
          <a:noFill/>
          <a:ln w="38100">
            <a:solidFill>
              <a:srgbClr val="3A4664"/>
            </a:solidFill>
            <a:prstDash val="solid"/>
            <a:tailEnd type="triangle"/>
          </a:ln>
        </p:spPr>
      </p:sp>
      <p:sp>
        <p:nvSpPr>
          <p:cNvPr id="16" name="Tarjeta"/>
          <p:cNvSpPr/>
          <p:nvPr/>
        </p:nvSpPr>
        <p:spPr>
          <a:xfrm>
            <a:off x="8280197" y="1920240"/>
            <a:ext cx="3362858" cy="1828800"/>
          </a:xfrm>
          <a:prstGeom prst="roundRect">
            <a:avLst>
              <a:gd name="adj" fmla="val 7500"/>
            </a:avLst>
          </a:prstGeom>
          <a:solidFill>
            <a:schemeClr val="bg2"/>
          </a:solidFill>
          <a:ln/>
        </p:spPr>
      </p:sp>
      <p:sp>
        <p:nvSpPr>
          <p:cNvPr id="17" name="Paso 3"/>
          <p:cNvSpPr/>
          <p:nvPr/>
        </p:nvSpPr>
        <p:spPr>
          <a:xfrm>
            <a:off x="8554517" y="2148840"/>
            <a:ext cx="777240" cy="777240"/>
          </a:xfrm>
          <a:prstGeom prst="ellipse">
            <a:avLst/>
          </a:prstGeom>
          <a:solidFill>
            <a:schemeClr val="accent1"/>
          </a:solidFill>
          <a:ln/>
        </p:spPr>
      </p:sp>
      <p:pic>
        <p:nvPicPr>
          <p:cNvPr id="18" name="Image 2" descr="Paso 3"/>
          <p:cNvPicPr>
            <a:picLocks noChangeAspect="1"/>
          </p:cNvPicPr>
          <p:nvPr/>
        </p:nvPicPr>
        <p:blipFill>
          <a:blip r:embed="rId5"/>
          <a:stretch>
            <a:fillRect/>
          </a:stretch>
        </p:blipFill>
        <p:spPr>
          <a:xfrm>
            <a:off x="8741054" y="2335378"/>
            <a:ext cx="404165" cy="404165"/>
          </a:xfrm>
          <a:prstGeom prst="rect">
            <a:avLst/>
          </a:prstGeom>
        </p:spPr>
      </p:pic>
      <p:sp>
        <p:nvSpPr>
          <p:cNvPr id="19" name="Text 14"/>
          <p:cNvSpPr txBox="1"/>
          <p:nvPr/>
        </p:nvSpPr>
        <p:spPr>
          <a:xfrm>
            <a:off x="9514637"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Os cambiáis los papeles.</a:t>
            </a:r>
            <a:endParaRPr lang="en-US" sz="1800" dirty="0"/>
          </a:p>
        </p:txBody>
      </p:sp>
      <p:sp>
        <p:nvSpPr>
          <p:cNvPr id="20" name="Text 15"/>
          <p:cNvSpPr txBox="1"/>
          <p:nvPr/>
        </p:nvSpPr>
        <p:spPr>
          <a:xfrm>
            <a:off x="548640" y="4023360"/>
            <a:ext cx="11094415" cy="411480"/>
          </a:xfrm>
          <a:prstGeom prst="rect">
            <a:avLst/>
          </a:prstGeom>
          <a:noFill/>
          <a:ln/>
        </p:spPr>
        <p:txBody>
          <a:bodyPr wrap="square" lIns="0" tIns="0" rIns="0" bIns="0" rtlCol="0" anchor="ctr"/>
          <a:lstStyle/>
          <a:p>
            <a:pPr marL="0" indent="0">
              <a:buNone/>
            </a:pPr>
            <a:r>
              <a:rPr lang="en-US" sz="1800" b="1" dirty="0">
                <a:solidFill>
                  <a:schemeClr val="tx1"/>
                </a:solidFill>
              </a:rPr>
              <a:t>Preguntas difíciles, por ejemplo:</a:t>
            </a:r>
            <a:endParaRPr lang="en-US" sz="1800" dirty="0"/>
          </a:p>
        </p:txBody>
      </p:sp>
      <p:sp>
        <p:nvSpPr>
          <p:cNvPr id="21" name="¿Cuánto cuesta?"/>
          <p:cNvSpPr/>
          <p:nvPr/>
        </p:nvSpPr>
        <p:spPr>
          <a:xfrm>
            <a:off x="548640" y="4572000"/>
            <a:ext cx="2567864" cy="868680"/>
          </a:xfrm>
          <a:prstGeom prst="roundRect">
            <a:avLst>
              <a:gd name="adj" fmla="val 49474"/>
            </a:avLst>
          </a:prstGeom>
          <a:solidFill>
            <a:schemeClr val="tx1"/>
          </a:solidFill>
          <a:ln/>
        </p:spPr>
      </p:sp>
      <p:sp>
        <p:nvSpPr>
          <p:cNvPr id="22" name="¿Cuánto cuesta?"/>
          <p:cNvSpPr/>
          <p:nvPr/>
        </p:nvSpPr>
        <p:spPr>
          <a:xfrm>
            <a:off x="685800" y="4681728"/>
            <a:ext cx="640080" cy="640080"/>
          </a:xfrm>
          <a:prstGeom prst="ellipse">
            <a:avLst/>
          </a:prstGeom>
          <a:solidFill>
            <a:schemeClr val="accent3"/>
          </a:solidFill>
          <a:ln/>
        </p:spPr>
      </p:sp>
      <p:pic>
        <p:nvPicPr>
          <p:cNvPr id="23" name="Image 3" descr="¿Cuánto cuesta?"/>
          <p:cNvPicPr>
            <a:picLocks noChangeAspect="1"/>
          </p:cNvPicPr>
          <p:nvPr/>
        </p:nvPicPr>
        <p:blipFill>
          <a:blip r:embed="rId6"/>
          <a:stretch>
            <a:fillRect/>
          </a:stretch>
        </p:blipFill>
        <p:spPr>
          <a:xfrm>
            <a:off x="839419" y="4835347"/>
            <a:ext cx="332842" cy="332842"/>
          </a:xfrm>
          <a:prstGeom prst="rect">
            <a:avLst/>
          </a:prstGeom>
        </p:spPr>
      </p:pic>
      <p:sp>
        <p:nvSpPr>
          <p:cNvPr id="24" name="Text 18"/>
          <p:cNvSpPr txBox="1"/>
          <p:nvPr/>
        </p:nvSpPr>
        <p:spPr>
          <a:xfrm>
            <a:off x="1463040"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¿Cuánto cuesta?</a:t>
            </a:r>
            <a:endParaRPr lang="en-US" sz="1600" dirty="0"/>
          </a:p>
        </p:txBody>
      </p:sp>
      <p:sp>
        <p:nvSpPr>
          <p:cNvPr id="25" name="¿Quién se encarga?"/>
          <p:cNvSpPr/>
          <p:nvPr/>
        </p:nvSpPr>
        <p:spPr>
          <a:xfrm>
            <a:off x="3390824" y="4572000"/>
            <a:ext cx="2567864" cy="868680"/>
          </a:xfrm>
          <a:prstGeom prst="roundRect">
            <a:avLst>
              <a:gd name="adj" fmla="val 49474"/>
            </a:avLst>
          </a:prstGeom>
          <a:solidFill>
            <a:schemeClr val="tx1"/>
          </a:solidFill>
          <a:ln/>
        </p:spPr>
      </p:sp>
      <p:sp>
        <p:nvSpPr>
          <p:cNvPr id="26" name="¿Quién se encarga?"/>
          <p:cNvSpPr/>
          <p:nvPr/>
        </p:nvSpPr>
        <p:spPr>
          <a:xfrm>
            <a:off x="3527984" y="4681728"/>
            <a:ext cx="640080" cy="640080"/>
          </a:xfrm>
          <a:prstGeom prst="ellipse">
            <a:avLst/>
          </a:prstGeom>
          <a:solidFill>
            <a:schemeClr val="accent3"/>
          </a:solidFill>
          <a:ln/>
        </p:spPr>
      </p:sp>
      <p:pic>
        <p:nvPicPr>
          <p:cNvPr id="27" name="Image 4" descr="¿Quién se encarga?"/>
          <p:cNvPicPr>
            <a:picLocks noChangeAspect="1"/>
          </p:cNvPicPr>
          <p:nvPr/>
        </p:nvPicPr>
        <p:blipFill>
          <a:blip r:embed="rId7"/>
          <a:stretch>
            <a:fillRect/>
          </a:stretch>
        </p:blipFill>
        <p:spPr>
          <a:xfrm>
            <a:off x="3681603" y="4835347"/>
            <a:ext cx="332842" cy="332842"/>
          </a:xfrm>
          <a:prstGeom prst="rect">
            <a:avLst/>
          </a:prstGeom>
        </p:spPr>
      </p:pic>
      <p:sp>
        <p:nvSpPr>
          <p:cNvPr id="28" name="Text 21"/>
          <p:cNvSpPr txBox="1"/>
          <p:nvPr/>
        </p:nvSpPr>
        <p:spPr>
          <a:xfrm>
            <a:off x="4305224"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¿Quién se encarga?</a:t>
            </a:r>
            <a:endParaRPr lang="en-US" sz="1600" dirty="0"/>
          </a:p>
        </p:txBody>
      </p:sp>
      <p:sp>
        <p:nvSpPr>
          <p:cNvPr id="29" name="¿Y si alguien no lo usa?"/>
          <p:cNvSpPr/>
          <p:nvPr/>
        </p:nvSpPr>
        <p:spPr>
          <a:xfrm>
            <a:off x="6233008" y="4572000"/>
            <a:ext cx="2567864" cy="868680"/>
          </a:xfrm>
          <a:prstGeom prst="roundRect">
            <a:avLst>
              <a:gd name="adj" fmla="val 49474"/>
            </a:avLst>
          </a:prstGeom>
          <a:solidFill>
            <a:schemeClr val="tx1"/>
          </a:solidFill>
          <a:ln/>
        </p:spPr>
      </p:sp>
      <p:sp>
        <p:nvSpPr>
          <p:cNvPr id="30" name="¿Y si alguien no lo usa?"/>
          <p:cNvSpPr/>
          <p:nvPr/>
        </p:nvSpPr>
        <p:spPr>
          <a:xfrm>
            <a:off x="6370168" y="4681728"/>
            <a:ext cx="640080" cy="640080"/>
          </a:xfrm>
          <a:prstGeom prst="ellipse">
            <a:avLst/>
          </a:prstGeom>
          <a:solidFill>
            <a:schemeClr val="accent3"/>
          </a:solidFill>
          <a:ln/>
        </p:spPr>
      </p:sp>
      <p:pic>
        <p:nvPicPr>
          <p:cNvPr id="31" name="Image 5" descr="¿Y si alguien no lo usa?"/>
          <p:cNvPicPr>
            <a:picLocks noChangeAspect="1"/>
          </p:cNvPicPr>
          <p:nvPr/>
        </p:nvPicPr>
        <p:blipFill>
          <a:blip r:embed="rId8"/>
          <a:stretch>
            <a:fillRect/>
          </a:stretch>
        </p:blipFill>
        <p:spPr>
          <a:xfrm>
            <a:off x="6523787" y="4835347"/>
            <a:ext cx="332842" cy="332842"/>
          </a:xfrm>
          <a:prstGeom prst="rect">
            <a:avLst/>
          </a:prstGeom>
        </p:spPr>
      </p:pic>
      <p:sp>
        <p:nvSpPr>
          <p:cNvPr id="32" name="Text 24"/>
          <p:cNvSpPr txBox="1"/>
          <p:nvPr/>
        </p:nvSpPr>
        <p:spPr>
          <a:xfrm>
            <a:off x="7147408"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¿Y si alguien no lo usa?</a:t>
            </a:r>
            <a:endParaRPr lang="en-US" sz="1600" dirty="0"/>
          </a:p>
        </p:txBody>
      </p:sp>
      <p:sp>
        <p:nvSpPr>
          <p:cNvPr id="33" name="¿Cómo sabremos si funciona?"/>
          <p:cNvSpPr/>
          <p:nvPr/>
        </p:nvSpPr>
        <p:spPr>
          <a:xfrm>
            <a:off x="9075191" y="4572000"/>
            <a:ext cx="2567864" cy="868680"/>
          </a:xfrm>
          <a:prstGeom prst="roundRect">
            <a:avLst>
              <a:gd name="adj" fmla="val 49474"/>
            </a:avLst>
          </a:prstGeom>
          <a:solidFill>
            <a:schemeClr val="tx1"/>
          </a:solidFill>
          <a:ln/>
        </p:spPr>
      </p:sp>
      <p:sp>
        <p:nvSpPr>
          <p:cNvPr id="34" name="¿Cómo sabremos si funciona?"/>
          <p:cNvSpPr/>
          <p:nvPr/>
        </p:nvSpPr>
        <p:spPr>
          <a:xfrm>
            <a:off x="9212351" y="4681728"/>
            <a:ext cx="640080" cy="640080"/>
          </a:xfrm>
          <a:prstGeom prst="ellipse">
            <a:avLst/>
          </a:prstGeom>
          <a:solidFill>
            <a:schemeClr val="accent3"/>
          </a:solidFill>
          <a:ln/>
        </p:spPr>
      </p:sp>
      <p:pic>
        <p:nvPicPr>
          <p:cNvPr id="35" name="Image 6" descr="¿Cómo sabremos si funciona?"/>
          <p:cNvPicPr>
            <a:picLocks noChangeAspect="1"/>
          </p:cNvPicPr>
          <p:nvPr/>
        </p:nvPicPr>
        <p:blipFill>
          <a:blip r:embed="rId9"/>
          <a:stretch>
            <a:fillRect/>
          </a:stretch>
        </p:blipFill>
        <p:spPr>
          <a:xfrm>
            <a:off x="9365971" y="4835347"/>
            <a:ext cx="332842" cy="332842"/>
          </a:xfrm>
          <a:prstGeom prst="rect">
            <a:avLst/>
          </a:prstGeom>
        </p:spPr>
      </p:pic>
      <p:sp>
        <p:nvSpPr>
          <p:cNvPr id="36" name="Text 27"/>
          <p:cNvSpPr txBox="1"/>
          <p:nvPr/>
        </p:nvSpPr>
        <p:spPr>
          <a:xfrm>
            <a:off x="9989591"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¿Cómo sabremos si funciona?</a:t>
            </a:r>
            <a:endParaRPr lang="en-US" sz="1600" dirty="0"/>
          </a:p>
        </p:txBody>
      </p:sp>
      <p:sp>
        <p:nvSpPr>
          <p:cNvPr id="3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no supisteis responder</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165–175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Apuntadlas en la página de trabajo del documento:</a:t>
            </a:r>
            <a:endParaRPr lang="en-US" sz="1900" dirty="0"/>
          </a:p>
        </p:txBody>
      </p:sp>
      <p:sp>
        <p:nvSpPr>
          <p:cNvPr id="6" name="Pregunta 1"/>
          <p:cNvSpPr/>
          <p:nvPr/>
        </p:nvSpPr>
        <p:spPr>
          <a:xfrm>
            <a:off x="548640" y="2240280"/>
            <a:ext cx="594360" cy="594360"/>
          </a:xfrm>
          <a:prstGeom prst="ellipse">
            <a:avLst/>
          </a:prstGeom>
          <a:solidFill>
            <a:schemeClr val="accent3"/>
          </a:solidFill>
          <a:ln/>
        </p:spPr>
      </p:sp>
      <p:sp>
        <p:nvSpPr>
          <p:cNvPr id="7" name="Text 5"/>
          <p:cNvSpPr txBox="1"/>
          <p:nvPr/>
        </p:nvSpPr>
        <p:spPr>
          <a:xfrm>
            <a:off x="548640" y="2240280"/>
            <a:ext cx="594360" cy="594360"/>
          </a:xfrm>
          <a:prstGeom prst="rect">
            <a:avLst/>
          </a:prstGeom>
          <a:noFill/>
          <a:ln/>
        </p:spPr>
        <p:txBody>
          <a:bodyPr wrap="square" lIns="0" tIns="0" rIns="0" bIns="0" rtlCol="0" anchor="ctr"/>
          <a:lstStyle/>
          <a:p>
            <a:pPr marL="0" indent="0" algn="ctr">
              <a:buNone/>
            </a:pPr>
            <a:r>
              <a:rPr lang="en-US" sz="2200" b="1" dirty="0">
                <a:solidFill>
                  <a:schemeClr val="bg1"/>
                </a:solidFill>
              </a:rPr>
              <a:t>1</a:t>
            </a:r>
            <a:endParaRPr lang="en-US" sz="2200" dirty="0"/>
          </a:p>
        </p:txBody>
      </p:sp>
      <p:sp>
        <p:nvSpPr>
          <p:cNvPr id="8" name="Hueco"/>
          <p:cNvSpPr/>
          <p:nvPr/>
        </p:nvSpPr>
        <p:spPr>
          <a:xfrm>
            <a:off x="1417320" y="1965960"/>
            <a:ext cx="10225735" cy="1143000"/>
          </a:xfrm>
          <a:prstGeom prst="roundRect">
            <a:avLst>
              <a:gd name="adj" fmla="val 8000"/>
            </a:avLst>
          </a:prstGeom>
          <a:solidFill>
            <a:schemeClr val="bg2"/>
          </a:solidFill>
          <a:ln w="12700">
            <a:solidFill>
              <a:srgbClr val="8A94A6"/>
            </a:solidFill>
            <a:prstDash val="dash"/>
          </a:ln>
        </p:spPr>
      </p:sp>
      <p:sp>
        <p:nvSpPr>
          <p:cNvPr id="9" name="Pregunta 2"/>
          <p:cNvSpPr/>
          <p:nvPr/>
        </p:nvSpPr>
        <p:spPr>
          <a:xfrm>
            <a:off x="548640" y="3566160"/>
            <a:ext cx="594360" cy="594360"/>
          </a:xfrm>
          <a:prstGeom prst="ellipse">
            <a:avLst/>
          </a:prstGeom>
          <a:solidFill>
            <a:schemeClr val="accent3"/>
          </a:solidFill>
          <a:ln/>
        </p:spPr>
      </p:sp>
      <p:sp>
        <p:nvSpPr>
          <p:cNvPr id="10" name="Text 8"/>
          <p:cNvSpPr txBox="1"/>
          <p:nvPr/>
        </p:nvSpPr>
        <p:spPr>
          <a:xfrm>
            <a:off x="548640" y="3566160"/>
            <a:ext cx="594360" cy="594360"/>
          </a:xfrm>
          <a:prstGeom prst="rect">
            <a:avLst/>
          </a:prstGeom>
          <a:noFill/>
          <a:ln/>
        </p:spPr>
        <p:txBody>
          <a:bodyPr wrap="square" lIns="0" tIns="0" rIns="0" bIns="0" rtlCol="0" anchor="ctr"/>
          <a:lstStyle/>
          <a:p>
            <a:pPr marL="0" indent="0" algn="ctr">
              <a:buNone/>
            </a:pPr>
            <a:r>
              <a:rPr lang="en-US" sz="2200" b="1" dirty="0">
                <a:solidFill>
                  <a:schemeClr val="bg1"/>
                </a:solidFill>
              </a:rPr>
              <a:t>2</a:t>
            </a:r>
            <a:endParaRPr lang="en-US" sz="2200" dirty="0"/>
          </a:p>
        </p:txBody>
      </p:sp>
      <p:sp>
        <p:nvSpPr>
          <p:cNvPr id="11" name="Hueco"/>
          <p:cNvSpPr/>
          <p:nvPr/>
        </p:nvSpPr>
        <p:spPr>
          <a:xfrm>
            <a:off x="1417320" y="3291840"/>
            <a:ext cx="10225735" cy="1143000"/>
          </a:xfrm>
          <a:prstGeom prst="roundRect">
            <a:avLst>
              <a:gd name="adj" fmla="val 8000"/>
            </a:avLst>
          </a:prstGeom>
          <a:solidFill>
            <a:schemeClr val="bg2"/>
          </a:solidFill>
          <a:ln w="12700">
            <a:solidFill>
              <a:srgbClr val="8A94A6"/>
            </a:solidFill>
            <a:prstDash val="dash"/>
          </a:ln>
        </p:spPr>
      </p:sp>
      <p:sp>
        <p:nvSpPr>
          <p:cNvPr id="12" name="Documento"/>
          <p:cNvSpPr/>
          <p:nvPr/>
        </p:nvSpPr>
        <p:spPr>
          <a:xfrm>
            <a:off x="548640" y="4800600"/>
            <a:ext cx="777240" cy="777240"/>
          </a:xfrm>
          <a:prstGeom prst="ellipse">
            <a:avLst/>
          </a:prstGeom>
          <a:solidFill>
            <a:schemeClr val="accent1"/>
          </a:solidFill>
          <a:ln/>
        </p:spPr>
      </p:sp>
      <p:pic>
        <p:nvPicPr>
          <p:cNvPr id="13" name="Image 0" descr="Documento"/>
          <p:cNvPicPr>
            <a:picLocks noChangeAspect="1"/>
          </p:cNvPicPr>
          <p:nvPr/>
        </p:nvPicPr>
        <p:blipFill>
          <a:blip r:embed="rId3"/>
          <a:stretch>
            <a:fillRect/>
          </a:stretch>
        </p:blipFill>
        <p:spPr>
          <a:xfrm>
            <a:off x="735178" y="4987138"/>
            <a:ext cx="404165" cy="404165"/>
          </a:xfrm>
          <a:prstGeom prst="rect">
            <a:avLst/>
          </a:prstGeom>
        </p:spPr>
      </p:pic>
      <p:sp>
        <p:nvSpPr>
          <p:cNvPr id="14" name="Text 11"/>
          <p:cNvSpPr txBox="1"/>
          <p:nvPr/>
        </p:nvSpPr>
        <p:spPr>
          <a:xfrm>
            <a:off x="1600200" y="4800600"/>
            <a:ext cx="10042855" cy="777240"/>
          </a:xfrm>
          <a:prstGeom prst="rect">
            <a:avLst/>
          </a:prstGeom>
          <a:noFill/>
          <a:ln/>
        </p:spPr>
        <p:txBody>
          <a:bodyPr wrap="square" lIns="0" tIns="0" rIns="0" bIns="0" rtlCol="0" anchor="ctr"/>
          <a:lstStyle/>
          <a:p>
            <a:pPr marL="0" indent="0">
              <a:buNone/>
            </a:pPr>
            <a:r>
              <a:rPr lang="en-US" sz="2200" b="1" dirty="0">
                <a:solidFill>
                  <a:schemeClr val="tx1"/>
                </a:solidFill>
              </a:rPr>
              <a:t>Es lo primero que tiene que resolver vuestro documento.</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Documento del proyecto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175–195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En el mismo archivo, los seis apartados de la ficha, ampliados, y uno nuevo (máximo dos páginas):</a:t>
            </a:r>
            <a:endParaRPr lang="en-US" sz="1900" dirty="0"/>
          </a:p>
        </p:txBody>
      </p:sp>
      <p:sp>
        <p:nvSpPr>
          <p:cNvPr id="6" name="Tarjeta"/>
          <p:cNvSpPr/>
          <p:nvPr/>
        </p:nvSpPr>
        <p:spPr>
          <a:xfrm>
            <a:off x="548640" y="1965960"/>
            <a:ext cx="5410048" cy="585216"/>
          </a:xfrm>
          <a:prstGeom prst="roundRect">
            <a:avLst>
              <a:gd name="adj" fmla="val 23438"/>
            </a:avLst>
          </a:prstGeom>
          <a:solidFill>
            <a:schemeClr val="bg2"/>
          </a:solidFill>
          <a:ln/>
        </p:spPr>
      </p:sp>
      <p:sp>
        <p:nvSpPr>
          <p:cNvPr id="7" name="Apartado 1"/>
          <p:cNvSpPr/>
          <p:nvPr/>
        </p:nvSpPr>
        <p:spPr>
          <a:xfrm>
            <a:off x="685800" y="2057400"/>
            <a:ext cx="402336" cy="402336"/>
          </a:xfrm>
          <a:prstGeom prst="ellipse">
            <a:avLst/>
          </a:prstGeom>
          <a:solidFill>
            <a:schemeClr val="accent1"/>
          </a:solidFill>
          <a:ln/>
        </p:spPr>
      </p:sp>
      <p:sp>
        <p:nvSpPr>
          <p:cNvPr id="8" name="Text 6"/>
          <p:cNvSpPr txBox="1"/>
          <p:nvPr/>
        </p:nvSpPr>
        <p:spPr>
          <a:xfrm>
            <a:off x="685800" y="2057400"/>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1</a:t>
            </a:r>
            <a:endParaRPr lang="en-US" sz="1500" dirty="0"/>
          </a:p>
        </p:txBody>
      </p:sp>
      <p:sp>
        <p:nvSpPr>
          <p:cNvPr id="9" name="Text 7"/>
          <p:cNvSpPr txBox="1"/>
          <p:nvPr/>
        </p:nvSpPr>
        <p:spPr>
          <a:xfrm>
            <a:off x="1280160" y="1965960"/>
            <a:ext cx="4495648" cy="585216"/>
          </a:xfrm>
          <a:prstGeom prst="rect">
            <a:avLst/>
          </a:prstGeom>
          <a:noFill/>
          <a:ln/>
        </p:spPr>
        <p:txBody>
          <a:bodyPr wrap="square" lIns="0" tIns="0" rIns="0" bIns="0" rtlCol="0" anchor="ctr"/>
          <a:lstStyle/>
          <a:p>
            <a:pPr marL="0" indent="0">
              <a:buNone/>
            </a:pPr>
            <a:r>
              <a:rPr lang="en-US" sz="1800" dirty="0">
                <a:solidFill>
                  <a:schemeClr val="tx1"/>
                </a:solidFill>
              </a:rPr>
              <a:t>Nombre de la propuesta</a:t>
            </a:r>
            <a:endParaRPr lang="en-US" sz="1800" dirty="0"/>
          </a:p>
        </p:txBody>
      </p:sp>
      <p:sp>
        <p:nvSpPr>
          <p:cNvPr id="10" name="Tarjeta"/>
          <p:cNvSpPr/>
          <p:nvPr/>
        </p:nvSpPr>
        <p:spPr>
          <a:xfrm>
            <a:off x="548640" y="2679192"/>
            <a:ext cx="5410048" cy="585216"/>
          </a:xfrm>
          <a:prstGeom prst="roundRect">
            <a:avLst>
              <a:gd name="adj" fmla="val 23438"/>
            </a:avLst>
          </a:prstGeom>
          <a:solidFill>
            <a:schemeClr val="bg2"/>
          </a:solidFill>
          <a:ln/>
        </p:spPr>
      </p:sp>
      <p:sp>
        <p:nvSpPr>
          <p:cNvPr id="11" name="Apartado 2"/>
          <p:cNvSpPr/>
          <p:nvPr/>
        </p:nvSpPr>
        <p:spPr>
          <a:xfrm>
            <a:off x="685800" y="2770632"/>
            <a:ext cx="402336" cy="402336"/>
          </a:xfrm>
          <a:prstGeom prst="ellipse">
            <a:avLst/>
          </a:prstGeom>
          <a:solidFill>
            <a:schemeClr val="accent1"/>
          </a:solidFill>
          <a:ln/>
        </p:spPr>
      </p:sp>
      <p:sp>
        <p:nvSpPr>
          <p:cNvPr id="12" name="Text 10"/>
          <p:cNvSpPr txBox="1"/>
          <p:nvPr/>
        </p:nvSpPr>
        <p:spPr>
          <a:xfrm>
            <a:off x="685800" y="2770632"/>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2</a:t>
            </a:r>
            <a:endParaRPr lang="en-US" sz="1500" dirty="0"/>
          </a:p>
        </p:txBody>
      </p:sp>
      <p:sp>
        <p:nvSpPr>
          <p:cNvPr id="13" name="Text 11"/>
          <p:cNvSpPr txBox="1"/>
          <p:nvPr/>
        </p:nvSpPr>
        <p:spPr>
          <a:xfrm>
            <a:off x="1280160" y="2679192"/>
            <a:ext cx="4495648" cy="585216"/>
          </a:xfrm>
          <a:prstGeom prst="rect">
            <a:avLst/>
          </a:prstGeom>
          <a:noFill/>
          <a:ln/>
        </p:spPr>
        <p:txBody>
          <a:bodyPr wrap="square" lIns="0" tIns="0" rIns="0" bIns="0" rtlCol="0" anchor="ctr"/>
          <a:lstStyle/>
          <a:p>
            <a:pPr marL="0" indent="0">
              <a:buNone/>
            </a:pPr>
            <a:r>
              <a:rPr lang="en-US" sz="1800" dirty="0">
                <a:solidFill>
                  <a:schemeClr val="tx1"/>
                </a:solidFill>
              </a:rPr>
              <a:t>Problema</a:t>
            </a:r>
            <a:endParaRPr lang="en-US" sz="1800" dirty="0"/>
          </a:p>
        </p:txBody>
      </p:sp>
      <p:sp>
        <p:nvSpPr>
          <p:cNvPr id="14" name="Tarjeta"/>
          <p:cNvSpPr/>
          <p:nvPr/>
        </p:nvSpPr>
        <p:spPr>
          <a:xfrm>
            <a:off x="548640" y="3392424"/>
            <a:ext cx="5410048" cy="585216"/>
          </a:xfrm>
          <a:prstGeom prst="roundRect">
            <a:avLst>
              <a:gd name="adj" fmla="val 23438"/>
            </a:avLst>
          </a:prstGeom>
          <a:solidFill>
            <a:schemeClr val="bg2"/>
          </a:solidFill>
          <a:ln/>
        </p:spPr>
      </p:sp>
      <p:sp>
        <p:nvSpPr>
          <p:cNvPr id="15" name="Apartado 3"/>
          <p:cNvSpPr/>
          <p:nvPr/>
        </p:nvSpPr>
        <p:spPr>
          <a:xfrm>
            <a:off x="685800" y="3483864"/>
            <a:ext cx="402336" cy="402336"/>
          </a:xfrm>
          <a:prstGeom prst="ellipse">
            <a:avLst/>
          </a:prstGeom>
          <a:solidFill>
            <a:schemeClr val="accent1"/>
          </a:solidFill>
          <a:ln/>
        </p:spPr>
      </p:sp>
      <p:sp>
        <p:nvSpPr>
          <p:cNvPr id="16" name="Text 14"/>
          <p:cNvSpPr txBox="1"/>
          <p:nvPr/>
        </p:nvSpPr>
        <p:spPr>
          <a:xfrm>
            <a:off x="685800" y="3483864"/>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3</a:t>
            </a:r>
            <a:endParaRPr lang="en-US" sz="1500" dirty="0"/>
          </a:p>
        </p:txBody>
      </p:sp>
      <p:sp>
        <p:nvSpPr>
          <p:cNvPr id="17" name="Text 15"/>
          <p:cNvSpPr txBox="1"/>
          <p:nvPr/>
        </p:nvSpPr>
        <p:spPr>
          <a:xfrm>
            <a:off x="1280160" y="3392424"/>
            <a:ext cx="4495648" cy="585216"/>
          </a:xfrm>
          <a:prstGeom prst="rect">
            <a:avLst/>
          </a:prstGeom>
          <a:noFill/>
          <a:ln/>
        </p:spPr>
        <p:txBody>
          <a:bodyPr wrap="square" lIns="0" tIns="0" rIns="0" bIns="0" rtlCol="0" anchor="ctr"/>
          <a:lstStyle/>
          <a:p>
            <a:pPr marL="0" indent="0">
              <a:buNone/>
            </a:pPr>
            <a:r>
              <a:rPr lang="en-US" sz="1800" dirty="0">
                <a:solidFill>
                  <a:schemeClr val="tx1"/>
                </a:solidFill>
              </a:rPr>
              <a:t>Solución</a:t>
            </a:r>
            <a:endParaRPr lang="en-US" sz="1800" dirty="0"/>
          </a:p>
        </p:txBody>
      </p:sp>
      <p:sp>
        <p:nvSpPr>
          <p:cNvPr id="18" name="Tarjeta"/>
          <p:cNvSpPr/>
          <p:nvPr/>
        </p:nvSpPr>
        <p:spPr>
          <a:xfrm>
            <a:off x="548640" y="4105656"/>
            <a:ext cx="5410048" cy="585216"/>
          </a:xfrm>
          <a:prstGeom prst="roundRect">
            <a:avLst>
              <a:gd name="adj" fmla="val 23438"/>
            </a:avLst>
          </a:prstGeom>
          <a:solidFill>
            <a:schemeClr val="bg2"/>
          </a:solidFill>
          <a:ln/>
        </p:spPr>
      </p:sp>
      <p:sp>
        <p:nvSpPr>
          <p:cNvPr id="19" name="Apartado 4"/>
          <p:cNvSpPr/>
          <p:nvPr/>
        </p:nvSpPr>
        <p:spPr>
          <a:xfrm>
            <a:off x="685800" y="4197096"/>
            <a:ext cx="402336" cy="402336"/>
          </a:xfrm>
          <a:prstGeom prst="ellipse">
            <a:avLst/>
          </a:prstGeom>
          <a:solidFill>
            <a:schemeClr val="accent1"/>
          </a:solidFill>
          <a:ln/>
        </p:spPr>
      </p:sp>
      <p:sp>
        <p:nvSpPr>
          <p:cNvPr id="20" name="Text 18"/>
          <p:cNvSpPr txBox="1"/>
          <p:nvPr/>
        </p:nvSpPr>
        <p:spPr>
          <a:xfrm>
            <a:off x="685800" y="4197096"/>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4</a:t>
            </a:r>
            <a:endParaRPr lang="en-US" sz="1500" dirty="0"/>
          </a:p>
        </p:txBody>
      </p:sp>
      <p:sp>
        <p:nvSpPr>
          <p:cNvPr id="21" name="Text 19"/>
          <p:cNvSpPr txBox="1"/>
          <p:nvPr/>
        </p:nvSpPr>
        <p:spPr>
          <a:xfrm>
            <a:off x="1280160" y="4105656"/>
            <a:ext cx="4495648" cy="585216"/>
          </a:xfrm>
          <a:prstGeom prst="rect">
            <a:avLst/>
          </a:prstGeom>
          <a:noFill/>
          <a:ln/>
        </p:spPr>
        <p:txBody>
          <a:bodyPr wrap="square" lIns="0" tIns="0" rIns="0" bIns="0" rtlCol="0" anchor="ctr"/>
          <a:lstStyle/>
          <a:p>
            <a:pPr marL="0" indent="0">
              <a:buNone/>
            </a:pPr>
            <a:r>
              <a:rPr lang="en-US" sz="1800" dirty="0">
                <a:solidFill>
                  <a:schemeClr val="tx1"/>
                </a:solidFill>
              </a:rPr>
              <a:t>Beneficios esperados</a:t>
            </a:r>
            <a:endParaRPr lang="en-US" sz="1800" dirty="0"/>
          </a:p>
        </p:txBody>
      </p:sp>
      <p:sp>
        <p:nvSpPr>
          <p:cNvPr id="22" name="Tarjeta"/>
          <p:cNvSpPr/>
          <p:nvPr/>
        </p:nvSpPr>
        <p:spPr>
          <a:xfrm>
            <a:off x="6233008" y="1965960"/>
            <a:ext cx="5410048" cy="585216"/>
          </a:xfrm>
          <a:prstGeom prst="roundRect">
            <a:avLst>
              <a:gd name="adj" fmla="val 23438"/>
            </a:avLst>
          </a:prstGeom>
          <a:solidFill>
            <a:schemeClr val="bg2"/>
          </a:solidFill>
          <a:ln/>
        </p:spPr>
      </p:sp>
      <p:sp>
        <p:nvSpPr>
          <p:cNvPr id="23" name="Apartado 5"/>
          <p:cNvSpPr/>
          <p:nvPr/>
        </p:nvSpPr>
        <p:spPr>
          <a:xfrm>
            <a:off x="6370168" y="2057400"/>
            <a:ext cx="402336" cy="402336"/>
          </a:xfrm>
          <a:prstGeom prst="ellipse">
            <a:avLst/>
          </a:prstGeom>
          <a:solidFill>
            <a:schemeClr val="accent1"/>
          </a:solidFill>
          <a:ln/>
        </p:spPr>
      </p:sp>
      <p:sp>
        <p:nvSpPr>
          <p:cNvPr id="24" name="Text 22"/>
          <p:cNvSpPr txBox="1"/>
          <p:nvPr/>
        </p:nvSpPr>
        <p:spPr>
          <a:xfrm>
            <a:off x="6370168" y="2057400"/>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5</a:t>
            </a:r>
            <a:endParaRPr lang="en-US" sz="1500" dirty="0"/>
          </a:p>
        </p:txBody>
      </p:sp>
      <p:sp>
        <p:nvSpPr>
          <p:cNvPr id="25" name="Text 23"/>
          <p:cNvSpPr txBox="1"/>
          <p:nvPr/>
        </p:nvSpPr>
        <p:spPr>
          <a:xfrm>
            <a:off x="6964528" y="1965960"/>
            <a:ext cx="4495648" cy="585216"/>
          </a:xfrm>
          <a:prstGeom prst="rect">
            <a:avLst/>
          </a:prstGeom>
          <a:noFill/>
          <a:ln/>
        </p:spPr>
        <p:txBody>
          <a:bodyPr wrap="square" lIns="0" tIns="0" rIns="0" bIns="0" rtlCol="0" anchor="ctr"/>
          <a:lstStyle/>
          <a:p>
            <a:pPr marL="0" indent="0">
              <a:buNone/>
            </a:pPr>
            <a:r>
              <a:rPr lang="en-US" sz="1800" dirty="0">
                <a:solidFill>
                  <a:schemeClr val="tx1"/>
                </a:solidFill>
              </a:rPr>
              <a:t>Recursos</a:t>
            </a:r>
            <a:endParaRPr lang="en-US" sz="1800" dirty="0"/>
          </a:p>
        </p:txBody>
      </p:sp>
      <p:sp>
        <p:nvSpPr>
          <p:cNvPr id="26" name="Tarjeta"/>
          <p:cNvSpPr/>
          <p:nvPr/>
        </p:nvSpPr>
        <p:spPr>
          <a:xfrm>
            <a:off x="6233008" y="2679192"/>
            <a:ext cx="5410048" cy="585216"/>
          </a:xfrm>
          <a:prstGeom prst="roundRect">
            <a:avLst>
              <a:gd name="adj" fmla="val 23438"/>
            </a:avLst>
          </a:prstGeom>
          <a:solidFill>
            <a:schemeClr val="bg2"/>
          </a:solidFill>
          <a:ln/>
        </p:spPr>
      </p:sp>
      <p:sp>
        <p:nvSpPr>
          <p:cNvPr id="27" name="Apartado 6"/>
          <p:cNvSpPr/>
          <p:nvPr/>
        </p:nvSpPr>
        <p:spPr>
          <a:xfrm>
            <a:off x="6370168" y="2770632"/>
            <a:ext cx="402336" cy="402336"/>
          </a:xfrm>
          <a:prstGeom prst="ellipse">
            <a:avLst/>
          </a:prstGeom>
          <a:solidFill>
            <a:schemeClr val="accent1"/>
          </a:solidFill>
          <a:ln/>
        </p:spPr>
      </p:sp>
      <p:sp>
        <p:nvSpPr>
          <p:cNvPr id="28" name="Text 26"/>
          <p:cNvSpPr txBox="1"/>
          <p:nvPr/>
        </p:nvSpPr>
        <p:spPr>
          <a:xfrm>
            <a:off x="6370168" y="2770632"/>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6</a:t>
            </a:r>
            <a:endParaRPr lang="en-US" sz="1500" dirty="0"/>
          </a:p>
        </p:txBody>
      </p:sp>
      <p:sp>
        <p:nvSpPr>
          <p:cNvPr id="29" name="Text 27"/>
          <p:cNvSpPr txBox="1"/>
          <p:nvPr/>
        </p:nvSpPr>
        <p:spPr>
          <a:xfrm>
            <a:off x="6964528" y="2679192"/>
            <a:ext cx="4495648" cy="585216"/>
          </a:xfrm>
          <a:prstGeom prst="rect">
            <a:avLst/>
          </a:prstGeom>
          <a:noFill/>
          <a:ln/>
        </p:spPr>
        <p:txBody>
          <a:bodyPr wrap="square" lIns="0" tIns="0" rIns="0" bIns="0" rtlCol="0" anchor="ctr"/>
          <a:lstStyle/>
          <a:p>
            <a:pPr marL="0" indent="0">
              <a:buNone/>
            </a:pPr>
            <a:r>
              <a:rPr lang="en-US" sz="1800" dirty="0">
                <a:solidFill>
                  <a:schemeClr val="tx1"/>
                </a:solidFill>
              </a:rPr>
              <a:t>Riesgos</a:t>
            </a:r>
            <a:endParaRPr lang="en-US" sz="1800" dirty="0"/>
          </a:p>
        </p:txBody>
      </p:sp>
      <p:sp>
        <p:nvSpPr>
          <p:cNvPr id="30" name="Tarjeta"/>
          <p:cNvSpPr/>
          <p:nvPr/>
        </p:nvSpPr>
        <p:spPr>
          <a:xfrm>
            <a:off x="6233008" y="3392424"/>
            <a:ext cx="5410048" cy="585216"/>
          </a:xfrm>
          <a:prstGeom prst="roundRect">
            <a:avLst>
              <a:gd name="adj" fmla="val 23438"/>
            </a:avLst>
          </a:prstGeom>
          <a:solidFill>
            <a:schemeClr val="bg2"/>
          </a:solidFill>
          <a:ln/>
        </p:spPr>
      </p:sp>
      <p:sp>
        <p:nvSpPr>
          <p:cNvPr id="31" name="Apartado 7"/>
          <p:cNvSpPr/>
          <p:nvPr/>
        </p:nvSpPr>
        <p:spPr>
          <a:xfrm>
            <a:off x="6370168" y="3483864"/>
            <a:ext cx="402336" cy="402336"/>
          </a:xfrm>
          <a:prstGeom prst="ellipse">
            <a:avLst/>
          </a:prstGeom>
          <a:solidFill>
            <a:schemeClr val="accent1"/>
          </a:solidFill>
          <a:ln/>
        </p:spPr>
      </p:sp>
      <p:sp>
        <p:nvSpPr>
          <p:cNvPr id="32" name="Text 30"/>
          <p:cNvSpPr txBox="1"/>
          <p:nvPr/>
        </p:nvSpPr>
        <p:spPr>
          <a:xfrm>
            <a:off x="6370168" y="3483864"/>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7</a:t>
            </a:r>
            <a:endParaRPr lang="en-US" sz="1500" dirty="0"/>
          </a:p>
        </p:txBody>
      </p:sp>
      <p:sp>
        <p:nvSpPr>
          <p:cNvPr id="33" name="Text 31"/>
          <p:cNvSpPr txBox="1"/>
          <p:nvPr/>
        </p:nvSpPr>
        <p:spPr>
          <a:xfrm>
            <a:off x="6964528" y="3392424"/>
            <a:ext cx="4495648" cy="585216"/>
          </a:xfrm>
          <a:prstGeom prst="rect">
            <a:avLst/>
          </a:prstGeom>
          <a:noFill/>
          <a:ln/>
        </p:spPr>
        <p:txBody>
          <a:bodyPr wrap="square" lIns="0" tIns="0" rIns="0" bIns="0" rtlCol="0" anchor="ctr"/>
          <a:lstStyle/>
          <a:p>
            <a:pPr marL="0" indent="0">
              <a:buNone/>
            </a:pPr>
            <a:r>
              <a:rPr lang="en-US" sz="1800" dirty="0">
                <a:solidFill>
                  <a:schemeClr val="tx1"/>
                </a:solidFill>
              </a:rPr>
              <a:t>Tres pasos para ponerla en práctica</a:t>
            </a:r>
            <a:endParaRPr lang="en-US" sz="1800" dirty="0"/>
          </a:p>
        </p:txBody>
      </p:sp>
      <p:sp>
        <p:nvSpPr>
          <p:cNvPr id="34" name="Revisión"/>
          <p:cNvSpPr/>
          <p:nvPr/>
        </p:nvSpPr>
        <p:spPr>
          <a:xfrm>
            <a:off x="6233008" y="4105656"/>
            <a:ext cx="5410048" cy="585216"/>
          </a:xfrm>
          <a:prstGeom prst="roundRect">
            <a:avLst>
              <a:gd name="adj" fmla="val 23438"/>
            </a:avLst>
          </a:prstGeom>
          <a:solidFill>
            <a:schemeClr val="accent2"/>
          </a:solidFill>
          <a:ln/>
        </p:spPr>
      </p:sp>
      <p:sp>
        <p:nvSpPr>
          <p:cNvPr id="35" name="Text 33"/>
          <p:cNvSpPr txBox="1"/>
          <p:nvPr/>
        </p:nvSpPr>
        <p:spPr>
          <a:xfrm>
            <a:off x="6461608" y="4105656"/>
            <a:ext cx="4952848" cy="585216"/>
          </a:xfrm>
          <a:prstGeom prst="rect">
            <a:avLst/>
          </a:prstGeom>
          <a:noFill/>
          <a:ln/>
        </p:spPr>
        <p:txBody>
          <a:bodyPr wrap="square" lIns="0" tIns="0" rIns="0" bIns="0" rtlCol="0" anchor="ctr"/>
          <a:lstStyle/>
          <a:p>
            <a:pPr marL="0" indent="0">
              <a:buNone/>
            </a:pPr>
            <a:r>
              <a:rPr lang="en-US" sz="1600" b="1" dirty="0">
                <a:solidFill>
                  <a:schemeClr val="bg1"/>
                </a:solidFill>
              </a:rPr>
              <a:t>La IA ayuda a redactar; vosotros revisáis:</a:t>
            </a:r>
            <a:endParaRPr lang="en-US" sz="1600" dirty="0"/>
          </a:p>
        </p:txBody>
      </p:sp>
      <p:sp>
        <p:nvSpPr>
          <p:cNvPr id="36" name="¿Qué sobra?"/>
          <p:cNvSpPr/>
          <p:nvPr/>
        </p:nvSpPr>
        <p:spPr>
          <a:xfrm>
            <a:off x="548640" y="4983480"/>
            <a:ext cx="640080" cy="640080"/>
          </a:xfrm>
          <a:prstGeom prst="ellipse">
            <a:avLst/>
          </a:prstGeom>
          <a:solidFill>
            <a:schemeClr val="accent2"/>
          </a:solidFill>
          <a:ln/>
        </p:spPr>
      </p:sp>
      <p:pic>
        <p:nvPicPr>
          <p:cNvPr id="37" name="Image 0" descr="¿Qué sobra?"/>
          <p:cNvPicPr>
            <a:picLocks noChangeAspect="1"/>
          </p:cNvPicPr>
          <p:nvPr/>
        </p:nvPicPr>
        <p:blipFill>
          <a:blip r:embed="rId3"/>
          <a:stretch>
            <a:fillRect/>
          </a:stretch>
        </p:blipFill>
        <p:spPr>
          <a:xfrm>
            <a:off x="702259" y="5137099"/>
            <a:ext cx="332842" cy="332842"/>
          </a:xfrm>
          <a:prstGeom prst="rect">
            <a:avLst/>
          </a:prstGeom>
        </p:spPr>
      </p:pic>
      <p:sp>
        <p:nvSpPr>
          <p:cNvPr id="38" name="Text 35"/>
          <p:cNvSpPr txBox="1"/>
          <p:nvPr/>
        </p:nvSpPr>
        <p:spPr>
          <a:xfrm>
            <a:off x="1371600"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sobra?</a:t>
            </a:r>
            <a:endParaRPr lang="en-US" sz="1900" dirty="0"/>
          </a:p>
        </p:txBody>
      </p:sp>
      <p:sp>
        <p:nvSpPr>
          <p:cNvPr id="39" name="¿Qué falta?"/>
          <p:cNvSpPr/>
          <p:nvPr/>
        </p:nvSpPr>
        <p:spPr>
          <a:xfrm>
            <a:off x="4338218" y="4983480"/>
            <a:ext cx="640080" cy="640080"/>
          </a:xfrm>
          <a:prstGeom prst="ellipse">
            <a:avLst/>
          </a:prstGeom>
          <a:solidFill>
            <a:schemeClr val="accent2"/>
          </a:solidFill>
          <a:ln/>
        </p:spPr>
      </p:sp>
      <p:pic>
        <p:nvPicPr>
          <p:cNvPr id="40" name="Image 1" descr="¿Qué falta?"/>
          <p:cNvPicPr>
            <a:picLocks noChangeAspect="1"/>
          </p:cNvPicPr>
          <p:nvPr/>
        </p:nvPicPr>
        <p:blipFill>
          <a:blip r:embed="rId4"/>
          <a:stretch>
            <a:fillRect/>
          </a:stretch>
        </p:blipFill>
        <p:spPr>
          <a:xfrm>
            <a:off x="4491838" y="5137099"/>
            <a:ext cx="332842" cy="332842"/>
          </a:xfrm>
          <a:prstGeom prst="rect">
            <a:avLst/>
          </a:prstGeom>
        </p:spPr>
      </p:pic>
      <p:sp>
        <p:nvSpPr>
          <p:cNvPr id="41" name="Text 37"/>
          <p:cNvSpPr txBox="1"/>
          <p:nvPr/>
        </p:nvSpPr>
        <p:spPr>
          <a:xfrm>
            <a:off x="5161178"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falta?</a:t>
            </a:r>
            <a:endParaRPr lang="en-US" sz="1900" dirty="0"/>
          </a:p>
        </p:txBody>
      </p:sp>
      <p:sp>
        <p:nvSpPr>
          <p:cNvPr id="42" name="¿Qué no es cierto?"/>
          <p:cNvSpPr/>
          <p:nvPr/>
        </p:nvSpPr>
        <p:spPr>
          <a:xfrm>
            <a:off x="8127797" y="4983480"/>
            <a:ext cx="640080" cy="640080"/>
          </a:xfrm>
          <a:prstGeom prst="ellipse">
            <a:avLst/>
          </a:prstGeom>
          <a:solidFill>
            <a:schemeClr val="accent2"/>
          </a:solidFill>
          <a:ln/>
        </p:spPr>
      </p:sp>
      <p:pic>
        <p:nvPicPr>
          <p:cNvPr id="43" name="Image 2" descr="¿Qué no es cierto?"/>
          <p:cNvPicPr>
            <a:picLocks noChangeAspect="1"/>
          </p:cNvPicPr>
          <p:nvPr/>
        </p:nvPicPr>
        <p:blipFill>
          <a:blip r:embed="rId5"/>
          <a:stretch>
            <a:fillRect/>
          </a:stretch>
        </p:blipFill>
        <p:spPr>
          <a:xfrm>
            <a:off x="8281416" y="5137099"/>
            <a:ext cx="332842" cy="332842"/>
          </a:xfrm>
          <a:prstGeom prst="rect">
            <a:avLst/>
          </a:prstGeom>
        </p:spPr>
      </p:pic>
      <p:sp>
        <p:nvSpPr>
          <p:cNvPr id="44" name="Text 39"/>
          <p:cNvSpPr txBox="1"/>
          <p:nvPr/>
        </p:nvSpPr>
        <p:spPr>
          <a:xfrm>
            <a:off x="8950757"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no es cierto?</a:t>
            </a:r>
            <a:endParaRPr lang="en-US" sz="1900" dirty="0"/>
          </a:p>
        </p:txBody>
      </p:sp>
      <p:sp>
        <p:nvSpPr>
          <p:cNvPr id="4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85</a:t>
            </a:fld>
            <a:endParaRPr lang="en-US"/>
          </a:p>
        </p:txBody>
      </p:sp>
      <p:sp>
        <p:nvSpPr>
          <p:cNvPr id="46" name="Dónde escribir"/>
          <p:cNvSpPr/>
          <p:nvPr/>
        </p:nvSpPr>
        <p:spPr>
          <a:xfrm>
            <a:off x="5565038" y="6291072"/>
            <a:ext cx="5362041"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documento_proyecto.docx</a:t>
            </a:r>
            <a:r>
              <a:rPr lang="es-ES" sz="1300" dirty="0">
                <a:solidFill>
                  <a:schemeClr val="tx1"/>
                </a:solidFill>
                <a:latin typeface="+mn-lt"/>
              </a:rPr>
              <a:t>  ›  apartados 1 a 7 · máximo dos páginas</a:t>
            </a:r>
          </a:p>
        </p:txBody>
      </p:sp>
      <p:sp>
        <p:nvSpPr>
          <p:cNvPr id="47" name="Dónde escribir: círculo"/>
          <p:cNvSpPr/>
          <p:nvPr/>
        </p:nvSpPr>
        <p:spPr>
          <a:xfrm>
            <a:off x="5619902" y="6336792"/>
            <a:ext cx="292608" cy="292608"/>
          </a:xfrm>
          <a:prstGeom prst="ellipse">
            <a:avLst/>
          </a:prstGeom>
          <a:solidFill>
            <a:schemeClr val="accent1"/>
          </a:solidFill>
          <a:ln>
            <a:noFill/>
          </a:ln>
        </p:spPr>
      </p:sp>
      <p:pic>
        <p:nvPicPr>
          <p:cNvPr id="48" name="Dónde escribir: lápiz" descr="Lápiz"/>
          <p:cNvPicPr>
            <a:picLocks noChangeAspect="1"/>
          </p:cNvPicPr>
          <p:nvPr/>
        </p:nvPicPr>
        <p:blipFill>
          <a:blip r:embed="rId6"/>
          <a:stretch>
            <a:fillRect/>
          </a:stretch>
        </p:blipFill>
        <p:spPr>
          <a:xfrm>
            <a:off x="5693054" y="6409944"/>
            <a:ext cx="146304" cy="146304"/>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Mientras redactáis, preguntaos…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175–195 · Parejas</a:t>
            </a:r>
            <a:endParaRPr lang="en-US" sz="1400" dirty="0"/>
          </a:p>
        </p:txBody>
      </p:sp>
      <p:sp>
        <p:nvSpPr>
          <p:cNvPr id="5" name="Tarjeta"/>
          <p:cNvSpPr/>
          <p:nvPr/>
        </p:nvSpPr>
        <p:spPr>
          <a:xfrm>
            <a:off x="548640" y="1554480"/>
            <a:ext cx="3454298" cy="3749040"/>
          </a:xfrm>
          <a:prstGeom prst="roundRect">
            <a:avLst>
              <a:gd name="adj" fmla="val 3971"/>
            </a:avLst>
          </a:prstGeom>
          <a:solidFill>
            <a:schemeClr val="bg2"/>
          </a:solidFill>
          <a:ln/>
        </p:spPr>
      </p:sp>
      <p:sp>
        <p:nvSpPr>
          <p:cNvPr id="6" name="Pregunta"/>
          <p:cNvSpPr/>
          <p:nvPr/>
        </p:nvSpPr>
        <p:spPr>
          <a:xfrm>
            <a:off x="1681429" y="192024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05533"/>
            <a:ext cx="618134" cy="618134"/>
          </a:xfrm>
          <a:prstGeom prst="rect">
            <a:avLst/>
          </a:prstGeom>
        </p:spPr>
      </p:pic>
      <p:sp>
        <p:nvSpPr>
          <p:cNvPr id="8" name="Text 5"/>
          <p:cNvSpPr txBox="1"/>
          <p:nvPr/>
        </p:nvSpPr>
        <p:spPr>
          <a:xfrm>
            <a:off x="868680"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¿Habéis respondido a las preguntas que no supisteis contestar en el intercambio?</a:t>
            </a:r>
            <a:endParaRPr lang="en-US" sz="2100" dirty="0"/>
          </a:p>
        </p:txBody>
      </p:sp>
      <p:sp>
        <p:nvSpPr>
          <p:cNvPr id="9" name="Tarjeta"/>
          <p:cNvSpPr/>
          <p:nvPr/>
        </p:nvSpPr>
        <p:spPr>
          <a:xfrm>
            <a:off x="4368698" y="1554480"/>
            <a:ext cx="3454298" cy="3749040"/>
          </a:xfrm>
          <a:prstGeom prst="roundRect">
            <a:avLst>
              <a:gd name="adj" fmla="val 3971"/>
            </a:avLst>
          </a:prstGeom>
          <a:solidFill>
            <a:schemeClr val="bg2"/>
          </a:solidFill>
          <a:ln/>
        </p:spPr>
      </p:sp>
      <p:sp>
        <p:nvSpPr>
          <p:cNvPr id="10" name="Pregunta"/>
          <p:cNvSpPr/>
          <p:nvPr/>
        </p:nvSpPr>
        <p:spPr>
          <a:xfrm>
            <a:off x="5501488" y="192024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05533"/>
            <a:ext cx="618134" cy="618134"/>
          </a:xfrm>
          <a:prstGeom prst="rect">
            <a:avLst/>
          </a:prstGeom>
        </p:spPr>
      </p:pic>
      <p:sp>
        <p:nvSpPr>
          <p:cNvPr id="12" name="Text 8"/>
          <p:cNvSpPr txBox="1"/>
          <p:nvPr/>
        </p:nvSpPr>
        <p:spPr>
          <a:xfrm>
            <a:off x="4688738"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¿Qué actividades requieren supervisión humana?</a:t>
            </a:r>
            <a:endParaRPr lang="en-US" sz="2100" dirty="0"/>
          </a:p>
        </p:txBody>
      </p:sp>
      <p:sp>
        <p:nvSpPr>
          <p:cNvPr id="13" name="Tarjeta"/>
          <p:cNvSpPr/>
          <p:nvPr/>
        </p:nvSpPr>
        <p:spPr>
          <a:xfrm>
            <a:off x="8188757" y="1554480"/>
            <a:ext cx="3454298" cy="3749040"/>
          </a:xfrm>
          <a:prstGeom prst="roundRect">
            <a:avLst>
              <a:gd name="adj" fmla="val 3971"/>
            </a:avLst>
          </a:prstGeom>
          <a:solidFill>
            <a:schemeClr val="bg2"/>
          </a:solidFill>
          <a:ln/>
        </p:spPr>
      </p:sp>
      <p:sp>
        <p:nvSpPr>
          <p:cNvPr id="14" name="Pregunta"/>
          <p:cNvSpPr/>
          <p:nvPr/>
        </p:nvSpPr>
        <p:spPr>
          <a:xfrm>
            <a:off x="9321546" y="192024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05533"/>
            <a:ext cx="618134" cy="618134"/>
          </a:xfrm>
          <a:prstGeom prst="rect">
            <a:avLst/>
          </a:prstGeom>
        </p:spPr>
      </p:pic>
      <p:sp>
        <p:nvSpPr>
          <p:cNvPr id="16" name="Text 11"/>
          <p:cNvSpPr txBox="1"/>
          <p:nvPr/>
        </p:nvSpPr>
        <p:spPr>
          <a:xfrm>
            <a:off x="8508797"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¿Qué datos no deberíamos introducir en una IA pública?</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¿Cómo sabremos si funciona?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195–210 · Parejas</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1900" dirty="0">
                <a:solidFill>
                  <a:schemeClr val="tx2"/>
                </a:solidFill>
              </a:rPr>
              <a:t>Dos indicadores medibles, y cómo se recogerían los datos antes y después de una prueba de un mes. Por ejemplo:</a:t>
            </a:r>
            <a:endParaRPr lang="en-US" sz="1900" dirty="0"/>
          </a:p>
        </p:txBody>
      </p:sp>
      <p:sp>
        <p:nvSpPr>
          <p:cNvPr id="6" name="Tarjeta"/>
          <p:cNvSpPr/>
          <p:nvPr/>
        </p:nvSpPr>
        <p:spPr>
          <a:xfrm>
            <a:off x="548640" y="2103120"/>
            <a:ext cx="2464994" cy="2468880"/>
          </a:xfrm>
          <a:prstGeom prst="roundRect">
            <a:avLst>
              <a:gd name="adj" fmla="val 5564"/>
            </a:avLst>
          </a:prstGeom>
          <a:solidFill>
            <a:schemeClr val="bg2"/>
          </a:solidFill>
          <a:ln/>
        </p:spPr>
      </p:sp>
      <p:sp>
        <p:nvSpPr>
          <p:cNvPr id="7" name="Qué medimos"/>
          <p:cNvSpPr/>
          <p:nvPr/>
        </p:nvSpPr>
        <p:spPr>
          <a:xfrm>
            <a:off x="822960" y="2331720"/>
            <a:ext cx="777240" cy="777240"/>
          </a:xfrm>
          <a:prstGeom prst="ellipse">
            <a:avLst/>
          </a:prstGeom>
          <a:solidFill>
            <a:schemeClr val="accent1"/>
          </a:solidFill>
          <a:ln/>
        </p:spPr>
      </p:sp>
      <p:pic>
        <p:nvPicPr>
          <p:cNvPr id="8" name="Image 0" descr="Qué medimos"/>
          <p:cNvPicPr>
            <a:picLocks noChangeAspect="1"/>
          </p:cNvPicPr>
          <p:nvPr/>
        </p:nvPicPr>
        <p:blipFill>
          <a:blip r:embed="rId3"/>
          <a:stretch>
            <a:fillRect/>
          </a:stretch>
        </p:blipFill>
        <p:spPr>
          <a:xfrm>
            <a:off x="1009498" y="2518258"/>
            <a:ext cx="404165" cy="404165"/>
          </a:xfrm>
          <a:prstGeom prst="rect">
            <a:avLst/>
          </a:prstGeom>
        </p:spPr>
      </p:pic>
      <p:sp>
        <p:nvSpPr>
          <p:cNvPr id="9" name="Text 6"/>
          <p:cNvSpPr txBox="1"/>
          <p:nvPr/>
        </p:nvSpPr>
        <p:spPr>
          <a:xfrm>
            <a:off x="822960"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Qué medimos</a:t>
            </a:r>
            <a:endParaRPr lang="en-US" sz="2000" dirty="0"/>
          </a:p>
        </p:txBody>
      </p:sp>
      <p:sp>
        <p:nvSpPr>
          <p:cNvPr id="10" name="Text 7"/>
          <p:cNvSpPr txBox="1"/>
          <p:nvPr/>
        </p:nvSpPr>
        <p:spPr>
          <a:xfrm>
            <a:off x="822960"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Citas perdidas cada semana en la peluquería.</a:t>
            </a:r>
            <a:endParaRPr lang="en-US" sz="1600" dirty="0"/>
          </a:p>
        </p:txBody>
      </p:sp>
      <p:sp>
        <p:nvSpPr>
          <p:cNvPr id="11" name="Shape 8"/>
          <p:cNvSpPr/>
          <p:nvPr/>
        </p:nvSpPr>
        <p:spPr>
          <a:xfrm>
            <a:off x="3068498" y="3337560"/>
            <a:ext cx="301752" cy="0"/>
          </a:xfrm>
          <a:prstGeom prst="line">
            <a:avLst/>
          </a:prstGeom>
          <a:noFill/>
          <a:ln w="38100">
            <a:solidFill>
              <a:srgbClr val="3A4664"/>
            </a:solidFill>
            <a:prstDash val="solid"/>
            <a:tailEnd type="triangle"/>
          </a:ln>
        </p:spPr>
      </p:sp>
      <p:sp>
        <p:nvSpPr>
          <p:cNvPr id="12" name="Tarjeta"/>
          <p:cNvSpPr/>
          <p:nvPr/>
        </p:nvSpPr>
        <p:spPr>
          <a:xfrm>
            <a:off x="3425114" y="2103120"/>
            <a:ext cx="2464994" cy="2468880"/>
          </a:xfrm>
          <a:prstGeom prst="roundRect">
            <a:avLst>
              <a:gd name="adj" fmla="val 5564"/>
            </a:avLst>
          </a:prstGeom>
          <a:solidFill>
            <a:schemeClr val="bg2"/>
          </a:solidFill>
          <a:ln/>
        </p:spPr>
      </p:sp>
      <p:sp>
        <p:nvSpPr>
          <p:cNvPr id="13" name="Antes"/>
          <p:cNvSpPr/>
          <p:nvPr/>
        </p:nvSpPr>
        <p:spPr>
          <a:xfrm>
            <a:off x="3699434" y="2331720"/>
            <a:ext cx="777240" cy="777240"/>
          </a:xfrm>
          <a:prstGeom prst="ellipse">
            <a:avLst/>
          </a:prstGeom>
          <a:solidFill>
            <a:schemeClr val="accent1"/>
          </a:solidFill>
          <a:ln/>
        </p:spPr>
      </p:sp>
      <p:pic>
        <p:nvPicPr>
          <p:cNvPr id="14" name="Image 1" descr="Antes"/>
          <p:cNvPicPr>
            <a:picLocks noChangeAspect="1"/>
          </p:cNvPicPr>
          <p:nvPr/>
        </p:nvPicPr>
        <p:blipFill>
          <a:blip r:embed="rId4"/>
          <a:stretch>
            <a:fillRect/>
          </a:stretch>
        </p:blipFill>
        <p:spPr>
          <a:xfrm>
            <a:off x="3885971" y="2518258"/>
            <a:ext cx="404165" cy="404165"/>
          </a:xfrm>
          <a:prstGeom prst="rect">
            <a:avLst/>
          </a:prstGeom>
        </p:spPr>
      </p:pic>
      <p:sp>
        <p:nvSpPr>
          <p:cNvPr id="15" name="Text 11"/>
          <p:cNvSpPr txBox="1"/>
          <p:nvPr/>
        </p:nvSpPr>
        <p:spPr>
          <a:xfrm>
            <a:off x="3699434"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Antes</a:t>
            </a:r>
            <a:endParaRPr lang="en-US" sz="2000" dirty="0"/>
          </a:p>
        </p:txBody>
      </p:sp>
      <p:sp>
        <p:nvSpPr>
          <p:cNvPr id="16" name="Text 12"/>
          <p:cNvSpPr txBox="1"/>
          <p:nvPr/>
        </p:nvSpPr>
        <p:spPr>
          <a:xfrm>
            <a:off x="3699434"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Contarlas durante una semana, antes de empezar la prueba.</a:t>
            </a:r>
            <a:endParaRPr lang="en-US" sz="1600" dirty="0"/>
          </a:p>
        </p:txBody>
      </p:sp>
      <p:sp>
        <p:nvSpPr>
          <p:cNvPr id="17" name="Shape 13"/>
          <p:cNvSpPr/>
          <p:nvPr/>
        </p:nvSpPr>
        <p:spPr>
          <a:xfrm>
            <a:off x="5944972" y="3337560"/>
            <a:ext cx="301752" cy="0"/>
          </a:xfrm>
          <a:prstGeom prst="line">
            <a:avLst/>
          </a:prstGeom>
          <a:noFill/>
          <a:ln w="38100">
            <a:solidFill>
              <a:srgbClr val="3A4664"/>
            </a:solidFill>
            <a:prstDash val="solid"/>
            <a:tailEnd type="triangle"/>
          </a:ln>
        </p:spPr>
      </p:sp>
      <p:sp>
        <p:nvSpPr>
          <p:cNvPr id="18" name="Tarjeta"/>
          <p:cNvSpPr/>
          <p:nvPr/>
        </p:nvSpPr>
        <p:spPr>
          <a:xfrm>
            <a:off x="6301588" y="2103120"/>
            <a:ext cx="2464994" cy="2468880"/>
          </a:xfrm>
          <a:prstGeom prst="roundRect">
            <a:avLst>
              <a:gd name="adj" fmla="val 5564"/>
            </a:avLst>
          </a:prstGeom>
          <a:solidFill>
            <a:schemeClr val="bg2"/>
          </a:solidFill>
          <a:ln/>
        </p:spPr>
      </p:sp>
      <p:sp>
        <p:nvSpPr>
          <p:cNvPr id="19" name="Durante un mes"/>
          <p:cNvSpPr/>
          <p:nvPr/>
        </p:nvSpPr>
        <p:spPr>
          <a:xfrm>
            <a:off x="6575908" y="2331720"/>
            <a:ext cx="777240" cy="777240"/>
          </a:xfrm>
          <a:prstGeom prst="ellipse">
            <a:avLst/>
          </a:prstGeom>
          <a:solidFill>
            <a:schemeClr val="accent1"/>
          </a:solidFill>
          <a:ln/>
        </p:spPr>
      </p:sp>
      <p:pic>
        <p:nvPicPr>
          <p:cNvPr id="20" name="Image 2" descr="Durante un mes"/>
          <p:cNvPicPr>
            <a:picLocks noChangeAspect="1"/>
          </p:cNvPicPr>
          <p:nvPr/>
        </p:nvPicPr>
        <p:blipFill>
          <a:blip r:embed="rId5"/>
          <a:stretch>
            <a:fillRect/>
          </a:stretch>
        </p:blipFill>
        <p:spPr>
          <a:xfrm>
            <a:off x="6762445" y="2518258"/>
            <a:ext cx="404165" cy="404165"/>
          </a:xfrm>
          <a:prstGeom prst="rect">
            <a:avLst/>
          </a:prstGeom>
        </p:spPr>
      </p:pic>
      <p:sp>
        <p:nvSpPr>
          <p:cNvPr id="21" name="Text 16"/>
          <p:cNvSpPr txBox="1"/>
          <p:nvPr/>
        </p:nvSpPr>
        <p:spPr>
          <a:xfrm>
            <a:off x="6575908"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Durante un mes</a:t>
            </a:r>
            <a:endParaRPr lang="en-US" sz="2000" dirty="0"/>
          </a:p>
        </p:txBody>
      </p:sp>
      <p:sp>
        <p:nvSpPr>
          <p:cNvPr id="22" name="Text 17"/>
          <p:cNvSpPr txBox="1"/>
          <p:nvPr/>
        </p:nvSpPr>
        <p:spPr>
          <a:xfrm>
            <a:off x="6575908"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Se prueba la propuesta.</a:t>
            </a:r>
            <a:endParaRPr lang="en-US" sz="1600" dirty="0"/>
          </a:p>
        </p:txBody>
      </p:sp>
      <p:sp>
        <p:nvSpPr>
          <p:cNvPr id="23" name="Shape 18"/>
          <p:cNvSpPr/>
          <p:nvPr/>
        </p:nvSpPr>
        <p:spPr>
          <a:xfrm>
            <a:off x="8821445" y="3337560"/>
            <a:ext cx="301752" cy="0"/>
          </a:xfrm>
          <a:prstGeom prst="line">
            <a:avLst/>
          </a:prstGeom>
          <a:noFill/>
          <a:ln w="38100">
            <a:solidFill>
              <a:srgbClr val="3A4664"/>
            </a:solidFill>
            <a:prstDash val="solid"/>
            <a:tailEnd type="triangle"/>
          </a:ln>
        </p:spPr>
      </p:sp>
      <p:sp>
        <p:nvSpPr>
          <p:cNvPr id="24" name="Tarjeta"/>
          <p:cNvSpPr/>
          <p:nvPr/>
        </p:nvSpPr>
        <p:spPr>
          <a:xfrm>
            <a:off x="9178061" y="2103120"/>
            <a:ext cx="2464994" cy="2468880"/>
          </a:xfrm>
          <a:prstGeom prst="roundRect">
            <a:avLst>
              <a:gd name="adj" fmla="val 5564"/>
            </a:avLst>
          </a:prstGeom>
          <a:solidFill>
            <a:schemeClr val="bg2"/>
          </a:solidFill>
          <a:ln/>
        </p:spPr>
      </p:sp>
      <p:sp>
        <p:nvSpPr>
          <p:cNvPr id="25" name="Después"/>
          <p:cNvSpPr/>
          <p:nvPr/>
        </p:nvSpPr>
        <p:spPr>
          <a:xfrm>
            <a:off x="9452381" y="2331720"/>
            <a:ext cx="777240" cy="777240"/>
          </a:xfrm>
          <a:prstGeom prst="ellipse">
            <a:avLst/>
          </a:prstGeom>
          <a:solidFill>
            <a:schemeClr val="accent1"/>
          </a:solidFill>
          <a:ln/>
        </p:spPr>
      </p:sp>
      <p:pic>
        <p:nvPicPr>
          <p:cNvPr id="26" name="Image 3" descr="Después"/>
          <p:cNvPicPr>
            <a:picLocks noChangeAspect="1"/>
          </p:cNvPicPr>
          <p:nvPr/>
        </p:nvPicPr>
        <p:blipFill>
          <a:blip r:embed="rId6"/>
          <a:stretch>
            <a:fillRect/>
          </a:stretch>
        </p:blipFill>
        <p:spPr>
          <a:xfrm>
            <a:off x="9638919" y="2518258"/>
            <a:ext cx="404165" cy="404165"/>
          </a:xfrm>
          <a:prstGeom prst="rect">
            <a:avLst/>
          </a:prstGeom>
        </p:spPr>
      </p:pic>
      <p:sp>
        <p:nvSpPr>
          <p:cNvPr id="27" name="Text 21"/>
          <p:cNvSpPr txBox="1"/>
          <p:nvPr/>
        </p:nvSpPr>
        <p:spPr>
          <a:xfrm>
            <a:off x="9452381"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Después</a:t>
            </a:r>
            <a:endParaRPr lang="en-US" sz="2000" dirty="0"/>
          </a:p>
        </p:txBody>
      </p:sp>
      <p:sp>
        <p:nvSpPr>
          <p:cNvPr id="28" name="Text 22"/>
          <p:cNvSpPr txBox="1"/>
          <p:nvPr/>
        </p:nvSpPr>
        <p:spPr>
          <a:xfrm>
            <a:off x="9452381"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Volver a contarlas al final y comparar.</a:t>
            </a:r>
            <a:endParaRPr lang="en-US" sz="1600" dirty="0"/>
          </a:p>
        </p:txBody>
      </p:sp>
      <p:sp>
        <p:nvSpPr>
          <p:cNvPr id="29" name="Tarjeta"/>
          <p:cNvSpPr/>
          <p:nvPr/>
        </p:nvSpPr>
        <p:spPr>
          <a:xfrm>
            <a:off x="548640" y="4892040"/>
            <a:ext cx="11094415" cy="960120"/>
          </a:xfrm>
          <a:prstGeom prst="roundRect">
            <a:avLst>
              <a:gd name="adj" fmla="val 14286"/>
            </a:avLst>
          </a:prstGeom>
          <a:solidFill>
            <a:schemeClr val="bg2"/>
          </a:solidFill>
          <a:ln/>
        </p:spPr>
      </p:sp>
      <p:sp>
        <p:nvSpPr>
          <p:cNvPr id="30" name="Sin inventar"/>
          <p:cNvSpPr/>
          <p:nvPr/>
        </p:nvSpPr>
        <p:spPr>
          <a:xfrm>
            <a:off x="822960" y="5029200"/>
            <a:ext cx="685800" cy="685800"/>
          </a:xfrm>
          <a:prstGeom prst="ellipse">
            <a:avLst/>
          </a:prstGeom>
          <a:solidFill>
            <a:schemeClr val="accent3"/>
          </a:solidFill>
          <a:ln/>
        </p:spPr>
      </p:sp>
      <p:pic>
        <p:nvPicPr>
          <p:cNvPr id="31" name="Image 4" descr="Sin inventar"/>
          <p:cNvPicPr>
            <a:picLocks noChangeAspect="1"/>
          </p:cNvPicPr>
          <p:nvPr/>
        </p:nvPicPr>
        <p:blipFill>
          <a:blip r:embed="rId7"/>
          <a:stretch>
            <a:fillRect/>
          </a:stretch>
        </p:blipFill>
        <p:spPr>
          <a:xfrm>
            <a:off x="987552" y="5193792"/>
            <a:ext cx="356616" cy="356616"/>
          </a:xfrm>
          <a:prstGeom prst="rect">
            <a:avLst/>
          </a:prstGeom>
        </p:spPr>
      </p:pic>
      <p:sp>
        <p:nvSpPr>
          <p:cNvPr id="32" name="Text 25"/>
          <p:cNvSpPr txBox="1"/>
          <p:nvPr/>
        </p:nvSpPr>
        <p:spPr>
          <a:xfrm>
            <a:off x="1737360" y="4892040"/>
            <a:ext cx="9631375" cy="960120"/>
          </a:xfrm>
          <a:prstGeom prst="rect">
            <a:avLst/>
          </a:prstGeom>
          <a:noFill/>
          <a:ln/>
        </p:spPr>
        <p:txBody>
          <a:bodyPr wrap="square" lIns="0" tIns="0" rIns="0" bIns="0" rtlCol="0" anchor="ctr"/>
          <a:lstStyle/>
          <a:p>
            <a:pPr marL="0" indent="0">
              <a:buNone/>
            </a:pPr>
            <a:r>
              <a:rPr lang="en-US" sz="2000" b="1" dirty="0">
                <a:solidFill>
                  <a:schemeClr val="tx1"/>
                </a:solidFill>
              </a:rPr>
              <a:t>No inventamos resultados: </a:t>
            </a:r>
            <a:r>
              <a:rPr lang="en-US" sz="2000" dirty="0">
                <a:solidFill>
                  <a:schemeClr val="tx1"/>
                </a:solidFill>
              </a:rPr>
              <a:t>explicamos cómo se mediría, no lo que se conseguirá.</a:t>
            </a:r>
            <a:endParaRPr lang="en-US" sz="2000" dirty="0"/>
          </a:p>
        </p:txBody>
      </p:sp>
      <p:sp>
        <p:nvSpPr>
          <p:cNvPr id="33"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87</a:t>
            </a:fld>
            <a:endParaRPr lang="en-US"/>
          </a:p>
        </p:txBody>
      </p:sp>
      <p:sp>
        <p:nvSpPr>
          <p:cNvPr id="34" name="Dónde escribir"/>
          <p:cNvSpPr/>
          <p:nvPr/>
        </p:nvSpPr>
        <p:spPr>
          <a:xfrm>
            <a:off x="5788151" y="6291072"/>
            <a:ext cx="5138928"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documento_proyecto.docx</a:t>
            </a:r>
            <a:r>
              <a:rPr lang="es-ES" sz="1300" dirty="0">
                <a:solidFill>
                  <a:schemeClr val="tx1"/>
                </a:solidFill>
                <a:latin typeface="+mn-lt"/>
              </a:rPr>
              <a:t>  ›  apartado 4  ›  tabla de indicadores</a:t>
            </a:r>
          </a:p>
        </p:txBody>
      </p:sp>
      <p:sp>
        <p:nvSpPr>
          <p:cNvPr id="35" name="Dónde escribir: círculo"/>
          <p:cNvSpPr/>
          <p:nvPr/>
        </p:nvSpPr>
        <p:spPr>
          <a:xfrm>
            <a:off x="5843015" y="6336792"/>
            <a:ext cx="292608" cy="292608"/>
          </a:xfrm>
          <a:prstGeom prst="ellipse">
            <a:avLst/>
          </a:prstGeom>
          <a:solidFill>
            <a:schemeClr val="accent1"/>
          </a:solidFill>
          <a:ln>
            <a:noFill/>
          </a:ln>
        </p:spPr>
      </p:sp>
      <p:pic>
        <p:nvPicPr>
          <p:cNvPr id="36" name="Dónde escribir: lápiz" descr="Lápiz"/>
          <p:cNvPicPr>
            <a:picLocks noChangeAspect="1"/>
          </p:cNvPicPr>
          <p:nvPr/>
        </p:nvPicPr>
        <p:blipFill>
          <a:blip r:embed="rId8"/>
          <a:stretch>
            <a:fillRect/>
          </a:stretch>
        </p:blipFill>
        <p:spPr>
          <a:xfrm>
            <a:off x="5916167" y="6409944"/>
            <a:ext cx="146304" cy="146304"/>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Primero vosotros, después la IA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195–210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Pensad vuestros indicadores. Después, podéis pedir ideas a la IA:</a:t>
            </a:r>
            <a:endParaRPr lang="en-US" sz="1900" dirty="0"/>
          </a:p>
        </p:txBody>
      </p:sp>
      <p:sp>
        <p:nvSpPr>
          <p:cNvPr id="6" name="Prompt"/>
          <p:cNvSpPr/>
          <p:nvPr/>
        </p:nvSpPr>
        <p:spPr>
          <a:xfrm>
            <a:off x="548640" y="1965960"/>
            <a:ext cx="11094415" cy="1965960"/>
          </a:xfrm>
          <a:prstGeom prst="roundRect">
            <a:avLst>
              <a:gd name="adj" fmla="val 5581"/>
            </a:avLst>
          </a:prstGeom>
          <a:solidFill>
            <a:schemeClr val="tx1"/>
          </a:solidFill>
          <a:ln/>
        </p:spPr>
      </p:sp>
      <p:sp>
        <p:nvSpPr>
          <p:cNvPr id="7" name="Text 5"/>
          <p:cNvSpPr txBox="1"/>
          <p:nvPr/>
        </p:nvSpPr>
        <p:spPr>
          <a:xfrm>
            <a:off x="822960" y="2148840"/>
            <a:ext cx="10545775" cy="1600200"/>
          </a:xfrm>
          <a:prstGeom prst="rect">
            <a:avLst/>
          </a:prstGeom>
          <a:noFill/>
          <a:ln/>
        </p:spPr>
        <p:txBody>
          <a:bodyPr wrap="square" lIns="0" tIns="0" rIns="0" bIns="0" rtlCol="0" anchor="t"/>
          <a:lstStyle/>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Esta es nuestra propuesta: </a:t>
            </a:r>
            <a:r>
              <a:rPr lang="en-US" sz="1800" b="1" dirty="0">
                <a:solidFill>
                  <a:schemeClr val="accent1"/>
                </a:solidFill>
                <a:latin typeface="Courier New" pitchFamily="34" charset="0"/>
                <a:ea typeface="Courier New" pitchFamily="34" charset="-122"/>
                <a:cs typeface="Courier New" pitchFamily="34" charset="-120"/>
              </a:rPr>
              <a:t>[resumen sin datos personales]</a:t>
            </a:r>
            <a:r>
              <a:rPr lang="en-US" sz="1800" dirty="0">
                <a:solidFill>
                  <a:schemeClr val="bg1"/>
                </a:solidFill>
                <a:latin typeface="Courier New" pitchFamily="34" charset="0"/>
                <a:ea typeface="Courier New" pitchFamily="34" charset="-122"/>
                <a:cs typeface="Courier New" pitchFamily="34" charset="-120"/>
              </a:rPr>
              <a:t>.</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Propón cinco indicadores medibles para comprobar si funciona durante</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una prueba de un mes. Para cada uno, explica cómo medirlo antes y</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después de la prueba con herramientas sencillas. No inventes</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resultados ni cifras de mejora.</a:t>
            </a:r>
            <a:endParaRPr lang="en-US" sz="1800" dirty="0"/>
          </a:p>
        </p:txBody>
      </p:sp>
      <p:sp>
        <p:nvSpPr>
          <p:cNvPr id="8" name="Tarjeta"/>
          <p:cNvSpPr/>
          <p:nvPr/>
        </p:nvSpPr>
        <p:spPr>
          <a:xfrm>
            <a:off x="548640" y="4251960"/>
            <a:ext cx="11094415" cy="1371600"/>
          </a:xfrm>
          <a:prstGeom prst="roundRect">
            <a:avLst>
              <a:gd name="adj" fmla="val 10000"/>
            </a:avLst>
          </a:prstGeom>
          <a:solidFill>
            <a:schemeClr val="bg2"/>
          </a:solidFill>
          <a:ln/>
        </p:spPr>
      </p:sp>
      <p:sp>
        <p:nvSpPr>
          <p:cNvPr id="9" name="Elegir"/>
          <p:cNvSpPr/>
          <p:nvPr/>
        </p:nvSpPr>
        <p:spPr>
          <a:xfrm>
            <a:off x="868680" y="4526280"/>
            <a:ext cx="822960" cy="822960"/>
          </a:xfrm>
          <a:prstGeom prst="ellipse">
            <a:avLst/>
          </a:prstGeom>
          <a:solidFill>
            <a:schemeClr val="accent1"/>
          </a:solidFill>
          <a:ln/>
        </p:spPr>
      </p:sp>
      <p:pic>
        <p:nvPicPr>
          <p:cNvPr id="10" name="Image 0" descr="Elegir"/>
          <p:cNvPicPr>
            <a:picLocks noChangeAspect="1"/>
          </p:cNvPicPr>
          <p:nvPr/>
        </p:nvPicPr>
        <p:blipFill>
          <a:blip r:embed="rId3"/>
          <a:stretch>
            <a:fillRect/>
          </a:stretch>
        </p:blipFill>
        <p:spPr>
          <a:xfrm>
            <a:off x="1066190" y="4723790"/>
            <a:ext cx="427939" cy="427939"/>
          </a:xfrm>
          <a:prstGeom prst="rect">
            <a:avLst/>
          </a:prstGeom>
        </p:spPr>
      </p:pic>
      <p:sp>
        <p:nvSpPr>
          <p:cNvPr id="11" name="Text 8"/>
          <p:cNvSpPr txBox="1"/>
          <p:nvPr/>
        </p:nvSpPr>
        <p:spPr>
          <a:xfrm>
            <a:off x="1965960" y="4251960"/>
            <a:ext cx="9402775" cy="1371600"/>
          </a:xfrm>
          <a:prstGeom prst="rect">
            <a:avLst/>
          </a:prstGeom>
          <a:noFill/>
          <a:ln/>
        </p:spPr>
        <p:txBody>
          <a:bodyPr wrap="square" lIns="0" tIns="0" rIns="0" bIns="0" rtlCol="0" anchor="ctr"/>
          <a:lstStyle/>
          <a:p>
            <a:pPr marL="0" indent="0">
              <a:buNone/>
            </a:pPr>
            <a:r>
              <a:rPr lang="en-US" sz="2000" b="1" dirty="0">
                <a:solidFill>
                  <a:schemeClr val="tx1"/>
                </a:solidFill>
              </a:rPr>
              <a:t>Elegid los dos indicadores que mejor demuestren si vuestra propuesta resuelve el problema, y añadidlos al documento.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88</a:t>
            </a:fld>
            <a:endParaRPr lang="en-US"/>
          </a:p>
        </p:txBody>
      </p:sp>
      <p:sp>
        <p:nvSpPr>
          <p:cNvPr id="26" name="Dónde escribir"/>
          <p:cNvSpPr/>
          <p:nvPr/>
        </p:nvSpPr>
        <p:spPr>
          <a:xfrm>
            <a:off x="4562855" y="6291072"/>
            <a:ext cx="6364224"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documento_proyecto.docx</a:t>
            </a:r>
            <a:r>
              <a:rPr lang="es-ES" sz="1300" dirty="0">
                <a:solidFill>
                  <a:schemeClr val="tx1"/>
                </a:solidFill>
                <a:latin typeface="+mn-lt"/>
              </a:rPr>
              <a:t>  ›  página de trabajo  ›  Indicadores (el prompt está ahí)</a:t>
            </a:r>
          </a:p>
        </p:txBody>
      </p:sp>
      <p:sp>
        <p:nvSpPr>
          <p:cNvPr id="27" name="Dónde escribir: círculo"/>
          <p:cNvSpPr/>
          <p:nvPr/>
        </p:nvSpPr>
        <p:spPr>
          <a:xfrm>
            <a:off x="4617719"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4"/>
          <a:stretch>
            <a:fillRect/>
          </a:stretch>
        </p:blipFill>
        <p:spPr>
          <a:xfrm>
            <a:off x="4690871" y="6409944"/>
            <a:ext cx="146304" cy="146304"/>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Nuestros dos indicadores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195–210 · Parejas</a:t>
            </a:r>
            <a:endParaRPr lang="en-US" sz="1400" dirty="0"/>
          </a:p>
        </p:txBody>
      </p:sp>
      <p:graphicFrame>
        <p:nvGraphicFramePr>
          <p:cNvPr id="10" name="Table 0"/>
          <p:cNvGraphicFramePr>
            <a:graphicFrameLocks noGrp="1"/>
          </p:cNvGraphicFramePr>
          <p:nvPr/>
        </p:nvGraphicFramePr>
        <p:xfrm>
          <a:off x="548640" y="1463040"/>
          <a:ext cx="11094415" cy="3291840"/>
        </p:xfrm>
        <a:graphic>
          <a:graphicData uri="http://schemas.openxmlformats.org/drawingml/2006/table">
            <a:tbl>
              <a:tblPr/>
              <a:tblGrid>
                <a:gridCol w="640080">
                  <a:extLst>
                    <a:ext uri="{9D8B030D-6E8A-4147-A177-3AD203B41FA5}">
                      <a16:colId xmlns:a16="http://schemas.microsoft.com/office/drawing/2014/main" val="20000"/>
                    </a:ext>
                  </a:extLst>
                </a:gridCol>
                <a:gridCol w="3484778">
                  <a:extLst>
                    <a:ext uri="{9D8B030D-6E8A-4147-A177-3AD203B41FA5}">
                      <a16:colId xmlns:a16="http://schemas.microsoft.com/office/drawing/2014/main" val="20001"/>
                    </a:ext>
                  </a:extLst>
                </a:gridCol>
                <a:gridCol w="3484778">
                  <a:extLst>
                    <a:ext uri="{9D8B030D-6E8A-4147-A177-3AD203B41FA5}">
                      <a16:colId xmlns:a16="http://schemas.microsoft.com/office/drawing/2014/main" val="20003"/>
                    </a:ext>
                  </a:extLst>
                </a:gridCol>
                <a:gridCol w="3484779">
                  <a:extLst>
                    <a:ext uri="{9D8B030D-6E8A-4147-A177-3AD203B41FA5}">
                      <a16:colId xmlns:a16="http://schemas.microsoft.com/office/drawing/2014/main" val="20004"/>
                    </a:ext>
                  </a:extLst>
                </a:gridCol>
              </a:tblGrid>
              <a:tr h="548640">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bg1"/>
                          </a:solidFill>
                        </a:rPr>
                        <a:t>Indicador</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Cómo se mide antes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Cómo se mide después de un mes de prueba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1371600">
                <a:tc>
                  <a:txBody>
                    <a:bodyPr/>
                    <a:lstStyle/>
                    <a:p>
                      <a:pPr marL="0" indent="0" algn="ctr">
                        <a:buNone/>
                      </a:pPr>
                      <a:r>
                        <a:rPr lang="en-US" sz="1800" b="1" dirty="0">
                          <a:solidFill>
                            <a:schemeClr val="tx1"/>
                          </a:solidFill>
                        </a:rPr>
                        <a:t>1</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1371600">
                <a:tc>
                  <a:txBody>
                    <a:bodyPr/>
                    <a:lstStyle/>
                    <a:p>
                      <a:pPr marL="0" indent="0" algn="ctr">
                        <a:buNone/>
                      </a:pPr>
                      <a:r>
                        <a:rPr lang="en-US" sz="1800" b="1" dirty="0">
                          <a:solidFill>
                            <a:schemeClr val="tx1"/>
                          </a:solidFill>
                        </a:rPr>
                        <a:t>2</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6" name="Text 3"/>
          <p:cNvSpPr txBox="1"/>
          <p:nvPr/>
        </p:nvSpPr>
        <p:spPr>
          <a:xfrm>
            <a:off x="548640" y="5029200"/>
            <a:ext cx="11094415" cy="548640"/>
          </a:xfrm>
          <a:prstGeom prst="rect">
            <a:avLst/>
          </a:prstGeom>
          <a:noFill/>
          <a:ln/>
        </p:spPr>
        <p:txBody>
          <a:bodyPr wrap="square" lIns="0" tIns="0" rIns="0" bIns="0" rtlCol="0" anchor="ctr"/>
          <a:lstStyle/>
          <a:p>
            <a:pPr marL="0" indent="0">
              <a:buNone/>
            </a:pPr>
            <a:r>
              <a:rPr lang="en-US" sz="1800" i="1" dirty="0">
                <a:solidFill>
                  <a:schemeClr val="accent3"/>
                </a:solidFill>
              </a:rPr>
              <a:t>En «Cómo se mide antes» y «después» va cómo y cuándo se recogerían los datos, no los resultados.</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89</a:t>
            </a:fld>
            <a:endParaRPr lang="en-US"/>
          </a:p>
        </p:txBody>
      </p:sp>
      <p:sp>
        <p:nvSpPr>
          <p:cNvPr id="26" name="Dónde escribir"/>
          <p:cNvSpPr/>
          <p:nvPr/>
        </p:nvSpPr>
        <p:spPr>
          <a:xfrm>
            <a:off x="5788151" y="6291072"/>
            <a:ext cx="5138928"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documento_proyecto.docx</a:t>
            </a:r>
            <a:r>
              <a:rPr lang="es-ES" sz="1300" dirty="0">
                <a:solidFill>
                  <a:schemeClr val="tx1"/>
                </a:solidFill>
                <a:latin typeface="+mn-lt"/>
              </a:rPr>
              <a:t>  ›  apartado 4  ›  tabla de indicadores</a:t>
            </a:r>
          </a:p>
        </p:txBody>
      </p:sp>
      <p:sp>
        <p:nvSpPr>
          <p:cNvPr id="27" name="Dónde escribir: círculo"/>
          <p:cNvSpPr/>
          <p:nvPr/>
        </p:nvSpPr>
        <p:spPr>
          <a:xfrm>
            <a:off x="5843015"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5916167" y="6409944"/>
            <a:ext cx="146304" cy="146304"/>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Abrid la plantilla de la presentación</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marL="0" indent="0" algn="ctr">
              <a:buNone/>
            </a:pPr>
            <a:r>
              <a:rPr lang="en-US" sz="1400" b="1" dirty="0">
                <a:solidFill>
                  <a:schemeClr val="tx1"/>
                </a:solidFill>
              </a:rPr>
              <a:t>Min. 210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presentacion_proyecto.pptx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PowerPoint o Google Slides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Haced clic en cada recuadro y escribid: la pista desaparece.</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Una idea por diapositiva: llevad del documento solo lo esencial.</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Los indicadores, los mismos que en el documento.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Presentación en tres diapositivas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210–235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En PowerPoint o Google Slides:</a:t>
            </a:r>
            <a:endParaRPr lang="en-US" sz="1900" dirty="0"/>
          </a:p>
        </p:txBody>
      </p:sp>
      <p:sp>
        <p:nvSpPr>
          <p:cNvPr id="6" name="Diapositiva 1"/>
          <p:cNvSpPr/>
          <p:nvPr/>
        </p:nvSpPr>
        <p:spPr>
          <a:xfrm>
            <a:off x="548640"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7" name="Text 5"/>
          <p:cNvSpPr txBox="1"/>
          <p:nvPr/>
        </p:nvSpPr>
        <p:spPr>
          <a:xfrm>
            <a:off x="822960"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1</a:t>
            </a:r>
            <a:endParaRPr lang="en-US" sz="4000" dirty="0"/>
          </a:p>
          <a:p>
            <a:pPr marL="0" indent="0">
              <a:buNone/>
            </a:pPr>
            <a:r>
              <a:rPr lang="en-US" sz="2400" b="1" dirty="0">
                <a:solidFill>
                  <a:schemeClr val="bg1"/>
                </a:solidFill>
              </a:rPr>
              <a:t>El problema</a:t>
            </a:r>
            <a:endParaRPr lang="en-US" sz="4000" dirty="0"/>
          </a:p>
        </p:txBody>
      </p:sp>
      <p:sp>
        <p:nvSpPr>
          <p:cNvPr id="8" name="Text 6"/>
          <p:cNvSpPr txBox="1"/>
          <p:nvPr/>
        </p:nvSpPr>
        <p:spPr>
          <a:xfrm>
            <a:off x="548640"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Situación y por qué importa.</a:t>
            </a:r>
            <a:endParaRPr lang="en-US" sz="1700" dirty="0"/>
          </a:p>
        </p:txBody>
      </p:sp>
      <p:sp>
        <p:nvSpPr>
          <p:cNvPr id="9" name="Diapositiva 2"/>
          <p:cNvSpPr/>
          <p:nvPr/>
        </p:nvSpPr>
        <p:spPr>
          <a:xfrm>
            <a:off x="4399178"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10" name="Text 8"/>
          <p:cNvSpPr txBox="1"/>
          <p:nvPr/>
        </p:nvSpPr>
        <p:spPr>
          <a:xfrm>
            <a:off x="4673498"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2</a:t>
            </a:r>
            <a:endParaRPr lang="en-US" sz="4000" dirty="0"/>
          </a:p>
          <a:p>
            <a:pPr marL="0" indent="0">
              <a:buNone/>
            </a:pPr>
            <a:r>
              <a:rPr lang="en-US" sz="2400" b="1" dirty="0">
                <a:solidFill>
                  <a:schemeClr val="bg1"/>
                </a:solidFill>
              </a:rPr>
              <a:t>La solución</a:t>
            </a:r>
            <a:endParaRPr lang="en-US" sz="4000" dirty="0"/>
          </a:p>
        </p:txBody>
      </p:sp>
      <p:sp>
        <p:nvSpPr>
          <p:cNvPr id="11" name="Text 9"/>
          <p:cNvSpPr txBox="1"/>
          <p:nvPr/>
        </p:nvSpPr>
        <p:spPr>
          <a:xfrm>
            <a:off x="4399178"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Funcionamiento y herramientas.</a:t>
            </a:r>
            <a:endParaRPr lang="en-US" sz="1700" dirty="0"/>
          </a:p>
        </p:txBody>
      </p:sp>
      <p:sp>
        <p:nvSpPr>
          <p:cNvPr id="12" name="Diapositiva 3"/>
          <p:cNvSpPr/>
          <p:nvPr/>
        </p:nvSpPr>
        <p:spPr>
          <a:xfrm>
            <a:off x="8249717"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13" name="Text 11"/>
          <p:cNvSpPr txBox="1"/>
          <p:nvPr/>
        </p:nvSpPr>
        <p:spPr>
          <a:xfrm>
            <a:off x="8524037"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3</a:t>
            </a:r>
            <a:endParaRPr lang="en-US" sz="4000" dirty="0"/>
          </a:p>
          <a:p>
            <a:pPr marL="0" indent="0">
              <a:buNone/>
            </a:pPr>
            <a:r>
              <a:rPr lang="en-US" sz="2400" b="1" dirty="0">
                <a:solidFill>
                  <a:schemeClr val="bg1"/>
                </a:solidFill>
              </a:rPr>
              <a:t>Los beneficios</a:t>
            </a:r>
            <a:endParaRPr lang="en-US" sz="4000" dirty="0"/>
          </a:p>
        </p:txBody>
      </p:sp>
      <p:sp>
        <p:nvSpPr>
          <p:cNvPr id="14" name="Text 12"/>
          <p:cNvSpPr txBox="1"/>
          <p:nvPr/>
        </p:nvSpPr>
        <p:spPr>
          <a:xfrm>
            <a:off x="8249717"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Resultados esperados, indicadores y principales precauciones.</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91</a:t>
            </a:fld>
            <a:endParaRPr lang="en-US"/>
          </a:p>
        </p:txBody>
      </p:sp>
      <p:sp>
        <p:nvSpPr>
          <p:cNvPr id="26" name="Dónde escribir"/>
          <p:cNvSpPr/>
          <p:nvPr/>
        </p:nvSpPr>
        <p:spPr>
          <a:xfrm>
            <a:off x="5890564" y="6291072"/>
            <a:ext cx="5036515"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presentacion_proyecto.pptx</a:t>
            </a:r>
            <a:r>
              <a:rPr lang="es-ES" sz="1300" dirty="0">
                <a:solidFill>
                  <a:schemeClr val="tx1"/>
                </a:solidFill>
                <a:latin typeface="+mn-lt"/>
              </a:rPr>
              <a:t>  ›  una diapositiva para cada parte</a:t>
            </a:r>
          </a:p>
        </p:txBody>
      </p:sp>
      <p:sp>
        <p:nvSpPr>
          <p:cNvPr id="27" name="Dónde escribir: círculo"/>
          <p:cNvSpPr/>
          <p:nvPr/>
        </p:nvSpPr>
        <p:spPr>
          <a:xfrm>
            <a:off x="5945428"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6018580" y="6409944"/>
            <a:ext cx="146304" cy="146304"/>
          </a:xfrm>
          <a:prstGeom prst="rect">
            <a:avLst/>
          </a:prstGeom>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Criterios para vuestras diapositivas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210–235 · Parejas</a:t>
            </a:r>
            <a:endParaRPr lang="en-US" sz="1400" dirty="0"/>
          </a:p>
        </p:txBody>
      </p:sp>
      <p:sp>
        <p:nvSpPr>
          <p:cNvPr id="5" name="Una idea central por diapositiva."/>
          <p:cNvSpPr/>
          <p:nvPr/>
        </p:nvSpPr>
        <p:spPr>
          <a:xfrm>
            <a:off x="548640" y="1508760"/>
            <a:ext cx="685800" cy="685800"/>
          </a:xfrm>
          <a:prstGeom prst="ellipse">
            <a:avLst/>
          </a:prstGeom>
          <a:solidFill>
            <a:schemeClr val="tx2"/>
          </a:solidFill>
          <a:ln/>
        </p:spPr>
      </p:sp>
      <p:pic>
        <p:nvPicPr>
          <p:cNvPr id="6" name="Image 0" descr="Una idea central por diapositiva."/>
          <p:cNvPicPr>
            <a:picLocks noChangeAspect="1"/>
          </p:cNvPicPr>
          <p:nvPr/>
        </p:nvPicPr>
        <p:blipFill>
          <a:blip r:embed="rId3"/>
          <a:stretch>
            <a:fillRect/>
          </a:stretch>
        </p:blipFill>
        <p:spPr>
          <a:xfrm>
            <a:off x="713232" y="1673352"/>
            <a:ext cx="356616" cy="356616"/>
          </a:xfrm>
          <a:prstGeom prst="rect">
            <a:avLst/>
          </a:prstGeom>
        </p:spPr>
      </p:pic>
      <p:sp>
        <p:nvSpPr>
          <p:cNvPr id="7" name="Text 4"/>
          <p:cNvSpPr txBox="1"/>
          <p:nvPr/>
        </p:nvSpPr>
        <p:spPr>
          <a:xfrm>
            <a:off x="1463040" y="1508760"/>
            <a:ext cx="10058400" cy="685800"/>
          </a:xfrm>
          <a:prstGeom prst="rect">
            <a:avLst/>
          </a:prstGeom>
          <a:noFill/>
          <a:ln/>
        </p:spPr>
        <p:txBody>
          <a:bodyPr wrap="square" lIns="0" tIns="0" rIns="0" bIns="0" rtlCol="0" anchor="ctr"/>
          <a:lstStyle/>
          <a:p>
            <a:pPr marL="0" indent="0">
              <a:buNone/>
            </a:pPr>
            <a:r>
              <a:rPr lang="en-US" sz="2200" dirty="0">
                <a:solidFill>
                  <a:schemeClr val="tx1"/>
                </a:solidFill>
              </a:rPr>
              <a:t>Una idea central por diapositiva.</a:t>
            </a:r>
            <a:endParaRPr lang="en-US" sz="2200" dirty="0"/>
          </a:p>
        </p:txBody>
      </p:sp>
      <p:sp>
        <p:nvSpPr>
          <p:cNvPr id="8" name="Poco texto."/>
          <p:cNvSpPr/>
          <p:nvPr/>
        </p:nvSpPr>
        <p:spPr>
          <a:xfrm>
            <a:off x="548640" y="2377440"/>
            <a:ext cx="685800" cy="685800"/>
          </a:xfrm>
          <a:prstGeom prst="ellipse">
            <a:avLst/>
          </a:prstGeom>
          <a:solidFill>
            <a:schemeClr val="tx2"/>
          </a:solidFill>
          <a:ln/>
        </p:spPr>
      </p:sp>
      <p:pic>
        <p:nvPicPr>
          <p:cNvPr id="9" name="Image 1" descr="Poco texto."/>
          <p:cNvPicPr>
            <a:picLocks noChangeAspect="1"/>
          </p:cNvPicPr>
          <p:nvPr/>
        </p:nvPicPr>
        <p:blipFill>
          <a:blip r:embed="rId4"/>
          <a:stretch>
            <a:fillRect/>
          </a:stretch>
        </p:blipFill>
        <p:spPr>
          <a:xfrm>
            <a:off x="713232" y="2542032"/>
            <a:ext cx="356616" cy="356616"/>
          </a:xfrm>
          <a:prstGeom prst="rect">
            <a:avLst/>
          </a:prstGeom>
        </p:spPr>
      </p:pic>
      <p:sp>
        <p:nvSpPr>
          <p:cNvPr id="10" name="Text 6"/>
          <p:cNvSpPr txBox="1"/>
          <p:nvPr/>
        </p:nvSpPr>
        <p:spPr>
          <a:xfrm>
            <a:off x="1463040" y="2377440"/>
            <a:ext cx="10058400" cy="685800"/>
          </a:xfrm>
          <a:prstGeom prst="rect">
            <a:avLst/>
          </a:prstGeom>
          <a:noFill/>
          <a:ln/>
        </p:spPr>
        <p:txBody>
          <a:bodyPr wrap="square" lIns="0" tIns="0" rIns="0" bIns="0" rtlCol="0" anchor="ctr"/>
          <a:lstStyle/>
          <a:p>
            <a:pPr marL="0" indent="0">
              <a:buNone/>
            </a:pPr>
            <a:r>
              <a:rPr lang="en-US" sz="2200" dirty="0">
                <a:solidFill>
                  <a:schemeClr val="tx1"/>
                </a:solidFill>
              </a:rPr>
              <a:t>Poco texto.</a:t>
            </a:r>
            <a:endParaRPr lang="en-US" sz="2200" dirty="0"/>
          </a:p>
        </p:txBody>
      </p:sp>
      <p:sp>
        <p:nvSpPr>
          <p:cNvPr id="11" name="Títulos claros."/>
          <p:cNvSpPr/>
          <p:nvPr/>
        </p:nvSpPr>
        <p:spPr>
          <a:xfrm>
            <a:off x="548640" y="3246120"/>
            <a:ext cx="685800" cy="685800"/>
          </a:xfrm>
          <a:prstGeom prst="ellipse">
            <a:avLst/>
          </a:prstGeom>
          <a:solidFill>
            <a:schemeClr val="tx2"/>
          </a:solidFill>
          <a:ln/>
        </p:spPr>
      </p:sp>
      <p:pic>
        <p:nvPicPr>
          <p:cNvPr id="12" name="Image 2" descr="Títulos claros."/>
          <p:cNvPicPr>
            <a:picLocks noChangeAspect="1"/>
          </p:cNvPicPr>
          <p:nvPr/>
        </p:nvPicPr>
        <p:blipFill>
          <a:blip r:embed="rId5"/>
          <a:stretch>
            <a:fillRect/>
          </a:stretch>
        </p:blipFill>
        <p:spPr>
          <a:xfrm>
            <a:off x="713232" y="3410712"/>
            <a:ext cx="356616" cy="356616"/>
          </a:xfrm>
          <a:prstGeom prst="rect">
            <a:avLst/>
          </a:prstGeom>
        </p:spPr>
      </p:pic>
      <p:sp>
        <p:nvSpPr>
          <p:cNvPr id="13" name="Text 8"/>
          <p:cNvSpPr txBox="1"/>
          <p:nvPr/>
        </p:nvSpPr>
        <p:spPr>
          <a:xfrm>
            <a:off x="1463040" y="3246120"/>
            <a:ext cx="10058400" cy="685800"/>
          </a:xfrm>
          <a:prstGeom prst="rect">
            <a:avLst/>
          </a:prstGeom>
          <a:noFill/>
          <a:ln/>
        </p:spPr>
        <p:txBody>
          <a:bodyPr wrap="square" lIns="0" tIns="0" rIns="0" bIns="0" rtlCol="0" anchor="ctr"/>
          <a:lstStyle/>
          <a:p>
            <a:pPr marL="0" indent="0">
              <a:buNone/>
            </a:pPr>
            <a:r>
              <a:rPr lang="en-US" sz="2200" dirty="0">
                <a:solidFill>
                  <a:schemeClr val="tx1"/>
                </a:solidFill>
              </a:rPr>
              <a:t>Títulos claros.</a:t>
            </a:r>
            <a:endParaRPr lang="en-US" sz="2200" dirty="0"/>
          </a:p>
        </p:txBody>
      </p:sp>
      <p:sp>
        <p:nvSpPr>
          <p:cNvPr id="14" name="Gráficos simples."/>
          <p:cNvSpPr/>
          <p:nvPr/>
        </p:nvSpPr>
        <p:spPr>
          <a:xfrm>
            <a:off x="548640" y="4114800"/>
            <a:ext cx="685800" cy="685800"/>
          </a:xfrm>
          <a:prstGeom prst="ellipse">
            <a:avLst/>
          </a:prstGeom>
          <a:solidFill>
            <a:schemeClr val="tx2"/>
          </a:solidFill>
          <a:ln/>
        </p:spPr>
      </p:sp>
      <p:pic>
        <p:nvPicPr>
          <p:cNvPr id="15" name="Image 3" descr="Gráficos simples."/>
          <p:cNvPicPr>
            <a:picLocks noChangeAspect="1"/>
          </p:cNvPicPr>
          <p:nvPr/>
        </p:nvPicPr>
        <p:blipFill>
          <a:blip r:embed="rId6"/>
          <a:stretch>
            <a:fillRect/>
          </a:stretch>
        </p:blipFill>
        <p:spPr>
          <a:xfrm>
            <a:off x="713232" y="4279392"/>
            <a:ext cx="356616" cy="356616"/>
          </a:xfrm>
          <a:prstGeom prst="rect">
            <a:avLst/>
          </a:prstGeom>
        </p:spPr>
      </p:pic>
      <p:sp>
        <p:nvSpPr>
          <p:cNvPr id="16" name="Text 10"/>
          <p:cNvSpPr txBox="1"/>
          <p:nvPr/>
        </p:nvSpPr>
        <p:spPr>
          <a:xfrm>
            <a:off x="1463040" y="4114800"/>
            <a:ext cx="10058400" cy="685800"/>
          </a:xfrm>
          <a:prstGeom prst="rect">
            <a:avLst/>
          </a:prstGeom>
          <a:noFill/>
          <a:ln/>
        </p:spPr>
        <p:txBody>
          <a:bodyPr wrap="square" lIns="0" tIns="0" rIns="0" bIns="0" rtlCol="0" anchor="ctr"/>
          <a:lstStyle/>
          <a:p>
            <a:pPr marL="0" indent="0">
              <a:buNone/>
            </a:pPr>
            <a:r>
              <a:rPr lang="en-US" sz="2200" dirty="0">
                <a:solidFill>
                  <a:schemeClr val="tx1"/>
                </a:solidFill>
              </a:rPr>
              <a:t>Gráficos simples.</a:t>
            </a:r>
            <a:endParaRPr lang="en-US" sz="2200" dirty="0"/>
          </a:p>
        </p:txBody>
      </p:sp>
      <p:sp>
        <p:nvSpPr>
          <p:cNvPr id="17" name="Ningún resultado sin justificar."/>
          <p:cNvSpPr/>
          <p:nvPr/>
        </p:nvSpPr>
        <p:spPr>
          <a:xfrm>
            <a:off x="548640" y="4983480"/>
            <a:ext cx="685800" cy="685800"/>
          </a:xfrm>
          <a:prstGeom prst="ellipse">
            <a:avLst/>
          </a:prstGeom>
          <a:solidFill>
            <a:schemeClr val="accent3"/>
          </a:solidFill>
          <a:ln/>
        </p:spPr>
      </p:sp>
      <p:pic>
        <p:nvPicPr>
          <p:cNvPr id="18" name="Image 4" descr="Ningún resultado sin justificar."/>
          <p:cNvPicPr>
            <a:picLocks noChangeAspect="1"/>
          </p:cNvPicPr>
          <p:nvPr/>
        </p:nvPicPr>
        <p:blipFill>
          <a:blip r:embed="rId7"/>
          <a:stretch>
            <a:fillRect/>
          </a:stretch>
        </p:blipFill>
        <p:spPr>
          <a:xfrm>
            <a:off x="713232" y="5148072"/>
            <a:ext cx="356616" cy="356616"/>
          </a:xfrm>
          <a:prstGeom prst="rect">
            <a:avLst/>
          </a:prstGeom>
        </p:spPr>
      </p:pic>
      <p:sp>
        <p:nvSpPr>
          <p:cNvPr id="19" name="Text 12"/>
          <p:cNvSpPr txBox="1"/>
          <p:nvPr/>
        </p:nvSpPr>
        <p:spPr>
          <a:xfrm>
            <a:off x="1463040" y="4983480"/>
            <a:ext cx="10058400" cy="685800"/>
          </a:xfrm>
          <a:prstGeom prst="rect">
            <a:avLst/>
          </a:prstGeom>
          <a:noFill/>
          <a:ln/>
        </p:spPr>
        <p:txBody>
          <a:bodyPr wrap="square" lIns="0" tIns="0" rIns="0" bIns="0" rtlCol="0" anchor="ctr"/>
          <a:lstStyle/>
          <a:p>
            <a:pPr marL="0" indent="0">
              <a:buNone/>
            </a:pPr>
            <a:r>
              <a:rPr lang="en-US" sz="2200" dirty="0">
                <a:solidFill>
                  <a:schemeClr val="tx1"/>
                </a:solidFill>
              </a:rPr>
              <a:t>Ningún resultado sin justificar.</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Revisión cruzada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235–240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Intercambiad la presentación con la pareja del principio del bloque y comprobad:</a:t>
            </a:r>
            <a:endParaRPr lang="en-US" sz="1900" dirty="0"/>
          </a:p>
        </p:txBody>
      </p:sp>
      <p:sp>
        <p:nvSpPr>
          <p:cNvPr id="6" name="Tarjeta"/>
          <p:cNvSpPr/>
          <p:nvPr/>
        </p:nvSpPr>
        <p:spPr>
          <a:xfrm>
            <a:off x="548640" y="1965960"/>
            <a:ext cx="3454298" cy="1463040"/>
          </a:xfrm>
          <a:prstGeom prst="roundRect">
            <a:avLst>
              <a:gd name="adj" fmla="val 9375"/>
            </a:avLst>
          </a:prstGeom>
          <a:solidFill>
            <a:schemeClr val="bg2"/>
          </a:solidFill>
          <a:ln/>
        </p:spPr>
      </p:sp>
      <p:sp>
        <p:nvSpPr>
          <p:cNvPr id="7" name="¿Una idea por diapositiva?"/>
          <p:cNvSpPr/>
          <p:nvPr/>
        </p:nvSpPr>
        <p:spPr>
          <a:xfrm>
            <a:off x="822960" y="2331720"/>
            <a:ext cx="731520" cy="731520"/>
          </a:xfrm>
          <a:prstGeom prst="ellipse">
            <a:avLst/>
          </a:prstGeom>
          <a:solidFill>
            <a:schemeClr val="accent1"/>
          </a:solidFill>
          <a:ln/>
        </p:spPr>
      </p:sp>
      <p:pic>
        <p:nvPicPr>
          <p:cNvPr id="8" name="Image 0" descr="¿Una idea por diapositiva?"/>
          <p:cNvPicPr>
            <a:picLocks noChangeAspect="1"/>
          </p:cNvPicPr>
          <p:nvPr/>
        </p:nvPicPr>
        <p:blipFill>
          <a:blip r:embed="rId3"/>
          <a:stretch>
            <a:fillRect/>
          </a:stretch>
        </p:blipFill>
        <p:spPr>
          <a:xfrm>
            <a:off x="998525" y="2507285"/>
            <a:ext cx="380390" cy="380390"/>
          </a:xfrm>
          <a:prstGeom prst="rect">
            <a:avLst/>
          </a:prstGeom>
        </p:spPr>
      </p:pic>
      <p:sp>
        <p:nvSpPr>
          <p:cNvPr id="9" name="Text 6"/>
          <p:cNvSpPr txBox="1"/>
          <p:nvPr/>
        </p:nvSpPr>
        <p:spPr>
          <a:xfrm>
            <a:off x="1737360"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¿Una idea por diapositiva?</a:t>
            </a:r>
            <a:endParaRPr lang="en-US" sz="2000" dirty="0"/>
          </a:p>
        </p:txBody>
      </p:sp>
      <p:sp>
        <p:nvSpPr>
          <p:cNvPr id="10" name="Tarjeta"/>
          <p:cNvSpPr/>
          <p:nvPr/>
        </p:nvSpPr>
        <p:spPr>
          <a:xfrm>
            <a:off x="4368698" y="1965960"/>
            <a:ext cx="3454298" cy="1463040"/>
          </a:xfrm>
          <a:prstGeom prst="roundRect">
            <a:avLst>
              <a:gd name="adj" fmla="val 9375"/>
            </a:avLst>
          </a:prstGeom>
          <a:solidFill>
            <a:schemeClr val="bg2"/>
          </a:solidFill>
          <a:ln/>
        </p:spPr>
      </p:sp>
      <p:sp>
        <p:nvSpPr>
          <p:cNvPr id="11" name="¿Poco texto?"/>
          <p:cNvSpPr/>
          <p:nvPr/>
        </p:nvSpPr>
        <p:spPr>
          <a:xfrm>
            <a:off x="4643018" y="2331720"/>
            <a:ext cx="731520" cy="731520"/>
          </a:xfrm>
          <a:prstGeom prst="ellipse">
            <a:avLst/>
          </a:prstGeom>
          <a:solidFill>
            <a:schemeClr val="accent1"/>
          </a:solidFill>
          <a:ln/>
        </p:spPr>
      </p:sp>
      <p:pic>
        <p:nvPicPr>
          <p:cNvPr id="12" name="Image 1" descr="¿Poco texto?"/>
          <p:cNvPicPr>
            <a:picLocks noChangeAspect="1"/>
          </p:cNvPicPr>
          <p:nvPr/>
        </p:nvPicPr>
        <p:blipFill>
          <a:blip r:embed="rId3"/>
          <a:stretch>
            <a:fillRect/>
          </a:stretch>
        </p:blipFill>
        <p:spPr>
          <a:xfrm>
            <a:off x="4818583" y="2507285"/>
            <a:ext cx="380390" cy="380390"/>
          </a:xfrm>
          <a:prstGeom prst="rect">
            <a:avLst/>
          </a:prstGeom>
        </p:spPr>
      </p:pic>
      <p:sp>
        <p:nvSpPr>
          <p:cNvPr id="13" name="Text 9"/>
          <p:cNvSpPr txBox="1"/>
          <p:nvPr/>
        </p:nvSpPr>
        <p:spPr>
          <a:xfrm>
            <a:off x="5557418"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¿Poco texto?</a:t>
            </a:r>
            <a:endParaRPr lang="en-US" sz="2000" dirty="0"/>
          </a:p>
        </p:txBody>
      </p:sp>
      <p:sp>
        <p:nvSpPr>
          <p:cNvPr id="14" name="Tarjeta"/>
          <p:cNvSpPr/>
          <p:nvPr/>
        </p:nvSpPr>
        <p:spPr>
          <a:xfrm>
            <a:off x="8188757" y="1965960"/>
            <a:ext cx="3454298" cy="1463040"/>
          </a:xfrm>
          <a:prstGeom prst="roundRect">
            <a:avLst>
              <a:gd name="adj" fmla="val 9375"/>
            </a:avLst>
          </a:prstGeom>
          <a:solidFill>
            <a:schemeClr val="bg2"/>
          </a:solidFill>
          <a:ln/>
        </p:spPr>
      </p:sp>
      <p:sp>
        <p:nvSpPr>
          <p:cNvPr id="15" name="¿Alguna cifra sin justificar?"/>
          <p:cNvSpPr/>
          <p:nvPr/>
        </p:nvSpPr>
        <p:spPr>
          <a:xfrm>
            <a:off x="8463077" y="2331720"/>
            <a:ext cx="731520" cy="731520"/>
          </a:xfrm>
          <a:prstGeom prst="ellipse">
            <a:avLst/>
          </a:prstGeom>
          <a:solidFill>
            <a:schemeClr val="accent1"/>
          </a:solidFill>
          <a:ln/>
        </p:spPr>
      </p:sp>
      <p:pic>
        <p:nvPicPr>
          <p:cNvPr id="16" name="Image 2" descr="¿Alguna cifra sin justificar?"/>
          <p:cNvPicPr>
            <a:picLocks noChangeAspect="1"/>
          </p:cNvPicPr>
          <p:nvPr/>
        </p:nvPicPr>
        <p:blipFill>
          <a:blip r:embed="rId3"/>
          <a:stretch>
            <a:fillRect/>
          </a:stretch>
        </p:blipFill>
        <p:spPr>
          <a:xfrm>
            <a:off x="8638642" y="2507285"/>
            <a:ext cx="380390" cy="380390"/>
          </a:xfrm>
          <a:prstGeom prst="rect">
            <a:avLst/>
          </a:prstGeom>
        </p:spPr>
      </p:pic>
      <p:sp>
        <p:nvSpPr>
          <p:cNvPr id="17" name="Text 12"/>
          <p:cNvSpPr txBox="1"/>
          <p:nvPr/>
        </p:nvSpPr>
        <p:spPr>
          <a:xfrm>
            <a:off x="9377477"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¿Alguna cifra sin justificar?</a:t>
            </a:r>
            <a:endParaRPr lang="en-US" sz="2000" dirty="0"/>
          </a:p>
        </p:txBody>
      </p:sp>
      <p:sp>
        <p:nvSpPr>
          <p:cNvPr id="18" name="Text 13"/>
          <p:cNvSpPr txBox="1"/>
          <p:nvPr/>
        </p:nvSpPr>
        <p:spPr>
          <a:xfrm>
            <a:off x="548640" y="3749040"/>
            <a:ext cx="11094415" cy="457200"/>
          </a:xfrm>
          <a:prstGeom prst="rect">
            <a:avLst/>
          </a:prstGeom>
          <a:noFill/>
          <a:ln/>
        </p:spPr>
        <p:txBody>
          <a:bodyPr wrap="square" lIns="0" tIns="0" rIns="0" bIns="0" rtlCol="0" anchor="ctr"/>
          <a:lstStyle/>
          <a:p>
            <a:pPr marL="0" indent="0">
              <a:buNone/>
            </a:pPr>
            <a:r>
              <a:rPr lang="en-US" sz="1900" b="1" dirty="0">
                <a:solidFill>
                  <a:schemeClr val="tx1"/>
                </a:solidFill>
              </a:rPr>
              <a:t>Una mejora concreta para la otra pareja:</a:t>
            </a:r>
            <a:endParaRPr lang="en-US" sz="1900" dirty="0"/>
          </a:p>
        </p:txBody>
      </p:sp>
      <p:sp>
        <p:nvSpPr>
          <p:cNvPr id="19" name="Hueco"/>
          <p:cNvSpPr/>
          <p:nvPr/>
        </p:nvSpPr>
        <p:spPr>
          <a:xfrm>
            <a:off x="548640" y="4297680"/>
            <a:ext cx="11094415" cy="1280160"/>
          </a:xfrm>
          <a:prstGeom prst="roundRect">
            <a:avLst>
              <a:gd name="adj" fmla="val 7143"/>
            </a:avLst>
          </a:prstGeom>
          <a:solidFill>
            <a:schemeClr val="bg2"/>
          </a:solidFill>
          <a:ln w="12700">
            <a:solidFill>
              <a:srgbClr val="8A94A6"/>
            </a:solidFill>
            <a:prstDash val="dash"/>
          </a:ln>
        </p:spPr>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tenéis al terminar</a:t>
            </a:r>
            <a:endParaRPr lang="en-US" sz="3200" dirty="0"/>
          </a:p>
        </p:txBody>
      </p:sp>
      <p:sp>
        <p:nvSpPr>
          <p:cNvPr id="3" name="Tarjeta"/>
          <p:cNvSpPr/>
          <p:nvPr/>
        </p:nvSpPr>
        <p:spPr>
          <a:xfrm>
            <a:off x="548640" y="1554480"/>
            <a:ext cx="3454298" cy="3291840"/>
          </a:xfrm>
          <a:prstGeom prst="roundRect">
            <a:avLst>
              <a:gd name="adj" fmla="val 4167"/>
            </a:avLst>
          </a:prstGeom>
          <a:solidFill>
            <a:schemeClr val="bg2"/>
          </a:solidFill>
          <a:ln/>
        </p:spPr>
      </p:sp>
      <p:sp>
        <p:nvSpPr>
          <p:cNvPr id="4" name="Matriz de decisión"/>
          <p:cNvSpPr/>
          <p:nvPr/>
        </p:nvSpPr>
        <p:spPr>
          <a:xfrm>
            <a:off x="1589989" y="1920240"/>
            <a:ext cx="1371600" cy="1371600"/>
          </a:xfrm>
          <a:prstGeom prst="ellipse">
            <a:avLst/>
          </a:prstGeom>
          <a:solidFill>
            <a:schemeClr val="accent1"/>
          </a:solidFill>
          <a:ln/>
        </p:spPr>
      </p:sp>
      <p:pic>
        <p:nvPicPr>
          <p:cNvPr id="5" name="Image 0" descr="Matriz de decisión"/>
          <p:cNvPicPr>
            <a:picLocks noChangeAspect="1"/>
          </p:cNvPicPr>
          <p:nvPr/>
        </p:nvPicPr>
        <p:blipFill>
          <a:blip r:embed="rId3"/>
          <a:stretch>
            <a:fillRect/>
          </a:stretch>
        </p:blipFill>
        <p:spPr>
          <a:xfrm>
            <a:off x="1919173" y="2249424"/>
            <a:ext cx="713232" cy="713232"/>
          </a:xfrm>
          <a:prstGeom prst="rect">
            <a:avLst/>
          </a:prstGeom>
        </p:spPr>
      </p:pic>
      <p:sp>
        <p:nvSpPr>
          <p:cNvPr id="6" name="Text 3"/>
          <p:cNvSpPr txBox="1"/>
          <p:nvPr/>
        </p:nvSpPr>
        <p:spPr>
          <a:xfrm>
            <a:off x="822960"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Matriz de decisión</a:t>
            </a:r>
            <a:endParaRPr lang="en-US" sz="2400" dirty="0"/>
          </a:p>
          <a:p>
            <a:pPr marL="0" indent="0" algn="ctr">
              <a:buNone/>
            </a:pPr>
            <a:r>
              <a:rPr lang="en-US" sz="1700" dirty="0">
                <a:solidFill>
                  <a:schemeClr val="tx2"/>
                </a:solidFill>
              </a:rPr>
              <a:t>Bloque 3</a:t>
            </a:r>
            <a:endParaRPr lang="en-US" sz="2400" dirty="0"/>
          </a:p>
        </p:txBody>
      </p:sp>
      <p:sp>
        <p:nvSpPr>
          <p:cNvPr id="7" name="Tarjeta"/>
          <p:cNvSpPr/>
          <p:nvPr/>
        </p:nvSpPr>
        <p:spPr>
          <a:xfrm>
            <a:off x="4368698" y="1554480"/>
            <a:ext cx="3454298" cy="3291840"/>
          </a:xfrm>
          <a:prstGeom prst="roundRect">
            <a:avLst>
              <a:gd name="adj" fmla="val 4167"/>
            </a:avLst>
          </a:prstGeom>
          <a:solidFill>
            <a:schemeClr val="bg2"/>
          </a:solidFill>
          <a:ln/>
        </p:spPr>
      </p:sp>
      <p:sp>
        <p:nvSpPr>
          <p:cNvPr id="8" name="Documento del proyecto"/>
          <p:cNvSpPr/>
          <p:nvPr/>
        </p:nvSpPr>
        <p:spPr>
          <a:xfrm>
            <a:off x="5410048" y="1920240"/>
            <a:ext cx="1371600" cy="1371600"/>
          </a:xfrm>
          <a:prstGeom prst="ellipse">
            <a:avLst/>
          </a:prstGeom>
          <a:solidFill>
            <a:schemeClr val="accent1"/>
          </a:solidFill>
          <a:ln/>
        </p:spPr>
      </p:sp>
      <p:pic>
        <p:nvPicPr>
          <p:cNvPr id="9" name="Image 1" descr="Documento del proyecto"/>
          <p:cNvPicPr>
            <a:picLocks noChangeAspect="1"/>
          </p:cNvPicPr>
          <p:nvPr/>
        </p:nvPicPr>
        <p:blipFill>
          <a:blip r:embed="rId4"/>
          <a:stretch>
            <a:fillRect/>
          </a:stretch>
        </p:blipFill>
        <p:spPr>
          <a:xfrm>
            <a:off x="5739232" y="2249424"/>
            <a:ext cx="713232" cy="713232"/>
          </a:xfrm>
          <a:prstGeom prst="rect">
            <a:avLst/>
          </a:prstGeom>
        </p:spPr>
      </p:pic>
      <p:sp>
        <p:nvSpPr>
          <p:cNvPr id="10" name="Text 6"/>
          <p:cNvSpPr txBox="1"/>
          <p:nvPr/>
        </p:nvSpPr>
        <p:spPr>
          <a:xfrm>
            <a:off x="4643018"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Documento del proyecto</a:t>
            </a:r>
            <a:endParaRPr lang="en-US" sz="2400" dirty="0"/>
          </a:p>
          <a:p>
            <a:pPr marL="0" indent="0" algn="ctr">
              <a:buNone/>
            </a:pPr>
            <a:r>
              <a:rPr lang="en-US" sz="1700" dirty="0">
                <a:solidFill>
                  <a:schemeClr val="tx2"/>
                </a:solidFill>
              </a:rPr>
              <a:t>Bloque 4</a:t>
            </a:r>
            <a:endParaRPr lang="en-US" sz="2400" dirty="0"/>
          </a:p>
        </p:txBody>
      </p:sp>
      <p:sp>
        <p:nvSpPr>
          <p:cNvPr id="11" name="Tarjeta"/>
          <p:cNvSpPr/>
          <p:nvPr/>
        </p:nvSpPr>
        <p:spPr>
          <a:xfrm>
            <a:off x="8188757" y="1554480"/>
            <a:ext cx="3454298" cy="3291840"/>
          </a:xfrm>
          <a:prstGeom prst="roundRect">
            <a:avLst>
              <a:gd name="adj" fmla="val 4167"/>
            </a:avLst>
          </a:prstGeom>
          <a:solidFill>
            <a:schemeClr val="bg2"/>
          </a:solidFill>
          <a:ln/>
        </p:spPr>
      </p:sp>
      <p:sp>
        <p:nvSpPr>
          <p:cNvPr id="12" name="Presentación"/>
          <p:cNvSpPr/>
          <p:nvPr/>
        </p:nvSpPr>
        <p:spPr>
          <a:xfrm>
            <a:off x="9230106" y="1920240"/>
            <a:ext cx="1371600" cy="1371600"/>
          </a:xfrm>
          <a:prstGeom prst="ellipse">
            <a:avLst/>
          </a:prstGeom>
          <a:solidFill>
            <a:schemeClr val="accent1"/>
          </a:solidFill>
          <a:ln/>
        </p:spPr>
      </p:sp>
      <p:pic>
        <p:nvPicPr>
          <p:cNvPr id="13" name="Image 2" descr="Presentación"/>
          <p:cNvPicPr>
            <a:picLocks noChangeAspect="1"/>
          </p:cNvPicPr>
          <p:nvPr/>
        </p:nvPicPr>
        <p:blipFill>
          <a:blip r:embed="rId5"/>
          <a:stretch>
            <a:fillRect/>
          </a:stretch>
        </p:blipFill>
        <p:spPr>
          <a:xfrm>
            <a:off x="9559290" y="2249424"/>
            <a:ext cx="713232" cy="713232"/>
          </a:xfrm>
          <a:prstGeom prst="rect">
            <a:avLst/>
          </a:prstGeom>
        </p:spPr>
      </p:pic>
      <p:sp>
        <p:nvSpPr>
          <p:cNvPr id="14" name="Text 9"/>
          <p:cNvSpPr txBox="1"/>
          <p:nvPr/>
        </p:nvSpPr>
        <p:spPr>
          <a:xfrm>
            <a:off x="8463077"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Presentación</a:t>
            </a:r>
            <a:endParaRPr lang="en-US" sz="2400" dirty="0"/>
          </a:p>
          <a:p>
            <a:pPr marL="0" indent="0" algn="ctr">
              <a:buNone/>
            </a:pPr>
            <a:r>
              <a:rPr lang="en-US" sz="1700" dirty="0">
                <a:solidFill>
                  <a:schemeClr val="tx2"/>
                </a:solidFill>
              </a:rPr>
              <a:t>Bloque 4</a:t>
            </a:r>
            <a:endParaRPr lang="en-US" sz="2400" dirty="0"/>
          </a:p>
        </p:txBody>
      </p:sp>
      <p:sp>
        <p:nvSpPr>
          <p:cNvPr id="15" name="Text 10"/>
          <p:cNvSpPr txBox="1"/>
          <p:nvPr/>
        </p:nvSpPr>
        <p:spPr>
          <a:xfrm>
            <a:off x="548640" y="5212080"/>
            <a:ext cx="11094415" cy="548640"/>
          </a:xfrm>
          <a:prstGeom prst="rect">
            <a:avLst/>
          </a:prstGeom>
          <a:noFill/>
          <a:ln/>
        </p:spPr>
        <p:txBody>
          <a:bodyPr wrap="square" lIns="0" tIns="0" rIns="0" bIns="0" rtlCol="0" anchor="ctr"/>
          <a:lstStyle/>
          <a:p>
            <a:pPr marL="0" indent="0">
              <a:buNone/>
            </a:pPr>
            <a:r>
              <a:rPr lang="en-US" sz="2200" b="1" dirty="0">
                <a:solidFill>
                  <a:schemeClr val="accent3"/>
                </a:solidFill>
              </a:rPr>
              <a:t>Listos para defender vuestra propuesta en el bloque 5.</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5</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Comunicación, pensamiento crítico y aplicación profesional</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a:t>
            </a:r>
            <a:endParaRPr lang="en-US" sz="22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accent1"/>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240–250</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Cómo defender una idea</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250–275</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Presentaciones y comentarios</a:t>
            </a:r>
            <a:endParaRPr lang="en-US" sz="1700" dirty="0"/>
          </a:p>
        </p:txBody>
      </p:sp>
      <p:sp>
        <p:nvSpPr>
          <p:cNvPr id="10" name="Paso 3"/>
          <p:cNvSpPr/>
          <p:nvPr/>
        </p:nvSpPr>
        <p:spPr>
          <a:xfrm>
            <a:off x="5478628" y="1760220"/>
            <a:ext cx="1234440" cy="1234440"/>
          </a:xfrm>
          <a:prstGeom prst="ellipse">
            <a:avLst/>
          </a:prstGeom>
          <a:solidFill>
            <a:schemeClr val="accent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275–285</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La IA como evaluadora crítica</a:t>
            </a:r>
            <a:endParaRPr lang="en-US" sz="1700" dirty="0"/>
          </a:p>
        </p:txBody>
      </p:sp>
      <p:sp>
        <p:nvSpPr>
          <p:cNvPr id="13" name="Paso 4"/>
          <p:cNvSpPr/>
          <p:nvPr/>
        </p:nvSpPr>
        <p:spPr>
          <a:xfrm>
            <a:off x="7697511" y="1760220"/>
            <a:ext cx="1234440" cy="1234440"/>
          </a:xfrm>
          <a:prstGeom prst="ellipse">
            <a:avLst/>
          </a:prstGeom>
          <a:solidFill>
            <a:schemeClr val="accent1"/>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285–295</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Lo que habéis hecho, en una entrevista</a:t>
            </a:r>
            <a:endParaRPr lang="en-US" sz="1700" dirty="0"/>
          </a:p>
        </p:txBody>
      </p:sp>
      <p:sp>
        <p:nvSpPr>
          <p:cNvPr id="16" name="Paso 5"/>
          <p:cNvSpPr/>
          <p:nvPr/>
        </p:nvSpPr>
        <p:spPr>
          <a:xfrm>
            <a:off x="9916394" y="1760220"/>
            <a:ext cx="1234440" cy="1234440"/>
          </a:xfrm>
          <a:prstGeom prst="ellipse">
            <a:avLst/>
          </a:prstGeom>
          <a:solidFill>
            <a:schemeClr val="tx2"/>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295–300</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Comprobación final</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¿Cuál convence más?</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240–244 · Todo el grupo</a:t>
            </a:r>
            <a:endParaRPr lang="en-US" sz="1400" dirty="0"/>
          </a:p>
        </p:txBody>
      </p:sp>
      <p:sp>
        <p:nvSpPr>
          <p:cNvPr id="5" name="Tarjeta"/>
          <p:cNvSpPr/>
          <p:nvPr/>
        </p:nvSpPr>
        <p:spPr>
          <a:xfrm>
            <a:off x="548640" y="1508760"/>
            <a:ext cx="5341468" cy="3977640"/>
          </a:xfrm>
          <a:prstGeom prst="roundRect">
            <a:avLst>
              <a:gd name="adj" fmla="val 3448"/>
            </a:avLst>
          </a:prstGeom>
          <a:solidFill>
            <a:schemeClr val="bg2"/>
          </a:solidFill>
          <a:ln/>
        </p:spPr>
      </p:sp>
      <p:sp>
        <p:nvSpPr>
          <p:cNvPr id="6" name="Versión A"/>
          <p:cNvSpPr/>
          <p:nvPr/>
        </p:nvSpPr>
        <p:spPr>
          <a:xfrm>
            <a:off x="868680" y="1783080"/>
            <a:ext cx="2011680" cy="548640"/>
          </a:xfrm>
          <a:prstGeom prst="roundRect">
            <a:avLst>
              <a:gd name="adj" fmla="val 50000"/>
            </a:avLst>
          </a:prstGeom>
          <a:solidFill>
            <a:schemeClr val="accent3"/>
          </a:solidFill>
          <a:ln/>
        </p:spPr>
      </p:sp>
      <p:sp>
        <p:nvSpPr>
          <p:cNvPr id="7" name="Text 5"/>
          <p:cNvSpPr txBox="1"/>
          <p:nvPr/>
        </p:nvSpPr>
        <p:spPr>
          <a:xfrm>
            <a:off x="868680" y="1783080"/>
            <a:ext cx="2011680" cy="548640"/>
          </a:xfrm>
          <a:prstGeom prst="rect">
            <a:avLst/>
          </a:prstGeom>
          <a:noFill/>
          <a:ln/>
        </p:spPr>
        <p:txBody>
          <a:bodyPr wrap="square" lIns="0" tIns="0" rIns="0" bIns="0" rtlCol="0" anchor="ctr"/>
          <a:lstStyle/>
          <a:p>
            <a:pPr marL="0" indent="0" algn="ctr">
              <a:buNone/>
            </a:pPr>
            <a:r>
              <a:rPr lang="en-US" sz="1800" b="1" dirty="0">
                <a:solidFill>
                  <a:schemeClr val="bg1"/>
                </a:solidFill>
              </a:rPr>
              <a:t>Versión A</a:t>
            </a:r>
            <a:endParaRPr lang="en-US" sz="1800" dirty="0"/>
          </a:p>
        </p:txBody>
      </p:sp>
      <p:sp>
        <p:nvSpPr>
          <p:cNvPr id="8" name="Text 6"/>
          <p:cNvSpPr txBox="1"/>
          <p:nvPr/>
        </p:nvSpPr>
        <p:spPr>
          <a:xfrm>
            <a:off x="868680" y="2560320"/>
            <a:ext cx="4701388" cy="2743200"/>
          </a:xfrm>
          <a:prstGeom prst="rect">
            <a:avLst/>
          </a:prstGeom>
          <a:noFill/>
          <a:ln/>
        </p:spPr>
        <p:txBody>
          <a:bodyPr wrap="square" lIns="0" tIns="0" rIns="0" bIns="0" rtlCol="0" anchor="t"/>
          <a:lstStyle/>
          <a:p>
            <a:pPr marL="0" indent="0">
              <a:buNone/>
            </a:pPr>
            <a:r>
              <a:rPr lang="en-US" sz="1900" i="1" dirty="0">
                <a:solidFill>
                  <a:schemeClr val="tx1"/>
                </a:solidFill>
              </a:rPr>
              <a:t>«Proponemos reservas por internet, una hoja de cálculo compartida y un asistente con IA. Es muy moderno, es gratis y todas las peluquerías lo están usando».</a:t>
            </a:r>
            <a:endParaRPr lang="en-US" sz="1900" dirty="0"/>
          </a:p>
        </p:txBody>
      </p:sp>
      <p:sp>
        <p:nvSpPr>
          <p:cNvPr id="9" name="Tarjeta"/>
          <p:cNvSpPr/>
          <p:nvPr/>
        </p:nvSpPr>
        <p:spPr>
          <a:xfrm>
            <a:off x="6301588" y="1508760"/>
            <a:ext cx="5341468" cy="3977640"/>
          </a:xfrm>
          <a:prstGeom prst="roundRect">
            <a:avLst>
              <a:gd name="adj" fmla="val 3448"/>
            </a:avLst>
          </a:prstGeom>
          <a:solidFill>
            <a:schemeClr val="bg2"/>
          </a:solidFill>
          <a:ln/>
        </p:spPr>
      </p:sp>
      <p:sp>
        <p:nvSpPr>
          <p:cNvPr id="10" name="Versión B"/>
          <p:cNvSpPr/>
          <p:nvPr/>
        </p:nvSpPr>
        <p:spPr>
          <a:xfrm>
            <a:off x="6621628" y="1783080"/>
            <a:ext cx="2011680" cy="548640"/>
          </a:xfrm>
          <a:prstGeom prst="roundRect">
            <a:avLst>
              <a:gd name="adj" fmla="val 50000"/>
            </a:avLst>
          </a:prstGeom>
          <a:solidFill>
            <a:schemeClr val="accent2"/>
          </a:solidFill>
          <a:ln/>
        </p:spPr>
      </p:sp>
      <p:sp>
        <p:nvSpPr>
          <p:cNvPr id="11" name="Text 9"/>
          <p:cNvSpPr txBox="1"/>
          <p:nvPr/>
        </p:nvSpPr>
        <p:spPr>
          <a:xfrm>
            <a:off x="6621628" y="1783080"/>
            <a:ext cx="2011680" cy="548640"/>
          </a:xfrm>
          <a:prstGeom prst="rect">
            <a:avLst/>
          </a:prstGeom>
          <a:noFill/>
          <a:ln/>
        </p:spPr>
        <p:txBody>
          <a:bodyPr wrap="square" lIns="0" tIns="0" rIns="0" bIns="0" rtlCol="0" anchor="ctr"/>
          <a:lstStyle/>
          <a:p>
            <a:pPr marL="0" indent="0" algn="ctr">
              <a:buNone/>
            </a:pPr>
            <a:r>
              <a:rPr lang="en-US" sz="1800" b="1" dirty="0">
                <a:solidFill>
                  <a:schemeClr val="bg1"/>
                </a:solidFill>
              </a:rPr>
              <a:t>Versión B</a:t>
            </a:r>
            <a:endParaRPr lang="en-US" sz="1800" dirty="0"/>
          </a:p>
        </p:txBody>
      </p:sp>
      <p:sp>
        <p:nvSpPr>
          <p:cNvPr id="12" name="Text 10"/>
          <p:cNvSpPr txBox="1"/>
          <p:nvPr/>
        </p:nvSpPr>
        <p:spPr>
          <a:xfrm>
            <a:off x="6621628" y="2560320"/>
            <a:ext cx="4701388" cy="2743200"/>
          </a:xfrm>
          <a:prstGeom prst="rect">
            <a:avLst/>
          </a:prstGeom>
          <a:noFill/>
          <a:ln/>
        </p:spPr>
        <p:txBody>
          <a:bodyPr wrap="square" lIns="0" tIns="0" rIns="0" bIns="0" rtlCol="0" anchor="t"/>
          <a:lstStyle/>
          <a:p>
            <a:pPr marL="0" indent="0">
              <a:buNone/>
            </a:pPr>
            <a:r>
              <a:rPr lang="en-US" sz="1900" i="1" dirty="0">
                <a:solidFill>
                  <a:schemeClr val="tx1"/>
                </a:solidFill>
              </a:rPr>
              <a:t>«En nuestra peluquería el teléfono interrumpe el trabajo y hay clientes que olvidan su cita. Proponemos un formulario de reserva que guarde cada cita en una hoja compartida y un recordatorio el día anterior. Lo probaríamos un mes y mediríamos cuántas citas se pierden».</a:t>
            </a:r>
            <a:endParaRPr lang="en-US" sz="1900" dirty="0"/>
          </a:p>
        </p:txBody>
      </p:sp>
      <p:sp>
        <p:nvSpPr>
          <p:cNvPr id="13" name="Text 11"/>
          <p:cNvSpPr txBox="1"/>
          <p:nvPr/>
        </p:nvSpPr>
        <p:spPr>
          <a:xfrm>
            <a:off x="548640" y="5669280"/>
            <a:ext cx="11094415" cy="457200"/>
          </a:xfrm>
          <a:prstGeom prst="rect">
            <a:avLst/>
          </a:prstGeom>
          <a:noFill/>
          <a:ln/>
        </p:spPr>
        <p:txBody>
          <a:bodyPr wrap="square" lIns="0" tIns="0" rIns="0" bIns="0" rtlCol="0" anchor="ctr"/>
          <a:lstStyle/>
          <a:p>
            <a:pPr marL="0" indent="0">
              <a:buNone/>
            </a:pPr>
            <a:r>
              <a:rPr lang="en-US" sz="2000" b="1" dirty="0">
                <a:solidFill>
                  <a:schemeClr val="tx1"/>
                </a:solidFill>
              </a:rPr>
              <a:t>¿Cuál aprobaríais? ¿Por qué?</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estructura de una buena defensa</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240–244</a:t>
            </a:r>
            <a:endParaRPr lang="en-US" sz="1400" dirty="0"/>
          </a:p>
        </p:txBody>
      </p:sp>
      <p:sp>
        <p:nvSpPr>
          <p:cNvPr id="5" name="Tarjeta"/>
          <p:cNvSpPr/>
          <p:nvPr/>
        </p:nvSpPr>
        <p:spPr>
          <a:xfrm>
            <a:off x="548640" y="1463040"/>
            <a:ext cx="5341468" cy="1051560"/>
          </a:xfrm>
          <a:prstGeom prst="roundRect">
            <a:avLst>
              <a:gd name="adj" fmla="val 13043"/>
            </a:avLst>
          </a:prstGeom>
          <a:solidFill>
            <a:schemeClr val="bg2"/>
          </a:solidFill>
          <a:ln/>
        </p:spPr>
      </p:sp>
      <p:sp>
        <p:nvSpPr>
          <p:cNvPr id="6" name="La A habla de herramientas y hace afirmaciones sin justificar."/>
          <p:cNvSpPr/>
          <p:nvPr/>
        </p:nvSpPr>
        <p:spPr>
          <a:xfrm>
            <a:off x="777240" y="1645920"/>
            <a:ext cx="685800" cy="685800"/>
          </a:xfrm>
          <a:prstGeom prst="ellipse">
            <a:avLst/>
          </a:prstGeom>
          <a:solidFill>
            <a:schemeClr val="accent3"/>
          </a:solidFill>
          <a:ln/>
        </p:spPr>
      </p:sp>
      <p:pic>
        <p:nvPicPr>
          <p:cNvPr id="7" name="Image 0" descr="La A habla de herramientas y hace afirmaciones sin justificar."/>
          <p:cNvPicPr>
            <a:picLocks noChangeAspect="1"/>
          </p:cNvPicPr>
          <p:nvPr/>
        </p:nvPicPr>
        <p:blipFill>
          <a:blip r:embed="rId3"/>
          <a:stretch>
            <a:fillRect/>
          </a:stretch>
        </p:blipFill>
        <p:spPr>
          <a:xfrm>
            <a:off x="941832" y="1810512"/>
            <a:ext cx="356616" cy="356616"/>
          </a:xfrm>
          <a:prstGeom prst="rect">
            <a:avLst/>
          </a:prstGeom>
        </p:spPr>
      </p:pic>
      <p:sp>
        <p:nvSpPr>
          <p:cNvPr id="8" name="Text 5"/>
          <p:cNvSpPr txBox="1"/>
          <p:nvPr/>
        </p:nvSpPr>
        <p:spPr>
          <a:xfrm>
            <a:off x="1645920" y="1463040"/>
            <a:ext cx="4061308" cy="1051560"/>
          </a:xfrm>
          <a:prstGeom prst="rect">
            <a:avLst/>
          </a:prstGeom>
          <a:noFill/>
          <a:ln/>
        </p:spPr>
        <p:txBody>
          <a:bodyPr wrap="square" lIns="0" tIns="0" rIns="0" bIns="0" rtlCol="0" anchor="ctr"/>
          <a:lstStyle/>
          <a:p>
            <a:pPr marL="0" indent="0">
              <a:buNone/>
            </a:pPr>
            <a:r>
              <a:rPr lang="en-US" sz="1800" dirty="0">
                <a:solidFill>
                  <a:schemeClr val="tx1"/>
                </a:solidFill>
              </a:rPr>
              <a:t>La A habla de herramientas y hace afirmaciones sin justificar.</a:t>
            </a:r>
            <a:endParaRPr lang="en-US" sz="1800" dirty="0"/>
          </a:p>
        </p:txBody>
      </p:sp>
      <p:sp>
        <p:nvSpPr>
          <p:cNvPr id="9" name="Tarjeta"/>
          <p:cNvSpPr/>
          <p:nvPr/>
        </p:nvSpPr>
        <p:spPr>
          <a:xfrm>
            <a:off x="6301588" y="1463040"/>
            <a:ext cx="5341468" cy="1051560"/>
          </a:xfrm>
          <a:prstGeom prst="roundRect">
            <a:avLst>
              <a:gd name="adj" fmla="val 13043"/>
            </a:avLst>
          </a:prstGeom>
          <a:solidFill>
            <a:schemeClr val="bg2"/>
          </a:solidFill>
          <a:ln/>
        </p:spPr>
      </p:sp>
      <p:sp>
        <p:nvSpPr>
          <p:cNvPr id="10" name="La B parte del problema, explica la solución y dice cómo se medirá."/>
          <p:cNvSpPr/>
          <p:nvPr/>
        </p:nvSpPr>
        <p:spPr>
          <a:xfrm>
            <a:off x="6530188" y="1645920"/>
            <a:ext cx="685800" cy="685800"/>
          </a:xfrm>
          <a:prstGeom prst="ellipse">
            <a:avLst/>
          </a:prstGeom>
          <a:solidFill>
            <a:schemeClr val="accent2"/>
          </a:solidFill>
          <a:ln/>
        </p:spPr>
      </p:sp>
      <p:pic>
        <p:nvPicPr>
          <p:cNvPr id="11" name="Image 1" descr="La B parte del problema, explica la solución y dice cómo se medirá."/>
          <p:cNvPicPr>
            <a:picLocks noChangeAspect="1"/>
          </p:cNvPicPr>
          <p:nvPr/>
        </p:nvPicPr>
        <p:blipFill>
          <a:blip r:embed="rId4"/>
          <a:stretch>
            <a:fillRect/>
          </a:stretch>
        </p:blipFill>
        <p:spPr>
          <a:xfrm>
            <a:off x="6694780" y="1810512"/>
            <a:ext cx="356616" cy="356616"/>
          </a:xfrm>
          <a:prstGeom prst="rect">
            <a:avLst/>
          </a:prstGeom>
        </p:spPr>
      </p:pic>
      <p:sp>
        <p:nvSpPr>
          <p:cNvPr id="12" name="Text 8"/>
          <p:cNvSpPr txBox="1"/>
          <p:nvPr/>
        </p:nvSpPr>
        <p:spPr>
          <a:xfrm>
            <a:off x="7398868" y="1463040"/>
            <a:ext cx="4061308" cy="1051560"/>
          </a:xfrm>
          <a:prstGeom prst="rect">
            <a:avLst/>
          </a:prstGeom>
          <a:noFill/>
          <a:ln/>
        </p:spPr>
        <p:txBody>
          <a:bodyPr wrap="square" lIns="0" tIns="0" rIns="0" bIns="0" rtlCol="0" anchor="ctr"/>
          <a:lstStyle/>
          <a:p>
            <a:pPr marL="0" indent="0">
              <a:buNone/>
            </a:pPr>
            <a:r>
              <a:rPr lang="en-US" sz="1800" dirty="0">
                <a:solidFill>
                  <a:schemeClr val="tx1"/>
                </a:solidFill>
              </a:rPr>
              <a:t>La B parte del problema, explica la solución y dice cómo se medirá.</a:t>
            </a:r>
            <a:endParaRPr lang="en-US" sz="1800" dirty="0"/>
          </a:p>
        </p:txBody>
      </p:sp>
      <p:sp>
        <p:nvSpPr>
          <p:cNvPr id="13" name="Paso 1"/>
          <p:cNvSpPr/>
          <p:nvPr/>
        </p:nvSpPr>
        <p:spPr>
          <a:xfrm>
            <a:off x="585216" y="2880360"/>
            <a:ext cx="2145731" cy="1051560"/>
          </a:xfrm>
          <a:prstGeom prst="chevron">
            <a:avLst/>
          </a:prstGeom>
          <a:solidFill>
            <a:schemeClr val="tx1"/>
          </a:solidFill>
          <a:ln/>
        </p:spPr>
      </p:sp>
      <p:sp>
        <p:nvSpPr>
          <p:cNvPr id="14" name="Text 10"/>
          <p:cNvSpPr txBox="1"/>
          <p:nvPr/>
        </p:nvSpPr>
        <p:spPr>
          <a:xfrm>
            <a:off x="822960"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1</a:t>
            </a:r>
            <a:endParaRPr lang="en-US" sz="3000" dirty="0"/>
          </a:p>
        </p:txBody>
      </p:sp>
      <p:sp>
        <p:nvSpPr>
          <p:cNvPr id="15" name="¿Qué problema hemos identificado?"/>
          <p:cNvSpPr/>
          <p:nvPr/>
        </p:nvSpPr>
        <p:spPr>
          <a:xfrm>
            <a:off x="1292322" y="4114800"/>
            <a:ext cx="731520" cy="731520"/>
          </a:xfrm>
          <a:prstGeom prst="ellipse">
            <a:avLst/>
          </a:prstGeom>
          <a:solidFill>
            <a:schemeClr val="accent1"/>
          </a:solidFill>
          <a:ln/>
        </p:spPr>
      </p:sp>
      <p:pic>
        <p:nvPicPr>
          <p:cNvPr id="16" name="Image 2" descr="¿Qué problema hemos identificado?"/>
          <p:cNvPicPr>
            <a:picLocks noChangeAspect="1"/>
          </p:cNvPicPr>
          <p:nvPr/>
        </p:nvPicPr>
        <p:blipFill>
          <a:blip r:embed="rId5"/>
          <a:stretch>
            <a:fillRect/>
          </a:stretch>
        </p:blipFill>
        <p:spPr>
          <a:xfrm>
            <a:off x="1467886" y="4290365"/>
            <a:ext cx="380390" cy="380390"/>
          </a:xfrm>
          <a:prstGeom prst="rect">
            <a:avLst/>
          </a:prstGeom>
        </p:spPr>
      </p:pic>
      <p:sp>
        <p:nvSpPr>
          <p:cNvPr id="17" name="Text 12"/>
          <p:cNvSpPr txBox="1"/>
          <p:nvPr/>
        </p:nvSpPr>
        <p:spPr>
          <a:xfrm>
            <a:off x="640080"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problema hemos identificado?</a:t>
            </a:r>
            <a:endParaRPr lang="en-US" sz="1600" dirty="0"/>
          </a:p>
        </p:txBody>
      </p:sp>
      <p:sp>
        <p:nvSpPr>
          <p:cNvPr id="18" name="Paso 2"/>
          <p:cNvSpPr/>
          <p:nvPr/>
        </p:nvSpPr>
        <p:spPr>
          <a:xfrm>
            <a:off x="2804099" y="2880360"/>
            <a:ext cx="2145731" cy="1051560"/>
          </a:xfrm>
          <a:prstGeom prst="chevron">
            <a:avLst/>
          </a:prstGeom>
          <a:solidFill>
            <a:schemeClr val="tx2"/>
          </a:solidFill>
          <a:ln/>
        </p:spPr>
      </p:sp>
      <p:sp>
        <p:nvSpPr>
          <p:cNvPr id="19" name="Text 14"/>
          <p:cNvSpPr txBox="1"/>
          <p:nvPr/>
        </p:nvSpPr>
        <p:spPr>
          <a:xfrm>
            <a:off x="3041843"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2</a:t>
            </a:r>
            <a:endParaRPr lang="en-US" sz="3000" dirty="0"/>
          </a:p>
        </p:txBody>
      </p:sp>
      <p:sp>
        <p:nvSpPr>
          <p:cNvPr id="20" name="¿Por qué conviene resolverlo?"/>
          <p:cNvSpPr/>
          <p:nvPr/>
        </p:nvSpPr>
        <p:spPr>
          <a:xfrm>
            <a:off x="3511205" y="4114800"/>
            <a:ext cx="731520" cy="731520"/>
          </a:xfrm>
          <a:prstGeom prst="ellipse">
            <a:avLst/>
          </a:prstGeom>
          <a:solidFill>
            <a:schemeClr val="accent1"/>
          </a:solidFill>
          <a:ln/>
        </p:spPr>
      </p:sp>
      <p:pic>
        <p:nvPicPr>
          <p:cNvPr id="21" name="Image 3" descr="¿Por qué conviene resolverlo?"/>
          <p:cNvPicPr>
            <a:picLocks noChangeAspect="1"/>
          </p:cNvPicPr>
          <p:nvPr/>
        </p:nvPicPr>
        <p:blipFill>
          <a:blip r:embed="rId6"/>
          <a:stretch>
            <a:fillRect/>
          </a:stretch>
        </p:blipFill>
        <p:spPr>
          <a:xfrm>
            <a:off x="3686769" y="4290365"/>
            <a:ext cx="380390" cy="380390"/>
          </a:xfrm>
          <a:prstGeom prst="rect">
            <a:avLst/>
          </a:prstGeom>
        </p:spPr>
      </p:pic>
      <p:sp>
        <p:nvSpPr>
          <p:cNvPr id="22" name="Text 16"/>
          <p:cNvSpPr txBox="1"/>
          <p:nvPr/>
        </p:nvSpPr>
        <p:spPr>
          <a:xfrm>
            <a:off x="2858963"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¿Por qué conviene resolverlo?</a:t>
            </a:r>
            <a:endParaRPr lang="en-US" sz="1600" dirty="0"/>
          </a:p>
        </p:txBody>
      </p:sp>
      <p:sp>
        <p:nvSpPr>
          <p:cNvPr id="23" name="Paso 3"/>
          <p:cNvSpPr/>
          <p:nvPr/>
        </p:nvSpPr>
        <p:spPr>
          <a:xfrm>
            <a:off x="5022982" y="2880360"/>
            <a:ext cx="2145731" cy="1051560"/>
          </a:xfrm>
          <a:prstGeom prst="chevron">
            <a:avLst/>
          </a:prstGeom>
          <a:solidFill>
            <a:schemeClr val="tx1"/>
          </a:solidFill>
          <a:ln/>
        </p:spPr>
      </p:sp>
      <p:sp>
        <p:nvSpPr>
          <p:cNvPr id="24" name="Text 18"/>
          <p:cNvSpPr txBox="1"/>
          <p:nvPr/>
        </p:nvSpPr>
        <p:spPr>
          <a:xfrm>
            <a:off x="5260726"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3</a:t>
            </a:r>
            <a:endParaRPr lang="en-US" sz="3000" dirty="0"/>
          </a:p>
        </p:txBody>
      </p:sp>
      <p:sp>
        <p:nvSpPr>
          <p:cNvPr id="25" name="¿Qué proponemos?"/>
          <p:cNvSpPr/>
          <p:nvPr/>
        </p:nvSpPr>
        <p:spPr>
          <a:xfrm>
            <a:off x="5730088" y="4114800"/>
            <a:ext cx="731520" cy="731520"/>
          </a:xfrm>
          <a:prstGeom prst="ellipse">
            <a:avLst/>
          </a:prstGeom>
          <a:solidFill>
            <a:schemeClr val="accent1"/>
          </a:solidFill>
          <a:ln/>
        </p:spPr>
      </p:sp>
      <p:pic>
        <p:nvPicPr>
          <p:cNvPr id="26" name="Image 4" descr="¿Qué proponemos?"/>
          <p:cNvPicPr>
            <a:picLocks noChangeAspect="1"/>
          </p:cNvPicPr>
          <p:nvPr/>
        </p:nvPicPr>
        <p:blipFill>
          <a:blip r:embed="rId7"/>
          <a:stretch>
            <a:fillRect/>
          </a:stretch>
        </p:blipFill>
        <p:spPr>
          <a:xfrm>
            <a:off x="5905652" y="4290365"/>
            <a:ext cx="380390" cy="380390"/>
          </a:xfrm>
          <a:prstGeom prst="rect">
            <a:avLst/>
          </a:prstGeom>
        </p:spPr>
      </p:pic>
      <p:sp>
        <p:nvSpPr>
          <p:cNvPr id="27" name="Text 20"/>
          <p:cNvSpPr txBox="1"/>
          <p:nvPr/>
        </p:nvSpPr>
        <p:spPr>
          <a:xfrm>
            <a:off x="5077846"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proponemos?</a:t>
            </a:r>
            <a:endParaRPr lang="en-US" sz="1600" dirty="0"/>
          </a:p>
        </p:txBody>
      </p:sp>
      <p:sp>
        <p:nvSpPr>
          <p:cNvPr id="28" name="Paso 4"/>
          <p:cNvSpPr/>
          <p:nvPr/>
        </p:nvSpPr>
        <p:spPr>
          <a:xfrm>
            <a:off x="7241865" y="2880360"/>
            <a:ext cx="2145731" cy="1051560"/>
          </a:xfrm>
          <a:prstGeom prst="chevron">
            <a:avLst/>
          </a:prstGeom>
          <a:solidFill>
            <a:schemeClr val="tx2"/>
          </a:solidFill>
          <a:ln/>
        </p:spPr>
      </p:sp>
      <p:sp>
        <p:nvSpPr>
          <p:cNvPr id="29" name="Text 22"/>
          <p:cNvSpPr txBox="1"/>
          <p:nvPr/>
        </p:nvSpPr>
        <p:spPr>
          <a:xfrm>
            <a:off x="7479609"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4</a:t>
            </a:r>
            <a:endParaRPr lang="en-US" sz="3000" dirty="0"/>
          </a:p>
        </p:txBody>
      </p:sp>
      <p:sp>
        <p:nvSpPr>
          <p:cNvPr id="30" name="¿Cómo lo pondríamos en práctica?"/>
          <p:cNvSpPr/>
          <p:nvPr/>
        </p:nvSpPr>
        <p:spPr>
          <a:xfrm>
            <a:off x="7948971" y="4114800"/>
            <a:ext cx="731520" cy="731520"/>
          </a:xfrm>
          <a:prstGeom prst="ellipse">
            <a:avLst/>
          </a:prstGeom>
          <a:solidFill>
            <a:schemeClr val="accent1"/>
          </a:solidFill>
          <a:ln/>
        </p:spPr>
      </p:sp>
      <p:pic>
        <p:nvPicPr>
          <p:cNvPr id="31" name="Image 5" descr="¿Cómo lo pondríamos en práctica?"/>
          <p:cNvPicPr>
            <a:picLocks noChangeAspect="1"/>
          </p:cNvPicPr>
          <p:nvPr/>
        </p:nvPicPr>
        <p:blipFill>
          <a:blip r:embed="rId8"/>
          <a:stretch>
            <a:fillRect/>
          </a:stretch>
        </p:blipFill>
        <p:spPr>
          <a:xfrm>
            <a:off x="8124535" y="4290365"/>
            <a:ext cx="380390" cy="380390"/>
          </a:xfrm>
          <a:prstGeom prst="rect">
            <a:avLst/>
          </a:prstGeom>
        </p:spPr>
      </p:pic>
      <p:sp>
        <p:nvSpPr>
          <p:cNvPr id="32" name="Text 24"/>
          <p:cNvSpPr txBox="1"/>
          <p:nvPr/>
        </p:nvSpPr>
        <p:spPr>
          <a:xfrm>
            <a:off x="7296729"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¿Cómo lo pondríamos en práctica?</a:t>
            </a:r>
            <a:endParaRPr lang="en-US" sz="1600" dirty="0"/>
          </a:p>
        </p:txBody>
      </p:sp>
      <p:sp>
        <p:nvSpPr>
          <p:cNvPr id="33" name="Paso 5"/>
          <p:cNvSpPr/>
          <p:nvPr/>
        </p:nvSpPr>
        <p:spPr>
          <a:xfrm>
            <a:off x="9460748" y="2880360"/>
            <a:ext cx="2145731" cy="1051560"/>
          </a:xfrm>
          <a:prstGeom prst="chevron">
            <a:avLst/>
          </a:prstGeom>
          <a:solidFill>
            <a:schemeClr val="tx1"/>
          </a:solidFill>
          <a:ln/>
        </p:spPr>
      </p:sp>
      <p:sp>
        <p:nvSpPr>
          <p:cNvPr id="34" name="Text 26"/>
          <p:cNvSpPr txBox="1"/>
          <p:nvPr/>
        </p:nvSpPr>
        <p:spPr>
          <a:xfrm>
            <a:off x="9698492"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5</a:t>
            </a:r>
            <a:endParaRPr lang="en-US" sz="3000" dirty="0"/>
          </a:p>
        </p:txBody>
      </p:sp>
      <p:sp>
        <p:nvSpPr>
          <p:cNvPr id="35" name="¿Qué resultados esperaríamos y cómo los mediríamos?"/>
          <p:cNvSpPr/>
          <p:nvPr/>
        </p:nvSpPr>
        <p:spPr>
          <a:xfrm>
            <a:off x="10167854" y="4114800"/>
            <a:ext cx="731520" cy="731520"/>
          </a:xfrm>
          <a:prstGeom prst="ellipse">
            <a:avLst/>
          </a:prstGeom>
          <a:solidFill>
            <a:schemeClr val="accent1"/>
          </a:solidFill>
          <a:ln/>
        </p:spPr>
      </p:sp>
      <p:pic>
        <p:nvPicPr>
          <p:cNvPr id="36" name="Image 6" descr="¿Qué resultados esperaríamos y cómo los mediríamos?"/>
          <p:cNvPicPr>
            <a:picLocks noChangeAspect="1"/>
          </p:cNvPicPr>
          <p:nvPr/>
        </p:nvPicPr>
        <p:blipFill>
          <a:blip r:embed="rId9"/>
          <a:stretch>
            <a:fillRect/>
          </a:stretch>
        </p:blipFill>
        <p:spPr>
          <a:xfrm>
            <a:off x="10343418" y="4290365"/>
            <a:ext cx="380390" cy="380390"/>
          </a:xfrm>
          <a:prstGeom prst="rect">
            <a:avLst/>
          </a:prstGeom>
        </p:spPr>
      </p:pic>
      <p:sp>
        <p:nvSpPr>
          <p:cNvPr id="37" name="Text 28"/>
          <p:cNvSpPr txBox="1"/>
          <p:nvPr/>
        </p:nvSpPr>
        <p:spPr>
          <a:xfrm>
            <a:off x="9515612"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resultados esperaríamos y cómo los mediríamos?</a:t>
            </a:r>
            <a:endParaRPr lang="en-US" sz="1600" dirty="0"/>
          </a:p>
        </p:txBody>
      </p:sp>
      <p:sp>
        <p:nvSpPr>
          <p:cNvPr id="38"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Volvemos al cuaderno</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marL="0" indent="0" algn="ctr">
              <a:buNone/>
            </a:pPr>
            <a:r>
              <a:rPr lang="en-US" sz="1400" b="1" dirty="0">
                <a:solidFill>
                  <a:schemeClr val="tx1"/>
                </a:solidFill>
              </a:rPr>
              <a:t>Min. 244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cuaderno_ejercicios.docx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Id al «Bloque 5»: la primera frase de vuestra presentación va en «Ensayo».</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Mientras presentan las demás parejas, rellenad la tabla de observadores.</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Al final, la crítica de la IA y vuestro relato para una entrevista.</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Ensayo: el problema en 20 segundos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244–250 · Parejas</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1900" dirty="0">
                <a:solidFill>
                  <a:schemeClr val="tx2"/>
                </a:solidFill>
              </a:rPr>
              <a:t>Preparad y ensayad en voz baja la primera frase de vuestra presentación, siguiendo la versión B como modelo:</a:t>
            </a:r>
            <a:endParaRPr lang="en-US" sz="1900" dirty="0"/>
          </a:p>
        </p:txBody>
      </p:sp>
      <p:sp>
        <p:nvSpPr>
          <p:cNvPr id="6" name="Tarjeta"/>
          <p:cNvSpPr/>
          <p:nvPr/>
        </p:nvSpPr>
        <p:spPr>
          <a:xfrm>
            <a:off x="548640" y="2103120"/>
            <a:ext cx="11094415" cy="1097280"/>
          </a:xfrm>
          <a:prstGeom prst="roundRect">
            <a:avLst>
              <a:gd name="adj" fmla="val 12500"/>
            </a:avLst>
          </a:prstGeom>
          <a:solidFill>
            <a:schemeClr val="bg2"/>
          </a:solidFill>
          <a:ln/>
        </p:spPr>
      </p:sp>
      <p:sp>
        <p:nvSpPr>
          <p:cNvPr id="7" name="Modelo"/>
          <p:cNvSpPr/>
          <p:nvPr/>
        </p:nvSpPr>
        <p:spPr>
          <a:xfrm>
            <a:off x="822960" y="2286000"/>
            <a:ext cx="731520" cy="731520"/>
          </a:xfrm>
          <a:prstGeom prst="ellipse">
            <a:avLst/>
          </a:prstGeom>
          <a:solidFill>
            <a:schemeClr val="accent2"/>
          </a:solidFill>
          <a:ln/>
        </p:spPr>
      </p:sp>
      <p:pic>
        <p:nvPicPr>
          <p:cNvPr id="8" name="Image 0" descr="Modelo"/>
          <p:cNvPicPr>
            <a:picLocks noChangeAspect="1"/>
          </p:cNvPicPr>
          <p:nvPr/>
        </p:nvPicPr>
        <p:blipFill>
          <a:blip r:embed="rId3"/>
          <a:stretch>
            <a:fillRect/>
          </a:stretch>
        </p:blipFill>
        <p:spPr>
          <a:xfrm>
            <a:off x="998525" y="2461565"/>
            <a:ext cx="380390" cy="380390"/>
          </a:xfrm>
          <a:prstGeom prst="rect">
            <a:avLst/>
          </a:prstGeom>
        </p:spPr>
      </p:pic>
      <p:sp>
        <p:nvSpPr>
          <p:cNvPr id="9" name="Text 6"/>
          <p:cNvSpPr txBox="1"/>
          <p:nvPr/>
        </p:nvSpPr>
        <p:spPr>
          <a:xfrm>
            <a:off x="1783080" y="2103120"/>
            <a:ext cx="9585655" cy="1097280"/>
          </a:xfrm>
          <a:prstGeom prst="rect">
            <a:avLst/>
          </a:prstGeom>
          <a:noFill/>
          <a:ln/>
        </p:spPr>
        <p:txBody>
          <a:bodyPr wrap="square" lIns="0" tIns="0" rIns="0" bIns="0" rtlCol="0" anchor="ctr"/>
          <a:lstStyle/>
          <a:p>
            <a:pPr marL="0" indent="0">
              <a:buNone/>
            </a:pPr>
            <a:r>
              <a:rPr lang="en-US" sz="1900" i="1" dirty="0">
                <a:solidFill>
                  <a:schemeClr val="tx1"/>
                </a:solidFill>
              </a:rPr>
              <a:t>«En nuestra peluquería el teléfono interrumpe el trabajo y hay clientes que olvidan su cita…»</a:t>
            </a:r>
            <a:endParaRPr lang="en-US" sz="1900" dirty="0"/>
          </a:p>
        </p:txBody>
      </p:sp>
      <p:sp>
        <p:nvSpPr>
          <p:cNvPr id="10" name="Text 7"/>
          <p:cNvSpPr txBox="1"/>
          <p:nvPr/>
        </p:nvSpPr>
        <p:spPr>
          <a:xfrm>
            <a:off x="548640" y="3520440"/>
            <a:ext cx="11094415" cy="457200"/>
          </a:xfrm>
          <a:prstGeom prst="rect">
            <a:avLst/>
          </a:prstGeom>
          <a:noFill/>
          <a:ln/>
        </p:spPr>
        <p:txBody>
          <a:bodyPr wrap="square" lIns="0" tIns="0" rIns="0" bIns="0" rtlCol="0" anchor="ctr"/>
          <a:lstStyle/>
          <a:p>
            <a:pPr marL="0" indent="0">
              <a:buNone/>
            </a:pPr>
            <a:r>
              <a:rPr lang="en-US" sz="1900" b="1" dirty="0">
                <a:solidFill>
                  <a:schemeClr val="tx1"/>
                </a:solidFill>
              </a:rPr>
              <a:t>Nuestra primera frase:</a:t>
            </a:r>
            <a:endParaRPr lang="en-US" sz="1900" dirty="0"/>
          </a:p>
        </p:txBody>
      </p:sp>
      <p:sp>
        <p:nvSpPr>
          <p:cNvPr id="11" name="Hueco"/>
          <p:cNvSpPr/>
          <p:nvPr/>
        </p:nvSpPr>
        <p:spPr>
          <a:xfrm>
            <a:off x="548640" y="4069080"/>
            <a:ext cx="11094415" cy="1645920"/>
          </a:xfrm>
          <a:prstGeom prst="roundRect">
            <a:avLst>
              <a:gd name="adj" fmla="val 5556"/>
            </a:avLst>
          </a:prstGeom>
          <a:solidFill>
            <a:schemeClr val="bg2"/>
          </a:solidFill>
          <a:ln w="12700">
            <a:solidFill>
              <a:srgbClr val="8A94A6"/>
            </a:solidFill>
            <a:prstDash val="dash"/>
          </a:ln>
        </p:spPr>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100</a:t>
            </a:fld>
            <a:endParaRPr lang="en-US"/>
          </a:p>
        </p:txBody>
      </p:sp>
      <p:sp>
        <p:nvSpPr>
          <p:cNvPr id="26" name="Dónde escribir"/>
          <p:cNvSpPr/>
          <p:nvPr/>
        </p:nvSpPr>
        <p:spPr>
          <a:xfrm>
            <a:off x="5782665" y="6291072"/>
            <a:ext cx="5144414"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5  ›  Ensayo: la primera frase</a:t>
            </a:r>
          </a:p>
        </p:txBody>
      </p:sp>
      <p:sp>
        <p:nvSpPr>
          <p:cNvPr id="27" name="Dónde escribir: círculo"/>
          <p:cNvSpPr/>
          <p:nvPr/>
        </p:nvSpPr>
        <p:spPr>
          <a:xfrm>
            <a:off x="5837529"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4"/>
          <a:stretch>
            <a:fillRect/>
          </a:stretch>
        </p:blipFill>
        <p:spPr>
          <a:xfrm>
            <a:off x="5910681" y="6409944"/>
            <a:ext cx="146304" cy="146304"/>
          </a:xfrm>
          <a:prstGeom prst="rect">
            <a:avLst/>
          </a:prstGeom>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Presentaciones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250–275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presenta su propuesta:</a:t>
            </a:r>
            <a:endParaRPr lang="en-US" sz="1900" dirty="0"/>
          </a:p>
        </p:txBody>
      </p:sp>
      <p:sp>
        <p:nvSpPr>
          <p:cNvPr id="6" name="minutos de presentación"/>
          <p:cNvSpPr/>
          <p:nvPr/>
        </p:nvSpPr>
        <p:spPr>
          <a:xfrm>
            <a:off x="548640" y="2011680"/>
            <a:ext cx="5318608" cy="2377440"/>
          </a:xfrm>
          <a:prstGeom prst="roundRect">
            <a:avLst>
              <a:gd name="adj" fmla="val 5769"/>
            </a:avLst>
          </a:prstGeom>
          <a:solidFill>
            <a:schemeClr val="accent1"/>
          </a:solidFill>
          <a:ln/>
        </p:spPr>
      </p:sp>
      <p:sp>
        <p:nvSpPr>
          <p:cNvPr id="7" name="Text 5"/>
          <p:cNvSpPr txBox="1"/>
          <p:nvPr/>
        </p:nvSpPr>
        <p:spPr>
          <a:xfrm>
            <a:off x="548640" y="2011680"/>
            <a:ext cx="5318608" cy="2377440"/>
          </a:xfrm>
          <a:prstGeom prst="rect">
            <a:avLst/>
          </a:prstGeom>
          <a:noFill/>
          <a:ln/>
        </p:spPr>
        <p:txBody>
          <a:bodyPr wrap="square" lIns="0" tIns="0" rIns="0" bIns="0" rtlCol="0" anchor="ctr"/>
          <a:lstStyle/>
          <a:p>
            <a:pPr marL="0" indent="0" algn="ctr">
              <a:buNone/>
            </a:pPr>
            <a:r>
              <a:rPr lang="en-US" sz="9600" b="1" dirty="0">
                <a:solidFill>
                  <a:schemeClr val="tx1"/>
                </a:solidFill>
              </a:rPr>
              <a:t>2 a 5</a:t>
            </a:r>
            <a:endParaRPr lang="en-US" sz="9600" dirty="0"/>
          </a:p>
          <a:p>
            <a:pPr marL="0" indent="0" algn="ctr">
              <a:buNone/>
            </a:pPr>
            <a:r>
              <a:rPr lang="en-US" sz="2400" b="1" dirty="0">
                <a:solidFill>
                  <a:schemeClr val="tx1"/>
                </a:solidFill>
              </a:rPr>
              <a:t>minutos de presentación</a:t>
            </a:r>
            <a:endParaRPr lang="en-US" sz="9600" dirty="0"/>
          </a:p>
        </p:txBody>
      </p:sp>
      <p:sp>
        <p:nvSpPr>
          <p:cNvPr id="8" name="minuto de preguntas"/>
          <p:cNvSpPr/>
          <p:nvPr/>
        </p:nvSpPr>
        <p:spPr>
          <a:xfrm>
            <a:off x="6324448" y="2011680"/>
            <a:ext cx="5318608" cy="2377440"/>
          </a:xfrm>
          <a:prstGeom prst="roundRect">
            <a:avLst>
              <a:gd name="adj" fmla="val 5769"/>
            </a:avLst>
          </a:prstGeom>
          <a:solidFill>
            <a:schemeClr val="tx2"/>
          </a:solidFill>
          <a:ln/>
        </p:spPr>
      </p:sp>
      <p:sp>
        <p:nvSpPr>
          <p:cNvPr id="9" name="Text 7"/>
          <p:cNvSpPr txBox="1"/>
          <p:nvPr/>
        </p:nvSpPr>
        <p:spPr>
          <a:xfrm>
            <a:off x="6324448" y="2011680"/>
            <a:ext cx="5318608" cy="2377440"/>
          </a:xfrm>
          <a:prstGeom prst="rect">
            <a:avLst/>
          </a:prstGeom>
          <a:noFill/>
          <a:ln/>
        </p:spPr>
        <p:txBody>
          <a:bodyPr wrap="square" lIns="0" tIns="0" rIns="0" bIns="0" rtlCol="0" anchor="ctr"/>
          <a:lstStyle/>
          <a:p>
            <a:pPr marL="0" indent="0" algn="ctr">
              <a:buNone/>
            </a:pPr>
            <a:r>
              <a:rPr lang="en-US" sz="9600" b="1" dirty="0">
                <a:solidFill>
                  <a:schemeClr val="bg1"/>
                </a:solidFill>
              </a:rPr>
              <a:t>2 a 5</a:t>
            </a:r>
            <a:endParaRPr lang="en-US" sz="9600" dirty="0"/>
          </a:p>
          <a:p>
            <a:pPr marL="0" indent="0" algn="ctr">
              <a:buNone/>
            </a:pPr>
            <a:r>
              <a:rPr lang="en-US" sz="2400" b="1" dirty="0" err="1">
                <a:solidFill>
                  <a:schemeClr val="bg1"/>
                </a:solidFill>
              </a:rPr>
              <a:t>minutos</a:t>
            </a:r>
            <a:r>
              <a:rPr lang="en-US" sz="2400" b="1" dirty="0">
                <a:solidFill>
                  <a:schemeClr val="bg1"/>
                </a:solidFill>
              </a:rPr>
              <a:t> de preguntas</a:t>
            </a:r>
            <a:endParaRPr lang="en-US" sz="9600" dirty="0"/>
          </a:p>
        </p:txBody>
      </p:sp>
      <p:sp>
        <p:nvSpPr>
          <p:cNvPr id="10" name="Tiempo"/>
          <p:cNvSpPr/>
          <p:nvPr/>
        </p:nvSpPr>
        <p:spPr>
          <a:xfrm>
            <a:off x="548640" y="4800600"/>
            <a:ext cx="731520" cy="731520"/>
          </a:xfrm>
          <a:prstGeom prst="ellipse">
            <a:avLst/>
          </a:prstGeom>
          <a:solidFill>
            <a:schemeClr val="accent3"/>
          </a:solidFill>
          <a:ln/>
        </p:spPr>
      </p:sp>
      <p:pic>
        <p:nvPicPr>
          <p:cNvPr id="11" name="Image 0" descr="Tiempo"/>
          <p:cNvPicPr>
            <a:picLocks noChangeAspect="1"/>
          </p:cNvPicPr>
          <p:nvPr/>
        </p:nvPicPr>
        <p:blipFill>
          <a:blip r:embed="rId3"/>
          <a:stretch>
            <a:fillRect/>
          </a:stretch>
        </p:blipFill>
        <p:spPr>
          <a:xfrm>
            <a:off x="724205" y="4976165"/>
            <a:ext cx="380390" cy="380390"/>
          </a:xfrm>
          <a:prstGeom prst="rect">
            <a:avLst/>
          </a:prstGeom>
        </p:spPr>
      </p:pic>
      <p:sp>
        <p:nvSpPr>
          <p:cNvPr id="12" name="Text 9"/>
          <p:cNvSpPr txBox="1"/>
          <p:nvPr/>
        </p:nvSpPr>
        <p:spPr>
          <a:xfrm>
            <a:off x="1508760" y="4800600"/>
            <a:ext cx="10134295" cy="731520"/>
          </a:xfrm>
          <a:prstGeom prst="rect">
            <a:avLst/>
          </a:prstGeom>
          <a:noFill/>
          <a:ln/>
        </p:spPr>
        <p:txBody>
          <a:bodyPr wrap="square" lIns="0" tIns="0" rIns="0" bIns="0" rtlCol="0" anchor="ctr"/>
          <a:lstStyle/>
          <a:p>
            <a:pPr marL="0" indent="0">
              <a:buNone/>
            </a:pPr>
            <a:r>
              <a:rPr lang="en-US" sz="2000" b="1" dirty="0">
                <a:solidFill>
                  <a:schemeClr val="tx1"/>
                </a:solidFill>
              </a:rPr>
              <a:t>El tiempo se cumple: ¡Ojo! con ocho parejas, no hay margen.</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Mientras tanto, los observadores</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250–275 · Todo el grupo</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Comentad cada presentación según:</a:t>
            </a:r>
            <a:endParaRPr lang="en-US" sz="1900" dirty="0"/>
          </a:p>
        </p:txBody>
      </p:sp>
      <p:sp>
        <p:nvSpPr>
          <p:cNvPr id="6" name="Tarjeta"/>
          <p:cNvSpPr/>
          <p:nvPr/>
        </p:nvSpPr>
        <p:spPr>
          <a:xfrm>
            <a:off x="548640" y="1965960"/>
            <a:ext cx="2533574" cy="2194560"/>
          </a:xfrm>
          <a:prstGeom prst="roundRect">
            <a:avLst>
              <a:gd name="adj" fmla="val 6250"/>
            </a:avLst>
          </a:prstGeom>
          <a:solidFill>
            <a:schemeClr val="bg2"/>
          </a:solidFill>
          <a:ln/>
        </p:spPr>
      </p:sp>
      <p:sp>
        <p:nvSpPr>
          <p:cNvPr id="7" name="Claridad"/>
          <p:cNvSpPr/>
          <p:nvPr/>
        </p:nvSpPr>
        <p:spPr>
          <a:xfrm>
            <a:off x="1266787" y="2194560"/>
            <a:ext cx="1097280" cy="1097280"/>
          </a:xfrm>
          <a:prstGeom prst="ellipse">
            <a:avLst/>
          </a:prstGeom>
          <a:solidFill>
            <a:schemeClr val="tx2"/>
          </a:solidFill>
          <a:ln/>
        </p:spPr>
      </p:sp>
      <p:pic>
        <p:nvPicPr>
          <p:cNvPr id="8" name="Image 0" descr="Claridad"/>
          <p:cNvPicPr>
            <a:picLocks noChangeAspect="1"/>
          </p:cNvPicPr>
          <p:nvPr/>
        </p:nvPicPr>
        <p:blipFill>
          <a:blip r:embed="rId3"/>
          <a:stretch>
            <a:fillRect/>
          </a:stretch>
        </p:blipFill>
        <p:spPr>
          <a:xfrm>
            <a:off x="1530134" y="2457907"/>
            <a:ext cx="570586" cy="570586"/>
          </a:xfrm>
          <a:prstGeom prst="rect">
            <a:avLst/>
          </a:prstGeom>
        </p:spPr>
      </p:pic>
      <p:sp>
        <p:nvSpPr>
          <p:cNvPr id="9" name="Text 6"/>
          <p:cNvSpPr txBox="1"/>
          <p:nvPr/>
        </p:nvSpPr>
        <p:spPr>
          <a:xfrm>
            <a:off x="731520"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Claridad</a:t>
            </a:r>
            <a:endParaRPr lang="en-US" sz="2100" dirty="0"/>
          </a:p>
        </p:txBody>
      </p:sp>
      <p:sp>
        <p:nvSpPr>
          <p:cNvPr id="10" name="Tarjeta"/>
          <p:cNvSpPr/>
          <p:nvPr/>
        </p:nvSpPr>
        <p:spPr>
          <a:xfrm>
            <a:off x="3402254" y="1965960"/>
            <a:ext cx="2533574" cy="2194560"/>
          </a:xfrm>
          <a:prstGeom prst="roundRect">
            <a:avLst>
              <a:gd name="adj" fmla="val 6250"/>
            </a:avLst>
          </a:prstGeom>
          <a:solidFill>
            <a:schemeClr val="bg2"/>
          </a:solidFill>
          <a:ln/>
        </p:spPr>
      </p:sp>
      <p:sp>
        <p:nvSpPr>
          <p:cNvPr id="11" name="Originalidad"/>
          <p:cNvSpPr/>
          <p:nvPr/>
        </p:nvSpPr>
        <p:spPr>
          <a:xfrm>
            <a:off x="4120401" y="2194560"/>
            <a:ext cx="1097280" cy="1097280"/>
          </a:xfrm>
          <a:prstGeom prst="ellipse">
            <a:avLst/>
          </a:prstGeom>
          <a:solidFill>
            <a:schemeClr val="tx2"/>
          </a:solidFill>
          <a:ln/>
        </p:spPr>
      </p:sp>
      <p:pic>
        <p:nvPicPr>
          <p:cNvPr id="12" name="Image 1" descr="Originalidad"/>
          <p:cNvPicPr>
            <a:picLocks noChangeAspect="1"/>
          </p:cNvPicPr>
          <p:nvPr/>
        </p:nvPicPr>
        <p:blipFill>
          <a:blip r:embed="rId4"/>
          <a:stretch>
            <a:fillRect/>
          </a:stretch>
        </p:blipFill>
        <p:spPr>
          <a:xfrm>
            <a:off x="4383748" y="2457907"/>
            <a:ext cx="570586" cy="570586"/>
          </a:xfrm>
          <a:prstGeom prst="rect">
            <a:avLst/>
          </a:prstGeom>
        </p:spPr>
      </p:pic>
      <p:sp>
        <p:nvSpPr>
          <p:cNvPr id="13" name="Text 9"/>
          <p:cNvSpPr txBox="1"/>
          <p:nvPr/>
        </p:nvSpPr>
        <p:spPr>
          <a:xfrm>
            <a:off x="3585134"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Originalidad</a:t>
            </a:r>
            <a:endParaRPr lang="en-US" sz="2100" dirty="0"/>
          </a:p>
        </p:txBody>
      </p:sp>
      <p:sp>
        <p:nvSpPr>
          <p:cNvPr id="14" name="Tarjeta"/>
          <p:cNvSpPr/>
          <p:nvPr/>
        </p:nvSpPr>
        <p:spPr>
          <a:xfrm>
            <a:off x="6255868" y="1965960"/>
            <a:ext cx="2533574" cy="2194560"/>
          </a:xfrm>
          <a:prstGeom prst="roundRect">
            <a:avLst>
              <a:gd name="adj" fmla="val 6250"/>
            </a:avLst>
          </a:prstGeom>
          <a:solidFill>
            <a:schemeClr val="bg2"/>
          </a:solidFill>
          <a:ln/>
        </p:spPr>
      </p:sp>
      <p:sp>
        <p:nvSpPr>
          <p:cNvPr id="15" name="Viabilidad"/>
          <p:cNvSpPr/>
          <p:nvPr/>
        </p:nvSpPr>
        <p:spPr>
          <a:xfrm>
            <a:off x="6974015" y="2194560"/>
            <a:ext cx="1097280" cy="1097280"/>
          </a:xfrm>
          <a:prstGeom prst="ellipse">
            <a:avLst/>
          </a:prstGeom>
          <a:solidFill>
            <a:schemeClr val="tx2"/>
          </a:solidFill>
          <a:ln/>
        </p:spPr>
      </p:sp>
      <p:pic>
        <p:nvPicPr>
          <p:cNvPr id="16" name="Image 2" descr="Viabilidad"/>
          <p:cNvPicPr>
            <a:picLocks noChangeAspect="1"/>
          </p:cNvPicPr>
          <p:nvPr/>
        </p:nvPicPr>
        <p:blipFill>
          <a:blip r:embed="rId5"/>
          <a:stretch>
            <a:fillRect/>
          </a:stretch>
        </p:blipFill>
        <p:spPr>
          <a:xfrm>
            <a:off x="7237362" y="2457907"/>
            <a:ext cx="570586" cy="570586"/>
          </a:xfrm>
          <a:prstGeom prst="rect">
            <a:avLst/>
          </a:prstGeom>
        </p:spPr>
      </p:pic>
      <p:sp>
        <p:nvSpPr>
          <p:cNvPr id="17" name="Text 12"/>
          <p:cNvSpPr txBox="1"/>
          <p:nvPr/>
        </p:nvSpPr>
        <p:spPr>
          <a:xfrm>
            <a:off x="6438748"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Viabilidad</a:t>
            </a:r>
            <a:endParaRPr lang="en-US" sz="2100" dirty="0"/>
          </a:p>
        </p:txBody>
      </p:sp>
      <p:sp>
        <p:nvSpPr>
          <p:cNvPr id="18" name="Tarjeta"/>
          <p:cNvSpPr/>
          <p:nvPr/>
        </p:nvSpPr>
        <p:spPr>
          <a:xfrm>
            <a:off x="9109481" y="1965960"/>
            <a:ext cx="2533574" cy="2194560"/>
          </a:xfrm>
          <a:prstGeom prst="roundRect">
            <a:avLst>
              <a:gd name="adj" fmla="val 6250"/>
            </a:avLst>
          </a:prstGeom>
          <a:solidFill>
            <a:schemeClr val="bg2"/>
          </a:solidFill>
          <a:ln/>
        </p:spPr>
      </p:sp>
      <p:sp>
        <p:nvSpPr>
          <p:cNvPr id="19" name="Posibles riesgos"/>
          <p:cNvSpPr/>
          <p:nvPr/>
        </p:nvSpPr>
        <p:spPr>
          <a:xfrm>
            <a:off x="9827628" y="2194560"/>
            <a:ext cx="1097280" cy="1097280"/>
          </a:xfrm>
          <a:prstGeom prst="ellipse">
            <a:avLst/>
          </a:prstGeom>
          <a:solidFill>
            <a:schemeClr val="tx2"/>
          </a:solidFill>
          <a:ln/>
        </p:spPr>
      </p:sp>
      <p:pic>
        <p:nvPicPr>
          <p:cNvPr id="20" name="Image 3" descr="Posibles riesgos"/>
          <p:cNvPicPr>
            <a:picLocks noChangeAspect="1"/>
          </p:cNvPicPr>
          <p:nvPr/>
        </p:nvPicPr>
        <p:blipFill>
          <a:blip r:embed="rId6"/>
          <a:stretch>
            <a:fillRect/>
          </a:stretch>
        </p:blipFill>
        <p:spPr>
          <a:xfrm>
            <a:off x="10090976" y="2457907"/>
            <a:ext cx="570586" cy="570586"/>
          </a:xfrm>
          <a:prstGeom prst="rect">
            <a:avLst/>
          </a:prstGeom>
        </p:spPr>
      </p:pic>
      <p:sp>
        <p:nvSpPr>
          <p:cNvPr id="21" name="Text 15"/>
          <p:cNvSpPr txBox="1"/>
          <p:nvPr/>
        </p:nvSpPr>
        <p:spPr>
          <a:xfrm>
            <a:off x="9292361"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Posibles riesgos</a:t>
            </a:r>
            <a:endParaRPr lang="en-US" sz="2100" dirty="0"/>
          </a:p>
        </p:txBody>
      </p:sp>
      <p:sp>
        <p:nvSpPr>
          <p:cNvPr id="22" name="Tarjeta"/>
          <p:cNvSpPr/>
          <p:nvPr/>
        </p:nvSpPr>
        <p:spPr>
          <a:xfrm>
            <a:off x="548640" y="4480560"/>
            <a:ext cx="11094415" cy="1097280"/>
          </a:xfrm>
          <a:prstGeom prst="roundRect">
            <a:avLst>
              <a:gd name="adj" fmla="val 12500"/>
            </a:avLst>
          </a:prstGeom>
          <a:solidFill>
            <a:schemeClr val="accent1"/>
          </a:solidFill>
          <a:ln/>
        </p:spPr>
      </p:sp>
      <p:sp>
        <p:nvSpPr>
          <p:cNvPr id="23" name="Mejora"/>
          <p:cNvSpPr/>
          <p:nvPr/>
        </p:nvSpPr>
        <p:spPr>
          <a:xfrm>
            <a:off x="822960" y="4663440"/>
            <a:ext cx="731520" cy="731520"/>
          </a:xfrm>
          <a:prstGeom prst="ellipse">
            <a:avLst/>
          </a:prstGeom>
          <a:solidFill>
            <a:schemeClr val="tx1"/>
          </a:solidFill>
          <a:ln/>
        </p:spPr>
      </p:sp>
      <p:pic>
        <p:nvPicPr>
          <p:cNvPr id="24" name="Image 4" descr="Mejora"/>
          <p:cNvPicPr>
            <a:picLocks noChangeAspect="1"/>
          </p:cNvPicPr>
          <p:nvPr/>
        </p:nvPicPr>
        <p:blipFill>
          <a:blip r:embed="rId7"/>
          <a:stretch>
            <a:fillRect/>
          </a:stretch>
        </p:blipFill>
        <p:spPr>
          <a:xfrm>
            <a:off x="998525" y="4839005"/>
            <a:ext cx="380390" cy="380390"/>
          </a:xfrm>
          <a:prstGeom prst="rect">
            <a:avLst/>
          </a:prstGeom>
        </p:spPr>
      </p:pic>
      <p:sp>
        <p:nvSpPr>
          <p:cNvPr id="25" name="Text 18"/>
          <p:cNvSpPr txBox="1"/>
          <p:nvPr/>
        </p:nvSpPr>
        <p:spPr>
          <a:xfrm>
            <a:off x="1783080" y="4480560"/>
            <a:ext cx="9585655" cy="1097280"/>
          </a:xfrm>
          <a:prstGeom prst="rect">
            <a:avLst/>
          </a:prstGeom>
          <a:noFill/>
          <a:ln/>
        </p:spPr>
        <p:txBody>
          <a:bodyPr wrap="square" lIns="0" tIns="0" rIns="0" bIns="0" rtlCol="0" anchor="ctr"/>
          <a:lstStyle/>
          <a:p>
            <a:pPr marL="0" indent="0">
              <a:buNone/>
            </a:pPr>
            <a:r>
              <a:rPr lang="en-US" sz="2200" b="1" dirty="0">
                <a:solidFill>
                  <a:schemeClr val="tx1"/>
                </a:solidFill>
              </a:rPr>
              <a:t>Y siempre, al menos una propuesta de mejora.</a:t>
            </a:r>
            <a:endParaRPr lang="en-US" sz="22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102</a:t>
            </a:fld>
            <a:endParaRPr lang="en-US"/>
          </a:p>
        </p:txBody>
      </p:sp>
      <p:sp>
        <p:nvSpPr>
          <p:cNvPr id="27" name="Dónde escribir"/>
          <p:cNvSpPr/>
          <p:nvPr/>
        </p:nvSpPr>
        <p:spPr>
          <a:xfrm>
            <a:off x="6048755" y="6291072"/>
            <a:ext cx="4878324"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5  ›  Como observadores</a:t>
            </a:r>
          </a:p>
        </p:txBody>
      </p:sp>
      <p:sp>
        <p:nvSpPr>
          <p:cNvPr id="28" name="Dónde escribir: círculo"/>
          <p:cNvSpPr/>
          <p:nvPr/>
        </p:nvSpPr>
        <p:spPr>
          <a:xfrm>
            <a:off x="6103619" y="6336792"/>
            <a:ext cx="292608" cy="292608"/>
          </a:xfrm>
          <a:prstGeom prst="ellipse">
            <a:avLst/>
          </a:prstGeom>
          <a:solidFill>
            <a:schemeClr val="accent1"/>
          </a:solidFill>
          <a:ln>
            <a:noFill/>
          </a:ln>
        </p:spPr>
      </p:sp>
      <p:pic>
        <p:nvPicPr>
          <p:cNvPr id="29" name="Dónde escribir: lápiz" descr="Lápiz"/>
          <p:cNvPicPr>
            <a:picLocks noChangeAspect="1"/>
          </p:cNvPicPr>
          <p:nvPr/>
        </p:nvPicPr>
        <p:blipFill>
          <a:blip r:embed="rId8"/>
          <a:stretch>
            <a:fillRect/>
          </a:stretch>
        </p:blipFill>
        <p:spPr>
          <a:xfrm>
            <a:off x="6176771" y="6409944"/>
            <a:ext cx="146304" cy="146304"/>
          </a:xfrm>
          <a:prstGeom prst="rect">
            <a:avLst/>
          </a:prstGeom>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IA como evaluadora crítica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275–285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Introducid un resumen de vuestra propuesta, sin información sensible:</a:t>
            </a:r>
            <a:endParaRPr lang="en-US" sz="1900" dirty="0"/>
          </a:p>
        </p:txBody>
      </p:sp>
      <p:sp>
        <p:nvSpPr>
          <p:cNvPr id="6" name="Prompt"/>
          <p:cNvSpPr/>
          <p:nvPr/>
        </p:nvSpPr>
        <p:spPr>
          <a:xfrm>
            <a:off x="548640" y="1920240"/>
            <a:ext cx="11094415" cy="3108960"/>
          </a:xfrm>
          <a:prstGeom prst="roundRect">
            <a:avLst>
              <a:gd name="adj" fmla="val 3529"/>
            </a:avLst>
          </a:prstGeom>
          <a:solidFill>
            <a:schemeClr val="tx1"/>
          </a:solidFill>
          <a:ln/>
        </p:spPr>
      </p:sp>
      <p:sp>
        <p:nvSpPr>
          <p:cNvPr id="7" name="Text 5"/>
          <p:cNvSpPr txBox="1"/>
          <p:nvPr/>
        </p:nvSpPr>
        <p:spPr>
          <a:xfrm>
            <a:off x="822960" y="2103120"/>
            <a:ext cx="10545775" cy="2743200"/>
          </a:xfrm>
          <a:prstGeom prst="rect">
            <a:avLst/>
          </a:prstGeom>
          <a:noFill/>
          <a:ln/>
        </p:spPr>
        <p:txBody>
          <a:bodyPr wrap="square" lIns="0" tIns="0" rIns="0" bIns="0" rtlCol="0" anchor="t"/>
          <a:lstStyle/>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Actúa como responsable de una empresa que debe decidir si implantar</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una propuesta de innovación. Voy a presentarte una solución.</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Evalúala de forma crítica considerando utilidad, originalidad, coste,</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facilidad de implantación y riesgos. Identifica tres debilidades,</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formula dos preguntas difíciles y sugiere una mejora concreta.</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No des por válidas las cifras que no estén justificadas.</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Esta es la propuesta: </a:t>
            </a:r>
            <a:r>
              <a:rPr lang="en-US" sz="1900" b="1" dirty="0">
                <a:solidFill>
                  <a:schemeClr val="accent1"/>
                </a:solidFill>
                <a:latin typeface="Courier New" pitchFamily="34" charset="0"/>
                <a:ea typeface="Courier New" pitchFamily="34" charset="-122"/>
                <a:cs typeface="Courier New" pitchFamily="34" charset="-120"/>
              </a:rPr>
              <a:t>[insertar descripción]</a:t>
            </a:r>
            <a:r>
              <a:rPr lang="en-US" sz="1900" dirty="0">
                <a:solidFill>
                  <a:schemeClr val="bg1"/>
                </a:solidFill>
                <a:latin typeface="Courier New" pitchFamily="34" charset="0"/>
                <a:ea typeface="Courier New" pitchFamily="34" charset="-122"/>
                <a:cs typeface="Courier New" pitchFamily="34" charset="-120"/>
              </a:rPr>
              <a:t>.</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103</a:t>
            </a:fld>
            <a:endParaRPr lang="en-US"/>
          </a:p>
        </p:txBody>
      </p:sp>
      <p:sp>
        <p:nvSpPr>
          <p:cNvPr id="26" name="Dónde escribir"/>
          <p:cNvSpPr/>
          <p:nvPr/>
        </p:nvSpPr>
        <p:spPr>
          <a:xfrm>
            <a:off x="4131259" y="6291072"/>
            <a:ext cx="6795820"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5  ›  La IA como evaluador crítico (el prompt está ahí)</a:t>
            </a:r>
          </a:p>
        </p:txBody>
      </p:sp>
      <p:sp>
        <p:nvSpPr>
          <p:cNvPr id="27" name="Dónde escribir: círculo"/>
          <p:cNvSpPr/>
          <p:nvPr/>
        </p:nvSpPr>
        <p:spPr>
          <a:xfrm>
            <a:off x="4186123"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4259275" y="6409944"/>
            <a:ext cx="146304" cy="146304"/>
          </a:xfrm>
          <a:prstGeom prst="rect">
            <a:avLst/>
          </a:prstGeom>
        </p:spPr>
      </p:pic>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críticas aceptáis?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275–285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explica:</a:t>
            </a:r>
            <a:endParaRPr lang="en-US" sz="1900" dirty="0"/>
          </a:p>
        </p:txBody>
      </p:sp>
      <p:sp>
        <p:nvSpPr>
          <p:cNvPr id="6" name="La crítica que aceptamos"/>
          <p:cNvSpPr/>
          <p:nvPr/>
        </p:nvSpPr>
        <p:spPr>
          <a:xfrm>
            <a:off x="548640" y="2057400"/>
            <a:ext cx="5364328" cy="548640"/>
          </a:xfrm>
          <a:prstGeom prst="roundRect">
            <a:avLst>
              <a:gd name="adj" fmla="val 16667"/>
            </a:avLst>
          </a:prstGeom>
          <a:solidFill>
            <a:schemeClr val="accent2"/>
          </a:solidFill>
          <a:ln/>
        </p:spPr>
      </p:sp>
      <p:sp>
        <p:nvSpPr>
          <p:cNvPr id="7" name="Text 5"/>
          <p:cNvSpPr txBox="1"/>
          <p:nvPr/>
        </p:nvSpPr>
        <p:spPr>
          <a:xfrm>
            <a:off x="640080" y="2057400"/>
            <a:ext cx="5181448" cy="548640"/>
          </a:xfrm>
          <a:prstGeom prst="rect">
            <a:avLst/>
          </a:prstGeom>
          <a:noFill/>
          <a:ln/>
        </p:spPr>
        <p:txBody>
          <a:bodyPr wrap="square" lIns="0" tIns="0" rIns="0" bIns="0" rtlCol="0" anchor="ctr"/>
          <a:lstStyle/>
          <a:p>
            <a:pPr marL="0" indent="0" algn="ctr">
              <a:buNone/>
            </a:pPr>
            <a:r>
              <a:rPr lang="en-US" sz="1800" b="1" dirty="0">
                <a:solidFill>
                  <a:schemeClr val="bg1"/>
                </a:solidFill>
              </a:rPr>
              <a:t>La crítica que aceptamos</a:t>
            </a:r>
            <a:endParaRPr lang="en-US" sz="1800" dirty="0"/>
          </a:p>
        </p:txBody>
      </p:sp>
      <p:sp>
        <p:nvSpPr>
          <p:cNvPr id="8" name="Hueco"/>
          <p:cNvSpPr/>
          <p:nvPr/>
        </p:nvSpPr>
        <p:spPr>
          <a:xfrm>
            <a:off x="548640" y="2788920"/>
            <a:ext cx="5364328" cy="2423160"/>
          </a:xfrm>
          <a:prstGeom prst="roundRect">
            <a:avLst>
              <a:gd name="adj" fmla="val 3774"/>
            </a:avLst>
          </a:prstGeom>
          <a:solidFill>
            <a:schemeClr val="bg2"/>
          </a:solidFill>
          <a:ln w="12700">
            <a:solidFill>
              <a:srgbClr val="8A94A6"/>
            </a:solidFill>
            <a:prstDash val="dash"/>
          </a:ln>
        </p:spPr>
      </p:sp>
      <p:sp>
        <p:nvSpPr>
          <p:cNvPr id="9" name="Qué modificaríamos"/>
          <p:cNvSpPr/>
          <p:nvPr/>
        </p:nvSpPr>
        <p:spPr>
          <a:xfrm>
            <a:off x="6278728" y="2057400"/>
            <a:ext cx="5364328" cy="548640"/>
          </a:xfrm>
          <a:prstGeom prst="roundRect">
            <a:avLst>
              <a:gd name="adj" fmla="val 16667"/>
            </a:avLst>
          </a:prstGeom>
          <a:solidFill>
            <a:schemeClr val="accent1"/>
          </a:solidFill>
          <a:ln/>
        </p:spPr>
      </p:sp>
      <p:sp>
        <p:nvSpPr>
          <p:cNvPr id="10" name="Text 8"/>
          <p:cNvSpPr txBox="1"/>
          <p:nvPr/>
        </p:nvSpPr>
        <p:spPr>
          <a:xfrm>
            <a:off x="6370168" y="2057400"/>
            <a:ext cx="5181448" cy="548640"/>
          </a:xfrm>
          <a:prstGeom prst="rect">
            <a:avLst/>
          </a:prstGeom>
          <a:noFill/>
          <a:ln/>
        </p:spPr>
        <p:txBody>
          <a:bodyPr wrap="square" lIns="0" tIns="0" rIns="0" bIns="0" rtlCol="0" anchor="ctr"/>
          <a:lstStyle/>
          <a:p>
            <a:pPr marL="0" indent="0" algn="ctr">
              <a:buNone/>
            </a:pPr>
            <a:r>
              <a:rPr lang="en-US" sz="1800" b="1" dirty="0">
                <a:solidFill>
                  <a:schemeClr val="tx1"/>
                </a:solidFill>
              </a:rPr>
              <a:t>Qué modificaríamos</a:t>
            </a:r>
            <a:endParaRPr lang="en-US" sz="1800" dirty="0"/>
          </a:p>
        </p:txBody>
      </p:sp>
      <p:sp>
        <p:nvSpPr>
          <p:cNvPr id="11" name="Hueco"/>
          <p:cNvSpPr/>
          <p:nvPr/>
        </p:nvSpPr>
        <p:spPr>
          <a:xfrm>
            <a:off x="6278728" y="2788920"/>
            <a:ext cx="5364328" cy="2423160"/>
          </a:xfrm>
          <a:prstGeom prst="roundRect">
            <a:avLst>
              <a:gd name="adj" fmla="val 3774"/>
            </a:avLst>
          </a:prstGeom>
          <a:solidFill>
            <a:schemeClr val="bg2"/>
          </a:solidFill>
          <a:ln w="12700">
            <a:solidFill>
              <a:srgbClr val="8A94A6"/>
            </a:solidFill>
            <a:prstDash val="dash"/>
          </a:ln>
        </p:spPr>
      </p:sp>
      <p:sp>
        <p:nvSpPr>
          <p:cNvPr id="12" name="Aviso"/>
          <p:cNvSpPr/>
          <p:nvPr/>
        </p:nvSpPr>
        <p:spPr>
          <a:xfrm>
            <a:off x="548640" y="5440680"/>
            <a:ext cx="594360" cy="594360"/>
          </a:xfrm>
          <a:prstGeom prst="ellipse">
            <a:avLst/>
          </a:prstGeom>
          <a:solidFill>
            <a:schemeClr val="accent3"/>
          </a:solidFill>
          <a:ln/>
        </p:spPr>
      </p:sp>
      <p:pic>
        <p:nvPicPr>
          <p:cNvPr id="13" name="Image 0" descr="Aviso"/>
          <p:cNvPicPr>
            <a:picLocks noChangeAspect="1"/>
          </p:cNvPicPr>
          <p:nvPr/>
        </p:nvPicPr>
        <p:blipFill>
          <a:blip r:embed="rId3"/>
          <a:stretch>
            <a:fillRect/>
          </a:stretch>
        </p:blipFill>
        <p:spPr>
          <a:xfrm>
            <a:off x="691286" y="5583326"/>
            <a:ext cx="309067" cy="309067"/>
          </a:xfrm>
          <a:prstGeom prst="rect">
            <a:avLst/>
          </a:prstGeom>
        </p:spPr>
      </p:pic>
      <p:sp>
        <p:nvSpPr>
          <p:cNvPr id="14" name="Text 11"/>
          <p:cNvSpPr txBox="1"/>
          <p:nvPr/>
        </p:nvSpPr>
        <p:spPr>
          <a:xfrm>
            <a:off x="1371600" y="5440680"/>
            <a:ext cx="10271455" cy="594360"/>
          </a:xfrm>
          <a:prstGeom prst="rect">
            <a:avLst/>
          </a:prstGeom>
          <a:noFill/>
          <a:ln/>
        </p:spPr>
        <p:txBody>
          <a:bodyPr wrap="square" lIns="0" tIns="0" rIns="0" bIns="0" rtlCol="0" anchor="ctr"/>
          <a:lstStyle/>
          <a:p>
            <a:pPr marL="0" indent="0">
              <a:buNone/>
            </a:pPr>
            <a:r>
              <a:rPr lang="en-US" sz="2000" b="1" dirty="0">
                <a:solidFill>
                  <a:schemeClr val="accent3"/>
                </a:solidFill>
              </a:rPr>
              <a:t>Ojo: la respuesta de la IA también puede contener errores.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104</a:t>
            </a:fld>
            <a:endParaRPr lang="en-US"/>
          </a:p>
        </p:txBody>
      </p:sp>
      <p:sp>
        <p:nvSpPr>
          <p:cNvPr id="26" name="Dónde escribir"/>
          <p:cNvSpPr/>
          <p:nvPr/>
        </p:nvSpPr>
        <p:spPr>
          <a:xfrm>
            <a:off x="5883249" y="6291072"/>
            <a:ext cx="5043830"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5  ›  tabla «Crítica de la IA»</a:t>
            </a:r>
          </a:p>
        </p:txBody>
      </p:sp>
      <p:sp>
        <p:nvSpPr>
          <p:cNvPr id="27" name="Dónde escribir: círculo"/>
          <p:cNvSpPr/>
          <p:nvPr/>
        </p:nvSpPr>
        <p:spPr>
          <a:xfrm>
            <a:off x="5938113"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4"/>
          <a:stretch>
            <a:fillRect/>
          </a:stretch>
        </p:blipFill>
        <p:spPr>
          <a:xfrm>
            <a:off x="6011265" y="6409944"/>
            <a:ext cx="146304" cy="146304"/>
          </a:xfrm>
          <a:prstGeom prst="rect">
            <a:avLst/>
          </a:prstGeom>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habéis demostrado hoy</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285–295</a:t>
            </a:r>
            <a:endParaRPr lang="en-US" sz="1400" dirty="0"/>
          </a:p>
        </p:txBody>
      </p:sp>
      <p:sp>
        <p:nvSpPr>
          <p:cNvPr id="5" name="Tarjeta"/>
          <p:cNvSpPr/>
          <p:nvPr/>
        </p:nvSpPr>
        <p:spPr>
          <a:xfrm>
            <a:off x="548640" y="1645920"/>
            <a:ext cx="1999427" cy="2743200"/>
          </a:xfrm>
          <a:prstGeom prst="roundRect">
            <a:avLst>
              <a:gd name="adj" fmla="val 6860"/>
            </a:avLst>
          </a:prstGeom>
          <a:solidFill>
            <a:schemeClr val="bg2"/>
          </a:solidFill>
          <a:ln/>
        </p:spPr>
      </p:sp>
      <p:sp>
        <p:nvSpPr>
          <p:cNvPr id="6" name="Identificar problemas"/>
          <p:cNvSpPr/>
          <p:nvPr/>
        </p:nvSpPr>
        <p:spPr>
          <a:xfrm>
            <a:off x="953994" y="1965960"/>
            <a:ext cx="1188720" cy="1188720"/>
          </a:xfrm>
          <a:prstGeom prst="ellipse">
            <a:avLst/>
          </a:prstGeom>
          <a:solidFill>
            <a:schemeClr val="accent1"/>
          </a:solidFill>
          <a:ln/>
        </p:spPr>
      </p:sp>
      <p:pic>
        <p:nvPicPr>
          <p:cNvPr id="7" name="Image 0" descr="Identificar problemas"/>
          <p:cNvPicPr>
            <a:picLocks noChangeAspect="1"/>
          </p:cNvPicPr>
          <p:nvPr/>
        </p:nvPicPr>
        <p:blipFill>
          <a:blip r:embed="rId3"/>
          <a:stretch>
            <a:fillRect/>
          </a:stretch>
        </p:blipFill>
        <p:spPr>
          <a:xfrm>
            <a:off x="1239286" y="2251253"/>
            <a:ext cx="618134" cy="618134"/>
          </a:xfrm>
          <a:prstGeom prst="rect">
            <a:avLst/>
          </a:prstGeom>
        </p:spPr>
      </p:pic>
      <p:sp>
        <p:nvSpPr>
          <p:cNvPr id="8" name="Text 5"/>
          <p:cNvSpPr txBox="1"/>
          <p:nvPr/>
        </p:nvSpPr>
        <p:spPr>
          <a:xfrm>
            <a:off x="685800"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Identificar problemas</a:t>
            </a:r>
            <a:endParaRPr lang="en-US" sz="1900" dirty="0"/>
          </a:p>
        </p:txBody>
      </p:sp>
      <p:sp>
        <p:nvSpPr>
          <p:cNvPr id="9" name="Tarjeta"/>
          <p:cNvSpPr/>
          <p:nvPr/>
        </p:nvSpPr>
        <p:spPr>
          <a:xfrm>
            <a:off x="2822387" y="1645920"/>
            <a:ext cx="1999427" cy="2743200"/>
          </a:xfrm>
          <a:prstGeom prst="roundRect">
            <a:avLst>
              <a:gd name="adj" fmla="val 6860"/>
            </a:avLst>
          </a:prstGeom>
          <a:solidFill>
            <a:schemeClr val="bg2"/>
          </a:solidFill>
          <a:ln/>
        </p:spPr>
      </p:sp>
      <p:sp>
        <p:nvSpPr>
          <p:cNvPr id="10" name="Análisis"/>
          <p:cNvSpPr/>
          <p:nvPr/>
        </p:nvSpPr>
        <p:spPr>
          <a:xfrm>
            <a:off x="3227741" y="1965960"/>
            <a:ext cx="1188720" cy="1188720"/>
          </a:xfrm>
          <a:prstGeom prst="ellipse">
            <a:avLst/>
          </a:prstGeom>
          <a:solidFill>
            <a:schemeClr val="accent1"/>
          </a:solidFill>
          <a:ln/>
        </p:spPr>
      </p:sp>
      <p:pic>
        <p:nvPicPr>
          <p:cNvPr id="11" name="Image 1" descr="Análisis"/>
          <p:cNvPicPr>
            <a:picLocks noChangeAspect="1"/>
          </p:cNvPicPr>
          <p:nvPr/>
        </p:nvPicPr>
        <p:blipFill>
          <a:blip r:embed="rId4"/>
          <a:stretch>
            <a:fillRect/>
          </a:stretch>
        </p:blipFill>
        <p:spPr>
          <a:xfrm>
            <a:off x="3513033" y="2251253"/>
            <a:ext cx="618134" cy="618134"/>
          </a:xfrm>
          <a:prstGeom prst="rect">
            <a:avLst/>
          </a:prstGeom>
        </p:spPr>
      </p:pic>
      <p:sp>
        <p:nvSpPr>
          <p:cNvPr id="12" name="Text 8"/>
          <p:cNvSpPr txBox="1"/>
          <p:nvPr/>
        </p:nvSpPr>
        <p:spPr>
          <a:xfrm>
            <a:off x="2959547"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Análisis</a:t>
            </a:r>
            <a:endParaRPr lang="en-US" sz="1900" dirty="0"/>
          </a:p>
        </p:txBody>
      </p:sp>
      <p:sp>
        <p:nvSpPr>
          <p:cNvPr id="13" name="Tarjeta"/>
          <p:cNvSpPr/>
          <p:nvPr/>
        </p:nvSpPr>
        <p:spPr>
          <a:xfrm>
            <a:off x="5096134" y="1645920"/>
            <a:ext cx="1999427" cy="2743200"/>
          </a:xfrm>
          <a:prstGeom prst="roundRect">
            <a:avLst>
              <a:gd name="adj" fmla="val 6860"/>
            </a:avLst>
          </a:prstGeom>
          <a:solidFill>
            <a:schemeClr val="bg2"/>
          </a:solidFill>
          <a:ln/>
        </p:spPr>
      </p:sp>
      <p:sp>
        <p:nvSpPr>
          <p:cNvPr id="14" name="Creatividad"/>
          <p:cNvSpPr/>
          <p:nvPr/>
        </p:nvSpPr>
        <p:spPr>
          <a:xfrm>
            <a:off x="5501488" y="1965960"/>
            <a:ext cx="1188720" cy="1188720"/>
          </a:xfrm>
          <a:prstGeom prst="ellipse">
            <a:avLst/>
          </a:prstGeom>
          <a:solidFill>
            <a:schemeClr val="accent1"/>
          </a:solidFill>
          <a:ln/>
        </p:spPr>
      </p:sp>
      <p:pic>
        <p:nvPicPr>
          <p:cNvPr id="15" name="Image 2" descr="Creatividad"/>
          <p:cNvPicPr>
            <a:picLocks noChangeAspect="1"/>
          </p:cNvPicPr>
          <p:nvPr/>
        </p:nvPicPr>
        <p:blipFill>
          <a:blip r:embed="rId5"/>
          <a:stretch>
            <a:fillRect/>
          </a:stretch>
        </p:blipFill>
        <p:spPr>
          <a:xfrm>
            <a:off x="5786780" y="2251253"/>
            <a:ext cx="618134" cy="618134"/>
          </a:xfrm>
          <a:prstGeom prst="rect">
            <a:avLst/>
          </a:prstGeom>
        </p:spPr>
      </p:pic>
      <p:sp>
        <p:nvSpPr>
          <p:cNvPr id="16" name="Text 11"/>
          <p:cNvSpPr txBox="1"/>
          <p:nvPr/>
        </p:nvSpPr>
        <p:spPr>
          <a:xfrm>
            <a:off x="5233294"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Creatividad</a:t>
            </a:r>
            <a:endParaRPr lang="en-US" sz="1900" dirty="0"/>
          </a:p>
        </p:txBody>
      </p:sp>
      <p:sp>
        <p:nvSpPr>
          <p:cNvPr id="17" name="Tarjeta"/>
          <p:cNvSpPr/>
          <p:nvPr/>
        </p:nvSpPr>
        <p:spPr>
          <a:xfrm>
            <a:off x="7369881" y="1645920"/>
            <a:ext cx="1999427" cy="2743200"/>
          </a:xfrm>
          <a:prstGeom prst="roundRect">
            <a:avLst>
              <a:gd name="adj" fmla="val 6860"/>
            </a:avLst>
          </a:prstGeom>
          <a:solidFill>
            <a:schemeClr val="bg2"/>
          </a:solidFill>
          <a:ln/>
        </p:spPr>
      </p:sp>
      <p:sp>
        <p:nvSpPr>
          <p:cNvPr id="18" name="Dominio digital"/>
          <p:cNvSpPr/>
          <p:nvPr/>
        </p:nvSpPr>
        <p:spPr>
          <a:xfrm>
            <a:off x="7775235" y="1965960"/>
            <a:ext cx="1188720" cy="1188720"/>
          </a:xfrm>
          <a:prstGeom prst="ellipse">
            <a:avLst/>
          </a:prstGeom>
          <a:solidFill>
            <a:schemeClr val="accent1"/>
          </a:solidFill>
          <a:ln/>
        </p:spPr>
      </p:sp>
      <p:pic>
        <p:nvPicPr>
          <p:cNvPr id="19" name="Image 3" descr="Dominio digital"/>
          <p:cNvPicPr>
            <a:picLocks noChangeAspect="1"/>
          </p:cNvPicPr>
          <p:nvPr/>
        </p:nvPicPr>
        <p:blipFill>
          <a:blip r:embed="rId6"/>
          <a:stretch>
            <a:fillRect/>
          </a:stretch>
        </p:blipFill>
        <p:spPr>
          <a:xfrm>
            <a:off x="8060527" y="2251253"/>
            <a:ext cx="618134" cy="618134"/>
          </a:xfrm>
          <a:prstGeom prst="rect">
            <a:avLst/>
          </a:prstGeom>
        </p:spPr>
      </p:pic>
      <p:sp>
        <p:nvSpPr>
          <p:cNvPr id="20" name="Text 14"/>
          <p:cNvSpPr txBox="1"/>
          <p:nvPr/>
        </p:nvSpPr>
        <p:spPr>
          <a:xfrm>
            <a:off x="7507041"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Dominio digital</a:t>
            </a:r>
            <a:endParaRPr lang="en-US" sz="1900" dirty="0"/>
          </a:p>
        </p:txBody>
      </p:sp>
      <p:sp>
        <p:nvSpPr>
          <p:cNvPr id="21" name="Tarjeta"/>
          <p:cNvSpPr/>
          <p:nvPr/>
        </p:nvSpPr>
        <p:spPr>
          <a:xfrm>
            <a:off x="9643628" y="1645920"/>
            <a:ext cx="1999427" cy="2743200"/>
          </a:xfrm>
          <a:prstGeom prst="roundRect">
            <a:avLst>
              <a:gd name="adj" fmla="val 6860"/>
            </a:avLst>
          </a:prstGeom>
          <a:solidFill>
            <a:schemeClr val="bg2"/>
          </a:solidFill>
          <a:ln/>
        </p:spPr>
      </p:sp>
      <p:sp>
        <p:nvSpPr>
          <p:cNvPr id="22" name="Comunicación"/>
          <p:cNvSpPr/>
          <p:nvPr/>
        </p:nvSpPr>
        <p:spPr>
          <a:xfrm>
            <a:off x="10048982" y="1965960"/>
            <a:ext cx="1188720" cy="1188720"/>
          </a:xfrm>
          <a:prstGeom prst="ellipse">
            <a:avLst/>
          </a:prstGeom>
          <a:solidFill>
            <a:schemeClr val="accent1"/>
          </a:solidFill>
          <a:ln/>
        </p:spPr>
      </p:sp>
      <p:pic>
        <p:nvPicPr>
          <p:cNvPr id="23" name="Image 4" descr="Comunicación"/>
          <p:cNvPicPr>
            <a:picLocks noChangeAspect="1"/>
          </p:cNvPicPr>
          <p:nvPr/>
        </p:nvPicPr>
        <p:blipFill>
          <a:blip r:embed="rId7"/>
          <a:stretch>
            <a:fillRect/>
          </a:stretch>
        </p:blipFill>
        <p:spPr>
          <a:xfrm>
            <a:off x="10334274" y="2251253"/>
            <a:ext cx="618134" cy="618134"/>
          </a:xfrm>
          <a:prstGeom prst="rect">
            <a:avLst/>
          </a:prstGeom>
        </p:spPr>
      </p:pic>
      <p:sp>
        <p:nvSpPr>
          <p:cNvPr id="24" name="Text 17"/>
          <p:cNvSpPr txBox="1"/>
          <p:nvPr/>
        </p:nvSpPr>
        <p:spPr>
          <a:xfrm>
            <a:off x="9780788"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Comunicación</a:t>
            </a:r>
            <a:endParaRPr lang="en-US" sz="1900" dirty="0"/>
          </a:p>
        </p:txBody>
      </p:sp>
      <p:sp>
        <p:nvSpPr>
          <p:cNvPr id="25" name="Text 18"/>
          <p:cNvSpPr txBox="1"/>
          <p:nvPr/>
        </p:nvSpPr>
        <p:spPr>
          <a:xfrm>
            <a:off x="548640" y="4846320"/>
            <a:ext cx="11094415" cy="548640"/>
          </a:xfrm>
          <a:prstGeom prst="rect">
            <a:avLst/>
          </a:prstGeom>
          <a:noFill/>
          <a:ln/>
        </p:spPr>
        <p:txBody>
          <a:bodyPr wrap="square" lIns="0" tIns="0" rIns="0" bIns="0" rtlCol="0" anchor="ctr"/>
          <a:lstStyle/>
          <a:p>
            <a:pPr marL="0" indent="0">
              <a:buNone/>
            </a:pPr>
            <a:r>
              <a:rPr lang="en-US" sz="2100" b="1" dirty="0">
                <a:solidFill>
                  <a:schemeClr val="tx2"/>
                </a:solidFill>
              </a:rPr>
              <a:t>Competencias que </a:t>
            </a:r>
            <a:r>
              <a:rPr lang="en-US" sz="2100" b="1" dirty="0" err="1">
                <a:solidFill>
                  <a:schemeClr val="tx2"/>
                </a:solidFill>
              </a:rPr>
              <a:t>podéis</a:t>
            </a:r>
            <a:r>
              <a:rPr lang="en-US" sz="2100" b="1" dirty="0">
                <a:solidFill>
                  <a:schemeClr val="tx2"/>
                </a:solidFill>
              </a:rPr>
              <a:t> </a:t>
            </a:r>
            <a:r>
              <a:rPr lang="en-US" sz="2100" b="1" dirty="0" err="1">
                <a:solidFill>
                  <a:schemeClr val="tx2"/>
                </a:solidFill>
              </a:rPr>
              <a:t>aplicar</a:t>
            </a:r>
            <a:r>
              <a:rPr lang="en-US" sz="2100" b="1" dirty="0">
                <a:solidFill>
                  <a:schemeClr val="tx2"/>
                </a:solidFill>
              </a:rPr>
              <a:t> </a:t>
            </a:r>
            <a:r>
              <a:rPr lang="en-US" sz="2100" b="1" dirty="0" err="1">
                <a:solidFill>
                  <a:schemeClr val="tx2"/>
                </a:solidFill>
              </a:rPr>
              <a:t>en</a:t>
            </a:r>
            <a:r>
              <a:rPr lang="en-US" sz="2100" b="1" dirty="0">
                <a:solidFill>
                  <a:schemeClr val="tx2"/>
                </a:solidFill>
              </a:rPr>
              <a:t> el día a día o </a:t>
            </a:r>
            <a:r>
              <a:rPr lang="en-US" sz="2100" b="1" dirty="0" err="1">
                <a:solidFill>
                  <a:schemeClr val="tx2"/>
                </a:solidFill>
              </a:rPr>
              <a:t>en</a:t>
            </a:r>
            <a:r>
              <a:rPr lang="en-US" sz="2100" b="1" dirty="0">
                <a:solidFill>
                  <a:schemeClr val="tx2"/>
                </a:solidFill>
              </a:rPr>
              <a:t> </a:t>
            </a:r>
            <a:r>
              <a:rPr lang="en-US" sz="2100" b="1" dirty="0" err="1">
                <a:solidFill>
                  <a:schemeClr val="tx2"/>
                </a:solidFill>
              </a:rPr>
              <a:t>futuros</a:t>
            </a:r>
            <a:r>
              <a:rPr lang="en-US" sz="2100" b="1" dirty="0">
                <a:solidFill>
                  <a:schemeClr val="tx2"/>
                </a:solidFill>
              </a:rPr>
              <a:t> </a:t>
            </a:r>
            <a:r>
              <a:rPr lang="en-US" sz="2100" b="1" dirty="0" err="1">
                <a:solidFill>
                  <a:schemeClr val="tx2"/>
                </a:solidFill>
              </a:rPr>
              <a:t>trabajos</a:t>
            </a:r>
            <a:r>
              <a:rPr lang="en-US" sz="2100" b="1" dirty="0">
                <a:solidFill>
                  <a:schemeClr val="tx2"/>
                </a:solidFill>
              </a:rPr>
              <a:t>.</a:t>
            </a:r>
            <a:endParaRPr lang="en-US" sz="21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105</a:t>
            </a:fld>
            <a:endParaRPr lang="en-US"/>
          </a:p>
        </p:txBody>
      </p:sp>
      <p:sp>
        <p:nvSpPr>
          <p:cNvPr id="27" name="Dónde escribir"/>
          <p:cNvSpPr/>
          <p:nvPr/>
        </p:nvSpPr>
        <p:spPr>
          <a:xfrm>
            <a:off x="5439765" y="6291072"/>
            <a:ext cx="5487314"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5  ›  Mi relato para una entrevista</a:t>
            </a:r>
          </a:p>
        </p:txBody>
      </p:sp>
      <p:sp>
        <p:nvSpPr>
          <p:cNvPr id="28" name="Dónde escribir: círculo"/>
          <p:cNvSpPr/>
          <p:nvPr/>
        </p:nvSpPr>
        <p:spPr>
          <a:xfrm>
            <a:off x="5494629" y="6336792"/>
            <a:ext cx="292608" cy="292608"/>
          </a:xfrm>
          <a:prstGeom prst="ellipse">
            <a:avLst/>
          </a:prstGeom>
          <a:solidFill>
            <a:schemeClr val="accent1"/>
          </a:solidFill>
          <a:ln>
            <a:noFill/>
          </a:ln>
        </p:spPr>
      </p:sp>
      <p:pic>
        <p:nvPicPr>
          <p:cNvPr id="29" name="Dónde escribir: lápiz" descr="Lápiz"/>
          <p:cNvPicPr>
            <a:picLocks noChangeAspect="1"/>
          </p:cNvPicPr>
          <p:nvPr/>
        </p:nvPicPr>
        <p:blipFill>
          <a:blip r:embed="rId8"/>
          <a:stretch>
            <a:fillRect/>
          </a:stretch>
        </p:blipFill>
        <p:spPr>
          <a:xfrm>
            <a:off x="5567781" y="6409944"/>
            <a:ext cx="146304" cy="146304"/>
          </a:xfrm>
          <a:prstGeom prst="rect">
            <a:avLst/>
          </a:prstGeom>
        </p:spPr>
      </p:pic>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Comprobación final</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295–300 · Todo el grupo</a:t>
            </a:r>
            <a:endParaRPr lang="en-US" sz="1400" dirty="0"/>
          </a:p>
        </p:txBody>
      </p:sp>
      <p:sp>
        <p:nvSpPr>
          <p:cNvPr id="5" name="Pregunta 1"/>
          <p:cNvSpPr/>
          <p:nvPr/>
        </p:nvSpPr>
        <p:spPr>
          <a:xfrm>
            <a:off x="548640" y="1508760"/>
            <a:ext cx="594360" cy="594360"/>
          </a:xfrm>
          <a:prstGeom prst="ellipse">
            <a:avLst/>
          </a:prstGeom>
          <a:solidFill>
            <a:schemeClr val="accent1"/>
          </a:solidFill>
          <a:ln/>
        </p:spPr>
      </p:sp>
      <p:sp>
        <p:nvSpPr>
          <p:cNvPr id="6" name="Text 4"/>
          <p:cNvSpPr txBox="1"/>
          <p:nvPr/>
        </p:nvSpPr>
        <p:spPr>
          <a:xfrm>
            <a:off x="548640" y="150876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7" name="Text 5"/>
          <p:cNvSpPr txBox="1"/>
          <p:nvPr/>
        </p:nvSpPr>
        <p:spPr>
          <a:xfrm>
            <a:off x="1417320" y="1463040"/>
            <a:ext cx="10225735" cy="685800"/>
          </a:xfrm>
          <a:prstGeom prst="rect">
            <a:avLst/>
          </a:prstGeom>
          <a:noFill/>
          <a:ln/>
        </p:spPr>
        <p:txBody>
          <a:bodyPr wrap="square" lIns="0" tIns="0" rIns="0" bIns="0" rtlCol="0" anchor="ctr"/>
          <a:lstStyle/>
          <a:p>
            <a:pPr marL="0" indent="0">
              <a:buNone/>
            </a:pPr>
            <a:r>
              <a:rPr lang="en-US" sz="2100" dirty="0">
                <a:solidFill>
                  <a:schemeClr val="tx1"/>
                </a:solidFill>
              </a:rPr>
              <a:t>¿En qué se diferencia una idea creativa de una innovación?</a:t>
            </a:r>
            <a:endParaRPr lang="en-US" sz="2100" dirty="0"/>
          </a:p>
        </p:txBody>
      </p:sp>
      <p:sp>
        <p:nvSpPr>
          <p:cNvPr id="8" name="Pregunta 2"/>
          <p:cNvSpPr/>
          <p:nvPr/>
        </p:nvSpPr>
        <p:spPr>
          <a:xfrm>
            <a:off x="548640" y="2377440"/>
            <a:ext cx="594360" cy="594360"/>
          </a:xfrm>
          <a:prstGeom prst="ellipse">
            <a:avLst/>
          </a:prstGeom>
          <a:solidFill>
            <a:schemeClr val="accent1"/>
          </a:solidFill>
          <a:ln/>
        </p:spPr>
      </p:sp>
      <p:sp>
        <p:nvSpPr>
          <p:cNvPr id="9" name="Text 7"/>
          <p:cNvSpPr txBox="1"/>
          <p:nvPr/>
        </p:nvSpPr>
        <p:spPr>
          <a:xfrm>
            <a:off x="548640" y="237744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0" name="Text 8"/>
          <p:cNvSpPr txBox="1"/>
          <p:nvPr/>
        </p:nvSpPr>
        <p:spPr>
          <a:xfrm>
            <a:off x="1417320" y="2331720"/>
            <a:ext cx="10225735" cy="685800"/>
          </a:xfrm>
          <a:prstGeom prst="rect">
            <a:avLst/>
          </a:prstGeom>
          <a:noFill/>
          <a:ln/>
        </p:spPr>
        <p:txBody>
          <a:bodyPr wrap="square" lIns="0" tIns="0" rIns="0" bIns="0" rtlCol="0" anchor="ctr"/>
          <a:lstStyle/>
          <a:p>
            <a:pPr marL="0" indent="0">
              <a:buNone/>
            </a:pPr>
            <a:r>
              <a:rPr lang="en-US" sz="2100" dirty="0">
                <a:solidFill>
                  <a:schemeClr val="tx1"/>
                </a:solidFill>
              </a:rPr>
              <a:t>¿Qué diferencia hay entre el brainstorming, SCAMPER y la provocación?</a:t>
            </a:r>
            <a:endParaRPr lang="en-US" sz="2100" dirty="0"/>
          </a:p>
        </p:txBody>
      </p:sp>
      <p:sp>
        <p:nvSpPr>
          <p:cNvPr id="11" name="Pregunta 3"/>
          <p:cNvSpPr/>
          <p:nvPr/>
        </p:nvSpPr>
        <p:spPr>
          <a:xfrm>
            <a:off x="548640" y="3246120"/>
            <a:ext cx="594360" cy="594360"/>
          </a:xfrm>
          <a:prstGeom prst="ellipse">
            <a:avLst/>
          </a:prstGeom>
          <a:solidFill>
            <a:schemeClr val="accent1"/>
          </a:solidFill>
          <a:ln/>
        </p:spPr>
      </p:sp>
      <p:sp>
        <p:nvSpPr>
          <p:cNvPr id="12" name="Text 10"/>
          <p:cNvSpPr txBox="1"/>
          <p:nvPr/>
        </p:nvSpPr>
        <p:spPr>
          <a:xfrm>
            <a:off x="548640" y="324612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3" name="Text 11"/>
          <p:cNvSpPr txBox="1"/>
          <p:nvPr/>
        </p:nvSpPr>
        <p:spPr>
          <a:xfrm>
            <a:off x="1417320" y="3200400"/>
            <a:ext cx="10225735" cy="685800"/>
          </a:xfrm>
          <a:prstGeom prst="rect">
            <a:avLst/>
          </a:prstGeom>
          <a:noFill/>
          <a:ln/>
        </p:spPr>
        <p:txBody>
          <a:bodyPr wrap="square" lIns="0" tIns="0" rIns="0" bIns="0" rtlCol="0" anchor="ctr"/>
          <a:lstStyle/>
          <a:p>
            <a:pPr marL="0" indent="0">
              <a:buNone/>
            </a:pPr>
            <a:r>
              <a:rPr lang="en-US" sz="2100" dirty="0">
                <a:solidFill>
                  <a:schemeClr val="tx1"/>
                </a:solidFill>
              </a:rPr>
              <a:t>¿Qué ventaja ofrece una matriz de decisión?</a:t>
            </a:r>
            <a:endParaRPr lang="en-US" sz="2100" dirty="0"/>
          </a:p>
        </p:txBody>
      </p:sp>
      <p:sp>
        <p:nvSpPr>
          <p:cNvPr id="14" name="Pregunta 4"/>
          <p:cNvSpPr/>
          <p:nvPr/>
        </p:nvSpPr>
        <p:spPr>
          <a:xfrm>
            <a:off x="548640" y="4114800"/>
            <a:ext cx="594360" cy="594360"/>
          </a:xfrm>
          <a:prstGeom prst="ellipse">
            <a:avLst/>
          </a:prstGeom>
          <a:solidFill>
            <a:schemeClr val="accent1"/>
          </a:solidFill>
          <a:ln/>
        </p:spPr>
      </p:sp>
      <p:sp>
        <p:nvSpPr>
          <p:cNvPr id="15" name="Text 13"/>
          <p:cNvSpPr txBox="1"/>
          <p:nvPr/>
        </p:nvSpPr>
        <p:spPr>
          <a:xfrm>
            <a:off x="548640" y="411480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4</a:t>
            </a:r>
            <a:endParaRPr lang="en-US" sz="2200" dirty="0"/>
          </a:p>
        </p:txBody>
      </p:sp>
      <p:sp>
        <p:nvSpPr>
          <p:cNvPr id="16" name="Text 14"/>
          <p:cNvSpPr txBox="1"/>
          <p:nvPr/>
        </p:nvSpPr>
        <p:spPr>
          <a:xfrm>
            <a:off x="1417320" y="4069080"/>
            <a:ext cx="10225735" cy="685800"/>
          </a:xfrm>
          <a:prstGeom prst="rect">
            <a:avLst/>
          </a:prstGeom>
          <a:noFill/>
          <a:ln/>
        </p:spPr>
        <p:txBody>
          <a:bodyPr wrap="square" lIns="0" tIns="0" rIns="0" bIns="0" rtlCol="0" anchor="ctr"/>
          <a:lstStyle/>
          <a:p>
            <a:pPr marL="0" indent="0">
              <a:buNone/>
            </a:pPr>
            <a:r>
              <a:rPr lang="en-US" sz="2100" dirty="0">
                <a:solidFill>
                  <a:schemeClr val="tx1"/>
                </a:solidFill>
              </a:rPr>
              <a:t>¿Por qué no conviene aceptar sin revisar las respuestas de una IA?</a:t>
            </a:r>
            <a:endParaRPr lang="en-US" sz="2100" dirty="0"/>
          </a:p>
        </p:txBody>
      </p:sp>
      <p:sp>
        <p:nvSpPr>
          <p:cNvPr id="17" name="Pregunta 5"/>
          <p:cNvSpPr/>
          <p:nvPr/>
        </p:nvSpPr>
        <p:spPr>
          <a:xfrm>
            <a:off x="548640" y="4983480"/>
            <a:ext cx="594360" cy="594360"/>
          </a:xfrm>
          <a:prstGeom prst="ellipse">
            <a:avLst/>
          </a:prstGeom>
          <a:solidFill>
            <a:schemeClr val="accent1"/>
          </a:solidFill>
          <a:ln/>
        </p:spPr>
      </p:sp>
      <p:sp>
        <p:nvSpPr>
          <p:cNvPr id="18" name="Text 16"/>
          <p:cNvSpPr txBox="1"/>
          <p:nvPr/>
        </p:nvSpPr>
        <p:spPr>
          <a:xfrm>
            <a:off x="548640" y="498348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5</a:t>
            </a:r>
            <a:endParaRPr lang="en-US" sz="2200" dirty="0"/>
          </a:p>
        </p:txBody>
      </p:sp>
      <p:sp>
        <p:nvSpPr>
          <p:cNvPr id="19" name="Text 17"/>
          <p:cNvSpPr txBox="1"/>
          <p:nvPr/>
        </p:nvSpPr>
        <p:spPr>
          <a:xfrm>
            <a:off x="1417320" y="4937760"/>
            <a:ext cx="10225735" cy="685800"/>
          </a:xfrm>
          <a:prstGeom prst="rect">
            <a:avLst/>
          </a:prstGeom>
          <a:noFill/>
          <a:ln/>
        </p:spPr>
        <p:txBody>
          <a:bodyPr wrap="square" lIns="0" tIns="0" rIns="0" bIns="0" rtlCol="0" anchor="ctr"/>
          <a:lstStyle/>
          <a:p>
            <a:pPr marL="0" indent="0">
              <a:buNone/>
            </a:pPr>
            <a:r>
              <a:rPr lang="en-US" sz="2100" dirty="0">
                <a:solidFill>
                  <a:schemeClr val="tx1"/>
                </a:solidFill>
              </a:rPr>
              <a:t>¿Cómo mediríamos el resultado de una propuesta de mejora?</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Para terminar</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¿Qué técnica de hoy os gustaría aplicar</a:t>
            </a:r>
            <a:endParaRPr lang="en-US" sz="3400" dirty="0"/>
          </a:p>
          <a:p>
            <a:pPr marL="0" indent="0">
              <a:buNone/>
            </a:pPr>
            <a:r>
              <a:rPr lang="en-US" sz="3400" b="1" dirty="0">
                <a:solidFill>
                  <a:schemeClr val="accent1"/>
                </a:solidFill>
              </a:rPr>
              <a:t>en vuestro próximo empleo?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107</a:t>
            </a:fld>
            <a:endParaRPr lang="en-US"/>
          </a:p>
        </p:txBody>
      </p:sp>
      <p:sp>
        <p:nvSpPr>
          <p:cNvPr id="26" name="Dónde escribir"/>
          <p:cNvSpPr/>
          <p:nvPr/>
        </p:nvSpPr>
        <p:spPr>
          <a:xfrm>
            <a:off x="6475780" y="6291072"/>
            <a:ext cx="4451299"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5  ›  Para llevarme</a:t>
            </a:r>
          </a:p>
        </p:txBody>
      </p:sp>
      <p:sp>
        <p:nvSpPr>
          <p:cNvPr id="27" name="Dónde escribir: círculo"/>
          <p:cNvSpPr/>
          <p:nvPr/>
        </p:nvSpPr>
        <p:spPr>
          <a:xfrm>
            <a:off x="6530644"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6603796" y="6409944"/>
            <a:ext cx="146304" cy="146304"/>
          </a:xfrm>
          <a:prstGeom prst="rect">
            <a:avLst/>
          </a:prstGeom>
        </p:spPr>
      </p:pic>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El mensaje del curso</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IA ayuda a ampliar y acelerar el pensamiento creativo.</a:t>
            </a:r>
            <a:endParaRPr lang="en-US" sz="3400" dirty="0"/>
          </a:p>
          <a:p>
            <a:pPr marL="0" indent="0">
              <a:buNone/>
            </a:pPr>
            <a:r>
              <a:rPr lang="en-US" sz="3400" b="1" dirty="0">
                <a:solidFill>
                  <a:schemeClr val="accent1"/>
                </a:solidFill>
              </a:rPr>
              <a:t>El valor profesional está en definir bien el problema, elegir una solución sensata y saber cómo comprobar si funciona.</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108</a:t>
            </a:fld>
            <a:endParaRPr lang="en-US"/>
          </a:p>
        </p:txBody>
      </p:sp>
    </p:spTree>
  </p:cSld>
  <p:clrMapOvr>
    <a:masterClrMapping/>
  </p:clrMapOvr>
</p:sld>
</file>

<file path=ppt/theme/theme1.xml><?xml version="1.0" encoding="utf-8"?>
<a:theme xmlns:a="http://schemas.openxmlformats.org/drawingml/2006/main" name="Creatividad, ofimática e IA">
  <a:themeElements>
    <a:clrScheme name="Creatividad, ofimática e IA">
      <a:dk1>
        <a:srgbClr val="1F2A44"/>
      </a:dk1>
      <a:lt1>
        <a:srgbClr val="FFFFFF"/>
      </a:lt1>
      <a:dk2>
        <a:srgbClr val="3A4664"/>
      </a:dk2>
      <a:lt2>
        <a:srgbClr val="F2F4F8"/>
      </a:lt2>
      <a:accent1>
        <a:srgbClr val="F4A300"/>
      </a:accent1>
      <a:accent2>
        <a:srgbClr val="0F7C70"/>
      </a:accent2>
      <a:accent3>
        <a:srgbClr val="D64933"/>
      </a:accent3>
      <a:accent4>
        <a:srgbClr val="6C5CE7"/>
      </a:accent4>
      <a:accent5>
        <a:srgbClr val="8A94A6"/>
      </a:accent5>
      <a:accent6>
        <a:srgbClr val="2D6A4F"/>
      </a:accent6>
      <a:hlink>
        <a:srgbClr val="0F7C70"/>
      </a:hlink>
      <a:folHlink>
        <a:srgbClr val="6C5CE7"/>
      </a:folHlink>
    </a:clrScheme>
    <a:fontScheme name="Creatividad, ofimática e I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12071</Words>
  <Application>Microsoft Office PowerPoint</Application>
  <PresentationFormat>Panorámica</PresentationFormat>
  <Paragraphs>1479</Paragraphs>
  <Slides>108</Slides>
  <Notes>108</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108</vt:i4>
      </vt:variant>
    </vt:vector>
  </HeadingPairs>
  <TitlesOfParts>
    <vt:vector size="112" baseType="lpstr">
      <vt:lpstr>Arial</vt:lpstr>
      <vt:lpstr>Calibri</vt:lpstr>
      <vt:lpstr>Courier New</vt:lpstr>
      <vt:lpstr>Creatividad, ofimática e IA</vt:lpstr>
      <vt:lpstr>¿Qué vamos a hacer hoy?</vt:lpstr>
      <vt:lpstr>Presentación de PowerPoint</vt:lpstr>
      <vt:lpstr>Qué vamos a hacer</vt:lpstr>
      <vt:lpstr>¿Por qué hacerlo así?</vt:lpstr>
      <vt:lpstr>Creatividad, ofimática e IA</vt:lpstr>
      <vt:lpstr>Activación de la creatividad y brainstorming</vt:lpstr>
      <vt:lpstr>Qué vamos a hacer en este bloque</vt:lpstr>
      <vt:lpstr>Presentación de PowerPoint</vt:lpstr>
      <vt:lpstr>¿Habéis visto alguna mejora?</vt:lpstr>
      <vt:lpstr>Tres conceptos que no son lo mismo</vt:lpstr>
      <vt:lpstr>Actividad: ¿qué es cada situación?</vt:lpstr>
      <vt:lpstr>Situación 1 de 6</vt:lpstr>
      <vt:lpstr>Situación 1: respuesta</vt:lpstr>
      <vt:lpstr>Situación 2 de 6</vt:lpstr>
      <vt:lpstr>Situación 2: respuesta</vt:lpstr>
      <vt:lpstr>Situación 3 de 6</vt:lpstr>
      <vt:lpstr>Situación 3: respuesta</vt:lpstr>
      <vt:lpstr>Situación 4 de 6</vt:lpstr>
      <vt:lpstr>Situación 4: respuesta</vt:lpstr>
      <vt:lpstr>Situación 5 de 6</vt:lpstr>
      <vt:lpstr>Situación 5: respuesta</vt:lpstr>
      <vt:lpstr>Situación 6 de 6</vt:lpstr>
      <vt:lpstr>Situación 6: respuesta</vt:lpstr>
      <vt:lpstr>Criterio para resolver las dudas</vt:lpstr>
      <vt:lpstr>Abrid el cuaderno de ejercicios</vt:lpstr>
      <vt:lpstr>¿Para qué se podría usar un clip?</vt:lpstr>
      <vt:lpstr>No vendemos el clip: vendemos su idea</vt:lpstr>
      <vt:lpstr>Y ahora, elegimos uno</vt:lpstr>
      <vt:lpstr>Primero abrir, después cerrar</vt:lpstr>
      <vt:lpstr>La regla de todo el curso</vt:lpstr>
      <vt:lpstr>Misma herramienta, mismo resultado</vt:lpstr>
      <vt:lpstr>Nuestro ejemplo: una peluquería de barrio</vt:lpstr>
      <vt:lpstr>Brainstorming: cuatro reglas</vt:lpstr>
      <vt:lpstr>Ejemplo: brainstorming en la peluquería</vt:lpstr>
      <vt:lpstr>Ejercicio 1: brainstorming entre todos</vt:lpstr>
      <vt:lpstr>Ejercicio 1: brainstorming entre todos</vt:lpstr>
      <vt:lpstr>Ronda con IA: el prompt</vt:lpstr>
      <vt:lpstr>Segundo prompt: combinar ideas</vt:lpstr>
      <vt:lpstr>Votad las tres ideas más originales</vt:lpstr>
      <vt:lpstr>¿Qué ha aportado la IA?</vt:lpstr>
      <vt:lpstr>Presentación de PowerPoint</vt:lpstr>
      <vt:lpstr>SCAMPER y provocación con IA</vt:lpstr>
      <vt:lpstr>Seguimos en el cuaderno</vt:lpstr>
      <vt:lpstr>Por parejas: elegid un caso</vt:lpstr>
      <vt:lpstr>SCAMPER: siete preguntas</vt:lpstr>
      <vt:lpstr>SCAMPER en la peluquería</vt:lpstr>
      <vt:lpstr>Ejercicio 2: SCAMPER en vuestro caso</vt:lpstr>
      <vt:lpstr>Ronda con IA: el prompt</vt:lpstr>
      <vt:lpstr>No os quedéis en el primer prompt</vt:lpstr>
      <vt:lpstr>Conclusiones de SCAMPER</vt:lpstr>
      <vt:lpstr>Provocación: salir de lo de siempre</vt:lpstr>
      <vt:lpstr>Cuatro tipos de provocación, en la peluquería</vt:lpstr>
      <vt:lpstr>Presentación de PowerPoint</vt:lpstr>
      <vt:lpstr>Ejercicio 3: provocación en vuestro caso</vt:lpstr>
      <vt:lpstr>Ronda con IA: el prompt</vt:lpstr>
      <vt:lpstr>Revisad lo que dice la IA</vt:lpstr>
      <vt:lpstr>Elegid vuestras tres mejores propuestas</vt:lpstr>
      <vt:lpstr>Puesta en común</vt:lpstr>
      <vt:lpstr>¿Qué falla aquí?</vt:lpstr>
      <vt:lpstr>Cuatro problemas</vt:lpstr>
      <vt:lpstr>Presentación de PowerPoint</vt:lpstr>
      <vt:lpstr>Comparar, decidir y documentar</vt:lpstr>
      <vt:lpstr>Qué vamos a hacer en este bloque</vt:lpstr>
      <vt:lpstr>La matriz de decisión</vt:lpstr>
      <vt:lpstr>Calculadlo vosotros</vt:lpstr>
      <vt:lpstr>Los resultados</vt:lpstr>
      <vt:lpstr>La fórmula en Excel o Google Sheets</vt:lpstr>
      <vt:lpstr>Abrid la matriz de decisión</vt:lpstr>
      <vt:lpstr>Ejercicio 4: elegir con criterio</vt:lpstr>
      <vt:lpstr>Paso 6: que la IA revise la matriz</vt:lpstr>
      <vt:lpstr>Paso 7: decidid</vt:lpstr>
      <vt:lpstr>Ejercicio 4: vuestras conclusiones</vt:lpstr>
      <vt:lpstr>Una propuesta en una página</vt:lpstr>
      <vt:lpstr>La IA propone, vosotros decidís</vt:lpstr>
      <vt:lpstr>Abrid el documento del proyecto</vt:lpstr>
      <vt:lpstr>Ficha exprés con IA</vt:lpstr>
      <vt:lpstr>Ficha exprés: ¿qué habéis cambiado?</vt:lpstr>
      <vt:lpstr>Lo que llevamos hecho</vt:lpstr>
      <vt:lpstr>Presentación de PowerPoint</vt:lpstr>
      <vt:lpstr>Desarrollo de la propuesta ganadora</vt:lpstr>
      <vt:lpstr>Qué vamos a hacer en este bloque</vt:lpstr>
      <vt:lpstr>Seguimos en el documento del proyecto</vt:lpstr>
      <vt:lpstr>Antes de seguir, ponedla a prueba</vt:lpstr>
      <vt:lpstr>Lo que no supisteis responder</vt:lpstr>
      <vt:lpstr>Documento del proyecto</vt:lpstr>
      <vt:lpstr>Mientras redactáis, preguntaos…</vt:lpstr>
      <vt:lpstr>¿Cómo sabremos si funciona?</vt:lpstr>
      <vt:lpstr>Primero vosotros, después la IA</vt:lpstr>
      <vt:lpstr>Nuestros dos indicadores</vt:lpstr>
      <vt:lpstr>Abrid la plantilla de la presentación</vt:lpstr>
      <vt:lpstr>Presentación en tres diapositivas</vt:lpstr>
      <vt:lpstr>Criterios para vuestras diapositivas</vt:lpstr>
      <vt:lpstr>Revisión cruzada</vt:lpstr>
      <vt:lpstr>Lo que tenéis al terminar</vt:lpstr>
      <vt:lpstr>Comunicación, pensamiento crítico y aplicación profesional</vt:lpstr>
      <vt:lpstr>Qué vamos a hacer en este bloque</vt:lpstr>
      <vt:lpstr>¿Cuál convence más?</vt:lpstr>
      <vt:lpstr>La estructura de una buena defensa</vt:lpstr>
      <vt:lpstr>Volvemos al cuaderno</vt:lpstr>
      <vt:lpstr>Ensayo: el problema en 20 segundos</vt:lpstr>
      <vt:lpstr>Presentaciones</vt:lpstr>
      <vt:lpstr>Mientras tanto, los observadores</vt:lpstr>
      <vt:lpstr>La IA como evaluadora crítica</vt:lpstr>
      <vt:lpstr>¿Qué críticas aceptáis?</vt:lpstr>
      <vt:lpstr>Lo que habéis demostrado hoy</vt:lpstr>
      <vt:lpstr>Comprobación final</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Bloque 1. Activación de la creatividad y brainstorming</dc:title>
  <dc:subject>Desarrollo de las habilidades creativas e innovadoras con herramientas ofimáticas y de inteligencia artificial</dc:subject>
  <dc:creator>PptxGenJS</dc:creator>
  <cp:lastModifiedBy>Javier Nieto</cp:lastModifiedBy>
  <cp:revision>14</cp:revision>
  <dcterms:created xsi:type="dcterms:W3CDTF">2026-10-17T13:29:48Z</dcterms:created>
  <dcterms:modified xsi:type="dcterms:W3CDTF">2026-10-21T13:10:39Z</dcterms:modified>
</cp:coreProperties>
</file>