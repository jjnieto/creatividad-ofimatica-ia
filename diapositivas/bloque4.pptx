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oque 4" id="{7bca5e5f-802c-3753-1ec0-c0587f4580a5}">
          <p14:sldIdLst>
            <p14:sldId id="256"/>
            <p14:sldId id="257"/>
          </p14:sldIdLst>
        </p14:section>
        <p14:section name="Preguntas difíciles" id="{2d91e8e8-afad-c5e7-2274-ac2cc2dd8368}">
          <p14:sldIdLst>
            <p14:sldId id="258"/>
            <p14:sldId id="259"/>
          </p14:sldIdLst>
        </p14:section>
        <p14:section name="Documento" id="{d349ee5c-bb33-0f3f-7018-d8ffe9593eea}">
          <p14:sldIdLst>
            <p14:sldId id="260"/>
            <p14:sldId id="261"/>
          </p14:sldIdLst>
        </p14:section>
        <p14:section name="Indicadores" id="{5b13284e-aed3-16d3-a498-2b8497215cca}">
          <p14:sldIdLst>
            <p14:sldId id="262"/>
            <p14:sldId id="263"/>
            <p14:sldId id="264"/>
          </p14:sldIdLst>
        </p14:section>
        <p14:section name="Presentación" id="{658f1447-2a2d-9e55-c687-f7013656feea}">
          <p14:sldIdLst>
            <p14:sldId id="265"/>
            <p14:sldId id="266"/>
          </p14:sldIdLst>
        </p14:section>
        <p14:section name="Revisión cruzada" id="{0d63c469-8267-7214-3137-617b4d539423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del bloque: convertir la propuesta ganadora de cada pareja en un proyecto defendible: bien explicado, con sus riesgos, con una forma de medir si funciona y con una presentación breve.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Continuidad: cada pareja trabaja sobre su propia propuesta ganadora del bloque 3 y su ficha exprés. Al final del bloque tendrá su matriz, su documento y su presentación, listos para defenderlos en el bloque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165–175. Antes de desarrollar el proyecto, hay que ponerlo a prueba. Las parejas se juntan de dos en dos; la pareja A explica su propuesta en un minuto y la pareja B le hace dos preguntas difíciles. Después se cambian los papeles. Recordad cuál es vuestra pareja: volveréis a juntaros con ella en la revisión cruzada del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pareja apunta las preguntas que no ha sabido responder: son lo primero que tiene que resolver el documento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175–195. Ampliar la ficha exprés hasta un máximo de dos páginas con los siete apartados. La IA puede ayudar a redactar, pero cada apartado lo revisa la pareja con el mismo criterio de la ficha exprés: qué sobra, qué falta y qué no es cierto.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de acompañamiento docente mientras las parejas redactan. Pasar por las mesas.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195–210. No hay que esperar un mes ni simular nada: las parejas solo diseñan cómo se comprobaría que la propuesta funciona si alguien decidiera probarla. Es un plan de medición, no una medición. Otros ejemplos de indicadores: tiempo de tramitación, pedidos servidos tarde o plazas sin cubrir.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prompt está en el guion para copiarlo. La IA propone; la pareja elige los dos indicadores y decide cómo medirlos.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 para que cada pareja ordene sus dos indicadores antes de pasarlos al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210–235. Tres diapositivas, cada una con una idea central. La tercera incluye los dos indicadores definidos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de la presentación. Son los mismos que se comprobarán en la revisión cruzada.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235–240. Cada pareja devuelve a la otra una mejora concreta.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Entregables del taller: matriz de decisión (bloque 3), documento del proyecto y presentación. Enlazar con el bloque 5: la defensa.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Bloque 4 · Desarrollo de la propuesta ganadora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Bloque 4 · Desarrollo de la propuesta ganadora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Desarrollo de la propuesta ganadora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75 minutos · por parejas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vamos a hacer en este bloque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8082" y="2377440"/>
            <a:ext cx="8875532" cy="0"/>
          </a:xfrm>
          <a:prstGeom prst="line">
            <a:avLst/>
          </a:prstGeom>
          <a:noFill/>
          <a:ln w="50800">
            <a:solidFill>
              <a:srgbClr val="F2F4F8"/>
            </a:solidFill>
            <a:prstDash val="solid"/>
          </a:ln>
        </p:spPr>
      </p:sp>
      <p:sp>
        <p:nvSpPr>
          <p:cNvPr id="4" name="Paso 1"/>
          <p:cNvSpPr/>
          <p:nvPr/>
        </p:nvSpPr>
        <p:spPr>
          <a:xfrm>
            <a:off x="1040862" y="1760220"/>
            <a:ext cx="1234440" cy="1234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0862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165–175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Preguntas difíciles</a:t>
            </a:r>
            <a:endParaRPr lang="en-US" sz="1700" dirty="0"/>
          </a:p>
        </p:txBody>
      </p:sp>
      <p:sp>
        <p:nvSpPr>
          <p:cNvPr id="7" name="Paso 2"/>
          <p:cNvSpPr/>
          <p:nvPr/>
        </p:nvSpPr>
        <p:spPr>
          <a:xfrm>
            <a:off x="3259745" y="1760220"/>
            <a:ext cx="1234440" cy="1234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59745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175–195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58963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Documento del proyecto</a:t>
            </a:r>
            <a:endParaRPr lang="en-US" sz="1700" dirty="0"/>
          </a:p>
        </p:txBody>
      </p:sp>
      <p:sp>
        <p:nvSpPr>
          <p:cNvPr id="10" name="Paso 3"/>
          <p:cNvSpPr/>
          <p:nvPr/>
        </p:nvSpPr>
        <p:spPr>
          <a:xfrm>
            <a:off x="5478628" y="1760220"/>
            <a:ext cx="1234440" cy="12344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78628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195–210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077846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¿Cómo sabremos si funciona?</a:t>
            </a:r>
            <a:endParaRPr lang="en-US" sz="1700" dirty="0"/>
          </a:p>
        </p:txBody>
      </p:sp>
      <p:sp>
        <p:nvSpPr>
          <p:cNvPr id="13" name="Paso 4"/>
          <p:cNvSpPr/>
          <p:nvPr/>
        </p:nvSpPr>
        <p:spPr>
          <a:xfrm>
            <a:off x="7697511" y="1760220"/>
            <a:ext cx="1234440" cy="1234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97511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210–235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296729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Presentación en tres diapositivas</a:t>
            </a:r>
            <a:endParaRPr lang="en-US" sz="1700" dirty="0"/>
          </a:p>
        </p:txBody>
      </p:sp>
      <p:sp>
        <p:nvSpPr>
          <p:cNvPr id="16" name="Paso 5"/>
          <p:cNvSpPr/>
          <p:nvPr/>
        </p:nvSpPr>
        <p:spPr>
          <a:xfrm>
            <a:off x="9916394" y="1760220"/>
            <a:ext cx="1234440" cy="1234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16394" y="17602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235–240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515612" y="3223260"/>
            <a:ext cx="20360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Revisión cruzada</a:t>
            </a:r>
            <a:endParaRPr lang="en-US" sz="1700" dirty="0"/>
          </a:p>
        </p:txBody>
      </p:sp>
      <p:sp>
        <p:nvSpPr>
          <p:cNvPr id="19" name="Tarjeta"/>
          <p:cNvSpPr/>
          <p:nvPr/>
        </p:nvSpPr>
        <p:spPr>
          <a:xfrm>
            <a:off x="548640" y="4663440"/>
            <a:ext cx="11094415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66344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Sin caso nuevo: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cada pareja sigue con su propuesta ganadora del bloque 3 y su ficha exprés.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Antes de seguir, ponedla a prueba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165–175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Juntaos con otra pareja:</a:t>
            </a:r>
            <a:endParaRPr lang="en-US" sz="1900" dirty="0"/>
          </a:p>
        </p:txBody>
      </p:sp>
      <p:sp>
        <p:nvSpPr>
          <p:cNvPr id="6" name="Tarjeta"/>
          <p:cNvSpPr/>
          <p:nvPr/>
        </p:nvSpPr>
        <p:spPr>
          <a:xfrm>
            <a:off x="548640" y="1920240"/>
            <a:ext cx="3362858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Paso 1"/>
          <p:cNvSpPr/>
          <p:nvPr/>
        </p:nvSpPr>
        <p:spPr>
          <a:xfrm>
            <a:off x="822960" y="21488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as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33537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1920240"/>
            <a:ext cx="19455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 pareja A explica su propuesta en 1 minuto, con la ficha exprés delante.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984650" y="2834640"/>
            <a:ext cx="356616" cy="0"/>
          </a:xfrm>
          <a:prstGeom prst="line">
            <a:avLst/>
          </a:prstGeom>
          <a:noFill/>
          <a:ln w="3810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1" name="Tarjeta"/>
          <p:cNvSpPr/>
          <p:nvPr/>
        </p:nvSpPr>
        <p:spPr>
          <a:xfrm>
            <a:off x="4414418" y="1920240"/>
            <a:ext cx="3362858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Paso 2"/>
          <p:cNvSpPr/>
          <p:nvPr/>
        </p:nvSpPr>
        <p:spPr>
          <a:xfrm>
            <a:off x="4688738" y="21488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as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276" y="233537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48858" y="1920240"/>
            <a:ext cx="19455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 pareja B le hace dos preguntas difíciles.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850429" y="2834640"/>
            <a:ext cx="356616" cy="0"/>
          </a:xfrm>
          <a:prstGeom prst="line">
            <a:avLst/>
          </a:prstGeom>
          <a:noFill/>
          <a:ln w="3810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6" name="Tarjeta"/>
          <p:cNvSpPr/>
          <p:nvPr/>
        </p:nvSpPr>
        <p:spPr>
          <a:xfrm>
            <a:off x="8280197" y="1920240"/>
            <a:ext cx="3362858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7" name="Paso 3"/>
          <p:cNvSpPr/>
          <p:nvPr/>
        </p:nvSpPr>
        <p:spPr>
          <a:xfrm>
            <a:off x="8554517" y="21488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as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054" y="233537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514637" y="1920240"/>
            <a:ext cx="19455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Os cambiáis los papeles.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023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Preguntas difíciles, por ejemplo:</a:t>
            </a:r>
            <a:endParaRPr lang="en-US" sz="1800" dirty="0"/>
          </a:p>
        </p:txBody>
      </p:sp>
      <p:sp>
        <p:nvSpPr>
          <p:cNvPr id="21" name="¿Cuánto cuesta?"/>
          <p:cNvSpPr/>
          <p:nvPr/>
        </p:nvSpPr>
        <p:spPr>
          <a:xfrm>
            <a:off x="548640" y="4572000"/>
            <a:ext cx="2567864" cy="868680"/>
          </a:xfrm>
          <a:prstGeom prst="roundRect">
            <a:avLst>
              <a:gd name="adj" fmla="val 49474"/>
            </a:avLst>
          </a:prstGeom>
          <a:solidFill>
            <a:schemeClr val="tx1"/>
          </a:solidFill>
          <a:ln/>
        </p:spPr>
      </p:sp>
      <p:sp>
        <p:nvSpPr>
          <p:cNvPr id="22" name="¿Cuánto cuesta?"/>
          <p:cNvSpPr/>
          <p:nvPr/>
        </p:nvSpPr>
        <p:spPr>
          <a:xfrm>
            <a:off x="685800" y="46817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3" descr="¿Cuánto cuesta?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" y="4835347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4572000"/>
            <a:ext cx="151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¿Cuánto cuesta?</a:t>
            </a:r>
            <a:endParaRPr lang="en-US" sz="1600" dirty="0"/>
          </a:p>
        </p:txBody>
      </p:sp>
      <p:sp>
        <p:nvSpPr>
          <p:cNvPr id="25" name="¿Quién se encarga?"/>
          <p:cNvSpPr/>
          <p:nvPr/>
        </p:nvSpPr>
        <p:spPr>
          <a:xfrm>
            <a:off x="3390824" y="4572000"/>
            <a:ext cx="2567864" cy="868680"/>
          </a:xfrm>
          <a:prstGeom prst="roundRect">
            <a:avLst>
              <a:gd name="adj" fmla="val 49474"/>
            </a:avLst>
          </a:prstGeom>
          <a:solidFill>
            <a:schemeClr val="tx1"/>
          </a:solidFill>
          <a:ln/>
        </p:spPr>
      </p:sp>
      <p:sp>
        <p:nvSpPr>
          <p:cNvPr id="26" name="¿Quién se encarga?"/>
          <p:cNvSpPr/>
          <p:nvPr/>
        </p:nvSpPr>
        <p:spPr>
          <a:xfrm>
            <a:off x="3527984" y="46817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mage 4" descr="¿Quién se encarga?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603" y="4835347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305224" y="4572000"/>
            <a:ext cx="151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¿Quién se encarga?</a:t>
            </a:r>
            <a:endParaRPr lang="en-US" sz="1600" dirty="0"/>
          </a:p>
        </p:txBody>
      </p:sp>
      <p:sp>
        <p:nvSpPr>
          <p:cNvPr id="29" name="¿Y si alguien no lo usa?"/>
          <p:cNvSpPr/>
          <p:nvPr/>
        </p:nvSpPr>
        <p:spPr>
          <a:xfrm>
            <a:off x="6233008" y="4572000"/>
            <a:ext cx="2567864" cy="868680"/>
          </a:xfrm>
          <a:prstGeom prst="roundRect">
            <a:avLst>
              <a:gd name="adj" fmla="val 49474"/>
            </a:avLst>
          </a:prstGeom>
          <a:solidFill>
            <a:schemeClr val="tx1"/>
          </a:solidFill>
          <a:ln/>
        </p:spPr>
      </p:sp>
      <p:sp>
        <p:nvSpPr>
          <p:cNvPr id="30" name="¿Y si alguien no lo usa?"/>
          <p:cNvSpPr/>
          <p:nvPr/>
        </p:nvSpPr>
        <p:spPr>
          <a:xfrm>
            <a:off x="6370168" y="46817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5" descr="¿Y si alguien no lo usa?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787" y="4835347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47408" y="4572000"/>
            <a:ext cx="151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¿Y si alguien no lo usa?</a:t>
            </a:r>
            <a:endParaRPr lang="en-US" sz="1600" dirty="0"/>
          </a:p>
        </p:txBody>
      </p:sp>
      <p:sp>
        <p:nvSpPr>
          <p:cNvPr id="33" name="¿Cómo sabremos si funciona?"/>
          <p:cNvSpPr/>
          <p:nvPr/>
        </p:nvSpPr>
        <p:spPr>
          <a:xfrm>
            <a:off x="9075191" y="4572000"/>
            <a:ext cx="2567864" cy="868680"/>
          </a:xfrm>
          <a:prstGeom prst="roundRect">
            <a:avLst>
              <a:gd name="adj" fmla="val 49474"/>
            </a:avLst>
          </a:prstGeom>
          <a:solidFill>
            <a:schemeClr val="tx1"/>
          </a:solidFill>
          <a:ln/>
        </p:spPr>
      </p:sp>
      <p:sp>
        <p:nvSpPr>
          <p:cNvPr id="34" name="¿Cómo sabremos si funciona?"/>
          <p:cNvSpPr/>
          <p:nvPr/>
        </p:nvSpPr>
        <p:spPr>
          <a:xfrm>
            <a:off x="9212351" y="468172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5" name="Image 6" descr="¿Cómo sabremos si funciona?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5971" y="4835347"/>
            <a:ext cx="332842" cy="33284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989591" y="4572000"/>
            <a:ext cx="1516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¿Cómo sabremos si funciona?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no supisteis responder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165–175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Apuntad las preguntas que no habéis sabido contestar:</a:t>
            </a:r>
            <a:endParaRPr lang="en-US" sz="1900" dirty="0"/>
          </a:p>
        </p:txBody>
      </p:sp>
      <p:sp>
        <p:nvSpPr>
          <p:cNvPr id="6" name="Pregunta 1"/>
          <p:cNvSpPr/>
          <p:nvPr/>
        </p:nvSpPr>
        <p:spPr>
          <a:xfrm>
            <a:off x="548640" y="22402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Hueco"/>
          <p:cNvSpPr/>
          <p:nvPr/>
        </p:nvSpPr>
        <p:spPr>
          <a:xfrm>
            <a:off x="1417320" y="1965960"/>
            <a:ext cx="1022573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9" name="Pregunta 2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Hueco"/>
          <p:cNvSpPr/>
          <p:nvPr/>
        </p:nvSpPr>
        <p:spPr>
          <a:xfrm>
            <a:off x="1417320" y="3291840"/>
            <a:ext cx="1022573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2" name="Documento"/>
          <p:cNvSpPr/>
          <p:nvPr/>
        </p:nvSpPr>
        <p:spPr>
          <a:xfrm>
            <a:off x="548640" y="48006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0" descr="Docu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4987138"/>
            <a:ext cx="404165" cy="40416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00200" y="4800600"/>
            <a:ext cx="10042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Es lo primero que tiene que resolver vuestro documento.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Documento del proyecto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175–195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En Word o Google Docs, ampliad la ficha exprés hasta un máximo de dos páginas:</a:t>
            </a:r>
            <a:endParaRPr lang="en-US" sz="1900" dirty="0"/>
          </a:p>
        </p:txBody>
      </p:sp>
      <p:sp>
        <p:nvSpPr>
          <p:cNvPr id="6" name="Tarjeta"/>
          <p:cNvSpPr/>
          <p:nvPr/>
        </p:nvSpPr>
        <p:spPr>
          <a:xfrm>
            <a:off x="548640" y="1965960"/>
            <a:ext cx="5410048" cy="585216"/>
          </a:xfrm>
          <a:prstGeom prst="roundRect">
            <a:avLst>
              <a:gd name="adj" fmla="val 23438"/>
            </a:avLst>
          </a:prstGeom>
          <a:solidFill>
            <a:schemeClr val="bg2"/>
          </a:solidFill>
          <a:ln/>
        </p:spPr>
      </p:sp>
      <p:sp>
        <p:nvSpPr>
          <p:cNvPr id="7" name="Apartado 1"/>
          <p:cNvSpPr/>
          <p:nvPr/>
        </p:nvSpPr>
        <p:spPr>
          <a:xfrm>
            <a:off x="685800" y="20574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965960"/>
            <a:ext cx="449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Nombre de la propuesta</a:t>
            </a:r>
            <a:endParaRPr lang="en-US" sz="1800" dirty="0"/>
          </a:p>
        </p:txBody>
      </p:sp>
      <p:sp>
        <p:nvSpPr>
          <p:cNvPr id="10" name="Tarjeta"/>
          <p:cNvSpPr/>
          <p:nvPr/>
        </p:nvSpPr>
        <p:spPr>
          <a:xfrm>
            <a:off x="548640" y="2679192"/>
            <a:ext cx="5410048" cy="585216"/>
          </a:xfrm>
          <a:prstGeom prst="roundRect">
            <a:avLst>
              <a:gd name="adj" fmla="val 23438"/>
            </a:avLst>
          </a:prstGeom>
          <a:solidFill>
            <a:schemeClr val="bg2"/>
          </a:solidFill>
          <a:ln/>
        </p:spPr>
      </p:sp>
      <p:sp>
        <p:nvSpPr>
          <p:cNvPr id="11" name="Apartado 2"/>
          <p:cNvSpPr/>
          <p:nvPr/>
        </p:nvSpPr>
        <p:spPr>
          <a:xfrm>
            <a:off x="685800" y="27706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679192"/>
            <a:ext cx="449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Problema concreto</a:t>
            </a:r>
            <a:endParaRPr lang="en-US" sz="1800" dirty="0"/>
          </a:p>
        </p:txBody>
      </p:sp>
      <p:sp>
        <p:nvSpPr>
          <p:cNvPr id="14" name="Tarjeta"/>
          <p:cNvSpPr/>
          <p:nvPr/>
        </p:nvSpPr>
        <p:spPr>
          <a:xfrm>
            <a:off x="548640" y="3392424"/>
            <a:ext cx="5410048" cy="585216"/>
          </a:xfrm>
          <a:prstGeom prst="roundRect">
            <a:avLst>
              <a:gd name="adj" fmla="val 23438"/>
            </a:avLst>
          </a:prstGeom>
          <a:solidFill>
            <a:schemeClr val="bg2"/>
          </a:solidFill>
          <a:ln/>
        </p:spPr>
      </p:sp>
      <p:sp>
        <p:nvSpPr>
          <p:cNvPr id="15" name="Apartado 3"/>
          <p:cNvSpPr/>
          <p:nvPr/>
        </p:nvSpPr>
        <p:spPr>
          <a:xfrm>
            <a:off x="685800" y="34838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92424"/>
            <a:ext cx="449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Funcionamiento de la solución</a:t>
            </a:r>
            <a:endParaRPr lang="en-US" sz="1800" dirty="0"/>
          </a:p>
        </p:txBody>
      </p:sp>
      <p:sp>
        <p:nvSpPr>
          <p:cNvPr id="18" name="Tarjeta"/>
          <p:cNvSpPr/>
          <p:nvPr/>
        </p:nvSpPr>
        <p:spPr>
          <a:xfrm>
            <a:off x="548640" y="4105656"/>
            <a:ext cx="5410048" cy="585216"/>
          </a:xfrm>
          <a:prstGeom prst="roundRect">
            <a:avLst>
              <a:gd name="adj" fmla="val 23438"/>
            </a:avLst>
          </a:prstGeom>
          <a:solidFill>
            <a:schemeClr val="bg2"/>
          </a:solidFill>
          <a:ln/>
        </p:spPr>
      </p:sp>
      <p:sp>
        <p:nvSpPr>
          <p:cNvPr id="19" name="Apartado 4"/>
          <p:cNvSpPr/>
          <p:nvPr/>
        </p:nvSpPr>
        <p:spPr>
          <a:xfrm>
            <a:off x="685800" y="41970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105656"/>
            <a:ext cx="449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Herramientas ofimáticas y de IA</a:t>
            </a:r>
            <a:endParaRPr lang="en-US" sz="1800" dirty="0"/>
          </a:p>
        </p:txBody>
      </p:sp>
      <p:sp>
        <p:nvSpPr>
          <p:cNvPr id="22" name="Tarjeta"/>
          <p:cNvSpPr/>
          <p:nvPr/>
        </p:nvSpPr>
        <p:spPr>
          <a:xfrm>
            <a:off x="6233008" y="1965960"/>
            <a:ext cx="5410048" cy="585216"/>
          </a:xfrm>
          <a:prstGeom prst="roundRect">
            <a:avLst>
              <a:gd name="adj" fmla="val 23438"/>
            </a:avLst>
          </a:prstGeom>
          <a:solidFill>
            <a:schemeClr val="bg2"/>
          </a:solidFill>
          <a:ln/>
        </p:spPr>
      </p:sp>
      <p:sp>
        <p:nvSpPr>
          <p:cNvPr id="23" name="Apartado 5"/>
          <p:cNvSpPr/>
          <p:nvPr/>
        </p:nvSpPr>
        <p:spPr>
          <a:xfrm>
            <a:off x="6370168" y="20574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7016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64528" y="1965960"/>
            <a:ext cx="449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Beneficios esperados</a:t>
            </a:r>
            <a:endParaRPr lang="en-US" sz="1800" dirty="0"/>
          </a:p>
        </p:txBody>
      </p:sp>
      <p:sp>
        <p:nvSpPr>
          <p:cNvPr id="26" name="Tarjeta"/>
          <p:cNvSpPr/>
          <p:nvPr/>
        </p:nvSpPr>
        <p:spPr>
          <a:xfrm>
            <a:off x="6233008" y="2679192"/>
            <a:ext cx="5410048" cy="585216"/>
          </a:xfrm>
          <a:prstGeom prst="roundRect">
            <a:avLst>
              <a:gd name="adj" fmla="val 23438"/>
            </a:avLst>
          </a:prstGeom>
          <a:solidFill>
            <a:schemeClr val="bg2"/>
          </a:solidFill>
          <a:ln/>
        </p:spPr>
      </p:sp>
      <p:sp>
        <p:nvSpPr>
          <p:cNvPr id="27" name="Apartado 6"/>
          <p:cNvSpPr/>
          <p:nvPr/>
        </p:nvSpPr>
        <p:spPr>
          <a:xfrm>
            <a:off x="6370168" y="27706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70168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64528" y="2679192"/>
            <a:ext cx="449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Riesgos y medidas preventivas</a:t>
            </a:r>
            <a:endParaRPr lang="en-US" sz="1800" dirty="0"/>
          </a:p>
        </p:txBody>
      </p:sp>
      <p:sp>
        <p:nvSpPr>
          <p:cNvPr id="30" name="Tarjeta"/>
          <p:cNvSpPr/>
          <p:nvPr/>
        </p:nvSpPr>
        <p:spPr>
          <a:xfrm>
            <a:off x="6233008" y="3392424"/>
            <a:ext cx="5410048" cy="585216"/>
          </a:xfrm>
          <a:prstGeom prst="roundRect">
            <a:avLst>
              <a:gd name="adj" fmla="val 23438"/>
            </a:avLst>
          </a:prstGeom>
          <a:solidFill>
            <a:schemeClr val="bg2"/>
          </a:solidFill>
          <a:ln/>
        </p:spPr>
      </p:sp>
      <p:sp>
        <p:nvSpPr>
          <p:cNvPr id="31" name="Apartado 7"/>
          <p:cNvSpPr/>
          <p:nvPr/>
        </p:nvSpPr>
        <p:spPr>
          <a:xfrm>
            <a:off x="6370168" y="34838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70168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64528" y="3392424"/>
            <a:ext cx="449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Tres pasos para ponerla en práctica</a:t>
            </a:r>
            <a:endParaRPr lang="en-US" sz="1800" dirty="0"/>
          </a:p>
        </p:txBody>
      </p:sp>
      <p:sp>
        <p:nvSpPr>
          <p:cNvPr id="34" name="Revisión"/>
          <p:cNvSpPr/>
          <p:nvPr/>
        </p:nvSpPr>
        <p:spPr>
          <a:xfrm>
            <a:off x="6233008" y="4105656"/>
            <a:ext cx="5410048" cy="585216"/>
          </a:xfrm>
          <a:prstGeom prst="roundRect">
            <a:avLst>
              <a:gd name="adj" fmla="val 23438"/>
            </a:avLst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61608" y="4105656"/>
            <a:ext cx="495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IA ayuda a redactar; vosotros revisáis:</a:t>
            </a:r>
            <a:endParaRPr lang="en-US" sz="1600" dirty="0"/>
          </a:p>
        </p:txBody>
      </p:sp>
      <p:sp>
        <p:nvSpPr>
          <p:cNvPr id="36" name="¿Qué sobra?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7" name="Image 0" descr="¿Qué sobra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5137099"/>
            <a:ext cx="332842" cy="33284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371600" y="4983480"/>
            <a:ext cx="2600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¿Qué sobra?</a:t>
            </a:r>
            <a:endParaRPr lang="en-US" sz="1900" dirty="0"/>
          </a:p>
        </p:txBody>
      </p:sp>
      <p:sp>
        <p:nvSpPr>
          <p:cNvPr id="39" name="¿Qué falta?"/>
          <p:cNvSpPr/>
          <p:nvPr/>
        </p:nvSpPr>
        <p:spPr>
          <a:xfrm>
            <a:off x="4338218" y="4983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mage 1" descr="¿Qué falta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838" y="5137099"/>
            <a:ext cx="332842" cy="332842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5161178" y="4983480"/>
            <a:ext cx="2600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¿Qué falta?</a:t>
            </a:r>
            <a:endParaRPr lang="en-US" sz="1900" dirty="0"/>
          </a:p>
        </p:txBody>
      </p:sp>
      <p:sp>
        <p:nvSpPr>
          <p:cNvPr id="42" name="¿Qué no es cierto?"/>
          <p:cNvSpPr/>
          <p:nvPr/>
        </p:nvSpPr>
        <p:spPr>
          <a:xfrm>
            <a:off x="8127797" y="4983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3" name="Image 2" descr="¿Qué no es cierto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416" y="5137099"/>
            <a:ext cx="332842" cy="332842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8950757" y="4983480"/>
            <a:ext cx="26008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¿Qué no es cierto?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Mientras redactáis, preguntaos…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175–195 · Parejas</a:t>
            </a:r>
            <a:endParaRPr lang="en-US" sz="1400" dirty="0"/>
          </a:p>
        </p:txBody>
      </p:sp>
      <p:sp>
        <p:nvSpPr>
          <p:cNvPr id="5" name="Tarjeta"/>
          <p:cNvSpPr/>
          <p:nvPr/>
        </p:nvSpPr>
        <p:spPr>
          <a:xfrm>
            <a:off x="548640" y="1554480"/>
            <a:ext cx="3454298" cy="374904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6" name="Pregunta"/>
          <p:cNvSpPr/>
          <p:nvPr/>
        </p:nvSpPr>
        <p:spPr>
          <a:xfrm>
            <a:off x="1681429" y="192024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gu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722" y="2205533"/>
            <a:ext cx="618134" cy="6181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383280"/>
            <a:ext cx="28142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¿Habéis respondido a las preguntas que no supisteis contestar en el intercambio?</a:t>
            </a:r>
            <a:endParaRPr lang="en-US" sz="2100" dirty="0"/>
          </a:p>
        </p:txBody>
      </p:sp>
      <p:sp>
        <p:nvSpPr>
          <p:cNvPr id="9" name="Tarjeta"/>
          <p:cNvSpPr/>
          <p:nvPr/>
        </p:nvSpPr>
        <p:spPr>
          <a:xfrm>
            <a:off x="4368698" y="1554480"/>
            <a:ext cx="3454298" cy="374904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10" name="Pregunta"/>
          <p:cNvSpPr/>
          <p:nvPr/>
        </p:nvSpPr>
        <p:spPr>
          <a:xfrm>
            <a:off x="5501488" y="192024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Pregu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80" y="2205533"/>
            <a:ext cx="618134" cy="6181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8738" y="3383280"/>
            <a:ext cx="28142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¿Qué actividades requieren supervisión humana?</a:t>
            </a:r>
            <a:endParaRPr lang="en-US" sz="2100" dirty="0"/>
          </a:p>
        </p:txBody>
      </p:sp>
      <p:sp>
        <p:nvSpPr>
          <p:cNvPr id="13" name="Tarjeta"/>
          <p:cNvSpPr/>
          <p:nvPr/>
        </p:nvSpPr>
        <p:spPr>
          <a:xfrm>
            <a:off x="8188757" y="1554480"/>
            <a:ext cx="3454298" cy="3749040"/>
          </a:xfrm>
          <a:prstGeom prst="roundRect">
            <a:avLst>
              <a:gd name="adj" fmla="val 3971"/>
            </a:avLst>
          </a:prstGeom>
          <a:solidFill>
            <a:schemeClr val="bg2"/>
          </a:solidFill>
          <a:ln/>
        </p:spPr>
      </p:sp>
      <p:sp>
        <p:nvSpPr>
          <p:cNvPr id="14" name="Pregunta"/>
          <p:cNvSpPr/>
          <p:nvPr/>
        </p:nvSpPr>
        <p:spPr>
          <a:xfrm>
            <a:off x="9321546" y="1920240"/>
            <a:ext cx="1188720" cy="11887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gun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839" y="2205533"/>
            <a:ext cx="618134" cy="6181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8797" y="3383280"/>
            <a:ext cx="28142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¿Qué datos no deberíamos introducir en una IA pública?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¿Cómo sabremos si funciona?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195–210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Dos indicadores medibles, y cómo se recogerían los datos antes y después de una prueba de un mes. Por ejemplo:</a:t>
            </a:r>
            <a:endParaRPr lang="en-US" sz="1900" dirty="0"/>
          </a:p>
        </p:txBody>
      </p:sp>
      <p:sp>
        <p:nvSpPr>
          <p:cNvPr id="6" name="Tarjeta"/>
          <p:cNvSpPr/>
          <p:nvPr/>
        </p:nvSpPr>
        <p:spPr>
          <a:xfrm>
            <a:off x="548640" y="2103120"/>
            <a:ext cx="2464994" cy="2468880"/>
          </a:xfrm>
          <a:prstGeom prst="roundRect">
            <a:avLst>
              <a:gd name="adj" fmla="val 5564"/>
            </a:avLst>
          </a:prstGeom>
          <a:solidFill>
            <a:schemeClr val="bg2"/>
          </a:solidFill>
          <a:ln/>
        </p:spPr>
      </p:sp>
      <p:sp>
        <p:nvSpPr>
          <p:cNvPr id="7" name="Qué medimos"/>
          <p:cNvSpPr/>
          <p:nvPr/>
        </p:nvSpPr>
        <p:spPr>
          <a:xfrm>
            <a:off x="822960" y="23317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Qué medim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51825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200400"/>
            <a:ext cx="191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Qué medimos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19163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Consultas que se quedan sin respuesta cada semana.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68498" y="3337560"/>
            <a:ext cx="301752" cy="0"/>
          </a:xfrm>
          <a:prstGeom prst="line">
            <a:avLst/>
          </a:prstGeom>
          <a:noFill/>
          <a:ln w="3810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2" name="Tarjeta"/>
          <p:cNvSpPr/>
          <p:nvPr/>
        </p:nvSpPr>
        <p:spPr>
          <a:xfrm>
            <a:off x="3425114" y="2103120"/>
            <a:ext cx="2464994" cy="2468880"/>
          </a:xfrm>
          <a:prstGeom prst="roundRect">
            <a:avLst>
              <a:gd name="adj" fmla="val 5564"/>
            </a:avLst>
          </a:prstGeom>
          <a:solidFill>
            <a:schemeClr val="bg2"/>
          </a:solidFill>
          <a:ln/>
        </p:spPr>
      </p:sp>
      <p:sp>
        <p:nvSpPr>
          <p:cNvPr id="13" name="Antes"/>
          <p:cNvSpPr/>
          <p:nvPr/>
        </p:nvSpPr>
        <p:spPr>
          <a:xfrm>
            <a:off x="3699434" y="23317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An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971" y="251825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99434" y="3200400"/>
            <a:ext cx="191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Antes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699434" y="3657600"/>
            <a:ext cx="19163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Contarlas durante una semana, antes de empezar la prueba.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944972" y="3337560"/>
            <a:ext cx="301752" cy="0"/>
          </a:xfrm>
          <a:prstGeom prst="line">
            <a:avLst/>
          </a:prstGeom>
          <a:noFill/>
          <a:ln w="3810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8" name="Tarjeta"/>
          <p:cNvSpPr/>
          <p:nvPr/>
        </p:nvSpPr>
        <p:spPr>
          <a:xfrm>
            <a:off x="6301588" y="2103120"/>
            <a:ext cx="2464994" cy="2468880"/>
          </a:xfrm>
          <a:prstGeom prst="roundRect">
            <a:avLst>
              <a:gd name="adj" fmla="val 5564"/>
            </a:avLst>
          </a:prstGeom>
          <a:solidFill>
            <a:schemeClr val="bg2"/>
          </a:solidFill>
          <a:ln/>
        </p:spPr>
      </p:sp>
      <p:sp>
        <p:nvSpPr>
          <p:cNvPr id="19" name="Durante un mes"/>
          <p:cNvSpPr/>
          <p:nvPr/>
        </p:nvSpPr>
        <p:spPr>
          <a:xfrm>
            <a:off x="6575908" y="23317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Durante un m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445" y="2518258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75908" y="3200400"/>
            <a:ext cx="191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Durante un mes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575908" y="3657600"/>
            <a:ext cx="19163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prueba la propuesta.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821445" y="3337560"/>
            <a:ext cx="301752" cy="0"/>
          </a:xfrm>
          <a:prstGeom prst="line">
            <a:avLst/>
          </a:prstGeom>
          <a:noFill/>
          <a:ln w="3810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24" name="Tarjeta"/>
          <p:cNvSpPr/>
          <p:nvPr/>
        </p:nvSpPr>
        <p:spPr>
          <a:xfrm>
            <a:off x="9178061" y="2103120"/>
            <a:ext cx="2464994" cy="2468880"/>
          </a:xfrm>
          <a:prstGeom prst="roundRect">
            <a:avLst>
              <a:gd name="adj" fmla="val 5564"/>
            </a:avLst>
          </a:prstGeom>
          <a:solidFill>
            <a:schemeClr val="bg2"/>
          </a:solidFill>
          <a:ln/>
        </p:spPr>
      </p:sp>
      <p:sp>
        <p:nvSpPr>
          <p:cNvPr id="25" name="Después"/>
          <p:cNvSpPr/>
          <p:nvPr/>
        </p:nvSpPr>
        <p:spPr>
          <a:xfrm>
            <a:off x="9452381" y="23317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3" descr="Despué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919" y="2518258"/>
            <a:ext cx="404165" cy="40416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452381" y="3200400"/>
            <a:ext cx="1916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Después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9452381" y="3657600"/>
            <a:ext cx="19163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Volver a contarlas al final y comparar.</a:t>
            </a:r>
            <a:endParaRPr lang="en-US" sz="1600" dirty="0"/>
          </a:p>
        </p:txBody>
      </p:sp>
      <p:sp>
        <p:nvSpPr>
          <p:cNvPr id="29" name="Tarjeta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0" name="Sin inventar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4" descr="Sin invent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93792"/>
            <a:ext cx="356616" cy="35661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737360" y="48920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inventamos resultados: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explicamos cómo se mediría, no lo que se conseguirá.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Primero vosotros, después la IA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977579" y="548640"/>
            <a:ext cx="2665476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77579" y="548640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Min. 195–210 · Con 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Pensad vuestros indicadores. Después, podéis pedir ideas a la IA:</a:t>
            </a:r>
            <a:endParaRPr lang="en-US" sz="1900" dirty="0"/>
          </a:p>
        </p:txBody>
      </p:sp>
      <p:sp>
        <p:nvSpPr>
          <p:cNvPr id="6" name="Prompt"/>
          <p:cNvSpPr/>
          <p:nvPr/>
        </p:nvSpPr>
        <p:spPr>
          <a:xfrm>
            <a:off x="548640" y="1965960"/>
            <a:ext cx="11094415" cy="1965960"/>
          </a:xfrm>
          <a:prstGeom prst="roundRect">
            <a:avLst>
              <a:gd name="adj" fmla="val 5581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105457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 es nuestra propuesta: </a:t>
            </a:r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 sin datos personales</a:t>
            </a:r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Propón cinco indicadores medibles para comprobar si funciona durante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prueba de un mes. Para cada uno, explica cómo medirlo antes y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 de la prueba con herramientas sencillas. No inventes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 ni cifras de mejora.</a:t>
            </a:r>
            <a:endParaRPr lang="en-US" sz="1800" dirty="0"/>
          </a:p>
        </p:txBody>
      </p:sp>
      <p:sp>
        <p:nvSpPr>
          <p:cNvPr id="8" name="Tarjeta"/>
          <p:cNvSpPr/>
          <p:nvPr/>
        </p:nvSpPr>
        <p:spPr>
          <a:xfrm>
            <a:off x="548640" y="4251960"/>
            <a:ext cx="11094415" cy="13716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Elegir"/>
          <p:cNvSpPr/>
          <p:nvPr/>
        </p:nvSpPr>
        <p:spPr>
          <a:xfrm>
            <a:off x="868680" y="45262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Eleg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4723790"/>
            <a:ext cx="427939" cy="42793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65960" y="4251960"/>
            <a:ext cx="9402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Elegid los dos indicadores que mejor demuestren si vuestra propuesta resuelve el problema, y añadidlos al documento.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Nuestros dos indicadores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195–210 · Parejas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2926080"/>
                <a:gridCol w="2286000"/>
                <a:gridCol w="2316175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Qué medimos</a:t>
                      </a: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Cómo lo medimos</a:t>
                      </a: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Antes de la prueba</a:t>
                      </a: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Después de la prueba</a:t>
                      </a: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En las columnas «Antes» y «Después» va cuándo y cómo se recogerían los datos, no los resultados.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Presentación en tres diapositivas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210–235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En PowerPoint o Google Slides:</a:t>
            </a:r>
            <a:endParaRPr lang="en-US" sz="1900" dirty="0"/>
          </a:p>
        </p:txBody>
      </p:sp>
      <p:sp>
        <p:nvSpPr>
          <p:cNvPr id="6" name="Diapositiva 1"/>
          <p:cNvSpPr/>
          <p:nvPr/>
        </p:nvSpPr>
        <p:spPr>
          <a:xfrm>
            <a:off x="548640" y="1920240"/>
            <a:ext cx="3393338" cy="1908753"/>
          </a:xfrm>
          <a:prstGeom prst="rect">
            <a:avLst/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8A94A6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2844698" cy="190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El problema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66153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Situación y por qué importa.</a:t>
            </a:r>
            <a:endParaRPr lang="en-US" sz="1700" dirty="0"/>
          </a:p>
        </p:txBody>
      </p:sp>
      <p:sp>
        <p:nvSpPr>
          <p:cNvPr id="9" name="Diapositiva 2"/>
          <p:cNvSpPr/>
          <p:nvPr/>
        </p:nvSpPr>
        <p:spPr>
          <a:xfrm>
            <a:off x="4399178" y="1920240"/>
            <a:ext cx="3393338" cy="1908753"/>
          </a:xfrm>
          <a:prstGeom prst="rect">
            <a:avLst/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8A94A6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73498" y="1920240"/>
            <a:ext cx="2844698" cy="190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La solución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3966153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Funcionamiento y herramientas.</a:t>
            </a:r>
            <a:endParaRPr lang="en-US" sz="1700" dirty="0"/>
          </a:p>
        </p:txBody>
      </p:sp>
      <p:sp>
        <p:nvSpPr>
          <p:cNvPr id="12" name="Diapositiva 3"/>
          <p:cNvSpPr/>
          <p:nvPr/>
        </p:nvSpPr>
        <p:spPr>
          <a:xfrm>
            <a:off x="8249717" y="1920240"/>
            <a:ext cx="3393338" cy="1908753"/>
          </a:xfrm>
          <a:prstGeom prst="rect">
            <a:avLst/>
          </a:prstGeom>
          <a:solidFill>
            <a:schemeClr val="tx1"/>
          </a:solidFill>
          <a:ln/>
          <a:effectLst>
            <a:outerShdw sx="100000" sy="100000" kx="0" ky="0" algn="bl" rotWithShape="0" blurRad="101600" dist="38100" dir="5400000">
              <a:srgbClr val="8A94A6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24037" y="1920240"/>
            <a:ext cx="2844698" cy="190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Los beneficios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49717" y="3966153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Resultados esperados, indicadores y principales precauciones.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Criterios para vuestras diapositivas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210–235 · Parejas</a:t>
            </a:r>
            <a:endParaRPr lang="en-US" sz="1400" dirty="0"/>
          </a:p>
        </p:txBody>
      </p:sp>
      <p:sp>
        <p:nvSpPr>
          <p:cNvPr id="5" name="Una idea central por diapositiva.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Una idea central por diapositiv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33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08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Una idea central por diapositiva.</a:t>
            </a:r>
            <a:endParaRPr lang="en-US" sz="2200" dirty="0"/>
          </a:p>
        </p:txBody>
      </p:sp>
      <p:sp>
        <p:nvSpPr>
          <p:cNvPr id="8" name="Poco texto."/>
          <p:cNvSpPr/>
          <p:nvPr/>
        </p:nvSpPr>
        <p:spPr>
          <a:xfrm>
            <a:off x="548640" y="23774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Poco texto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4203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3774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Poco texto.</a:t>
            </a:r>
            <a:endParaRPr lang="en-US" sz="2200" dirty="0"/>
          </a:p>
        </p:txBody>
      </p:sp>
      <p:sp>
        <p:nvSpPr>
          <p:cNvPr id="11" name="Títulos claros."/>
          <p:cNvSpPr/>
          <p:nvPr/>
        </p:nvSpPr>
        <p:spPr>
          <a:xfrm>
            <a:off x="548640" y="32461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Títulos claros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1071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246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Títulos claros.</a:t>
            </a:r>
            <a:endParaRPr lang="en-US" sz="2200" dirty="0"/>
          </a:p>
        </p:txBody>
      </p:sp>
      <p:sp>
        <p:nvSpPr>
          <p:cNvPr id="14" name="Gráficos simples."/>
          <p:cNvSpPr/>
          <p:nvPr/>
        </p:nvSpPr>
        <p:spPr>
          <a:xfrm>
            <a:off x="548640" y="4114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3" descr="Gráficos simples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279392"/>
            <a:ext cx="356616" cy="3566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4114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Gráficos simples.</a:t>
            </a:r>
            <a:endParaRPr lang="en-US" sz="2200" dirty="0"/>
          </a:p>
        </p:txBody>
      </p:sp>
      <p:sp>
        <p:nvSpPr>
          <p:cNvPr id="17" name="Ningún resultado sin justificar."/>
          <p:cNvSpPr/>
          <p:nvPr/>
        </p:nvSpPr>
        <p:spPr>
          <a:xfrm>
            <a:off x="548640" y="49834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4" descr="Ningún resultado sin justificar.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148072"/>
            <a:ext cx="356616" cy="3566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4983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Ningún resultado sin justificar.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Revisión cruzada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872423" y="548640"/>
            <a:ext cx="277063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72423" y="5486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235–240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Intercambiad la presentación con la pareja del principio del bloque y comprobad:</a:t>
            </a:r>
            <a:endParaRPr lang="en-US" sz="1900" dirty="0"/>
          </a:p>
        </p:txBody>
      </p:sp>
      <p:sp>
        <p:nvSpPr>
          <p:cNvPr id="6" name="Tarjeta"/>
          <p:cNvSpPr/>
          <p:nvPr/>
        </p:nvSpPr>
        <p:spPr>
          <a:xfrm>
            <a:off x="548640" y="1965960"/>
            <a:ext cx="3454298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7" name="¿Una idea por diapositiva?"/>
          <p:cNvSpPr/>
          <p:nvPr/>
        </p:nvSpPr>
        <p:spPr>
          <a:xfrm>
            <a:off x="822960" y="2331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¿Una idea por diapositiva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50728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1965960"/>
            <a:ext cx="2082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¿Una idea por diapositiva?</a:t>
            </a:r>
            <a:endParaRPr lang="en-US" sz="2000" dirty="0"/>
          </a:p>
        </p:txBody>
      </p:sp>
      <p:sp>
        <p:nvSpPr>
          <p:cNvPr id="10" name="Tarjeta"/>
          <p:cNvSpPr/>
          <p:nvPr/>
        </p:nvSpPr>
        <p:spPr>
          <a:xfrm>
            <a:off x="4368698" y="1965960"/>
            <a:ext cx="3454298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1" name="¿Poco texto?"/>
          <p:cNvSpPr/>
          <p:nvPr/>
        </p:nvSpPr>
        <p:spPr>
          <a:xfrm>
            <a:off x="4643018" y="2331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¿Poco texto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83" y="250728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57418" y="1965960"/>
            <a:ext cx="2082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¿Poco texto?</a:t>
            </a:r>
            <a:endParaRPr lang="en-US" sz="2000" dirty="0"/>
          </a:p>
        </p:txBody>
      </p:sp>
      <p:sp>
        <p:nvSpPr>
          <p:cNvPr id="14" name="Tarjeta"/>
          <p:cNvSpPr/>
          <p:nvPr/>
        </p:nvSpPr>
        <p:spPr>
          <a:xfrm>
            <a:off x="8188757" y="1965960"/>
            <a:ext cx="3454298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5" name="¿Alguna cifra sin justificar?"/>
          <p:cNvSpPr/>
          <p:nvPr/>
        </p:nvSpPr>
        <p:spPr>
          <a:xfrm>
            <a:off x="8463077" y="2331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¿Alguna cifra sin justificar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642" y="25072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77477" y="1965960"/>
            <a:ext cx="20826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¿Alguna cifra sin justificar?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3749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Una mejora concreta para la otra pareja:</a:t>
            </a:r>
            <a:endParaRPr lang="en-US" sz="1900" dirty="0"/>
          </a:p>
        </p:txBody>
      </p:sp>
      <p:sp>
        <p:nvSpPr>
          <p:cNvPr id="19" name="Hueco"/>
          <p:cNvSpPr/>
          <p:nvPr/>
        </p:nvSpPr>
        <p:spPr>
          <a:xfrm>
            <a:off x="548640" y="4297680"/>
            <a:ext cx="11094415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tenéis al terminar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554480"/>
            <a:ext cx="345429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Matriz de decisión"/>
          <p:cNvSpPr/>
          <p:nvPr/>
        </p:nvSpPr>
        <p:spPr>
          <a:xfrm>
            <a:off x="1589989" y="192024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Matriz de deci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173" y="224942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2044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Matriz de decisión</a:t>
            </a:r>
            <a:endParaRPr lang="en-US" sz="24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Bloque 3</a:t>
            </a:r>
            <a:endParaRPr lang="en-US" sz="2400" dirty="0"/>
          </a:p>
        </p:txBody>
      </p:sp>
      <p:sp>
        <p:nvSpPr>
          <p:cNvPr id="7" name="Tarjeta"/>
          <p:cNvSpPr/>
          <p:nvPr/>
        </p:nvSpPr>
        <p:spPr>
          <a:xfrm>
            <a:off x="4368698" y="1554480"/>
            <a:ext cx="345429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8" name="Documento del proyecto"/>
          <p:cNvSpPr/>
          <p:nvPr/>
        </p:nvSpPr>
        <p:spPr>
          <a:xfrm>
            <a:off x="5410048" y="192024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Documento del proyec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232" y="2249424"/>
            <a:ext cx="713232" cy="7132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43018" y="352044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Documento del proyecto</a:t>
            </a:r>
            <a:endParaRPr lang="en-US" sz="24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Bloque 4</a:t>
            </a:r>
            <a:endParaRPr lang="en-US" sz="2400" dirty="0"/>
          </a:p>
        </p:txBody>
      </p:sp>
      <p:sp>
        <p:nvSpPr>
          <p:cNvPr id="11" name="Tarjeta"/>
          <p:cNvSpPr/>
          <p:nvPr/>
        </p:nvSpPr>
        <p:spPr>
          <a:xfrm>
            <a:off x="8188757" y="1554480"/>
            <a:ext cx="345429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2" name="Presentación"/>
          <p:cNvSpPr/>
          <p:nvPr/>
        </p:nvSpPr>
        <p:spPr>
          <a:xfrm>
            <a:off x="9230106" y="192024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Presenta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9290" y="2249424"/>
            <a:ext cx="713232" cy="7132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63077" y="3520440"/>
            <a:ext cx="29056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Presentación</a:t>
            </a:r>
            <a:endParaRPr lang="en-US" sz="2400" dirty="0"/>
          </a:p>
          <a:p>
            <a:pPr algn="ctr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Bloque 4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Listos para defender vuestra propuesta en el bloque 5.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idad, ofimática e IA">
  <a:themeElements>
    <a:clrScheme name="Creatividad, ofimática e IA">
      <a:dk1>
        <a:srgbClr val="1F2A44"/>
      </a:dk1>
      <a:lt1>
        <a:srgbClr val="FFFFFF"/>
      </a:lt1>
      <a:dk2>
        <a:srgbClr val="3A4664"/>
      </a:dk2>
      <a:lt2>
        <a:srgbClr val="F2F4F8"/>
      </a:lt2>
      <a:accent1>
        <a:srgbClr val="F4A300"/>
      </a:accent1>
      <a:accent2>
        <a:srgbClr val="0F7C70"/>
      </a:accent2>
      <a:accent3>
        <a:srgbClr val="D64933"/>
      </a:accent3>
      <a:accent4>
        <a:srgbClr val="6C5CE7"/>
      </a:accent4>
      <a:accent5>
        <a:srgbClr val="8A94A6"/>
      </a:accent5>
      <a:accent6>
        <a:srgbClr val="2D6A4F"/>
      </a:accent6>
      <a:hlink>
        <a:srgbClr val="0F7C70"/>
      </a:hlink>
      <a:folHlink>
        <a:srgbClr val="6C5CE7"/>
      </a:folHlink>
    </a:clrScheme>
    <a:fontScheme name="Creatividad, ofimática e 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Bloque 4. Desarrollo de la propuesta ganadora</dc:title>
  <dc:subject>Desarrollo de las habilidades creativas e innovadoras con herramientas ofimáticas y de inteligencia artificial</dc:subject>
  <dc:creator>PptxGenJS</dc:creator>
  <cp:lastModifiedBy>PptxGenJS</cp:lastModifiedBy>
  <cp:revision>1</cp:revision>
  <dcterms:created xsi:type="dcterms:W3CDTF">2026-10-18T19:56:33Z</dcterms:created>
  <dcterms:modified xsi:type="dcterms:W3CDTF">2026-10-18T19:56:33Z</dcterms:modified>
</cp:coreProperties>
</file>