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loque 4" id="{7BCA5E5F-802C-3753-1EC0-C0587F4580A5}">
          <p14:sldIdLst>
            <p14:sldId id="256"/>
            <p14:sldId id="257"/>
          </p14:sldIdLst>
        </p14:section>
        <p14:section name="Preguntas difíciles" id="{2D91E8E8-AFAD-C5E7-2274-AC2CC2DD8368}">
          <p14:sldIdLst>
            <p14:sldId id="258"/>
            <p14:sldId id="259"/>
          </p14:sldIdLst>
        </p14:section>
        <p14:section name="Documento" id="{D349EE5C-BB33-0F3F-7018-D8FFE9593EEA}">
          <p14:sldIdLst>
            <p14:sldId id="260"/>
            <p14:sldId id="261"/>
          </p14:sldIdLst>
        </p14:section>
        <p14:section name="Indicadores" id="{5B13284E-AED3-16D3-A498-2B8497215CCA}">
          <p14:sldIdLst>
            <p14:sldId id="262"/>
            <p14:sldId id="263"/>
            <p14:sldId id="264"/>
          </p14:sldIdLst>
        </p14:section>
        <p14:section name="Presentación" id="{658F1447-2A2D-9E55-C687-F7013656FEEA}">
          <p14:sldIdLst>
            <p14:sldId id="265"/>
            <p14:sldId id="266"/>
          </p14:sldIdLst>
        </p14:section>
        <p14:section name="Revisión cruzada" id="{0D63C469-8267-7214-3137-617B4D539423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94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2967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del bloque: convertir la propuesta ganadora de cada pareja en un proyecto defendible: bien explicado, con sus riesgos, con una forma de medir si funciona y con una presentación breve.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Continuidad: cada pareja trabaja sobre su propia propuesta ganadora del bloque 3 y su ficha exprés. Al final del bloque tendrá su matriz, su documento y su presentación, listos para defenderlos en el bloque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165–175. Antes de desarrollar el proyecto, hay que ponerlo a prueba. Las parejas se juntan de dos en dos; la pareja A explica su propuesta en un minuto y la pareja B le hace dos preguntas difíciles. Después se cambian los papeles. Recordad cuál es vuestra pareja: volveréis a juntaros con ella en la revisión cruzada del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pareja apunta las preguntas que no ha sabido responder: son lo primero que tiene que resolver el documento del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175–195. Ampliar la ficha exprés hasta un máximo de dos páginas con los siete apartados. La IA puede ayudar a redactar, pero cada apartado lo revisa la pareja con el mismo criterio de la ficha exprés: qué sobra, qué falta y qué no es cierto.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Preguntas de acompañamiento docente mientras las parejas redactan. Pasar por las mesas.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195–210. No hay que esperar un mes ni simular nada: las parejas solo diseñan cómo se comprobaría que la propuesta funciona si alguien decidiera probarla. Es un plan de medición, no una medición. Otros ejemplos de indicadores: tiempo de tramitación, pedidos servidos tarde o plazas sin cubrir.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prompt está en el guion para copiarlo. La IA propone; la pareja elige los dos indicadores y decide cómo medirlos.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para que cada pareja ordene sus dos indicadores antes de pasarlos al documento.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210–235. Tres diapositivas, cada una con una idea central. La tercera incluye los dos indicadores definidos 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Criterios de la presentación. Son los mismos que se comprobarán en la revisión cruzada.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235–240. Cada pareja devuelve a la otra una mejora concreta.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Entregables del taller: matriz de decisión (bloque 3), documento del proyecto y presentación. Enlazar con el bloque 5: la defensa.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737360"/>
            <a:ext cx="76809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79476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0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3108960" y="2103120"/>
            <a:ext cx="85039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3108960" y="3749040"/>
            <a:ext cx="85039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Bloque 4 · Desarrollo de la propuesta ganadora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CAD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1097280" y="1554480"/>
            <a:ext cx="9966960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400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Bloque 4 · Desarrollo de la propuesta ganadora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2194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3108960" y="2103120"/>
            <a:ext cx="8503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Desarrollo de la propuesta ganadora</a:t>
            </a: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1" hasCustomPrompt="1"/>
          </p:nvPr>
        </p:nvSpPr>
        <p:spPr>
          <a:xfrm>
            <a:off x="3108960" y="374904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accent1"/>
                </a:solidFill>
              </a:rPr>
              <a:t>75 minutos · por parejas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Qué vamos a hacer en este bloque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658082" y="2377440"/>
            <a:ext cx="8875532" cy="0"/>
          </a:xfrm>
          <a:prstGeom prst="line">
            <a:avLst/>
          </a:prstGeom>
          <a:noFill/>
          <a:ln w="50800">
            <a:solidFill>
              <a:srgbClr val="F2F4F8"/>
            </a:solidFill>
            <a:prstDash val="solid"/>
          </a:ln>
        </p:spPr>
      </p:sp>
      <p:sp>
        <p:nvSpPr>
          <p:cNvPr id="4" name="Paso 1"/>
          <p:cNvSpPr/>
          <p:nvPr/>
        </p:nvSpPr>
        <p:spPr>
          <a:xfrm>
            <a:off x="1040862" y="1760220"/>
            <a:ext cx="1234440" cy="1234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40862" y="176022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tx1"/>
                </a:solidFill>
              </a:rPr>
              <a:t>165–175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23260"/>
            <a:ext cx="203600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dirty="0">
                <a:solidFill>
                  <a:schemeClr val="tx1"/>
                </a:solidFill>
              </a:rPr>
              <a:t>Preguntas difíciles</a:t>
            </a:r>
            <a:endParaRPr lang="en-US" sz="1700" dirty="0"/>
          </a:p>
        </p:txBody>
      </p:sp>
      <p:sp>
        <p:nvSpPr>
          <p:cNvPr id="7" name="Paso 2"/>
          <p:cNvSpPr/>
          <p:nvPr/>
        </p:nvSpPr>
        <p:spPr>
          <a:xfrm>
            <a:off x="3259745" y="1760220"/>
            <a:ext cx="1234440" cy="1234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59745" y="176022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tx1"/>
                </a:solidFill>
              </a:rPr>
              <a:t>175–195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2858963" y="3223260"/>
            <a:ext cx="203600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dirty="0">
                <a:solidFill>
                  <a:schemeClr val="tx1"/>
                </a:solidFill>
              </a:rPr>
              <a:t>Documento del proyecto</a:t>
            </a:r>
            <a:endParaRPr lang="en-US" sz="1700" dirty="0"/>
          </a:p>
        </p:txBody>
      </p:sp>
      <p:sp>
        <p:nvSpPr>
          <p:cNvPr id="10" name="Paso 3"/>
          <p:cNvSpPr/>
          <p:nvPr/>
        </p:nvSpPr>
        <p:spPr>
          <a:xfrm>
            <a:off x="5478628" y="1760220"/>
            <a:ext cx="1234440" cy="1234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78628" y="176022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bg1"/>
                </a:solidFill>
              </a:rPr>
              <a:t>195–210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077846" y="3223260"/>
            <a:ext cx="203600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dirty="0">
                <a:solidFill>
                  <a:schemeClr val="tx1"/>
                </a:solidFill>
              </a:rPr>
              <a:t>¿Cómo sabremos si funciona?</a:t>
            </a:r>
            <a:endParaRPr lang="en-US" sz="1700" dirty="0"/>
          </a:p>
        </p:txBody>
      </p:sp>
      <p:sp>
        <p:nvSpPr>
          <p:cNvPr id="13" name="Paso 4"/>
          <p:cNvSpPr/>
          <p:nvPr/>
        </p:nvSpPr>
        <p:spPr>
          <a:xfrm>
            <a:off x="7697511" y="1760220"/>
            <a:ext cx="1234440" cy="1234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97511" y="176022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tx1"/>
                </a:solidFill>
              </a:rPr>
              <a:t>210–235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296729" y="3223260"/>
            <a:ext cx="203600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dirty="0">
                <a:solidFill>
                  <a:schemeClr val="tx1"/>
                </a:solidFill>
              </a:rPr>
              <a:t>Presentación en tres diapositivas</a:t>
            </a:r>
            <a:endParaRPr lang="en-US" sz="1700" dirty="0"/>
          </a:p>
        </p:txBody>
      </p:sp>
      <p:sp>
        <p:nvSpPr>
          <p:cNvPr id="16" name="Paso 5"/>
          <p:cNvSpPr/>
          <p:nvPr/>
        </p:nvSpPr>
        <p:spPr>
          <a:xfrm>
            <a:off x="9916394" y="1760220"/>
            <a:ext cx="1234440" cy="1234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916394" y="176022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tx1"/>
                </a:solidFill>
              </a:rPr>
              <a:t>235–240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515612" y="3223260"/>
            <a:ext cx="203600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dirty="0">
                <a:solidFill>
                  <a:schemeClr val="tx1"/>
                </a:solidFill>
              </a:rPr>
              <a:t>Revisión cruzada</a:t>
            </a:r>
            <a:endParaRPr lang="en-US" sz="1700" dirty="0"/>
          </a:p>
        </p:txBody>
      </p:sp>
      <p:sp>
        <p:nvSpPr>
          <p:cNvPr id="19" name="Tarjeta"/>
          <p:cNvSpPr/>
          <p:nvPr/>
        </p:nvSpPr>
        <p:spPr>
          <a:xfrm>
            <a:off x="548640" y="4663440"/>
            <a:ext cx="11094415" cy="1005840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4663440"/>
            <a:ext cx="104543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Sin caso nuevo: </a:t>
            </a:r>
            <a:r>
              <a:rPr lang="en-US" sz="2000" dirty="0">
                <a:solidFill>
                  <a:schemeClr val="tx1"/>
                </a:solidFill>
              </a:rPr>
              <a:t>cada pareja sigue con su propuesta ganadora del bloque 3 y su ficha exprés.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Antes de seguir, ponedla a prueba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872423" y="548640"/>
            <a:ext cx="277063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72423" y="5486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165–175 · Parejas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chemeClr val="tx2"/>
                </a:solidFill>
              </a:rPr>
              <a:t>Juntaos con otra pareja:</a:t>
            </a:r>
            <a:endParaRPr lang="en-US" sz="1900" dirty="0"/>
          </a:p>
        </p:txBody>
      </p:sp>
      <p:sp>
        <p:nvSpPr>
          <p:cNvPr id="6" name="Tarjeta"/>
          <p:cNvSpPr/>
          <p:nvPr/>
        </p:nvSpPr>
        <p:spPr>
          <a:xfrm>
            <a:off x="548640" y="1920240"/>
            <a:ext cx="3362858" cy="182880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7" name="Paso 1"/>
          <p:cNvSpPr/>
          <p:nvPr/>
        </p:nvSpPr>
        <p:spPr>
          <a:xfrm>
            <a:off x="822960" y="214884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mage 0" descr="Paso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498" y="2335378"/>
            <a:ext cx="404165" cy="40416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83080" y="1920240"/>
            <a:ext cx="194553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La pareja A explica su propuesta en 1 minuto, con la ficha exprés delante.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3984650" y="2834640"/>
            <a:ext cx="356616" cy="0"/>
          </a:xfrm>
          <a:prstGeom prst="line">
            <a:avLst/>
          </a:prstGeom>
          <a:noFill/>
          <a:ln w="3810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1" name="Tarjeta"/>
          <p:cNvSpPr/>
          <p:nvPr/>
        </p:nvSpPr>
        <p:spPr>
          <a:xfrm>
            <a:off x="4414418" y="1920240"/>
            <a:ext cx="3362858" cy="182880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2" name="Paso 2"/>
          <p:cNvSpPr/>
          <p:nvPr/>
        </p:nvSpPr>
        <p:spPr>
          <a:xfrm>
            <a:off x="4688738" y="214884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Paso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5276" y="2335378"/>
            <a:ext cx="404165" cy="40416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648858" y="1920240"/>
            <a:ext cx="194553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La pareja B le </a:t>
            </a:r>
            <a:r>
              <a:rPr lang="en-US" sz="1800" dirty="0" err="1">
                <a:solidFill>
                  <a:schemeClr val="tx1"/>
                </a:solidFill>
              </a:rPr>
              <a:t>hace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varias</a:t>
            </a:r>
            <a:r>
              <a:rPr lang="en-US" sz="1800" dirty="0">
                <a:solidFill>
                  <a:schemeClr val="tx1"/>
                </a:solidFill>
              </a:rPr>
              <a:t> preguntas difíciles.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7850429" y="2834640"/>
            <a:ext cx="356616" cy="0"/>
          </a:xfrm>
          <a:prstGeom prst="line">
            <a:avLst/>
          </a:prstGeom>
          <a:noFill/>
          <a:ln w="3810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6" name="Tarjeta"/>
          <p:cNvSpPr/>
          <p:nvPr/>
        </p:nvSpPr>
        <p:spPr>
          <a:xfrm>
            <a:off x="8280197" y="1920240"/>
            <a:ext cx="3362858" cy="182880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7" name="Paso 3"/>
          <p:cNvSpPr/>
          <p:nvPr/>
        </p:nvSpPr>
        <p:spPr>
          <a:xfrm>
            <a:off x="8554517" y="214884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2" descr="Paso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1054" y="2335378"/>
            <a:ext cx="404165" cy="40416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514637" y="1920240"/>
            <a:ext cx="194553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Os cambiáis los papeles.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40233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Preguntas difíciles, por ejemplo:</a:t>
            </a:r>
            <a:endParaRPr lang="en-US" sz="1800" dirty="0"/>
          </a:p>
        </p:txBody>
      </p:sp>
      <p:sp>
        <p:nvSpPr>
          <p:cNvPr id="21" name="¿Cuánto cuesta?"/>
          <p:cNvSpPr/>
          <p:nvPr/>
        </p:nvSpPr>
        <p:spPr>
          <a:xfrm>
            <a:off x="548640" y="4572000"/>
            <a:ext cx="2567864" cy="868680"/>
          </a:xfrm>
          <a:prstGeom prst="roundRect">
            <a:avLst>
              <a:gd name="adj" fmla="val 49474"/>
            </a:avLst>
          </a:prstGeom>
          <a:solidFill>
            <a:schemeClr val="tx1"/>
          </a:solidFill>
          <a:ln/>
        </p:spPr>
      </p:sp>
      <p:sp>
        <p:nvSpPr>
          <p:cNvPr id="22" name="¿Cuánto cuesta?"/>
          <p:cNvSpPr/>
          <p:nvPr/>
        </p:nvSpPr>
        <p:spPr>
          <a:xfrm>
            <a:off x="685800" y="468172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3" name="Image 3" descr="¿Cuánto cuesta?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419" y="4835347"/>
            <a:ext cx="332842" cy="33284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463040" y="4572000"/>
            <a:ext cx="1516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¿Cuánto cuesta?</a:t>
            </a:r>
            <a:endParaRPr lang="en-US" sz="1600" dirty="0"/>
          </a:p>
        </p:txBody>
      </p:sp>
      <p:sp>
        <p:nvSpPr>
          <p:cNvPr id="25" name="¿Quién se encarga?"/>
          <p:cNvSpPr/>
          <p:nvPr/>
        </p:nvSpPr>
        <p:spPr>
          <a:xfrm>
            <a:off x="3390824" y="4572000"/>
            <a:ext cx="2567864" cy="868680"/>
          </a:xfrm>
          <a:prstGeom prst="roundRect">
            <a:avLst>
              <a:gd name="adj" fmla="val 49474"/>
            </a:avLst>
          </a:prstGeom>
          <a:solidFill>
            <a:schemeClr val="tx1"/>
          </a:solidFill>
          <a:ln/>
        </p:spPr>
      </p:sp>
      <p:sp>
        <p:nvSpPr>
          <p:cNvPr id="26" name="¿Quién se encarga?"/>
          <p:cNvSpPr/>
          <p:nvPr/>
        </p:nvSpPr>
        <p:spPr>
          <a:xfrm>
            <a:off x="3527984" y="468172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7" name="Image 4" descr="¿Quién se encarga?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81603" y="4835347"/>
            <a:ext cx="332842" cy="33284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305224" y="4572000"/>
            <a:ext cx="1516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¿Quién se encarga?</a:t>
            </a:r>
            <a:endParaRPr lang="en-US" sz="1600" dirty="0"/>
          </a:p>
        </p:txBody>
      </p:sp>
      <p:sp>
        <p:nvSpPr>
          <p:cNvPr id="29" name="¿Y si alguien no lo usa?"/>
          <p:cNvSpPr/>
          <p:nvPr/>
        </p:nvSpPr>
        <p:spPr>
          <a:xfrm>
            <a:off x="6233008" y="4572000"/>
            <a:ext cx="2567864" cy="868680"/>
          </a:xfrm>
          <a:prstGeom prst="roundRect">
            <a:avLst>
              <a:gd name="adj" fmla="val 49474"/>
            </a:avLst>
          </a:prstGeom>
          <a:solidFill>
            <a:schemeClr val="tx1"/>
          </a:solidFill>
          <a:ln/>
        </p:spPr>
      </p:sp>
      <p:sp>
        <p:nvSpPr>
          <p:cNvPr id="30" name="¿Y si alguien no lo usa?"/>
          <p:cNvSpPr/>
          <p:nvPr/>
        </p:nvSpPr>
        <p:spPr>
          <a:xfrm>
            <a:off x="6370168" y="468172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1" name="Image 5" descr="¿Y si alguien no lo usa?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23787" y="4835347"/>
            <a:ext cx="332842" cy="33284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147408" y="4572000"/>
            <a:ext cx="1516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¿Y si alguien no lo usa?</a:t>
            </a:r>
            <a:endParaRPr lang="en-US" sz="1600" dirty="0"/>
          </a:p>
        </p:txBody>
      </p:sp>
      <p:sp>
        <p:nvSpPr>
          <p:cNvPr id="33" name="¿Cómo sabremos si funciona?"/>
          <p:cNvSpPr/>
          <p:nvPr/>
        </p:nvSpPr>
        <p:spPr>
          <a:xfrm>
            <a:off x="9075191" y="4572000"/>
            <a:ext cx="2567864" cy="868680"/>
          </a:xfrm>
          <a:prstGeom prst="roundRect">
            <a:avLst>
              <a:gd name="adj" fmla="val 49474"/>
            </a:avLst>
          </a:prstGeom>
          <a:solidFill>
            <a:schemeClr val="tx1"/>
          </a:solidFill>
          <a:ln/>
        </p:spPr>
      </p:sp>
      <p:sp>
        <p:nvSpPr>
          <p:cNvPr id="34" name="¿Cómo sabremos si funciona?"/>
          <p:cNvSpPr/>
          <p:nvPr/>
        </p:nvSpPr>
        <p:spPr>
          <a:xfrm>
            <a:off x="9212351" y="468172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5" name="Image 6" descr="¿Cómo sabremos si funciona?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65971" y="4835347"/>
            <a:ext cx="332842" cy="33284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9989591" y="4572000"/>
            <a:ext cx="1516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¿Cómo sabremos si funciona?</a:t>
            </a:r>
            <a:endParaRPr lang="en-US" sz="16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Lo que no supisteis responder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872423" y="548640"/>
            <a:ext cx="277063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72423" y="5486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165–175 · Parejas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chemeClr val="tx2"/>
                </a:solidFill>
              </a:rPr>
              <a:t>Apuntad las preguntas que no habéis sabido contestar:</a:t>
            </a:r>
            <a:endParaRPr lang="en-US" sz="1900" dirty="0"/>
          </a:p>
        </p:txBody>
      </p:sp>
      <p:sp>
        <p:nvSpPr>
          <p:cNvPr id="6" name="Pregunta 1"/>
          <p:cNvSpPr/>
          <p:nvPr/>
        </p:nvSpPr>
        <p:spPr>
          <a:xfrm>
            <a:off x="548640" y="224028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Hueco"/>
          <p:cNvSpPr/>
          <p:nvPr/>
        </p:nvSpPr>
        <p:spPr>
          <a:xfrm>
            <a:off x="1417320" y="1965960"/>
            <a:ext cx="10225735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9" name="Pregunta 2"/>
          <p:cNvSpPr/>
          <p:nvPr/>
        </p:nvSpPr>
        <p:spPr>
          <a:xfrm>
            <a:off x="548640" y="356616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5661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Hueco"/>
          <p:cNvSpPr/>
          <p:nvPr/>
        </p:nvSpPr>
        <p:spPr>
          <a:xfrm>
            <a:off x="1417320" y="3291840"/>
            <a:ext cx="10225735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2" name="Documento"/>
          <p:cNvSpPr/>
          <p:nvPr/>
        </p:nvSpPr>
        <p:spPr>
          <a:xfrm>
            <a:off x="548640" y="480060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0" descr="Documen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78" y="4987138"/>
            <a:ext cx="404165" cy="40416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600200" y="4800600"/>
            <a:ext cx="10042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Es lo primero que tiene que resolver vuestro documento.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Documento del proyecto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872423" y="548640"/>
            <a:ext cx="277063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72423" y="5486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175–195 · Parejas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chemeClr val="tx2"/>
                </a:solidFill>
              </a:rPr>
              <a:t>En Word o Google Docs, ampliad la ficha exprés hasta un máximo de dos páginas:</a:t>
            </a:r>
            <a:endParaRPr lang="en-US" sz="1900" dirty="0"/>
          </a:p>
        </p:txBody>
      </p:sp>
      <p:sp>
        <p:nvSpPr>
          <p:cNvPr id="6" name="Tarjeta"/>
          <p:cNvSpPr/>
          <p:nvPr/>
        </p:nvSpPr>
        <p:spPr>
          <a:xfrm>
            <a:off x="548640" y="1965960"/>
            <a:ext cx="5410048" cy="585216"/>
          </a:xfrm>
          <a:prstGeom prst="roundRect">
            <a:avLst>
              <a:gd name="adj" fmla="val 23438"/>
            </a:avLst>
          </a:prstGeom>
          <a:solidFill>
            <a:schemeClr val="bg2"/>
          </a:solidFill>
          <a:ln/>
        </p:spPr>
      </p:sp>
      <p:sp>
        <p:nvSpPr>
          <p:cNvPr id="7" name="Apartado 1"/>
          <p:cNvSpPr/>
          <p:nvPr/>
        </p:nvSpPr>
        <p:spPr>
          <a:xfrm>
            <a:off x="685800" y="205740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1965960"/>
            <a:ext cx="44956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Nombre de la propuesta</a:t>
            </a:r>
            <a:endParaRPr lang="en-US" sz="1800" dirty="0"/>
          </a:p>
        </p:txBody>
      </p:sp>
      <p:sp>
        <p:nvSpPr>
          <p:cNvPr id="10" name="Tarjeta"/>
          <p:cNvSpPr/>
          <p:nvPr/>
        </p:nvSpPr>
        <p:spPr>
          <a:xfrm>
            <a:off x="548640" y="2679192"/>
            <a:ext cx="5410048" cy="585216"/>
          </a:xfrm>
          <a:prstGeom prst="roundRect">
            <a:avLst>
              <a:gd name="adj" fmla="val 23438"/>
            </a:avLst>
          </a:prstGeom>
          <a:solidFill>
            <a:schemeClr val="bg2"/>
          </a:solidFill>
          <a:ln/>
        </p:spPr>
      </p:sp>
      <p:sp>
        <p:nvSpPr>
          <p:cNvPr id="11" name="Apartado 2"/>
          <p:cNvSpPr/>
          <p:nvPr/>
        </p:nvSpPr>
        <p:spPr>
          <a:xfrm>
            <a:off x="685800" y="277063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27706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679192"/>
            <a:ext cx="44956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Problema concreto</a:t>
            </a:r>
            <a:endParaRPr lang="en-US" sz="1800" dirty="0"/>
          </a:p>
        </p:txBody>
      </p:sp>
      <p:sp>
        <p:nvSpPr>
          <p:cNvPr id="14" name="Tarjeta"/>
          <p:cNvSpPr/>
          <p:nvPr/>
        </p:nvSpPr>
        <p:spPr>
          <a:xfrm>
            <a:off x="548640" y="3392424"/>
            <a:ext cx="5410048" cy="585216"/>
          </a:xfrm>
          <a:prstGeom prst="roundRect">
            <a:avLst>
              <a:gd name="adj" fmla="val 23438"/>
            </a:avLst>
          </a:prstGeom>
          <a:solidFill>
            <a:schemeClr val="bg2"/>
          </a:solidFill>
          <a:ln/>
        </p:spPr>
      </p:sp>
      <p:sp>
        <p:nvSpPr>
          <p:cNvPr id="15" name="Apartado 3"/>
          <p:cNvSpPr/>
          <p:nvPr/>
        </p:nvSpPr>
        <p:spPr>
          <a:xfrm>
            <a:off x="685800" y="34838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483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392424"/>
            <a:ext cx="44956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Funcionamiento de la solución</a:t>
            </a:r>
            <a:endParaRPr lang="en-US" sz="1800" dirty="0"/>
          </a:p>
        </p:txBody>
      </p:sp>
      <p:sp>
        <p:nvSpPr>
          <p:cNvPr id="18" name="Tarjeta"/>
          <p:cNvSpPr/>
          <p:nvPr/>
        </p:nvSpPr>
        <p:spPr>
          <a:xfrm>
            <a:off x="548640" y="4105656"/>
            <a:ext cx="5410048" cy="585216"/>
          </a:xfrm>
          <a:prstGeom prst="roundRect">
            <a:avLst>
              <a:gd name="adj" fmla="val 23438"/>
            </a:avLst>
          </a:prstGeom>
          <a:solidFill>
            <a:schemeClr val="bg2"/>
          </a:solidFill>
          <a:ln/>
        </p:spPr>
      </p:sp>
      <p:sp>
        <p:nvSpPr>
          <p:cNvPr id="19" name="Apartado 4"/>
          <p:cNvSpPr/>
          <p:nvPr/>
        </p:nvSpPr>
        <p:spPr>
          <a:xfrm>
            <a:off x="685800" y="419709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4197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105656"/>
            <a:ext cx="44956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Herramientas ofimáticas y de IA</a:t>
            </a:r>
            <a:endParaRPr lang="en-US" sz="1800" dirty="0"/>
          </a:p>
        </p:txBody>
      </p:sp>
      <p:sp>
        <p:nvSpPr>
          <p:cNvPr id="22" name="Tarjeta"/>
          <p:cNvSpPr/>
          <p:nvPr/>
        </p:nvSpPr>
        <p:spPr>
          <a:xfrm>
            <a:off x="6233008" y="1965960"/>
            <a:ext cx="5410048" cy="585216"/>
          </a:xfrm>
          <a:prstGeom prst="roundRect">
            <a:avLst>
              <a:gd name="adj" fmla="val 23438"/>
            </a:avLst>
          </a:prstGeom>
          <a:solidFill>
            <a:schemeClr val="bg2"/>
          </a:solidFill>
          <a:ln/>
        </p:spPr>
      </p:sp>
      <p:sp>
        <p:nvSpPr>
          <p:cNvPr id="23" name="Apartado 5"/>
          <p:cNvSpPr/>
          <p:nvPr/>
        </p:nvSpPr>
        <p:spPr>
          <a:xfrm>
            <a:off x="6370168" y="205740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70168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5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64528" y="1965960"/>
            <a:ext cx="44956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Beneficios esperados</a:t>
            </a:r>
            <a:endParaRPr lang="en-US" sz="1800" dirty="0"/>
          </a:p>
        </p:txBody>
      </p:sp>
      <p:sp>
        <p:nvSpPr>
          <p:cNvPr id="26" name="Tarjeta"/>
          <p:cNvSpPr/>
          <p:nvPr/>
        </p:nvSpPr>
        <p:spPr>
          <a:xfrm>
            <a:off x="6233008" y="2679192"/>
            <a:ext cx="5410048" cy="585216"/>
          </a:xfrm>
          <a:prstGeom prst="roundRect">
            <a:avLst>
              <a:gd name="adj" fmla="val 23438"/>
            </a:avLst>
          </a:prstGeom>
          <a:solidFill>
            <a:schemeClr val="bg2"/>
          </a:solidFill>
          <a:ln/>
        </p:spPr>
      </p:sp>
      <p:sp>
        <p:nvSpPr>
          <p:cNvPr id="27" name="Apartado 6"/>
          <p:cNvSpPr/>
          <p:nvPr/>
        </p:nvSpPr>
        <p:spPr>
          <a:xfrm>
            <a:off x="6370168" y="277063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70168" y="27706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6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964528" y="2679192"/>
            <a:ext cx="44956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Riesgos y medidas preventivas</a:t>
            </a:r>
            <a:endParaRPr lang="en-US" sz="1800" dirty="0"/>
          </a:p>
        </p:txBody>
      </p:sp>
      <p:sp>
        <p:nvSpPr>
          <p:cNvPr id="30" name="Tarjeta"/>
          <p:cNvSpPr/>
          <p:nvPr/>
        </p:nvSpPr>
        <p:spPr>
          <a:xfrm>
            <a:off x="6233008" y="3392424"/>
            <a:ext cx="5410048" cy="585216"/>
          </a:xfrm>
          <a:prstGeom prst="roundRect">
            <a:avLst>
              <a:gd name="adj" fmla="val 23438"/>
            </a:avLst>
          </a:prstGeom>
          <a:solidFill>
            <a:schemeClr val="bg2"/>
          </a:solidFill>
          <a:ln/>
        </p:spPr>
      </p:sp>
      <p:sp>
        <p:nvSpPr>
          <p:cNvPr id="31" name="Apartado 7"/>
          <p:cNvSpPr/>
          <p:nvPr/>
        </p:nvSpPr>
        <p:spPr>
          <a:xfrm>
            <a:off x="6370168" y="34838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70168" y="3483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7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964528" y="3392424"/>
            <a:ext cx="44956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Tres pasos para ponerla en práctica</a:t>
            </a:r>
            <a:endParaRPr lang="en-US" sz="1800" dirty="0"/>
          </a:p>
        </p:txBody>
      </p:sp>
      <p:sp>
        <p:nvSpPr>
          <p:cNvPr id="34" name="Revisión"/>
          <p:cNvSpPr/>
          <p:nvPr/>
        </p:nvSpPr>
        <p:spPr>
          <a:xfrm>
            <a:off x="6233008" y="4105656"/>
            <a:ext cx="5410048" cy="585216"/>
          </a:xfrm>
          <a:prstGeom prst="roundRect">
            <a:avLst>
              <a:gd name="adj" fmla="val 23438"/>
            </a:avLst>
          </a:prstGeom>
          <a:solidFill>
            <a:schemeClr val="accent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61608" y="4105656"/>
            <a:ext cx="49528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IA ayuda a redactar; vosotros revisáis:</a:t>
            </a:r>
            <a:endParaRPr lang="en-US" sz="1600" dirty="0"/>
          </a:p>
        </p:txBody>
      </p:sp>
      <p:sp>
        <p:nvSpPr>
          <p:cNvPr id="36" name="¿Qué sobra?"/>
          <p:cNvSpPr/>
          <p:nvPr/>
        </p:nvSpPr>
        <p:spPr>
          <a:xfrm>
            <a:off x="548640" y="49834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7" name="Image 0" descr="¿Qué sobra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5137099"/>
            <a:ext cx="332842" cy="332842"/>
          </a:xfrm>
          <a:prstGeom prst="rect">
            <a:avLst/>
          </a:prstGeom>
        </p:spPr>
      </p:pic>
      <p:sp>
        <p:nvSpPr>
          <p:cNvPr id="38" name="Text 35"/>
          <p:cNvSpPr txBox="1"/>
          <p:nvPr/>
        </p:nvSpPr>
        <p:spPr>
          <a:xfrm>
            <a:off x="1371600" y="4983480"/>
            <a:ext cx="26008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¿Qué sobra?</a:t>
            </a:r>
            <a:endParaRPr lang="en-US" sz="1900" dirty="0"/>
          </a:p>
        </p:txBody>
      </p:sp>
      <p:sp>
        <p:nvSpPr>
          <p:cNvPr id="39" name="¿Qué falta?"/>
          <p:cNvSpPr/>
          <p:nvPr/>
        </p:nvSpPr>
        <p:spPr>
          <a:xfrm>
            <a:off x="4338218" y="49834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0" name="Image 1" descr="¿Qué falta?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1838" y="5137099"/>
            <a:ext cx="332842" cy="332842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5161178" y="4983480"/>
            <a:ext cx="26008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¿Qué falta?</a:t>
            </a:r>
            <a:endParaRPr lang="en-US" sz="1900" dirty="0"/>
          </a:p>
        </p:txBody>
      </p:sp>
      <p:sp>
        <p:nvSpPr>
          <p:cNvPr id="42" name="¿Qué no es cierto?"/>
          <p:cNvSpPr/>
          <p:nvPr/>
        </p:nvSpPr>
        <p:spPr>
          <a:xfrm>
            <a:off x="8127797" y="49834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3" name="Image 2" descr="¿Qué no es cierto?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1416" y="5137099"/>
            <a:ext cx="332842" cy="332842"/>
          </a:xfrm>
          <a:prstGeom prst="rect">
            <a:avLst/>
          </a:prstGeom>
        </p:spPr>
      </p:pic>
      <p:sp>
        <p:nvSpPr>
          <p:cNvPr id="44" name="Text 39"/>
          <p:cNvSpPr txBox="1"/>
          <p:nvPr/>
        </p:nvSpPr>
        <p:spPr>
          <a:xfrm>
            <a:off x="8950757" y="4983480"/>
            <a:ext cx="26008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¿Qué no es cierto?</a:t>
            </a:r>
            <a:endParaRPr lang="en-US" sz="19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Mientras redactáis, preguntaos…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872423" y="548640"/>
            <a:ext cx="277063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72423" y="5486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175–195 · Parejas</a:t>
            </a:r>
            <a:endParaRPr lang="en-US" sz="1400" dirty="0"/>
          </a:p>
        </p:txBody>
      </p:sp>
      <p:sp>
        <p:nvSpPr>
          <p:cNvPr id="5" name="Tarjeta"/>
          <p:cNvSpPr/>
          <p:nvPr/>
        </p:nvSpPr>
        <p:spPr>
          <a:xfrm>
            <a:off x="548640" y="1554480"/>
            <a:ext cx="3454298" cy="374904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6" name="Pregunta"/>
          <p:cNvSpPr/>
          <p:nvPr/>
        </p:nvSpPr>
        <p:spPr>
          <a:xfrm>
            <a:off x="1681429" y="192024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Image 0" descr="Pregun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6722" y="2205533"/>
            <a:ext cx="618134" cy="61813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8680" y="3383280"/>
            <a:ext cx="28142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dirty="0">
                <a:solidFill>
                  <a:schemeClr val="tx1"/>
                </a:solidFill>
              </a:rPr>
              <a:t>¿Habéis respondido a las preguntas que no supisteis contestar en el intercambio?</a:t>
            </a:r>
            <a:endParaRPr lang="en-US" sz="2100" dirty="0"/>
          </a:p>
        </p:txBody>
      </p:sp>
      <p:sp>
        <p:nvSpPr>
          <p:cNvPr id="9" name="Tarjeta"/>
          <p:cNvSpPr/>
          <p:nvPr/>
        </p:nvSpPr>
        <p:spPr>
          <a:xfrm>
            <a:off x="4368698" y="1554480"/>
            <a:ext cx="3454298" cy="374904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10" name="Pregunta"/>
          <p:cNvSpPr/>
          <p:nvPr/>
        </p:nvSpPr>
        <p:spPr>
          <a:xfrm>
            <a:off x="5501488" y="192024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1" name="Image 1" descr="Pregun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6780" y="2205533"/>
            <a:ext cx="618134" cy="61813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88738" y="3383280"/>
            <a:ext cx="28142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dirty="0">
                <a:solidFill>
                  <a:schemeClr val="tx1"/>
                </a:solidFill>
              </a:rPr>
              <a:t>¿Qué actividades requieren supervisión humana?</a:t>
            </a:r>
            <a:endParaRPr lang="en-US" sz="2100" dirty="0"/>
          </a:p>
        </p:txBody>
      </p:sp>
      <p:sp>
        <p:nvSpPr>
          <p:cNvPr id="13" name="Tarjeta"/>
          <p:cNvSpPr/>
          <p:nvPr/>
        </p:nvSpPr>
        <p:spPr>
          <a:xfrm>
            <a:off x="8188757" y="1554480"/>
            <a:ext cx="3454298" cy="374904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14" name="Pregunta"/>
          <p:cNvSpPr/>
          <p:nvPr/>
        </p:nvSpPr>
        <p:spPr>
          <a:xfrm>
            <a:off x="9321546" y="192024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gunt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6839" y="2205533"/>
            <a:ext cx="618134" cy="61813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08797" y="3383280"/>
            <a:ext cx="28142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dirty="0">
                <a:solidFill>
                  <a:schemeClr val="tx1"/>
                </a:solidFill>
              </a:rPr>
              <a:t>¿Qué datos no deberíamos introducir en una IA pública?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¿Cómo sabremos si funciona?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872423" y="548640"/>
            <a:ext cx="277063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72423" y="5486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195–210 · Parejas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chemeClr val="tx2"/>
                </a:solidFill>
              </a:rPr>
              <a:t>Dos indicadores medibles, y cómo se recogerían los datos antes y después de una prueba de un mes. Por ejemplo:</a:t>
            </a:r>
            <a:endParaRPr lang="en-US" sz="1900" dirty="0"/>
          </a:p>
        </p:txBody>
      </p:sp>
      <p:sp>
        <p:nvSpPr>
          <p:cNvPr id="6" name="Tarjeta"/>
          <p:cNvSpPr/>
          <p:nvPr/>
        </p:nvSpPr>
        <p:spPr>
          <a:xfrm>
            <a:off x="548640" y="2103120"/>
            <a:ext cx="2464994" cy="2468880"/>
          </a:xfrm>
          <a:prstGeom prst="roundRect">
            <a:avLst>
              <a:gd name="adj" fmla="val 5564"/>
            </a:avLst>
          </a:prstGeom>
          <a:solidFill>
            <a:schemeClr val="bg2"/>
          </a:solidFill>
          <a:ln/>
        </p:spPr>
      </p:sp>
      <p:sp>
        <p:nvSpPr>
          <p:cNvPr id="7" name="Qué medimos"/>
          <p:cNvSpPr/>
          <p:nvPr/>
        </p:nvSpPr>
        <p:spPr>
          <a:xfrm>
            <a:off x="822960" y="233172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mage 0" descr="Qué medimo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498" y="2518258"/>
            <a:ext cx="404165" cy="40416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2960" y="3200400"/>
            <a:ext cx="191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Qué medimos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19163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Consultas que se quedan sin respuesta cada semana.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068498" y="3337560"/>
            <a:ext cx="301752" cy="0"/>
          </a:xfrm>
          <a:prstGeom prst="line">
            <a:avLst/>
          </a:prstGeom>
          <a:noFill/>
          <a:ln w="3810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2" name="Tarjeta"/>
          <p:cNvSpPr/>
          <p:nvPr/>
        </p:nvSpPr>
        <p:spPr>
          <a:xfrm>
            <a:off x="3425114" y="2103120"/>
            <a:ext cx="2464994" cy="2468880"/>
          </a:xfrm>
          <a:prstGeom prst="roundRect">
            <a:avLst>
              <a:gd name="adj" fmla="val 5564"/>
            </a:avLst>
          </a:prstGeom>
          <a:solidFill>
            <a:schemeClr val="bg2"/>
          </a:solidFill>
          <a:ln/>
        </p:spPr>
      </p:sp>
      <p:sp>
        <p:nvSpPr>
          <p:cNvPr id="13" name="Antes"/>
          <p:cNvSpPr/>
          <p:nvPr/>
        </p:nvSpPr>
        <p:spPr>
          <a:xfrm>
            <a:off x="3699434" y="233172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1" descr="Ant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5971" y="2518258"/>
            <a:ext cx="404165" cy="40416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99434" y="3200400"/>
            <a:ext cx="191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Antes</a:t>
            </a:r>
            <a:endParaRPr lang="en-US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3699434" y="3657600"/>
            <a:ext cx="19163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Contarlas durante una semana, antes de empezar la prueba.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5944972" y="3337560"/>
            <a:ext cx="301752" cy="0"/>
          </a:xfrm>
          <a:prstGeom prst="line">
            <a:avLst/>
          </a:prstGeom>
          <a:noFill/>
          <a:ln w="3810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8" name="Tarjeta"/>
          <p:cNvSpPr/>
          <p:nvPr/>
        </p:nvSpPr>
        <p:spPr>
          <a:xfrm>
            <a:off x="6301588" y="2103120"/>
            <a:ext cx="2464994" cy="2468880"/>
          </a:xfrm>
          <a:prstGeom prst="roundRect">
            <a:avLst>
              <a:gd name="adj" fmla="val 5564"/>
            </a:avLst>
          </a:prstGeom>
          <a:solidFill>
            <a:schemeClr val="bg2"/>
          </a:solidFill>
          <a:ln/>
        </p:spPr>
      </p:sp>
      <p:sp>
        <p:nvSpPr>
          <p:cNvPr id="19" name="Durante un mes"/>
          <p:cNvSpPr/>
          <p:nvPr/>
        </p:nvSpPr>
        <p:spPr>
          <a:xfrm>
            <a:off x="6575908" y="233172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2" descr="Durante un me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2445" y="2518258"/>
            <a:ext cx="404165" cy="404165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575908" y="3200400"/>
            <a:ext cx="191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Durante un mes</a:t>
            </a:r>
            <a:endParaRPr lang="en-US" sz="2000" dirty="0"/>
          </a:p>
        </p:txBody>
      </p:sp>
      <p:sp>
        <p:nvSpPr>
          <p:cNvPr id="22" name="Text 17"/>
          <p:cNvSpPr txBox="1"/>
          <p:nvPr/>
        </p:nvSpPr>
        <p:spPr>
          <a:xfrm>
            <a:off x="6575908" y="3657600"/>
            <a:ext cx="19163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Se prueba la propuesta.</a:t>
            </a:r>
            <a:endParaRPr lang="en-US" sz="1600" dirty="0"/>
          </a:p>
        </p:txBody>
      </p:sp>
      <p:sp>
        <p:nvSpPr>
          <p:cNvPr id="23" name="Shape 18"/>
          <p:cNvSpPr/>
          <p:nvPr/>
        </p:nvSpPr>
        <p:spPr>
          <a:xfrm>
            <a:off x="8821445" y="3337560"/>
            <a:ext cx="301752" cy="0"/>
          </a:xfrm>
          <a:prstGeom prst="line">
            <a:avLst/>
          </a:prstGeom>
          <a:noFill/>
          <a:ln w="3810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24" name="Tarjeta"/>
          <p:cNvSpPr/>
          <p:nvPr/>
        </p:nvSpPr>
        <p:spPr>
          <a:xfrm>
            <a:off x="9178061" y="2103120"/>
            <a:ext cx="2464994" cy="2468880"/>
          </a:xfrm>
          <a:prstGeom prst="roundRect">
            <a:avLst>
              <a:gd name="adj" fmla="val 5564"/>
            </a:avLst>
          </a:prstGeom>
          <a:solidFill>
            <a:schemeClr val="bg2"/>
          </a:solidFill>
          <a:ln/>
        </p:spPr>
      </p:sp>
      <p:sp>
        <p:nvSpPr>
          <p:cNvPr id="25" name="Después"/>
          <p:cNvSpPr/>
          <p:nvPr/>
        </p:nvSpPr>
        <p:spPr>
          <a:xfrm>
            <a:off x="9452381" y="233172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3" descr="Despué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8919" y="2518258"/>
            <a:ext cx="404165" cy="404165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452381" y="3200400"/>
            <a:ext cx="191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Después</a:t>
            </a:r>
            <a:endParaRPr lang="en-US" sz="2000" dirty="0"/>
          </a:p>
        </p:txBody>
      </p:sp>
      <p:sp>
        <p:nvSpPr>
          <p:cNvPr id="28" name="Text 22"/>
          <p:cNvSpPr txBox="1"/>
          <p:nvPr/>
        </p:nvSpPr>
        <p:spPr>
          <a:xfrm>
            <a:off x="9452381" y="3657600"/>
            <a:ext cx="19163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Volver a contarlas al final y comparar.</a:t>
            </a:r>
            <a:endParaRPr lang="en-US" sz="1600" dirty="0"/>
          </a:p>
        </p:txBody>
      </p:sp>
      <p:sp>
        <p:nvSpPr>
          <p:cNvPr id="29" name="Tarjeta"/>
          <p:cNvSpPr/>
          <p:nvPr/>
        </p:nvSpPr>
        <p:spPr>
          <a:xfrm>
            <a:off x="548640" y="489204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30" name="Sin inventar"/>
          <p:cNvSpPr/>
          <p:nvPr/>
        </p:nvSpPr>
        <p:spPr>
          <a:xfrm>
            <a:off x="822960" y="502920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1" name="Image 4" descr="Sin inventa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" y="5193792"/>
            <a:ext cx="356616" cy="356616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737360" y="489204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No inventamos resultados: </a:t>
            </a:r>
            <a:r>
              <a:rPr lang="en-US" sz="2000" dirty="0">
                <a:solidFill>
                  <a:schemeClr val="tx1"/>
                </a:solidFill>
              </a:rPr>
              <a:t>explicamos cómo se mediría, no lo que se conseguirá.</a:t>
            </a:r>
            <a:endParaRPr lang="en-US" sz="20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Primero vosotros, después la IA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977579" y="548640"/>
            <a:ext cx="2665476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77579" y="548640"/>
            <a:ext cx="2665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Min. 195–210 · Con IA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chemeClr val="tx2"/>
                </a:solidFill>
              </a:rPr>
              <a:t>Pensad vuestros indicadores. Después, podéis pedir ideas a la IA:</a:t>
            </a:r>
            <a:endParaRPr lang="en-US" sz="1900" dirty="0"/>
          </a:p>
        </p:txBody>
      </p:sp>
      <p:sp>
        <p:nvSpPr>
          <p:cNvPr id="6" name="Prompt"/>
          <p:cNvSpPr/>
          <p:nvPr/>
        </p:nvSpPr>
        <p:spPr>
          <a:xfrm>
            <a:off x="548640" y="1965960"/>
            <a:ext cx="11094415" cy="1965960"/>
          </a:xfrm>
          <a:prstGeom prst="roundRect">
            <a:avLst>
              <a:gd name="adj" fmla="val 5581"/>
            </a:avLst>
          </a:prstGeom>
          <a:solidFill>
            <a:schemeClr val="tx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148840"/>
            <a:ext cx="1054577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 es nuestra propuesta: </a:t>
            </a:r>
            <a:r>
              <a:rPr 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[resumen sin datos personales]</a:t>
            </a: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8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Propón cinco indicadores medibles para comprobar si funciona durante</a:t>
            </a:r>
            <a:endParaRPr lang="en-US" sz="18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 prueba de un mes. Para cada uno, explica cómo medirlo antes y</a:t>
            </a:r>
            <a:endParaRPr lang="en-US" sz="18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después de la prueba con herramientas sencillas. No inventes</a:t>
            </a:r>
            <a:endParaRPr lang="en-US" sz="18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resultados ni cifras de mejora.</a:t>
            </a:r>
            <a:endParaRPr lang="en-US" sz="1800" dirty="0"/>
          </a:p>
        </p:txBody>
      </p:sp>
      <p:sp>
        <p:nvSpPr>
          <p:cNvPr id="8" name="Tarjeta"/>
          <p:cNvSpPr/>
          <p:nvPr/>
        </p:nvSpPr>
        <p:spPr>
          <a:xfrm>
            <a:off x="548640" y="4251960"/>
            <a:ext cx="11094415" cy="13716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9" name="Elegir"/>
          <p:cNvSpPr/>
          <p:nvPr/>
        </p:nvSpPr>
        <p:spPr>
          <a:xfrm>
            <a:off x="868680" y="45262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0" descr="Elegi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" y="4723790"/>
            <a:ext cx="427939" cy="427939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965960" y="4251960"/>
            <a:ext cx="9402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Elegid los dos indicadores que mejor demuestren si vuestra propuesta resuelve el problema, y añadidlos al documento.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Nuestros dos indicadores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872423" y="548640"/>
            <a:ext cx="277063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72423" y="5486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195–210 · Parejas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329184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6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Qué medimos</a:t>
                      </a: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Cómo lo medimos</a:t>
                      </a: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Antes de la prueba</a:t>
                      </a: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Después de la prueba</a:t>
                      </a: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0292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chemeClr val="accent3"/>
                </a:solidFill>
              </a:rPr>
              <a:t>En las columnas «Antes» y «Después» va cuándo y cómo se recogerían los datos, no los resultados.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Presentación en tres diapositivas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872423" y="548640"/>
            <a:ext cx="277063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72423" y="5486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210–235 · Parejas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chemeClr val="tx2"/>
                </a:solidFill>
              </a:rPr>
              <a:t>En PowerPoint o Google Slides:</a:t>
            </a:r>
            <a:endParaRPr lang="en-US" sz="1900" dirty="0"/>
          </a:p>
        </p:txBody>
      </p:sp>
      <p:sp>
        <p:nvSpPr>
          <p:cNvPr id="6" name="Diapositiva 1"/>
          <p:cNvSpPr/>
          <p:nvPr/>
        </p:nvSpPr>
        <p:spPr>
          <a:xfrm>
            <a:off x="548640" y="1920240"/>
            <a:ext cx="3393338" cy="1908753"/>
          </a:xfrm>
          <a:prstGeom prst="rect">
            <a:avLst/>
          </a:prstGeom>
          <a:solidFill>
            <a:schemeClr val="tx1"/>
          </a:solidFill>
          <a:ln/>
          <a:effectLst>
            <a:outerShdw blurRad="101600" dist="38100" dir="5400000" algn="bl" rotWithShape="0">
              <a:srgbClr val="8A94A6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920240"/>
            <a:ext cx="2844698" cy="1908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</a:rPr>
              <a:t>El problema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66153"/>
            <a:ext cx="33933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Situación y por qué importa.</a:t>
            </a:r>
            <a:endParaRPr lang="en-US" sz="1700" dirty="0"/>
          </a:p>
        </p:txBody>
      </p:sp>
      <p:sp>
        <p:nvSpPr>
          <p:cNvPr id="9" name="Diapositiva 2"/>
          <p:cNvSpPr/>
          <p:nvPr/>
        </p:nvSpPr>
        <p:spPr>
          <a:xfrm>
            <a:off x="4399178" y="1920240"/>
            <a:ext cx="3393338" cy="1908753"/>
          </a:xfrm>
          <a:prstGeom prst="rect">
            <a:avLst/>
          </a:prstGeom>
          <a:solidFill>
            <a:schemeClr val="tx1"/>
          </a:solidFill>
          <a:ln/>
          <a:effectLst>
            <a:outerShdw blurRad="101600" dist="38100" dir="5400000" algn="bl" rotWithShape="0">
              <a:srgbClr val="8A94A6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73498" y="1920240"/>
            <a:ext cx="2844698" cy="1908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</a:t>
            </a:r>
            <a:endParaRPr lang="en-US" sz="4000" dirty="0"/>
          </a:p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</a:rPr>
              <a:t>La solución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399178" y="3966153"/>
            <a:ext cx="33933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Funcionamiento y herramientas.</a:t>
            </a:r>
            <a:endParaRPr lang="en-US" sz="1700" dirty="0"/>
          </a:p>
        </p:txBody>
      </p:sp>
      <p:sp>
        <p:nvSpPr>
          <p:cNvPr id="12" name="Diapositiva 3"/>
          <p:cNvSpPr/>
          <p:nvPr/>
        </p:nvSpPr>
        <p:spPr>
          <a:xfrm>
            <a:off x="8249717" y="1920240"/>
            <a:ext cx="3393338" cy="1908753"/>
          </a:xfrm>
          <a:prstGeom prst="rect">
            <a:avLst/>
          </a:prstGeom>
          <a:solidFill>
            <a:schemeClr val="tx1"/>
          </a:solidFill>
          <a:ln/>
          <a:effectLst>
            <a:outerShdw blurRad="101600" dist="38100" dir="5400000" algn="bl" rotWithShape="0">
              <a:srgbClr val="8A94A6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524037" y="1920240"/>
            <a:ext cx="2844698" cy="1908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</a:t>
            </a:r>
            <a:endParaRPr lang="en-US" sz="4000" dirty="0"/>
          </a:p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</a:rPr>
              <a:t>Los beneficios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249717" y="3966153"/>
            <a:ext cx="33933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Resultados esperados, indicadores y principales precauciones.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Criterios para vuestras diapositivas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872423" y="548640"/>
            <a:ext cx="277063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72423" y="5486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210–235 · Parejas</a:t>
            </a:r>
            <a:endParaRPr lang="en-US" sz="1400" dirty="0"/>
          </a:p>
        </p:txBody>
      </p:sp>
      <p:sp>
        <p:nvSpPr>
          <p:cNvPr id="5" name="Una idea central por diapositiva."/>
          <p:cNvSpPr/>
          <p:nvPr/>
        </p:nvSpPr>
        <p:spPr>
          <a:xfrm>
            <a:off x="548640" y="150876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Image 0" descr="Una idea central por diapositiva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673352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50876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Una idea central por diapositiva.</a:t>
            </a:r>
            <a:endParaRPr lang="en-US" sz="2200" dirty="0"/>
          </a:p>
        </p:txBody>
      </p:sp>
      <p:sp>
        <p:nvSpPr>
          <p:cNvPr id="8" name="Poco texto."/>
          <p:cNvSpPr/>
          <p:nvPr/>
        </p:nvSpPr>
        <p:spPr>
          <a:xfrm>
            <a:off x="548640" y="237744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9" name="Image 1" descr="Poco texto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542032"/>
            <a:ext cx="356616" cy="35661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63040" y="23774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Poco texto.</a:t>
            </a:r>
            <a:endParaRPr lang="en-US" sz="2200" dirty="0"/>
          </a:p>
        </p:txBody>
      </p:sp>
      <p:sp>
        <p:nvSpPr>
          <p:cNvPr id="11" name="Títulos claros."/>
          <p:cNvSpPr/>
          <p:nvPr/>
        </p:nvSpPr>
        <p:spPr>
          <a:xfrm>
            <a:off x="548640" y="324612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2" descr="Títulos claros.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3410712"/>
            <a:ext cx="356616" cy="35661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63040" y="324612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Títulos claros.</a:t>
            </a:r>
            <a:endParaRPr lang="en-US" sz="2200" dirty="0"/>
          </a:p>
        </p:txBody>
      </p:sp>
      <p:sp>
        <p:nvSpPr>
          <p:cNvPr id="14" name="Gráficos simples."/>
          <p:cNvSpPr/>
          <p:nvPr/>
        </p:nvSpPr>
        <p:spPr>
          <a:xfrm>
            <a:off x="548640" y="411480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3" descr="Gráficos simples.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4279392"/>
            <a:ext cx="356616" cy="35661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63040" y="41148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Gráficos simples.</a:t>
            </a:r>
            <a:endParaRPr lang="en-US" sz="2200" dirty="0"/>
          </a:p>
        </p:txBody>
      </p:sp>
      <p:sp>
        <p:nvSpPr>
          <p:cNvPr id="17" name="Ningún resultado sin justificar."/>
          <p:cNvSpPr/>
          <p:nvPr/>
        </p:nvSpPr>
        <p:spPr>
          <a:xfrm>
            <a:off x="548640" y="498348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Image 4" descr="Ningún resultado sin justificar.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5148072"/>
            <a:ext cx="356616" cy="35661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3040" y="498348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Ningún resultado sin justificar.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Revisión cruzada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872423" y="548640"/>
            <a:ext cx="277063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72423" y="5486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235–240 · Parejas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chemeClr val="tx2"/>
                </a:solidFill>
              </a:rPr>
              <a:t>Intercambiad la presentación con la pareja del principio del bloque y comprobad:</a:t>
            </a:r>
            <a:endParaRPr lang="en-US" sz="1900" dirty="0"/>
          </a:p>
        </p:txBody>
      </p:sp>
      <p:sp>
        <p:nvSpPr>
          <p:cNvPr id="6" name="Tarjeta"/>
          <p:cNvSpPr/>
          <p:nvPr/>
        </p:nvSpPr>
        <p:spPr>
          <a:xfrm>
            <a:off x="548640" y="1965960"/>
            <a:ext cx="3454298" cy="1463040"/>
          </a:xfrm>
          <a:prstGeom prst="roundRect">
            <a:avLst>
              <a:gd name="adj" fmla="val 9375"/>
            </a:avLst>
          </a:prstGeom>
          <a:solidFill>
            <a:schemeClr val="bg2"/>
          </a:solidFill>
          <a:ln/>
        </p:spPr>
      </p:sp>
      <p:sp>
        <p:nvSpPr>
          <p:cNvPr id="7" name="¿Una idea por diapositiva?"/>
          <p:cNvSpPr/>
          <p:nvPr/>
        </p:nvSpPr>
        <p:spPr>
          <a:xfrm>
            <a:off x="822960" y="23317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mage 0" descr="¿Una idea por diapositiva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5" y="2507285"/>
            <a:ext cx="380390" cy="38039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37360" y="1965960"/>
            <a:ext cx="2082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¿Una idea por diapositiva?</a:t>
            </a:r>
            <a:endParaRPr lang="en-US" sz="2000" dirty="0"/>
          </a:p>
        </p:txBody>
      </p:sp>
      <p:sp>
        <p:nvSpPr>
          <p:cNvPr id="10" name="Tarjeta"/>
          <p:cNvSpPr/>
          <p:nvPr/>
        </p:nvSpPr>
        <p:spPr>
          <a:xfrm>
            <a:off x="4368698" y="1965960"/>
            <a:ext cx="3454298" cy="1463040"/>
          </a:xfrm>
          <a:prstGeom prst="roundRect">
            <a:avLst>
              <a:gd name="adj" fmla="val 9375"/>
            </a:avLst>
          </a:prstGeom>
          <a:solidFill>
            <a:schemeClr val="bg2"/>
          </a:solidFill>
          <a:ln/>
        </p:spPr>
      </p:sp>
      <p:sp>
        <p:nvSpPr>
          <p:cNvPr id="11" name="¿Poco texto?"/>
          <p:cNvSpPr/>
          <p:nvPr/>
        </p:nvSpPr>
        <p:spPr>
          <a:xfrm>
            <a:off x="4643018" y="23317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1" descr="¿Poco texto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83" y="2507285"/>
            <a:ext cx="380390" cy="38039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57418" y="1965960"/>
            <a:ext cx="2082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¿Poco texto?</a:t>
            </a:r>
            <a:endParaRPr lang="en-US" sz="2000" dirty="0"/>
          </a:p>
        </p:txBody>
      </p:sp>
      <p:sp>
        <p:nvSpPr>
          <p:cNvPr id="14" name="Tarjeta"/>
          <p:cNvSpPr/>
          <p:nvPr/>
        </p:nvSpPr>
        <p:spPr>
          <a:xfrm>
            <a:off x="8188757" y="1965960"/>
            <a:ext cx="3454298" cy="1463040"/>
          </a:xfrm>
          <a:prstGeom prst="roundRect">
            <a:avLst>
              <a:gd name="adj" fmla="val 9375"/>
            </a:avLst>
          </a:prstGeom>
          <a:solidFill>
            <a:schemeClr val="bg2"/>
          </a:solidFill>
          <a:ln/>
        </p:spPr>
      </p:sp>
      <p:sp>
        <p:nvSpPr>
          <p:cNvPr id="15" name="¿Alguna cifra sin justificar?"/>
          <p:cNvSpPr/>
          <p:nvPr/>
        </p:nvSpPr>
        <p:spPr>
          <a:xfrm>
            <a:off x="8463077" y="23317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¿Alguna cifra sin justificar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8642" y="2507285"/>
            <a:ext cx="380390" cy="38039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377477" y="1965960"/>
            <a:ext cx="2082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¿Alguna cifra sin justificar?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3749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Una mejora concreta para la otra pareja:</a:t>
            </a:r>
            <a:endParaRPr lang="en-US" sz="1900" dirty="0"/>
          </a:p>
        </p:txBody>
      </p:sp>
      <p:sp>
        <p:nvSpPr>
          <p:cNvPr id="19" name="Hueco"/>
          <p:cNvSpPr/>
          <p:nvPr/>
        </p:nvSpPr>
        <p:spPr>
          <a:xfrm>
            <a:off x="548640" y="4297680"/>
            <a:ext cx="11094415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Lo que tenéis al terminar</a:t>
            </a:r>
            <a:endParaRPr lang="en-US" sz="3200" dirty="0"/>
          </a:p>
        </p:txBody>
      </p:sp>
      <p:sp>
        <p:nvSpPr>
          <p:cNvPr id="3" name="Tarjeta"/>
          <p:cNvSpPr/>
          <p:nvPr/>
        </p:nvSpPr>
        <p:spPr>
          <a:xfrm>
            <a:off x="548640" y="1554480"/>
            <a:ext cx="3454298" cy="329184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</p:spPr>
      </p:sp>
      <p:sp>
        <p:nvSpPr>
          <p:cNvPr id="4" name="Matriz de decisión"/>
          <p:cNvSpPr/>
          <p:nvPr/>
        </p:nvSpPr>
        <p:spPr>
          <a:xfrm>
            <a:off x="1589989" y="1920240"/>
            <a:ext cx="1371600" cy="13716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Matriz de decisió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173" y="2249424"/>
            <a:ext cx="713232" cy="7132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520440"/>
            <a:ext cx="29056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1"/>
                </a:solidFill>
              </a:rPr>
              <a:t>Matriz de decisión</a:t>
            </a:r>
            <a:endParaRPr lang="en-US" sz="2400" dirty="0"/>
          </a:p>
          <a:p>
            <a:pPr marL="0" indent="0" algn="ctr">
              <a:buNone/>
            </a:pPr>
            <a:r>
              <a:rPr lang="en-US" sz="1700" dirty="0">
                <a:solidFill>
                  <a:schemeClr val="tx2"/>
                </a:solidFill>
              </a:rPr>
              <a:t>Bloque 3</a:t>
            </a:r>
            <a:endParaRPr lang="en-US" sz="2400" dirty="0"/>
          </a:p>
        </p:txBody>
      </p:sp>
      <p:sp>
        <p:nvSpPr>
          <p:cNvPr id="7" name="Tarjeta"/>
          <p:cNvSpPr/>
          <p:nvPr/>
        </p:nvSpPr>
        <p:spPr>
          <a:xfrm>
            <a:off x="4368698" y="1554480"/>
            <a:ext cx="3454298" cy="329184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</p:spPr>
      </p:sp>
      <p:sp>
        <p:nvSpPr>
          <p:cNvPr id="8" name="Documento del proyecto"/>
          <p:cNvSpPr/>
          <p:nvPr/>
        </p:nvSpPr>
        <p:spPr>
          <a:xfrm>
            <a:off x="5410048" y="1920240"/>
            <a:ext cx="1371600" cy="13716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1" descr="Documento del proyec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9232" y="2249424"/>
            <a:ext cx="713232" cy="7132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43018" y="3520440"/>
            <a:ext cx="29056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1"/>
                </a:solidFill>
              </a:rPr>
              <a:t>Documento del proyecto</a:t>
            </a:r>
            <a:endParaRPr lang="en-US" sz="2400" dirty="0"/>
          </a:p>
          <a:p>
            <a:pPr marL="0" indent="0" algn="ctr">
              <a:buNone/>
            </a:pPr>
            <a:r>
              <a:rPr lang="en-US" sz="1700" dirty="0">
                <a:solidFill>
                  <a:schemeClr val="tx2"/>
                </a:solidFill>
              </a:rPr>
              <a:t>Bloque 4</a:t>
            </a:r>
            <a:endParaRPr lang="en-US" sz="2400" dirty="0"/>
          </a:p>
        </p:txBody>
      </p:sp>
      <p:sp>
        <p:nvSpPr>
          <p:cNvPr id="11" name="Tarjeta"/>
          <p:cNvSpPr/>
          <p:nvPr/>
        </p:nvSpPr>
        <p:spPr>
          <a:xfrm>
            <a:off x="8188757" y="1554480"/>
            <a:ext cx="3454298" cy="329184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</p:spPr>
      </p:sp>
      <p:sp>
        <p:nvSpPr>
          <p:cNvPr id="12" name="Presentación"/>
          <p:cNvSpPr/>
          <p:nvPr/>
        </p:nvSpPr>
        <p:spPr>
          <a:xfrm>
            <a:off x="9230106" y="1920240"/>
            <a:ext cx="1371600" cy="13716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2" descr="Presentació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9290" y="2249424"/>
            <a:ext cx="713232" cy="7132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63077" y="3520440"/>
            <a:ext cx="29056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1"/>
                </a:solidFill>
              </a:rPr>
              <a:t>Presentación</a:t>
            </a:r>
            <a:endParaRPr lang="en-US" sz="2400" dirty="0"/>
          </a:p>
          <a:p>
            <a:pPr marL="0" indent="0" algn="ctr">
              <a:buNone/>
            </a:pPr>
            <a:r>
              <a:rPr lang="en-US" sz="1700" dirty="0">
                <a:solidFill>
                  <a:schemeClr val="tx2"/>
                </a:solidFill>
              </a:rPr>
              <a:t>Bloque 4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5212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Listos para defender vuestra propuesta en el bloque 5.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atividad, ofimática e IA">
  <a:themeElements>
    <a:clrScheme name="Creatividad, ofimática e IA">
      <a:dk1>
        <a:srgbClr val="1F2A44"/>
      </a:dk1>
      <a:lt1>
        <a:srgbClr val="FFFFFF"/>
      </a:lt1>
      <a:dk2>
        <a:srgbClr val="3A4664"/>
      </a:dk2>
      <a:lt2>
        <a:srgbClr val="F2F4F8"/>
      </a:lt2>
      <a:accent1>
        <a:srgbClr val="F4A300"/>
      </a:accent1>
      <a:accent2>
        <a:srgbClr val="0F7C70"/>
      </a:accent2>
      <a:accent3>
        <a:srgbClr val="D64933"/>
      </a:accent3>
      <a:accent4>
        <a:srgbClr val="6C5CE7"/>
      </a:accent4>
      <a:accent5>
        <a:srgbClr val="8A94A6"/>
      </a:accent5>
      <a:accent6>
        <a:srgbClr val="2D6A4F"/>
      </a:accent6>
      <a:hlink>
        <a:srgbClr val="0F7C70"/>
      </a:hlink>
      <a:folHlink>
        <a:srgbClr val="6C5CE7"/>
      </a:folHlink>
    </a:clrScheme>
    <a:fontScheme name="Creatividad, ofimática e I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1092</Words>
  <Application>Microsoft Office PowerPoint</Application>
  <PresentationFormat>Panorámica</PresentationFormat>
  <Paragraphs>160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Arial</vt:lpstr>
      <vt:lpstr>Calibri</vt:lpstr>
      <vt:lpstr>Courier New</vt:lpstr>
      <vt:lpstr>Creatividad, ofimática e IA</vt:lpstr>
      <vt:lpstr>Desarrollo de la propuesta ganadora</vt:lpstr>
      <vt:lpstr>Qué vamos a hacer en este bloque</vt:lpstr>
      <vt:lpstr>Antes de seguir, ponedla a prueba</vt:lpstr>
      <vt:lpstr>Lo que no supisteis responder</vt:lpstr>
      <vt:lpstr>Documento del proyecto</vt:lpstr>
      <vt:lpstr>Mientras redactáis, preguntaos…</vt:lpstr>
      <vt:lpstr>¿Cómo sabremos si funciona?</vt:lpstr>
      <vt:lpstr>Primero vosotros, después la IA</vt:lpstr>
      <vt:lpstr>Nuestros dos indicadores</vt:lpstr>
      <vt:lpstr>Presentación en tres diapositivas</vt:lpstr>
      <vt:lpstr>Criterios para vuestras diapositivas</vt:lpstr>
      <vt:lpstr>Revisión cruzada</vt:lpstr>
      <vt:lpstr>Lo que tenéis al terminar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Bloque 4. Desarrollo de la propuesta ganadora</dc:title>
  <dc:subject>Desarrollo de las habilidades creativas e innovadoras con herramientas ofimáticas y de inteligencia artificial</dc:subject>
  <dc:creator>PptxGenJS</dc:creator>
  <cp:lastModifiedBy>Javier Nieto</cp:lastModifiedBy>
  <cp:revision>3</cp:revision>
  <dcterms:created xsi:type="dcterms:W3CDTF">2026-10-18T19:56:33Z</dcterms:created>
  <dcterms:modified xsi:type="dcterms:W3CDTF">2026-10-18T20:13:21Z</dcterms:modified>
</cp:coreProperties>
</file>