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serva 3" id="{8cd3387c-a2e1-72d8-29fc-f98fd695af86}">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Ejercicio de reserva: solo si sobra tiempo al final. Recorre entero, de forma continua y rápida, el proceso del curso sobre un caso nuevo y por parejas.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que no hay nada nuevo: es el mismo proceso del curso, en rápido. Llevar el tiempo de forma estricta.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0–3. Casi todo el mundo ha vivido una llamada así: los problemas los aporta el grupo. Interés añadido para el curso: parte del problema es un asistente automático mal planteado. La pregunta de fondo es cómo usar bien la tecnología para arreglar lo que una tecnología mal usada ha estropeado. No nombrar compañías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minutos, por parejas y sin IA. Que apunten las ideas: las pegarán en el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El prompt está en el guion para copiarlo. Primero las personas, después la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Sin matriz todavía: solo quedarse con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La misma matriz del bloque 3. La ganadora no tiene por qué ser la de mayor puntuación, pero si no lo es hay que explicar por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La IA puede ayudar a redactar, pero la ficha la revisa la pareja. El indicador, igual que en el bloque 4: qué se mediría y cómo, no lo que se conseguirá.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Ocho minutos: con ocho parejas, un minuto de defensa y la pregunta. Qué buscar al corregir:
- Las provocaciones llegan hasta una idea práctica: no se quedan en la ocurrencia.
- La propuesta mejora la experiencia de quien llama, no solo ahorra costes a la compañía.
- Si usa IA o automatización, explica qué hace una persona y qué hace la máquina.
- La elección se justifica con la matriz, no solo con «nos gusta».
- El indicador es medible (por ejemplo, llamadas resueltas en el primer contacto) y no viene acompañado de resultados inventados.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768096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94760"/>
            <a:ext cx="7680960" cy="137160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108960" y="2103120"/>
            <a:ext cx="850392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3108960" y="3749040"/>
            <a:ext cx="8503920" cy="731520"/>
          </a:xfrm>
          <a:prstGeom prst="rect">
            <a:avLst/>
          </a:prstGeom>
          <a:noFill/>
          <a:ln/>
        </p:spPr>
        <p:txBody>
          <a:bodyPr wrap="square" rtlCol="0"/>
          <a:lstStyle>
            <a:lvl1pPr indent="0" marL="0">
              <a:buNone/>
              <a:defRPr lang="en-US" sz="2200" dirty="0">
                <a:solidFill>
                  <a:schemeClr val="accent1"/>
                </a:solidFill>
              </a:defRPr>
            </a:lvl1pPr>
          </a:lstStyle>
          <a:p>
            <a:pPr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8229600" cy="320040"/>
          </a:xfrm>
          <a:prstGeom prst="rect">
            <a:avLst/>
          </a:prstGeom>
          <a:noFill/>
          <a:ln/>
        </p:spPr>
        <p:txBody>
          <a:bodyPr wrap="square" lIns="0" tIns="0" rIns="0" bIns="0" rtlCol="0" anchor="ctr"/>
          <a:lstStyle/>
          <a:p>
            <a:pPr indent="0" marL="0">
              <a:buNone/>
            </a:pPr>
            <a:r>
              <a:rPr lang="en-US" sz="1100" dirty="0">
                <a:solidFill>
                  <a:schemeClr val="accent5"/>
                </a:solidFill>
              </a:rPr>
              <a:t>Ejercicio de reserva 3 · La atención telefónica que nadie soporta</a:t>
            </a:r>
            <a:endParaRPr lang="en-US" sz="11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STACAD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097280" y="1554480"/>
            <a:ext cx="9966960" cy="3108960"/>
          </a:xfrm>
          <a:prstGeom prst="rect">
            <a:avLst/>
          </a:prstGeom>
          <a:noFill/>
          <a:ln/>
        </p:spPr>
        <p:txBody>
          <a:bodyPr wrap="square" rtlCol="0"/>
          <a:lstStyle>
            <a:lvl1pPr indent="0" marL="0">
              <a:buNone/>
              <a:defRPr lang="en-US" sz="3400" dirty="0">
                <a:solidFill>
                  <a:schemeClr val="bg1"/>
                </a:solidFill>
              </a:defRPr>
            </a:lvl1pPr>
          </a:lstStyle>
          <a:p>
            <a:pPr indent="0" marL="0">
              <a:buNone/>
            </a:pPr>
            <a:endParaRPr lang="en-US" sz="3400" dirty="0"/>
          </a:p>
        </p:txBody>
      </p:sp>
      <p:sp>
        <p:nvSpPr>
          <p:cNvPr id="3" name="Text 0"/>
          <p:cNvSpPr/>
          <p:nvPr/>
        </p:nvSpPr>
        <p:spPr>
          <a:xfrm>
            <a:off x="548640" y="6355080"/>
            <a:ext cx="8229600" cy="320040"/>
          </a:xfrm>
          <a:prstGeom prst="rect">
            <a:avLst/>
          </a:prstGeom>
          <a:noFill/>
          <a:ln/>
        </p:spPr>
        <p:txBody>
          <a:bodyPr wrap="square" lIns="0" tIns="0" rIns="0" bIns="0" rtlCol="0" anchor="ctr"/>
          <a:lstStyle/>
          <a:p>
            <a:pPr indent="0" marL="0">
              <a:buNone/>
            </a:pPr>
            <a:r>
              <a:rPr lang="en-US" sz="1100" dirty="0">
                <a:solidFill>
                  <a:schemeClr val="accent5"/>
                </a:solidFill>
              </a:rPr>
              <a:t>Ejercicio de reserva 3 · La atención telefónica que nadie soporta</a:t>
            </a:r>
            <a:endParaRPr lang="en-US" sz="11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737360"/>
            <a:ext cx="2377440" cy="2743200"/>
          </a:xfrm>
          <a:prstGeom prst="rect">
            <a:avLst/>
          </a:prstGeom>
          <a:noFill/>
          <a:ln/>
        </p:spPr>
        <p:txBody>
          <a:bodyPr wrap="square" lIns="0" tIns="0" rIns="0" bIns="0" rtlCol="0" anchor="ctr"/>
          <a:lstStyle/>
          <a:p>
            <a:pPr algn="ctr" indent="0" marL="0">
              <a:buNone/>
            </a:pPr>
            <a:r>
              <a:rPr lang="en-US" sz="14000" b="1" dirty="0">
                <a:solidFill>
                  <a:schemeClr val="accent1"/>
                </a:solidFill>
                <a:latin typeface="Arial" pitchFamily="34" charset="0"/>
                <a:ea typeface="Arial" pitchFamily="34" charset="-122"/>
                <a:cs typeface="Arial" pitchFamily="34" charset="-120"/>
              </a:rPr>
              <a:t>R3</a:t>
            </a:r>
            <a:endParaRPr lang="en-US" sz="14000" dirty="0"/>
          </a:p>
        </p:txBody>
      </p:sp>
      <p:sp>
        <p:nvSpPr>
          <p:cNvPr id="3" name="Text 0"/>
          <p:cNvSpPr/>
          <p:nvPr>
            <p:ph idx="100" type="title" hasCustomPrompt="1"/>
          </p:nvPr>
        </p:nvSpPr>
        <p:spPr>
          <a:xfrm>
            <a:off x="3108960" y="2103120"/>
            <a:ext cx="8503920" cy="1463040"/>
          </a:xfrm>
          <a:prstGeom prst="rect">
            <a:avLst/>
          </a:prstGeom>
          <a:noFill/>
          <a:ln/>
        </p:spPr>
        <p:txBody>
          <a:bodyPr wrap="square" lIns="0" tIns="0" rIns="0" bIns="0" rtlCol="0" anchor="b"/>
          <a:lstStyle/>
          <a:p>
            <a:pPr algn="l" indent="0" marL="0">
              <a:buNone/>
            </a:pPr>
            <a:r>
              <a:rPr lang="en-US" sz="4000" b="1" dirty="0">
                <a:solidFill>
                  <a:schemeClr val="bg1"/>
                </a:solidFill>
              </a:rPr>
              <a:t>La atención telefónica que nadie soporta</a:t>
            </a:r>
            <a:endParaRPr lang="en-US" sz="4000" dirty="0"/>
          </a:p>
        </p:txBody>
      </p:sp>
      <p:sp>
        <p:nvSpPr>
          <p:cNvPr id="4" name="Text 0"/>
          <p:cNvSpPr/>
          <p:nvPr>
            <p:ph idx="101" type="body" hasCustomPrompt="1"/>
          </p:nvPr>
        </p:nvSpPr>
        <p:spPr>
          <a:xfrm>
            <a:off x="3108960" y="3749040"/>
            <a:ext cx="8503920" cy="731520"/>
          </a:xfrm>
          <a:prstGeom prst="rect">
            <a:avLst/>
          </a:prstGeom>
          <a:noFill/>
          <a:ln/>
        </p:spPr>
        <p:txBody>
          <a:bodyPr wrap="square" lIns="0" tIns="0" rIns="0" bIns="0" rtlCol="0" anchor="t"/>
          <a:lstStyle/>
          <a:p>
            <a:pPr indent="0" marL="0">
              <a:buNone/>
            </a:pPr>
            <a:r>
              <a:rPr lang="en-US" sz="2200" dirty="0">
                <a:solidFill>
                  <a:schemeClr val="accent1"/>
                </a:solidFill>
              </a:rPr>
              <a:t>Ejercicio de reserva 3 · 30 minutos · técnica: provocación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Todo el proceso, en 30 minutos</a:t>
            </a:r>
            <a:endParaRPr lang="en-US" sz="3200" dirty="0"/>
          </a:p>
        </p:txBody>
      </p:sp>
      <p:sp>
        <p:nvSpPr>
          <p:cNvPr id="3" name="Text 1"/>
          <p:cNvSpPr txBox="1"/>
          <p:nvPr/>
        </p:nvSpPr>
        <p:spPr>
          <a:xfrm>
            <a:off x="548640" y="1325880"/>
            <a:ext cx="11094415" cy="457200"/>
          </a:xfrm>
          <a:prstGeom prst="rect">
            <a:avLst/>
          </a:prstGeom>
          <a:noFill/>
          <a:ln/>
        </p:spPr>
        <p:txBody>
          <a:bodyPr wrap="square" lIns="0" tIns="0" rIns="0" bIns="0" rtlCol="0" anchor="ctr"/>
          <a:lstStyle/>
          <a:p>
            <a:pPr indent="0" marL="0">
              <a:buNone/>
            </a:pPr>
            <a:r>
              <a:rPr lang="en-US" sz="1900" dirty="0">
                <a:solidFill>
                  <a:schemeClr val="tx2"/>
                </a:solidFill>
              </a:rPr>
              <a:t>Lo mismo que hemos hecho durante el curso, pero seguido y rápido:</a:t>
            </a:r>
            <a:endParaRPr lang="en-US" sz="1900" dirty="0"/>
          </a:p>
        </p:txBody>
      </p:sp>
      <p:sp>
        <p:nvSpPr>
          <p:cNvPr id="4" name="Tarjeta"/>
          <p:cNvSpPr/>
          <p:nvPr/>
        </p:nvSpPr>
        <p:spPr>
          <a:xfrm>
            <a:off x="548640" y="2011680"/>
            <a:ext cx="1962851" cy="2743200"/>
          </a:xfrm>
          <a:prstGeom prst="roundRect">
            <a:avLst>
              <a:gd name="adj" fmla="val 6988"/>
            </a:avLst>
          </a:prstGeom>
          <a:solidFill>
            <a:schemeClr val="bg2"/>
          </a:solidFill>
          <a:ln/>
        </p:spPr>
      </p:sp>
      <p:sp>
        <p:nvSpPr>
          <p:cNvPr id="5" name="1. Generar ideas"/>
          <p:cNvSpPr/>
          <p:nvPr/>
        </p:nvSpPr>
        <p:spPr>
          <a:xfrm>
            <a:off x="1027146" y="2286000"/>
            <a:ext cx="1005840" cy="1005840"/>
          </a:xfrm>
          <a:prstGeom prst="ellipse">
            <a:avLst/>
          </a:prstGeom>
          <a:solidFill>
            <a:schemeClr val="accent1"/>
          </a:solidFill>
          <a:ln/>
        </p:spPr>
      </p:sp>
      <p:pic>
        <p:nvPicPr>
          <p:cNvPr id="6" name="Image 0" descr="1. Generar ideas">    </p:cNvPr>
          <p:cNvPicPr>
            <a:picLocks noChangeAspect="1"/>
          </p:cNvPicPr>
          <p:nvPr/>
        </p:nvPicPr>
        <p:blipFill>
          <a:blip r:embed="rId1"/>
          <a:stretch>
            <a:fillRect/>
          </a:stretch>
        </p:blipFill>
        <p:spPr>
          <a:xfrm>
            <a:off x="1268547" y="2527402"/>
            <a:ext cx="523037" cy="523037"/>
          </a:xfrm>
          <a:prstGeom prst="rect">
            <a:avLst/>
          </a:prstGeom>
        </p:spPr>
      </p:pic>
      <p:sp>
        <p:nvSpPr>
          <p:cNvPr id="7" name="Text 4"/>
          <p:cNvSpPr txBox="1"/>
          <p:nvPr/>
        </p:nvSpPr>
        <p:spPr>
          <a:xfrm>
            <a:off x="685800" y="3474720"/>
            <a:ext cx="1688531" cy="685800"/>
          </a:xfrm>
          <a:prstGeom prst="rect">
            <a:avLst/>
          </a:prstGeom>
          <a:noFill/>
          <a:ln/>
        </p:spPr>
        <p:txBody>
          <a:bodyPr wrap="square" lIns="0" tIns="0" rIns="0" bIns="0" rtlCol="0" anchor="ctr"/>
          <a:lstStyle/>
          <a:p>
            <a:pPr algn="ctr" indent="0" marL="0">
              <a:buNone/>
            </a:pPr>
            <a:r>
              <a:rPr lang="en-US" sz="1800" b="1" dirty="0">
                <a:solidFill>
                  <a:schemeClr val="tx1"/>
                </a:solidFill>
              </a:rPr>
              <a:t>1. Generar ideas</a:t>
            </a:r>
            <a:endParaRPr lang="en-US" sz="1800" dirty="0"/>
          </a:p>
        </p:txBody>
      </p:sp>
      <p:sp>
        <p:nvSpPr>
          <p:cNvPr id="8" name="Text 5"/>
          <p:cNvSpPr txBox="1"/>
          <p:nvPr/>
        </p:nvSpPr>
        <p:spPr>
          <a:xfrm>
            <a:off x="685800" y="4160520"/>
            <a:ext cx="1688531" cy="411480"/>
          </a:xfrm>
          <a:prstGeom prst="rect">
            <a:avLst/>
          </a:prstGeom>
          <a:noFill/>
          <a:ln/>
        </p:spPr>
        <p:txBody>
          <a:bodyPr wrap="square" lIns="0" tIns="0" rIns="0" bIns="0" rtlCol="0" anchor="ctr"/>
          <a:lstStyle/>
          <a:p>
            <a:pPr algn="ctr" indent="0" marL="0">
              <a:buNone/>
            </a:pPr>
            <a:r>
              <a:rPr lang="en-US" sz="1500" dirty="0">
                <a:solidFill>
                  <a:schemeClr val="tx2"/>
                </a:solidFill>
              </a:rPr>
              <a:t>Min. 3–10</a:t>
            </a:r>
            <a:endParaRPr lang="en-US" sz="1500" dirty="0"/>
          </a:p>
        </p:txBody>
      </p:sp>
      <p:sp>
        <p:nvSpPr>
          <p:cNvPr id="9" name="Shape 6"/>
          <p:cNvSpPr/>
          <p:nvPr/>
        </p:nvSpPr>
        <p:spPr>
          <a:xfrm>
            <a:off x="2548067" y="3383280"/>
            <a:ext cx="246888" cy="0"/>
          </a:xfrm>
          <a:prstGeom prst="line">
            <a:avLst/>
          </a:prstGeom>
          <a:noFill/>
          <a:ln w="31750">
            <a:solidFill>
              <a:srgbClr val="3A4664"/>
            </a:solidFill>
            <a:prstDash val="solid"/>
            <a:tailEnd type="triangle"/>
          </a:ln>
        </p:spPr>
      </p:sp>
      <p:sp>
        <p:nvSpPr>
          <p:cNvPr id="10" name="Tarjeta"/>
          <p:cNvSpPr/>
          <p:nvPr/>
        </p:nvSpPr>
        <p:spPr>
          <a:xfrm>
            <a:off x="2831531" y="2011680"/>
            <a:ext cx="1962851" cy="2743200"/>
          </a:xfrm>
          <a:prstGeom prst="roundRect">
            <a:avLst>
              <a:gd name="adj" fmla="val 6988"/>
            </a:avLst>
          </a:prstGeom>
          <a:solidFill>
            <a:schemeClr val="bg2"/>
          </a:solidFill>
          <a:ln/>
        </p:spPr>
      </p:sp>
      <p:sp>
        <p:nvSpPr>
          <p:cNvPr id="11" name="2. Seleccionar"/>
          <p:cNvSpPr/>
          <p:nvPr/>
        </p:nvSpPr>
        <p:spPr>
          <a:xfrm>
            <a:off x="3310037" y="2286000"/>
            <a:ext cx="1005840" cy="1005840"/>
          </a:xfrm>
          <a:prstGeom prst="ellipse">
            <a:avLst/>
          </a:prstGeom>
          <a:solidFill>
            <a:schemeClr val="accent1"/>
          </a:solidFill>
          <a:ln/>
        </p:spPr>
      </p:sp>
      <p:pic>
        <p:nvPicPr>
          <p:cNvPr id="12" name="Image 1" descr="2. Seleccionar">    </p:cNvPr>
          <p:cNvPicPr>
            <a:picLocks noChangeAspect="1"/>
          </p:cNvPicPr>
          <p:nvPr/>
        </p:nvPicPr>
        <p:blipFill>
          <a:blip r:embed="rId2"/>
          <a:stretch>
            <a:fillRect/>
          </a:stretch>
        </p:blipFill>
        <p:spPr>
          <a:xfrm>
            <a:off x="3551438" y="2527402"/>
            <a:ext cx="523037" cy="523037"/>
          </a:xfrm>
          <a:prstGeom prst="rect">
            <a:avLst/>
          </a:prstGeom>
        </p:spPr>
      </p:pic>
      <p:sp>
        <p:nvSpPr>
          <p:cNvPr id="13" name="Text 9"/>
          <p:cNvSpPr txBox="1"/>
          <p:nvPr/>
        </p:nvSpPr>
        <p:spPr>
          <a:xfrm>
            <a:off x="2968691" y="3474720"/>
            <a:ext cx="1688531" cy="685800"/>
          </a:xfrm>
          <a:prstGeom prst="rect">
            <a:avLst/>
          </a:prstGeom>
          <a:noFill/>
          <a:ln/>
        </p:spPr>
        <p:txBody>
          <a:bodyPr wrap="square" lIns="0" tIns="0" rIns="0" bIns="0" rtlCol="0" anchor="ctr"/>
          <a:lstStyle/>
          <a:p>
            <a:pPr algn="ctr" indent="0" marL="0">
              <a:buNone/>
            </a:pPr>
            <a:r>
              <a:rPr lang="en-US" sz="1800" b="1" dirty="0">
                <a:solidFill>
                  <a:schemeClr val="tx1"/>
                </a:solidFill>
              </a:rPr>
              <a:t>2. Seleccionar</a:t>
            </a:r>
            <a:endParaRPr lang="en-US" sz="1800" dirty="0"/>
          </a:p>
        </p:txBody>
      </p:sp>
      <p:sp>
        <p:nvSpPr>
          <p:cNvPr id="14" name="Text 10"/>
          <p:cNvSpPr txBox="1"/>
          <p:nvPr/>
        </p:nvSpPr>
        <p:spPr>
          <a:xfrm>
            <a:off x="2968691" y="4160520"/>
            <a:ext cx="1688531" cy="411480"/>
          </a:xfrm>
          <a:prstGeom prst="rect">
            <a:avLst/>
          </a:prstGeom>
          <a:noFill/>
          <a:ln/>
        </p:spPr>
        <p:txBody>
          <a:bodyPr wrap="square" lIns="0" tIns="0" rIns="0" bIns="0" rtlCol="0" anchor="ctr"/>
          <a:lstStyle/>
          <a:p>
            <a:pPr algn="ctr" indent="0" marL="0">
              <a:buNone/>
            </a:pPr>
            <a:r>
              <a:rPr lang="en-US" sz="1500" dirty="0">
                <a:solidFill>
                  <a:schemeClr val="tx2"/>
                </a:solidFill>
              </a:rPr>
              <a:t>Min. 10–12</a:t>
            </a:r>
            <a:endParaRPr lang="en-US" sz="1500" dirty="0"/>
          </a:p>
        </p:txBody>
      </p:sp>
      <p:sp>
        <p:nvSpPr>
          <p:cNvPr id="15" name="Shape 11"/>
          <p:cNvSpPr/>
          <p:nvPr/>
        </p:nvSpPr>
        <p:spPr>
          <a:xfrm>
            <a:off x="4830958" y="3383280"/>
            <a:ext cx="246888" cy="0"/>
          </a:xfrm>
          <a:prstGeom prst="line">
            <a:avLst/>
          </a:prstGeom>
          <a:noFill/>
          <a:ln w="31750">
            <a:solidFill>
              <a:srgbClr val="3A4664"/>
            </a:solidFill>
            <a:prstDash val="solid"/>
            <a:tailEnd type="triangle"/>
          </a:ln>
        </p:spPr>
      </p:sp>
      <p:sp>
        <p:nvSpPr>
          <p:cNvPr id="16" name="Tarjeta"/>
          <p:cNvSpPr/>
          <p:nvPr/>
        </p:nvSpPr>
        <p:spPr>
          <a:xfrm>
            <a:off x="5114422" y="2011680"/>
            <a:ext cx="1962851" cy="2743200"/>
          </a:xfrm>
          <a:prstGeom prst="roundRect">
            <a:avLst>
              <a:gd name="adj" fmla="val 6988"/>
            </a:avLst>
          </a:prstGeom>
          <a:solidFill>
            <a:schemeClr val="bg2"/>
          </a:solidFill>
          <a:ln/>
        </p:spPr>
      </p:sp>
      <p:sp>
        <p:nvSpPr>
          <p:cNvPr id="17" name="3. Comparar y elegir"/>
          <p:cNvSpPr/>
          <p:nvPr/>
        </p:nvSpPr>
        <p:spPr>
          <a:xfrm>
            <a:off x="5592928" y="2286000"/>
            <a:ext cx="1005840" cy="1005840"/>
          </a:xfrm>
          <a:prstGeom prst="ellipse">
            <a:avLst/>
          </a:prstGeom>
          <a:solidFill>
            <a:schemeClr val="accent1"/>
          </a:solidFill>
          <a:ln/>
        </p:spPr>
      </p:sp>
      <p:pic>
        <p:nvPicPr>
          <p:cNvPr id="18" name="Image 2" descr="3. Comparar y elegir">    </p:cNvPr>
          <p:cNvPicPr>
            <a:picLocks noChangeAspect="1"/>
          </p:cNvPicPr>
          <p:nvPr/>
        </p:nvPicPr>
        <p:blipFill>
          <a:blip r:embed="rId3"/>
          <a:stretch>
            <a:fillRect/>
          </a:stretch>
        </p:blipFill>
        <p:spPr>
          <a:xfrm>
            <a:off x="5834329" y="2527402"/>
            <a:ext cx="523037" cy="523037"/>
          </a:xfrm>
          <a:prstGeom prst="rect">
            <a:avLst/>
          </a:prstGeom>
        </p:spPr>
      </p:pic>
      <p:sp>
        <p:nvSpPr>
          <p:cNvPr id="19" name="Text 14"/>
          <p:cNvSpPr txBox="1"/>
          <p:nvPr/>
        </p:nvSpPr>
        <p:spPr>
          <a:xfrm>
            <a:off x="5251582" y="3474720"/>
            <a:ext cx="1688531" cy="685800"/>
          </a:xfrm>
          <a:prstGeom prst="rect">
            <a:avLst/>
          </a:prstGeom>
          <a:noFill/>
          <a:ln/>
        </p:spPr>
        <p:txBody>
          <a:bodyPr wrap="square" lIns="0" tIns="0" rIns="0" bIns="0" rtlCol="0" anchor="ctr"/>
          <a:lstStyle/>
          <a:p>
            <a:pPr algn="ctr" indent="0" marL="0">
              <a:buNone/>
            </a:pPr>
            <a:r>
              <a:rPr lang="en-US" sz="1800" b="1" dirty="0">
                <a:solidFill>
                  <a:schemeClr val="tx1"/>
                </a:solidFill>
              </a:rPr>
              <a:t>3. Comparar y elegir</a:t>
            </a:r>
            <a:endParaRPr lang="en-US" sz="1800" dirty="0"/>
          </a:p>
        </p:txBody>
      </p:sp>
      <p:sp>
        <p:nvSpPr>
          <p:cNvPr id="20" name="Text 15"/>
          <p:cNvSpPr txBox="1"/>
          <p:nvPr/>
        </p:nvSpPr>
        <p:spPr>
          <a:xfrm>
            <a:off x="5251582" y="4160520"/>
            <a:ext cx="1688531" cy="411480"/>
          </a:xfrm>
          <a:prstGeom prst="rect">
            <a:avLst/>
          </a:prstGeom>
          <a:noFill/>
          <a:ln/>
        </p:spPr>
        <p:txBody>
          <a:bodyPr wrap="square" lIns="0" tIns="0" rIns="0" bIns="0" rtlCol="0" anchor="ctr"/>
          <a:lstStyle/>
          <a:p>
            <a:pPr algn="ctr" indent="0" marL="0">
              <a:buNone/>
            </a:pPr>
            <a:r>
              <a:rPr lang="en-US" sz="1500" dirty="0">
                <a:solidFill>
                  <a:schemeClr val="tx2"/>
                </a:solidFill>
              </a:rPr>
              <a:t>Min. 12–17</a:t>
            </a:r>
            <a:endParaRPr lang="en-US" sz="1500" dirty="0"/>
          </a:p>
        </p:txBody>
      </p:sp>
      <p:sp>
        <p:nvSpPr>
          <p:cNvPr id="21" name="Shape 16"/>
          <p:cNvSpPr/>
          <p:nvPr/>
        </p:nvSpPr>
        <p:spPr>
          <a:xfrm>
            <a:off x="7113849" y="3383280"/>
            <a:ext cx="246888" cy="0"/>
          </a:xfrm>
          <a:prstGeom prst="line">
            <a:avLst/>
          </a:prstGeom>
          <a:noFill/>
          <a:ln w="31750">
            <a:solidFill>
              <a:srgbClr val="3A4664"/>
            </a:solidFill>
            <a:prstDash val="solid"/>
            <a:tailEnd type="triangle"/>
          </a:ln>
        </p:spPr>
      </p:sp>
      <p:sp>
        <p:nvSpPr>
          <p:cNvPr id="22" name="Tarjeta"/>
          <p:cNvSpPr/>
          <p:nvPr/>
        </p:nvSpPr>
        <p:spPr>
          <a:xfrm>
            <a:off x="7397313" y="2011680"/>
            <a:ext cx="1962851" cy="2743200"/>
          </a:xfrm>
          <a:prstGeom prst="roundRect">
            <a:avLst>
              <a:gd name="adj" fmla="val 6988"/>
            </a:avLst>
          </a:prstGeom>
          <a:solidFill>
            <a:schemeClr val="bg2"/>
          </a:solidFill>
          <a:ln/>
        </p:spPr>
      </p:sp>
      <p:sp>
        <p:nvSpPr>
          <p:cNvPr id="23" name="4. Documentar"/>
          <p:cNvSpPr/>
          <p:nvPr/>
        </p:nvSpPr>
        <p:spPr>
          <a:xfrm>
            <a:off x="7875819" y="2286000"/>
            <a:ext cx="1005840" cy="1005840"/>
          </a:xfrm>
          <a:prstGeom prst="ellipse">
            <a:avLst/>
          </a:prstGeom>
          <a:solidFill>
            <a:schemeClr val="accent1"/>
          </a:solidFill>
          <a:ln/>
        </p:spPr>
      </p:sp>
      <p:pic>
        <p:nvPicPr>
          <p:cNvPr id="24" name="Image 3" descr="4. Documentar">    </p:cNvPr>
          <p:cNvPicPr>
            <a:picLocks noChangeAspect="1"/>
          </p:cNvPicPr>
          <p:nvPr/>
        </p:nvPicPr>
        <p:blipFill>
          <a:blip r:embed="rId4"/>
          <a:stretch>
            <a:fillRect/>
          </a:stretch>
        </p:blipFill>
        <p:spPr>
          <a:xfrm>
            <a:off x="8117220" y="2527402"/>
            <a:ext cx="523037" cy="523037"/>
          </a:xfrm>
          <a:prstGeom prst="rect">
            <a:avLst/>
          </a:prstGeom>
        </p:spPr>
      </p:pic>
      <p:sp>
        <p:nvSpPr>
          <p:cNvPr id="25" name="Text 19"/>
          <p:cNvSpPr txBox="1"/>
          <p:nvPr/>
        </p:nvSpPr>
        <p:spPr>
          <a:xfrm>
            <a:off x="7534473" y="3474720"/>
            <a:ext cx="1688531" cy="685800"/>
          </a:xfrm>
          <a:prstGeom prst="rect">
            <a:avLst/>
          </a:prstGeom>
          <a:noFill/>
          <a:ln/>
        </p:spPr>
        <p:txBody>
          <a:bodyPr wrap="square" lIns="0" tIns="0" rIns="0" bIns="0" rtlCol="0" anchor="ctr"/>
          <a:lstStyle/>
          <a:p>
            <a:pPr algn="ctr" indent="0" marL="0">
              <a:buNone/>
            </a:pPr>
            <a:r>
              <a:rPr lang="en-US" sz="1800" b="1" dirty="0">
                <a:solidFill>
                  <a:schemeClr val="tx1"/>
                </a:solidFill>
              </a:rPr>
              <a:t>4. Documentar</a:t>
            </a:r>
            <a:endParaRPr lang="en-US" sz="1800" dirty="0"/>
          </a:p>
        </p:txBody>
      </p:sp>
      <p:sp>
        <p:nvSpPr>
          <p:cNvPr id="26" name="Text 20"/>
          <p:cNvSpPr txBox="1"/>
          <p:nvPr/>
        </p:nvSpPr>
        <p:spPr>
          <a:xfrm>
            <a:off x="7534473" y="4160520"/>
            <a:ext cx="1688531" cy="411480"/>
          </a:xfrm>
          <a:prstGeom prst="rect">
            <a:avLst/>
          </a:prstGeom>
          <a:noFill/>
          <a:ln/>
        </p:spPr>
        <p:txBody>
          <a:bodyPr wrap="square" lIns="0" tIns="0" rIns="0" bIns="0" rtlCol="0" anchor="ctr"/>
          <a:lstStyle/>
          <a:p>
            <a:pPr algn="ctr" indent="0" marL="0">
              <a:buNone/>
            </a:pPr>
            <a:r>
              <a:rPr lang="en-US" sz="1500" dirty="0">
                <a:solidFill>
                  <a:schemeClr val="tx2"/>
                </a:solidFill>
              </a:rPr>
              <a:t>Min. 17–22</a:t>
            </a:r>
            <a:endParaRPr lang="en-US" sz="1500" dirty="0"/>
          </a:p>
        </p:txBody>
      </p:sp>
      <p:sp>
        <p:nvSpPr>
          <p:cNvPr id="27" name="Shape 21"/>
          <p:cNvSpPr/>
          <p:nvPr/>
        </p:nvSpPr>
        <p:spPr>
          <a:xfrm>
            <a:off x="9396740" y="3383280"/>
            <a:ext cx="246888" cy="0"/>
          </a:xfrm>
          <a:prstGeom prst="line">
            <a:avLst/>
          </a:prstGeom>
          <a:noFill/>
          <a:ln w="31750">
            <a:solidFill>
              <a:srgbClr val="3A4664"/>
            </a:solidFill>
            <a:prstDash val="solid"/>
            <a:tailEnd type="triangle"/>
          </a:ln>
        </p:spPr>
      </p:sp>
      <p:sp>
        <p:nvSpPr>
          <p:cNvPr id="28" name="Tarjeta"/>
          <p:cNvSpPr/>
          <p:nvPr/>
        </p:nvSpPr>
        <p:spPr>
          <a:xfrm>
            <a:off x="9680204" y="2011680"/>
            <a:ext cx="1962851" cy="2743200"/>
          </a:xfrm>
          <a:prstGeom prst="roundRect">
            <a:avLst>
              <a:gd name="adj" fmla="val 6988"/>
            </a:avLst>
          </a:prstGeom>
          <a:solidFill>
            <a:schemeClr val="bg2"/>
          </a:solidFill>
          <a:ln/>
        </p:spPr>
      </p:sp>
      <p:sp>
        <p:nvSpPr>
          <p:cNvPr id="29" name="5. Defender"/>
          <p:cNvSpPr/>
          <p:nvPr/>
        </p:nvSpPr>
        <p:spPr>
          <a:xfrm>
            <a:off x="10158710" y="2286000"/>
            <a:ext cx="1005840" cy="1005840"/>
          </a:xfrm>
          <a:prstGeom prst="ellipse">
            <a:avLst/>
          </a:prstGeom>
          <a:solidFill>
            <a:schemeClr val="accent1"/>
          </a:solidFill>
          <a:ln/>
        </p:spPr>
      </p:sp>
      <p:pic>
        <p:nvPicPr>
          <p:cNvPr id="30" name="Image 4" descr="5. Defender">    </p:cNvPr>
          <p:cNvPicPr>
            <a:picLocks noChangeAspect="1"/>
          </p:cNvPicPr>
          <p:nvPr/>
        </p:nvPicPr>
        <p:blipFill>
          <a:blip r:embed="rId5"/>
          <a:stretch>
            <a:fillRect/>
          </a:stretch>
        </p:blipFill>
        <p:spPr>
          <a:xfrm>
            <a:off x="10400111" y="2527402"/>
            <a:ext cx="523037" cy="523037"/>
          </a:xfrm>
          <a:prstGeom prst="rect">
            <a:avLst/>
          </a:prstGeom>
        </p:spPr>
      </p:pic>
      <p:sp>
        <p:nvSpPr>
          <p:cNvPr id="31" name="Text 24"/>
          <p:cNvSpPr txBox="1"/>
          <p:nvPr/>
        </p:nvSpPr>
        <p:spPr>
          <a:xfrm>
            <a:off x="9817364" y="3474720"/>
            <a:ext cx="1688531" cy="685800"/>
          </a:xfrm>
          <a:prstGeom prst="rect">
            <a:avLst/>
          </a:prstGeom>
          <a:noFill/>
          <a:ln/>
        </p:spPr>
        <p:txBody>
          <a:bodyPr wrap="square" lIns="0" tIns="0" rIns="0" bIns="0" rtlCol="0" anchor="ctr"/>
          <a:lstStyle/>
          <a:p>
            <a:pPr algn="ctr" indent="0" marL="0">
              <a:buNone/>
            </a:pPr>
            <a:r>
              <a:rPr lang="en-US" sz="1800" b="1" dirty="0">
                <a:solidFill>
                  <a:schemeClr val="tx1"/>
                </a:solidFill>
              </a:rPr>
              <a:t>5. Defender</a:t>
            </a:r>
            <a:endParaRPr lang="en-US" sz="1800" dirty="0"/>
          </a:p>
        </p:txBody>
      </p:sp>
      <p:sp>
        <p:nvSpPr>
          <p:cNvPr id="32" name="Text 25"/>
          <p:cNvSpPr txBox="1"/>
          <p:nvPr/>
        </p:nvSpPr>
        <p:spPr>
          <a:xfrm>
            <a:off x="9817364" y="4160520"/>
            <a:ext cx="1688531" cy="411480"/>
          </a:xfrm>
          <a:prstGeom prst="rect">
            <a:avLst/>
          </a:prstGeom>
          <a:noFill/>
          <a:ln/>
        </p:spPr>
        <p:txBody>
          <a:bodyPr wrap="square" lIns="0" tIns="0" rIns="0" bIns="0" rtlCol="0" anchor="ctr"/>
          <a:lstStyle/>
          <a:p>
            <a:pPr algn="ctr" indent="0" marL="0">
              <a:buNone/>
            </a:pPr>
            <a:r>
              <a:rPr lang="en-US" sz="1500" dirty="0">
                <a:solidFill>
                  <a:schemeClr val="tx2"/>
                </a:solidFill>
              </a:rPr>
              <a:t>Min. 22–30</a:t>
            </a:r>
            <a:endParaRPr lang="en-US" sz="1500" dirty="0"/>
          </a:p>
        </p:txBody>
      </p:sp>
      <p:sp>
        <p:nvSpPr>
          <p:cNvPr id="33" name="Text 26"/>
          <p:cNvSpPr txBox="1"/>
          <p:nvPr/>
        </p:nvSpPr>
        <p:spPr>
          <a:xfrm>
            <a:off x="548640" y="5120640"/>
            <a:ext cx="11094415" cy="502920"/>
          </a:xfrm>
          <a:prstGeom prst="rect">
            <a:avLst/>
          </a:prstGeom>
          <a:noFill/>
          <a:ln/>
        </p:spPr>
        <p:txBody>
          <a:bodyPr wrap="square" lIns="0" tIns="0" rIns="0" bIns="0" rtlCol="0" anchor="ctr"/>
          <a:lstStyle/>
          <a:p>
            <a:pPr indent="0" marL="0">
              <a:buNone/>
            </a:pPr>
            <a:r>
              <a:rPr lang="en-US" sz="2000" b="1" dirty="0">
                <a:solidFill>
                  <a:schemeClr val="accent3"/>
                </a:solidFill>
              </a:rPr>
              <a:t>Técnica de este ejercicio: Provocación.</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El caso</a:t>
            </a:r>
            <a:endParaRPr lang="en-US" sz="3200" dirty="0"/>
          </a:p>
        </p:txBody>
      </p:sp>
      <p:sp>
        <p:nvSpPr>
          <p:cNvPr id="3" name="Etiqueta de tiempo"/>
          <p:cNvSpPr/>
          <p:nvPr/>
        </p:nvSpPr>
        <p:spPr>
          <a:xfrm>
            <a:off x="8662111" y="548640"/>
            <a:ext cx="2980944" cy="457200"/>
          </a:xfrm>
          <a:prstGeom prst="roundRect">
            <a:avLst>
              <a:gd name="adj" fmla="val 50000"/>
            </a:avLst>
          </a:prstGeom>
          <a:solidFill>
            <a:schemeClr val="accent1"/>
          </a:solidFill>
          <a:ln/>
        </p:spPr>
      </p:sp>
      <p:sp>
        <p:nvSpPr>
          <p:cNvPr id="4" name="Text 2"/>
          <p:cNvSpPr txBox="1"/>
          <p:nvPr/>
        </p:nvSpPr>
        <p:spPr>
          <a:xfrm>
            <a:off x="8662111" y="548640"/>
            <a:ext cx="2980944" cy="457200"/>
          </a:xfrm>
          <a:prstGeom prst="rect">
            <a:avLst/>
          </a:prstGeom>
          <a:noFill/>
          <a:ln/>
        </p:spPr>
        <p:txBody>
          <a:bodyPr wrap="square" lIns="0" tIns="0" rIns="0" bIns="0" rtlCol="0" anchor="ctr"/>
          <a:lstStyle/>
          <a:p>
            <a:pPr algn="ctr" indent="0" marL="0">
              <a:buNone/>
            </a:pPr>
            <a:r>
              <a:rPr lang="en-US" sz="1400" b="1" dirty="0">
                <a:solidFill>
                  <a:schemeClr val="tx1"/>
                </a:solidFill>
              </a:rPr>
              <a:t>Min. 0–3 · Todo el grupo</a:t>
            </a:r>
            <a:endParaRPr lang="en-US" sz="1400" dirty="0"/>
          </a:p>
        </p:txBody>
      </p:sp>
      <p:sp>
        <p:nvSpPr>
          <p:cNvPr id="5" name="Text 3"/>
          <p:cNvSpPr txBox="1"/>
          <p:nvPr/>
        </p:nvSpPr>
        <p:spPr>
          <a:xfrm>
            <a:off x="548640" y="1325880"/>
            <a:ext cx="11094415" cy="594360"/>
          </a:xfrm>
          <a:prstGeom prst="rect">
            <a:avLst/>
          </a:prstGeom>
          <a:noFill/>
          <a:ln/>
        </p:spPr>
        <p:txBody>
          <a:bodyPr wrap="square" lIns="0" tIns="0" rIns="0" bIns="0" rtlCol="0" anchor="ctr"/>
          <a:lstStyle/>
          <a:p>
            <a:pPr indent="0" marL="0">
              <a:buNone/>
            </a:pPr>
            <a:r>
              <a:rPr lang="en-US" sz="1900" dirty="0">
                <a:solidFill>
                  <a:schemeClr val="tx2"/>
                </a:solidFill>
              </a:rPr>
              <a:t>Una compañía de luz y gas (ficticia) con una atención telefónica de la que todo el mundo se queja.</a:t>
            </a:r>
            <a:endParaRPr lang="en-US" sz="1900" dirty="0"/>
          </a:p>
        </p:txBody>
      </p:sp>
      <p:sp>
        <p:nvSpPr>
          <p:cNvPr id="6" name="Tarjeta"/>
          <p:cNvSpPr/>
          <p:nvPr/>
        </p:nvSpPr>
        <p:spPr>
          <a:xfrm>
            <a:off x="548640" y="2103120"/>
            <a:ext cx="3484778" cy="1920240"/>
          </a:xfrm>
          <a:prstGeom prst="roundRect">
            <a:avLst>
              <a:gd name="adj" fmla="val 7143"/>
            </a:avLst>
          </a:prstGeom>
          <a:solidFill>
            <a:schemeClr val="bg2"/>
          </a:solidFill>
          <a:ln/>
        </p:spPr>
      </p:sp>
      <p:sp>
        <p:nvSpPr>
          <p:cNvPr id="7" name="Dato"/>
          <p:cNvSpPr/>
          <p:nvPr/>
        </p:nvSpPr>
        <p:spPr>
          <a:xfrm>
            <a:off x="822960" y="2331720"/>
            <a:ext cx="685800" cy="685800"/>
          </a:xfrm>
          <a:prstGeom prst="ellipse">
            <a:avLst/>
          </a:prstGeom>
          <a:solidFill>
            <a:schemeClr val="tx2"/>
          </a:solidFill>
          <a:ln/>
        </p:spPr>
      </p:sp>
      <p:pic>
        <p:nvPicPr>
          <p:cNvPr id="8" name="Image 0" descr="Dato">    </p:cNvPr>
          <p:cNvPicPr>
            <a:picLocks noChangeAspect="1"/>
          </p:cNvPicPr>
          <p:nvPr/>
        </p:nvPicPr>
        <p:blipFill>
          <a:blip r:embed="rId1"/>
          <a:stretch>
            <a:fillRect/>
          </a:stretch>
        </p:blipFill>
        <p:spPr>
          <a:xfrm>
            <a:off x="987552" y="2496312"/>
            <a:ext cx="356616" cy="356616"/>
          </a:xfrm>
          <a:prstGeom prst="rect">
            <a:avLst/>
          </a:prstGeom>
        </p:spPr>
      </p:pic>
      <p:sp>
        <p:nvSpPr>
          <p:cNvPr id="9" name="Text 6"/>
          <p:cNvSpPr txBox="1"/>
          <p:nvPr/>
        </p:nvSpPr>
        <p:spPr>
          <a:xfrm>
            <a:off x="822960" y="3108960"/>
            <a:ext cx="2936138" cy="868680"/>
          </a:xfrm>
          <a:prstGeom prst="rect">
            <a:avLst/>
          </a:prstGeom>
          <a:noFill/>
          <a:ln/>
        </p:spPr>
        <p:txBody>
          <a:bodyPr wrap="square" lIns="0" tIns="0" rIns="0" bIns="0" rtlCol="0" anchor="t"/>
          <a:lstStyle/>
          <a:p>
            <a:pPr indent="0" marL="0">
              <a:buNone/>
            </a:pPr>
            <a:r>
              <a:rPr lang="en-US" sz="1600" dirty="0">
                <a:solidFill>
                  <a:schemeClr val="tx1"/>
                </a:solidFill>
              </a:rPr>
              <a:t>Un menú automático con muchas opciones.</a:t>
            </a:r>
            <a:endParaRPr lang="en-US" sz="1600" dirty="0"/>
          </a:p>
        </p:txBody>
      </p:sp>
      <p:sp>
        <p:nvSpPr>
          <p:cNvPr id="10" name="Tarjeta"/>
          <p:cNvSpPr/>
          <p:nvPr/>
        </p:nvSpPr>
        <p:spPr>
          <a:xfrm>
            <a:off x="4353458" y="2103120"/>
            <a:ext cx="3484778" cy="1920240"/>
          </a:xfrm>
          <a:prstGeom prst="roundRect">
            <a:avLst>
              <a:gd name="adj" fmla="val 7143"/>
            </a:avLst>
          </a:prstGeom>
          <a:solidFill>
            <a:schemeClr val="bg2"/>
          </a:solidFill>
          <a:ln/>
        </p:spPr>
      </p:sp>
      <p:sp>
        <p:nvSpPr>
          <p:cNvPr id="11" name="Dato"/>
          <p:cNvSpPr/>
          <p:nvPr/>
        </p:nvSpPr>
        <p:spPr>
          <a:xfrm>
            <a:off x="4627778" y="2331720"/>
            <a:ext cx="685800" cy="685800"/>
          </a:xfrm>
          <a:prstGeom prst="ellipse">
            <a:avLst/>
          </a:prstGeom>
          <a:solidFill>
            <a:schemeClr val="tx2"/>
          </a:solidFill>
          <a:ln/>
        </p:spPr>
      </p:sp>
      <p:pic>
        <p:nvPicPr>
          <p:cNvPr id="12" name="Image 1" descr="Dato">    </p:cNvPr>
          <p:cNvPicPr>
            <a:picLocks noChangeAspect="1"/>
          </p:cNvPicPr>
          <p:nvPr/>
        </p:nvPicPr>
        <p:blipFill>
          <a:blip r:embed="rId2"/>
          <a:stretch>
            <a:fillRect/>
          </a:stretch>
        </p:blipFill>
        <p:spPr>
          <a:xfrm>
            <a:off x="4792370" y="2496312"/>
            <a:ext cx="356616" cy="356616"/>
          </a:xfrm>
          <a:prstGeom prst="rect">
            <a:avLst/>
          </a:prstGeom>
        </p:spPr>
      </p:pic>
      <p:sp>
        <p:nvSpPr>
          <p:cNvPr id="13" name="Text 9"/>
          <p:cNvSpPr txBox="1"/>
          <p:nvPr/>
        </p:nvSpPr>
        <p:spPr>
          <a:xfrm>
            <a:off x="4627778" y="3108960"/>
            <a:ext cx="2936138" cy="868680"/>
          </a:xfrm>
          <a:prstGeom prst="rect">
            <a:avLst/>
          </a:prstGeom>
          <a:noFill/>
          <a:ln/>
        </p:spPr>
        <p:txBody>
          <a:bodyPr wrap="square" lIns="0" tIns="0" rIns="0" bIns="0" rtlCol="0" anchor="t"/>
          <a:lstStyle/>
          <a:p>
            <a:pPr indent="0" marL="0">
              <a:buNone/>
            </a:pPr>
            <a:r>
              <a:rPr lang="en-US" sz="1600" dirty="0">
                <a:solidFill>
                  <a:schemeClr val="tx1"/>
                </a:solidFill>
              </a:rPr>
              <a:t>Un asistente virtual que no entiende lo que se le pide.</a:t>
            </a:r>
            <a:endParaRPr lang="en-US" sz="1600" dirty="0"/>
          </a:p>
        </p:txBody>
      </p:sp>
      <p:sp>
        <p:nvSpPr>
          <p:cNvPr id="14" name="Tarjeta"/>
          <p:cNvSpPr/>
          <p:nvPr/>
        </p:nvSpPr>
        <p:spPr>
          <a:xfrm>
            <a:off x="8158277" y="2103120"/>
            <a:ext cx="3484778" cy="1920240"/>
          </a:xfrm>
          <a:prstGeom prst="roundRect">
            <a:avLst>
              <a:gd name="adj" fmla="val 7143"/>
            </a:avLst>
          </a:prstGeom>
          <a:solidFill>
            <a:schemeClr val="bg2"/>
          </a:solidFill>
          <a:ln/>
        </p:spPr>
      </p:sp>
      <p:sp>
        <p:nvSpPr>
          <p:cNvPr id="15" name="Dato"/>
          <p:cNvSpPr/>
          <p:nvPr/>
        </p:nvSpPr>
        <p:spPr>
          <a:xfrm>
            <a:off x="8432597" y="2331720"/>
            <a:ext cx="685800" cy="685800"/>
          </a:xfrm>
          <a:prstGeom prst="ellipse">
            <a:avLst/>
          </a:prstGeom>
          <a:solidFill>
            <a:schemeClr val="tx2"/>
          </a:solidFill>
          <a:ln/>
        </p:spPr>
      </p:sp>
      <p:pic>
        <p:nvPicPr>
          <p:cNvPr id="16" name="Image 2" descr="Dato">    </p:cNvPr>
          <p:cNvPicPr>
            <a:picLocks noChangeAspect="1"/>
          </p:cNvPicPr>
          <p:nvPr/>
        </p:nvPicPr>
        <p:blipFill>
          <a:blip r:embed="rId3"/>
          <a:stretch>
            <a:fillRect/>
          </a:stretch>
        </p:blipFill>
        <p:spPr>
          <a:xfrm>
            <a:off x="8597189" y="2496312"/>
            <a:ext cx="356616" cy="356616"/>
          </a:xfrm>
          <a:prstGeom prst="rect">
            <a:avLst/>
          </a:prstGeom>
        </p:spPr>
      </p:pic>
      <p:sp>
        <p:nvSpPr>
          <p:cNvPr id="17" name="Text 12"/>
          <p:cNvSpPr txBox="1"/>
          <p:nvPr/>
        </p:nvSpPr>
        <p:spPr>
          <a:xfrm>
            <a:off x="8432597" y="3108960"/>
            <a:ext cx="2936138" cy="868680"/>
          </a:xfrm>
          <a:prstGeom prst="rect">
            <a:avLst/>
          </a:prstGeom>
          <a:noFill/>
          <a:ln/>
        </p:spPr>
        <p:txBody>
          <a:bodyPr wrap="square" lIns="0" tIns="0" rIns="0" bIns="0" rtlCol="0" anchor="t"/>
          <a:lstStyle/>
          <a:p>
            <a:pPr indent="0" marL="0">
              <a:buNone/>
            </a:pPr>
            <a:r>
              <a:rPr lang="en-US" sz="1600" dirty="0">
                <a:solidFill>
                  <a:schemeClr val="tx1"/>
                </a:solidFill>
              </a:rPr>
              <a:t>Esperas largas y llamadas que se cortan o pasan de departamento en departamento sin resolverse.</a:t>
            </a:r>
            <a:endParaRPr lang="en-US" sz="1600" dirty="0"/>
          </a:p>
        </p:txBody>
      </p:sp>
      <p:sp>
        <p:nvSpPr>
          <p:cNvPr id="18" name="Mensaje"/>
          <p:cNvSpPr/>
          <p:nvPr/>
        </p:nvSpPr>
        <p:spPr>
          <a:xfrm>
            <a:off x="548640" y="4251960"/>
            <a:ext cx="11094415" cy="685800"/>
          </a:xfrm>
          <a:prstGeom prst="roundRect">
            <a:avLst>
              <a:gd name="adj" fmla="val 16000"/>
            </a:avLst>
          </a:prstGeom>
          <a:solidFill>
            <a:schemeClr val="tx1"/>
          </a:solidFill>
          <a:ln/>
        </p:spPr>
      </p:sp>
      <p:sp>
        <p:nvSpPr>
          <p:cNvPr id="19" name="Text 14"/>
          <p:cNvSpPr txBox="1"/>
          <p:nvPr/>
        </p:nvSpPr>
        <p:spPr>
          <a:xfrm>
            <a:off x="868680" y="4251960"/>
            <a:ext cx="10454335" cy="685800"/>
          </a:xfrm>
          <a:prstGeom prst="rect">
            <a:avLst/>
          </a:prstGeom>
          <a:noFill/>
          <a:ln/>
        </p:spPr>
        <p:txBody>
          <a:bodyPr wrap="square" lIns="0" tIns="0" rIns="0" bIns="0" rtlCol="0" anchor="ctr"/>
          <a:lstStyle/>
          <a:p>
            <a:pPr indent="0" marL="0">
              <a:buNone/>
            </a:pPr>
            <a:r>
              <a:rPr lang="en-US" sz="2000" b="1" dirty="0">
                <a:solidFill>
                  <a:schemeClr val="accent1"/>
                </a:solidFill>
              </a:rPr>
              <a:t>Encargo: una mejora que pueda probarse en un mes, sin contratar más personal.</a:t>
            </a:r>
            <a:endParaRPr lang="en-US" sz="2000" dirty="0"/>
          </a:p>
        </p:txBody>
      </p:sp>
      <p:sp>
        <p:nvSpPr>
          <p:cNvPr id="20" name="Text 15"/>
          <p:cNvSpPr txBox="1"/>
          <p:nvPr/>
        </p:nvSpPr>
        <p:spPr>
          <a:xfrm>
            <a:off x="548640" y="5120640"/>
            <a:ext cx="11094415" cy="640080"/>
          </a:xfrm>
          <a:prstGeom prst="rect">
            <a:avLst/>
          </a:prstGeom>
          <a:noFill/>
          <a:ln/>
        </p:spPr>
        <p:txBody>
          <a:bodyPr wrap="square" lIns="0" tIns="0" rIns="0" bIns="0" rtlCol="0" anchor="ctr"/>
          <a:lstStyle/>
          <a:p>
            <a:pPr indent="0" marL="0">
              <a:buNone/>
            </a:pPr>
            <a:r>
              <a:rPr lang="en-US" sz="1700" dirty="0">
                <a:solidFill>
                  <a:schemeClr val="tx1"/>
                </a:solidFill>
              </a:rPr>
              <a:t>Entre todos: ¿qué es lo peor de llamar a una compañía así? Elegimos un problema y lo convertimos en reto: «¿Cómo podríamos…?».</a:t>
            </a:r>
            <a:endParaRPr lang="en-US" sz="17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Fase 1: ideas con provocación</a:t>
            </a:r>
            <a:endParaRPr lang="en-US" sz="3200" dirty="0"/>
          </a:p>
        </p:txBody>
      </p:sp>
      <p:sp>
        <p:nvSpPr>
          <p:cNvPr id="3" name="Etiqueta de tiempo"/>
          <p:cNvSpPr/>
          <p:nvPr/>
        </p:nvSpPr>
        <p:spPr>
          <a:xfrm>
            <a:off x="9398203" y="548640"/>
            <a:ext cx="2244852" cy="457200"/>
          </a:xfrm>
          <a:prstGeom prst="roundRect">
            <a:avLst>
              <a:gd name="adj" fmla="val 50000"/>
            </a:avLst>
          </a:prstGeom>
          <a:solidFill>
            <a:schemeClr val="accent1"/>
          </a:solidFill>
          <a:ln/>
        </p:spPr>
      </p:sp>
      <p:sp>
        <p:nvSpPr>
          <p:cNvPr id="4" name="Text 2"/>
          <p:cNvSpPr txBox="1"/>
          <p:nvPr/>
        </p:nvSpPr>
        <p:spPr>
          <a:xfrm>
            <a:off x="9398203" y="548640"/>
            <a:ext cx="2244852" cy="457200"/>
          </a:xfrm>
          <a:prstGeom prst="rect">
            <a:avLst/>
          </a:prstGeom>
          <a:noFill/>
          <a:ln/>
        </p:spPr>
        <p:txBody>
          <a:bodyPr wrap="square" lIns="0" tIns="0" rIns="0" bIns="0" rtlCol="0" anchor="ctr"/>
          <a:lstStyle/>
          <a:p>
            <a:pPr algn="ctr" indent="0" marL="0">
              <a:buNone/>
            </a:pPr>
            <a:r>
              <a:rPr lang="en-US" sz="1400" b="1" dirty="0">
                <a:solidFill>
                  <a:schemeClr val="tx1"/>
                </a:solidFill>
              </a:rPr>
              <a:t>Min. 3–7 · Sin IA</a:t>
            </a:r>
            <a:endParaRPr lang="en-US" sz="1400" dirty="0"/>
          </a:p>
        </p:txBody>
      </p:sp>
      <p:sp>
        <p:nvSpPr>
          <p:cNvPr id="5" name="Instrucción"/>
          <p:cNvSpPr/>
          <p:nvPr/>
        </p:nvSpPr>
        <p:spPr>
          <a:xfrm>
            <a:off x="548640" y="1508760"/>
            <a:ext cx="777240" cy="777240"/>
          </a:xfrm>
          <a:prstGeom prst="ellipse">
            <a:avLst/>
          </a:prstGeom>
          <a:solidFill>
            <a:schemeClr val="accent1"/>
          </a:solidFill>
          <a:ln/>
        </p:spPr>
      </p:sp>
      <p:pic>
        <p:nvPicPr>
          <p:cNvPr id="6" name="Image 0" descr="Instrucción">    </p:cNvPr>
          <p:cNvPicPr>
            <a:picLocks noChangeAspect="1"/>
          </p:cNvPicPr>
          <p:nvPr/>
        </p:nvPicPr>
        <p:blipFill>
          <a:blip r:embed="rId1"/>
          <a:stretch>
            <a:fillRect/>
          </a:stretch>
        </p:blipFill>
        <p:spPr>
          <a:xfrm>
            <a:off x="735178" y="1695298"/>
            <a:ext cx="404165" cy="404165"/>
          </a:xfrm>
          <a:prstGeom prst="rect">
            <a:avLst/>
          </a:prstGeom>
        </p:spPr>
      </p:pic>
      <p:sp>
        <p:nvSpPr>
          <p:cNvPr id="7" name="Text 4"/>
          <p:cNvSpPr txBox="1"/>
          <p:nvPr/>
        </p:nvSpPr>
        <p:spPr>
          <a:xfrm>
            <a:off x="1554480" y="1417320"/>
            <a:ext cx="10088575" cy="960120"/>
          </a:xfrm>
          <a:prstGeom prst="rect">
            <a:avLst/>
          </a:prstGeom>
          <a:noFill/>
          <a:ln/>
        </p:spPr>
        <p:txBody>
          <a:bodyPr wrap="square" lIns="0" tIns="0" rIns="0" bIns="0" rtlCol="0" anchor="ctr"/>
          <a:lstStyle/>
          <a:p>
            <a:pPr indent="0" marL="0">
              <a:buNone/>
            </a:pPr>
            <a:r>
              <a:rPr lang="en-US" sz="2000" dirty="0">
                <a:solidFill>
                  <a:schemeClr val="tx1"/>
                </a:solidFill>
              </a:rPr>
              <a:t>Por parejas, dos provocaciones de tipos distintos, cada una con su movimiento y su idea práctica.</a:t>
            </a:r>
            <a:endParaRPr lang="en-US" sz="2000" dirty="0"/>
          </a:p>
        </p:txBody>
      </p:sp>
      <p:sp>
        <p:nvSpPr>
          <p:cNvPr id="8" name="Instrucción"/>
          <p:cNvSpPr/>
          <p:nvPr/>
        </p:nvSpPr>
        <p:spPr>
          <a:xfrm>
            <a:off x="548640" y="2651760"/>
            <a:ext cx="777240" cy="777240"/>
          </a:xfrm>
          <a:prstGeom prst="ellipse">
            <a:avLst/>
          </a:prstGeom>
          <a:solidFill>
            <a:schemeClr val="accent1"/>
          </a:solidFill>
          <a:ln/>
        </p:spPr>
      </p:sp>
      <p:pic>
        <p:nvPicPr>
          <p:cNvPr id="9" name="Image 1" descr="Instrucción">    </p:cNvPr>
          <p:cNvPicPr>
            <a:picLocks noChangeAspect="1"/>
          </p:cNvPicPr>
          <p:nvPr/>
        </p:nvPicPr>
        <p:blipFill>
          <a:blip r:embed="rId2"/>
          <a:stretch>
            <a:fillRect/>
          </a:stretch>
        </p:blipFill>
        <p:spPr>
          <a:xfrm>
            <a:off x="735178" y="2838298"/>
            <a:ext cx="404165" cy="404165"/>
          </a:xfrm>
          <a:prstGeom prst="rect">
            <a:avLst/>
          </a:prstGeom>
        </p:spPr>
      </p:pic>
      <p:sp>
        <p:nvSpPr>
          <p:cNvPr id="10" name="Text 6"/>
          <p:cNvSpPr txBox="1"/>
          <p:nvPr/>
        </p:nvSpPr>
        <p:spPr>
          <a:xfrm>
            <a:off x="1554480" y="2560320"/>
            <a:ext cx="10088575" cy="960120"/>
          </a:xfrm>
          <a:prstGeom prst="rect">
            <a:avLst/>
          </a:prstGeom>
          <a:noFill/>
          <a:ln/>
        </p:spPr>
        <p:txBody>
          <a:bodyPr wrap="square" lIns="0" tIns="0" rIns="0" bIns="0" rtlCol="0" anchor="ctr"/>
          <a:lstStyle/>
          <a:p>
            <a:pPr indent="0" marL="0">
              <a:buNone/>
            </a:pPr>
            <a:r>
              <a:rPr lang="en-US" sz="2000" dirty="0">
                <a:solidFill>
                  <a:schemeClr val="tx1"/>
                </a:solidFill>
              </a:rPr>
              <a:t>Para desbloquear: «La compañía llama al cliente antes de que el cliente llame», «No hay menú de opciones».</a:t>
            </a:r>
            <a:endParaRPr lang="en-US" sz="2000" dirty="0"/>
          </a:p>
        </p:txBody>
      </p:sp>
      <p:sp>
        <p:nvSpPr>
          <p:cNvPr id="11" name="Text 7"/>
          <p:cNvSpPr txBox="1"/>
          <p:nvPr/>
        </p:nvSpPr>
        <p:spPr>
          <a:xfrm>
            <a:off x="548640" y="3886200"/>
            <a:ext cx="4572000" cy="411480"/>
          </a:xfrm>
          <a:prstGeom prst="rect">
            <a:avLst/>
          </a:prstGeom>
          <a:noFill/>
          <a:ln/>
        </p:spPr>
        <p:txBody>
          <a:bodyPr wrap="square" lIns="0" tIns="0" rIns="0" bIns="0" rtlCol="0" anchor="ctr"/>
          <a:lstStyle/>
          <a:p>
            <a:pPr indent="0" marL="0">
              <a:buNone/>
            </a:pPr>
            <a:r>
              <a:rPr lang="en-US" sz="1800" b="1" dirty="0">
                <a:solidFill>
                  <a:schemeClr val="tx1"/>
                </a:solidFill>
              </a:rPr>
              <a:t>Nuestras ideas:</a:t>
            </a:r>
            <a:endParaRPr lang="en-US" sz="1800" dirty="0"/>
          </a:p>
        </p:txBody>
      </p:sp>
      <p:sp>
        <p:nvSpPr>
          <p:cNvPr id="12" name="Hueco"/>
          <p:cNvSpPr/>
          <p:nvPr/>
        </p:nvSpPr>
        <p:spPr>
          <a:xfrm>
            <a:off x="548640" y="4343400"/>
            <a:ext cx="11094415" cy="1188720"/>
          </a:xfrm>
          <a:prstGeom prst="roundRect">
            <a:avLst>
              <a:gd name="adj" fmla="val 7692"/>
            </a:avLst>
          </a:prstGeom>
          <a:solidFill>
            <a:schemeClr val="bg2"/>
          </a:solidFill>
          <a:ln w="12700">
            <a:solidFill>
              <a:srgbClr val="8A94A6"/>
            </a:solidFill>
            <a:prstDash val="dash"/>
          </a:ln>
        </p:spPr>
      </p:sp>
      <p:sp>
        <p:nvSpPr>
          <p:cNvPr id="13" name="Fase 1"/>
          <p:cNvSpPr/>
          <p:nvPr/>
        </p:nvSpPr>
        <p:spPr>
          <a:xfrm>
            <a:off x="548640" y="5779008"/>
            <a:ext cx="182880" cy="182880"/>
          </a:xfrm>
          <a:prstGeom prst="ellipse">
            <a:avLst/>
          </a:prstGeom>
          <a:solidFill>
            <a:schemeClr val="accent1"/>
          </a:solidFill>
          <a:ln/>
        </p:spPr>
      </p:sp>
      <p:sp>
        <p:nvSpPr>
          <p:cNvPr id="14" name="Fase 2"/>
          <p:cNvSpPr/>
          <p:nvPr/>
        </p:nvSpPr>
        <p:spPr>
          <a:xfrm>
            <a:off x="841248" y="5779008"/>
            <a:ext cx="182880" cy="182880"/>
          </a:xfrm>
          <a:prstGeom prst="ellipse">
            <a:avLst/>
          </a:prstGeom>
          <a:solidFill>
            <a:schemeClr val="bg2"/>
          </a:solidFill>
          <a:ln/>
        </p:spPr>
      </p:sp>
      <p:sp>
        <p:nvSpPr>
          <p:cNvPr id="15" name="Fase 3"/>
          <p:cNvSpPr/>
          <p:nvPr/>
        </p:nvSpPr>
        <p:spPr>
          <a:xfrm>
            <a:off x="1133856" y="5779008"/>
            <a:ext cx="182880" cy="182880"/>
          </a:xfrm>
          <a:prstGeom prst="ellipse">
            <a:avLst/>
          </a:prstGeom>
          <a:solidFill>
            <a:schemeClr val="bg2"/>
          </a:solidFill>
          <a:ln/>
        </p:spPr>
      </p:sp>
      <p:sp>
        <p:nvSpPr>
          <p:cNvPr id="16" name="Fase 4"/>
          <p:cNvSpPr/>
          <p:nvPr/>
        </p:nvSpPr>
        <p:spPr>
          <a:xfrm>
            <a:off x="1426464" y="5779008"/>
            <a:ext cx="182880" cy="182880"/>
          </a:xfrm>
          <a:prstGeom prst="ellipse">
            <a:avLst/>
          </a:prstGeom>
          <a:solidFill>
            <a:schemeClr val="bg2"/>
          </a:solidFill>
          <a:ln/>
        </p:spPr>
      </p:sp>
      <p:sp>
        <p:nvSpPr>
          <p:cNvPr id="17" name="Fase 5"/>
          <p:cNvSpPr/>
          <p:nvPr/>
        </p:nvSpPr>
        <p:spPr>
          <a:xfrm>
            <a:off x="1719072" y="5779008"/>
            <a:ext cx="182880" cy="182880"/>
          </a:xfrm>
          <a:prstGeom prst="ellipse">
            <a:avLst/>
          </a:prstGeom>
          <a:solidFill>
            <a:schemeClr val="bg2"/>
          </a:solidFill>
          <a:ln/>
        </p:spPr>
      </p:sp>
      <p:sp>
        <p:nvSpPr>
          <p:cNvPr id="18" name="Text 14"/>
          <p:cNvSpPr txBox="1"/>
          <p:nvPr/>
        </p:nvSpPr>
        <p:spPr>
          <a:xfrm>
            <a:off x="2148840" y="5687568"/>
            <a:ext cx="4572000" cy="365760"/>
          </a:xfrm>
          <a:prstGeom prst="rect">
            <a:avLst/>
          </a:prstGeom>
          <a:noFill/>
          <a:ln/>
        </p:spPr>
        <p:txBody>
          <a:bodyPr wrap="square" lIns="0" tIns="0" rIns="0" bIns="0" rtlCol="0" anchor="ctr"/>
          <a:lstStyle/>
          <a:p>
            <a:pPr indent="0" marL="0">
              <a:buNone/>
            </a:pPr>
            <a:r>
              <a:rPr lang="en-US" sz="1300" b="1" dirty="0">
                <a:solidFill>
                  <a:schemeClr val="accent5"/>
                </a:solidFill>
              </a:rPr>
              <a:t>1. Generar ideas</a:t>
            </a:r>
            <a:endParaRPr lang="en-US" sz="13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Fase 1: más ideas con la IA</a:t>
            </a:r>
            <a:endParaRPr lang="en-US" sz="3200" dirty="0"/>
          </a:p>
        </p:txBody>
      </p:sp>
      <p:sp>
        <p:nvSpPr>
          <p:cNvPr id="3" name="Etiqueta de tiempo"/>
          <p:cNvSpPr/>
          <p:nvPr/>
        </p:nvSpPr>
        <p:spPr>
          <a:xfrm>
            <a:off x="9293047" y="548640"/>
            <a:ext cx="2350008" cy="457200"/>
          </a:xfrm>
          <a:prstGeom prst="roundRect">
            <a:avLst>
              <a:gd name="adj" fmla="val 50000"/>
            </a:avLst>
          </a:prstGeom>
          <a:solidFill>
            <a:schemeClr val="accent2"/>
          </a:solidFill>
          <a:ln/>
        </p:spPr>
      </p:sp>
      <p:sp>
        <p:nvSpPr>
          <p:cNvPr id="4" name="Text 2"/>
          <p:cNvSpPr txBox="1"/>
          <p:nvPr/>
        </p:nvSpPr>
        <p:spPr>
          <a:xfrm>
            <a:off x="9293047" y="548640"/>
            <a:ext cx="2350008" cy="457200"/>
          </a:xfrm>
          <a:prstGeom prst="rect">
            <a:avLst/>
          </a:prstGeom>
          <a:noFill/>
          <a:ln/>
        </p:spPr>
        <p:txBody>
          <a:bodyPr wrap="square" lIns="0" tIns="0" rIns="0" bIns="0" rtlCol="0" anchor="ctr"/>
          <a:lstStyle/>
          <a:p>
            <a:pPr algn="ctr" indent="0" marL="0">
              <a:buNone/>
            </a:pPr>
            <a:r>
              <a:rPr lang="en-US" sz="1400" b="1" dirty="0">
                <a:solidFill>
                  <a:schemeClr val="bg1"/>
                </a:solidFill>
              </a:rPr>
              <a:t>Min. 7–10 · Con IA</a:t>
            </a:r>
            <a:endParaRPr lang="en-US" sz="1400" dirty="0"/>
          </a:p>
        </p:txBody>
      </p:sp>
      <p:sp>
        <p:nvSpPr>
          <p:cNvPr id="5" name="Prompt"/>
          <p:cNvSpPr/>
          <p:nvPr/>
        </p:nvSpPr>
        <p:spPr>
          <a:xfrm>
            <a:off x="548640" y="1417320"/>
            <a:ext cx="11094415" cy="2788920"/>
          </a:xfrm>
          <a:prstGeom prst="roundRect">
            <a:avLst>
              <a:gd name="adj" fmla="val 3934"/>
            </a:avLst>
          </a:prstGeom>
          <a:solidFill>
            <a:schemeClr val="tx1"/>
          </a:solidFill>
          <a:ln/>
        </p:spPr>
      </p:sp>
      <p:sp>
        <p:nvSpPr>
          <p:cNvPr id="6" name="Text 4"/>
          <p:cNvSpPr txBox="1"/>
          <p:nvPr/>
        </p:nvSpPr>
        <p:spPr>
          <a:xfrm>
            <a:off x="822960" y="1600200"/>
            <a:ext cx="10545775" cy="2423160"/>
          </a:xfrm>
          <a:prstGeom prst="rect">
            <a:avLst/>
          </a:prstGeom>
          <a:noFill/>
          <a:ln/>
        </p:spPr>
        <p:txBody>
          <a:bodyPr wrap="square" lIns="0" tIns="0" rIns="0" bIns="0" rtlCol="0" anchor="t"/>
          <a:lstStyle/>
          <a:p>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Actúa como experto en pensamiento lateral y en la técnica de</a:t>
            </a:r>
            <a:endParaRPr lang="en-US" sz="1700" dirty="0"/>
          </a:p>
          <a:p>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provocación de Edward de Bono.</a:t>
            </a:r>
            <a:endParaRPr lang="en-US" sz="1700" dirty="0"/>
          </a:p>
          <a:p>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Situación: la atención telefónica de una compañía de luz y gas tiene</a:t>
            </a:r>
            <a:endParaRPr lang="en-US" sz="1700" dirty="0"/>
          </a:p>
          <a:p>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un menú automático largo, un asistente virtual que no entiende a los</a:t>
            </a:r>
            <a:endParaRPr lang="en-US" sz="1700" dirty="0"/>
          </a:p>
          <a:p>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clientes, esperas largas y llamadas que no se resuelven.</a:t>
            </a:r>
            <a:endParaRPr lang="en-US" sz="1700" dirty="0"/>
          </a:p>
          <a:p>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Reto: </a:t>
            </a:r>
            <a:pPr indent="0" marL="0">
              <a:lnSpc>
                <a:spcPct val="95000"/>
              </a:lnSpc>
              <a:buNone/>
            </a:pPr>
            <a:r>
              <a:rPr lang="en-US" sz="1700" b="1" dirty="0">
                <a:solidFill>
                  <a:schemeClr val="accent1"/>
                </a:solidFill>
                <a:latin typeface="Courier New" pitchFamily="34" charset="0"/>
                <a:ea typeface="Courier New" pitchFamily="34" charset="-122"/>
                <a:cs typeface="Courier New" pitchFamily="34" charset="-120"/>
              </a:rPr>
              <a:t>[</a:t>
            </a:r>
            <a:pPr indent="0" marL="0">
              <a:lnSpc>
                <a:spcPct val="95000"/>
              </a:lnSpc>
              <a:buNone/>
            </a:pPr>
            <a:r>
              <a:rPr lang="en-US" sz="1700" b="1" dirty="0">
                <a:solidFill>
                  <a:schemeClr val="accent1"/>
                </a:solidFill>
                <a:latin typeface="Courier New" pitchFamily="34" charset="0"/>
                <a:ea typeface="Courier New" pitchFamily="34" charset="-122"/>
                <a:cs typeface="Courier New" pitchFamily="34" charset="-120"/>
              </a:rPr>
              <a:t>reto del grupo</a:t>
            </a:r>
            <a:pPr indent="0" marL="0">
              <a:lnSpc>
                <a:spcPct val="95000"/>
              </a:lnSpc>
              <a:buNone/>
            </a:pPr>
            <a:r>
              <a:rPr lang="en-US" sz="1700" b="1" dirty="0">
                <a:solidFill>
                  <a:schemeClr val="accent1"/>
                </a:solidFill>
                <a:latin typeface="Courier New" pitchFamily="34" charset="0"/>
                <a:ea typeface="Courier New" pitchFamily="34" charset="-122"/>
                <a:cs typeface="Courier New" pitchFamily="34" charset="-120"/>
              </a:rPr>
              <a:t>]</a:t>
            </a:r>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a:t>
            </a:r>
            <a:endParaRPr lang="en-US" sz="1700" dirty="0"/>
          </a:p>
          <a:p>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Escribe 4 provocaciones (inversión, exageración, eliminación y deseo)</a:t>
            </a:r>
            <a:endParaRPr lang="en-US" sz="1700" dirty="0"/>
          </a:p>
          <a:p>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y, para cada una, el principio útil y una idea práctica que pueda</a:t>
            </a:r>
            <a:endParaRPr lang="en-US" sz="1700" dirty="0"/>
          </a:p>
          <a:p>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probarse en un mes sin contratar personal.</a:t>
            </a:r>
            <a:endParaRPr lang="en-US" sz="1700" dirty="0"/>
          </a:p>
          <a:p>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No repitas estas provocaciones nuestras: </a:t>
            </a:r>
            <a:pPr indent="0" marL="0">
              <a:lnSpc>
                <a:spcPct val="95000"/>
              </a:lnSpc>
              <a:buNone/>
            </a:pPr>
            <a:r>
              <a:rPr lang="en-US" sz="1700" b="1" dirty="0">
                <a:solidFill>
                  <a:schemeClr val="accent1"/>
                </a:solidFill>
                <a:latin typeface="Courier New" pitchFamily="34" charset="0"/>
                <a:ea typeface="Courier New" pitchFamily="34" charset="-122"/>
                <a:cs typeface="Courier New" pitchFamily="34" charset="-120"/>
              </a:rPr>
              <a:t>[</a:t>
            </a:r>
            <a:pPr indent="0" marL="0">
              <a:lnSpc>
                <a:spcPct val="95000"/>
              </a:lnSpc>
              <a:buNone/>
            </a:pPr>
            <a:r>
              <a:rPr lang="en-US" sz="1700" b="1" dirty="0">
                <a:solidFill>
                  <a:schemeClr val="accent1"/>
                </a:solidFill>
                <a:latin typeface="Courier New" pitchFamily="34" charset="0"/>
                <a:ea typeface="Courier New" pitchFamily="34" charset="-122"/>
                <a:cs typeface="Courier New" pitchFamily="34" charset="-120"/>
              </a:rPr>
              <a:t>provocaciones de la pareja</a:t>
            </a:r>
            <a:pPr indent="0" marL="0">
              <a:lnSpc>
                <a:spcPct val="95000"/>
              </a:lnSpc>
              <a:buNone/>
            </a:pPr>
            <a:r>
              <a:rPr lang="en-US" sz="1700" b="1" dirty="0">
                <a:solidFill>
                  <a:schemeClr val="accent1"/>
                </a:solidFill>
                <a:latin typeface="Courier New" pitchFamily="34" charset="0"/>
                <a:ea typeface="Courier New" pitchFamily="34" charset="-122"/>
                <a:cs typeface="Courier New" pitchFamily="34" charset="-120"/>
              </a:rPr>
              <a:t>]</a:t>
            </a:r>
            <a:pPr indent="0" marL="0">
              <a:lnSpc>
                <a:spcPct val="95000"/>
              </a:lnSpc>
              <a:buNone/>
            </a:pPr>
            <a:r>
              <a:rPr lang="en-US" sz="1700" dirty="0">
                <a:solidFill>
                  <a:schemeClr val="bg1"/>
                </a:solidFill>
                <a:latin typeface="Courier New" pitchFamily="34" charset="0"/>
                <a:ea typeface="Courier New" pitchFamily="34" charset="-122"/>
                <a:cs typeface="Courier New" pitchFamily="34" charset="-120"/>
              </a:rPr>
              <a:t>.</a:t>
            </a:r>
            <a:endParaRPr lang="en-US" sz="1700" dirty="0"/>
          </a:p>
        </p:txBody>
      </p:sp>
      <p:sp>
        <p:nvSpPr>
          <p:cNvPr id="7" name="Text 5"/>
          <p:cNvSpPr txBox="1"/>
          <p:nvPr/>
        </p:nvSpPr>
        <p:spPr>
          <a:xfrm>
            <a:off x="548640" y="4389120"/>
            <a:ext cx="11094415" cy="502920"/>
          </a:xfrm>
          <a:prstGeom prst="rect">
            <a:avLst/>
          </a:prstGeom>
          <a:noFill/>
          <a:ln/>
        </p:spPr>
        <p:txBody>
          <a:bodyPr wrap="square" lIns="0" tIns="0" rIns="0" bIns="0" rtlCol="0" anchor="ctr"/>
          <a:lstStyle/>
          <a:p>
            <a:pPr indent="0" marL="0">
              <a:buNone/>
            </a:pPr>
            <a:r>
              <a:rPr lang="en-US" sz="1800" dirty="0">
                <a:solidFill>
                  <a:schemeClr val="tx2"/>
                </a:solidFill>
              </a:rPr>
              <a:t>Leed lo que propone la IA y añadid a vuestra lista lo que valga la pena.</a:t>
            </a:r>
            <a:endParaRPr lang="en-US" sz="1800" dirty="0"/>
          </a:p>
        </p:txBody>
      </p:sp>
      <p:sp>
        <p:nvSpPr>
          <p:cNvPr id="8" name="Fase 1"/>
          <p:cNvSpPr/>
          <p:nvPr/>
        </p:nvSpPr>
        <p:spPr>
          <a:xfrm>
            <a:off x="548640" y="5779008"/>
            <a:ext cx="182880" cy="182880"/>
          </a:xfrm>
          <a:prstGeom prst="ellipse">
            <a:avLst/>
          </a:prstGeom>
          <a:solidFill>
            <a:schemeClr val="accent1"/>
          </a:solidFill>
          <a:ln/>
        </p:spPr>
      </p:sp>
      <p:sp>
        <p:nvSpPr>
          <p:cNvPr id="9" name="Fase 2"/>
          <p:cNvSpPr/>
          <p:nvPr/>
        </p:nvSpPr>
        <p:spPr>
          <a:xfrm>
            <a:off x="841248" y="5779008"/>
            <a:ext cx="182880" cy="182880"/>
          </a:xfrm>
          <a:prstGeom prst="ellipse">
            <a:avLst/>
          </a:prstGeom>
          <a:solidFill>
            <a:schemeClr val="bg2"/>
          </a:solidFill>
          <a:ln/>
        </p:spPr>
      </p:sp>
      <p:sp>
        <p:nvSpPr>
          <p:cNvPr id="10" name="Fase 3"/>
          <p:cNvSpPr/>
          <p:nvPr/>
        </p:nvSpPr>
        <p:spPr>
          <a:xfrm>
            <a:off x="1133856" y="5779008"/>
            <a:ext cx="182880" cy="182880"/>
          </a:xfrm>
          <a:prstGeom prst="ellipse">
            <a:avLst/>
          </a:prstGeom>
          <a:solidFill>
            <a:schemeClr val="bg2"/>
          </a:solidFill>
          <a:ln/>
        </p:spPr>
      </p:sp>
      <p:sp>
        <p:nvSpPr>
          <p:cNvPr id="11" name="Fase 4"/>
          <p:cNvSpPr/>
          <p:nvPr/>
        </p:nvSpPr>
        <p:spPr>
          <a:xfrm>
            <a:off x="1426464" y="5779008"/>
            <a:ext cx="182880" cy="182880"/>
          </a:xfrm>
          <a:prstGeom prst="ellipse">
            <a:avLst/>
          </a:prstGeom>
          <a:solidFill>
            <a:schemeClr val="bg2"/>
          </a:solidFill>
          <a:ln/>
        </p:spPr>
      </p:sp>
      <p:sp>
        <p:nvSpPr>
          <p:cNvPr id="12" name="Fase 5"/>
          <p:cNvSpPr/>
          <p:nvPr/>
        </p:nvSpPr>
        <p:spPr>
          <a:xfrm>
            <a:off x="1719072" y="5779008"/>
            <a:ext cx="182880" cy="182880"/>
          </a:xfrm>
          <a:prstGeom prst="ellipse">
            <a:avLst/>
          </a:prstGeom>
          <a:solidFill>
            <a:schemeClr val="bg2"/>
          </a:solidFill>
          <a:ln/>
        </p:spPr>
      </p:sp>
      <p:sp>
        <p:nvSpPr>
          <p:cNvPr id="13" name="Text 11"/>
          <p:cNvSpPr txBox="1"/>
          <p:nvPr/>
        </p:nvSpPr>
        <p:spPr>
          <a:xfrm>
            <a:off x="2148840" y="5687568"/>
            <a:ext cx="4572000" cy="365760"/>
          </a:xfrm>
          <a:prstGeom prst="rect">
            <a:avLst/>
          </a:prstGeom>
          <a:noFill/>
          <a:ln/>
        </p:spPr>
        <p:txBody>
          <a:bodyPr wrap="square" lIns="0" tIns="0" rIns="0" bIns="0" rtlCol="0" anchor="ctr"/>
          <a:lstStyle/>
          <a:p>
            <a:pPr indent="0" marL="0">
              <a:buNone/>
            </a:pPr>
            <a:r>
              <a:rPr lang="en-US" sz="1300" b="1" dirty="0">
                <a:solidFill>
                  <a:schemeClr val="accent5"/>
                </a:solidFill>
              </a:rPr>
              <a:t>1. Generar ideas</a:t>
            </a:r>
            <a:endParaRPr lang="en-US" sz="13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Fase 2: quedaos con tres</a:t>
            </a:r>
            <a:endParaRPr lang="en-US" sz="3200" dirty="0"/>
          </a:p>
        </p:txBody>
      </p:sp>
      <p:sp>
        <p:nvSpPr>
          <p:cNvPr id="3" name="Etiqueta de tiempo"/>
          <p:cNvSpPr/>
          <p:nvPr/>
        </p:nvSpPr>
        <p:spPr>
          <a:xfrm>
            <a:off x="9082735" y="548640"/>
            <a:ext cx="2560320" cy="457200"/>
          </a:xfrm>
          <a:prstGeom prst="roundRect">
            <a:avLst>
              <a:gd name="adj" fmla="val 50000"/>
            </a:avLst>
          </a:prstGeom>
          <a:solidFill>
            <a:schemeClr val="accent1"/>
          </a:solidFill>
          <a:ln/>
        </p:spPr>
      </p:sp>
      <p:sp>
        <p:nvSpPr>
          <p:cNvPr id="4" name="Text 2"/>
          <p:cNvSpPr txBox="1"/>
          <p:nvPr/>
        </p:nvSpPr>
        <p:spPr>
          <a:xfrm>
            <a:off x="9082735" y="548640"/>
            <a:ext cx="2560320" cy="457200"/>
          </a:xfrm>
          <a:prstGeom prst="rect">
            <a:avLst/>
          </a:prstGeom>
          <a:noFill/>
          <a:ln/>
        </p:spPr>
        <p:txBody>
          <a:bodyPr wrap="square" lIns="0" tIns="0" rIns="0" bIns="0" rtlCol="0" anchor="ctr"/>
          <a:lstStyle/>
          <a:p>
            <a:pPr algn="ctr" indent="0" marL="0">
              <a:buNone/>
            </a:pPr>
            <a:r>
              <a:rPr lang="en-US" sz="1400" b="1" dirty="0">
                <a:solidFill>
                  <a:schemeClr val="tx1"/>
                </a:solidFill>
              </a:rPr>
              <a:t>Min. 10–12 · Parejas</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indent="0" marL="0">
              <a:buNone/>
            </a:pPr>
            <a:r>
              <a:rPr lang="en-US" sz="1900" dirty="0">
                <a:solidFill>
                  <a:schemeClr val="tx2"/>
                </a:solidFill>
              </a:rPr>
              <a:t>De todas vuestras ideas y las de la IA, las tres que más os interesan:</a:t>
            </a:r>
            <a:endParaRPr lang="en-US" sz="1900" dirty="0"/>
          </a:p>
        </p:txBody>
      </p:sp>
      <p:sp>
        <p:nvSpPr>
          <p:cNvPr id="6" name="Propuesta 1"/>
          <p:cNvSpPr/>
          <p:nvPr/>
        </p:nvSpPr>
        <p:spPr>
          <a:xfrm>
            <a:off x="548640" y="2167128"/>
            <a:ext cx="640080" cy="640080"/>
          </a:xfrm>
          <a:prstGeom prst="ellipse">
            <a:avLst/>
          </a:prstGeom>
          <a:solidFill>
            <a:schemeClr val="accent1"/>
          </a:solidFill>
          <a:ln/>
        </p:spPr>
      </p:sp>
      <p:sp>
        <p:nvSpPr>
          <p:cNvPr id="7" name="Text 5"/>
          <p:cNvSpPr txBox="1"/>
          <p:nvPr/>
        </p:nvSpPr>
        <p:spPr>
          <a:xfrm>
            <a:off x="548640" y="2167128"/>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A</a:t>
            </a:r>
            <a:endParaRPr lang="en-US" sz="2400" dirty="0"/>
          </a:p>
        </p:txBody>
      </p:sp>
      <p:sp>
        <p:nvSpPr>
          <p:cNvPr id="8" name="Hueco"/>
          <p:cNvSpPr/>
          <p:nvPr/>
        </p:nvSpPr>
        <p:spPr>
          <a:xfrm>
            <a:off x="1463040" y="1965960"/>
            <a:ext cx="10180015" cy="1005840"/>
          </a:xfrm>
          <a:prstGeom prst="roundRect">
            <a:avLst>
              <a:gd name="adj" fmla="val 9091"/>
            </a:avLst>
          </a:prstGeom>
          <a:solidFill>
            <a:schemeClr val="bg2"/>
          </a:solidFill>
          <a:ln w="12700">
            <a:solidFill>
              <a:srgbClr val="8A94A6"/>
            </a:solidFill>
            <a:prstDash val="dash"/>
          </a:ln>
        </p:spPr>
      </p:sp>
      <p:sp>
        <p:nvSpPr>
          <p:cNvPr id="9" name="Propuesta 2"/>
          <p:cNvSpPr/>
          <p:nvPr/>
        </p:nvSpPr>
        <p:spPr>
          <a:xfrm>
            <a:off x="548640" y="3355848"/>
            <a:ext cx="640080" cy="640080"/>
          </a:xfrm>
          <a:prstGeom prst="ellipse">
            <a:avLst/>
          </a:prstGeom>
          <a:solidFill>
            <a:schemeClr val="accent1"/>
          </a:solidFill>
          <a:ln/>
        </p:spPr>
      </p:sp>
      <p:sp>
        <p:nvSpPr>
          <p:cNvPr id="10" name="Text 8"/>
          <p:cNvSpPr txBox="1"/>
          <p:nvPr/>
        </p:nvSpPr>
        <p:spPr>
          <a:xfrm>
            <a:off x="548640" y="3355848"/>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B</a:t>
            </a:r>
            <a:endParaRPr lang="en-US" sz="2400" dirty="0"/>
          </a:p>
        </p:txBody>
      </p:sp>
      <p:sp>
        <p:nvSpPr>
          <p:cNvPr id="11" name="Hueco"/>
          <p:cNvSpPr/>
          <p:nvPr/>
        </p:nvSpPr>
        <p:spPr>
          <a:xfrm>
            <a:off x="1463040" y="3154680"/>
            <a:ext cx="10180015" cy="1005840"/>
          </a:xfrm>
          <a:prstGeom prst="roundRect">
            <a:avLst>
              <a:gd name="adj" fmla="val 9091"/>
            </a:avLst>
          </a:prstGeom>
          <a:solidFill>
            <a:schemeClr val="bg2"/>
          </a:solidFill>
          <a:ln w="12700">
            <a:solidFill>
              <a:srgbClr val="8A94A6"/>
            </a:solidFill>
            <a:prstDash val="dash"/>
          </a:ln>
        </p:spPr>
      </p:sp>
      <p:sp>
        <p:nvSpPr>
          <p:cNvPr id="12" name="Propuesta 3"/>
          <p:cNvSpPr/>
          <p:nvPr/>
        </p:nvSpPr>
        <p:spPr>
          <a:xfrm>
            <a:off x="548640" y="4544568"/>
            <a:ext cx="640080" cy="640080"/>
          </a:xfrm>
          <a:prstGeom prst="ellipse">
            <a:avLst/>
          </a:prstGeom>
          <a:solidFill>
            <a:schemeClr val="accent1"/>
          </a:solidFill>
          <a:ln/>
        </p:spPr>
      </p:sp>
      <p:sp>
        <p:nvSpPr>
          <p:cNvPr id="13" name="Text 11"/>
          <p:cNvSpPr txBox="1"/>
          <p:nvPr/>
        </p:nvSpPr>
        <p:spPr>
          <a:xfrm>
            <a:off x="548640" y="4544568"/>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C</a:t>
            </a:r>
            <a:endParaRPr lang="en-US" sz="2400" dirty="0"/>
          </a:p>
        </p:txBody>
      </p:sp>
      <p:sp>
        <p:nvSpPr>
          <p:cNvPr id="14" name="Hueco"/>
          <p:cNvSpPr/>
          <p:nvPr/>
        </p:nvSpPr>
        <p:spPr>
          <a:xfrm>
            <a:off x="1463040" y="4343400"/>
            <a:ext cx="10180015" cy="1005840"/>
          </a:xfrm>
          <a:prstGeom prst="roundRect">
            <a:avLst>
              <a:gd name="adj" fmla="val 9091"/>
            </a:avLst>
          </a:prstGeom>
          <a:solidFill>
            <a:schemeClr val="bg2"/>
          </a:solidFill>
          <a:ln w="12700">
            <a:solidFill>
              <a:srgbClr val="8A94A6"/>
            </a:solidFill>
            <a:prstDash val="dash"/>
          </a:ln>
        </p:spPr>
      </p:sp>
      <p:sp>
        <p:nvSpPr>
          <p:cNvPr id="15" name="Fase 1"/>
          <p:cNvSpPr/>
          <p:nvPr/>
        </p:nvSpPr>
        <p:spPr>
          <a:xfrm>
            <a:off x="548640" y="5779008"/>
            <a:ext cx="182880" cy="182880"/>
          </a:xfrm>
          <a:prstGeom prst="ellipse">
            <a:avLst/>
          </a:prstGeom>
          <a:solidFill>
            <a:schemeClr val="bg2"/>
          </a:solidFill>
          <a:ln/>
        </p:spPr>
      </p:sp>
      <p:sp>
        <p:nvSpPr>
          <p:cNvPr id="16" name="Fase 2"/>
          <p:cNvSpPr/>
          <p:nvPr/>
        </p:nvSpPr>
        <p:spPr>
          <a:xfrm>
            <a:off x="841248" y="5779008"/>
            <a:ext cx="182880" cy="182880"/>
          </a:xfrm>
          <a:prstGeom prst="ellipse">
            <a:avLst/>
          </a:prstGeom>
          <a:solidFill>
            <a:schemeClr val="accent1"/>
          </a:solidFill>
          <a:ln/>
        </p:spPr>
      </p:sp>
      <p:sp>
        <p:nvSpPr>
          <p:cNvPr id="17" name="Fase 3"/>
          <p:cNvSpPr/>
          <p:nvPr/>
        </p:nvSpPr>
        <p:spPr>
          <a:xfrm>
            <a:off x="1133856" y="5779008"/>
            <a:ext cx="182880" cy="182880"/>
          </a:xfrm>
          <a:prstGeom prst="ellipse">
            <a:avLst/>
          </a:prstGeom>
          <a:solidFill>
            <a:schemeClr val="bg2"/>
          </a:solidFill>
          <a:ln/>
        </p:spPr>
      </p:sp>
      <p:sp>
        <p:nvSpPr>
          <p:cNvPr id="18" name="Fase 4"/>
          <p:cNvSpPr/>
          <p:nvPr/>
        </p:nvSpPr>
        <p:spPr>
          <a:xfrm>
            <a:off x="1426464" y="5779008"/>
            <a:ext cx="182880" cy="182880"/>
          </a:xfrm>
          <a:prstGeom prst="ellipse">
            <a:avLst/>
          </a:prstGeom>
          <a:solidFill>
            <a:schemeClr val="bg2"/>
          </a:solidFill>
          <a:ln/>
        </p:spPr>
      </p:sp>
      <p:sp>
        <p:nvSpPr>
          <p:cNvPr id="19" name="Fase 5"/>
          <p:cNvSpPr/>
          <p:nvPr/>
        </p:nvSpPr>
        <p:spPr>
          <a:xfrm>
            <a:off x="1719072" y="5779008"/>
            <a:ext cx="182880" cy="182880"/>
          </a:xfrm>
          <a:prstGeom prst="ellipse">
            <a:avLst/>
          </a:prstGeom>
          <a:solidFill>
            <a:schemeClr val="bg2"/>
          </a:solidFill>
          <a:ln/>
        </p:spPr>
      </p:sp>
      <p:sp>
        <p:nvSpPr>
          <p:cNvPr id="20" name="Text 18"/>
          <p:cNvSpPr txBox="1"/>
          <p:nvPr/>
        </p:nvSpPr>
        <p:spPr>
          <a:xfrm>
            <a:off x="2148840" y="5687568"/>
            <a:ext cx="4572000" cy="365760"/>
          </a:xfrm>
          <a:prstGeom prst="rect">
            <a:avLst/>
          </a:prstGeom>
          <a:noFill/>
          <a:ln/>
        </p:spPr>
        <p:txBody>
          <a:bodyPr wrap="square" lIns="0" tIns="0" rIns="0" bIns="0" rtlCol="0" anchor="ctr"/>
          <a:lstStyle/>
          <a:p>
            <a:pPr indent="0" marL="0">
              <a:buNone/>
            </a:pPr>
            <a:r>
              <a:rPr lang="en-US" sz="1300" b="1" dirty="0">
                <a:solidFill>
                  <a:schemeClr val="accent5"/>
                </a:solidFill>
              </a:rPr>
              <a:t>2. Seleccionar</a:t>
            </a:r>
            <a:endParaRPr lang="en-US" sz="13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Fase 3: comparad y elegid</a:t>
            </a:r>
            <a:endParaRPr lang="en-US" sz="3200" dirty="0"/>
          </a:p>
        </p:txBody>
      </p:sp>
      <p:sp>
        <p:nvSpPr>
          <p:cNvPr id="3" name="Etiqueta de tiempo"/>
          <p:cNvSpPr/>
          <p:nvPr/>
        </p:nvSpPr>
        <p:spPr>
          <a:xfrm>
            <a:off x="9082735" y="548640"/>
            <a:ext cx="2560320" cy="457200"/>
          </a:xfrm>
          <a:prstGeom prst="roundRect">
            <a:avLst>
              <a:gd name="adj" fmla="val 50000"/>
            </a:avLst>
          </a:prstGeom>
          <a:solidFill>
            <a:schemeClr val="accent1"/>
          </a:solidFill>
          <a:ln/>
        </p:spPr>
      </p:sp>
      <p:sp>
        <p:nvSpPr>
          <p:cNvPr id="4" name="Text 2"/>
          <p:cNvSpPr txBox="1"/>
          <p:nvPr/>
        </p:nvSpPr>
        <p:spPr>
          <a:xfrm>
            <a:off x="9082735" y="548640"/>
            <a:ext cx="2560320" cy="457200"/>
          </a:xfrm>
          <a:prstGeom prst="rect">
            <a:avLst/>
          </a:prstGeom>
          <a:noFill/>
          <a:ln/>
        </p:spPr>
        <p:txBody>
          <a:bodyPr wrap="square" lIns="0" tIns="0" rIns="0" bIns="0" rtlCol="0" anchor="ctr"/>
          <a:lstStyle/>
          <a:p>
            <a:pPr algn="ctr" indent="0" marL="0">
              <a:buNone/>
            </a:pPr>
            <a:r>
              <a:rPr lang="en-US" sz="1400" b="1" dirty="0">
                <a:solidFill>
                  <a:schemeClr val="tx1"/>
                </a:solidFill>
              </a:rPr>
              <a:t>Min. 12–17 · Parejas</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33295"/>
                <a:gridCol w="1737360"/>
                <a:gridCol w="1737360"/>
                <a:gridCol w="1737360"/>
                <a:gridCol w="1737360"/>
                <a:gridCol w="2103120"/>
              </a:tblGrid>
              <a:tr h="731520">
                <a:tc>
                  <a:txBody>
                    <a:bodyPr/>
                    <a:lstStyle/>
                    <a:p>
                      <a:pPr algn="ctr" indent="0" marL="0">
                        <a:buNone/>
                      </a:pPr>
                      <a:r>
                        <a:rPr lang="en-US" sz="1700" b="1" dirty="0">
                          <a:solidFill>
                            <a:schemeClr val="bg1"/>
                          </a:solidFill>
                        </a:rPr>
                        <a:t>Propuesta</a:t>
                      </a: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tx1"/>
                    </a:solidFill>
                  </a:tcPr>
                </a:tc>
                <a:tc>
                  <a:txBody>
                    <a:bodyPr/>
                    <a:lstStyle/>
                    <a:p>
                      <a:pPr algn="ctr" indent="0" marL="0">
                        <a:buNone/>
                      </a:pPr>
                      <a:r>
                        <a:rPr lang="en-US" sz="1700" b="1" dirty="0">
                          <a:solidFill>
                            <a:schemeClr val="tx1"/>
                          </a:solidFill>
                        </a:rPr>
                        <a:t>Impacto</a:t>
                      </a:r>
                      <a:endParaRPr lang="en-US" sz="1700" dirty="0"/>
                    </a:p>
                    <a:p>
                      <a:pPr algn="ctr" indent="0" marL="0">
                        <a:buNone/>
                      </a:pPr>
                      <a:r>
                        <a:rPr lang="en-US" sz="1700" b="1" dirty="0">
                          <a:solidFill>
                            <a:schemeClr val="tx1"/>
                          </a:solidFill>
                        </a:rPr>
                        <a:t>35 %</a:t>
                      </a: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accent1"/>
                    </a:solidFill>
                  </a:tcPr>
                </a:tc>
                <a:tc>
                  <a:txBody>
                    <a:bodyPr/>
                    <a:lstStyle/>
                    <a:p>
                      <a:pPr algn="ctr" indent="0" marL="0">
                        <a:buNone/>
                      </a:pPr>
                      <a:r>
                        <a:rPr lang="en-US" sz="1700" b="1" dirty="0">
                          <a:solidFill>
                            <a:schemeClr val="bg1"/>
                          </a:solidFill>
                        </a:rPr>
                        <a:t>Viabilidad</a:t>
                      </a:r>
                      <a:endParaRPr lang="en-US" sz="1700" dirty="0"/>
                    </a:p>
                    <a:p>
                      <a:pPr algn="ctr" indent="0" marL="0">
                        <a:buNone/>
                      </a:pPr>
                      <a:r>
                        <a:rPr lang="en-US" sz="1700" b="1" dirty="0">
                          <a:solidFill>
                            <a:schemeClr val="bg1"/>
                          </a:solidFill>
                        </a:rPr>
                        <a:t>30 %</a:t>
                      </a: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accent2"/>
                    </a:solidFill>
                  </a:tcPr>
                </a:tc>
                <a:tc>
                  <a:txBody>
                    <a:bodyPr/>
                    <a:lstStyle/>
                    <a:p>
                      <a:pPr algn="ctr" indent="0" marL="0">
                        <a:buNone/>
                      </a:pPr>
                      <a:r>
                        <a:rPr lang="en-US" sz="1700" b="1" dirty="0">
                          <a:solidFill>
                            <a:schemeClr val="bg1"/>
                          </a:solidFill>
                        </a:rPr>
                        <a:t>Bajo coste</a:t>
                      </a:r>
                      <a:endParaRPr lang="en-US" sz="1700" dirty="0"/>
                    </a:p>
                    <a:p>
                      <a:pPr algn="ctr" indent="0" marL="0">
                        <a:buNone/>
                      </a:pPr>
                      <a:r>
                        <a:rPr lang="en-US" sz="1700" b="1" dirty="0">
                          <a:solidFill>
                            <a:schemeClr val="bg1"/>
                          </a:solidFill>
                        </a:rPr>
                        <a:t>20 %</a:t>
                      </a: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accent4"/>
                    </a:solidFill>
                  </a:tcPr>
                </a:tc>
                <a:tc>
                  <a:txBody>
                    <a:bodyPr/>
                    <a:lstStyle/>
                    <a:p>
                      <a:pPr algn="ctr" indent="0" marL="0">
                        <a:buNone/>
                      </a:pPr>
                      <a:r>
                        <a:rPr lang="en-US" sz="1700" b="1" dirty="0">
                          <a:solidFill>
                            <a:schemeClr val="bg1"/>
                          </a:solidFill>
                        </a:rPr>
                        <a:t>Originalidad</a:t>
                      </a:r>
                      <a:endParaRPr lang="en-US" sz="1700" dirty="0"/>
                    </a:p>
                    <a:p>
                      <a:pPr algn="ctr" indent="0" marL="0">
                        <a:buNone/>
                      </a:pPr>
                      <a:r>
                        <a:rPr lang="en-US" sz="1700" b="1" dirty="0">
                          <a:solidFill>
                            <a:schemeClr val="bg1"/>
                          </a:solidFill>
                        </a:rPr>
                        <a:t>15 %</a:t>
                      </a: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accent3"/>
                    </a:solidFill>
                  </a:tcPr>
                </a:tc>
                <a:tc>
                  <a:txBody>
                    <a:bodyPr/>
                    <a:lstStyle/>
                    <a:p>
                      <a:pPr algn="ctr" indent="0" marL="0">
                        <a:buNone/>
                      </a:pPr>
                      <a:r>
                        <a:rPr lang="en-US" sz="1700" b="1" dirty="0">
                          <a:solidFill>
                            <a:schemeClr val="bg1"/>
                          </a:solidFill>
                        </a:rPr>
                        <a:t>Resultado</a:t>
                      </a: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tx1"/>
                    </a:solidFill>
                  </a:tcPr>
                </a:tc>
              </a:tr>
              <a:tr h="548640">
                <a:tc>
                  <a:txBody>
                    <a:bodyPr/>
                    <a:lstStyle/>
                    <a:p>
                      <a:pPr algn="ctr" indent="0" marL="0">
                        <a:buNone/>
                      </a:pPr>
                      <a:r>
                        <a:rPr lang="en-US" sz="1700" b="1" dirty="0">
                          <a:solidFill>
                            <a:schemeClr val="tx1"/>
                          </a:solidFill>
                        </a:rPr>
                        <a:t>A</a:t>
                      </a: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algn="ctr" indent="0" marL="0">
                        <a:buNone/>
                      </a:pP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algn="ctr" indent="0" marL="0">
                        <a:buNone/>
                      </a:pP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algn="ctr" indent="0" marL="0">
                        <a:buNone/>
                      </a:pP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algn="ctr" indent="0" marL="0">
                        <a:buNone/>
                      </a:pP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algn="ctr" indent="0" marL="0">
                        <a:buNone/>
                      </a:pP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r>
              <a:tr h="548640">
                <a:tc>
                  <a:txBody>
                    <a:bodyPr/>
                    <a:lstStyle/>
                    <a:p>
                      <a:pPr algn="ctr" indent="0" marL="0">
                        <a:buNone/>
                      </a:pPr>
                      <a:r>
                        <a:rPr lang="en-US" sz="1700" b="1" dirty="0">
                          <a:solidFill>
                            <a:schemeClr val="tx1"/>
                          </a:solidFill>
                        </a:rPr>
                        <a:t>B</a:t>
                      </a: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algn="ctr" indent="0" marL="0">
                        <a:buNone/>
                      </a:pP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algn="ctr" indent="0" marL="0">
                        <a:buNone/>
                      </a:pP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algn="ctr" indent="0" marL="0">
                        <a:buNone/>
                      </a:pP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algn="ctr" indent="0" marL="0">
                        <a:buNone/>
                      </a:pP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algn="ctr" indent="0" marL="0">
                        <a:buNone/>
                      </a:pP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r>
              <a:tr h="548640">
                <a:tc>
                  <a:txBody>
                    <a:bodyPr/>
                    <a:lstStyle/>
                    <a:p>
                      <a:pPr algn="ctr" indent="0" marL="0">
                        <a:buNone/>
                      </a:pPr>
                      <a:r>
                        <a:rPr lang="en-US" sz="1700" b="1" dirty="0">
                          <a:solidFill>
                            <a:schemeClr val="tx1"/>
                          </a:solidFill>
                        </a:rPr>
                        <a:t>C</a:t>
                      </a: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algn="ctr" indent="0" marL="0">
                        <a:buNone/>
                      </a:pP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algn="ctr" indent="0" marL="0">
                        <a:buNone/>
                      </a:pP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algn="ctr" indent="0" marL="0">
                        <a:buNone/>
                      </a:pP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algn="ctr" indent="0" marL="0">
                        <a:buNone/>
                      </a:pP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algn="ctr" indent="0" marL="0">
                        <a:buNone/>
                      </a:pPr>
                      <a:endParaRPr lang="en-US" sz="1700" dirty="0"/>
                    </a:p>
                  </a:txBody>
                  <a:tcPr marL="73152" marR="73152" marT="73152" marB="73152"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r>
            </a:tbl>
          </a:graphicData>
        </a:graphic>
      </p:graphicFrame>
      <p:sp>
        <p:nvSpPr>
          <p:cNvPr id="6" name="Text 3"/>
          <p:cNvSpPr txBox="1"/>
          <p:nvPr/>
        </p:nvSpPr>
        <p:spPr>
          <a:xfrm>
            <a:off x="548640" y="3840480"/>
            <a:ext cx="11094415" cy="411480"/>
          </a:xfrm>
          <a:prstGeom prst="rect">
            <a:avLst/>
          </a:prstGeom>
          <a:noFill/>
          <a:ln/>
        </p:spPr>
        <p:txBody>
          <a:bodyPr wrap="square" lIns="0" tIns="0" rIns="0" bIns="0" rtlCol="0" anchor="ctr"/>
          <a:lstStyle/>
          <a:p>
            <a:pPr indent="0" marL="0">
              <a:buNone/>
            </a:pPr>
            <a:r>
              <a:rPr lang="en-US" sz="1600" i="1" dirty="0">
                <a:solidFill>
                  <a:schemeClr val="tx2"/>
                </a:solidFill>
              </a:rPr>
              <a:t>Puntuad del 1 al 5 (en «Bajo coste», 5 = muy económica), con la calculadora o en Excel.</a:t>
            </a:r>
            <a:endParaRPr lang="en-US" sz="1600" dirty="0"/>
          </a:p>
        </p:txBody>
      </p:sp>
      <p:sp>
        <p:nvSpPr>
          <p:cNvPr id="7" name="Tarjeta"/>
          <p:cNvSpPr/>
          <p:nvPr/>
        </p:nvSpPr>
        <p:spPr>
          <a:xfrm>
            <a:off x="548640" y="4389120"/>
            <a:ext cx="11094415" cy="1097280"/>
          </a:xfrm>
          <a:prstGeom prst="roundRect">
            <a:avLst>
              <a:gd name="adj" fmla="val 12500"/>
            </a:avLst>
          </a:prstGeom>
          <a:solidFill>
            <a:schemeClr val="bg2"/>
          </a:solidFill>
          <a:ln/>
        </p:spPr>
      </p:sp>
      <p:sp>
        <p:nvSpPr>
          <p:cNvPr id="8" name="Decisión"/>
          <p:cNvSpPr/>
          <p:nvPr/>
        </p:nvSpPr>
        <p:spPr>
          <a:xfrm>
            <a:off x="822960" y="4590288"/>
            <a:ext cx="685800" cy="685800"/>
          </a:xfrm>
          <a:prstGeom prst="ellipse">
            <a:avLst/>
          </a:prstGeom>
          <a:solidFill>
            <a:schemeClr val="accent1"/>
          </a:solidFill>
          <a:ln/>
        </p:spPr>
      </p:sp>
      <p:pic>
        <p:nvPicPr>
          <p:cNvPr id="9" name="Image 0" descr="Decisión">    </p:cNvPr>
          <p:cNvPicPr>
            <a:picLocks noChangeAspect="1"/>
          </p:cNvPicPr>
          <p:nvPr/>
        </p:nvPicPr>
        <p:blipFill>
          <a:blip r:embed="rId1"/>
          <a:stretch>
            <a:fillRect/>
          </a:stretch>
        </p:blipFill>
        <p:spPr>
          <a:xfrm>
            <a:off x="987552" y="4754880"/>
            <a:ext cx="356616" cy="356616"/>
          </a:xfrm>
          <a:prstGeom prst="rect">
            <a:avLst/>
          </a:prstGeom>
        </p:spPr>
      </p:pic>
      <p:sp>
        <p:nvSpPr>
          <p:cNvPr id="10" name="Text 6"/>
          <p:cNvSpPr txBox="1"/>
          <p:nvPr/>
        </p:nvSpPr>
        <p:spPr>
          <a:xfrm>
            <a:off x="1737360" y="4389120"/>
            <a:ext cx="9631375" cy="1097280"/>
          </a:xfrm>
          <a:prstGeom prst="rect">
            <a:avLst/>
          </a:prstGeom>
          <a:noFill/>
          <a:ln/>
        </p:spPr>
        <p:txBody>
          <a:bodyPr wrap="square" lIns="0" tIns="0" rIns="0" bIns="0" rtlCol="0" anchor="ctr"/>
          <a:lstStyle/>
          <a:p>
            <a:pPr indent="0" marL="0">
              <a:buNone/>
            </a:pPr>
            <a:r>
              <a:rPr lang="en-US" sz="2100" b="1" dirty="0">
                <a:solidFill>
                  <a:schemeClr val="tx1"/>
                </a:solidFill>
              </a:rPr>
              <a:t>Elegimos _______________ porque _______________________________</a:t>
            </a:r>
            <a:endParaRPr lang="en-US" sz="2100" dirty="0"/>
          </a:p>
        </p:txBody>
      </p:sp>
      <p:sp>
        <p:nvSpPr>
          <p:cNvPr id="11" name="Fase 1"/>
          <p:cNvSpPr/>
          <p:nvPr/>
        </p:nvSpPr>
        <p:spPr>
          <a:xfrm>
            <a:off x="548640" y="5779008"/>
            <a:ext cx="182880" cy="182880"/>
          </a:xfrm>
          <a:prstGeom prst="ellipse">
            <a:avLst/>
          </a:prstGeom>
          <a:solidFill>
            <a:schemeClr val="bg2"/>
          </a:solidFill>
          <a:ln/>
        </p:spPr>
      </p:sp>
      <p:sp>
        <p:nvSpPr>
          <p:cNvPr id="12" name="Fase 2"/>
          <p:cNvSpPr/>
          <p:nvPr/>
        </p:nvSpPr>
        <p:spPr>
          <a:xfrm>
            <a:off x="841248" y="5779008"/>
            <a:ext cx="182880" cy="182880"/>
          </a:xfrm>
          <a:prstGeom prst="ellipse">
            <a:avLst/>
          </a:prstGeom>
          <a:solidFill>
            <a:schemeClr val="bg2"/>
          </a:solidFill>
          <a:ln/>
        </p:spPr>
      </p:sp>
      <p:sp>
        <p:nvSpPr>
          <p:cNvPr id="13" name="Fase 3"/>
          <p:cNvSpPr/>
          <p:nvPr/>
        </p:nvSpPr>
        <p:spPr>
          <a:xfrm>
            <a:off x="1133856" y="5779008"/>
            <a:ext cx="182880" cy="182880"/>
          </a:xfrm>
          <a:prstGeom prst="ellipse">
            <a:avLst/>
          </a:prstGeom>
          <a:solidFill>
            <a:schemeClr val="accent1"/>
          </a:solidFill>
          <a:ln/>
        </p:spPr>
      </p:sp>
      <p:sp>
        <p:nvSpPr>
          <p:cNvPr id="14" name="Fase 4"/>
          <p:cNvSpPr/>
          <p:nvPr/>
        </p:nvSpPr>
        <p:spPr>
          <a:xfrm>
            <a:off x="1426464" y="5779008"/>
            <a:ext cx="182880" cy="182880"/>
          </a:xfrm>
          <a:prstGeom prst="ellipse">
            <a:avLst/>
          </a:prstGeom>
          <a:solidFill>
            <a:schemeClr val="bg2"/>
          </a:solidFill>
          <a:ln/>
        </p:spPr>
      </p:sp>
      <p:sp>
        <p:nvSpPr>
          <p:cNvPr id="15" name="Fase 5"/>
          <p:cNvSpPr/>
          <p:nvPr/>
        </p:nvSpPr>
        <p:spPr>
          <a:xfrm>
            <a:off x="1719072" y="5779008"/>
            <a:ext cx="182880" cy="182880"/>
          </a:xfrm>
          <a:prstGeom prst="ellipse">
            <a:avLst/>
          </a:prstGeom>
          <a:solidFill>
            <a:schemeClr val="bg2"/>
          </a:solidFill>
          <a:ln/>
        </p:spPr>
      </p:sp>
      <p:sp>
        <p:nvSpPr>
          <p:cNvPr id="16" name="Text 12"/>
          <p:cNvSpPr txBox="1"/>
          <p:nvPr/>
        </p:nvSpPr>
        <p:spPr>
          <a:xfrm>
            <a:off x="2148840" y="5687568"/>
            <a:ext cx="4572000" cy="365760"/>
          </a:xfrm>
          <a:prstGeom prst="rect">
            <a:avLst/>
          </a:prstGeom>
          <a:noFill/>
          <a:ln/>
        </p:spPr>
        <p:txBody>
          <a:bodyPr wrap="square" lIns="0" tIns="0" rIns="0" bIns="0" rtlCol="0" anchor="ctr"/>
          <a:lstStyle/>
          <a:p>
            <a:pPr indent="0" marL="0">
              <a:buNone/>
            </a:pPr>
            <a:r>
              <a:rPr lang="en-US" sz="1300" b="1" dirty="0">
                <a:solidFill>
                  <a:schemeClr val="accent5"/>
                </a:solidFill>
              </a:rPr>
              <a:t>3. Comparar y elegir</a:t>
            </a:r>
            <a:endParaRPr lang="en-US" sz="13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Fase 4: la ficha, en cinco líneas</a:t>
            </a:r>
            <a:endParaRPr lang="en-US" sz="3200" dirty="0"/>
          </a:p>
        </p:txBody>
      </p:sp>
      <p:sp>
        <p:nvSpPr>
          <p:cNvPr id="3" name="Etiqueta de tiempo"/>
          <p:cNvSpPr/>
          <p:nvPr/>
        </p:nvSpPr>
        <p:spPr>
          <a:xfrm>
            <a:off x="9082735" y="548640"/>
            <a:ext cx="2560320" cy="457200"/>
          </a:xfrm>
          <a:prstGeom prst="roundRect">
            <a:avLst>
              <a:gd name="adj" fmla="val 50000"/>
            </a:avLst>
          </a:prstGeom>
          <a:solidFill>
            <a:schemeClr val="accent1"/>
          </a:solidFill>
          <a:ln/>
        </p:spPr>
      </p:sp>
      <p:sp>
        <p:nvSpPr>
          <p:cNvPr id="4" name="Text 2"/>
          <p:cNvSpPr txBox="1"/>
          <p:nvPr/>
        </p:nvSpPr>
        <p:spPr>
          <a:xfrm>
            <a:off x="9082735" y="548640"/>
            <a:ext cx="2560320" cy="457200"/>
          </a:xfrm>
          <a:prstGeom prst="rect">
            <a:avLst/>
          </a:prstGeom>
          <a:noFill/>
          <a:ln/>
        </p:spPr>
        <p:txBody>
          <a:bodyPr wrap="square" lIns="0" tIns="0" rIns="0" bIns="0" rtlCol="0" anchor="ctr"/>
          <a:lstStyle/>
          <a:p>
            <a:pPr algn="ctr" indent="0" marL="0">
              <a:buNone/>
            </a:pPr>
            <a:r>
              <a:rPr lang="en-US" sz="1400" b="1" dirty="0">
                <a:solidFill>
                  <a:schemeClr val="tx1"/>
                </a:solidFill>
              </a:rPr>
              <a:t>Min. 17–22 · Parejas</a:t>
            </a:r>
            <a:endParaRPr lang="en-US" sz="1400" dirty="0"/>
          </a:p>
        </p:txBody>
      </p:sp>
      <p:sp>
        <p:nvSpPr>
          <p:cNvPr id="5" name="Problema"/>
          <p:cNvSpPr/>
          <p:nvPr/>
        </p:nvSpPr>
        <p:spPr>
          <a:xfrm>
            <a:off x="548640" y="1417320"/>
            <a:ext cx="3291840" cy="658368"/>
          </a:xfrm>
          <a:prstGeom prst="roundRect">
            <a:avLst>
              <a:gd name="adj" fmla="val 13889"/>
            </a:avLst>
          </a:prstGeom>
          <a:solidFill>
            <a:schemeClr val="tx1"/>
          </a:solidFill>
          <a:ln/>
        </p:spPr>
      </p:sp>
      <p:sp>
        <p:nvSpPr>
          <p:cNvPr id="6" name="Text 4"/>
          <p:cNvSpPr txBox="1"/>
          <p:nvPr/>
        </p:nvSpPr>
        <p:spPr>
          <a:xfrm>
            <a:off x="731520" y="1417320"/>
            <a:ext cx="3017520" cy="658368"/>
          </a:xfrm>
          <a:prstGeom prst="rect">
            <a:avLst/>
          </a:prstGeom>
          <a:noFill/>
          <a:ln/>
        </p:spPr>
        <p:txBody>
          <a:bodyPr wrap="square" lIns="0" tIns="0" rIns="0" bIns="0" rtlCol="0" anchor="ctr"/>
          <a:lstStyle/>
          <a:p>
            <a:pPr indent="0" marL="0">
              <a:buNone/>
            </a:pPr>
            <a:r>
              <a:rPr lang="en-US" sz="1700" b="1" dirty="0">
                <a:solidFill>
                  <a:schemeClr val="bg1"/>
                </a:solidFill>
              </a:rPr>
              <a:t>Problema</a:t>
            </a:r>
            <a:endParaRPr lang="en-US" sz="1700" dirty="0"/>
          </a:p>
        </p:txBody>
      </p:sp>
      <p:sp>
        <p:nvSpPr>
          <p:cNvPr id="7" name="Hueco"/>
          <p:cNvSpPr/>
          <p:nvPr/>
        </p:nvSpPr>
        <p:spPr>
          <a:xfrm>
            <a:off x="4023360" y="1417320"/>
            <a:ext cx="7619695" cy="658368"/>
          </a:xfrm>
          <a:prstGeom prst="roundRect">
            <a:avLst>
              <a:gd name="adj" fmla="val 13889"/>
            </a:avLst>
          </a:prstGeom>
          <a:solidFill>
            <a:schemeClr val="bg2"/>
          </a:solidFill>
          <a:ln w="12700">
            <a:solidFill>
              <a:srgbClr val="8A94A6"/>
            </a:solidFill>
            <a:prstDash val="dash"/>
          </a:ln>
        </p:spPr>
      </p:sp>
      <p:sp>
        <p:nvSpPr>
          <p:cNvPr id="8" name="Solución"/>
          <p:cNvSpPr/>
          <p:nvPr/>
        </p:nvSpPr>
        <p:spPr>
          <a:xfrm>
            <a:off x="548640" y="2221992"/>
            <a:ext cx="3291840" cy="658368"/>
          </a:xfrm>
          <a:prstGeom prst="roundRect">
            <a:avLst>
              <a:gd name="adj" fmla="val 13889"/>
            </a:avLst>
          </a:prstGeom>
          <a:solidFill>
            <a:schemeClr val="tx1"/>
          </a:solidFill>
          <a:ln/>
        </p:spPr>
      </p:sp>
      <p:sp>
        <p:nvSpPr>
          <p:cNvPr id="9" name="Text 7"/>
          <p:cNvSpPr txBox="1"/>
          <p:nvPr/>
        </p:nvSpPr>
        <p:spPr>
          <a:xfrm>
            <a:off x="731520" y="2221992"/>
            <a:ext cx="3017520" cy="658368"/>
          </a:xfrm>
          <a:prstGeom prst="rect">
            <a:avLst/>
          </a:prstGeom>
          <a:noFill/>
          <a:ln/>
        </p:spPr>
        <p:txBody>
          <a:bodyPr wrap="square" lIns="0" tIns="0" rIns="0" bIns="0" rtlCol="0" anchor="ctr"/>
          <a:lstStyle/>
          <a:p>
            <a:pPr indent="0" marL="0">
              <a:buNone/>
            </a:pPr>
            <a:r>
              <a:rPr lang="en-US" sz="1700" b="1" dirty="0">
                <a:solidFill>
                  <a:schemeClr val="bg1"/>
                </a:solidFill>
              </a:rPr>
              <a:t>Solución</a:t>
            </a:r>
            <a:endParaRPr lang="en-US" sz="1700" dirty="0"/>
          </a:p>
        </p:txBody>
      </p:sp>
      <p:sp>
        <p:nvSpPr>
          <p:cNvPr id="10" name="Hueco"/>
          <p:cNvSpPr/>
          <p:nvPr/>
        </p:nvSpPr>
        <p:spPr>
          <a:xfrm>
            <a:off x="4023360" y="2221992"/>
            <a:ext cx="7619695" cy="658368"/>
          </a:xfrm>
          <a:prstGeom prst="roundRect">
            <a:avLst>
              <a:gd name="adj" fmla="val 13889"/>
            </a:avLst>
          </a:prstGeom>
          <a:solidFill>
            <a:schemeClr val="bg2"/>
          </a:solidFill>
          <a:ln w="12700">
            <a:solidFill>
              <a:srgbClr val="8A94A6"/>
            </a:solidFill>
            <a:prstDash val="dash"/>
          </a:ln>
        </p:spPr>
      </p:sp>
      <p:sp>
        <p:nvSpPr>
          <p:cNvPr id="11" name="Qué necesitamos"/>
          <p:cNvSpPr/>
          <p:nvPr/>
        </p:nvSpPr>
        <p:spPr>
          <a:xfrm>
            <a:off x="548640" y="3026664"/>
            <a:ext cx="3291840" cy="658368"/>
          </a:xfrm>
          <a:prstGeom prst="roundRect">
            <a:avLst>
              <a:gd name="adj" fmla="val 13889"/>
            </a:avLst>
          </a:prstGeom>
          <a:solidFill>
            <a:schemeClr val="tx1"/>
          </a:solidFill>
          <a:ln/>
        </p:spPr>
      </p:sp>
      <p:sp>
        <p:nvSpPr>
          <p:cNvPr id="12" name="Text 10"/>
          <p:cNvSpPr txBox="1"/>
          <p:nvPr/>
        </p:nvSpPr>
        <p:spPr>
          <a:xfrm>
            <a:off x="731520" y="3026664"/>
            <a:ext cx="3017520" cy="658368"/>
          </a:xfrm>
          <a:prstGeom prst="rect">
            <a:avLst/>
          </a:prstGeom>
          <a:noFill/>
          <a:ln/>
        </p:spPr>
        <p:txBody>
          <a:bodyPr wrap="square" lIns="0" tIns="0" rIns="0" bIns="0" rtlCol="0" anchor="ctr"/>
          <a:lstStyle/>
          <a:p>
            <a:pPr indent="0" marL="0">
              <a:buNone/>
            </a:pPr>
            <a:r>
              <a:rPr lang="en-US" sz="1700" b="1" dirty="0">
                <a:solidFill>
                  <a:schemeClr val="bg1"/>
                </a:solidFill>
              </a:rPr>
              <a:t>Qué necesitamos</a:t>
            </a:r>
            <a:endParaRPr lang="en-US" sz="1700" dirty="0"/>
          </a:p>
        </p:txBody>
      </p:sp>
      <p:sp>
        <p:nvSpPr>
          <p:cNvPr id="13" name="Hueco"/>
          <p:cNvSpPr/>
          <p:nvPr/>
        </p:nvSpPr>
        <p:spPr>
          <a:xfrm>
            <a:off x="4023360" y="3026664"/>
            <a:ext cx="7619695" cy="658368"/>
          </a:xfrm>
          <a:prstGeom prst="roundRect">
            <a:avLst>
              <a:gd name="adj" fmla="val 13889"/>
            </a:avLst>
          </a:prstGeom>
          <a:solidFill>
            <a:schemeClr val="bg2"/>
          </a:solidFill>
          <a:ln w="12700">
            <a:solidFill>
              <a:srgbClr val="8A94A6"/>
            </a:solidFill>
            <a:prstDash val="dash"/>
          </a:ln>
        </p:spPr>
      </p:sp>
      <p:sp>
        <p:nvSpPr>
          <p:cNvPr id="14" name="Principal riesgo"/>
          <p:cNvSpPr/>
          <p:nvPr/>
        </p:nvSpPr>
        <p:spPr>
          <a:xfrm>
            <a:off x="548640" y="3831336"/>
            <a:ext cx="3291840" cy="658368"/>
          </a:xfrm>
          <a:prstGeom prst="roundRect">
            <a:avLst>
              <a:gd name="adj" fmla="val 13889"/>
            </a:avLst>
          </a:prstGeom>
          <a:solidFill>
            <a:schemeClr val="tx1"/>
          </a:solidFill>
          <a:ln/>
        </p:spPr>
      </p:sp>
      <p:sp>
        <p:nvSpPr>
          <p:cNvPr id="15" name="Text 13"/>
          <p:cNvSpPr txBox="1"/>
          <p:nvPr/>
        </p:nvSpPr>
        <p:spPr>
          <a:xfrm>
            <a:off x="731520" y="3831336"/>
            <a:ext cx="3017520" cy="658368"/>
          </a:xfrm>
          <a:prstGeom prst="rect">
            <a:avLst/>
          </a:prstGeom>
          <a:noFill/>
          <a:ln/>
        </p:spPr>
        <p:txBody>
          <a:bodyPr wrap="square" lIns="0" tIns="0" rIns="0" bIns="0" rtlCol="0" anchor="ctr"/>
          <a:lstStyle/>
          <a:p>
            <a:pPr indent="0" marL="0">
              <a:buNone/>
            </a:pPr>
            <a:r>
              <a:rPr lang="en-US" sz="1700" b="1" dirty="0">
                <a:solidFill>
                  <a:schemeClr val="bg1"/>
                </a:solidFill>
              </a:rPr>
              <a:t>Principal riesgo</a:t>
            </a:r>
            <a:endParaRPr lang="en-US" sz="1700" dirty="0"/>
          </a:p>
        </p:txBody>
      </p:sp>
      <p:sp>
        <p:nvSpPr>
          <p:cNvPr id="16" name="Hueco"/>
          <p:cNvSpPr/>
          <p:nvPr/>
        </p:nvSpPr>
        <p:spPr>
          <a:xfrm>
            <a:off x="4023360" y="3831336"/>
            <a:ext cx="7619695" cy="658368"/>
          </a:xfrm>
          <a:prstGeom prst="roundRect">
            <a:avLst>
              <a:gd name="adj" fmla="val 13889"/>
            </a:avLst>
          </a:prstGeom>
          <a:solidFill>
            <a:schemeClr val="bg2"/>
          </a:solidFill>
          <a:ln w="12700">
            <a:solidFill>
              <a:srgbClr val="8A94A6"/>
            </a:solidFill>
            <a:prstDash val="dash"/>
          </a:ln>
        </p:spPr>
      </p:sp>
      <p:sp>
        <p:nvSpPr>
          <p:cNvPr id="17" name="Cómo sabremos si funciona"/>
          <p:cNvSpPr/>
          <p:nvPr/>
        </p:nvSpPr>
        <p:spPr>
          <a:xfrm>
            <a:off x="548640" y="4636008"/>
            <a:ext cx="3291840" cy="658368"/>
          </a:xfrm>
          <a:prstGeom prst="roundRect">
            <a:avLst>
              <a:gd name="adj" fmla="val 13889"/>
            </a:avLst>
          </a:prstGeom>
          <a:solidFill>
            <a:schemeClr val="accent2"/>
          </a:solidFill>
          <a:ln/>
        </p:spPr>
      </p:sp>
      <p:sp>
        <p:nvSpPr>
          <p:cNvPr id="18" name="Text 16"/>
          <p:cNvSpPr txBox="1"/>
          <p:nvPr/>
        </p:nvSpPr>
        <p:spPr>
          <a:xfrm>
            <a:off x="731520" y="4636008"/>
            <a:ext cx="3017520" cy="658368"/>
          </a:xfrm>
          <a:prstGeom prst="rect">
            <a:avLst/>
          </a:prstGeom>
          <a:noFill/>
          <a:ln/>
        </p:spPr>
        <p:txBody>
          <a:bodyPr wrap="square" lIns="0" tIns="0" rIns="0" bIns="0" rtlCol="0" anchor="ctr"/>
          <a:lstStyle/>
          <a:p>
            <a:pPr indent="0" marL="0">
              <a:buNone/>
            </a:pPr>
            <a:r>
              <a:rPr lang="en-US" sz="1700" b="1" dirty="0">
                <a:solidFill>
                  <a:schemeClr val="bg1"/>
                </a:solidFill>
              </a:rPr>
              <a:t>Cómo sabremos si funciona</a:t>
            </a:r>
            <a:endParaRPr lang="en-US" sz="1700" dirty="0"/>
          </a:p>
        </p:txBody>
      </p:sp>
      <p:sp>
        <p:nvSpPr>
          <p:cNvPr id="19" name="Hueco"/>
          <p:cNvSpPr/>
          <p:nvPr/>
        </p:nvSpPr>
        <p:spPr>
          <a:xfrm>
            <a:off x="4023360" y="4636008"/>
            <a:ext cx="7619695" cy="658368"/>
          </a:xfrm>
          <a:prstGeom prst="roundRect">
            <a:avLst>
              <a:gd name="adj" fmla="val 13889"/>
            </a:avLst>
          </a:prstGeom>
          <a:solidFill>
            <a:schemeClr val="bg2"/>
          </a:solidFill>
          <a:ln w="12700">
            <a:solidFill>
              <a:srgbClr val="8A94A6"/>
            </a:solidFill>
            <a:prstDash val="dash"/>
          </a:ln>
        </p:spPr>
      </p:sp>
      <p:sp>
        <p:nvSpPr>
          <p:cNvPr id="20" name="Text 18"/>
          <p:cNvSpPr txBox="1"/>
          <p:nvPr/>
        </p:nvSpPr>
        <p:spPr>
          <a:xfrm>
            <a:off x="548640" y="5394960"/>
            <a:ext cx="11094415" cy="365760"/>
          </a:xfrm>
          <a:prstGeom prst="rect">
            <a:avLst/>
          </a:prstGeom>
          <a:noFill/>
          <a:ln/>
        </p:spPr>
        <p:txBody>
          <a:bodyPr wrap="square" lIns="0" tIns="0" rIns="0" bIns="0" rtlCol="0" anchor="ctr"/>
          <a:lstStyle/>
          <a:p>
            <a:pPr indent="0" marL="0">
              <a:buNone/>
            </a:pPr>
            <a:r>
              <a:rPr lang="en-US" sz="1500" i="1" dirty="0">
                <a:solidFill>
                  <a:schemeClr val="accent3"/>
                </a:solidFill>
              </a:rPr>
              <a:t>En «Cómo sabremos si funciona»: qué mediríais y cómo, antes y después de una prueba. Sin inventar resultados.</a:t>
            </a:r>
            <a:endParaRPr lang="en-US" sz="1500" dirty="0"/>
          </a:p>
        </p:txBody>
      </p:sp>
      <p:sp>
        <p:nvSpPr>
          <p:cNvPr id="21" name="Fase 1"/>
          <p:cNvSpPr/>
          <p:nvPr/>
        </p:nvSpPr>
        <p:spPr>
          <a:xfrm>
            <a:off x="548640" y="5779008"/>
            <a:ext cx="182880" cy="182880"/>
          </a:xfrm>
          <a:prstGeom prst="ellipse">
            <a:avLst/>
          </a:prstGeom>
          <a:solidFill>
            <a:schemeClr val="bg2"/>
          </a:solidFill>
          <a:ln/>
        </p:spPr>
      </p:sp>
      <p:sp>
        <p:nvSpPr>
          <p:cNvPr id="22" name="Fase 2"/>
          <p:cNvSpPr/>
          <p:nvPr/>
        </p:nvSpPr>
        <p:spPr>
          <a:xfrm>
            <a:off x="841248" y="5779008"/>
            <a:ext cx="182880" cy="182880"/>
          </a:xfrm>
          <a:prstGeom prst="ellipse">
            <a:avLst/>
          </a:prstGeom>
          <a:solidFill>
            <a:schemeClr val="bg2"/>
          </a:solidFill>
          <a:ln/>
        </p:spPr>
      </p:sp>
      <p:sp>
        <p:nvSpPr>
          <p:cNvPr id="23" name="Fase 3"/>
          <p:cNvSpPr/>
          <p:nvPr/>
        </p:nvSpPr>
        <p:spPr>
          <a:xfrm>
            <a:off x="1133856" y="5779008"/>
            <a:ext cx="182880" cy="182880"/>
          </a:xfrm>
          <a:prstGeom prst="ellipse">
            <a:avLst/>
          </a:prstGeom>
          <a:solidFill>
            <a:schemeClr val="bg2"/>
          </a:solidFill>
          <a:ln/>
        </p:spPr>
      </p:sp>
      <p:sp>
        <p:nvSpPr>
          <p:cNvPr id="24" name="Fase 4"/>
          <p:cNvSpPr/>
          <p:nvPr/>
        </p:nvSpPr>
        <p:spPr>
          <a:xfrm>
            <a:off x="1426464" y="5779008"/>
            <a:ext cx="182880" cy="182880"/>
          </a:xfrm>
          <a:prstGeom prst="ellipse">
            <a:avLst/>
          </a:prstGeom>
          <a:solidFill>
            <a:schemeClr val="accent1"/>
          </a:solidFill>
          <a:ln/>
        </p:spPr>
      </p:sp>
      <p:sp>
        <p:nvSpPr>
          <p:cNvPr id="25" name="Fase 5"/>
          <p:cNvSpPr/>
          <p:nvPr/>
        </p:nvSpPr>
        <p:spPr>
          <a:xfrm>
            <a:off x="1719072" y="5779008"/>
            <a:ext cx="182880" cy="182880"/>
          </a:xfrm>
          <a:prstGeom prst="ellipse">
            <a:avLst/>
          </a:prstGeom>
          <a:solidFill>
            <a:schemeClr val="bg2"/>
          </a:solidFill>
          <a:ln/>
        </p:spPr>
      </p:sp>
      <p:sp>
        <p:nvSpPr>
          <p:cNvPr id="26" name="Text 24"/>
          <p:cNvSpPr txBox="1"/>
          <p:nvPr/>
        </p:nvSpPr>
        <p:spPr>
          <a:xfrm>
            <a:off x="2148840" y="5687568"/>
            <a:ext cx="4572000" cy="365760"/>
          </a:xfrm>
          <a:prstGeom prst="rect">
            <a:avLst/>
          </a:prstGeom>
          <a:noFill/>
          <a:ln/>
        </p:spPr>
        <p:txBody>
          <a:bodyPr wrap="square" lIns="0" tIns="0" rIns="0" bIns="0" rtlCol="0" anchor="ctr"/>
          <a:lstStyle/>
          <a:p>
            <a:pPr indent="0" marL="0">
              <a:buNone/>
            </a:pPr>
            <a:r>
              <a:rPr lang="en-US" sz="1300" b="1" dirty="0">
                <a:solidFill>
                  <a:schemeClr val="accent5"/>
                </a:solidFill>
              </a:rPr>
              <a:t>4. Documentar</a:t>
            </a:r>
            <a:endParaRPr lang="en-US" sz="13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Fase 5: ante la dirección</a:t>
            </a:r>
            <a:endParaRPr lang="en-US" sz="3200" dirty="0"/>
          </a:p>
        </p:txBody>
      </p:sp>
      <p:sp>
        <p:nvSpPr>
          <p:cNvPr id="3" name="Etiqueta de tiempo"/>
          <p:cNvSpPr/>
          <p:nvPr/>
        </p:nvSpPr>
        <p:spPr>
          <a:xfrm>
            <a:off x="9082735" y="548640"/>
            <a:ext cx="2560320" cy="457200"/>
          </a:xfrm>
          <a:prstGeom prst="roundRect">
            <a:avLst>
              <a:gd name="adj" fmla="val 50000"/>
            </a:avLst>
          </a:prstGeom>
          <a:solidFill>
            <a:schemeClr val="accent1"/>
          </a:solidFill>
          <a:ln/>
        </p:spPr>
      </p:sp>
      <p:sp>
        <p:nvSpPr>
          <p:cNvPr id="4" name="Text 2"/>
          <p:cNvSpPr txBox="1"/>
          <p:nvPr/>
        </p:nvSpPr>
        <p:spPr>
          <a:xfrm>
            <a:off x="9082735" y="548640"/>
            <a:ext cx="2560320" cy="457200"/>
          </a:xfrm>
          <a:prstGeom prst="rect">
            <a:avLst/>
          </a:prstGeom>
          <a:noFill/>
          <a:ln/>
        </p:spPr>
        <p:txBody>
          <a:bodyPr wrap="square" lIns="0" tIns="0" rIns="0" bIns="0" rtlCol="0" anchor="ctr"/>
          <a:lstStyle/>
          <a:p>
            <a:pPr algn="ctr" indent="0" marL="0">
              <a:buNone/>
            </a:pPr>
            <a:r>
              <a:rPr lang="en-US" sz="1400" b="1" dirty="0">
                <a:solidFill>
                  <a:schemeClr val="tx1"/>
                </a:solidFill>
              </a:rPr>
              <a:t>Min. 22–30 · Parejas</a:t>
            </a:r>
            <a:endParaRPr lang="en-US" sz="1400" dirty="0"/>
          </a:p>
        </p:txBody>
      </p:sp>
      <p:sp>
        <p:nvSpPr>
          <p:cNvPr id="5" name="Text 3"/>
          <p:cNvSpPr txBox="1"/>
          <p:nvPr/>
        </p:nvSpPr>
        <p:spPr>
          <a:xfrm>
            <a:off x="548640" y="1325880"/>
            <a:ext cx="11094415" cy="457200"/>
          </a:xfrm>
          <a:prstGeom prst="rect">
            <a:avLst/>
          </a:prstGeom>
          <a:noFill/>
          <a:ln/>
        </p:spPr>
        <p:txBody>
          <a:bodyPr wrap="square" lIns="0" tIns="0" rIns="0" bIns="0" rtlCol="0" anchor="ctr"/>
          <a:lstStyle/>
          <a:p>
            <a:pPr indent="0" marL="0">
              <a:buNone/>
            </a:pPr>
            <a:r>
              <a:rPr lang="en-US" sz="1900" dirty="0">
                <a:solidFill>
                  <a:schemeClr val="tx2"/>
                </a:solidFill>
              </a:rPr>
              <a:t>Un minuto por pareja, con la estructura de la defensa:</a:t>
            </a:r>
            <a:endParaRPr lang="en-US" sz="1900" dirty="0"/>
          </a:p>
        </p:txBody>
      </p:sp>
      <p:sp>
        <p:nvSpPr>
          <p:cNvPr id="6" name="Problema"/>
          <p:cNvSpPr/>
          <p:nvPr/>
        </p:nvSpPr>
        <p:spPr>
          <a:xfrm>
            <a:off x="585216" y="1965960"/>
            <a:ext cx="2145731" cy="1097280"/>
          </a:xfrm>
          <a:prstGeom prst="chevron">
            <a:avLst/>
          </a:prstGeom>
          <a:solidFill>
            <a:schemeClr val="tx1"/>
          </a:solidFill>
          <a:ln/>
        </p:spPr>
      </p:sp>
      <p:sp>
        <p:nvSpPr>
          <p:cNvPr id="7" name="Text 5"/>
          <p:cNvSpPr txBox="1"/>
          <p:nvPr/>
        </p:nvSpPr>
        <p:spPr>
          <a:xfrm>
            <a:off x="1097280" y="1965960"/>
            <a:ext cx="1121603" cy="1097280"/>
          </a:xfrm>
          <a:prstGeom prst="rect">
            <a:avLst/>
          </a:prstGeom>
          <a:noFill/>
          <a:ln/>
        </p:spPr>
        <p:txBody>
          <a:bodyPr wrap="square" lIns="0" tIns="0" rIns="0" bIns="0" rtlCol="0" anchor="ctr"/>
          <a:lstStyle/>
          <a:p>
            <a:pPr algn="ctr" indent="0" marL="0">
              <a:buNone/>
            </a:pPr>
            <a:r>
              <a:rPr lang="en-US" sz="1400" b="1" dirty="0">
                <a:solidFill>
                  <a:schemeClr val="bg1"/>
                </a:solidFill>
              </a:rPr>
              <a:t>Problema</a:t>
            </a:r>
            <a:endParaRPr lang="en-US" sz="1400" dirty="0"/>
          </a:p>
        </p:txBody>
      </p:sp>
      <p:sp>
        <p:nvSpPr>
          <p:cNvPr id="8" name="Por qué importa"/>
          <p:cNvSpPr/>
          <p:nvPr/>
        </p:nvSpPr>
        <p:spPr>
          <a:xfrm>
            <a:off x="2804099" y="1965960"/>
            <a:ext cx="2145731" cy="1097280"/>
          </a:xfrm>
          <a:prstGeom prst="chevron">
            <a:avLst/>
          </a:prstGeom>
          <a:solidFill>
            <a:schemeClr val="tx2"/>
          </a:solidFill>
          <a:ln/>
        </p:spPr>
      </p:sp>
      <p:sp>
        <p:nvSpPr>
          <p:cNvPr id="9" name="Text 7"/>
          <p:cNvSpPr txBox="1"/>
          <p:nvPr/>
        </p:nvSpPr>
        <p:spPr>
          <a:xfrm>
            <a:off x="3316163" y="1965960"/>
            <a:ext cx="1121603" cy="1097280"/>
          </a:xfrm>
          <a:prstGeom prst="rect">
            <a:avLst/>
          </a:prstGeom>
          <a:noFill/>
          <a:ln/>
        </p:spPr>
        <p:txBody>
          <a:bodyPr wrap="square" lIns="0" tIns="0" rIns="0" bIns="0" rtlCol="0" anchor="ctr"/>
          <a:lstStyle/>
          <a:p>
            <a:pPr algn="ctr" indent="0" marL="0">
              <a:buNone/>
            </a:pPr>
            <a:r>
              <a:rPr lang="en-US" sz="1400" b="1" dirty="0">
                <a:solidFill>
                  <a:schemeClr val="bg1"/>
                </a:solidFill>
              </a:rPr>
              <a:t>Por qué</a:t>
            </a:r>
            <a:endParaRPr lang="en-US" sz="1400" dirty="0"/>
          </a:p>
          <a:p>
            <a:pPr algn="ctr" indent="0" marL="0">
              <a:buNone/>
            </a:pPr>
            <a:r>
              <a:rPr lang="en-US" sz="1400" b="1" dirty="0">
                <a:solidFill>
                  <a:schemeClr val="bg1"/>
                </a:solidFill>
              </a:rPr>
              <a:t>importa</a:t>
            </a:r>
            <a:endParaRPr lang="en-US" sz="1400" dirty="0"/>
          </a:p>
        </p:txBody>
      </p:sp>
      <p:sp>
        <p:nvSpPr>
          <p:cNvPr id="10" name="Qué proponemos"/>
          <p:cNvSpPr/>
          <p:nvPr/>
        </p:nvSpPr>
        <p:spPr>
          <a:xfrm>
            <a:off x="5022982" y="1965960"/>
            <a:ext cx="2145731" cy="1097280"/>
          </a:xfrm>
          <a:prstGeom prst="chevron">
            <a:avLst/>
          </a:prstGeom>
          <a:solidFill>
            <a:schemeClr val="tx1"/>
          </a:solidFill>
          <a:ln/>
        </p:spPr>
      </p:sp>
      <p:sp>
        <p:nvSpPr>
          <p:cNvPr id="11" name="Text 9"/>
          <p:cNvSpPr txBox="1"/>
          <p:nvPr/>
        </p:nvSpPr>
        <p:spPr>
          <a:xfrm>
            <a:off x="5535046" y="1965960"/>
            <a:ext cx="1121603" cy="1097280"/>
          </a:xfrm>
          <a:prstGeom prst="rect">
            <a:avLst/>
          </a:prstGeom>
          <a:noFill/>
          <a:ln/>
        </p:spPr>
        <p:txBody>
          <a:bodyPr wrap="square" lIns="0" tIns="0" rIns="0" bIns="0" rtlCol="0" anchor="ctr"/>
          <a:lstStyle/>
          <a:p>
            <a:pPr algn="ctr" indent="0" marL="0">
              <a:buNone/>
            </a:pPr>
            <a:r>
              <a:rPr lang="en-US" sz="1400" b="1" dirty="0">
                <a:solidFill>
                  <a:schemeClr val="bg1"/>
                </a:solidFill>
              </a:rPr>
              <a:t>Qué</a:t>
            </a:r>
            <a:endParaRPr lang="en-US" sz="1400" dirty="0"/>
          </a:p>
          <a:p>
            <a:pPr algn="ctr" indent="0" marL="0">
              <a:buNone/>
            </a:pPr>
            <a:r>
              <a:rPr lang="en-US" sz="1400" b="1" dirty="0">
                <a:solidFill>
                  <a:schemeClr val="bg1"/>
                </a:solidFill>
              </a:rPr>
              <a:t>proponemos</a:t>
            </a:r>
            <a:endParaRPr lang="en-US" sz="1400" dirty="0"/>
          </a:p>
        </p:txBody>
      </p:sp>
      <p:sp>
        <p:nvSpPr>
          <p:cNvPr id="12" name="Cómo lo haríamos"/>
          <p:cNvSpPr/>
          <p:nvPr/>
        </p:nvSpPr>
        <p:spPr>
          <a:xfrm>
            <a:off x="7241865" y="1965960"/>
            <a:ext cx="2145731" cy="1097280"/>
          </a:xfrm>
          <a:prstGeom prst="chevron">
            <a:avLst/>
          </a:prstGeom>
          <a:solidFill>
            <a:schemeClr val="tx2"/>
          </a:solidFill>
          <a:ln/>
        </p:spPr>
      </p:sp>
      <p:sp>
        <p:nvSpPr>
          <p:cNvPr id="13" name="Text 11"/>
          <p:cNvSpPr txBox="1"/>
          <p:nvPr/>
        </p:nvSpPr>
        <p:spPr>
          <a:xfrm>
            <a:off x="7753929" y="1965960"/>
            <a:ext cx="1121603" cy="1097280"/>
          </a:xfrm>
          <a:prstGeom prst="rect">
            <a:avLst/>
          </a:prstGeom>
          <a:noFill/>
          <a:ln/>
        </p:spPr>
        <p:txBody>
          <a:bodyPr wrap="square" lIns="0" tIns="0" rIns="0" bIns="0" rtlCol="0" anchor="ctr"/>
          <a:lstStyle/>
          <a:p>
            <a:pPr algn="ctr" indent="0" marL="0">
              <a:buNone/>
            </a:pPr>
            <a:r>
              <a:rPr lang="en-US" sz="1400" b="1" dirty="0">
                <a:solidFill>
                  <a:schemeClr val="bg1"/>
                </a:solidFill>
              </a:rPr>
              <a:t>Cómo lo</a:t>
            </a:r>
            <a:endParaRPr lang="en-US" sz="1400" dirty="0"/>
          </a:p>
          <a:p>
            <a:pPr algn="ctr" indent="0" marL="0">
              <a:buNone/>
            </a:pPr>
            <a:r>
              <a:rPr lang="en-US" sz="1400" b="1" dirty="0">
                <a:solidFill>
                  <a:schemeClr val="bg1"/>
                </a:solidFill>
              </a:rPr>
              <a:t>haríamos</a:t>
            </a:r>
            <a:endParaRPr lang="en-US" sz="1400" dirty="0"/>
          </a:p>
        </p:txBody>
      </p:sp>
      <p:sp>
        <p:nvSpPr>
          <p:cNvPr id="14" name="Cómo lo mediríamos"/>
          <p:cNvSpPr/>
          <p:nvPr/>
        </p:nvSpPr>
        <p:spPr>
          <a:xfrm>
            <a:off x="9460748" y="1965960"/>
            <a:ext cx="2145731" cy="1097280"/>
          </a:xfrm>
          <a:prstGeom prst="chevron">
            <a:avLst/>
          </a:prstGeom>
          <a:solidFill>
            <a:schemeClr val="tx1"/>
          </a:solidFill>
          <a:ln/>
        </p:spPr>
      </p:sp>
      <p:sp>
        <p:nvSpPr>
          <p:cNvPr id="15" name="Text 13"/>
          <p:cNvSpPr txBox="1"/>
          <p:nvPr/>
        </p:nvSpPr>
        <p:spPr>
          <a:xfrm>
            <a:off x="9972812" y="1965960"/>
            <a:ext cx="1121603" cy="1097280"/>
          </a:xfrm>
          <a:prstGeom prst="rect">
            <a:avLst/>
          </a:prstGeom>
          <a:noFill/>
          <a:ln/>
        </p:spPr>
        <p:txBody>
          <a:bodyPr wrap="square" lIns="0" tIns="0" rIns="0" bIns="0" rtlCol="0" anchor="ctr"/>
          <a:lstStyle/>
          <a:p>
            <a:pPr algn="ctr" indent="0" marL="0">
              <a:buNone/>
            </a:pPr>
            <a:r>
              <a:rPr lang="en-US" sz="1400" b="1" dirty="0">
                <a:solidFill>
                  <a:schemeClr val="bg1"/>
                </a:solidFill>
              </a:rPr>
              <a:t>Cómo lo</a:t>
            </a:r>
            <a:endParaRPr lang="en-US" sz="1400" dirty="0"/>
          </a:p>
          <a:p>
            <a:pPr algn="ctr" indent="0" marL="0">
              <a:buNone/>
            </a:pPr>
            <a:r>
              <a:rPr lang="en-US" sz="1400" b="1" dirty="0">
                <a:solidFill>
                  <a:schemeClr val="bg1"/>
                </a:solidFill>
              </a:rPr>
              <a:t>mediríamos</a:t>
            </a:r>
            <a:endParaRPr lang="en-US" sz="1400" dirty="0"/>
          </a:p>
        </p:txBody>
      </p:sp>
      <p:sp>
        <p:nvSpPr>
          <p:cNvPr id="16" name="Tarjeta"/>
          <p:cNvSpPr/>
          <p:nvPr/>
        </p:nvSpPr>
        <p:spPr>
          <a:xfrm>
            <a:off x="548640" y="3429000"/>
            <a:ext cx="11094415" cy="1463040"/>
          </a:xfrm>
          <a:prstGeom prst="roundRect">
            <a:avLst>
              <a:gd name="adj" fmla="val 9375"/>
            </a:avLst>
          </a:prstGeom>
          <a:solidFill>
            <a:schemeClr val="bg2"/>
          </a:solidFill>
          <a:ln/>
        </p:spPr>
      </p:sp>
      <p:sp>
        <p:nvSpPr>
          <p:cNvPr id="17" name="Pregunta difícil"/>
          <p:cNvSpPr/>
          <p:nvPr/>
        </p:nvSpPr>
        <p:spPr>
          <a:xfrm>
            <a:off x="868680" y="3703320"/>
            <a:ext cx="914400" cy="914400"/>
          </a:xfrm>
          <a:prstGeom prst="ellipse">
            <a:avLst/>
          </a:prstGeom>
          <a:solidFill>
            <a:schemeClr val="accent3"/>
          </a:solidFill>
          <a:ln/>
        </p:spPr>
      </p:sp>
      <p:pic>
        <p:nvPicPr>
          <p:cNvPr id="18" name="Image 0" descr="Pregunta difícil">    </p:cNvPr>
          <p:cNvPicPr>
            <a:picLocks noChangeAspect="1"/>
          </p:cNvPicPr>
          <p:nvPr/>
        </p:nvPicPr>
        <p:blipFill>
          <a:blip r:embed="rId1"/>
          <a:stretch>
            <a:fillRect/>
          </a:stretch>
        </p:blipFill>
        <p:spPr>
          <a:xfrm>
            <a:off x="1088136" y="3922776"/>
            <a:ext cx="475488" cy="475488"/>
          </a:xfrm>
          <a:prstGeom prst="rect">
            <a:avLst/>
          </a:prstGeom>
        </p:spPr>
      </p:pic>
      <p:sp>
        <p:nvSpPr>
          <p:cNvPr id="19" name="Text 16"/>
          <p:cNvSpPr txBox="1"/>
          <p:nvPr/>
        </p:nvSpPr>
        <p:spPr>
          <a:xfrm>
            <a:off x="2057400" y="3429000"/>
            <a:ext cx="9311335" cy="1463040"/>
          </a:xfrm>
          <a:prstGeom prst="rect">
            <a:avLst/>
          </a:prstGeom>
          <a:noFill/>
          <a:ln/>
        </p:spPr>
        <p:txBody>
          <a:bodyPr wrap="square" lIns="0" tIns="0" rIns="0" bIns="0" rtlCol="0" anchor="ctr"/>
          <a:lstStyle/>
          <a:p>
            <a:pPr indent="0" marL="0">
              <a:buNone/>
            </a:pPr>
            <a:r>
              <a:rPr lang="en-US" sz="2100" b="1" dirty="0">
                <a:solidFill>
                  <a:schemeClr val="tx1"/>
                </a:solidFill>
              </a:rPr>
              <a:t>Después, una pregunta difícil.</a:t>
            </a:r>
            <a:endParaRPr lang="en-US" sz="2100" dirty="0"/>
          </a:p>
          <a:p>
            <a:pPr indent="0" marL="0">
              <a:buNone/>
            </a:pPr>
            <a:r>
              <a:rPr lang="en-US" sz="2100" dirty="0">
                <a:solidFill>
                  <a:schemeClr val="tx1"/>
                </a:solidFill>
              </a:rPr>
              <a:t>El docente hace de la dirección de atención al cliente.</a:t>
            </a:r>
            <a:endParaRPr lang="en-US" sz="2100" dirty="0"/>
          </a:p>
        </p:txBody>
      </p:sp>
      <p:sp>
        <p:nvSpPr>
          <p:cNvPr id="20" name="Fase 1"/>
          <p:cNvSpPr/>
          <p:nvPr/>
        </p:nvSpPr>
        <p:spPr>
          <a:xfrm>
            <a:off x="548640" y="5779008"/>
            <a:ext cx="182880" cy="182880"/>
          </a:xfrm>
          <a:prstGeom prst="ellipse">
            <a:avLst/>
          </a:prstGeom>
          <a:solidFill>
            <a:schemeClr val="bg2"/>
          </a:solidFill>
          <a:ln/>
        </p:spPr>
      </p:sp>
      <p:sp>
        <p:nvSpPr>
          <p:cNvPr id="21" name="Fase 2"/>
          <p:cNvSpPr/>
          <p:nvPr/>
        </p:nvSpPr>
        <p:spPr>
          <a:xfrm>
            <a:off x="841248" y="5779008"/>
            <a:ext cx="182880" cy="182880"/>
          </a:xfrm>
          <a:prstGeom prst="ellipse">
            <a:avLst/>
          </a:prstGeom>
          <a:solidFill>
            <a:schemeClr val="bg2"/>
          </a:solidFill>
          <a:ln/>
        </p:spPr>
      </p:sp>
      <p:sp>
        <p:nvSpPr>
          <p:cNvPr id="22" name="Fase 3"/>
          <p:cNvSpPr/>
          <p:nvPr/>
        </p:nvSpPr>
        <p:spPr>
          <a:xfrm>
            <a:off x="1133856" y="5779008"/>
            <a:ext cx="182880" cy="182880"/>
          </a:xfrm>
          <a:prstGeom prst="ellipse">
            <a:avLst/>
          </a:prstGeom>
          <a:solidFill>
            <a:schemeClr val="bg2"/>
          </a:solidFill>
          <a:ln/>
        </p:spPr>
      </p:sp>
      <p:sp>
        <p:nvSpPr>
          <p:cNvPr id="23" name="Fase 4"/>
          <p:cNvSpPr/>
          <p:nvPr/>
        </p:nvSpPr>
        <p:spPr>
          <a:xfrm>
            <a:off x="1426464" y="5779008"/>
            <a:ext cx="182880" cy="182880"/>
          </a:xfrm>
          <a:prstGeom prst="ellipse">
            <a:avLst/>
          </a:prstGeom>
          <a:solidFill>
            <a:schemeClr val="bg2"/>
          </a:solidFill>
          <a:ln/>
        </p:spPr>
      </p:sp>
      <p:sp>
        <p:nvSpPr>
          <p:cNvPr id="24" name="Fase 5"/>
          <p:cNvSpPr/>
          <p:nvPr/>
        </p:nvSpPr>
        <p:spPr>
          <a:xfrm>
            <a:off x="1719072" y="5779008"/>
            <a:ext cx="182880" cy="182880"/>
          </a:xfrm>
          <a:prstGeom prst="ellipse">
            <a:avLst/>
          </a:prstGeom>
          <a:solidFill>
            <a:schemeClr val="accent1"/>
          </a:solidFill>
          <a:ln/>
        </p:spPr>
      </p:sp>
      <p:sp>
        <p:nvSpPr>
          <p:cNvPr id="25" name="Text 22"/>
          <p:cNvSpPr txBox="1"/>
          <p:nvPr/>
        </p:nvSpPr>
        <p:spPr>
          <a:xfrm>
            <a:off x="2148840" y="5687568"/>
            <a:ext cx="4572000" cy="365760"/>
          </a:xfrm>
          <a:prstGeom prst="rect">
            <a:avLst/>
          </a:prstGeom>
          <a:noFill/>
          <a:ln/>
        </p:spPr>
        <p:txBody>
          <a:bodyPr wrap="square" lIns="0" tIns="0" rIns="0" bIns="0" rtlCol="0" anchor="ctr"/>
          <a:lstStyle/>
          <a:p>
            <a:pPr indent="0" marL="0">
              <a:buNone/>
            </a:pPr>
            <a:r>
              <a:rPr lang="en-US" sz="1300" b="1" dirty="0">
                <a:solidFill>
                  <a:schemeClr val="accent5"/>
                </a:solidFill>
              </a:rPr>
              <a:t>5. Defender</a:t>
            </a:r>
            <a:endParaRPr lang="en-US" sz="13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Creatividad, ofimática e IA">
  <a:themeElements>
    <a:clrScheme name="Creatividad, ofimática e IA">
      <a:dk1>
        <a:srgbClr val="1F2A44"/>
      </a:dk1>
      <a:lt1>
        <a:srgbClr val="FFFFFF"/>
      </a:lt1>
      <a:dk2>
        <a:srgbClr val="3A4664"/>
      </a:dk2>
      <a:lt2>
        <a:srgbClr val="F2F4F8"/>
      </a:lt2>
      <a:accent1>
        <a:srgbClr val="F4A300"/>
      </a:accent1>
      <a:accent2>
        <a:srgbClr val="0F7C70"/>
      </a:accent2>
      <a:accent3>
        <a:srgbClr val="D64933"/>
      </a:accent3>
      <a:accent4>
        <a:srgbClr val="6C5CE7"/>
      </a:accent4>
      <a:accent5>
        <a:srgbClr val="8A94A6"/>
      </a:accent5>
      <a:accent6>
        <a:srgbClr val="2D6A4F"/>
      </a:accent6>
      <a:hlink>
        <a:srgbClr val="0F7C70"/>
      </a:hlink>
      <a:folHlink>
        <a:srgbClr val="6C5CE7"/>
      </a:folHlink>
    </a:clrScheme>
    <a:fontScheme name="Creatividad, ofimática e I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Ejercicio de reserva 3. La atención telefónica que nadie soporta</dc:title>
  <dc:subject>Desarrollo de las habilidades creativas e innovadoras con herramientas ofimáticas y de inteligencia artificial</dc:subject>
  <dc:creator>PptxGenJS</dc:creator>
  <cp:lastModifiedBy>PptxGenJS</cp:lastModifiedBy>
  <cp:revision>1</cp:revision>
  <dcterms:created xsi:type="dcterms:W3CDTF">2026-10-18T20:33:00Z</dcterms:created>
  <dcterms:modified xsi:type="dcterms:W3CDTF">2026-10-18T20:33:00Z</dcterms:modified>
</cp:coreProperties>
</file>