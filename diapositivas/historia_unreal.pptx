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istoria Unreal" id="{1e639432-f7cb-40e2-e515-19d6d403d2ce}">
          <p14:sldIdLst>
            <p14:sldId id="256"/>
            <p14:sldId id="257"/>
            <p14:sldId id="258"/>
            <p14:sldId id="259"/>
            <p14:sldId id="260"/>
            <p14:sldId id="261"/>
            <p14:sldId id="262"/>
            <p14:sldId id="263"/>
            <p14:sldId id="264"/>
            <p14:sldId id="265"/>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Historia de apoyo para la regla del curso «primero las personas, después la IA» (bloque 1, minutos 15–20). Duración orientativa: 8–10 minutos. Si no hay tiempo, usar solo la diapositiva resumen del bloque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Lanzar la pregunta y dejarla abierta. Se responde al final de la historia.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Contar sin tecnicismos: antes, la luz y el detalle de cada escena había que prepararlos a mano, objeto a objeto. Con Unreal Engine 5, el programa lo hace solo.
Lumen: iluminación global y reflejos que se actualizan en tiempo real. Nanite: geometría virtualizada que permite usar modelos de altísimo detalle, como escaneos fotogramétricos. Megascans: la mayor biblioteca de fotogrametría del mundo en 2019, de Quixel, empresa que compró Epic Games; durante años fue gratuita para quien usaba Unreal (desde 2025 parte es de pago, en la tienda Fab).
Fechas según Wikipedia (artículo «Unreal Engine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cita es de Tom Guillermin, director técnico de Sandfall Interactive, recogida por Creative Bloq: con Lumen y Nanite, un equipo de unas 30 personas alcanzó un nivel gráfico comparable al de estudios con cientos de desarrolladores.
Para la captura (el repositorio del curso es público, por eso no se incluyen imágenes con derechos de autor): buscar «The Matrix Awakens Unreal Engine 5» en el canal oficial de Unreal Engine en YouTube o en unrealengine.com, y pegar una captura en el hueco.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Citas traducidas del hilo «I'm already starting to feel tired of Unreal Engine 5» de ResetEra (abril de 2026). En Steam hay hilos con títulos como «Why does every Unreal Engine game look the same?».
Ser honestos: es una percepción de parte de la comunidad, no un hecho medido. En el mismo hilo hay quien responde que no todos los juegos de Unreal Engine 5 se parecen. El debate es justamente lo interesante: ¿la culpa es de la herramienta o de cómo se usa?
Opcional: pegar encima de las miniaturas capturas de dos o tres juegos de Unreal Engine 5 con paisajes realistas, para que el grupo juzgue si se parecen.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tres causas son las que más se repiten en los foros: los ajustes por defecto (iluminación automática, el mismo mapeo de tonos «cinematográfico»), los recursos compartidos (bibliotecas como Megascans) y la comodidad.
La frase de abajo es la clave de toda la historia: la herramienta no tiene la culpa. Decide quien la usa… o quien deja de decidir.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Clair Obscur: Expedition 33 (Sandfall Interactive, 2025) usa Unreal Engine 5, Lumen y Nanite, como tantos otros. La diferencia: una dirección artística muy personal, de inspiración surrealista y Belle Époque.
Resultado: Juego del Año en The Game Awards 2025, con 9 premios de 13 nominaciones (récord), entre ellos mejor dirección artística, mejor dirección de juego y mejor narrativa.
El propio director técnico avisó de que usar Unreal Engine 5 «puede ser una trampa» (titular de Creative Bloq): la gente espera calidad de gran estudio en todo. La herramienta da el acabado; lo que hace único al juego lo pone el equipo.
Para la captura: kit de prensa oficial de Sandfall Interactive o la página del juego en Steam o PlayStation 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puente. Dejar que alguien del grupo intente responderla antes de pasar.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Estudio: Anil R. Doshi y Oliver P. Hauser, «Generative AI enhances individual creativity but reduces the collective diversity of novel content», Science Advances, 12 de julio de 2024. 293 escritores y 600 evaluadores.
Cifras exactas: con cinco ideas de la IA, los relatos fueron un 8,1 % más novedosos y un 9,0 % más útiles que los escritos sin ayuda. Las mejoras fueron mayores en las personas menos creativas (hasta +10,7 % en novedad y +11,5 % en utilidad). Pero los relatos hechos con ayuda de la IA se parecían más entre sí: un 10,7 % del rango de similitud con una idea de la IA (8,9 % con cinco).
Ojo: la IA no lo hizo peor. Ayudó a cada persona. El problema aparece al mirar el conjunto.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autores lo llaman un dilema social: a cada uno le conviene usar la IA, pero si todos la usamos igual, el conjunto se empobrece.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Recorrer la tabla fila a fila. Conectar con la búsqueda de empleo: si todo el mundo escribe su carta de presentación con la misma IA y el mismo prompt, todas suenan igual. Lo que diferencia es lo que pone cada persona.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Enlazar con la regla del curso y con el Ejercicio 1: lo comprobaremos comparando las ideas del grupo con las de la IA. No adelantar quién gana: lo dirán los datos del propio grupo.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opiniones de foros (ResetEra, Steam) reflejan la percepción de jugadores, no un estudio. El estudio de Science Advances sí es una investigación revisada por pares.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737360"/>
            <a:ext cx="7680960" cy="18288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548640" y="3794760"/>
            <a:ext cx="7680960" cy="1371600"/>
          </a:xfrm>
          <a:prstGeom prst="rect">
            <a:avLst/>
          </a:prstGeom>
          <a:noFill/>
          <a:ln/>
        </p:spPr>
        <p:txBody>
          <a:bodyPr wrap="square" rtlCol="0"/>
          <a:lstStyle>
            <a:lvl1pPr indent="0" marL="0">
              <a:buNone/>
              <a:defRPr lang="en-US" sz="2000" dirty="0">
                <a:solidFill>
                  <a:schemeClr val="accent1"/>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CION">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3108960" y="2103120"/>
            <a:ext cx="8503920" cy="14630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3108960" y="3749040"/>
            <a:ext cx="8503920" cy="731520"/>
          </a:xfrm>
          <a:prstGeom prst="rect">
            <a:avLst/>
          </a:prstGeom>
          <a:noFill/>
          <a:ln/>
        </p:spPr>
        <p:txBody>
          <a:bodyPr wrap="square" rtlCol="0"/>
          <a:lstStyle>
            <a:lvl1pPr indent="0" marL="0">
              <a:buNone/>
              <a:defRPr lang="en-US" sz="2200" dirty="0">
                <a:solidFill>
                  <a:schemeClr val="accent1"/>
                </a:solidFill>
              </a:defRPr>
            </a:lvl1pPr>
          </a:lstStyle>
          <a:p>
            <a:pPr indent="0" marL="0">
              <a:buNone/>
            </a:pPr>
            <a:endParaRPr lang="en-US" sz="2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355080"/>
            <a:ext cx="8229600" cy="320040"/>
          </a:xfrm>
          <a:prstGeom prst="rect">
            <a:avLst/>
          </a:prstGeom>
          <a:noFill/>
          <a:ln/>
        </p:spPr>
        <p:txBody>
          <a:bodyPr wrap="square" lIns="0" tIns="0" rIns="0" bIns="0" rtlCol="0" anchor="ctr"/>
          <a:lstStyle/>
          <a:p>
            <a:pPr indent="0" marL="0">
              <a:buNone/>
            </a:pPr>
            <a:r>
              <a:rPr lang="en-US" sz="1100" dirty="0">
                <a:solidFill>
                  <a:schemeClr val="accent5"/>
                </a:solidFill>
              </a:rPr>
              <a:t>Historia Unreal · Misma herramienta, mismo resultado</a:t>
            </a:r>
            <a:endParaRPr lang="en-US" sz="11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ESTACADO">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1097280" y="1554480"/>
            <a:ext cx="9966960" cy="3108960"/>
          </a:xfrm>
          <a:prstGeom prst="rect">
            <a:avLst/>
          </a:prstGeom>
          <a:noFill/>
          <a:ln/>
        </p:spPr>
        <p:txBody>
          <a:bodyPr wrap="square" rtlCol="0"/>
          <a:lstStyle>
            <a:lvl1pPr indent="0" marL="0">
              <a:buNone/>
              <a:defRPr lang="en-US" sz="3400" dirty="0">
                <a:solidFill>
                  <a:schemeClr val="bg1"/>
                </a:solidFill>
              </a:defRPr>
            </a:lvl1pPr>
          </a:lstStyle>
          <a:p>
            <a:pPr indent="0" marL="0">
              <a:buNone/>
            </a:pPr>
            <a:endParaRPr lang="en-US" sz="3400" dirty="0"/>
          </a:p>
        </p:txBody>
      </p:sp>
      <p:sp>
        <p:nvSpPr>
          <p:cNvPr id="3" name="Text 0"/>
          <p:cNvSpPr/>
          <p:nvPr/>
        </p:nvSpPr>
        <p:spPr>
          <a:xfrm>
            <a:off x="548640" y="6355080"/>
            <a:ext cx="8229600" cy="320040"/>
          </a:xfrm>
          <a:prstGeom prst="rect">
            <a:avLst/>
          </a:prstGeom>
          <a:noFill/>
          <a:ln/>
        </p:spPr>
        <p:txBody>
          <a:bodyPr wrap="square" lIns="0" tIns="0" rIns="0" bIns="0" rtlCol="0" anchor="ctr"/>
          <a:lstStyle/>
          <a:p>
            <a:pPr indent="0" marL="0">
              <a:buNone/>
            </a:pPr>
            <a:r>
              <a:rPr lang="en-US" sz="1100" dirty="0">
                <a:solidFill>
                  <a:schemeClr val="accent5"/>
                </a:solidFill>
              </a:rPr>
              <a:t>Historia Unreal · Misma herramienta, mismo resultado</a:t>
            </a:r>
            <a:endParaRPr lang="en-US" sz="11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4.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4.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4.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hyperlink" Target="https://pmc.ncbi.nlm.nih.gov/articles/PMC11244532" TargetMode="External"/><Relationship Id="rId3" Type="http://schemas.openxmlformats.org/officeDocument/2006/relationships/hyperlink" Target="https://en.wikipedia.org/wiki/Unreal_Engine_5" TargetMode="External"/><Relationship Id="rId4" Type="http://schemas.openxmlformats.org/officeDocument/2006/relationships/hyperlink" Target="https://creativebloq.com/3d/video-game-design/using-unreal-engine-5-can-be-a-trap-says-the-dev-behind-clair-obscur-expedition-33" TargetMode="External"/><Relationship Id="rId5" Type="http://schemas.openxmlformats.org/officeDocument/2006/relationships/hyperlink" Target="https://www.windowscentral.com/gaming/the-game-awards-2025-winners" TargetMode="External"/><Relationship Id="rId6" Type="http://schemas.openxmlformats.org/officeDocument/2006/relationships/hyperlink" Target="https://www.resetera.com/threads/im-already-starting-to-feel-tired-of-unreal-engine-5.1487680/" TargetMode="External"/><Relationship Id="rId1" Type="http://schemas.openxmlformats.org/officeDocument/2006/relationships/image" Target="../media/image-13-1.png"/><Relationship Id="rId7" Type="http://schemas.openxmlformats.org/officeDocument/2006/relationships/slideLayout" Target="../slideLayouts/slideLayout4.xml"/><Relationship Id="rId8"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737360"/>
            <a:ext cx="7680960" cy="1828800"/>
          </a:xfrm>
          <a:prstGeom prst="rect">
            <a:avLst/>
          </a:prstGeom>
          <a:noFill/>
          <a:ln/>
        </p:spPr>
        <p:txBody>
          <a:bodyPr wrap="square" lIns="0" tIns="0" rIns="0" bIns="0" rtlCol="0" anchor="b"/>
          <a:lstStyle/>
          <a:p>
            <a:pPr algn="l" indent="0" marL="0">
              <a:buNone/>
            </a:pPr>
            <a:r>
              <a:rPr lang="en-US" sz="4400" b="1" dirty="0">
                <a:solidFill>
                  <a:schemeClr val="bg1"/>
                </a:solidFill>
              </a:rPr>
              <a:t>Misma herramienta, mismo resultado</a:t>
            </a:r>
            <a:endParaRPr lang="en-US" sz="4400" dirty="0"/>
          </a:p>
        </p:txBody>
      </p:sp>
      <p:sp>
        <p:nvSpPr>
          <p:cNvPr id="3" name="Text 0"/>
          <p:cNvSpPr/>
          <p:nvPr>
            <p:ph idx="101" type="body" hasCustomPrompt="1"/>
          </p:nvPr>
        </p:nvSpPr>
        <p:spPr>
          <a:xfrm>
            <a:off x="548640" y="3794760"/>
            <a:ext cx="7680960" cy="1371600"/>
          </a:xfrm>
          <a:prstGeom prst="rect">
            <a:avLst/>
          </a:prstGeom>
          <a:noFill/>
          <a:ln/>
        </p:spPr>
        <p:txBody>
          <a:bodyPr wrap="square" lIns="0" tIns="0" rIns="0" bIns="0" rtlCol="0" anchor="t"/>
          <a:lstStyle/>
          <a:p>
            <a:pPr indent="0" marL="0">
              <a:buNone/>
            </a:pPr>
            <a:r>
              <a:rPr lang="en-US" sz="2000" dirty="0">
                <a:solidFill>
                  <a:schemeClr val="accent1"/>
                </a:solidFill>
              </a:rPr>
              <a:t>Lo que Unreal Engine 5 nos enseña sobre la IA y la creatividad</a:t>
            </a:r>
            <a:endParaRPr lang="en-US" sz="2000" dirty="0"/>
          </a:p>
        </p:txBody>
      </p:sp>
      <p:sp>
        <p:nvSpPr>
          <p:cNvPr id="4" name="Mando"/>
          <p:cNvSpPr/>
          <p:nvPr/>
        </p:nvSpPr>
        <p:spPr>
          <a:xfrm>
            <a:off x="8869680" y="1828800"/>
            <a:ext cx="2743200" cy="2743200"/>
          </a:xfrm>
          <a:prstGeom prst="ellipse">
            <a:avLst/>
          </a:prstGeom>
          <a:solidFill>
            <a:schemeClr val="accent1"/>
          </a:solidFill>
          <a:ln/>
        </p:spPr>
      </p:sp>
      <p:pic>
        <p:nvPicPr>
          <p:cNvPr id="5" name="Image 0" descr="Mando">    </p:cNvPr>
          <p:cNvPicPr>
            <a:picLocks noChangeAspect="1"/>
          </p:cNvPicPr>
          <p:nvPr/>
        </p:nvPicPr>
        <p:blipFill>
          <a:blip r:embed="rId1"/>
          <a:stretch>
            <a:fillRect/>
          </a:stretch>
        </p:blipFill>
        <p:spPr>
          <a:xfrm>
            <a:off x="9528048" y="2487168"/>
            <a:ext cx="1426464" cy="142646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1097280" y="1554480"/>
            <a:ext cx="9966960" cy="3108960"/>
          </a:xfrm>
          <a:prstGeom prst="rect">
            <a:avLst/>
          </a:prstGeom>
          <a:noFill/>
          <a:ln/>
        </p:spPr>
        <p:txBody>
          <a:bodyPr wrap="square" lIns="0" tIns="0" rIns="0" bIns="0" rtlCol="0" anchor="ctr"/>
          <a:lstStyle/>
          <a:p>
            <a:pPr indent="0" marL="0">
              <a:buNone/>
            </a:pPr>
            <a:r>
              <a:rPr lang="en-US" sz="3400" dirty="0">
                <a:solidFill>
                  <a:schemeClr val="bg1"/>
                </a:solidFill>
              </a:rPr>
              <a:t>¿Y si la mejor herramienta del mercado</a:t>
            </a:r>
            <a:endParaRPr lang="en-US" sz="3400" dirty="0"/>
          </a:p>
          <a:p>
            <a:pPr indent="0" marL="0">
              <a:buNone/>
            </a:pPr>
            <a:r>
              <a:rPr lang="en-US" sz="3400" b="1" dirty="0">
                <a:solidFill>
                  <a:schemeClr val="accent1"/>
                </a:solidFill>
              </a:rPr>
              <a:t>hiciera que todos los resultados se parecieran?</a:t>
            </a:r>
            <a:endParaRPr lang="en-US" sz="34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Unreal Engine 5: un salto enorme</a:t>
            </a:r>
            <a:endParaRPr lang="en-US" sz="3200" dirty="0"/>
          </a:p>
        </p:txBody>
      </p:sp>
      <p:sp>
        <p:nvSpPr>
          <p:cNvPr id="3" name="Text 1"/>
          <p:cNvSpPr txBox="1"/>
          <p:nvPr/>
        </p:nvSpPr>
        <p:spPr>
          <a:xfrm>
            <a:off x="548640" y="1325880"/>
            <a:ext cx="11094415" cy="457200"/>
          </a:xfrm>
          <a:prstGeom prst="rect">
            <a:avLst/>
          </a:prstGeom>
          <a:noFill/>
          <a:ln/>
        </p:spPr>
        <p:txBody>
          <a:bodyPr wrap="square" lIns="0" tIns="0" rIns="0" bIns="0" rtlCol="0" anchor="ctr"/>
          <a:lstStyle/>
          <a:p>
            <a:pPr indent="0" marL="0">
              <a:buNone/>
            </a:pPr>
            <a:r>
              <a:rPr lang="en-US" sz="1900" dirty="0">
                <a:solidFill>
                  <a:schemeClr val="tx2"/>
                </a:solidFill>
              </a:rPr>
              <a:t>El programa con el que se hacen muchos videojuegos actuales. Tres novedades lo cambiaron todo:</a:t>
            </a:r>
            <a:endParaRPr lang="en-US" sz="1900" dirty="0"/>
          </a:p>
        </p:txBody>
      </p:sp>
      <p:sp>
        <p:nvSpPr>
          <p:cNvPr id="4" name="Tarjeta"/>
          <p:cNvSpPr/>
          <p:nvPr/>
        </p:nvSpPr>
        <p:spPr>
          <a:xfrm>
            <a:off x="548640" y="2011680"/>
            <a:ext cx="3454298" cy="2468880"/>
          </a:xfrm>
          <a:prstGeom prst="roundRect">
            <a:avLst>
              <a:gd name="adj" fmla="val 5556"/>
            </a:avLst>
          </a:prstGeom>
          <a:solidFill>
            <a:schemeClr val="bg2"/>
          </a:solidFill>
          <a:ln/>
        </p:spPr>
      </p:sp>
      <p:sp>
        <p:nvSpPr>
          <p:cNvPr id="5" name="Lumen"/>
          <p:cNvSpPr/>
          <p:nvPr/>
        </p:nvSpPr>
        <p:spPr>
          <a:xfrm>
            <a:off x="868680" y="2286000"/>
            <a:ext cx="914400" cy="914400"/>
          </a:xfrm>
          <a:prstGeom prst="ellipse">
            <a:avLst/>
          </a:prstGeom>
          <a:solidFill>
            <a:schemeClr val="accent1"/>
          </a:solidFill>
          <a:ln/>
        </p:spPr>
      </p:sp>
      <p:pic>
        <p:nvPicPr>
          <p:cNvPr id="6" name="Image 0" descr="Lumen">    </p:cNvPr>
          <p:cNvPicPr>
            <a:picLocks noChangeAspect="1"/>
          </p:cNvPicPr>
          <p:nvPr/>
        </p:nvPicPr>
        <p:blipFill>
          <a:blip r:embed="rId1"/>
          <a:stretch>
            <a:fillRect/>
          </a:stretch>
        </p:blipFill>
        <p:spPr>
          <a:xfrm>
            <a:off x="1088136" y="2505456"/>
            <a:ext cx="475488" cy="475488"/>
          </a:xfrm>
          <a:prstGeom prst="rect">
            <a:avLst/>
          </a:prstGeom>
        </p:spPr>
      </p:pic>
      <p:sp>
        <p:nvSpPr>
          <p:cNvPr id="7" name="Text 4"/>
          <p:cNvSpPr txBox="1"/>
          <p:nvPr/>
        </p:nvSpPr>
        <p:spPr>
          <a:xfrm>
            <a:off x="1965960" y="2286000"/>
            <a:ext cx="1808378" cy="914400"/>
          </a:xfrm>
          <a:prstGeom prst="rect">
            <a:avLst/>
          </a:prstGeom>
          <a:noFill/>
          <a:ln/>
        </p:spPr>
        <p:txBody>
          <a:bodyPr wrap="square" lIns="0" tIns="0" rIns="0" bIns="0" rtlCol="0" anchor="ctr"/>
          <a:lstStyle/>
          <a:p>
            <a:pPr indent="0" marL="0">
              <a:buNone/>
            </a:pPr>
            <a:r>
              <a:rPr lang="en-US" sz="2600" b="1" dirty="0">
                <a:solidFill>
                  <a:schemeClr val="tx1"/>
                </a:solidFill>
              </a:rPr>
              <a:t>Lumen</a:t>
            </a:r>
            <a:endParaRPr lang="en-US" sz="2600" dirty="0"/>
          </a:p>
        </p:txBody>
      </p:sp>
      <p:sp>
        <p:nvSpPr>
          <p:cNvPr id="8" name="Text 5"/>
          <p:cNvSpPr txBox="1"/>
          <p:nvPr/>
        </p:nvSpPr>
        <p:spPr>
          <a:xfrm>
            <a:off x="868680" y="3383280"/>
            <a:ext cx="2814218" cy="960120"/>
          </a:xfrm>
          <a:prstGeom prst="rect">
            <a:avLst/>
          </a:prstGeom>
          <a:noFill/>
          <a:ln/>
        </p:spPr>
        <p:txBody>
          <a:bodyPr wrap="square" lIns="0" tIns="0" rIns="0" bIns="0" rtlCol="0" anchor="t"/>
          <a:lstStyle/>
          <a:p>
            <a:pPr indent="0" marL="0">
              <a:buNone/>
            </a:pPr>
            <a:r>
              <a:rPr lang="en-US" sz="1800" dirty="0">
                <a:solidFill>
                  <a:schemeClr val="tx1"/>
                </a:solidFill>
              </a:rPr>
              <a:t>La luz, las sombras y los reflejos se calculan solos y en tiempo real.</a:t>
            </a:r>
            <a:endParaRPr lang="en-US" sz="1800" dirty="0"/>
          </a:p>
        </p:txBody>
      </p:sp>
      <p:sp>
        <p:nvSpPr>
          <p:cNvPr id="9" name="Tarjeta"/>
          <p:cNvSpPr/>
          <p:nvPr/>
        </p:nvSpPr>
        <p:spPr>
          <a:xfrm>
            <a:off x="4368698" y="2011680"/>
            <a:ext cx="3454298" cy="2468880"/>
          </a:xfrm>
          <a:prstGeom prst="roundRect">
            <a:avLst>
              <a:gd name="adj" fmla="val 5556"/>
            </a:avLst>
          </a:prstGeom>
          <a:solidFill>
            <a:schemeClr val="bg2"/>
          </a:solidFill>
          <a:ln/>
        </p:spPr>
      </p:sp>
      <p:sp>
        <p:nvSpPr>
          <p:cNvPr id="10" name="Nanite"/>
          <p:cNvSpPr/>
          <p:nvPr/>
        </p:nvSpPr>
        <p:spPr>
          <a:xfrm>
            <a:off x="4688738" y="2286000"/>
            <a:ext cx="914400" cy="914400"/>
          </a:xfrm>
          <a:prstGeom prst="ellipse">
            <a:avLst/>
          </a:prstGeom>
          <a:solidFill>
            <a:schemeClr val="accent3"/>
          </a:solidFill>
          <a:ln/>
        </p:spPr>
      </p:sp>
      <p:pic>
        <p:nvPicPr>
          <p:cNvPr id="11" name="Image 1" descr="Nanite">    </p:cNvPr>
          <p:cNvPicPr>
            <a:picLocks noChangeAspect="1"/>
          </p:cNvPicPr>
          <p:nvPr/>
        </p:nvPicPr>
        <p:blipFill>
          <a:blip r:embed="rId2"/>
          <a:stretch>
            <a:fillRect/>
          </a:stretch>
        </p:blipFill>
        <p:spPr>
          <a:xfrm>
            <a:off x="4908194" y="2505456"/>
            <a:ext cx="475488" cy="475488"/>
          </a:xfrm>
          <a:prstGeom prst="rect">
            <a:avLst/>
          </a:prstGeom>
        </p:spPr>
      </p:pic>
      <p:sp>
        <p:nvSpPr>
          <p:cNvPr id="12" name="Text 8"/>
          <p:cNvSpPr txBox="1"/>
          <p:nvPr/>
        </p:nvSpPr>
        <p:spPr>
          <a:xfrm>
            <a:off x="5786018" y="2286000"/>
            <a:ext cx="1808378" cy="914400"/>
          </a:xfrm>
          <a:prstGeom prst="rect">
            <a:avLst/>
          </a:prstGeom>
          <a:noFill/>
          <a:ln/>
        </p:spPr>
        <p:txBody>
          <a:bodyPr wrap="square" lIns="0" tIns="0" rIns="0" bIns="0" rtlCol="0" anchor="ctr"/>
          <a:lstStyle/>
          <a:p>
            <a:pPr indent="0" marL="0">
              <a:buNone/>
            </a:pPr>
            <a:r>
              <a:rPr lang="en-US" sz="2600" b="1" dirty="0">
                <a:solidFill>
                  <a:schemeClr val="tx1"/>
                </a:solidFill>
              </a:rPr>
              <a:t>Nanite</a:t>
            </a:r>
            <a:endParaRPr lang="en-US" sz="2600" dirty="0"/>
          </a:p>
        </p:txBody>
      </p:sp>
      <p:sp>
        <p:nvSpPr>
          <p:cNvPr id="13" name="Text 9"/>
          <p:cNvSpPr txBox="1"/>
          <p:nvPr/>
        </p:nvSpPr>
        <p:spPr>
          <a:xfrm>
            <a:off x="4688738" y="3383280"/>
            <a:ext cx="2814218" cy="960120"/>
          </a:xfrm>
          <a:prstGeom prst="rect">
            <a:avLst/>
          </a:prstGeom>
          <a:noFill/>
          <a:ln/>
        </p:spPr>
        <p:txBody>
          <a:bodyPr wrap="square" lIns="0" tIns="0" rIns="0" bIns="0" rtlCol="0" anchor="t"/>
          <a:lstStyle/>
          <a:p>
            <a:pPr indent="0" marL="0">
              <a:buNone/>
            </a:pPr>
            <a:r>
              <a:rPr lang="en-US" sz="1800" dirty="0">
                <a:solidFill>
                  <a:schemeClr val="tx1"/>
                </a:solidFill>
              </a:rPr>
              <a:t>Objetos con un detalle casi ilimitado, incluso escaneados del mundo real.</a:t>
            </a:r>
            <a:endParaRPr lang="en-US" sz="1800" dirty="0"/>
          </a:p>
        </p:txBody>
      </p:sp>
      <p:sp>
        <p:nvSpPr>
          <p:cNvPr id="14" name="Tarjeta"/>
          <p:cNvSpPr/>
          <p:nvPr/>
        </p:nvSpPr>
        <p:spPr>
          <a:xfrm>
            <a:off x="8188757" y="2011680"/>
            <a:ext cx="3454298" cy="2468880"/>
          </a:xfrm>
          <a:prstGeom prst="roundRect">
            <a:avLst>
              <a:gd name="adj" fmla="val 5556"/>
            </a:avLst>
          </a:prstGeom>
          <a:solidFill>
            <a:schemeClr val="bg2"/>
          </a:solidFill>
          <a:ln/>
        </p:spPr>
      </p:sp>
      <p:sp>
        <p:nvSpPr>
          <p:cNvPr id="15" name="Megascans"/>
          <p:cNvSpPr/>
          <p:nvPr/>
        </p:nvSpPr>
        <p:spPr>
          <a:xfrm>
            <a:off x="8508797" y="2286000"/>
            <a:ext cx="914400" cy="914400"/>
          </a:xfrm>
          <a:prstGeom prst="ellipse">
            <a:avLst/>
          </a:prstGeom>
          <a:solidFill>
            <a:schemeClr val="accent4"/>
          </a:solidFill>
          <a:ln/>
        </p:spPr>
      </p:sp>
      <p:pic>
        <p:nvPicPr>
          <p:cNvPr id="16" name="Image 2" descr="Megascans">    </p:cNvPr>
          <p:cNvPicPr>
            <a:picLocks noChangeAspect="1"/>
          </p:cNvPicPr>
          <p:nvPr/>
        </p:nvPicPr>
        <p:blipFill>
          <a:blip r:embed="rId3"/>
          <a:stretch>
            <a:fillRect/>
          </a:stretch>
        </p:blipFill>
        <p:spPr>
          <a:xfrm>
            <a:off x="8728253" y="2505456"/>
            <a:ext cx="475488" cy="475488"/>
          </a:xfrm>
          <a:prstGeom prst="rect">
            <a:avLst/>
          </a:prstGeom>
        </p:spPr>
      </p:pic>
      <p:sp>
        <p:nvSpPr>
          <p:cNvPr id="17" name="Text 12"/>
          <p:cNvSpPr txBox="1"/>
          <p:nvPr/>
        </p:nvSpPr>
        <p:spPr>
          <a:xfrm>
            <a:off x="9606077" y="2286000"/>
            <a:ext cx="1808378" cy="914400"/>
          </a:xfrm>
          <a:prstGeom prst="rect">
            <a:avLst/>
          </a:prstGeom>
          <a:noFill/>
          <a:ln/>
        </p:spPr>
        <p:txBody>
          <a:bodyPr wrap="square" lIns="0" tIns="0" rIns="0" bIns="0" rtlCol="0" anchor="ctr"/>
          <a:lstStyle/>
          <a:p>
            <a:pPr indent="0" marL="0">
              <a:buNone/>
            </a:pPr>
            <a:r>
              <a:rPr lang="en-US" sz="2600" b="1" dirty="0">
                <a:solidFill>
                  <a:schemeClr val="tx1"/>
                </a:solidFill>
              </a:rPr>
              <a:t>Megascans</a:t>
            </a:r>
            <a:endParaRPr lang="en-US" sz="2600" dirty="0"/>
          </a:p>
        </p:txBody>
      </p:sp>
      <p:sp>
        <p:nvSpPr>
          <p:cNvPr id="18" name="Text 13"/>
          <p:cNvSpPr txBox="1"/>
          <p:nvPr/>
        </p:nvSpPr>
        <p:spPr>
          <a:xfrm>
            <a:off x="8508797" y="3383280"/>
            <a:ext cx="2814218" cy="960120"/>
          </a:xfrm>
          <a:prstGeom prst="rect">
            <a:avLst/>
          </a:prstGeom>
          <a:noFill/>
          <a:ln/>
        </p:spPr>
        <p:txBody>
          <a:bodyPr wrap="square" lIns="0" tIns="0" rIns="0" bIns="0" rtlCol="0" anchor="t"/>
          <a:lstStyle/>
          <a:p>
            <a:pPr indent="0" marL="0">
              <a:buNone/>
            </a:pPr>
            <a:r>
              <a:rPr lang="en-US" sz="1800" dirty="0">
                <a:solidFill>
                  <a:schemeClr val="tx1"/>
                </a:solidFill>
              </a:rPr>
              <a:t>Una biblioteca enorme de rocas, árboles y texturas escaneadas, lista para usar.</a:t>
            </a:r>
            <a:endParaRPr lang="en-US" sz="1800" dirty="0"/>
          </a:p>
        </p:txBody>
      </p:sp>
      <p:sp>
        <p:nvSpPr>
          <p:cNvPr id="19" name="Shape 14"/>
          <p:cNvSpPr/>
          <p:nvPr/>
        </p:nvSpPr>
        <p:spPr>
          <a:xfrm>
            <a:off x="731520" y="5074920"/>
            <a:ext cx="10728655" cy="0"/>
          </a:xfrm>
          <a:prstGeom prst="line">
            <a:avLst/>
          </a:prstGeom>
          <a:noFill/>
          <a:ln w="50800">
            <a:solidFill>
              <a:srgbClr val="F2F4F8"/>
            </a:solidFill>
            <a:prstDash val="solid"/>
          </a:ln>
        </p:spPr>
      </p:sp>
      <p:sp>
        <p:nvSpPr>
          <p:cNvPr id="20" name="Hito"/>
          <p:cNvSpPr/>
          <p:nvPr/>
        </p:nvSpPr>
        <p:spPr>
          <a:xfrm>
            <a:off x="1816570" y="4956048"/>
            <a:ext cx="237744" cy="237744"/>
          </a:xfrm>
          <a:prstGeom prst="ellipse">
            <a:avLst/>
          </a:prstGeom>
          <a:solidFill>
            <a:schemeClr val="tx1"/>
          </a:solidFill>
          <a:ln/>
        </p:spPr>
      </p:sp>
      <p:sp>
        <p:nvSpPr>
          <p:cNvPr id="21" name="Text 16"/>
          <p:cNvSpPr txBox="1"/>
          <p:nvPr/>
        </p:nvSpPr>
        <p:spPr>
          <a:xfrm>
            <a:off x="548640" y="5276088"/>
            <a:ext cx="2773604" cy="685800"/>
          </a:xfrm>
          <a:prstGeom prst="rect">
            <a:avLst/>
          </a:prstGeom>
          <a:noFill/>
          <a:ln/>
        </p:spPr>
        <p:txBody>
          <a:bodyPr wrap="square" lIns="0" tIns="0" rIns="0" bIns="0" rtlCol="0" anchor="t"/>
          <a:lstStyle/>
          <a:p>
            <a:pPr algn="ctr" indent="0" marL="0">
              <a:buNone/>
            </a:pPr>
            <a:r>
              <a:rPr lang="en-US" sz="1400" b="1" dirty="0">
                <a:solidFill>
                  <a:schemeClr val="tx1"/>
                </a:solidFill>
              </a:rPr>
              <a:t>Mayo 2020</a:t>
            </a:r>
            <a:endParaRPr lang="en-US" sz="1400" dirty="0"/>
          </a:p>
          <a:p>
            <a:pPr algn="ctr" indent="0" marL="0">
              <a:buNone/>
            </a:pPr>
            <a:r>
              <a:rPr lang="en-US" sz="1400" dirty="0">
                <a:solidFill>
                  <a:schemeClr val="tx1"/>
                </a:solidFill>
              </a:rPr>
              <a:t>Presentación</a:t>
            </a:r>
            <a:endParaRPr lang="en-US" sz="1400" dirty="0"/>
          </a:p>
        </p:txBody>
      </p:sp>
      <p:sp>
        <p:nvSpPr>
          <p:cNvPr id="22" name="Hito"/>
          <p:cNvSpPr/>
          <p:nvPr/>
        </p:nvSpPr>
        <p:spPr>
          <a:xfrm>
            <a:off x="4590174" y="4956048"/>
            <a:ext cx="237744" cy="237744"/>
          </a:xfrm>
          <a:prstGeom prst="ellipse">
            <a:avLst/>
          </a:prstGeom>
          <a:solidFill>
            <a:schemeClr val="tx1"/>
          </a:solidFill>
          <a:ln/>
        </p:spPr>
      </p:sp>
      <p:sp>
        <p:nvSpPr>
          <p:cNvPr id="23" name="Text 18"/>
          <p:cNvSpPr txBox="1"/>
          <p:nvPr/>
        </p:nvSpPr>
        <p:spPr>
          <a:xfrm>
            <a:off x="3322244" y="5276088"/>
            <a:ext cx="2773604" cy="685800"/>
          </a:xfrm>
          <a:prstGeom prst="rect">
            <a:avLst/>
          </a:prstGeom>
          <a:noFill/>
          <a:ln/>
        </p:spPr>
        <p:txBody>
          <a:bodyPr wrap="square" lIns="0" tIns="0" rIns="0" bIns="0" rtlCol="0" anchor="t"/>
          <a:lstStyle/>
          <a:p>
            <a:pPr algn="ctr" indent="0" marL="0">
              <a:buNone/>
            </a:pPr>
            <a:r>
              <a:rPr lang="en-US" sz="1400" b="1" dirty="0">
                <a:solidFill>
                  <a:schemeClr val="tx1"/>
                </a:solidFill>
              </a:rPr>
              <a:t>Mayo 2021</a:t>
            </a:r>
            <a:endParaRPr lang="en-US" sz="1400" dirty="0"/>
          </a:p>
          <a:p>
            <a:pPr algn="ctr" indent="0" marL="0">
              <a:buNone/>
            </a:pPr>
            <a:r>
              <a:rPr lang="en-US" sz="1400" dirty="0">
                <a:solidFill>
                  <a:schemeClr val="tx1"/>
                </a:solidFill>
              </a:rPr>
              <a:t>Acceso anticipado</a:t>
            </a:r>
            <a:endParaRPr lang="en-US" sz="1400" dirty="0"/>
          </a:p>
        </p:txBody>
      </p:sp>
      <p:sp>
        <p:nvSpPr>
          <p:cNvPr id="24" name="Hito"/>
          <p:cNvSpPr/>
          <p:nvPr/>
        </p:nvSpPr>
        <p:spPr>
          <a:xfrm>
            <a:off x="7363778" y="4956048"/>
            <a:ext cx="237744" cy="237744"/>
          </a:xfrm>
          <a:prstGeom prst="ellipse">
            <a:avLst/>
          </a:prstGeom>
          <a:solidFill>
            <a:schemeClr val="tx1"/>
          </a:solidFill>
          <a:ln/>
        </p:spPr>
      </p:sp>
      <p:sp>
        <p:nvSpPr>
          <p:cNvPr id="25" name="Text 20"/>
          <p:cNvSpPr txBox="1"/>
          <p:nvPr/>
        </p:nvSpPr>
        <p:spPr>
          <a:xfrm>
            <a:off x="6095848" y="5276088"/>
            <a:ext cx="2773604" cy="685800"/>
          </a:xfrm>
          <a:prstGeom prst="rect">
            <a:avLst/>
          </a:prstGeom>
          <a:noFill/>
          <a:ln/>
        </p:spPr>
        <p:txBody>
          <a:bodyPr wrap="square" lIns="0" tIns="0" rIns="0" bIns="0" rtlCol="0" anchor="t"/>
          <a:lstStyle/>
          <a:p>
            <a:pPr algn="ctr" indent="0" marL="0">
              <a:buNone/>
            </a:pPr>
            <a:r>
              <a:rPr lang="en-US" sz="1400" b="1" dirty="0">
                <a:solidFill>
                  <a:schemeClr val="tx1"/>
                </a:solidFill>
              </a:rPr>
              <a:t>Dic. 2021</a:t>
            </a:r>
            <a:endParaRPr lang="en-US" sz="1400" dirty="0"/>
          </a:p>
          <a:p>
            <a:pPr algn="ctr" indent="0" marL="0">
              <a:buNone/>
            </a:pPr>
            <a:r>
              <a:rPr lang="en-US" sz="1400" dirty="0">
                <a:solidFill>
                  <a:schemeClr val="tx1"/>
                </a:solidFill>
              </a:rPr>
              <a:t>Demo «The Matrix Awakens»</a:t>
            </a:r>
            <a:endParaRPr lang="en-US" sz="1400" dirty="0"/>
          </a:p>
        </p:txBody>
      </p:sp>
      <p:sp>
        <p:nvSpPr>
          <p:cNvPr id="26" name="Hito"/>
          <p:cNvSpPr/>
          <p:nvPr/>
        </p:nvSpPr>
        <p:spPr>
          <a:xfrm>
            <a:off x="10137381" y="4956048"/>
            <a:ext cx="237744" cy="237744"/>
          </a:xfrm>
          <a:prstGeom prst="ellipse">
            <a:avLst/>
          </a:prstGeom>
          <a:solidFill>
            <a:schemeClr val="tx1"/>
          </a:solidFill>
          <a:ln/>
        </p:spPr>
      </p:sp>
      <p:sp>
        <p:nvSpPr>
          <p:cNvPr id="27" name="Text 22"/>
          <p:cNvSpPr txBox="1"/>
          <p:nvPr/>
        </p:nvSpPr>
        <p:spPr>
          <a:xfrm>
            <a:off x="8869451" y="5276088"/>
            <a:ext cx="2773604" cy="685800"/>
          </a:xfrm>
          <a:prstGeom prst="rect">
            <a:avLst/>
          </a:prstGeom>
          <a:noFill/>
          <a:ln/>
        </p:spPr>
        <p:txBody>
          <a:bodyPr wrap="square" lIns="0" tIns="0" rIns="0" bIns="0" rtlCol="0" anchor="t"/>
          <a:lstStyle/>
          <a:p>
            <a:pPr algn="ctr" indent="0" marL="0">
              <a:buNone/>
            </a:pPr>
            <a:r>
              <a:rPr lang="en-US" sz="1400" b="1" dirty="0">
                <a:solidFill>
                  <a:schemeClr val="tx1"/>
                </a:solidFill>
              </a:rPr>
              <a:t>Abril 2022</a:t>
            </a:r>
            <a:endParaRPr lang="en-US" sz="1400" dirty="0"/>
          </a:p>
          <a:p>
            <a:pPr algn="ctr" indent="0" marL="0">
              <a:buNone/>
            </a:pPr>
            <a:r>
              <a:rPr lang="en-US" sz="1400" dirty="0">
                <a:solidFill>
                  <a:schemeClr val="tx1"/>
                </a:solidFill>
              </a:rPr>
              <a:t>Lanzamiento</a:t>
            </a:r>
            <a:endParaRPr lang="en-US" sz="14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La promesa: calidad de gran estudio para cualquiera</a:t>
            </a:r>
            <a:endParaRPr lang="en-US" sz="3200" dirty="0"/>
          </a:p>
        </p:txBody>
      </p:sp>
      <p:sp>
        <p:nvSpPr>
          <p:cNvPr id="3" name="Cita"/>
          <p:cNvSpPr/>
          <p:nvPr/>
        </p:nvSpPr>
        <p:spPr>
          <a:xfrm>
            <a:off x="548640" y="1463040"/>
            <a:ext cx="5760720" cy="2377440"/>
          </a:xfrm>
          <a:prstGeom prst="roundRect">
            <a:avLst>
              <a:gd name="adj" fmla="val 5769"/>
            </a:avLst>
          </a:prstGeom>
          <a:solidFill>
            <a:schemeClr val="tx1"/>
          </a:solidFill>
          <a:ln/>
        </p:spPr>
      </p:sp>
      <p:sp>
        <p:nvSpPr>
          <p:cNvPr id="4" name="Text 2"/>
          <p:cNvSpPr txBox="1"/>
          <p:nvPr/>
        </p:nvSpPr>
        <p:spPr>
          <a:xfrm>
            <a:off x="868680" y="1463040"/>
            <a:ext cx="5120640" cy="2377440"/>
          </a:xfrm>
          <a:prstGeom prst="rect">
            <a:avLst/>
          </a:prstGeom>
          <a:noFill/>
          <a:ln/>
        </p:spPr>
        <p:txBody>
          <a:bodyPr wrap="square" lIns="0" tIns="0" rIns="0" bIns="0" rtlCol="0" anchor="ctr"/>
          <a:lstStyle/>
          <a:p>
            <a:pPr indent="0" marL="0">
              <a:spcAft>
                <a:spcPts val="600"/>
              </a:spcAft>
              <a:buNone/>
            </a:pPr>
            <a:r>
              <a:rPr lang="en-US" sz="1900" i="1" dirty="0">
                <a:solidFill>
                  <a:schemeClr val="bg1"/>
                </a:solidFill>
              </a:rPr>
              <a:t>«Esas tecnologías estaban reservadas a estudios más grandes, con grandes equipos dedicados al motor.»</a:t>
            </a:r>
            <a:endParaRPr lang="en-US" sz="1900" dirty="0"/>
          </a:p>
          <a:p>
            <a:pPr indent="0" marL="0">
              <a:spcAft>
                <a:spcPts val="600"/>
              </a:spcAft>
              <a:buNone/>
            </a:pPr>
            <a:r>
              <a:rPr lang="en-US" sz="1300" b="1" dirty="0">
                <a:solidFill>
                  <a:schemeClr val="accent1"/>
                </a:solidFill>
              </a:rPr>
              <a:t>Tom Guillermin, director técnico de Sandfall Interactive (equipo de unas 30 personas)</a:t>
            </a:r>
            <a:endParaRPr lang="en-US" sz="1900" dirty="0"/>
          </a:p>
        </p:txBody>
      </p:sp>
      <p:sp>
        <p:nvSpPr>
          <p:cNvPr id="5" name="Punto"/>
          <p:cNvSpPr/>
          <p:nvPr/>
        </p:nvSpPr>
        <p:spPr>
          <a:xfrm>
            <a:off x="548640" y="4160520"/>
            <a:ext cx="685800" cy="685800"/>
          </a:xfrm>
          <a:prstGeom prst="ellipse">
            <a:avLst/>
          </a:prstGeom>
          <a:solidFill>
            <a:schemeClr val="tx2"/>
          </a:solidFill>
          <a:ln/>
        </p:spPr>
      </p:sp>
      <p:pic>
        <p:nvPicPr>
          <p:cNvPr id="6" name="Image 0" descr="Punto">    </p:cNvPr>
          <p:cNvPicPr>
            <a:picLocks noChangeAspect="1"/>
          </p:cNvPicPr>
          <p:nvPr/>
        </p:nvPicPr>
        <p:blipFill>
          <a:blip r:embed="rId1"/>
          <a:stretch>
            <a:fillRect/>
          </a:stretch>
        </p:blipFill>
        <p:spPr>
          <a:xfrm>
            <a:off x="713232" y="4325112"/>
            <a:ext cx="356616" cy="356616"/>
          </a:xfrm>
          <a:prstGeom prst="rect">
            <a:avLst/>
          </a:prstGeom>
        </p:spPr>
      </p:pic>
      <p:sp>
        <p:nvSpPr>
          <p:cNvPr id="7" name="Text 4"/>
          <p:cNvSpPr txBox="1"/>
          <p:nvPr/>
        </p:nvSpPr>
        <p:spPr>
          <a:xfrm>
            <a:off x="1463040" y="4160520"/>
            <a:ext cx="4846320" cy="685800"/>
          </a:xfrm>
          <a:prstGeom prst="rect">
            <a:avLst/>
          </a:prstGeom>
          <a:noFill/>
          <a:ln/>
        </p:spPr>
        <p:txBody>
          <a:bodyPr wrap="square" lIns="0" tIns="0" rIns="0" bIns="0" rtlCol="0" anchor="ctr"/>
          <a:lstStyle/>
          <a:p>
            <a:pPr indent="0" marL="0">
              <a:buNone/>
            </a:pPr>
            <a:r>
              <a:rPr lang="en-US" sz="1700" dirty="0">
                <a:solidFill>
                  <a:schemeClr val="tx1"/>
                </a:solidFill>
              </a:rPr>
              <a:t>Un equipo pequeño, o una sola persona en su casa, puede conseguir imágenes casi fotorrealistas.</a:t>
            </a:r>
            <a:endParaRPr lang="en-US" sz="1700" dirty="0"/>
          </a:p>
        </p:txBody>
      </p:sp>
      <p:sp>
        <p:nvSpPr>
          <p:cNvPr id="8" name="Punto"/>
          <p:cNvSpPr/>
          <p:nvPr/>
        </p:nvSpPr>
        <p:spPr>
          <a:xfrm>
            <a:off x="548640" y="5074920"/>
            <a:ext cx="685800" cy="685800"/>
          </a:xfrm>
          <a:prstGeom prst="ellipse">
            <a:avLst/>
          </a:prstGeom>
          <a:solidFill>
            <a:schemeClr val="tx2"/>
          </a:solidFill>
          <a:ln/>
        </p:spPr>
      </p:sp>
      <p:pic>
        <p:nvPicPr>
          <p:cNvPr id="9" name="Image 1" descr="Punto">    </p:cNvPr>
          <p:cNvPicPr>
            <a:picLocks noChangeAspect="1"/>
          </p:cNvPicPr>
          <p:nvPr/>
        </p:nvPicPr>
        <p:blipFill>
          <a:blip r:embed="rId2"/>
          <a:stretch>
            <a:fillRect/>
          </a:stretch>
        </p:blipFill>
        <p:spPr>
          <a:xfrm>
            <a:off x="713232" y="5239512"/>
            <a:ext cx="356616" cy="356616"/>
          </a:xfrm>
          <a:prstGeom prst="rect">
            <a:avLst/>
          </a:prstGeom>
        </p:spPr>
      </p:pic>
      <p:sp>
        <p:nvSpPr>
          <p:cNvPr id="10" name="Text 6"/>
          <p:cNvSpPr txBox="1"/>
          <p:nvPr/>
        </p:nvSpPr>
        <p:spPr>
          <a:xfrm>
            <a:off x="1463040" y="5074920"/>
            <a:ext cx="4846320" cy="685800"/>
          </a:xfrm>
          <a:prstGeom prst="rect">
            <a:avLst/>
          </a:prstGeom>
          <a:noFill/>
          <a:ln/>
        </p:spPr>
        <p:txBody>
          <a:bodyPr wrap="square" lIns="0" tIns="0" rIns="0" bIns="0" rtlCol="0" anchor="ctr"/>
          <a:lstStyle/>
          <a:p>
            <a:pPr indent="0" marL="0">
              <a:buNone/>
            </a:pPr>
            <a:r>
              <a:rPr lang="en-US" sz="1700" dirty="0">
                <a:solidFill>
                  <a:schemeClr val="tx1"/>
                </a:solidFill>
              </a:rPr>
              <a:t>Lo que antes costaba meses de trabajo especializado, ahora viene hecho.</a:t>
            </a:r>
            <a:endParaRPr lang="en-US" sz="1700" dirty="0"/>
          </a:p>
        </p:txBody>
      </p:sp>
      <p:sp>
        <p:nvSpPr>
          <p:cNvPr id="11" name="Hueco para captura"/>
          <p:cNvSpPr/>
          <p:nvPr/>
        </p:nvSpPr>
        <p:spPr>
          <a:xfrm>
            <a:off x="6675120" y="1463040"/>
            <a:ext cx="4967935" cy="4343400"/>
          </a:xfrm>
          <a:prstGeom prst="roundRect">
            <a:avLst>
              <a:gd name="adj" fmla="val 2526"/>
            </a:avLst>
          </a:prstGeom>
          <a:solidFill>
            <a:schemeClr val="bg2"/>
          </a:solidFill>
          <a:ln w="19050">
            <a:solidFill>
              <a:srgbClr val="8A94A6"/>
            </a:solidFill>
            <a:prstDash val="dash"/>
          </a:ln>
        </p:spPr>
      </p:sp>
      <p:sp>
        <p:nvSpPr>
          <p:cNvPr id="12" name="Captura"/>
          <p:cNvSpPr/>
          <p:nvPr/>
        </p:nvSpPr>
        <p:spPr>
          <a:xfrm>
            <a:off x="8793328" y="2857500"/>
            <a:ext cx="731520" cy="731520"/>
          </a:xfrm>
          <a:prstGeom prst="ellipse">
            <a:avLst/>
          </a:prstGeom>
          <a:solidFill>
            <a:schemeClr val="accent5"/>
          </a:solidFill>
          <a:ln/>
        </p:spPr>
      </p:sp>
      <p:pic>
        <p:nvPicPr>
          <p:cNvPr id="13" name="Image 2" descr="Captura">    </p:cNvPr>
          <p:cNvPicPr>
            <a:picLocks noChangeAspect="1"/>
          </p:cNvPicPr>
          <p:nvPr/>
        </p:nvPicPr>
        <p:blipFill>
          <a:blip r:embed="rId3"/>
          <a:stretch>
            <a:fillRect/>
          </a:stretch>
        </p:blipFill>
        <p:spPr>
          <a:xfrm>
            <a:off x="8968892" y="3033065"/>
            <a:ext cx="380390" cy="380390"/>
          </a:xfrm>
          <a:prstGeom prst="rect">
            <a:avLst/>
          </a:prstGeom>
        </p:spPr>
      </p:pic>
      <p:sp>
        <p:nvSpPr>
          <p:cNvPr id="14" name="Text 9"/>
          <p:cNvSpPr txBox="1"/>
          <p:nvPr/>
        </p:nvSpPr>
        <p:spPr>
          <a:xfrm>
            <a:off x="6903720" y="3726180"/>
            <a:ext cx="4510735" cy="1943100"/>
          </a:xfrm>
          <a:prstGeom prst="rect">
            <a:avLst/>
          </a:prstGeom>
          <a:noFill/>
          <a:ln/>
        </p:spPr>
        <p:txBody>
          <a:bodyPr wrap="square" lIns="0" tIns="0" rIns="0" bIns="0" rtlCol="0" anchor="t"/>
          <a:lstStyle/>
          <a:p>
            <a:pPr algn="ctr" indent="0" marL="0">
              <a:buNone/>
            </a:pPr>
            <a:r>
              <a:rPr lang="en-US" sz="1400" i="1" dirty="0">
                <a:solidFill>
                  <a:schemeClr val="tx2"/>
                </a:solidFill>
              </a:rPr>
              <a:t>Captura sugerida: la demo «The Matrix Awakens» (Epic Games, 2021) o cualquier escena fotorrealista hecha con Unreal Engine 5. Enlaces en las notas.</a:t>
            </a:r>
            <a:endParaRPr lang="en-US" sz="14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Lo que pasó después</a:t>
            </a:r>
            <a:endParaRPr lang="en-US" sz="3200" dirty="0"/>
          </a:p>
        </p:txBody>
      </p:sp>
      <p:sp>
        <p:nvSpPr>
          <p:cNvPr id="3" name="Text 1"/>
          <p:cNvSpPr txBox="1"/>
          <p:nvPr/>
        </p:nvSpPr>
        <p:spPr>
          <a:xfrm>
            <a:off x="548640" y="1325880"/>
            <a:ext cx="11094415" cy="457200"/>
          </a:xfrm>
          <a:prstGeom prst="rect">
            <a:avLst/>
          </a:prstGeom>
          <a:noFill/>
          <a:ln/>
        </p:spPr>
        <p:txBody>
          <a:bodyPr wrap="square" lIns="0" tIns="0" rIns="0" bIns="0" rtlCol="0" anchor="ctr"/>
          <a:lstStyle/>
          <a:p>
            <a:pPr indent="0" marL="0">
              <a:buNone/>
            </a:pPr>
            <a:r>
              <a:rPr lang="en-US" sz="1900" dirty="0">
                <a:solidFill>
                  <a:schemeClr val="tx2"/>
                </a:solidFill>
              </a:rPr>
              <a:t>Muchísimos juegos dejaron que el motor decidiera la luz y el aspecto… y los jugadores empezaron a notarlo:</a:t>
            </a:r>
            <a:endParaRPr lang="en-US" sz="1900" dirty="0"/>
          </a:p>
        </p:txBody>
      </p:sp>
      <p:sp>
        <p:nvSpPr>
          <p:cNvPr id="4" name="Miniatura"/>
          <p:cNvSpPr/>
          <p:nvPr/>
        </p:nvSpPr>
        <p:spPr>
          <a:xfrm>
            <a:off x="548640" y="2057400"/>
            <a:ext cx="1554480" cy="960120"/>
          </a:xfrm>
          <a:prstGeom prst="rect">
            <a:avLst/>
          </a:prstGeom>
          <a:solidFill>
            <a:schemeClr val="tx2"/>
          </a:solidFill>
          <a:ln/>
        </p:spPr>
      </p:sp>
      <p:sp>
        <p:nvSpPr>
          <p:cNvPr id="5" name="Sol"/>
          <p:cNvSpPr/>
          <p:nvPr/>
        </p:nvSpPr>
        <p:spPr>
          <a:xfrm>
            <a:off x="1605686" y="2172614"/>
            <a:ext cx="248717" cy="248717"/>
          </a:xfrm>
          <a:prstGeom prst="ellipse">
            <a:avLst/>
          </a:prstGeom>
          <a:solidFill>
            <a:schemeClr val="accent5"/>
          </a:solidFill>
          <a:ln/>
        </p:spPr>
      </p:sp>
      <p:sp>
        <p:nvSpPr>
          <p:cNvPr id="6" name="Montaña"/>
          <p:cNvSpPr/>
          <p:nvPr/>
        </p:nvSpPr>
        <p:spPr>
          <a:xfrm>
            <a:off x="672998" y="2345436"/>
            <a:ext cx="963778" cy="499262"/>
          </a:xfrm>
          <a:prstGeom prst="triangle">
            <a:avLst/>
          </a:prstGeom>
          <a:solidFill>
            <a:schemeClr val="bg2"/>
          </a:solidFill>
          <a:ln/>
        </p:spPr>
      </p:sp>
      <p:sp>
        <p:nvSpPr>
          <p:cNvPr id="7" name="Suelo"/>
          <p:cNvSpPr/>
          <p:nvPr/>
        </p:nvSpPr>
        <p:spPr>
          <a:xfrm>
            <a:off x="548640" y="2806294"/>
            <a:ext cx="1554480" cy="211226"/>
          </a:xfrm>
          <a:prstGeom prst="rect">
            <a:avLst/>
          </a:prstGeom>
          <a:solidFill>
            <a:schemeClr val="tx1"/>
          </a:solidFill>
          <a:ln/>
        </p:spPr>
      </p:sp>
      <p:sp>
        <p:nvSpPr>
          <p:cNvPr id="8" name="Miniatura"/>
          <p:cNvSpPr/>
          <p:nvPr/>
        </p:nvSpPr>
        <p:spPr>
          <a:xfrm>
            <a:off x="2286000" y="2057400"/>
            <a:ext cx="1554480" cy="960120"/>
          </a:xfrm>
          <a:prstGeom prst="rect">
            <a:avLst/>
          </a:prstGeom>
          <a:solidFill>
            <a:schemeClr val="tx2"/>
          </a:solidFill>
          <a:ln/>
        </p:spPr>
      </p:sp>
      <p:sp>
        <p:nvSpPr>
          <p:cNvPr id="9" name="Sol"/>
          <p:cNvSpPr/>
          <p:nvPr/>
        </p:nvSpPr>
        <p:spPr>
          <a:xfrm>
            <a:off x="3343046" y="2172614"/>
            <a:ext cx="248717" cy="248717"/>
          </a:xfrm>
          <a:prstGeom prst="ellipse">
            <a:avLst/>
          </a:prstGeom>
          <a:solidFill>
            <a:schemeClr val="accent5"/>
          </a:solidFill>
          <a:ln/>
        </p:spPr>
      </p:sp>
      <p:sp>
        <p:nvSpPr>
          <p:cNvPr id="10" name="Montaña"/>
          <p:cNvSpPr/>
          <p:nvPr/>
        </p:nvSpPr>
        <p:spPr>
          <a:xfrm>
            <a:off x="2410358" y="2345436"/>
            <a:ext cx="963778" cy="499262"/>
          </a:xfrm>
          <a:prstGeom prst="triangle">
            <a:avLst/>
          </a:prstGeom>
          <a:solidFill>
            <a:schemeClr val="bg2"/>
          </a:solidFill>
          <a:ln/>
        </p:spPr>
      </p:sp>
      <p:sp>
        <p:nvSpPr>
          <p:cNvPr id="11" name="Suelo"/>
          <p:cNvSpPr/>
          <p:nvPr/>
        </p:nvSpPr>
        <p:spPr>
          <a:xfrm>
            <a:off x="2286000" y="2806294"/>
            <a:ext cx="1554480" cy="211226"/>
          </a:xfrm>
          <a:prstGeom prst="rect">
            <a:avLst/>
          </a:prstGeom>
          <a:solidFill>
            <a:schemeClr val="tx1"/>
          </a:solidFill>
          <a:ln/>
        </p:spPr>
      </p:sp>
      <p:sp>
        <p:nvSpPr>
          <p:cNvPr id="12" name="Miniatura"/>
          <p:cNvSpPr/>
          <p:nvPr/>
        </p:nvSpPr>
        <p:spPr>
          <a:xfrm>
            <a:off x="4023360" y="2057400"/>
            <a:ext cx="1554480" cy="960120"/>
          </a:xfrm>
          <a:prstGeom prst="rect">
            <a:avLst/>
          </a:prstGeom>
          <a:solidFill>
            <a:schemeClr val="tx2"/>
          </a:solidFill>
          <a:ln/>
        </p:spPr>
      </p:sp>
      <p:sp>
        <p:nvSpPr>
          <p:cNvPr id="13" name="Sol"/>
          <p:cNvSpPr/>
          <p:nvPr/>
        </p:nvSpPr>
        <p:spPr>
          <a:xfrm>
            <a:off x="5080406" y="2172614"/>
            <a:ext cx="248717" cy="248717"/>
          </a:xfrm>
          <a:prstGeom prst="ellipse">
            <a:avLst/>
          </a:prstGeom>
          <a:solidFill>
            <a:schemeClr val="accent5"/>
          </a:solidFill>
          <a:ln/>
        </p:spPr>
      </p:sp>
      <p:sp>
        <p:nvSpPr>
          <p:cNvPr id="14" name="Montaña"/>
          <p:cNvSpPr/>
          <p:nvPr/>
        </p:nvSpPr>
        <p:spPr>
          <a:xfrm>
            <a:off x="4147718" y="2345436"/>
            <a:ext cx="963778" cy="499262"/>
          </a:xfrm>
          <a:prstGeom prst="triangle">
            <a:avLst/>
          </a:prstGeom>
          <a:solidFill>
            <a:schemeClr val="bg2"/>
          </a:solidFill>
          <a:ln/>
        </p:spPr>
      </p:sp>
      <p:sp>
        <p:nvSpPr>
          <p:cNvPr id="15" name="Suelo"/>
          <p:cNvSpPr/>
          <p:nvPr/>
        </p:nvSpPr>
        <p:spPr>
          <a:xfrm>
            <a:off x="4023360" y="2806294"/>
            <a:ext cx="1554480" cy="211226"/>
          </a:xfrm>
          <a:prstGeom prst="rect">
            <a:avLst/>
          </a:prstGeom>
          <a:solidFill>
            <a:schemeClr val="tx1"/>
          </a:solidFill>
          <a:ln/>
        </p:spPr>
      </p:sp>
      <p:sp>
        <p:nvSpPr>
          <p:cNvPr id="16" name="Miniatura"/>
          <p:cNvSpPr/>
          <p:nvPr/>
        </p:nvSpPr>
        <p:spPr>
          <a:xfrm>
            <a:off x="548640" y="3200400"/>
            <a:ext cx="1554480" cy="960120"/>
          </a:xfrm>
          <a:prstGeom prst="rect">
            <a:avLst/>
          </a:prstGeom>
          <a:solidFill>
            <a:schemeClr val="tx2"/>
          </a:solidFill>
          <a:ln/>
        </p:spPr>
      </p:sp>
      <p:sp>
        <p:nvSpPr>
          <p:cNvPr id="17" name="Sol"/>
          <p:cNvSpPr/>
          <p:nvPr/>
        </p:nvSpPr>
        <p:spPr>
          <a:xfrm>
            <a:off x="1605686" y="3315614"/>
            <a:ext cx="248717" cy="248717"/>
          </a:xfrm>
          <a:prstGeom prst="ellipse">
            <a:avLst/>
          </a:prstGeom>
          <a:solidFill>
            <a:schemeClr val="accent5"/>
          </a:solidFill>
          <a:ln/>
        </p:spPr>
      </p:sp>
      <p:sp>
        <p:nvSpPr>
          <p:cNvPr id="18" name="Montaña"/>
          <p:cNvSpPr/>
          <p:nvPr/>
        </p:nvSpPr>
        <p:spPr>
          <a:xfrm>
            <a:off x="672998" y="3488436"/>
            <a:ext cx="963778" cy="499262"/>
          </a:xfrm>
          <a:prstGeom prst="triangle">
            <a:avLst/>
          </a:prstGeom>
          <a:solidFill>
            <a:schemeClr val="bg2"/>
          </a:solidFill>
          <a:ln/>
        </p:spPr>
      </p:sp>
      <p:sp>
        <p:nvSpPr>
          <p:cNvPr id="19" name="Suelo"/>
          <p:cNvSpPr/>
          <p:nvPr/>
        </p:nvSpPr>
        <p:spPr>
          <a:xfrm>
            <a:off x="548640" y="3949294"/>
            <a:ext cx="1554480" cy="211226"/>
          </a:xfrm>
          <a:prstGeom prst="rect">
            <a:avLst/>
          </a:prstGeom>
          <a:solidFill>
            <a:schemeClr val="tx1"/>
          </a:solidFill>
          <a:ln/>
        </p:spPr>
      </p:sp>
      <p:sp>
        <p:nvSpPr>
          <p:cNvPr id="20" name="Miniatura"/>
          <p:cNvSpPr/>
          <p:nvPr/>
        </p:nvSpPr>
        <p:spPr>
          <a:xfrm>
            <a:off x="2286000" y="3200400"/>
            <a:ext cx="1554480" cy="960120"/>
          </a:xfrm>
          <a:prstGeom prst="rect">
            <a:avLst/>
          </a:prstGeom>
          <a:solidFill>
            <a:schemeClr val="tx2"/>
          </a:solidFill>
          <a:ln/>
        </p:spPr>
      </p:sp>
      <p:sp>
        <p:nvSpPr>
          <p:cNvPr id="21" name="Sol"/>
          <p:cNvSpPr/>
          <p:nvPr/>
        </p:nvSpPr>
        <p:spPr>
          <a:xfrm>
            <a:off x="3343046" y="3315614"/>
            <a:ext cx="248717" cy="248717"/>
          </a:xfrm>
          <a:prstGeom prst="ellipse">
            <a:avLst/>
          </a:prstGeom>
          <a:solidFill>
            <a:schemeClr val="accent5"/>
          </a:solidFill>
          <a:ln/>
        </p:spPr>
      </p:sp>
      <p:sp>
        <p:nvSpPr>
          <p:cNvPr id="22" name="Montaña"/>
          <p:cNvSpPr/>
          <p:nvPr/>
        </p:nvSpPr>
        <p:spPr>
          <a:xfrm>
            <a:off x="2410358" y="3488436"/>
            <a:ext cx="963778" cy="499262"/>
          </a:xfrm>
          <a:prstGeom prst="triangle">
            <a:avLst/>
          </a:prstGeom>
          <a:solidFill>
            <a:schemeClr val="bg2"/>
          </a:solidFill>
          <a:ln/>
        </p:spPr>
      </p:sp>
      <p:sp>
        <p:nvSpPr>
          <p:cNvPr id="23" name="Suelo"/>
          <p:cNvSpPr/>
          <p:nvPr/>
        </p:nvSpPr>
        <p:spPr>
          <a:xfrm>
            <a:off x="2286000" y="3949294"/>
            <a:ext cx="1554480" cy="211226"/>
          </a:xfrm>
          <a:prstGeom prst="rect">
            <a:avLst/>
          </a:prstGeom>
          <a:solidFill>
            <a:schemeClr val="tx1"/>
          </a:solidFill>
          <a:ln/>
        </p:spPr>
      </p:sp>
      <p:sp>
        <p:nvSpPr>
          <p:cNvPr id="24" name="Miniatura"/>
          <p:cNvSpPr/>
          <p:nvPr/>
        </p:nvSpPr>
        <p:spPr>
          <a:xfrm>
            <a:off x="4023360" y="3200400"/>
            <a:ext cx="1554480" cy="960120"/>
          </a:xfrm>
          <a:prstGeom prst="rect">
            <a:avLst/>
          </a:prstGeom>
          <a:solidFill>
            <a:schemeClr val="tx2"/>
          </a:solidFill>
          <a:ln/>
        </p:spPr>
      </p:sp>
      <p:sp>
        <p:nvSpPr>
          <p:cNvPr id="25" name="Sol"/>
          <p:cNvSpPr/>
          <p:nvPr/>
        </p:nvSpPr>
        <p:spPr>
          <a:xfrm>
            <a:off x="5080406" y="3315614"/>
            <a:ext cx="248717" cy="248717"/>
          </a:xfrm>
          <a:prstGeom prst="ellipse">
            <a:avLst/>
          </a:prstGeom>
          <a:solidFill>
            <a:schemeClr val="accent5"/>
          </a:solidFill>
          <a:ln/>
        </p:spPr>
      </p:sp>
      <p:sp>
        <p:nvSpPr>
          <p:cNvPr id="26" name="Montaña"/>
          <p:cNvSpPr/>
          <p:nvPr/>
        </p:nvSpPr>
        <p:spPr>
          <a:xfrm>
            <a:off x="4147718" y="3488436"/>
            <a:ext cx="963778" cy="499262"/>
          </a:xfrm>
          <a:prstGeom prst="triangle">
            <a:avLst/>
          </a:prstGeom>
          <a:solidFill>
            <a:schemeClr val="bg2"/>
          </a:solidFill>
          <a:ln/>
        </p:spPr>
      </p:sp>
      <p:sp>
        <p:nvSpPr>
          <p:cNvPr id="27" name="Suelo"/>
          <p:cNvSpPr/>
          <p:nvPr/>
        </p:nvSpPr>
        <p:spPr>
          <a:xfrm>
            <a:off x="4023360" y="3949294"/>
            <a:ext cx="1554480" cy="211226"/>
          </a:xfrm>
          <a:prstGeom prst="rect">
            <a:avLst/>
          </a:prstGeom>
          <a:solidFill>
            <a:schemeClr val="tx1"/>
          </a:solidFill>
          <a:ln/>
        </p:spPr>
      </p:sp>
      <p:sp>
        <p:nvSpPr>
          <p:cNvPr id="28" name="Text 26"/>
          <p:cNvSpPr txBox="1"/>
          <p:nvPr/>
        </p:nvSpPr>
        <p:spPr>
          <a:xfrm>
            <a:off x="548640" y="4434840"/>
            <a:ext cx="5029200" cy="365760"/>
          </a:xfrm>
          <a:prstGeom prst="rect">
            <a:avLst/>
          </a:prstGeom>
          <a:noFill/>
          <a:ln/>
        </p:spPr>
        <p:txBody>
          <a:bodyPr wrap="square" lIns="0" tIns="0" rIns="0" bIns="0" rtlCol="0" anchor="ctr"/>
          <a:lstStyle/>
          <a:p>
            <a:pPr algn="ctr" indent="0" marL="0">
              <a:buNone/>
            </a:pPr>
            <a:r>
              <a:rPr lang="en-US" sz="1400" i="1" dirty="0">
                <a:solidFill>
                  <a:schemeClr val="tx2"/>
                </a:solidFill>
              </a:rPr>
              <a:t>Seis juegos distintos, el mismo aire</a:t>
            </a:r>
            <a:endParaRPr lang="en-US" sz="1400" dirty="0"/>
          </a:p>
        </p:txBody>
      </p:sp>
      <p:sp>
        <p:nvSpPr>
          <p:cNvPr id="29" name="Cita"/>
          <p:cNvSpPr/>
          <p:nvPr/>
        </p:nvSpPr>
        <p:spPr>
          <a:xfrm>
            <a:off x="6035040" y="2057400"/>
            <a:ext cx="5608015" cy="1371600"/>
          </a:xfrm>
          <a:prstGeom prst="roundRect">
            <a:avLst>
              <a:gd name="adj" fmla="val 10000"/>
            </a:avLst>
          </a:prstGeom>
          <a:solidFill>
            <a:schemeClr val="bg2"/>
          </a:solidFill>
          <a:ln/>
        </p:spPr>
      </p:sp>
      <p:sp>
        <p:nvSpPr>
          <p:cNvPr id="30" name="Text 28"/>
          <p:cNvSpPr txBox="1"/>
          <p:nvPr/>
        </p:nvSpPr>
        <p:spPr>
          <a:xfrm>
            <a:off x="6355080" y="2057400"/>
            <a:ext cx="4967935" cy="1371600"/>
          </a:xfrm>
          <a:prstGeom prst="rect">
            <a:avLst/>
          </a:prstGeom>
          <a:noFill/>
          <a:ln/>
        </p:spPr>
        <p:txBody>
          <a:bodyPr wrap="square" lIns="0" tIns="0" rIns="0" bIns="0" rtlCol="0" anchor="ctr"/>
          <a:lstStyle/>
          <a:p>
            <a:pPr indent="0" marL="0">
              <a:spcAft>
                <a:spcPts val="600"/>
              </a:spcAft>
              <a:buNone/>
            </a:pPr>
            <a:r>
              <a:rPr lang="en-US" sz="1900" i="1" dirty="0">
                <a:solidFill>
                  <a:schemeClr val="tx1"/>
                </a:solidFill>
              </a:rPr>
              <a:t>«Veo MUCHÍSIMOS juegos nuevos que… se parecen todos.»</a:t>
            </a:r>
            <a:endParaRPr lang="en-US" sz="1900" dirty="0"/>
          </a:p>
          <a:p>
            <a:pPr indent="0" marL="0">
              <a:spcAft>
                <a:spcPts val="600"/>
              </a:spcAft>
              <a:buNone/>
            </a:pPr>
            <a:r>
              <a:rPr lang="en-US" sz="1300" b="1" dirty="0">
                <a:solidFill>
                  <a:schemeClr val="tx2"/>
                </a:solidFill>
              </a:rPr>
              <a:t>Foro ResetEra, abril de 2026</a:t>
            </a:r>
            <a:endParaRPr lang="en-US" sz="1900" dirty="0"/>
          </a:p>
        </p:txBody>
      </p:sp>
      <p:sp>
        <p:nvSpPr>
          <p:cNvPr id="31" name="Cita"/>
          <p:cNvSpPr/>
          <p:nvPr/>
        </p:nvSpPr>
        <p:spPr>
          <a:xfrm>
            <a:off x="6035040" y="3611880"/>
            <a:ext cx="5608015" cy="1371600"/>
          </a:xfrm>
          <a:prstGeom prst="roundRect">
            <a:avLst>
              <a:gd name="adj" fmla="val 10000"/>
            </a:avLst>
          </a:prstGeom>
          <a:solidFill>
            <a:schemeClr val="bg2"/>
          </a:solidFill>
          <a:ln/>
        </p:spPr>
      </p:sp>
      <p:sp>
        <p:nvSpPr>
          <p:cNvPr id="32" name="Text 30"/>
          <p:cNvSpPr txBox="1"/>
          <p:nvPr/>
        </p:nvSpPr>
        <p:spPr>
          <a:xfrm>
            <a:off x="6355080" y="3611880"/>
            <a:ext cx="4967935" cy="1371600"/>
          </a:xfrm>
          <a:prstGeom prst="rect">
            <a:avLst/>
          </a:prstGeom>
          <a:noFill/>
          <a:ln/>
        </p:spPr>
        <p:txBody>
          <a:bodyPr wrap="square" lIns="0" tIns="0" rIns="0" bIns="0" rtlCol="0" anchor="ctr"/>
          <a:lstStyle/>
          <a:p>
            <a:pPr indent="0" marL="0">
              <a:spcAft>
                <a:spcPts val="600"/>
              </a:spcAft>
              <a:buNone/>
            </a:pPr>
            <a:r>
              <a:rPr lang="en-US" sz="1900" i="1" dirty="0">
                <a:solidFill>
                  <a:schemeClr val="tx1"/>
                </a:solidFill>
              </a:rPr>
              <a:t>«Muchos más juegos, porque es más fácil hacerlos, pero una sensación de homogeneidad, porque todos usan las mismas herramientas.»</a:t>
            </a:r>
            <a:endParaRPr lang="en-US" sz="1900" dirty="0"/>
          </a:p>
          <a:p>
            <a:pPr indent="0" marL="0">
              <a:spcAft>
                <a:spcPts val="600"/>
              </a:spcAft>
              <a:buNone/>
            </a:pPr>
            <a:r>
              <a:rPr lang="en-US" sz="1300" b="1" dirty="0">
                <a:solidFill>
                  <a:schemeClr val="tx2"/>
                </a:solidFill>
              </a:rPr>
              <a:t>Foro ResetEra</a:t>
            </a:r>
            <a:endParaRPr lang="en-US" sz="1900" dirty="0"/>
          </a:p>
        </p:txBody>
      </p:sp>
      <p:sp>
        <p:nvSpPr>
          <p:cNvPr id="33" name="Text 31"/>
          <p:cNvSpPr txBox="1"/>
          <p:nvPr/>
        </p:nvSpPr>
        <p:spPr>
          <a:xfrm>
            <a:off x="548640" y="5257800"/>
            <a:ext cx="11094415" cy="640080"/>
          </a:xfrm>
          <a:prstGeom prst="rect">
            <a:avLst/>
          </a:prstGeom>
          <a:noFill/>
          <a:ln/>
        </p:spPr>
        <p:txBody>
          <a:bodyPr wrap="square" lIns="0" tIns="0" rIns="0" bIns="0" rtlCol="0" anchor="ctr"/>
          <a:lstStyle/>
          <a:p>
            <a:pPr indent="0" marL="0">
              <a:buNone/>
            </a:pPr>
            <a:r>
              <a:rPr lang="en-US" sz="1600" i="1" dirty="0">
                <a:solidFill>
                  <a:schemeClr val="accent3"/>
                </a:solidFill>
              </a:rPr>
              <a:t>Son opiniones de jugadores, no un estudio: hay quien no está de acuerdo. Pero la sensación es muy común.</a:t>
            </a:r>
            <a:endParaRPr lang="en-US" sz="16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¿Por qué se parecían?</a:t>
            </a:r>
            <a:endParaRPr lang="en-US" sz="3200" dirty="0"/>
          </a:p>
        </p:txBody>
      </p:sp>
      <p:sp>
        <p:nvSpPr>
          <p:cNvPr id="3" name="Tarjeta"/>
          <p:cNvSpPr/>
          <p:nvPr/>
        </p:nvSpPr>
        <p:spPr>
          <a:xfrm>
            <a:off x="548640" y="1508760"/>
            <a:ext cx="3454298" cy="2834640"/>
          </a:xfrm>
          <a:prstGeom prst="roundRect">
            <a:avLst>
              <a:gd name="adj" fmla="val 4839"/>
            </a:avLst>
          </a:prstGeom>
          <a:solidFill>
            <a:schemeClr val="bg2"/>
          </a:solidFill>
          <a:ln/>
        </p:spPr>
      </p:sp>
      <p:sp>
        <p:nvSpPr>
          <p:cNvPr id="4" name="Los mismos ajustes"/>
          <p:cNvSpPr/>
          <p:nvPr/>
        </p:nvSpPr>
        <p:spPr>
          <a:xfrm>
            <a:off x="868680" y="1783080"/>
            <a:ext cx="914400" cy="914400"/>
          </a:xfrm>
          <a:prstGeom prst="ellipse">
            <a:avLst/>
          </a:prstGeom>
          <a:solidFill>
            <a:schemeClr val="tx2"/>
          </a:solidFill>
          <a:ln/>
        </p:spPr>
      </p:sp>
      <p:pic>
        <p:nvPicPr>
          <p:cNvPr id="5" name="Image 0" descr="Los mismos ajustes">    </p:cNvPr>
          <p:cNvPicPr>
            <a:picLocks noChangeAspect="1"/>
          </p:cNvPicPr>
          <p:nvPr/>
        </p:nvPicPr>
        <p:blipFill>
          <a:blip r:embed="rId1"/>
          <a:stretch>
            <a:fillRect/>
          </a:stretch>
        </p:blipFill>
        <p:spPr>
          <a:xfrm>
            <a:off x="1088136" y="2002536"/>
            <a:ext cx="475488" cy="475488"/>
          </a:xfrm>
          <a:prstGeom prst="rect">
            <a:avLst/>
          </a:prstGeom>
        </p:spPr>
      </p:pic>
      <p:sp>
        <p:nvSpPr>
          <p:cNvPr id="6" name="Text 3"/>
          <p:cNvSpPr txBox="1"/>
          <p:nvPr/>
        </p:nvSpPr>
        <p:spPr>
          <a:xfrm>
            <a:off x="868680" y="2834640"/>
            <a:ext cx="2814218" cy="548640"/>
          </a:xfrm>
          <a:prstGeom prst="rect">
            <a:avLst/>
          </a:prstGeom>
          <a:noFill/>
          <a:ln/>
        </p:spPr>
        <p:txBody>
          <a:bodyPr wrap="square" lIns="0" tIns="0" rIns="0" bIns="0" rtlCol="0" anchor="ctr"/>
          <a:lstStyle/>
          <a:p>
            <a:pPr indent="0" marL="0">
              <a:buNone/>
            </a:pPr>
            <a:r>
              <a:rPr lang="en-US" sz="2100" b="1" dirty="0">
                <a:solidFill>
                  <a:schemeClr val="tx1"/>
                </a:solidFill>
              </a:rPr>
              <a:t>Los mismos ajustes</a:t>
            </a:r>
            <a:endParaRPr lang="en-US" sz="2100" dirty="0"/>
          </a:p>
        </p:txBody>
      </p:sp>
      <p:sp>
        <p:nvSpPr>
          <p:cNvPr id="7" name="Text 4"/>
          <p:cNvSpPr txBox="1"/>
          <p:nvPr/>
        </p:nvSpPr>
        <p:spPr>
          <a:xfrm>
            <a:off x="868680" y="3383280"/>
            <a:ext cx="2814218" cy="868680"/>
          </a:xfrm>
          <a:prstGeom prst="rect">
            <a:avLst/>
          </a:prstGeom>
          <a:noFill/>
          <a:ln/>
        </p:spPr>
        <p:txBody>
          <a:bodyPr wrap="square" lIns="0" tIns="0" rIns="0" bIns="0" rtlCol="0" anchor="t"/>
          <a:lstStyle/>
          <a:p>
            <a:pPr indent="0" marL="0">
              <a:buNone/>
            </a:pPr>
            <a:r>
              <a:rPr lang="en-US" sz="1700" dirty="0">
                <a:solidFill>
                  <a:schemeClr val="tx1"/>
                </a:solidFill>
              </a:rPr>
              <a:t>La misma luz automática y el mismo tono «de cine», si nadie los cambia.</a:t>
            </a:r>
            <a:endParaRPr lang="en-US" sz="1700" dirty="0"/>
          </a:p>
        </p:txBody>
      </p:sp>
      <p:sp>
        <p:nvSpPr>
          <p:cNvPr id="8" name="Tarjeta"/>
          <p:cNvSpPr/>
          <p:nvPr/>
        </p:nvSpPr>
        <p:spPr>
          <a:xfrm>
            <a:off x="4368698" y="1508760"/>
            <a:ext cx="3454298" cy="2834640"/>
          </a:xfrm>
          <a:prstGeom prst="roundRect">
            <a:avLst>
              <a:gd name="adj" fmla="val 4839"/>
            </a:avLst>
          </a:prstGeom>
          <a:solidFill>
            <a:schemeClr val="bg2"/>
          </a:solidFill>
          <a:ln/>
        </p:spPr>
      </p:sp>
      <p:sp>
        <p:nvSpPr>
          <p:cNvPr id="9" name="Los mismos materiales"/>
          <p:cNvSpPr/>
          <p:nvPr/>
        </p:nvSpPr>
        <p:spPr>
          <a:xfrm>
            <a:off x="4688738" y="1783080"/>
            <a:ext cx="914400" cy="914400"/>
          </a:xfrm>
          <a:prstGeom prst="ellipse">
            <a:avLst/>
          </a:prstGeom>
          <a:solidFill>
            <a:schemeClr val="tx2"/>
          </a:solidFill>
          <a:ln/>
        </p:spPr>
      </p:sp>
      <p:pic>
        <p:nvPicPr>
          <p:cNvPr id="10" name="Image 1" descr="Los mismos materiales">    </p:cNvPr>
          <p:cNvPicPr>
            <a:picLocks noChangeAspect="1"/>
          </p:cNvPicPr>
          <p:nvPr/>
        </p:nvPicPr>
        <p:blipFill>
          <a:blip r:embed="rId2"/>
          <a:stretch>
            <a:fillRect/>
          </a:stretch>
        </p:blipFill>
        <p:spPr>
          <a:xfrm>
            <a:off x="4908194" y="2002536"/>
            <a:ext cx="475488" cy="475488"/>
          </a:xfrm>
          <a:prstGeom prst="rect">
            <a:avLst/>
          </a:prstGeom>
        </p:spPr>
      </p:pic>
      <p:sp>
        <p:nvSpPr>
          <p:cNvPr id="11" name="Text 7"/>
          <p:cNvSpPr txBox="1"/>
          <p:nvPr/>
        </p:nvSpPr>
        <p:spPr>
          <a:xfrm>
            <a:off x="4688738" y="2834640"/>
            <a:ext cx="2814218" cy="548640"/>
          </a:xfrm>
          <a:prstGeom prst="rect">
            <a:avLst/>
          </a:prstGeom>
          <a:noFill/>
          <a:ln/>
        </p:spPr>
        <p:txBody>
          <a:bodyPr wrap="square" lIns="0" tIns="0" rIns="0" bIns="0" rtlCol="0" anchor="ctr"/>
          <a:lstStyle/>
          <a:p>
            <a:pPr indent="0" marL="0">
              <a:buNone/>
            </a:pPr>
            <a:r>
              <a:rPr lang="en-US" sz="2100" b="1" dirty="0">
                <a:solidFill>
                  <a:schemeClr val="tx1"/>
                </a:solidFill>
              </a:rPr>
              <a:t>Los mismos materiales</a:t>
            </a:r>
            <a:endParaRPr lang="en-US" sz="2100" dirty="0"/>
          </a:p>
        </p:txBody>
      </p:sp>
      <p:sp>
        <p:nvSpPr>
          <p:cNvPr id="12" name="Text 8"/>
          <p:cNvSpPr txBox="1"/>
          <p:nvPr/>
        </p:nvSpPr>
        <p:spPr>
          <a:xfrm>
            <a:off x="4688738" y="3383280"/>
            <a:ext cx="2814218" cy="868680"/>
          </a:xfrm>
          <a:prstGeom prst="rect">
            <a:avLst/>
          </a:prstGeom>
          <a:noFill/>
          <a:ln/>
        </p:spPr>
        <p:txBody>
          <a:bodyPr wrap="square" lIns="0" tIns="0" rIns="0" bIns="0" rtlCol="0" anchor="t"/>
          <a:lstStyle/>
          <a:p>
            <a:pPr indent="0" marL="0">
              <a:buNone/>
            </a:pPr>
            <a:r>
              <a:rPr lang="en-US" sz="1700" dirty="0">
                <a:solidFill>
                  <a:schemeClr val="tx1"/>
                </a:solidFill>
              </a:rPr>
              <a:t>Las mismas rocas, árboles y texturas escaneadas, disponibles para todos.</a:t>
            </a:r>
            <a:endParaRPr lang="en-US" sz="1700" dirty="0"/>
          </a:p>
        </p:txBody>
      </p:sp>
      <p:sp>
        <p:nvSpPr>
          <p:cNvPr id="13" name="Tarjeta"/>
          <p:cNvSpPr/>
          <p:nvPr/>
        </p:nvSpPr>
        <p:spPr>
          <a:xfrm>
            <a:off x="8188757" y="1508760"/>
            <a:ext cx="3454298" cy="2834640"/>
          </a:xfrm>
          <a:prstGeom prst="roundRect">
            <a:avLst>
              <a:gd name="adj" fmla="val 4839"/>
            </a:avLst>
          </a:prstGeom>
          <a:solidFill>
            <a:schemeClr val="bg2"/>
          </a:solidFill>
          <a:ln/>
        </p:spPr>
      </p:sp>
      <p:sp>
        <p:nvSpPr>
          <p:cNvPr id="14" name="El atajo"/>
          <p:cNvSpPr/>
          <p:nvPr/>
        </p:nvSpPr>
        <p:spPr>
          <a:xfrm>
            <a:off x="8508797" y="1783080"/>
            <a:ext cx="914400" cy="914400"/>
          </a:xfrm>
          <a:prstGeom prst="ellipse">
            <a:avLst/>
          </a:prstGeom>
          <a:solidFill>
            <a:schemeClr val="tx2"/>
          </a:solidFill>
          <a:ln/>
        </p:spPr>
      </p:sp>
      <p:pic>
        <p:nvPicPr>
          <p:cNvPr id="15" name="Image 2" descr="El atajo">    </p:cNvPr>
          <p:cNvPicPr>
            <a:picLocks noChangeAspect="1"/>
          </p:cNvPicPr>
          <p:nvPr/>
        </p:nvPicPr>
        <p:blipFill>
          <a:blip r:embed="rId3"/>
          <a:stretch>
            <a:fillRect/>
          </a:stretch>
        </p:blipFill>
        <p:spPr>
          <a:xfrm>
            <a:off x="8728253" y="2002536"/>
            <a:ext cx="475488" cy="475488"/>
          </a:xfrm>
          <a:prstGeom prst="rect">
            <a:avLst/>
          </a:prstGeom>
        </p:spPr>
      </p:pic>
      <p:sp>
        <p:nvSpPr>
          <p:cNvPr id="16" name="Text 11"/>
          <p:cNvSpPr txBox="1"/>
          <p:nvPr/>
        </p:nvSpPr>
        <p:spPr>
          <a:xfrm>
            <a:off x="8508797" y="2834640"/>
            <a:ext cx="2814218" cy="548640"/>
          </a:xfrm>
          <a:prstGeom prst="rect">
            <a:avLst/>
          </a:prstGeom>
          <a:noFill/>
          <a:ln/>
        </p:spPr>
        <p:txBody>
          <a:bodyPr wrap="square" lIns="0" tIns="0" rIns="0" bIns="0" rtlCol="0" anchor="ctr"/>
          <a:lstStyle/>
          <a:p>
            <a:pPr indent="0" marL="0">
              <a:buNone/>
            </a:pPr>
            <a:r>
              <a:rPr lang="en-US" sz="2100" b="1" dirty="0">
                <a:solidFill>
                  <a:schemeClr val="tx1"/>
                </a:solidFill>
              </a:rPr>
              <a:t>El atajo</a:t>
            </a:r>
            <a:endParaRPr lang="en-US" sz="2100" dirty="0"/>
          </a:p>
        </p:txBody>
      </p:sp>
      <p:sp>
        <p:nvSpPr>
          <p:cNvPr id="17" name="Text 12"/>
          <p:cNvSpPr txBox="1"/>
          <p:nvPr/>
        </p:nvSpPr>
        <p:spPr>
          <a:xfrm>
            <a:off x="8508797" y="3383280"/>
            <a:ext cx="2814218" cy="868680"/>
          </a:xfrm>
          <a:prstGeom prst="rect">
            <a:avLst/>
          </a:prstGeom>
          <a:noFill/>
          <a:ln/>
        </p:spPr>
        <p:txBody>
          <a:bodyPr wrap="square" lIns="0" tIns="0" rIns="0" bIns="0" rtlCol="0" anchor="t"/>
          <a:lstStyle/>
          <a:p>
            <a:pPr indent="0" marL="0">
              <a:buNone/>
            </a:pPr>
            <a:r>
              <a:rPr lang="en-US" sz="1700" dirty="0">
                <a:solidFill>
                  <a:schemeClr val="tx1"/>
                </a:solidFill>
              </a:rPr>
              <a:t>Si la herramienta ya lo hace bien, dejamos de decidir nosotros.</a:t>
            </a:r>
            <a:endParaRPr lang="en-US" sz="1700" dirty="0"/>
          </a:p>
        </p:txBody>
      </p:sp>
      <p:sp>
        <p:nvSpPr>
          <p:cNvPr id="18" name="Cita"/>
          <p:cNvSpPr/>
          <p:nvPr/>
        </p:nvSpPr>
        <p:spPr>
          <a:xfrm>
            <a:off x="548640" y="4617720"/>
            <a:ext cx="11094415" cy="1280160"/>
          </a:xfrm>
          <a:prstGeom prst="roundRect">
            <a:avLst>
              <a:gd name="adj" fmla="val 10714"/>
            </a:avLst>
          </a:prstGeom>
          <a:solidFill>
            <a:schemeClr val="tx1"/>
          </a:solidFill>
          <a:ln/>
        </p:spPr>
      </p:sp>
      <p:sp>
        <p:nvSpPr>
          <p:cNvPr id="19" name="Text 14"/>
          <p:cNvSpPr txBox="1"/>
          <p:nvPr/>
        </p:nvSpPr>
        <p:spPr>
          <a:xfrm>
            <a:off x="868680" y="4617720"/>
            <a:ext cx="10454335" cy="1280160"/>
          </a:xfrm>
          <a:prstGeom prst="rect">
            <a:avLst/>
          </a:prstGeom>
          <a:noFill/>
          <a:ln/>
        </p:spPr>
        <p:txBody>
          <a:bodyPr wrap="square" lIns="0" tIns="0" rIns="0" bIns="0" rtlCol="0" anchor="ctr"/>
          <a:lstStyle/>
          <a:p>
            <a:pPr indent="0" marL="0">
              <a:spcAft>
                <a:spcPts val="600"/>
              </a:spcAft>
              <a:buNone/>
            </a:pPr>
            <a:r>
              <a:rPr lang="en-US" sz="1900" i="1" dirty="0">
                <a:solidFill>
                  <a:schemeClr val="bg1"/>
                </a:solidFill>
              </a:rPr>
              <a:t>«Los motores no deciden la dirección artística.»</a:t>
            </a:r>
            <a:endParaRPr lang="en-US" sz="1900" dirty="0"/>
          </a:p>
          <a:p>
            <a:pPr indent="0" marL="0">
              <a:spcAft>
                <a:spcPts val="600"/>
              </a:spcAft>
              <a:buNone/>
            </a:pPr>
            <a:r>
              <a:rPr lang="en-US" sz="1300" b="1" dirty="0">
                <a:solidFill>
                  <a:schemeClr val="accent1"/>
                </a:solidFill>
              </a:rPr>
              <a:t>Respuesta de otro jugador en el mismo foro</a:t>
            </a:r>
            <a:endParaRPr lang="en-US" sz="19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El contraejemplo: Clair Obscur: Expedition 33</a:t>
            </a:r>
            <a:endParaRPr lang="en-US" sz="3200" dirty="0"/>
          </a:p>
        </p:txBody>
      </p:sp>
      <p:sp>
        <p:nvSpPr>
          <p:cNvPr id="3" name="Text 1"/>
          <p:cNvSpPr txBox="1"/>
          <p:nvPr/>
        </p:nvSpPr>
        <p:spPr>
          <a:xfrm>
            <a:off x="548640" y="1325880"/>
            <a:ext cx="11094415" cy="457200"/>
          </a:xfrm>
          <a:prstGeom prst="rect">
            <a:avLst/>
          </a:prstGeom>
          <a:noFill/>
          <a:ln/>
        </p:spPr>
        <p:txBody>
          <a:bodyPr wrap="square" lIns="0" tIns="0" rIns="0" bIns="0" rtlCol="0" anchor="ctr"/>
          <a:lstStyle/>
          <a:p>
            <a:pPr indent="0" marL="0">
              <a:buNone/>
            </a:pPr>
            <a:r>
              <a:rPr lang="en-US" sz="1900" dirty="0">
                <a:solidFill>
                  <a:schemeClr val="tx2"/>
                </a:solidFill>
              </a:rPr>
              <a:t>El mismo motor. Un estilo propio: un mundo surrealista inspirado en la Belle Époque francesa.</a:t>
            </a:r>
            <a:endParaRPr lang="en-US" sz="1900" dirty="0"/>
          </a:p>
        </p:txBody>
      </p:sp>
      <p:sp>
        <p:nvSpPr>
          <p:cNvPr id="4" name="Miniatura"/>
          <p:cNvSpPr/>
          <p:nvPr/>
        </p:nvSpPr>
        <p:spPr>
          <a:xfrm>
            <a:off x="548640" y="2057400"/>
            <a:ext cx="1051560" cy="685800"/>
          </a:xfrm>
          <a:prstGeom prst="rect">
            <a:avLst/>
          </a:prstGeom>
          <a:solidFill>
            <a:schemeClr val="tx2"/>
          </a:solidFill>
          <a:ln/>
        </p:spPr>
      </p:sp>
      <p:sp>
        <p:nvSpPr>
          <p:cNvPr id="5" name="Sol"/>
          <p:cNvSpPr/>
          <p:nvPr/>
        </p:nvSpPr>
        <p:spPr>
          <a:xfrm>
            <a:off x="1263701" y="2139696"/>
            <a:ext cx="168250" cy="168250"/>
          </a:xfrm>
          <a:prstGeom prst="ellipse">
            <a:avLst/>
          </a:prstGeom>
          <a:solidFill>
            <a:schemeClr val="accent5"/>
          </a:solidFill>
          <a:ln/>
        </p:spPr>
      </p:sp>
      <p:sp>
        <p:nvSpPr>
          <p:cNvPr id="6" name="Montaña"/>
          <p:cNvSpPr/>
          <p:nvPr/>
        </p:nvSpPr>
        <p:spPr>
          <a:xfrm>
            <a:off x="632765" y="2263140"/>
            <a:ext cx="651967" cy="356616"/>
          </a:xfrm>
          <a:prstGeom prst="triangle">
            <a:avLst/>
          </a:prstGeom>
          <a:solidFill>
            <a:schemeClr val="bg2"/>
          </a:solidFill>
          <a:ln/>
        </p:spPr>
      </p:sp>
      <p:sp>
        <p:nvSpPr>
          <p:cNvPr id="7" name="Suelo"/>
          <p:cNvSpPr/>
          <p:nvPr/>
        </p:nvSpPr>
        <p:spPr>
          <a:xfrm>
            <a:off x="548640" y="2592324"/>
            <a:ext cx="1051560" cy="150876"/>
          </a:xfrm>
          <a:prstGeom prst="rect">
            <a:avLst/>
          </a:prstGeom>
          <a:solidFill>
            <a:schemeClr val="tx1"/>
          </a:solidFill>
          <a:ln/>
        </p:spPr>
      </p:sp>
      <p:sp>
        <p:nvSpPr>
          <p:cNvPr id="8" name="Miniatura"/>
          <p:cNvSpPr/>
          <p:nvPr/>
        </p:nvSpPr>
        <p:spPr>
          <a:xfrm>
            <a:off x="1737360" y="2057400"/>
            <a:ext cx="1051560" cy="685800"/>
          </a:xfrm>
          <a:prstGeom prst="rect">
            <a:avLst/>
          </a:prstGeom>
          <a:solidFill>
            <a:schemeClr val="tx2"/>
          </a:solidFill>
          <a:ln/>
        </p:spPr>
      </p:sp>
      <p:sp>
        <p:nvSpPr>
          <p:cNvPr id="9" name="Sol"/>
          <p:cNvSpPr/>
          <p:nvPr/>
        </p:nvSpPr>
        <p:spPr>
          <a:xfrm>
            <a:off x="2452421" y="2139696"/>
            <a:ext cx="168250" cy="168250"/>
          </a:xfrm>
          <a:prstGeom prst="ellipse">
            <a:avLst/>
          </a:prstGeom>
          <a:solidFill>
            <a:schemeClr val="accent5"/>
          </a:solidFill>
          <a:ln/>
        </p:spPr>
      </p:sp>
      <p:sp>
        <p:nvSpPr>
          <p:cNvPr id="10" name="Montaña"/>
          <p:cNvSpPr/>
          <p:nvPr/>
        </p:nvSpPr>
        <p:spPr>
          <a:xfrm>
            <a:off x="1821485" y="2263140"/>
            <a:ext cx="651967" cy="356616"/>
          </a:xfrm>
          <a:prstGeom prst="triangle">
            <a:avLst/>
          </a:prstGeom>
          <a:solidFill>
            <a:schemeClr val="bg2"/>
          </a:solidFill>
          <a:ln/>
        </p:spPr>
      </p:sp>
      <p:sp>
        <p:nvSpPr>
          <p:cNvPr id="11" name="Suelo"/>
          <p:cNvSpPr/>
          <p:nvPr/>
        </p:nvSpPr>
        <p:spPr>
          <a:xfrm>
            <a:off x="1737360" y="2592324"/>
            <a:ext cx="1051560" cy="150876"/>
          </a:xfrm>
          <a:prstGeom prst="rect">
            <a:avLst/>
          </a:prstGeom>
          <a:solidFill>
            <a:schemeClr val="tx1"/>
          </a:solidFill>
          <a:ln/>
        </p:spPr>
      </p:sp>
      <p:sp>
        <p:nvSpPr>
          <p:cNvPr id="12" name="Miniatura"/>
          <p:cNvSpPr/>
          <p:nvPr/>
        </p:nvSpPr>
        <p:spPr>
          <a:xfrm>
            <a:off x="2926080" y="2057400"/>
            <a:ext cx="1051560" cy="685800"/>
          </a:xfrm>
          <a:prstGeom prst="rect">
            <a:avLst/>
          </a:prstGeom>
          <a:solidFill>
            <a:schemeClr val="tx2"/>
          </a:solidFill>
          <a:ln/>
        </p:spPr>
      </p:sp>
      <p:sp>
        <p:nvSpPr>
          <p:cNvPr id="13" name="Sol"/>
          <p:cNvSpPr/>
          <p:nvPr/>
        </p:nvSpPr>
        <p:spPr>
          <a:xfrm>
            <a:off x="3641141" y="2139696"/>
            <a:ext cx="168250" cy="168250"/>
          </a:xfrm>
          <a:prstGeom prst="ellipse">
            <a:avLst/>
          </a:prstGeom>
          <a:solidFill>
            <a:schemeClr val="accent5"/>
          </a:solidFill>
          <a:ln/>
        </p:spPr>
      </p:sp>
      <p:sp>
        <p:nvSpPr>
          <p:cNvPr id="14" name="Montaña"/>
          <p:cNvSpPr/>
          <p:nvPr/>
        </p:nvSpPr>
        <p:spPr>
          <a:xfrm>
            <a:off x="3010205" y="2263140"/>
            <a:ext cx="651967" cy="356616"/>
          </a:xfrm>
          <a:prstGeom prst="triangle">
            <a:avLst/>
          </a:prstGeom>
          <a:solidFill>
            <a:schemeClr val="bg2"/>
          </a:solidFill>
          <a:ln/>
        </p:spPr>
      </p:sp>
      <p:sp>
        <p:nvSpPr>
          <p:cNvPr id="15" name="Suelo"/>
          <p:cNvSpPr/>
          <p:nvPr/>
        </p:nvSpPr>
        <p:spPr>
          <a:xfrm>
            <a:off x="2926080" y="2592324"/>
            <a:ext cx="1051560" cy="150876"/>
          </a:xfrm>
          <a:prstGeom prst="rect">
            <a:avLst/>
          </a:prstGeom>
          <a:solidFill>
            <a:schemeClr val="tx1"/>
          </a:solidFill>
          <a:ln/>
        </p:spPr>
      </p:sp>
      <p:sp>
        <p:nvSpPr>
          <p:cNvPr id="16" name="Miniatura"/>
          <p:cNvSpPr/>
          <p:nvPr/>
        </p:nvSpPr>
        <p:spPr>
          <a:xfrm>
            <a:off x="4114800" y="2057400"/>
            <a:ext cx="1051560" cy="685800"/>
          </a:xfrm>
          <a:prstGeom prst="rect">
            <a:avLst/>
          </a:prstGeom>
          <a:solidFill>
            <a:schemeClr val="accent4"/>
          </a:solidFill>
          <a:ln/>
        </p:spPr>
      </p:sp>
      <p:sp>
        <p:nvSpPr>
          <p:cNvPr id="17" name="Sol"/>
          <p:cNvSpPr/>
          <p:nvPr/>
        </p:nvSpPr>
        <p:spPr>
          <a:xfrm>
            <a:off x="4829861" y="2139696"/>
            <a:ext cx="168250" cy="168250"/>
          </a:xfrm>
          <a:prstGeom prst="ellipse">
            <a:avLst/>
          </a:prstGeom>
          <a:solidFill>
            <a:schemeClr val="accent1"/>
          </a:solidFill>
          <a:ln/>
        </p:spPr>
      </p:sp>
      <p:sp>
        <p:nvSpPr>
          <p:cNvPr id="18" name="Montaña"/>
          <p:cNvSpPr/>
          <p:nvPr/>
        </p:nvSpPr>
        <p:spPr>
          <a:xfrm>
            <a:off x="4198925" y="2263140"/>
            <a:ext cx="651967" cy="356616"/>
          </a:xfrm>
          <a:prstGeom prst="triangle">
            <a:avLst/>
          </a:prstGeom>
          <a:solidFill>
            <a:schemeClr val="accent3"/>
          </a:solidFill>
          <a:ln/>
        </p:spPr>
      </p:sp>
      <p:sp>
        <p:nvSpPr>
          <p:cNvPr id="19" name="Suelo"/>
          <p:cNvSpPr/>
          <p:nvPr/>
        </p:nvSpPr>
        <p:spPr>
          <a:xfrm>
            <a:off x="4114800" y="2592324"/>
            <a:ext cx="1051560" cy="150876"/>
          </a:xfrm>
          <a:prstGeom prst="rect">
            <a:avLst/>
          </a:prstGeom>
          <a:solidFill>
            <a:schemeClr val="tx1"/>
          </a:solidFill>
          <a:ln/>
        </p:spPr>
      </p:sp>
      <p:sp>
        <p:nvSpPr>
          <p:cNvPr id="20" name="Miniatura"/>
          <p:cNvSpPr/>
          <p:nvPr/>
        </p:nvSpPr>
        <p:spPr>
          <a:xfrm>
            <a:off x="5303520" y="2057400"/>
            <a:ext cx="1051560" cy="685800"/>
          </a:xfrm>
          <a:prstGeom prst="rect">
            <a:avLst/>
          </a:prstGeom>
          <a:solidFill>
            <a:schemeClr val="tx2"/>
          </a:solidFill>
          <a:ln/>
        </p:spPr>
      </p:sp>
      <p:sp>
        <p:nvSpPr>
          <p:cNvPr id="21" name="Sol"/>
          <p:cNvSpPr/>
          <p:nvPr/>
        </p:nvSpPr>
        <p:spPr>
          <a:xfrm>
            <a:off x="6018581" y="2139696"/>
            <a:ext cx="168250" cy="168250"/>
          </a:xfrm>
          <a:prstGeom prst="ellipse">
            <a:avLst/>
          </a:prstGeom>
          <a:solidFill>
            <a:schemeClr val="accent5"/>
          </a:solidFill>
          <a:ln/>
        </p:spPr>
      </p:sp>
      <p:sp>
        <p:nvSpPr>
          <p:cNvPr id="22" name="Montaña"/>
          <p:cNvSpPr/>
          <p:nvPr/>
        </p:nvSpPr>
        <p:spPr>
          <a:xfrm>
            <a:off x="5387645" y="2263140"/>
            <a:ext cx="651967" cy="356616"/>
          </a:xfrm>
          <a:prstGeom prst="triangle">
            <a:avLst/>
          </a:prstGeom>
          <a:solidFill>
            <a:schemeClr val="bg2"/>
          </a:solidFill>
          <a:ln/>
        </p:spPr>
      </p:sp>
      <p:sp>
        <p:nvSpPr>
          <p:cNvPr id="23" name="Suelo"/>
          <p:cNvSpPr/>
          <p:nvPr/>
        </p:nvSpPr>
        <p:spPr>
          <a:xfrm>
            <a:off x="5303520" y="2592324"/>
            <a:ext cx="1051560" cy="150876"/>
          </a:xfrm>
          <a:prstGeom prst="rect">
            <a:avLst/>
          </a:prstGeom>
          <a:solidFill>
            <a:schemeClr val="tx1"/>
          </a:solidFill>
          <a:ln/>
        </p:spPr>
      </p:sp>
      <p:sp>
        <p:nvSpPr>
          <p:cNvPr id="24" name="Miniatura"/>
          <p:cNvSpPr/>
          <p:nvPr/>
        </p:nvSpPr>
        <p:spPr>
          <a:xfrm>
            <a:off x="6492240" y="2057400"/>
            <a:ext cx="1051560" cy="685800"/>
          </a:xfrm>
          <a:prstGeom prst="rect">
            <a:avLst/>
          </a:prstGeom>
          <a:solidFill>
            <a:schemeClr val="tx2"/>
          </a:solidFill>
          <a:ln/>
        </p:spPr>
      </p:sp>
      <p:sp>
        <p:nvSpPr>
          <p:cNvPr id="25" name="Sol"/>
          <p:cNvSpPr/>
          <p:nvPr/>
        </p:nvSpPr>
        <p:spPr>
          <a:xfrm>
            <a:off x="7207301" y="2139696"/>
            <a:ext cx="168250" cy="168250"/>
          </a:xfrm>
          <a:prstGeom prst="ellipse">
            <a:avLst/>
          </a:prstGeom>
          <a:solidFill>
            <a:schemeClr val="accent5"/>
          </a:solidFill>
          <a:ln/>
        </p:spPr>
      </p:sp>
      <p:sp>
        <p:nvSpPr>
          <p:cNvPr id="26" name="Montaña"/>
          <p:cNvSpPr/>
          <p:nvPr/>
        </p:nvSpPr>
        <p:spPr>
          <a:xfrm>
            <a:off x="6576365" y="2263140"/>
            <a:ext cx="651967" cy="356616"/>
          </a:xfrm>
          <a:prstGeom prst="triangle">
            <a:avLst/>
          </a:prstGeom>
          <a:solidFill>
            <a:schemeClr val="bg2"/>
          </a:solidFill>
          <a:ln/>
        </p:spPr>
      </p:sp>
      <p:sp>
        <p:nvSpPr>
          <p:cNvPr id="27" name="Suelo"/>
          <p:cNvSpPr/>
          <p:nvPr/>
        </p:nvSpPr>
        <p:spPr>
          <a:xfrm>
            <a:off x="6492240" y="2592324"/>
            <a:ext cx="1051560" cy="150876"/>
          </a:xfrm>
          <a:prstGeom prst="rect">
            <a:avLst/>
          </a:prstGeom>
          <a:solidFill>
            <a:schemeClr val="tx1"/>
          </a:solidFill>
          <a:ln/>
        </p:spPr>
      </p:sp>
      <p:sp>
        <p:nvSpPr>
          <p:cNvPr id="28" name="Text 26"/>
          <p:cNvSpPr txBox="1"/>
          <p:nvPr/>
        </p:nvSpPr>
        <p:spPr>
          <a:xfrm>
            <a:off x="548640" y="3017520"/>
            <a:ext cx="1463040" cy="777240"/>
          </a:xfrm>
          <a:prstGeom prst="rect">
            <a:avLst/>
          </a:prstGeom>
          <a:noFill/>
          <a:ln/>
        </p:spPr>
        <p:txBody>
          <a:bodyPr wrap="square" lIns="0" tIns="0" rIns="0" bIns="0" rtlCol="0" anchor="ctr"/>
          <a:lstStyle/>
          <a:p>
            <a:pPr indent="0" marL="0">
              <a:buNone/>
            </a:pPr>
            <a:r>
              <a:rPr lang="en-US" sz="4000" b="1" dirty="0">
                <a:solidFill>
                  <a:schemeClr val="accent3"/>
                </a:solidFill>
              </a:rPr>
              <a:t>~30</a:t>
            </a:r>
            <a:endParaRPr lang="en-US" sz="4000" dirty="0"/>
          </a:p>
        </p:txBody>
      </p:sp>
      <p:sp>
        <p:nvSpPr>
          <p:cNvPr id="29" name="Text 27"/>
          <p:cNvSpPr txBox="1"/>
          <p:nvPr/>
        </p:nvSpPr>
        <p:spPr>
          <a:xfrm>
            <a:off x="2103120" y="3017520"/>
            <a:ext cx="4754880" cy="777240"/>
          </a:xfrm>
          <a:prstGeom prst="rect">
            <a:avLst/>
          </a:prstGeom>
          <a:noFill/>
          <a:ln/>
        </p:spPr>
        <p:txBody>
          <a:bodyPr wrap="square" lIns="0" tIns="0" rIns="0" bIns="0" rtlCol="0" anchor="ctr"/>
          <a:lstStyle/>
          <a:p>
            <a:pPr indent="0" marL="0">
              <a:buNone/>
            </a:pPr>
            <a:r>
              <a:rPr lang="en-US" sz="1900" dirty="0">
                <a:solidFill>
                  <a:schemeClr val="tx1"/>
                </a:solidFill>
              </a:rPr>
              <a:t>personas en el equipo</a:t>
            </a:r>
            <a:endParaRPr lang="en-US" sz="1900" dirty="0"/>
          </a:p>
        </p:txBody>
      </p:sp>
      <p:sp>
        <p:nvSpPr>
          <p:cNvPr id="30" name="Text 28"/>
          <p:cNvSpPr txBox="1"/>
          <p:nvPr/>
        </p:nvSpPr>
        <p:spPr>
          <a:xfrm>
            <a:off x="548640" y="3931920"/>
            <a:ext cx="1463040" cy="777240"/>
          </a:xfrm>
          <a:prstGeom prst="rect">
            <a:avLst/>
          </a:prstGeom>
          <a:noFill/>
          <a:ln/>
        </p:spPr>
        <p:txBody>
          <a:bodyPr wrap="square" lIns="0" tIns="0" rIns="0" bIns="0" rtlCol="0" anchor="ctr"/>
          <a:lstStyle/>
          <a:p>
            <a:pPr indent="0" marL="0">
              <a:buNone/>
            </a:pPr>
            <a:r>
              <a:rPr lang="en-US" sz="4000" b="1" dirty="0">
                <a:solidFill>
                  <a:schemeClr val="accent3"/>
                </a:solidFill>
              </a:rPr>
              <a:t>9</a:t>
            </a:r>
            <a:endParaRPr lang="en-US" sz="4000" dirty="0"/>
          </a:p>
        </p:txBody>
      </p:sp>
      <p:sp>
        <p:nvSpPr>
          <p:cNvPr id="31" name="Text 29"/>
          <p:cNvSpPr txBox="1"/>
          <p:nvPr/>
        </p:nvSpPr>
        <p:spPr>
          <a:xfrm>
            <a:off x="2103120" y="3931920"/>
            <a:ext cx="4754880" cy="777240"/>
          </a:xfrm>
          <a:prstGeom prst="rect">
            <a:avLst/>
          </a:prstGeom>
          <a:noFill/>
          <a:ln/>
        </p:spPr>
        <p:txBody>
          <a:bodyPr wrap="square" lIns="0" tIns="0" rIns="0" bIns="0" rtlCol="0" anchor="ctr"/>
          <a:lstStyle/>
          <a:p>
            <a:pPr indent="0" marL="0">
              <a:buNone/>
            </a:pPr>
            <a:r>
              <a:rPr lang="en-US" sz="1900" dirty="0">
                <a:solidFill>
                  <a:schemeClr val="tx1"/>
                </a:solidFill>
              </a:rPr>
              <a:t>premios en The Game Awards 2025</a:t>
            </a:r>
            <a:endParaRPr lang="en-US" sz="1900" dirty="0"/>
          </a:p>
        </p:txBody>
      </p:sp>
      <p:sp>
        <p:nvSpPr>
          <p:cNvPr id="32" name="Text 30"/>
          <p:cNvSpPr txBox="1"/>
          <p:nvPr/>
        </p:nvSpPr>
        <p:spPr>
          <a:xfrm>
            <a:off x="548640" y="4846320"/>
            <a:ext cx="1463040" cy="777240"/>
          </a:xfrm>
          <a:prstGeom prst="rect">
            <a:avLst/>
          </a:prstGeom>
          <a:noFill/>
          <a:ln/>
        </p:spPr>
        <p:txBody>
          <a:bodyPr wrap="square" lIns="0" tIns="0" rIns="0" bIns="0" rtlCol="0" anchor="ctr"/>
          <a:lstStyle/>
          <a:p>
            <a:pPr indent="0" marL="0">
              <a:buNone/>
            </a:pPr>
            <a:r>
              <a:rPr lang="en-US" sz="4000" b="1" dirty="0">
                <a:solidFill>
                  <a:schemeClr val="accent3"/>
                </a:solidFill>
              </a:rPr>
              <a:t>1.º</a:t>
            </a:r>
            <a:endParaRPr lang="en-US" sz="4000" dirty="0"/>
          </a:p>
        </p:txBody>
      </p:sp>
      <p:sp>
        <p:nvSpPr>
          <p:cNvPr id="33" name="Text 31"/>
          <p:cNvSpPr txBox="1"/>
          <p:nvPr/>
        </p:nvSpPr>
        <p:spPr>
          <a:xfrm>
            <a:off x="2103120" y="4846320"/>
            <a:ext cx="4754880" cy="777240"/>
          </a:xfrm>
          <a:prstGeom prst="rect">
            <a:avLst/>
          </a:prstGeom>
          <a:noFill/>
          <a:ln/>
        </p:spPr>
        <p:txBody>
          <a:bodyPr wrap="square" lIns="0" tIns="0" rIns="0" bIns="0" rtlCol="0" anchor="ctr"/>
          <a:lstStyle/>
          <a:p>
            <a:pPr indent="0" marL="0">
              <a:buNone/>
            </a:pPr>
            <a:r>
              <a:rPr lang="en-US" sz="1900" dirty="0">
                <a:solidFill>
                  <a:schemeClr val="tx1"/>
                </a:solidFill>
              </a:rPr>
              <a:t>Juego del Año 2025</a:t>
            </a:r>
            <a:endParaRPr lang="en-US" sz="1900" dirty="0"/>
          </a:p>
        </p:txBody>
      </p:sp>
      <p:sp>
        <p:nvSpPr>
          <p:cNvPr id="34" name="Premio"/>
          <p:cNvSpPr/>
          <p:nvPr/>
        </p:nvSpPr>
        <p:spPr>
          <a:xfrm>
            <a:off x="548640" y="5715000"/>
            <a:ext cx="457200" cy="457200"/>
          </a:xfrm>
          <a:prstGeom prst="ellipse">
            <a:avLst/>
          </a:prstGeom>
          <a:solidFill>
            <a:schemeClr val="accent1"/>
          </a:solidFill>
          <a:ln/>
        </p:spPr>
      </p:sp>
      <p:pic>
        <p:nvPicPr>
          <p:cNvPr id="35" name="Image 0" descr="Premio">    </p:cNvPr>
          <p:cNvPicPr>
            <a:picLocks noChangeAspect="1"/>
          </p:cNvPicPr>
          <p:nvPr/>
        </p:nvPicPr>
        <p:blipFill>
          <a:blip r:embed="rId1"/>
          <a:stretch>
            <a:fillRect/>
          </a:stretch>
        </p:blipFill>
        <p:spPr>
          <a:xfrm>
            <a:off x="658368" y="5824728"/>
            <a:ext cx="237744" cy="237744"/>
          </a:xfrm>
          <a:prstGeom prst="rect">
            <a:avLst/>
          </a:prstGeom>
        </p:spPr>
      </p:pic>
      <p:sp>
        <p:nvSpPr>
          <p:cNvPr id="36" name="Text 33"/>
          <p:cNvSpPr txBox="1"/>
          <p:nvPr/>
        </p:nvSpPr>
        <p:spPr>
          <a:xfrm>
            <a:off x="1143000" y="5715000"/>
            <a:ext cx="5669280" cy="457200"/>
          </a:xfrm>
          <a:prstGeom prst="rect">
            <a:avLst/>
          </a:prstGeom>
          <a:noFill/>
          <a:ln/>
        </p:spPr>
        <p:txBody>
          <a:bodyPr wrap="square" lIns="0" tIns="0" rIns="0" bIns="0" rtlCol="0" anchor="ctr"/>
          <a:lstStyle/>
          <a:p>
            <a:pPr indent="0" marL="0">
              <a:buNone/>
            </a:pPr>
            <a:r>
              <a:rPr lang="en-US" sz="1600" b="1" dirty="0">
                <a:solidFill>
                  <a:schemeClr val="tx1"/>
                </a:solidFill>
              </a:rPr>
              <a:t>Entre sus premios: mejor dirección artística.</a:t>
            </a:r>
            <a:endParaRPr lang="en-US" sz="1600" dirty="0"/>
          </a:p>
        </p:txBody>
      </p:sp>
      <p:sp>
        <p:nvSpPr>
          <p:cNvPr id="37" name="Hueco para captura"/>
          <p:cNvSpPr/>
          <p:nvPr/>
        </p:nvSpPr>
        <p:spPr>
          <a:xfrm>
            <a:off x="7863840" y="2057400"/>
            <a:ext cx="3779215" cy="4114800"/>
          </a:xfrm>
          <a:prstGeom prst="roundRect">
            <a:avLst>
              <a:gd name="adj" fmla="val 2903"/>
            </a:avLst>
          </a:prstGeom>
          <a:solidFill>
            <a:schemeClr val="bg2"/>
          </a:solidFill>
          <a:ln w="19050">
            <a:solidFill>
              <a:srgbClr val="8A94A6"/>
            </a:solidFill>
            <a:prstDash val="dash"/>
          </a:ln>
        </p:spPr>
      </p:sp>
      <p:sp>
        <p:nvSpPr>
          <p:cNvPr id="38" name="Captura"/>
          <p:cNvSpPr/>
          <p:nvPr/>
        </p:nvSpPr>
        <p:spPr>
          <a:xfrm>
            <a:off x="9387688" y="3337560"/>
            <a:ext cx="731520" cy="731520"/>
          </a:xfrm>
          <a:prstGeom prst="ellipse">
            <a:avLst/>
          </a:prstGeom>
          <a:solidFill>
            <a:schemeClr val="accent5"/>
          </a:solidFill>
          <a:ln/>
        </p:spPr>
      </p:sp>
      <p:pic>
        <p:nvPicPr>
          <p:cNvPr id="39" name="Image 1" descr="Captura">    </p:cNvPr>
          <p:cNvPicPr>
            <a:picLocks noChangeAspect="1"/>
          </p:cNvPicPr>
          <p:nvPr/>
        </p:nvPicPr>
        <p:blipFill>
          <a:blip r:embed="rId2"/>
          <a:stretch>
            <a:fillRect/>
          </a:stretch>
        </p:blipFill>
        <p:spPr>
          <a:xfrm>
            <a:off x="9563252" y="3513125"/>
            <a:ext cx="380390" cy="380390"/>
          </a:xfrm>
          <a:prstGeom prst="rect">
            <a:avLst/>
          </a:prstGeom>
        </p:spPr>
      </p:pic>
      <p:sp>
        <p:nvSpPr>
          <p:cNvPr id="40" name="Text 36"/>
          <p:cNvSpPr txBox="1"/>
          <p:nvPr/>
        </p:nvSpPr>
        <p:spPr>
          <a:xfrm>
            <a:off x="8092440" y="4206240"/>
            <a:ext cx="3322015" cy="1828800"/>
          </a:xfrm>
          <a:prstGeom prst="rect">
            <a:avLst/>
          </a:prstGeom>
          <a:noFill/>
          <a:ln/>
        </p:spPr>
        <p:txBody>
          <a:bodyPr wrap="square" lIns="0" tIns="0" rIns="0" bIns="0" rtlCol="0" anchor="t"/>
          <a:lstStyle/>
          <a:p>
            <a:pPr algn="ctr" indent="0" marL="0">
              <a:buNone/>
            </a:pPr>
            <a:r>
              <a:rPr lang="en-US" sz="1400" i="1" dirty="0">
                <a:solidFill>
                  <a:schemeClr val="tx2"/>
                </a:solidFill>
              </a:rPr>
              <a:t>Captura sugerida: una escena de Clair Obscur: Expedition 33 (kit de prensa oficial o página del juego). Enlaces en las notas.</a:t>
            </a:r>
            <a:endParaRPr lang="en-US" sz="14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1097280" y="1554480"/>
            <a:ext cx="9966960" cy="3108960"/>
          </a:xfrm>
          <a:prstGeom prst="rect">
            <a:avLst/>
          </a:prstGeom>
          <a:noFill/>
          <a:ln/>
        </p:spPr>
        <p:txBody>
          <a:bodyPr wrap="square" lIns="0" tIns="0" rIns="0" bIns="0" rtlCol="0" anchor="ctr"/>
          <a:lstStyle/>
          <a:p>
            <a:pPr indent="0" marL="0">
              <a:buNone/>
            </a:pPr>
            <a:r>
              <a:rPr lang="en-US" sz="3400" dirty="0">
                <a:solidFill>
                  <a:schemeClr val="bg1"/>
                </a:solidFill>
              </a:rPr>
              <a:t>¿Y qué tiene que ver esto</a:t>
            </a:r>
            <a:endParaRPr lang="en-US" sz="3400" dirty="0"/>
          </a:p>
          <a:p>
            <a:pPr indent="0" marL="0">
              <a:buNone/>
            </a:pPr>
            <a:r>
              <a:rPr lang="en-US" sz="3400" b="1" dirty="0">
                <a:solidFill>
                  <a:schemeClr val="accent1"/>
                </a:solidFill>
              </a:rPr>
              <a:t>con la inteligencia artificial?</a:t>
            </a:r>
            <a:endParaRPr lang="en-US" sz="34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Un experimento con 293 escritores</a:t>
            </a:r>
            <a:endParaRPr lang="en-US" sz="3200" dirty="0"/>
          </a:p>
        </p:txBody>
      </p:sp>
      <p:sp>
        <p:nvSpPr>
          <p:cNvPr id="3" name="Experimento"/>
          <p:cNvSpPr/>
          <p:nvPr/>
        </p:nvSpPr>
        <p:spPr>
          <a:xfrm>
            <a:off x="548640" y="1417320"/>
            <a:ext cx="685800" cy="685800"/>
          </a:xfrm>
          <a:prstGeom prst="ellipse">
            <a:avLst/>
          </a:prstGeom>
          <a:solidFill>
            <a:schemeClr val="tx2"/>
          </a:solidFill>
          <a:ln/>
        </p:spPr>
      </p:sp>
      <p:pic>
        <p:nvPicPr>
          <p:cNvPr id="4" name="Image 0" descr="Experimento">    </p:cNvPr>
          <p:cNvPicPr>
            <a:picLocks noChangeAspect="1"/>
          </p:cNvPicPr>
          <p:nvPr/>
        </p:nvPicPr>
        <p:blipFill>
          <a:blip r:embed="rId1"/>
          <a:stretch>
            <a:fillRect/>
          </a:stretch>
        </p:blipFill>
        <p:spPr>
          <a:xfrm>
            <a:off x="713232" y="1581912"/>
            <a:ext cx="356616" cy="356616"/>
          </a:xfrm>
          <a:prstGeom prst="rect">
            <a:avLst/>
          </a:prstGeom>
        </p:spPr>
      </p:pic>
      <p:sp>
        <p:nvSpPr>
          <p:cNvPr id="5" name="Text 2"/>
          <p:cNvSpPr txBox="1"/>
          <p:nvPr/>
        </p:nvSpPr>
        <p:spPr>
          <a:xfrm>
            <a:off x="1463040" y="1371600"/>
            <a:ext cx="10180015" cy="777240"/>
          </a:xfrm>
          <a:prstGeom prst="rect">
            <a:avLst/>
          </a:prstGeom>
          <a:noFill/>
          <a:ln/>
        </p:spPr>
        <p:txBody>
          <a:bodyPr wrap="square" lIns="0" tIns="0" rIns="0" bIns="0" rtlCol="0" anchor="ctr"/>
          <a:lstStyle/>
          <a:p>
            <a:pPr indent="0" marL="0">
              <a:buNone/>
            </a:pPr>
            <a:r>
              <a:rPr lang="en-US" sz="1800" dirty="0">
                <a:solidFill>
                  <a:schemeClr val="tx1"/>
                </a:solidFill>
              </a:rPr>
              <a:t>Escribieron un relato corto: unos solos y otros con ideas de una IA. Después, 600 personas valoraron los relatos sin saber quién había usado IA.</a:t>
            </a:r>
            <a:endParaRPr lang="en-US" sz="1800" dirty="0"/>
          </a:p>
        </p:txBody>
      </p:sp>
      <p:sp>
        <p:nvSpPr>
          <p:cNvPr id="6" name="Tarjeta"/>
          <p:cNvSpPr/>
          <p:nvPr/>
        </p:nvSpPr>
        <p:spPr>
          <a:xfrm>
            <a:off x="548640" y="2468880"/>
            <a:ext cx="3454298" cy="2651760"/>
          </a:xfrm>
          <a:prstGeom prst="roundRect">
            <a:avLst>
              <a:gd name="adj" fmla="val 5172"/>
            </a:avLst>
          </a:prstGeom>
          <a:solidFill>
            <a:schemeClr val="bg2"/>
          </a:solidFill>
          <a:ln/>
        </p:spPr>
      </p:sp>
      <p:sp>
        <p:nvSpPr>
          <p:cNvPr id="7" name="Text 4"/>
          <p:cNvSpPr txBox="1"/>
          <p:nvPr/>
        </p:nvSpPr>
        <p:spPr>
          <a:xfrm>
            <a:off x="822960" y="2651760"/>
            <a:ext cx="2905658" cy="1188720"/>
          </a:xfrm>
          <a:prstGeom prst="rect">
            <a:avLst/>
          </a:prstGeom>
          <a:noFill/>
          <a:ln/>
        </p:spPr>
        <p:txBody>
          <a:bodyPr wrap="square" lIns="0" tIns="0" rIns="0" bIns="0" rtlCol="0" anchor="ctr"/>
          <a:lstStyle/>
          <a:p>
            <a:pPr algn="ctr" indent="0" marL="0">
              <a:buNone/>
            </a:pPr>
            <a:r>
              <a:rPr lang="en-US" sz="6000" b="1" dirty="0">
                <a:solidFill>
                  <a:schemeClr val="accent2"/>
                </a:solidFill>
              </a:rPr>
              <a:t>+8 %</a:t>
            </a:r>
            <a:endParaRPr lang="en-US" sz="6000" dirty="0"/>
          </a:p>
        </p:txBody>
      </p:sp>
      <p:sp>
        <p:nvSpPr>
          <p:cNvPr id="8" name="Text 5"/>
          <p:cNvSpPr txBox="1"/>
          <p:nvPr/>
        </p:nvSpPr>
        <p:spPr>
          <a:xfrm>
            <a:off x="822960" y="3886200"/>
            <a:ext cx="2905658" cy="1051560"/>
          </a:xfrm>
          <a:prstGeom prst="rect">
            <a:avLst/>
          </a:prstGeom>
          <a:noFill/>
          <a:ln/>
        </p:spPr>
        <p:txBody>
          <a:bodyPr wrap="square" lIns="0" tIns="0" rIns="0" bIns="0" rtlCol="0" anchor="t"/>
          <a:lstStyle/>
          <a:p>
            <a:pPr algn="ctr" indent="0" marL="0">
              <a:buNone/>
            </a:pPr>
            <a:r>
              <a:rPr lang="en-US" sz="2000" b="1" dirty="0">
                <a:solidFill>
                  <a:schemeClr val="tx1"/>
                </a:solidFill>
              </a:rPr>
              <a:t>más originales</a:t>
            </a:r>
            <a:endParaRPr lang="en-US" sz="2000" dirty="0"/>
          </a:p>
          <a:p>
            <a:pPr algn="ctr" indent="0" marL="0">
              <a:buNone/>
            </a:pPr>
            <a:r>
              <a:rPr lang="en-US" sz="1500" dirty="0">
                <a:solidFill>
                  <a:schemeClr val="tx2"/>
                </a:solidFill>
              </a:rPr>
              <a:t>con ideas de la IA</a:t>
            </a:r>
            <a:endParaRPr lang="en-US" sz="2000" dirty="0"/>
          </a:p>
        </p:txBody>
      </p:sp>
      <p:sp>
        <p:nvSpPr>
          <p:cNvPr id="9" name="Tarjeta"/>
          <p:cNvSpPr/>
          <p:nvPr/>
        </p:nvSpPr>
        <p:spPr>
          <a:xfrm>
            <a:off x="4368698" y="2468880"/>
            <a:ext cx="3454298" cy="2651760"/>
          </a:xfrm>
          <a:prstGeom prst="roundRect">
            <a:avLst>
              <a:gd name="adj" fmla="val 5172"/>
            </a:avLst>
          </a:prstGeom>
          <a:solidFill>
            <a:schemeClr val="bg2"/>
          </a:solidFill>
          <a:ln/>
        </p:spPr>
      </p:sp>
      <p:sp>
        <p:nvSpPr>
          <p:cNvPr id="10" name="Text 7"/>
          <p:cNvSpPr txBox="1"/>
          <p:nvPr/>
        </p:nvSpPr>
        <p:spPr>
          <a:xfrm>
            <a:off x="4643018" y="2651760"/>
            <a:ext cx="2905658" cy="1188720"/>
          </a:xfrm>
          <a:prstGeom prst="rect">
            <a:avLst/>
          </a:prstGeom>
          <a:noFill/>
          <a:ln/>
        </p:spPr>
        <p:txBody>
          <a:bodyPr wrap="square" lIns="0" tIns="0" rIns="0" bIns="0" rtlCol="0" anchor="ctr"/>
          <a:lstStyle/>
          <a:p>
            <a:pPr algn="ctr" indent="0" marL="0">
              <a:buNone/>
            </a:pPr>
            <a:r>
              <a:rPr lang="en-US" sz="6000" b="1" dirty="0">
                <a:solidFill>
                  <a:schemeClr val="accent2"/>
                </a:solidFill>
              </a:rPr>
              <a:t>+9 %</a:t>
            </a:r>
            <a:endParaRPr lang="en-US" sz="6000" dirty="0"/>
          </a:p>
        </p:txBody>
      </p:sp>
      <p:sp>
        <p:nvSpPr>
          <p:cNvPr id="11" name="Text 8"/>
          <p:cNvSpPr txBox="1"/>
          <p:nvPr/>
        </p:nvSpPr>
        <p:spPr>
          <a:xfrm>
            <a:off x="4643018" y="3886200"/>
            <a:ext cx="2905658" cy="1051560"/>
          </a:xfrm>
          <a:prstGeom prst="rect">
            <a:avLst/>
          </a:prstGeom>
          <a:noFill/>
          <a:ln/>
        </p:spPr>
        <p:txBody>
          <a:bodyPr wrap="square" lIns="0" tIns="0" rIns="0" bIns="0" rtlCol="0" anchor="t"/>
          <a:lstStyle/>
          <a:p>
            <a:pPr algn="ctr" indent="0" marL="0">
              <a:buNone/>
            </a:pPr>
            <a:r>
              <a:rPr lang="en-US" sz="2000" b="1" dirty="0">
                <a:solidFill>
                  <a:schemeClr val="tx1"/>
                </a:solidFill>
              </a:rPr>
              <a:t>más útiles</a:t>
            </a:r>
            <a:endParaRPr lang="en-US" sz="2000" dirty="0"/>
          </a:p>
          <a:p>
            <a:pPr algn="ctr" indent="0" marL="0">
              <a:buNone/>
            </a:pPr>
            <a:r>
              <a:rPr lang="en-US" sz="1500" dirty="0">
                <a:solidFill>
                  <a:schemeClr val="tx2"/>
                </a:solidFill>
              </a:rPr>
              <a:t>con ideas de la IA</a:t>
            </a:r>
            <a:endParaRPr lang="en-US" sz="2000" dirty="0"/>
          </a:p>
        </p:txBody>
      </p:sp>
      <p:sp>
        <p:nvSpPr>
          <p:cNvPr id="12" name="Tarjeta"/>
          <p:cNvSpPr/>
          <p:nvPr/>
        </p:nvSpPr>
        <p:spPr>
          <a:xfrm>
            <a:off x="8188757" y="2468880"/>
            <a:ext cx="3454298" cy="2651760"/>
          </a:xfrm>
          <a:prstGeom prst="roundRect">
            <a:avLst>
              <a:gd name="adj" fmla="val 5172"/>
            </a:avLst>
          </a:prstGeom>
          <a:solidFill>
            <a:schemeClr val="bg2"/>
          </a:solidFill>
          <a:ln/>
        </p:spPr>
      </p:sp>
      <p:sp>
        <p:nvSpPr>
          <p:cNvPr id="13" name="Text 10"/>
          <p:cNvSpPr txBox="1"/>
          <p:nvPr/>
        </p:nvSpPr>
        <p:spPr>
          <a:xfrm>
            <a:off x="8463077" y="2651760"/>
            <a:ext cx="2905658" cy="1188720"/>
          </a:xfrm>
          <a:prstGeom prst="rect">
            <a:avLst/>
          </a:prstGeom>
          <a:noFill/>
          <a:ln/>
        </p:spPr>
        <p:txBody>
          <a:bodyPr wrap="square" lIns="0" tIns="0" rIns="0" bIns="0" rtlCol="0" anchor="ctr"/>
          <a:lstStyle/>
          <a:p>
            <a:pPr algn="ctr" indent="0" marL="0">
              <a:buNone/>
            </a:pPr>
            <a:r>
              <a:rPr lang="en-US" sz="6000" b="1" dirty="0">
                <a:solidFill>
                  <a:schemeClr val="accent3"/>
                </a:solidFill>
              </a:rPr>
              <a:t>+11 %</a:t>
            </a:r>
            <a:endParaRPr lang="en-US" sz="6000" dirty="0"/>
          </a:p>
        </p:txBody>
      </p:sp>
      <p:sp>
        <p:nvSpPr>
          <p:cNvPr id="14" name="Text 11"/>
          <p:cNvSpPr txBox="1"/>
          <p:nvPr/>
        </p:nvSpPr>
        <p:spPr>
          <a:xfrm>
            <a:off x="8463077" y="3886200"/>
            <a:ext cx="2905658" cy="1051560"/>
          </a:xfrm>
          <a:prstGeom prst="rect">
            <a:avLst/>
          </a:prstGeom>
          <a:noFill/>
          <a:ln/>
        </p:spPr>
        <p:txBody>
          <a:bodyPr wrap="square" lIns="0" tIns="0" rIns="0" bIns="0" rtlCol="0" anchor="t"/>
          <a:lstStyle/>
          <a:p>
            <a:pPr algn="ctr" indent="0" marL="0">
              <a:buNone/>
            </a:pPr>
            <a:r>
              <a:rPr lang="en-US" sz="2000" b="1" dirty="0">
                <a:solidFill>
                  <a:schemeClr val="tx1"/>
                </a:solidFill>
              </a:rPr>
              <a:t>más parecidos entre sí</a:t>
            </a:r>
            <a:endParaRPr lang="en-US" sz="2000" dirty="0"/>
          </a:p>
          <a:p>
            <a:pPr algn="ctr" indent="0" marL="0">
              <a:buNone/>
            </a:pPr>
            <a:r>
              <a:rPr lang="en-US" sz="1500" dirty="0">
                <a:solidFill>
                  <a:schemeClr val="tx2"/>
                </a:solidFill>
              </a:rPr>
              <a:t>los relatos hechos con IA</a:t>
            </a:r>
            <a:endParaRPr lang="en-US" sz="2000" dirty="0"/>
          </a:p>
        </p:txBody>
      </p:sp>
      <p:sp>
        <p:nvSpPr>
          <p:cNvPr id="15" name="Text 12"/>
          <p:cNvSpPr txBox="1"/>
          <p:nvPr/>
        </p:nvSpPr>
        <p:spPr>
          <a:xfrm>
            <a:off x="548640" y="5394960"/>
            <a:ext cx="11094415" cy="365760"/>
          </a:xfrm>
          <a:prstGeom prst="rect">
            <a:avLst/>
          </a:prstGeom>
          <a:noFill/>
          <a:ln/>
        </p:spPr>
        <p:txBody>
          <a:bodyPr wrap="square" lIns="0" tIns="0" rIns="0" bIns="0" rtlCol="0" anchor="ctr"/>
          <a:lstStyle/>
          <a:p>
            <a:pPr indent="0" marL="0">
              <a:buNone/>
            </a:pPr>
            <a:r>
              <a:rPr lang="en-US" sz="1300" i="1" dirty="0">
                <a:solidFill>
                  <a:schemeClr val="accent5"/>
                </a:solidFill>
              </a:rPr>
              <a:t>Doshi y Hauser (2024), Science Advances</a:t>
            </a:r>
            <a:endParaRPr lang="en-US" sz="13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El dilema</a:t>
            </a:r>
            <a:endParaRPr lang="en-US" sz="3200" dirty="0"/>
          </a:p>
        </p:txBody>
      </p:sp>
      <p:sp>
        <p:nvSpPr>
          <p:cNvPr id="3" name="Tarjeta"/>
          <p:cNvSpPr/>
          <p:nvPr/>
        </p:nvSpPr>
        <p:spPr>
          <a:xfrm>
            <a:off x="548640" y="1508760"/>
            <a:ext cx="5349240" cy="1920240"/>
          </a:xfrm>
          <a:prstGeom prst="roundRect">
            <a:avLst>
              <a:gd name="adj" fmla="val 7143"/>
            </a:avLst>
          </a:prstGeom>
          <a:solidFill>
            <a:schemeClr val="bg2"/>
          </a:solidFill>
          <a:ln/>
        </p:spPr>
      </p:sp>
      <p:sp>
        <p:nvSpPr>
          <p:cNvPr id="4" name="Cada persona"/>
          <p:cNvSpPr/>
          <p:nvPr/>
        </p:nvSpPr>
        <p:spPr>
          <a:xfrm>
            <a:off x="868680" y="1783080"/>
            <a:ext cx="1371600" cy="1371600"/>
          </a:xfrm>
          <a:prstGeom prst="ellipse">
            <a:avLst/>
          </a:prstGeom>
          <a:solidFill>
            <a:schemeClr val="accent2"/>
          </a:solidFill>
          <a:ln/>
        </p:spPr>
      </p:sp>
      <p:pic>
        <p:nvPicPr>
          <p:cNvPr id="5" name="Image 0" descr="Cada persona">    </p:cNvPr>
          <p:cNvPicPr>
            <a:picLocks noChangeAspect="1"/>
          </p:cNvPicPr>
          <p:nvPr/>
        </p:nvPicPr>
        <p:blipFill>
          <a:blip r:embed="rId1"/>
          <a:stretch>
            <a:fillRect/>
          </a:stretch>
        </p:blipFill>
        <p:spPr>
          <a:xfrm>
            <a:off x="1197864" y="2112264"/>
            <a:ext cx="713232" cy="713232"/>
          </a:xfrm>
          <a:prstGeom prst="rect">
            <a:avLst/>
          </a:prstGeom>
        </p:spPr>
      </p:pic>
      <p:sp>
        <p:nvSpPr>
          <p:cNvPr id="6" name="Text 3"/>
          <p:cNvSpPr txBox="1"/>
          <p:nvPr/>
        </p:nvSpPr>
        <p:spPr>
          <a:xfrm>
            <a:off x="2468880" y="1508760"/>
            <a:ext cx="3246120" cy="1920240"/>
          </a:xfrm>
          <a:prstGeom prst="rect">
            <a:avLst/>
          </a:prstGeom>
          <a:noFill/>
          <a:ln/>
        </p:spPr>
        <p:txBody>
          <a:bodyPr wrap="square" lIns="0" tIns="0" rIns="0" bIns="0" rtlCol="0" anchor="ctr"/>
          <a:lstStyle/>
          <a:p>
            <a:pPr indent="0" marL="0">
              <a:buNone/>
            </a:pPr>
            <a:r>
              <a:rPr lang="en-US" sz="2800" b="1" dirty="0">
                <a:solidFill>
                  <a:schemeClr val="tx1"/>
                </a:solidFill>
              </a:rPr>
              <a:t>Cada persona</a:t>
            </a:r>
            <a:endParaRPr lang="en-US" sz="2000" dirty="0"/>
          </a:p>
          <a:p>
            <a:pPr indent="0" marL="0">
              <a:buNone/>
            </a:pPr>
            <a:r>
              <a:rPr lang="en-US" sz="2000" dirty="0">
                <a:solidFill>
                  <a:schemeClr val="tx1"/>
                </a:solidFill>
              </a:rPr>
              <a:t>sale ganando: su resultado es mejor.</a:t>
            </a:r>
            <a:endParaRPr lang="en-US" sz="2000" dirty="0"/>
          </a:p>
        </p:txBody>
      </p:sp>
      <p:sp>
        <p:nvSpPr>
          <p:cNvPr id="7" name="Tarjeta"/>
          <p:cNvSpPr/>
          <p:nvPr/>
        </p:nvSpPr>
        <p:spPr>
          <a:xfrm>
            <a:off x="6263640" y="1508760"/>
            <a:ext cx="5349240" cy="1920240"/>
          </a:xfrm>
          <a:prstGeom prst="roundRect">
            <a:avLst>
              <a:gd name="adj" fmla="val 7143"/>
            </a:avLst>
          </a:prstGeom>
          <a:solidFill>
            <a:schemeClr val="bg2"/>
          </a:solidFill>
          <a:ln/>
        </p:spPr>
      </p:sp>
      <p:sp>
        <p:nvSpPr>
          <p:cNvPr id="8" name="El conjunto"/>
          <p:cNvSpPr/>
          <p:nvPr/>
        </p:nvSpPr>
        <p:spPr>
          <a:xfrm>
            <a:off x="6583680" y="1783080"/>
            <a:ext cx="1371600" cy="1371600"/>
          </a:xfrm>
          <a:prstGeom prst="ellipse">
            <a:avLst/>
          </a:prstGeom>
          <a:solidFill>
            <a:schemeClr val="accent3"/>
          </a:solidFill>
          <a:ln/>
        </p:spPr>
      </p:sp>
      <p:pic>
        <p:nvPicPr>
          <p:cNvPr id="9" name="Image 1" descr="El conjunto">    </p:cNvPr>
          <p:cNvPicPr>
            <a:picLocks noChangeAspect="1"/>
          </p:cNvPicPr>
          <p:nvPr/>
        </p:nvPicPr>
        <p:blipFill>
          <a:blip r:embed="rId2"/>
          <a:stretch>
            <a:fillRect/>
          </a:stretch>
        </p:blipFill>
        <p:spPr>
          <a:xfrm>
            <a:off x="6912864" y="2112264"/>
            <a:ext cx="713232" cy="713232"/>
          </a:xfrm>
          <a:prstGeom prst="rect">
            <a:avLst/>
          </a:prstGeom>
        </p:spPr>
      </p:pic>
      <p:sp>
        <p:nvSpPr>
          <p:cNvPr id="10" name="Text 6"/>
          <p:cNvSpPr txBox="1"/>
          <p:nvPr/>
        </p:nvSpPr>
        <p:spPr>
          <a:xfrm>
            <a:off x="8183880" y="1508760"/>
            <a:ext cx="3246120" cy="1920240"/>
          </a:xfrm>
          <a:prstGeom prst="rect">
            <a:avLst/>
          </a:prstGeom>
          <a:noFill/>
          <a:ln/>
        </p:spPr>
        <p:txBody>
          <a:bodyPr wrap="square" lIns="0" tIns="0" rIns="0" bIns="0" rtlCol="0" anchor="ctr"/>
          <a:lstStyle/>
          <a:p>
            <a:pPr indent="0" marL="0">
              <a:buNone/>
            </a:pPr>
            <a:r>
              <a:rPr lang="en-US" sz="2800" b="1" dirty="0">
                <a:solidFill>
                  <a:schemeClr val="tx1"/>
                </a:solidFill>
              </a:rPr>
              <a:t>El conjunto</a:t>
            </a:r>
            <a:endParaRPr lang="en-US" sz="2000" dirty="0"/>
          </a:p>
          <a:p>
            <a:pPr indent="0" marL="0">
              <a:buNone/>
            </a:pPr>
            <a:r>
              <a:rPr lang="en-US" sz="2000" dirty="0">
                <a:solidFill>
                  <a:schemeClr val="tx1"/>
                </a:solidFill>
              </a:rPr>
              <a:t>sale perdiendo: todo se parece más.</a:t>
            </a:r>
            <a:endParaRPr lang="en-US" sz="2000" dirty="0"/>
          </a:p>
        </p:txBody>
      </p:sp>
      <p:sp>
        <p:nvSpPr>
          <p:cNvPr id="11" name="Cita"/>
          <p:cNvSpPr/>
          <p:nvPr/>
        </p:nvSpPr>
        <p:spPr>
          <a:xfrm>
            <a:off x="548640" y="3749040"/>
            <a:ext cx="11094415" cy="1371600"/>
          </a:xfrm>
          <a:prstGeom prst="roundRect">
            <a:avLst>
              <a:gd name="adj" fmla="val 10000"/>
            </a:avLst>
          </a:prstGeom>
          <a:solidFill>
            <a:schemeClr val="tx1"/>
          </a:solidFill>
          <a:ln/>
        </p:spPr>
      </p:sp>
      <p:sp>
        <p:nvSpPr>
          <p:cNvPr id="12" name="Text 8"/>
          <p:cNvSpPr txBox="1"/>
          <p:nvPr/>
        </p:nvSpPr>
        <p:spPr>
          <a:xfrm>
            <a:off x="868680" y="3749040"/>
            <a:ext cx="10454335" cy="1371600"/>
          </a:xfrm>
          <a:prstGeom prst="rect">
            <a:avLst/>
          </a:prstGeom>
          <a:noFill/>
          <a:ln/>
        </p:spPr>
        <p:txBody>
          <a:bodyPr wrap="square" lIns="0" tIns="0" rIns="0" bIns="0" rtlCol="0" anchor="ctr"/>
          <a:lstStyle/>
          <a:p>
            <a:pPr indent="0" marL="0">
              <a:spcAft>
                <a:spcPts val="600"/>
              </a:spcAft>
              <a:buNone/>
            </a:pPr>
            <a:r>
              <a:rPr lang="en-US" sz="1900" i="1" dirty="0">
                <a:solidFill>
                  <a:schemeClr val="bg1"/>
                </a:solidFill>
              </a:rPr>
              <a:t>«Individualmente, los escritores salen ganando; colectivamente, se produce un abanico más estrecho de contenido nuevo.»</a:t>
            </a:r>
            <a:endParaRPr lang="en-US" sz="1900" dirty="0"/>
          </a:p>
          <a:p>
            <a:pPr indent="0" marL="0">
              <a:spcAft>
                <a:spcPts val="600"/>
              </a:spcAft>
              <a:buNone/>
            </a:pPr>
            <a:r>
              <a:rPr lang="en-US" sz="1300" b="1" dirty="0">
                <a:solidFill>
                  <a:schemeClr val="accent1"/>
                </a:solidFill>
              </a:rPr>
              <a:t>Doshi y Hauser (2024), Science Advances</a:t>
            </a:r>
            <a:endParaRPr lang="en-US" sz="1900" dirty="0"/>
          </a:p>
        </p:txBody>
      </p:sp>
      <p:sp>
        <p:nvSpPr>
          <p:cNvPr id="13" name="Text 9"/>
          <p:cNvSpPr txBox="1"/>
          <p:nvPr/>
        </p:nvSpPr>
        <p:spPr>
          <a:xfrm>
            <a:off x="548640" y="5349240"/>
            <a:ext cx="11094415" cy="457200"/>
          </a:xfrm>
          <a:prstGeom prst="rect">
            <a:avLst/>
          </a:prstGeom>
          <a:noFill/>
          <a:ln/>
        </p:spPr>
        <p:txBody>
          <a:bodyPr wrap="square" lIns="0" tIns="0" rIns="0" bIns="0" rtlCol="0" anchor="ctr"/>
          <a:lstStyle/>
          <a:p>
            <a:pPr indent="0" marL="0">
              <a:buNone/>
            </a:pPr>
            <a:r>
              <a:rPr lang="en-US" sz="1900" b="1" dirty="0">
                <a:solidFill>
                  <a:schemeClr val="accent3"/>
                </a:solidFill>
              </a:rPr>
              <a:t>Exactamente lo que pasó con Unreal Engine 5: cada juego, más bonito; todos, más parecidos.</a:t>
            </a:r>
            <a:endParaRPr lang="en-US" sz="19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La misma historia, dos herramientas</a:t>
            </a:r>
            <a:endParaRPr lang="en-US" sz="3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2194560"/>
                <a:gridCol w="4448556"/>
                <a:gridCol w="4448556"/>
              </a:tblGrid>
              <a:tr h="594360">
                <a:tc>
                  <a:txBody>
                    <a:bodyPr/>
                    <a:lstStyle/>
                    <a:p>
                      <a:pPr indent="0" marL="0">
                        <a:buNone/>
                      </a:pPr>
                      <a:endParaRPr lang="en-US" sz="1900" dirty="0"/>
                    </a:p>
                  </a:txBody>
                  <a:tcPr marL="109728" marR="109728" marT="109728" marB="109728"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solidFill>
                      <a:schemeClr val="bg1"/>
                    </a:solidFill>
                  </a:tcPr>
                </a:tc>
                <a:tc>
                  <a:txBody>
                    <a:bodyPr/>
                    <a:lstStyle/>
                    <a:p>
                      <a:pPr indent="0" marL="0">
                        <a:buNone/>
                      </a:pPr>
                      <a:r>
                        <a:rPr lang="en-US" sz="1900" b="1" dirty="0">
                          <a:solidFill>
                            <a:schemeClr val="bg1"/>
                          </a:solidFill>
                        </a:rPr>
                        <a:t>Unreal Engine 5</a:t>
                      </a:r>
                      <a:endParaRPr lang="en-US" sz="1900" dirty="0"/>
                    </a:p>
                  </a:txBody>
                  <a:tcPr marL="109728" marR="109728" marT="109728" marB="109728"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solidFill>
                      <a:schemeClr val="tx1"/>
                    </a:solidFill>
                  </a:tcPr>
                </a:tc>
                <a:tc>
                  <a:txBody>
                    <a:bodyPr/>
                    <a:lstStyle/>
                    <a:p>
                      <a:pPr indent="0" marL="0">
                        <a:buNone/>
                      </a:pPr>
                      <a:r>
                        <a:rPr lang="en-US" sz="1900" b="1" dirty="0">
                          <a:solidFill>
                            <a:schemeClr val="bg1"/>
                          </a:solidFill>
                        </a:rPr>
                        <a:t>La IA</a:t>
                      </a:r>
                      <a:endParaRPr lang="en-US" sz="1900" dirty="0"/>
                    </a:p>
                  </a:txBody>
                  <a:tcPr marL="109728" marR="109728" marT="109728" marB="109728"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solidFill>
                      <a:schemeClr val="accent2"/>
                    </a:solidFill>
                  </a:tcPr>
                </a:tc>
              </a:tr>
              <a:tr h="868680">
                <a:tc>
                  <a:txBody>
                    <a:bodyPr/>
                    <a:lstStyle/>
                    <a:p>
                      <a:pPr indent="0" marL="0">
                        <a:buNone/>
                      </a:pPr>
                      <a:r>
                        <a:rPr lang="en-US" sz="1700" b="1" dirty="0">
                          <a:solidFill>
                            <a:schemeClr val="tx1"/>
                          </a:solidFill>
                        </a:rPr>
                        <a:t>Lo que ofrece</a:t>
                      </a:r>
                      <a:endParaRPr lang="en-US" sz="1700" dirty="0"/>
                    </a:p>
                  </a:txBody>
                  <a:tcPr marL="109728" marR="109728" marT="109728" marB="109728"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indent="0" marL="0">
                        <a:buNone/>
                      </a:pPr>
                      <a:r>
                        <a:rPr lang="en-US" sz="1700" dirty="0">
                          <a:solidFill>
                            <a:schemeClr val="tx1"/>
                          </a:solidFill>
                        </a:rPr>
                        <a:t>Luz, detalle y materiales de gran estudio, automáticamente.</a:t>
                      </a:r>
                      <a:endParaRPr lang="en-US" sz="1700" dirty="0"/>
                    </a:p>
                  </a:txBody>
                  <a:tcPr marL="109728" marR="109728" marT="109728" marB="109728"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indent="0" marL="0">
                        <a:buNone/>
                      </a:pPr>
                      <a:r>
                        <a:rPr lang="en-US" sz="1700" dirty="0">
                          <a:solidFill>
                            <a:schemeClr val="tx1"/>
                          </a:solidFill>
                        </a:rPr>
                        <a:t>Ideas, textos y resúmenes de calidad, en segundos.</a:t>
                      </a:r>
                      <a:endParaRPr lang="en-US" sz="1700" dirty="0"/>
                    </a:p>
                  </a:txBody>
                  <a:tcPr marL="109728" marR="109728" marT="109728" marB="109728"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r>
              <a:tr h="731520">
                <a:tc>
                  <a:txBody>
                    <a:bodyPr/>
                    <a:lstStyle/>
                    <a:p>
                      <a:pPr indent="0" marL="0">
                        <a:buNone/>
                      </a:pPr>
                      <a:r>
                        <a:rPr lang="en-US" sz="1700" b="1" dirty="0">
                          <a:solidFill>
                            <a:schemeClr val="tx1"/>
                          </a:solidFill>
                        </a:rPr>
                        <a:t>El atajo</a:t>
                      </a:r>
                      <a:endParaRPr lang="en-US" sz="1700" dirty="0"/>
                    </a:p>
                  </a:txBody>
                  <a:tcPr marL="109728" marR="109728" marT="109728" marB="109728"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indent="0" marL="0">
                        <a:buNone/>
                      </a:pPr>
                      <a:r>
                        <a:rPr lang="en-US" sz="1700" dirty="0">
                          <a:solidFill>
                            <a:schemeClr val="tx1"/>
                          </a:solidFill>
                        </a:rPr>
                        <a:t>Aceptar los ajustes por defecto.</a:t>
                      </a:r>
                      <a:endParaRPr lang="en-US" sz="1700" dirty="0"/>
                    </a:p>
                  </a:txBody>
                  <a:tcPr marL="109728" marR="109728" marT="109728" marB="109728"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indent="0" marL="0">
                        <a:buNone/>
                      </a:pPr>
                      <a:r>
                        <a:rPr lang="en-US" sz="1700" dirty="0">
                          <a:solidFill>
                            <a:schemeClr val="tx1"/>
                          </a:solidFill>
                        </a:rPr>
                        <a:t>Aceptar la primera respuesta.</a:t>
                      </a:r>
                      <a:endParaRPr lang="en-US" sz="1700" dirty="0"/>
                    </a:p>
                  </a:txBody>
                  <a:tcPr marL="109728" marR="109728" marT="109728" marB="109728"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r>
              <a:tr h="868680">
                <a:tc>
                  <a:txBody>
                    <a:bodyPr/>
                    <a:lstStyle/>
                    <a:p>
                      <a:pPr indent="0" marL="0">
                        <a:buNone/>
                      </a:pPr>
                      <a:r>
                        <a:rPr lang="en-US" sz="1700" b="1" dirty="0">
                          <a:solidFill>
                            <a:schemeClr val="tx1"/>
                          </a:solidFill>
                        </a:rPr>
                        <a:t>El resultado</a:t>
                      </a:r>
                      <a:endParaRPr lang="en-US" sz="1700" dirty="0"/>
                    </a:p>
                  </a:txBody>
                  <a:tcPr marL="109728" marR="109728" marT="109728" marB="109728"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indent="0" marL="0">
                        <a:buNone/>
                      </a:pPr>
                      <a:r>
                        <a:rPr lang="en-US" sz="1700" dirty="0">
                          <a:solidFill>
                            <a:schemeClr val="tx1"/>
                          </a:solidFill>
                        </a:rPr>
                        <a:t>Juegos que se parecen.</a:t>
                      </a:r>
                      <a:endParaRPr lang="en-US" sz="1700" dirty="0"/>
                    </a:p>
                  </a:txBody>
                  <a:tcPr marL="109728" marR="109728" marT="109728" marB="109728"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indent="0" marL="0">
                        <a:buNone/>
                      </a:pPr>
                      <a:r>
                        <a:rPr lang="en-US" sz="1700" dirty="0">
                          <a:solidFill>
                            <a:schemeClr val="tx1"/>
                          </a:solidFill>
                        </a:rPr>
                        <a:t>Cartas de presentación, propuestas e ideas que se parecen.</a:t>
                      </a:r>
                      <a:endParaRPr lang="en-US" sz="1700" dirty="0"/>
                    </a:p>
                  </a:txBody>
                  <a:tcPr marL="109728" marR="109728" marT="109728" marB="109728"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r>
              <a:tr h="731520">
                <a:tc>
                  <a:txBody>
                    <a:bodyPr/>
                    <a:lstStyle/>
                    <a:p>
                      <a:pPr indent="0" marL="0">
                        <a:buNone/>
                      </a:pPr>
                      <a:r>
                        <a:rPr lang="en-US" sz="1700" b="1" dirty="0">
                          <a:solidFill>
                            <a:schemeClr val="tx1"/>
                          </a:solidFill>
                        </a:rPr>
                        <a:t>Quién destaca</a:t>
                      </a:r>
                      <a:endParaRPr lang="en-US" sz="1700" dirty="0"/>
                    </a:p>
                  </a:txBody>
                  <a:tcPr marL="109728" marR="109728" marT="109728" marB="109728"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indent="0" marL="0">
                        <a:buNone/>
                      </a:pPr>
                      <a:r>
                        <a:rPr lang="en-US" sz="1700" dirty="0">
                          <a:solidFill>
                            <a:schemeClr val="tx1"/>
                          </a:solidFill>
                        </a:rPr>
                        <a:t>Quien pone un estilo propio.</a:t>
                      </a:r>
                      <a:endParaRPr lang="en-US" sz="1700" dirty="0"/>
                    </a:p>
                  </a:txBody>
                  <a:tcPr marL="109728" marR="109728" marT="109728" marB="109728"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c>
                  <a:txBody>
                    <a:bodyPr/>
                    <a:lstStyle/>
                    <a:p>
                      <a:pPr indent="0" marL="0">
                        <a:buNone/>
                      </a:pPr>
                      <a:r>
                        <a:rPr lang="en-US" sz="1700" dirty="0">
                          <a:solidFill>
                            <a:schemeClr val="tx1"/>
                          </a:solidFill>
                        </a:rPr>
                        <a:t>Quien pone ideas propias.</a:t>
                      </a:r>
                      <a:endParaRPr lang="en-US" sz="1700" dirty="0"/>
                    </a:p>
                  </a:txBody>
                  <a:tcPr marL="109728" marR="109728" marT="109728" marB="109728" anchor="ctr">
                    <a:lnL w="12700" cap="flat" cmpd="sng" algn="ctr">
                      <a:solidFill>
                        <a:srgbClr val="F2F4F8"/>
                      </a:solidFill>
                      <a:prstDash val="solid"/>
                      <a:round/>
                      <a:headEnd type="none" w="med" len="med"/>
                      <a:tailEnd type="none" w="med" len="med"/>
                    </a:lnL>
                    <a:lnR w="12700" cap="flat" cmpd="sng" algn="ctr">
                      <a:solidFill>
                        <a:srgbClr val="F2F4F8"/>
                      </a:solidFill>
                      <a:prstDash val="solid"/>
                      <a:round/>
                      <a:headEnd type="none" w="med" len="med"/>
                      <a:tailEnd type="none" w="med" len="med"/>
                    </a:lnR>
                    <a:lnT w="12700" cap="flat" cmpd="sng" algn="ctr">
                      <a:solidFill>
                        <a:srgbClr val="F2F4F8"/>
                      </a:solidFill>
                      <a:prstDash val="solid"/>
                      <a:round/>
                      <a:headEnd type="none" w="med" len="med"/>
                      <a:tailEnd type="none" w="med" len="med"/>
                    </a:lnT>
                    <a:lnB w="12700" cap="flat" cmpd="sng" algn="ctr">
                      <a:solidFill>
                        <a:srgbClr val="F2F4F8"/>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1097280" y="1097280"/>
            <a:ext cx="7315200" cy="457200"/>
          </a:xfrm>
          <a:prstGeom prst="rect">
            <a:avLst/>
          </a:prstGeom>
          <a:noFill/>
          <a:ln/>
        </p:spPr>
        <p:txBody>
          <a:bodyPr wrap="square" lIns="0" tIns="0" rIns="0" bIns="0" rtlCol="0" anchor="ctr"/>
          <a:lstStyle/>
          <a:p>
            <a:pPr indent="0" marL="0">
              <a:buNone/>
            </a:pPr>
            <a:r>
              <a:rPr lang="en-US" sz="1800" b="1" dirty="0">
                <a:solidFill>
                  <a:schemeClr val="accent1"/>
                </a:solidFill>
              </a:rPr>
              <a:t>La moraleja</a:t>
            </a:r>
            <a:endParaRPr lang="en-US" sz="1800" dirty="0"/>
          </a:p>
        </p:txBody>
      </p:sp>
      <p:sp>
        <p:nvSpPr>
          <p:cNvPr id="3" name="Text 0"/>
          <p:cNvSpPr/>
          <p:nvPr>
            <p:ph idx="100" type="body" hasCustomPrompt="1"/>
          </p:nvPr>
        </p:nvSpPr>
        <p:spPr>
          <a:xfrm>
            <a:off x="1097280" y="1554480"/>
            <a:ext cx="9966960" cy="3108960"/>
          </a:xfrm>
          <a:prstGeom prst="rect">
            <a:avLst/>
          </a:prstGeom>
          <a:noFill/>
          <a:ln/>
        </p:spPr>
        <p:txBody>
          <a:bodyPr wrap="square" lIns="0" tIns="0" rIns="0" bIns="0" rtlCol="0" anchor="ctr"/>
          <a:lstStyle/>
          <a:p>
            <a:pPr indent="0" marL="0">
              <a:buNone/>
            </a:pPr>
            <a:r>
              <a:rPr lang="en-US" sz="3400" dirty="0">
                <a:solidFill>
                  <a:schemeClr val="bg1"/>
                </a:solidFill>
              </a:rPr>
              <a:t>La herramienta es el lienzo, no el pintor.</a:t>
            </a:r>
            <a:endParaRPr lang="en-US" sz="3400" dirty="0"/>
          </a:p>
          <a:p>
            <a:pPr indent="0" marL="0">
              <a:buNone/>
            </a:pPr>
            <a:r>
              <a:rPr lang="en-US" sz="3400" dirty="0">
                <a:solidFill>
                  <a:schemeClr val="accent1"/>
                </a:solidFill>
              </a:rPr>
              <a:t>Primero pensamos las personas; después, la IA amplía lo nuestro.</a:t>
            </a:r>
            <a:endParaRPr lang="en-US" sz="34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Fuentes</a:t>
            </a:r>
            <a:endParaRPr lang="en-US" sz="3200" dirty="0"/>
          </a:p>
        </p:txBody>
      </p:sp>
      <p:sp>
        <p:nvSpPr>
          <p:cNvPr id="3" name="Fuentes"/>
          <p:cNvSpPr/>
          <p:nvPr/>
        </p:nvSpPr>
        <p:spPr>
          <a:xfrm>
            <a:off x="548640" y="1417320"/>
            <a:ext cx="685800" cy="685800"/>
          </a:xfrm>
          <a:prstGeom prst="ellipse">
            <a:avLst/>
          </a:prstGeom>
          <a:solidFill>
            <a:schemeClr val="tx2"/>
          </a:solidFill>
          <a:ln/>
        </p:spPr>
      </p:sp>
      <p:pic>
        <p:nvPicPr>
          <p:cNvPr id="4" name="Image 0" descr="Fuentes">    </p:cNvPr>
          <p:cNvPicPr>
            <a:picLocks noChangeAspect="1"/>
          </p:cNvPicPr>
          <p:nvPr/>
        </p:nvPicPr>
        <p:blipFill>
          <a:blip r:embed="rId1"/>
          <a:stretch>
            <a:fillRect/>
          </a:stretch>
        </p:blipFill>
        <p:spPr>
          <a:xfrm>
            <a:off x="713232" y="1581912"/>
            <a:ext cx="356616" cy="356616"/>
          </a:xfrm>
          <a:prstGeom prst="rect">
            <a:avLst/>
          </a:prstGeom>
        </p:spPr>
      </p:pic>
      <p:sp>
        <p:nvSpPr>
          <p:cNvPr id="5" name="Text 2"/>
          <p:cNvSpPr txBox="1"/>
          <p:nvPr/>
        </p:nvSpPr>
        <p:spPr>
          <a:xfrm>
            <a:off x="1463040" y="1417320"/>
            <a:ext cx="10180015" cy="4572000"/>
          </a:xfrm>
          <a:prstGeom prst="rect">
            <a:avLst/>
          </a:prstGeom>
          <a:noFill/>
          <a:ln/>
        </p:spPr>
        <p:txBody>
          <a:bodyPr wrap="square" lIns="0" tIns="0" rIns="0" bIns="0" rtlCol="0" anchor="t"/>
          <a:lstStyle/>
          <a:p>
            <a:pPr indent="0" marL="0">
              <a:buNone/>
            </a:pPr>
            <a:r>
              <a:rPr lang="en-US" sz="1500" dirty="0">
                <a:solidFill>
                  <a:schemeClr val="tx1"/>
                </a:solidFill>
              </a:rPr>
              <a:t>Doshi, A. R. y Hauser, O. P. (2024). Generative AI enhances individual creativity but reduces the collective diversity of novel content. Science Advances, 10(28).</a:t>
            </a:r>
            <a:endParaRPr lang="en-US" sz="1500" dirty="0"/>
          </a:p>
          <a:p>
            <a:pPr indent="0" marL="0">
              <a:spcAft>
                <a:spcPts val="1000"/>
              </a:spcAft>
              <a:buNone/>
            </a:pPr>
            <a:r>
              <a:rPr lang="en-US" sz="1200" u="sng" dirty="0">
                <a:solidFill>
                  <a:schemeClr val="accent2"/>
                </a:solidFill>
                <a:hlinkClick r:id="rId2" invalidUrl="" action="" tgtFrame="" tooltip="" history="1" highlightClick="0" endSnd="0">
                  <a:extLst>
                    <a:ext uri="{A12FA001-AC4F-418D-AE19-62706E023703}">
                      <ahyp:hlinkClr xmlns:ahyp="http://schemas.microsoft.com/office/drawing/2018/hyperlinkcolor" val="tx"/>
                    </a:ext>
                  </a:extLst>
                </a:hlinkClick>
              </a:rPr>
              <a:t>https://pmc.ncbi.nlm.nih.gov/articles/PMC11244532</a:t>
            </a:r>
            <a:endParaRPr lang="en-US" sz="1500" dirty="0"/>
          </a:p>
          <a:p>
            <a:pPr indent="0" marL="0">
              <a:buNone/>
            </a:pPr>
            <a:r>
              <a:rPr lang="en-US" sz="1500" dirty="0">
                <a:solidFill>
                  <a:schemeClr val="tx1"/>
                </a:solidFill>
              </a:rPr>
              <a:t>«Unreal Engine 5». Wikipedia.</a:t>
            </a:r>
            <a:endParaRPr lang="en-US" sz="1500" dirty="0"/>
          </a:p>
          <a:p>
            <a:pPr indent="0" marL="0">
              <a:spcAft>
                <a:spcPts val="1000"/>
              </a:spcAft>
              <a:buNone/>
            </a:pPr>
            <a:r>
              <a:rPr lang="en-US" sz="1200" u="sng" dirty="0">
                <a:solidFill>
                  <a:schemeClr val="accent2"/>
                </a:solidFill>
                <a:hlinkClick r:id="rId3" invalidUrl="" action="" tgtFrame="" tooltip="" history="1" highlightClick="0" endSnd="0">
                  <a:extLst>
                    <a:ext uri="{A12FA001-AC4F-418D-AE19-62706E023703}">
                      <ahyp:hlinkClr xmlns:ahyp="http://schemas.microsoft.com/office/drawing/2018/hyperlinkcolor" val="tx"/>
                    </a:ext>
                  </a:extLst>
                </a:hlinkClick>
              </a:rPr>
              <a:t>https://en.wikipedia.org/wiki/Unreal_Engine_5</a:t>
            </a:r>
            <a:endParaRPr lang="en-US" sz="1500" dirty="0"/>
          </a:p>
          <a:p>
            <a:pPr indent="0" marL="0">
              <a:buNone/>
            </a:pPr>
            <a:r>
              <a:rPr lang="en-US" sz="1500" dirty="0">
                <a:solidFill>
                  <a:schemeClr val="tx1"/>
                </a:solidFill>
              </a:rPr>
              <a:t>Creative Bloq. «Using Unreal Engine 5 “can be a trap”, says the dev behind Clair Obscur: Expedition 33».</a:t>
            </a:r>
            <a:endParaRPr lang="en-US" sz="1500" dirty="0"/>
          </a:p>
          <a:p>
            <a:pPr indent="0" marL="0">
              <a:spcAft>
                <a:spcPts val="1000"/>
              </a:spcAft>
              <a:buNone/>
            </a:pPr>
            <a:r>
              <a:rPr lang="en-US" sz="1200" u="sng" dirty="0">
                <a:solidFill>
                  <a:schemeClr val="accent2"/>
                </a:solidFill>
                <a:hlinkClick r:id="rId4" invalidUrl="" action="" tgtFrame="" tooltip="" history="1" highlightClick="0" endSnd="0">
                  <a:extLst>
                    <a:ext uri="{A12FA001-AC4F-418D-AE19-62706E023703}">
                      <ahyp:hlinkClr xmlns:ahyp="http://schemas.microsoft.com/office/drawing/2018/hyperlinkcolor" val="tx"/>
                    </a:ext>
                  </a:extLst>
                </a:hlinkClick>
              </a:rPr>
              <a:t>https://creativebloq.com/3d/video-game-design/using-unreal-engine-5-can-be-a-trap-says-the-dev-behind-clair-obscur-expedition-33</a:t>
            </a:r>
            <a:endParaRPr lang="en-US" sz="1500" dirty="0"/>
          </a:p>
          <a:p>
            <a:pPr indent="0" marL="0">
              <a:buNone/>
            </a:pPr>
            <a:r>
              <a:rPr lang="en-US" sz="1500" dirty="0">
                <a:solidFill>
                  <a:schemeClr val="tx1"/>
                </a:solidFill>
              </a:rPr>
              <a:t>Windows Central. Ganadores de The Game Awards 2025.</a:t>
            </a:r>
            <a:endParaRPr lang="en-US" sz="1500" dirty="0"/>
          </a:p>
          <a:p>
            <a:pPr indent="0" marL="0">
              <a:spcAft>
                <a:spcPts val="1000"/>
              </a:spcAft>
              <a:buNone/>
            </a:pPr>
            <a:r>
              <a:rPr lang="en-US" sz="1200" u="sng" dirty="0">
                <a:solidFill>
                  <a:schemeClr val="accent2"/>
                </a:solidFill>
                <a:hlinkClick r:id="rId5" invalidUrl="" action="" tgtFrame="" tooltip="" history="1" highlightClick="0" endSnd="0">
                  <a:extLst>
                    <a:ext uri="{A12FA001-AC4F-418D-AE19-62706E023703}">
                      <ahyp:hlinkClr xmlns:ahyp="http://schemas.microsoft.com/office/drawing/2018/hyperlinkcolor" val="tx"/>
                    </a:ext>
                  </a:extLst>
                </a:hlinkClick>
              </a:rPr>
              <a:t>https://www.windowscentral.com/gaming/the-game-awards-2025-winners</a:t>
            </a:r>
            <a:endParaRPr lang="en-US" sz="1500" dirty="0"/>
          </a:p>
          <a:p>
            <a:pPr indent="0" marL="0">
              <a:buNone/>
            </a:pPr>
            <a:r>
              <a:rPr lang="en-US" sz="1500" dirty="0">
                <a:solidFill>
                  <a:schemeClr val="tx1"/>
                </a:solidFill>
              </a:rPr>
              <a:t>ResetEra. «I'm already starting to feel tired of Unreal Engine 5» (abril de 2026).</a:t>
            </a:r>
            <a:endParaRPr lang="en-US" sz="1500" dirty="0"/>
          </a:p>
          <a:p>
            <a:pPr indent="0" marL="0">
              <a:spcAft>
                <a:spcPts val="1000"/>
              </a:spcAft>
              <a:buNone/>
            </a:pPr>
            <a:r>
              <a:rPr lang="en-US" sz="1200" u="sng" dirty="0">
                <a:solidFill>
                  <a:schemeClr val="accent2"/>
                </a:solidFill>
                <a:hlinkClick r:id="rId6" invalidUrl="" action="" tgtFrame="" tooltip="" history="1" highlightClick="0" endSnd="0">
                  <a:extLst>
                    <a:ext uri="{A12FA001-AC4F-418D-AE19-62706E023703}">
                      <ahyp:hlinkClr xmlns:ahyp="http://schemas.microsoft.com/office/drawing/2018/hyperlinkcolor" val="tx"/>
                    </a:ext>
                  </a:extLst>
                </a:hlinkClick>
              </a:rPr>
              <a:t>https://www.resetera.com/threads/im-already-starting-to-feel-tired-of-unreal-engine-5.1487680/</a:t>
            </a:r>
            <a:endParaRPr lang="en-US" sz="15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Creatividad, ofimática e IA">
  <a:themeElements>
    <a:clrScheme name="Creatividad, ofimática e IA">
      <a:dk1>
        <a:srgbClr val="1F2A44"/>
      </a:dk1>
      <a:lt1>
        <a:srgbClr val="FFFFFF"/>
      </a:lt1>
      <a:dk2>
        <a:srgbClr val="3A4664"/>
      </a:dk2>
      <a:lt2>
        <a:srgbClr val="F2F4F8"/>
      </a:lt2>
      <a:accent1>
        <a:srgbClr val="F4A300"/>
      </a:accent1>
      <a:accent2>
        <a:srgbClr val="0F7C70"/>
      </a:accent2>
      <a:accent3>
        <a:srgbClr val="D64933"/>
      </a:accent3>
      <a:accent4>
        <a:srgbClr val="6C5CE7"/>
      </a:accent4>
      <a:accent5>
        <a:srgbClr val="8A94A6"/>
      </a:accent5>
      <a:accent6>
        <a:srgbClr val="2D6A4F"/>
      </a:accent6>
      <a:hlink>
        <a:srgbClr val="0F7C70"/>
      </a:hlink>
      <a:folHlink>
        <a:srgbClr val="6C5CE7"/>
      </a:folHlink>
    </a:clrScheme>
    <a:fontScheme name="Creatividad, ofimática e IA">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Historia Unreal: misma herramienta, mismo resultado</dc:title>
  <dc:subject>Desarrollo de las habilidades creativas e innovadoras con herramientas ofimáticas y de inteligencia artificial</dc:subject>
  <dc:creator>PptxGenJS</dc:creator>
  <cp:lastModifiedBy>PptxGenJS</cp:lastModifiedBy>
  <cp:revision>1</cp:revision>
  <dcterms:created xsi:type="dcterms:W3CDTF">2026-10-17T17:46:57Z</dcterms:created>
  <dcterms:modified xsi:type="dcterms:W3CDTF">2026-10-17T17:46:57Z</dcterms:modified>
</cp:coreProperties>
</file>