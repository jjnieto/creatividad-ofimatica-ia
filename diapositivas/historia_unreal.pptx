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istoria Unreal" id="{1E639432-F7CB-40E2-E515-19D6D403D2CE}">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6474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Historia de apoyo para la regla del curso «primero las personas, después la IA» (bloque 1, minutos 15–20). Duración orientativa: 8–10 minutos. Si no hay tiempo, usar solo la diapositiva resumen del bloque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 pregunta y dejarla abierta. Se responde al final de la historia.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sin tecnicismos: antes, la luz y el detalle de cada escena había que prepararlos a mano, objeto a objeto. Con Unreal Engine 5, el programa lo hace solo.
Lumen: iluminación global y reflejos que se actualizan en tiempo real. Nanite: geometría virtualizada que permite usar modelos de altísimo detalle, como escaneos fotogramétricos. Megascans: la mayor biblioteca de fotogrametría del mundo en 2019, de Quixel, empresa que compró Epic Games; durante años fue gratuita para quien usaba Unreal (desde 2025 parte es de pago, en la tienda Fab).
Fechas según Wikipedia (artículo «Unreal Engine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 de Tom Guillermin, director técnico de Sandfall Interactive, recogida por Creative Bloq: con Lumen y Nanite, un equipo de unas 30 personas alcanzó un nivel gráfico comparable al de estudios con cientos de desarrolladores.
Para la captura (el repositorio del curso es público, por eso no se incluyen imágenes con derechos de autor): buscar «The Matrix Awakens Unreal Engine 5» en el canal oficial de Unreal Engine en YouTube o en unrealengine.com, y pegar una captura en el hueco.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Citas traducidas del hilo «I'm already starting to feel tired of Unreal Engine 5» de ResetEra (abril de 2026). En Steam hay hilos con títulos como «Why does every Unreal Engine game look the same?».
Ser honestos: es una percepción de parte de la comunidad, no un hecho medido. En el mismo hilo hay quien responde que no todos los juegos de Unreal Engine 5 se parecen. El debate es justamente lo interesante: ¿la culpa es de la herramienta o de cómo se usa?
Opcional: pegar encima de las miniaturas capturas de dos o tres juegos de Unreal Engine 5 con paisajes realistas, para que el grupo juzgue si se parecen.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causas son las que más se repiten en los foros: los ajustes por defecto (iluminación automática, el mismo mapeo de tonos «cinematográfico»), los recursos compartidos (bibliotecas como Megascans) y la comodidad.
La frase de abajo es la clave de toda la historia: la herramienta no tiene la culpa. Decide quien la usa… o quien deja de decidir.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Clair Obscur: Expedition 33 (Sandfall Interactive, 2025) usa Unreal Engine 5, Lumen y Nanite, como tantos otros. La diferencia: una dirección artística muy personal, de inspiración surrealista y Belle Époque.
Resultado: Juego del Año en The Game Awards 2025, con 9 premios de 13 nominaciones (récord), entre ellos mejor dirección artística, mejor dirección de juego y mejor narrativa.
El propio director técnico avisó de que usar Unreal Engine 5 «puede ser una trampa» (titular de Creative Bloq): la gente espera calidad de gran estudio en todo. La herramienta da el acabado; lo que hace único al juego lo pone el equipo.
Para la captura: kit de prensa oficial de Sandfall Interactive o la página del juego en Steam o PlayStation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puente. Dejar que alguien del grupo intente responderla antes de pasar.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Cómo explicarlo: 293 personas escribieron un relato de unas ocho frases. Unas lo escribieron solas; otras recibieron una idea de una IA, o hasta cinco, para inspirarse. Luego 600 personas los puntuaron del 1 al 9 en originalidad y utilidad, sin saber quién había usado IA.</a:t>
            </a:r>
          </a:p>
          <a:p>
            <a:endParaRPr/>
          </a:p>
          <a:p>
            <a:r>
              <a:t>Bloque izquierdo: con ideas de la IA, la nota media subió alrededor de un 8–9 %. Para hacerse una idea, es como pasar de un 5 a un 5,4. Una mejora pequeña, pero real. A quien más ayudó fue a los menos creativos.</a:t>
            </a:r>
          </a:p>
          <a:p>
            <a:endParaRPr/>
          </a:p>
          <a:p>
            <a:r>
              <a:t>Bloque derecho: un ordenador midió cuánto se parecían los relatos entre sí. Los hechos con ideas de la IA se parecían bastante más: todos tiraban hacia las mismas ideas, como si cada uno hubiera copiado un poco del mismo compañero.</a:t>
            </a:r>
          </a:p>
          <a:p>
            <a:endParaRPr/>
          </a:p>
          <a:p>
            <a:r>
              <a:t>Cifras exactas por si alguien pregunta: con cinco ideas de la IA, +8,1 % en originalidad y +9,0 % en utilidad respecto a quienes escribieron solos (en los menos creativos, +10,7 % y +11,5 %). El aumento del parecido entre relatos equivale al 10,7 % del rango de variación de los relatos escritos sin IA (con una idea; 8,9 % con cinco). No es «un 11 % más parecidos»: es una medida técnica, por eso no se pone en la diapositiva.</a:t>
            </a:r>
          </a:p>
          <a:p>
            <a:endParaRPr/>
          </a:p>
          <a:p>
            <a:r>
              <a:t>Ojo: la IA no lo hizo peor. Ayudó a cada persona. El problema aparece al mirar el conjunto.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lo llaman un dilema social: a cada uno le conviene usar la IA, pero si todos la usamos igual, el conjunto se empobrece.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Conectar con la búsqueda de empleo: si todo el mundo escribe su carta de presentación con la misma IA y el mismo prompt, todas suenan igual. Lo que diferencia es lo que pone cada persona.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la regla del curso y con el Ejercicio 1: lo comprobaremos comparando las ideas del grupo con las de la IA. No adelantar quién gana: lo dirán los datos del propio grupo.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opiniones de foros (ResetEra, Steam) reflejan la percepción de jugadores, no un estudio. El estudio de Science Advances sí es una investigación revisada por pares.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5.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8" Type="http://schemas.openxmlformats.org/officeDocument/2006/relationships/hyperlink" Target="https://www.resetera.com/threads/im-already-starting-to-feel-tired-of-unreal-engine-5.1487680/" TargetMode="External"/><Relationship Id="rId3" Type="http://schemas.openxmlformats.org/officeDocument/2006/relationships/image" Target="../media/image18.png"/><Relationship Id="rId7" Type="http://schemas.openxmlformats.org/officeDocument/2006/relationships/hyperlink" Target="https://www.windowscentral.com/gaming/the-game-awards-2025-winne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hyperlink" Target="https://creativebloq.com/3d/video-game-design/using-unreal-engine-5-can-be-a-trap-says-the-dev-behind-clair-obscur-expedition-33" TargetMode="External"/><Relationship Id="rId5" Type="http://schemas.openxmlformats.org/officeDocument/2006/relationships/hyperlink" Target="https://en.wikipedia.org/wiki/Unreal_Engine_5" TargetMode="External"/><Relationship Id="rId4" Type="http://schemas.openxmlformats.org/officeDocument/2006/relationships/hyperlink" Target="https://pmc.ncbi.nlm.nih.gov/articles/PMC1124453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Misma herramienta, mismo resultado</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Lo que Unreal Engine 5 y </a:t>
            </a:r>
            <a:r>
              <a:rPr lang="en-US" sz="2000" dirty="0" err="1">
                <a:solidFill>
                  <a:schemeClr val="accent1"/>
                </a:solidFill>
              </a:rPr>
              <a:t>unos</a:t>
            </a:r>
            <a:r>
              <a:rPr lang="en-US" sz="2000" dirty="0">
                <a:solidFill>
                  <a:schemeClr val="accent1"/>
                </a:solidFill>
              </a:rPr>
              <a:t> relators </a:t>
            </a:r>
            <a:r>
              <a:rPr lang="en-US" sz="2000" dirty="0" err="1">
                <a:solidFill>
                  <a:schemeClr val="accent1"/>
                </a:solidFill>
              </a:rPr>
              <a:t>cortos</a:t>
            </a:r>
            <a:r>
              <a:rPr lang="en-US" sz="2000" dirty="0">
                <a:solidFill>
                  <a:schemeClr val="accent1"/>
                </a:solidFill>
              </a:rPr>
              <a:t> </a:t>
            </a:r>
            <a:r>
              <a:rPr lang="en-US" sz="2000" dirty="0" err="1">
                <a:solidFill>
                  <a:schemeClr val="accent1"/>
                </a:solidFill>
              </a:rPr>
              <a:t>nos</a:t>
            </a:r>
            <a:r>
              <a:rPr lang="en-US" sz="2000" dirty="0">
                <a:solidFill>
                  <a:schemeClr val="accent1"/>
                </a:solidFill>
              </a:rPr>
              <a:t> enseña sobre la IA y la creatividad</a:t>
            </a:r>
            <a:endParaRPr lang="en-US" sz="2000" dirty="0"/>
          </a:p>
        </p:txBody>
      </p:sp>
      <p:sp>
        <p:nvSpPr>
          <p:cNvPr id="4" name="Mando"/>
          <p:cNvSpPr/>
          <p:nvPr/>
        </p:nvSpPr>
        <p:spPr>
          <a:xfrm>
            <a:off x="8869680" y="1828800"/>
            <a:ext cx="2743200" cy="2743200"/>
          </a:xfrm>
          <a:prstGeom prst="ellipse">
            <a:avLst/>
          </a:prstGeom>
          <a:solidFill>
            <a:schemeClr val="accent1"/>
          </a:solidFill>
          <a:ln/>
        </p:spPr>
      </p:sp>
      <p:pic>
        <p:nvPicPr>
          <p:cNvPr id="5" name="Image 0" descr="Mando"/>
          <p:cNvPicPr>
            <a:picLocks noChangeAspect="1"/>
          </p:cNvPicPr>
          <p:nvPr/>
        </p:nvPicPr>
        <p:blipFill>
          <a:blip r:embed="rId3"/>
          <a:stretch>
            <a:fillRect/>
          </a:stretch>
        </p:blipFill>
        <p:spPr>
          <a:xfrm>
            <a:off x="9528048" y="2487168"/>
            <a:ext cx="1426464" cy="1426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si la mejor herramienta del mercado</a:t>
            </a:r>
            <a:endParaRPr lang="en-US" sz="3400" dirty="0"/>
          </a:p>
          <a:p>
            <a:pPr marL="0" indent="0">
              <a:buNone/>
            </a:pPr>
            <a:r>
              <a:rPr lang="en-US" sz="3400" b="1" dirty="0">
                <a:solidFill>
                  <a:schemeClr val="accent1"/>
                </a:solidFill>
              </a:rPr>
              <a:t>hiciera que todos los resultados se parecieran?</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Unreal Engine 5: un salto enorme</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programa con el que se hacen muchos videojuegos actuales. Tres novedades lo cambiaron todo:</a:t>
            </a:r>
            <a:endParaRPr lang="en-US" sz="1900" dirty="0"/>
          </a:p>
        </p:txBody>
      </p:sp>
      <p:sp>
        <p:nvSpPr>
          <p:cNvPr id="4" name="Tarjeta"/>
          <p:cNvSpPr/>
          <p:nvPr/>
        </p:nvSpPr>
        <p:spPr>
          <a:xfrm>
            <a:off x="548640" y="2011680"/>
            <a:ext cx="3454298" cy="2468880"/>
          </a:xfrm>
          <a:prstGeom prst="roundRect">
            <a:avLst>
              <a:gd name="adj" fmla="val 5556"/>
            </a:avLst>
          </a:prstGeom>
          <a:solidFill>
            <a:schemeClr val="bg2"/>
          </a:solidFill>
          <a:ln/>
        </p:spPr>
      </p:sp>
      <p:sp>
        <p:nvSpPr>
          <p:cNvPr id="5" name="Lumen"/>
          <p:cNvSpPr/>
          <p:nvPr/>
        </p:nvSpPr>
        <p:spPr>
          <a:xfrm>
            <a:off x="868680" y="2286000"/>
            <a:ext cx="914400" cy="914400"/>
          </a:xfrm>
          <a:prstGeom prst="ellipse">
            <a:avLst/>
          </a:prstGeom>
          <a:solidFill>
            <a:schemeClr val="accent1"/>
          </a:solidFill>
          <a:ln/>
        </p:spPr>
      </p:sp>
      <p:pic>
        <p:nvPicPr>
          <p:cNvPr id="6" name="Image 0" descr="Lumen"/>
          <p:cNvPicPr>
            <a:picLocks noChangeAspect="1"/>
          </p:cNvPicPr>
          <p:nvPr/>
        </p:nvPicPr>
        <p:blipFill>
          <a:blip r:embed="rId3"/>
          <a:stretch>
            <a:fillRect/>
          </a:stretch>
        </p:blipFill>
        <p:spPr>
          <a:xfrm>
            <a:off x="1088136" y="2505456"/>
            <a:ext cx="475488" cy="475488"/>
          </a:xfrm>
          <a:prstGeom prst="rect">
            <a:avLst/>
          </a:prstGeom>
        </p:spPr>
      </p:pic>
      <p:sp>
        <p:nvSpPr>
          <p:cNvPr id="7" name="Text 4"/>
          <p:cNvSpPr txBox="1"/>
          <p:nvPr/>
        </p:nvSpPr>
        <p:spPr>
          <a:xfrm>
            <a:off x="1965960"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Lumen</a:t>
            </a:r>
            <a:endParaRPr lang="en-US" sz="2600" dirty="0"/>
          </a:p>
        </p:txBody>
      </p:sp>
      <p:sp>
        <p:nvSpPr>
          <p:cNvPr id="8" name="Text 5"/>
          <p:cNvSpPr txBox="1"/>
          <p:nvPr/>
        </p:nvSpPr>
        <p:spPr>
          <a:xfrm>
            <a:off x="868680"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La luz, las sombras y los reflejos se calculan solos y en tiempo real.</a:t>
            </a:r>
            <a:endParaRPr lang="en-US" sz="1800" dirty="0"/>
          </a:p>
        </p:txBody>
      </p:sp>
      <p:sp>
        <p:nvSpPr>
          <p:cNvPr id="9" name="Tarjeta"/>
          <p:cNvSpPr/>
          <p:nvPr/>
        </p:nvSpPr>
        <p:spPr>
          <a:xfrm>
            <a:off x="4368698" y="2011680"/>
            <a:ext cx="3454298" cy="2468880"/>
          </a:xfrm>
          <a:prstGeom prst="roundRect">
            <a:avLst>
              <a:gd name="adj" fmla="val 5556"/>
            </a:avLst>
          </a:prstGeom>
          <a:solidFill>
            <a:schemeClr val="bg2"/>
          </a:solidFill>
          <a:ln/>
        </p:spPr>
      </p:sp>
      <p:sp>
        <p:nvSpPr>
          <p:cNvPr id="10" name="Nanite"/>
          <p:cNvSpPr/>
          <p:nvPr/>
        </p:nvSpPr>
        <p:spPr>
          <a:xfrm>
            <a:off x="4688738" y="2286000"/>
            <a:ext cx="914400" cy="914400"/>
          </a:xfrm>
          <a:prstGeom prst="ellipse">
            <a:avLst/>
          </a:prstGeom>
          <a:solidFill>
            <a:schemeClr val="accent3"/>
          </a:solidFill>
          <a:ln/>
        </p:spPr>
      </p:sp>
      <p:pic>
        <p:nvPicPr>
          <p:cNvPr id="11" name="Image 1" descr="Nanite"/>
          <p:cNvPicPr>
            <a:picLocks noChangeAspect="1"/>
          </p:cNvPicPr>
          <p:nvPr/>
        </p:nvPicPr>
        <p:blipFill>
          <a:blip r:embed="rId4"/>
          <a:stretch>
            <a:fillRect/>
          </a:stretch>
        </p:blipFill>
        <p:spPr>
          <a:xfrm>
            <a:off x="4908194" y="2505456"/>
            <a:ext cx="475488" cy="475488"/>
          </a:xfrm>
          <a:prstGeom prst="rect">
            <a:avLst/>
          </a:prstGeom>
        </p:spPr>
      </p:pic>
      <p:sp>
        <p:nvSpPr>
          <p:cNvPr id="12" name="Text 8"/>
          <p:cNvSpPr txBox="1"/>
          <p:nvPr/>
        </p:nvSpPr>
        <p:spPr>
          <a:xfrm>
            <a:off x="5786018"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Nanite</a:t>
            </a:r>
            <a:endParaRPr lang="en-US" sz="2600" dirty="0"/>
          </a:p>
        </p:txBody>
      </p:sp>
      <p:sp>
        <p:nvSpPr>
          <p:cNvPr id="13" name="Text 9"/>
          <p:cNvSpPr txBox="1"/>
          <p:nvPr/>
        </p:nvSpPr>
        <p:spPr>
          <a:xfrm>
            <a:off x="4688738"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Objetos con un detalle casi ilimitado, incluso escaneados del mundo real.</a:t>
            </a:r>
            <a:endParaRPr lang="en-US" sz="1800" dirty="0"/>
          </a:p>
        </p:txBody>
      </p:sp>
      <p:sp>
        <p:nvSpPr>
          <p:cNvPr id="14" name="Tarjeta"/>
          <p:cNvSpPr/>
          <p:nvPr/>
        </p:nvSpPr>
        <p:spPr>
          <a:xfrm>
            <a:off x="8188757" y="2011680"/>
            <a:ext cx="3454298" cy="2468880"/>
          </a:xfrm>
          <a:prstGeom prst="roundRect">
            <a:avLst>
              <a:gd name="adj" fmla="val 5556"/>
            </a:avLst>
          </a:prstGeom>
          <a:solidFill>
            <a:schemeClr val="bg2"/>
          </a:solidFill>
          <a:ln/>
        </p:spPr>
      </p:sp>
      <p:sp>
        <p:nvSpPr>
          <p:cNvPr id="15" name="Megascans"/>
          <p:cNvSpPr/>
          <p:nvPr/>
        </p:nvSpPr>
        <p:spPr>
          <a:xfrm>
            <a:off x="8508797" y="2286000"/>
            <a:ext cx="914400" cy="914400"/>
          </a:xfrm>
          <a:prstGeom prst="ellipse">
            <a:avLst/>
          </a:prstGeom>
          <a:solidFill>
            <a:schemeClr val="accent4"/>
          </a:solidFill>
          <a:ln/>
        </p:spPr>
      </p:sp>
      <p:pic>
        <p:nvPicPr>
          <p:cNvPr id="16" name="Image 2" descr="Megascans"/>
          <p:cNvPicPr>
            <a:picLocks noChangeAspect="1"/>
          </p:cNvPicPr>
          <p:nvPr/>
        </p:nvPicPr>
        <p:blipFill>
          <a:blip r:embed="rId5"/>
          <a:stretch>
            <a:fillRect/>
          </a:stretch>
        </p:blipFill>
        <p:spPr>
          <a:xfrm>
            <a:off x="8728253" y="2505456"/>
            <a:ext cx="475488" cy="475488"/>
          </a:xfrm>
          <a:prstGeom prst="rect">
            <a:avLst/>
          </a:prstGeom>
        </p:spPr>
      </p:pic>
      <p:sp>
        <p:nvSpPr>
          <p:cNvPr id="17" name="Text 12"/>
          <p:cNvSpPr txBox="1"/>
          <p:nvPr/>
        </p:nvSpPr>
        <p:spPr>
          <a:xfrm>
            <a:off x="9606077"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Megascans</a:t>
            </a:r>
            <a:endParaRPr lang="en-US" sz="2600" dirty="0"/>
          </a:p>
        </p:txBody>
      </p:sp>
      <p:sp>
        <p:nvSpPr>
          <p:cNvPr id="18" name="Text 13"/>
          <p:cNvSpPr txBox="1"/>
          <p:nvPr/>
        </p:nvSpPr>
        <p:spPr>
          <a:xfrm>
            <a:off x="8508797"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Una biblioteca enorme de rocas, árboles y texturas escaneadas, lista para usar.</a:t>
            </a:r>
            <a:endParaRPr lang="en-US" sz="1800" dirty="0"/>
          </a:p>
        </p:txBody>
      </p:sp>
      <p:sp>
        <p:nvSpPr>
          <p:cNvPr id="19" name="Shape 14"/>
          <p:cNvSpPr/>
          <p:nvPr/>
        </p:nvSpPr>
        <p:spPr>
          <a:xfrm>
            <a:off x="731520" y="5074920"/>
            <a:ext cx="10728655" cy="0"/>
          </a:xfrm>
          <a:prstGeom prst="line">
            <a:avLst/>
          </a:prstGeom>
          <a:noFill/>
          <a:ln w="50800">
            <a:solidFill>
              <a:srgbClr val="F2F4F8"/>
            </a:solidFill>
            <a:prstDash val="solid"/>
          </a:ln>
        </p:spPr>
      </p:sp>
      <p:sp>
        <p:nvSpPr>
          <p:cNvPr id="20" name="Hito"/>
          <p:cNvSpPr/>
          <p:nvPr/>
        </p:nvSpPr>
        <p:spPr>
          <a:xfrm>
            <a:off x="1816570" y="4956048"/>
            <a:ext cx="237744" cy="237744"/>
          </a:xfrm>
          <a:prstGeom prst="ellipse">
            <a:avLst/>
          </a:prstGeom>
          <a:solidFill>
            <a:schemeClr val="tx1"/>
          </a:solidFill>
          <a:ln/>
        </p:spPr>
      </p:sp>
      <p:sp>
        <p:nvSpPr>
          <p:cNvPr id="21" name="Text 16"/>
          <p:cNvSpPr txBox="1"/>
          <p:nvPr/>
        </p:nvSpPr>
        <p:spPr>
          <a:xfrm>
            <a:off x="548640"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2020</a:t>
            </a:r>
            <a:endParaRPr lang="en-US" sz="1400" dirty="0"/>
          </a:p>
          <a:p>
            <a:pPr marL="0" indent="0" algn="ctr">
              <a:buNone/>
            </a:pPr>
            <a:r>
              <a:rPr lang="en-US" sz="1400" dirty="0">
                <a:solidFill>
                  <a:schemeClr val="tx1"/>
                </a:solidFill>
              </a:rPr>
              <a:t>Presentación</a:t>
            </a:r>
            <a:endParaRPr lang="en-US" sz="1400" dirty="0"/>
          </a:p>
        </p:txBody>
      </p:sp>
      <p:sp>
        <p:nvSpPr>
          <p:cNvPr id="22" name="Hito"/>
          <p:cNvSpPr/>
          <p:nvPr/>
        </p:nvSpPr>
        <p:spPr>
          <a:xfrm>
            <a:off x="4590174" y="4956048"/>
            <a:ext cx="237744" cy="237744"/>
          </a:xfrm>
          <a:prstGeom prst="ellipse">
            <a:avLst/>
          </a:prstGeom>
          <a:solidFill>
            <a:schemeClr val="tx1"/>
          </a:solidFill>
          <a:ln/>
        </p:spPr>
      </p:sp>
      <p:sp>
        <p:nvSpPr>
          <p:cNvPr id="23" name="Text 18"/>
          <p:cNvSpPr txBox="1"/>
          <p:nvPr/>
        </p:nvSpPr>
        <p:spPr>
          <a:xfrm>
            <a:off x="3322244"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2021</a:t>
            </a:r>
            <a:endParaRPr lang="en-US" sz="1400" dirty="0"/>
          </a:p>
          <a:p>
            <a:pPr marL="0" indent="0" algn="ctr">
              <a:buNone/>
            </a:pPr>
            <a:r>
              <a:rPr lang="en-US" sz="1400" dirty="0">
                <a:solidFill>
                  <a:schemeClr val="tx1"/>
                </a:solidFill>
              </a:rPr>
              <a:t>Acceso anticipado</a:t>
            </a:r>
            <a:endParaRPr lang="en-US" sz="1400" dirty="0"/>
          </a:p>
        </p:txBody>
      </p:sp>
      <p:sp>
        <p:nvSpPr>
          <p:cNvPr id="24" name="Hito"/>
          <p:cNvSpPr/>
          <p:nvPr/>
        </p:nvSpPr>
        <p:spPr>
          <a:xfrm>
            <a:off x="7363778" y="4956048"/>
            <a:ext cx="237744" cy="237744"/>
          </a:xfrm>
          <a:prstGeom prst="ellipse">
            <a:avLst/>
          </a:prstGeom>
          <a:solidFill>
            <a:schemeClr val="tx1"/>
          </a:solidFill>
          <a:ln/>
        </p:spPr>
      </p:sp>
      <p:sp>
        <p:nvSpPr>
          <p:cNvPr id="25" name="Text 20"/>
          <p:cNvSpPr txBox="1"/>
          <p:nvPr/>
        </p:nvSpPr>
        <p:spPr>
          <a:xfrm>
            <a:off x="6095848"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Dic. 2021</a:t>
            </a:r>
            <a:endParaRPr lang="en-US" sz="1400" dirty="0"/>
          </a:p>
          <a:p>
            <a:pPr marL="0" indent="0" algn="ctr">
              <a:buNone/>
            </a:pPr>
            <a:r>
              <a:rPr lang="en-US" sz="1400" dirty="0">
                <a:solidFill>
                  <a:schemeClr val="tx1"/>
                </a:solidFill>
              </a:rPr>
              <a:t>Demo «The Matrix Awakens»</a:t>
            </a:r>
            <a:endParaRPr lang="en-US" sz="1400" dirty="0"/>
          </a:p>
        </p:txBody>
      </p:sp>
      <p:sp>
        <p:nvSpPr>
          <p:cNvPr id="26" name="Hito"/>
          <p:cNvSpPr/>
          <p:nvPr/>
        </p:nvSpPr>
        <p:spPr>
          <a:xfrm>
            <a:off x="10137381" y="4956048"/>
            <a:ext cx="237744" cy="237744"/>
          </a:xfrm>
          <a:prstGeom prst="ellipse">
            <a:avLst/>
          </a:prstGeom>
          <a:solidFill>
            <a:schemeClr val="tx1"/>
          </a:solidFill>
          <a:ln/>
        </p:spPr>
      </p:sp>
      <p:sp>
        <p:nvSpPr>
          <p:cNvPr id="27" name="Text 22"/>
          <p:cNvSpPr txBox="1"/>
          <p:nvPr/>
        </p:nvSpPr>
        <p:spPr>
          <a:xfrm>
            <a:off x="8869451"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Abril 2022</a:t>
            </a:r>
            <a:endParaRPr lang="en-US" sz="1400" dirty="0"/>
          </a:p>
          <a:p>
            <a:pPr marL="0" indent="0" algn="ctr">
              <a:buNone/>
            </a:pPr>
            <a:r>
              <a:rPr lang="en-US" sz="1400" dirty="0">
                <a:solidFill>
                  <a:schemeClr val="tx1"/>
                </a:solidFill>
              </a:rPr>
              <a:t>Lanzamiento</a:t>
            </a:r>
            <a:endParaRPr lang="en-US" sz="14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promesa: calidad de gran estudio para cualquiera</a:t>
            </a:r>
            <a:endParaRPr lang="en-US" sz="3200" dirty="0"/>
          </a:p>
        </p:txBody>
      </p:sp>
      <p:sp>
        <p:nvSpPr>
          <p:cNvPr id="3" name="Cita"/>
          <p:cNvSpPr/>
          <p:nvPr/>
        </p:nvSpPr>
        <p:spPr>
          <a:xfrm>
            <a:off x="548640" y="1463040"/>
            <a:ext cx="5760720" cy="2377440"/>
          </a:xfrm>
          <a:prstGeom prst="roundRect">
            <a:avLst>
              <a:gd name="adj" fmla="val 5769"/>
            </a:avLst>
          </a:prstGeom>
          <a:solidFill>
            <a:schemeClr val="tx1"/>
          </a:solidFill>
          <a:ln/>
        </p:spPr>
      </p:sp>
      <p:sp>
        <p:nvSpPr>
          <p:cNvPr id="4" name="Text 2"/>
          <p:cNvSpPr txBox="1"/>
          <p:nvPr/>
        </p:nvSpPr>
        <p:spPr>
          <a:xfrm>
            <a:off x="868680" y="1463040"/>
            <a:ext cx="5120640" cy="237744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«Esas tecnologías estaban reservadas a estudios más grandes, con grandes equipos dedicados al motor.»</a:t>
            </a:r>
            <a:endParaRPr lang="en-US" sz="1900" dirty="0"/>
          </a:p>
          <a:p>
            <a:pPr marL="0" indent="0">
              <a:spcAft>
                <a:spcPts val="600"/>
              </a:spcAft>
              <a:buNone/>
            </a:pPr>
            <a:r>
              <a:rPr lang="en-US" sz="1300" b="1" dirty="0">
                <a:solidFill>
                  <a:schemeClr val="accent1"/>
                </a:solidFill>
              </a:rPr>
              <a:t>Tom Guillermin, director técnico de Sandfall Interactive (equipo de unas 30 personas)</a:t>
            </a:r>
            <a:endParaRPr lang="en-US" sz="1900" dirty="0"/>
          </a:p>
        </p:txBody>
      </p:sp>
      <p:sp>
        <p:nvSpPr>
          <p:cNvPr id="5" name="Punto"/>
          <p:cNvSpPr/>
          <p:nvPr/>
        </p:nvSpPr>
        <p:spPr>
          <a:xfrm>
            <a:off x="548640" y="4160520"/>
            <a:ext cx="685800" cy="685800"/>
          </a:xfrm>
          <a:prstGeom prst="ellipse">
            <a:avLst/>
          </a:prstGeom>
          <a:solidFill>
            <a:schemeClr val="tx2"/>
          </a:solidFill>
          <a:ln/>
        </p:spPr>
      </p:sp>
      <p:pic>
        <p:nvPicPr>
          <p:cNvPr id="6" name="Image 0" descr="Punto"/>
          <p:cNvPicPr>
            <a:picLocks noChangeAspect="1"/>
          </p:cNvPicPr>
          <p:nvPr/>
        </p:nvPicPr>
        <p:blipFill>
          <a:blip r:embed="rId3"/>
          <a:stretch>
            <a:fillRect/>
          </a:stretch>
        </p:blipFill>
        <p:spPr>
          <a:xfrm>
            <a:off x="713232" y="4325112"/>
            <a:ext cx="356616" cy="356616"/>
          </a:xfrm>
          <a:prstGeom prst="rect">
            <a:avLst/>
          </a:prstGeom>
        </p:spPr>
      </p:pic>
      <p:sp>
        <p:nvSpPr>
          <p:cNvPr id="7" name="Text 4"/>
          <p:cNvSpPr txBox="1"/>
          <p:nvPr/>
        </p:nvSpPr>
        <p:spPr>
          <a:xfrm>
            <a:off x="1463040" y="4160520"/>
            <a:ext cx="4846320" cy="685800"/>
          </a:xfrm>
          <a:prstGeom prst="rect">
            <a:avLst/>
          </a:prstGeom>
          <a:noFill/>
          <a:ln/>
        </p:spPr>
        <p:txBody>
          <a:bodyPr wrap="square" lIns="0" tIns="0" rIns="0" bIns="0" rtlCol="0" anchor="ctr"/>
          <a:lstStyle/>
          <a:p>
            <a:pPr marL="0" indent="0">
              <a:buNone/>
            </a:pPr>
            <a:r>
              <a:rPr lang="en-US" sz="1700" dirty="0">
                <a:solidFill>
                  <a:schemeClr val="tx1"/>
                </a:solidFill>
              </a:rPr>
              <a:t>Un equipo pequeño, o una sola persona en su casa, puede conseguir imágenes casi fotorrealistas.</a:t>
            </a:r>
            <a:endParaRPr lang="en-US" sz="1700" dirty="0"/>
          </a:p>
        </p:txBody>
      </p:sp>
      <p:sp>
        <p:nvSpPr>
          <p:cNvPr id="8" name="Punto"/>
          <p:cNvSpPr/>
          <p:nvPr/>
        </p:nvSpPr>
        <p:spPr>
          <a:xfrm>
            <a:off x="548640" y="5074920"/>
            <a:ext cx="685800" cy="685800"/>
          </a:xfrm>
          <a:prstGeom prst="ellipse">
            <a:avLst/>
          </a:prstGeom>
          <a:solidFill>
            <a:schemeClr val="tx2"/>
          </a:solidFill>
          <a:ln/>
        </p:spPr>
      </p:sp>
      <p:pic>
        <p:nvPicPr>
          <p:cNvPr id="9" name="Image 1" descr="Punto"/>
          <p:cNvPicPr>
            <a:picLocks noChangeAspect="1"/>
          </p:cNvPicPr>
          <p:nvPr/>
        </p:nvPicPr>
        <p:blipFill>
          <a:blip r:embed="rId4"/>
          <a:stretch>
            <a:fillRect/>
          </a:stretch>
        </p:blipFill>
        <p:spPr>
          <a:xfrm>
            <a:off x="713232" y="5239512"/>
            <a:ext cx="356616" cy="356616"/>
          </a:xfrm>
          <a:prstGeom prst="rect">
            <a:avLst/>
          </a:prstGeom>
        </p:spPr>
      </p:pic>
      <p:sp>
        <p:nvSpPr>
          <p:cNvPr id="10" name="Text 6"/>
          <p:cNvSpPr txBox="1"/>
          <p:nvPr/>
        </p:nvSpPr>
        <p:spPr>
          <a:xfrm>
            <a:off x="1463040" y="5074920"/>
            <a:ext cx="4846320" cy="685800"/>
          </a:xfrm>
          <a:prstGeom prst="rect">
            <a:avLst/>
          </a:prstGeom>
          <a:noFill/>
          <a:ln/>
        </p:spPr>
        <p:txBody>
          <a:bodyPr wrap="square" lIns="0" tIns="0" rIns="0" bIns="0" rtlCol="0" anchor="ctr"/>
          <a:lstStyle/>
          <a:p>
            <a:pPr marL="0" indent="0">
              <a:buNone/>
            </a:pPr>
            <a:r>
              <a:rPr lang="en-US" sz="1700" dirty="0">
                <a:solidFill>
                  <a:schemeClr val="tx1"/>
                </a:solidFill>
              </a:rPr>
              <a:t>Lo que antes costaba meses de trabajo especializado, ahora viene hecho.</a:t>
            </a:r>
            <a:endParaRPr lang="en-US" sz="1700" dirty="0"/>
          </a:p>
        </p:txBody>
      </p:sp>
      <p:sp>
        <p:nvSpPr>
          <p:cNvPr id="11" name="Hueco para captura"/>
          <p:cNvSpPr/>
          <p:nvPr/>
        </p:nvSpPr>
        <p:spPr>
          <a:xfrm>
            <a:off x="6675120" y="1463040"/>
            <a:ext cx="4967935" cy="4343400"/>
          </a:xfrm>
          <a:prstGeom prst="roundRect">
            <a:avLst>
              <a:gd name="adj" fmla="val 2526"/>
            </a:avLst>
          </a:prstGeom>
          <a:solidFill>
            <a:schemeClr val="bg2"/>
          </a:solidFill>
          <a:ln w="19050">
            <a:solidFill>
              <a:srgbClr val="8A94A6"/>
            </a:solidFill>
            <a:prstDash val="dash"/>
          </a:ln>
        </p:spPr>
      </p:sp>
      <p:sp>
        <p:nvSpPr>
          <p:cNvPr id="12" name="Captura"/>
          <p:cNvSpPr/>
          <p:nvPr/>
        </p:nvSpPr>
        <p:spPr>
          <a:xfrm>
            <a:off x="8793328" y="2857500"/>
            <a:ext cx="731520" cy="731520"/>
          </a:xfrm>
          <a:prstGeom prst="ellipse">
            <a:avLst/>
          </a:prstGeom>
          <a:solidFill>
            <a:schemeClr val="accent5"/>
          </a:solidFill>
          <a:ln/>
        </p:spPr>
      </p:sp>
      <p:pic>
        <p:nvPicPr>
          <p:cNvPr id="13" name="Image 2" descr="Captura"/>
          <p:cNvPicPr>
            <a:picLocks noChangeAspect="1"/>
          </p:cNvPicPr>
          <p:nvPr/>
        </p:nvPicPr>
        <p:blipFill>
          <a:blip r:embed="rId5"/>
          <a:stretch>
            <a:fillRect/>
          </a:stretch>
        </p:blipFill>
        <p:spPr>
          <a:xfrm>
            <a:off x="8968892" y="3033065"/>
            <a:ext cx="380390" cy="380390"/>
          </a:xfrm>
          <a:prstGeom prst="rect">
            <a:avLst/>
          </a:prstGeom>
        </p:spPr>
      </p:pic>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a:t>
            </a:fld>
            <a:endParaRPr lang="en-US"/>
          </a:p>
        </p:txBody>
      </p:sp>
      <p:pic>
        <p:nvPicPr>
          <p:cNvPr id="15" name="Imagen 14" descr="The Matrix Awakens Set To Be Delisted July 9th - Hey Poor Player">
            <a:extLst>
              <a:ext uri="{FF2B5EF4-FFF2-40B4-BE49-F238E27FC236}">
                <a16:creationId xmlns:a16="http://schemas.microsoft.com/office/drawing/2014/main" id="{3CA15AE1-7B7B-973A-CB9F-FE6BF5D3C07E}"/>
              </a:ext>
            </a:extLst>
          </p:cNvPr>
          <p:cNvPicPr>
            <a:picLocks noChangeAspect="1"/>
          </p:cNvPicPr>
          <p:nvPr/>
        </p:nvPicPr>
        <p:blipFill>
          <a:blip r:embed="rId6"/>
          <a:srcRect l="20582" r="18126"/>
          <a:stretch>
            <a:fillRect/>
          </a:stretch>
        </p:blipFill>
        <p:spPr>
          <a:xfrm>
            <a:off x="6675120" y="1440692"/>
            <a:ext cx="4967935" cy="45592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pasó después</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Muchísimos juegos dejaron que el motor decidiera la luz y el aspecto… y los jugadores empezaron a notarlo:</a:t>
            </a:r>
            <a:endParaRPr lang="en-US" sz="1900" dirty="0"/>
          </a:p>
        </p:txBody>
      </p:sp>
      <p:sp>
        <p:nvSpPr>
          <p:cNvPr id="4" name="Miniatura"/>
          <p:cNvSpPr/>
          <p:nvPr/>
        </p:nvSpPr>
        <p:spPr>
          <a:xfrm>
            <a:off x="548640" y="2057400"/>
            <a:ext cx="1554480" cy="960120"/>
          </a:xfrm>
          <a:prstGeom prst="rect">
            <a:avLst/>
          </a:prstGeom>
          <a:solidFill>
            <a:schemeClr val="tx2"/>
          </a:solidFill>
          <a:ln/>
        </p:spPr>
      </p:sp>
      <p:sp>
        <p:nvSpPr>
          <p:cNvPr id="5" name="Sol"/>
          <p:cNvSpPr/>
          <p:nvPr/>
        </p:nvSpPr>
        <p:spPr>
          <a:xfrm>
            <a:off x="1605686" y="2172614"/>
            <a:ext cx="248717" cy="248717"/>
          </a:xfrm>
          <a:prstGeom prst="ellipse">
            <a:avLst/>
          </a:prstGeom>
          <a:solidFill>
            <a:schemeClr val="accent5"/>
          </a:solidFill>
          <a:ln/>
        </p:spPr>
      </p:sp>
      <p:sp>
        <p:nvSpPr>
          <p:cNvPr id="6" name="Montaña"/>
          <p:cNvSpPr/>
          <p:nvPr/>
        </p:nvSpPr>
        <p:spPr>
          <a:xfrm>
            <a:off x="672998" y="2345436"/>
            <a:ext cx="963778" cy="499262"/>
          </a:xfrm>
          <a:prstGeom prst="triangle">
            <a:avLst/>
          </a:prstGeom>
          <a:solidFill>
            <a:schemeClr val="bg2"/>
          </a:solidFill>
          <a:ln/>
        </p:spPr>
      </p:sp>
      <p:sp>
        <p:nvSpPr>
          <p:cNvPr id="7" name="Suelo"/>
          <p:cNvSpPr/>
          <p:nvPr/>
        </p:nvSpPr>
        <p:spPr>
          <a:xfrm>
            <a:off x="548640" y="2806294"/>
            <a:ext cx="1554480" cy="211226"/>
          </a:xfrm>
          <a:prstGeom prst="rect">
            <a:avLst/>
          </a:prstGeom>
          <a:solidFill>
            <a:schemeClr val="tx1"/>
          </a:solidFill>
          <a:ln/>
        </p:spPr>
      </p:sp>
      <p:sp>
        <p:nvSpPr>
          <p:cNvPr id="8" name="Miniatura"/>
          <p:cNvSpPr/>
          <p:nvPr/>
        </p:nvSpPr>
        <p:spPr>
          <a:xfrm>
            <a:off x="2286000" y="2057400"/>
            <a:ext cx="1554480" cy="960120"/>
          </a:xfrm>
          <a:prstGeom prst="rect">
            <a:avLst/>
          </a:prstGeom>
          <a:solidFill>
            <a:schemeClr val="tx2"/>
          </a:solidFill>
          <a:ln/>
        </p:spPr>
      </p:sp>
      <p:sp>
        <p:nvSpPr>
          <p:cNvPr id="9" name="Sol"/>
          <p:cNvSpPr/>
          <p:nvPr/>
        </p:nvSpPr>
        <p:spPr>
          <a:xfrm>
            <a:off x="3343046" y="2172614"/>
            <a:ext cx="248717" cy="248717"/>
          </a:xfrm>
          <a:prstGeom prst="ellipse">
            <a:avLst/>
          </a:prstGeom>
          <a:solidFill>
            <a:schemeClr val="accent5"/>
          </a:solidFill>
          <a:ln/>
        </p:spPr>
      </p:sp>
      <p:sp>
        <p:nvSpPr>
          <p:cNvPr id="10" name="Montaña"/>
          <p:cNvSpPr/>
          <p:nvPr/>
        </p:nvSpPr>
        <p:spPr>
          <a:xfrm>
            <a:off x="2410358" y="2345436"/>
            <a:ext cx="963778" cy="499262"/>
          </a:xfrm>
          <a:prstGeom prst="triangle">
            <a:avLst/>
          </a:prstGeom>
          <a:solidFill>
            <a:schemeClr val="bg2"/>
          </a:solidFill>
          <a:ln/>
        </p:spPr>
      </p:sp>
      <p:sp>
        <p:nvSpPr>
          <p:cNvPr id="11" name="Suelo"/>
          <p:cNvSpPr/>
          <p:nvPr/>
        </p:nvSpPr>
        <p:spPr>
          <a:xfrm>
            <a:off x="2286000" y="2806294"/>
            <a:ext cx="1554480" cy="211226"/>
          </a:xfrm>
          <a:prstGeom prst="rect">
            <a:avLst/>
          </a:prstGeom>
          <a:solidFill>
            <a:schemeClr val="tx1"/>
          </a:solidFill>
          <a:ln/>
        </p:spPr>
      </p:sp>
      <p:sp>
        <p:nvSpPr>
          <p:cNvPr id="12" name="Miniatura"/>
          <p:cNvSpPr/>
          <p:nvPr/>
        </p:nvSpPr>
        <p:spPr>
          <a:xfrm>
            <a:off x="4023360" y="2057400"/>
            <a:ext cx="1554480" cy="960120"/>
          </a:xfrm>
          <a:prstGeom prst="rect">
            <a:avLst/>
          </a:prstGeom>
          <a:solidFill>
            <a:schemeClr val="tx2"/>
          </a:solidFill>
          <a:ln/>
        </p:spPr>
      </p:sp>
      <p:sp>
        <p:nvSpPr>
          <p:cNvPr id="13" name="Sol"/>
          <p:cNvSpPr/>
          <p:nvPr/>
        </p:nvSpPr>
        <p:spPr>
          <a:xfrm>
            <a:off x="5080406" y="2172614"/>
            <a:ext cx="248717" cy="248717"/>
          </a:xfrm>
          <a:prstGeom prst="ellipse">
            <a:avLst/>
          </a:prstGeom>
          <a:solidFill>
            <a:schemeClr val="accent5"/>
          </a:solidFill>
          <a:ln/>
        </p:spPr>
      </p:sp>
      <p:sp>
        <p:nvSpPr>
          <p:cNvPr id="14" name="Montaña"/>
          <p:cNvSpPr/>
          <p:nvPr/>
        </p:nvSpPr>
        <p:spPr>
          <a:xfrm>
            <a:off x="4147718" y="2345436"/>
            <a:ext cx="963778" cy="499262"/>
          </a:xfrm>
          <a:prstGeom prst="triangle">
            <a:avLst/>
          </a:prstGeom>
          <a:solidFill>
            <a:schemeClr val="bg2"/>
          </a:solidFill>
          <a:ln/>
        </p:spPr>
      </p:sp>
      <p:sp>
        <p:nvSpPr>
          <p:cNvPr id="15" name="Suelo"/>
          <p:cNvSpPr/>
          <p:nvPr/>
        </p:nvSpPr>
        <p:spPr>
          <a:xfrm>
            <a:off x="4023360" y="2806294"/>
            <a:ext cx="1554480" cy="211226"/>
          </a:xfrm>
          <a:prstGeom prst="rect">
            <a:avLst/>
          </a:prstGeom>
          <a:solidFill>
            <a:schemeClr val="tx1"/>
          </a:solidFill>
          <a:ln/>
        </p:spPr>
      </p:sp>
      <p:sp>
        <p:nvSpPr>
          <p:cNvPr id="16" name="Miniatura"/>
          <p:cNvSpPr/>
          <p:nvPr/>
        </p:nvSpPr>
        <p:spPr>
          <a:xfrm>
            <a:off x="548640" y="3200400"/>
            <a:ext cx="1554480" cy="960120"/>
          </a:xfrm>
          <a:prstGeom prst="rect">
            <a:avLst/>
          </a:prstGeom>
          <a:solidFill>
            <a:schemeClr val="tx2"/>
          </a:solidFill>
          <a:ln/>
        </p:spPr>
      </p:sp>
      <p:sp>
        <p:nvSpPr>
          <p:cNvPr id="17" name="Sol"/>
          <p:cNvSpPr/>
          <p:nvPr/>
        </p:nvSpPr>
        <p:spPr>
          <a:xfrm>
            <a:off x="1605686" y="3315614"/>
            <a:ext cx="248717" cy="248717"/>
          </a:xfrm>
          <a:prstGeom prst="ellipse">
            <a:avLst/>
          </a:prstGeom>
          <a:solidFill>
            <a:schemeClr val="accent5"/>
          </a:solidFill>
          <a:ln/>
        </p:spPr>
      </p:sp>
      <p:sp>
        <p:nvSpPr>
          <p:cNvPr id="18" name="Montaña"/>
          <p:cNvSpPr/>
          <p:nvPr/>
        </p:nvSpPr>
        <p:spPr>
          <a:xfrm>
            <a:off x="672998" y="3488436"/>
            <a:ext cx="963778" cy="499262"/>
          </a:xfrm>
          <a:prstGeom prst="triangle">
            <a:avLst/>
          </a:prstGeom>
          <a:solidFill>
            <a:schemeClr val="bg2"/>
          </a:solidFill>
          <a:ln/>
        </p:spPr>
      </p:sp>
      <p:sp>
        <p:nvSpPr>
          <p:cNvPr id="19" name="Suelo"/>
          <p:cNvSpPr/>
          <p:nvPr/>
        </p:nvSpPr>
        <p:spPr>
          <a:xfrm>
            <a:off x="548640" y="3949294"/>
            <a:ext cx="1554480" cy="211226"/>
          </a:xfrm>
          <a:prstGeom prst="rect">
            <a:avLst/>
          </a:prstGeom>
          <a:solidFill>
            <a:schemeClr val="tx1"/>
          </a:solidFill>
          <a:ln/>
        </p:spPr>
      </p:sp>
      <p:sp>
        <p:nvSpPr>
          <p:cNvPr id="20" name="Miniatura"/>
          <p:cNvSpPr/>
          <p:nvPr/>
        </p:nvSpPr>
        <p:spPr>
          <a:xfrm>
            <a:off x="2286000" y="3200400"/>
            <a:ext cx="1554480" cy="960120"/>
          </a:xfrm>
          <a:prstGeom prst="rect">
            <a:avLst/>
          </a:prstGeom>
          <a:solidFill>
            <a:schemeClr val="tx2"/>
          </a:solidFill>
          <a:ln/>
        </p:spPr>
      </p:sp>
      <p:sp>
        <p:nvSpPr>
          <p:cNvPr id="21" name="Sol"/>
          <p:cNvSpPr/>
          <p:nvPr/>
        </p:nvSpPr>
        <p:spPr>
          <a:xfrm>
            <a:off x="3343046" y="3315614"/>
            <a:ext cx="248717" cy="248717"/>
          </a:xfrm>
          <a:prstGeom prst="ellipse">
            <a:avLst/>
          </a:prstGeom>
          <a:solidFill>
            <a:schemeClr val="accent5"/>
          </a:solidFill>
          <a:ln/>
        </p:spPr>
      </p:sp>
      <p:sp>
        <p:nvSpPr>
          <p:cNvPr id="22" name="Montaña"/>
          <p:cNvSpPr/>
          <p:nvPr/>
        </p:nvSpPr>
        <p:spPr>
          <a:xfrm>
            <a:off x="2410358" y="3488436"/>
            <a:ext cx="963778" cy="499262"/>
          </a:xfrm>
          <a:prstGeom prst="triangle">
            <a:avLst/>
          </a:prstGeom>
          <a:solidFill>
            <a:schemeClr val="bg2"/>
          </a:solidFill>
          <a:ln/>
        </p:spPr>
      </p:sp>
      <p:sp>
        <p:nvSpPr>
          <p:cNvPr id="23" name="Suelo"/>
          <p:cNvSpPr/>
          <p:nvPr/>
        </p:nvSpPr>
        <p:spPr>
          <a:xfrm>
            <a:off x="2286000" y="3949294"/>
            <a:ext cx="1554480" cy="211226"/>
          </a:xfrm>
          <a:prstGeom prst="rect">
            <a:avLst/>
          </a:prstGeom>
          <a:solidFill>
            <a:schemeClr val="tx1"/>
          </a:solidFill>
          <a:ln/>
        </p:spPr>
      </p:sp>
      <p:sp>
        <p:nvSpPr>
          <p:cNvPr id="24" name="Miniatura"/>
          <p:cNvSpPr/>
          <p:nvPr/>
        </p:nvSpPr>
        <p:spPr>
          <a:xfrm>
            <a:off x="4023360" y="3200400"/>
            <a:ext cx="1554480" cy="960120"/>
          </a:xfrm>
          <a:prstGeom prst="rect">
            <a:avLst/>
          </a:prstGeom>
          <a:solidFill>
            <a:schemeClr val="tx2"/>
          </a:solidFill>
          <a:ln/>
        </p:spPr>
      </p:sp>
      <p:sp>
        <p:nvSpPr>
          <p:cNvPr id="25" name="Sol"/>
          <p:cNvSpPr/>
          <p:nvPr/>
        </p:nvSpPr>
        <p:spPr>
          <a:xfrm>
            <a:off x="5080406" y="3315614"/>
            <a:ext cx="248717" cy="248717"/>
          </a:xfrm>
          <a:prstGeom prst="ellipse">
            <a:avLst/>
          </a:prstGeom>
          <a:solidFill>
            <a:schemeClr val="accent5"/>
          </a:solidFill>
          <a:ln/>
        </p:spPr>
      </p:sp>
      <p:sp>
        <p:nvSpPr>
          <p:cNvPr id="26" name="Montaña"/>
          <p:cNvSpPr/>
          <p:nvPr/>
        </p:nvSpPr>
        <p:spPr>
          <a:xfrm>
            <a:off x="4147718" y="3488436"/>
            <a:ext cx="963778" cy="499262"/>
          </a:xfrm>
          <a:prstGeom prst="triangle">
            <a:avLst/>
          </a:prstGeom>
          <a:solidFill>
            <a:schemeClr val="bg2"/>
          </a:solidFill>
          <a:ln/>
        </p:spPr>
      </p:sp>
      <p:sp>
        <p:nvSpPr>
          <p:cNvPr id="27" name="Suelo"/>
          <p:cNvSpPr/>
          <p:nvPr/>
        </p:nvSpPr>
        <p:spPr>
          <a:xfrm>
            <a:off x="4023360" y="3949294"/>
            <a:ext cx="1554480" cy="211226"/>
          </a:xfrm>
          <a:prstGeom prst="rect">
            <a:avLst/>
          </a:prstGeom>
          <a:solidFill>
            <a:schemeClr val="tx1"/>
          </a:solidFill>
          <a:ln/>
        </p:spPr>
      </p:sp>
      <p:sp>
        <p:nvSpPr>
          <p:cNvPr id="28" name="Text 26"/>
          <p:cNvSpPr txBox="1"/>
          <p:nvPr/>
        </p:nvSpPr>
        <p:spPr>
          <a:xfrm>
            <a:off x="548640" y="4434840"/>
            <a:ext cx="5029200" cy="365760"/>
          </a:xfrm>
          <a:prstGeom prst="rect">
            <a:avLst/>
          </a:prstGeom>
          <a:noFill/>
          <a:ln/>
        </p:spPr>
        <p:txBody>
          <a:bodyPr wrap="square" lIns="0" tIns="0" rIns="0" bIns="0" rtlCol="0" anchor="ctr"/>
          <a:lstStyle/>
          <a:p>
            <a:pPr marL="0" indent="0" algn="ctr">
              <a:buNone/>
            </a:pPr>
            <a:r>
              <a:rPr lang="en-US" sz="1400" i="1" dirty="0">
                <a:solidFill>
                  <a:schemeClr val="tx2"/>
                </a:solidFill>
              </a:rPr>
              <a:t>Seis juegos distintos, el mismo aire</a:t>
            </a:r>
            <a:endParaRPr lang="en-US" sz="1400" dirty="0"/>
          </a:p>
        </p:txBody>
      </p:sp>
      <p:sp>
        <p:nvSpPr>
          <p:cNvPr id="29" name="Cita"/>
          <p:cNvSpPr/>
          <p:nvPr/>
        </p:nvSpPr>
        <p:spPr>
          <a:xfrm>
            <a:off x="6035040" y="2057400"/>
            <a:ext cx="5608015" cy="1371600"/>
          </a:xfrm>
          <a:prstGeom prst="roundRect">
            <a:avLst>
              <a:gd name="adj" fmla="val 10000"/>
            </a:avLst>
          </a:prstGeom>
          <a:solidFill>
            <a:schemeClr val="bg2"/>
          </a:solidFill>
          <a:ln/>
        </p:spPr>
      </p:sp>
      <p:sp>
        <p:nvSpPr>
          <p:cNvPr id="30" name="Text 28"/>
          <p:cNvSpPr txBox="1"/>
          <p:nvPr/>
        </p:nvSpPr>
        <p:spPr>
          <a:xfrm>
            <a:off x="6355080" y="205740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«Veo MUCHÍSIMOS juegos nuevos que… se parecen todos.»</a:t>
            </a:r>
            <a:endParaRPr lang="en-US" sz="1900" dirty="0"/>
          </a:p>
          <a:p>
            <a:pPr marL="0" indent="0">
              <a:spcAft>
                <a:spcPts val="600"/>
              </a:spcAft>
              <a:buNone/>
            </a:pPr>
            <a:r>
              <a:rPr lang="en-US" sz="1300" b="1" dirty="0">
                <a:solidFill>
                  <a:schemeClr val="tx2"/>
                </a:solidFill>
              </a:rPr>
              <a:t>Foro ResetEra, abril de 2026</a:t>
            </a:r>
            <a:endParaRPr lang="en-US" sz="1900" dirty="0"/>
          </a:p>
        </p:txBody>
      </p:sp>
      <p:sp>
        <p:nvSpPr>
          <p:cNvPr id="31" name="Cita"/>
          <p:cNvSpPr/>
          <p:nvPr/>
        </p:nvSpPr>
        <p:spPr>
          <a:xfrm>
            <a:off x="6035040" y="3611880"/>
            <a:ext cx="5608015" cy="1371600"/>
          </a:xfrm>
          <a:prstGeom prst="roundRect">
            <a:avLst>
              <a:gd name="adj" fmla="val 10000"/>
            </a:avLst>
          </a:prstGeom>
          <a:solidFill>
            <a:schemeClr val="bg2"/>
          </a:solidFill>
          <a:ln/>
        </p:spPr>
      </p:sp>
      <p:sp>
        <p:nvSpPr>
          <p:cNvPr id="32" name="Text 30"/>
          <p:cNvSpPr txBox="1"/>
          <p:nvPr/>
        </p:nvSpPr>
        <p:spPr>
          <a:xfrm>
            <a:off x="6355080" y="361188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«Muchos más juegos, porque es más fácil hacerlos, pero una sensación de homogeneidad, porque todos usan las mismas herramientas.»</a:t>
            </a:r>
            <a:endParaRPr lang="en-US" sz="1900" dirty="0"/>
          </a:p>
          <a:p>
            <a:pPr marL="0" indent="0">
              <a:spcAft>
                <a:spcPts val="600"/>
              </a:spcAft>
              <a:buNone/>
            </a:pPr>
            <a:r>
              <a:rPr lang="en-US" sz="1300" b="1" dirty="0">
                <a:solidFill>
                  <a:schemeClr val="tx2"/>
                </a:solidFill>
              </a:rPr>
              <a:t>Foro ResetEra</a:t>
            </a:r>
            <a:endParaRPr lang="en-US" sz="1900" dirty="0"/>
          </a:p>
        </p:txBody>
      </p:sp>
      <p:sp>
        <p:nvSpPr>
          <p:cNvPr id="33" name="Text 31"/>
          <p:cNvSpPr txBox="1"/>
          <p:nvPr/>
        </p:nvSpPr>
        <p:spPr>
          <a:xfrm>
            <a:off x="548640" y="5257800"/>
            <a:ext cx="11094415" cy="640080"/>
          </a:xfrm>
          <a:prstGeom prst="rect">
            <a:avLst/>
          </a:prstGeom>
          <a:noFill/>
          <a:ln/>
        </p:spPr>
        <p:txBody>
          <a:bodyPr wrap="square" lIns="0" tIns="0" rIns="0" bIns="0" rtlCol="0" anchor="ctr"/>
          <a:lstStyle/>
          <a:p>
            <a:pPr marL="0" indent="0">
              <a:buNone/>
            </a:pPr>
            <a:r>
              <a:rPr lang="en-US" sz="1600" i="1" dirty="0">
                <a:solidFill>
                  <a:schemeClr val="accent3"/>
                </a:solidFill>
              </a:rPr>
              <a:t>Son opiniones de jugadores, no un estudio: hay quien no está de acuerdo. Pero la sensación es muy común.</a:t>
            </a:r>
            <a:endParaRPr lang="en-US" sz="1600" dirty="0"/>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5</a:t>
            </a:fld>
            <a:endParaRPr lang="en-US"/>
          </a:p>
        </p:txBody>
      </p:sp>
      <p:pic>
        <p:nvPicPr>
          <p:cNvPr id="36" name="Imagen 35">
            <a:extLst>
              <a:ext uri="{FF2B5EF4-FFF2-40B4-BE49-F238E27FC236}">
                <a16:creationId xmlns:a16="http://schemas.microsoft.com/office/drawing/2014/main" id="{5AE91925-1EF5-EBFF-CE64-00762E96B44D}"/>
              </a:ext>
            </a:extLst>
          </p:cNvPr>
          <p:cNvPicPr>
            <a:picLocks noChangeAspect="1"/>
          </p:cNvPicPr>
          <p:nvPr/>
        </p:nvPicPr>
        <p:blipFill>
          <a:blip r:embed="rId3"/>
          <a:stretch>
            <a:fillRect/>
          </a:stretch>
        </p:blipFill>
        <p:spPr>
          <a:xfrm>
            <a:off x="292768" y="2057400"/>
            <a:ext cx="1934273" cy="2179225"/>
          </a:xfrm>
          <a:prstGeom prst="rect">
            <a:avLst/>
          </a:prstGeom>
        </p:spPr>
      </p:pic>
      <p:pic>
        <p:nvPicPr>
          <p:cNvPr id="38" name="Imagen 37">
            <a:extLst>
              <a:ext uri="{FF2B5EF4-FFF2-40B4-BE49-F238E27FC236}">
                <a16:creationId xmlns:a16="http://schemas.microsoft.com/office/drawing/2014/main" id="{5BF1BD6D-1C31-4557-14E5-F14EAB4944E3}"/>
              </a:ext>
            </a:extLst>
          </p:cNvPr>
          <p:cNvPicPr>
            <a:picLocks noChangeAspect="1"/>
          </p:cNvPicPr>
          <p:nvPr/>
        </p:nvPicPr>
        <p:blipFill>
          <a:blip r:embed="rId4"/>
          <a:stretch>
            <a:fillRect/>
          </a:stretch>
        </p:blipFill>
        <p:spPr>
          <a:xfrm>
            <a:off x="3930225" y="2057177"/>
            <a:ext cx="1934272" cy="2178690"/>
          </a:xfrm>
          <a:prstGeom prst="rect">
            <a:avLst/>
          </a:prstGeom>
        </p:spPr>
      </p:pic>
      <p:pic>
        <p:nvPicPr>
          <p:cNvPr id="37" name="Imagen 36">
            <a:extLst>
              <a:ext uri="{FF2B5EF4-FFF2-40B4-BE49-F238E27FC236}">
                <a16:creationId xmlns:a16="http://schemas.microsoft.com/office/drawing/2014/main" id="{3D8B4A71-C394-811B-3318-FA4B14EFB085}"/>
              </a:ext>
            </a:extLst>
          </p:cNvPr>
          <p:cNvPicPr>
            <a:picLocks noChangeAspect="1"/>
          </p:cNvPicPr>
          <p:nvPr/>
        </p:nvPicPr>
        <p:blipFill>
          <a:blip r:embed="rId5"/>
          <a:stretch>
            <a:fillRect/>
          </a:stretch>
        </p:blipFill>
        <p:spPr>
          <a:xfrm>
            <a:off x="2246369" y="2057399"/>
            <a:ext cx="1678860" cy="221304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se parecían?</a:t>
            </a:r>
            <a:endParaRPr lang="en-US" sz="3200" dirty="0"/>
          </a:p>
        </p:txBody>
      </p:sp>
      <p:sp>
        <p:nvSpPr>
          <p:cNvPr id="3" name="Tarjeta"/>
          <p:cNvSpPr/>
          <p:nvPr/>
        </p:nvSpPr>
        <p:spPr>
          <a:xfrm>
            <a:off x="548640" y="1508760"/>
            <a:ext cx="3454298" cy="2834640"/>
          </a:xfrm>
          <a:prstGeom prst="roundRect">
            <a:avLst>
              <a:gd name="adj" fmla="val 4839"/>
            </a:avLst>
          </a:prstGeom>
          <a:solidFill>
            <a:schemeClr val="bg2"/>
          </a:solidFill>
          <a:ln/>
        </p:spPr>
      </p:sp>
      <p:sp>
        <p:nvSpPr>
          <p:cNvPr id="4" name="Los mismos ajustes"/>
          <p:cNvSpPr/>
          <p:nvPr/>
        </p:nvSpPr>
        <p:spPr>
          <a:xfrm>
            <a:off x="868680" y="1783080"/>
            <a:ext cx="914400" cy="914400"/>
          </a:xfrm>
          <a:prstGeom prst="ellipse">
            <a:avLst/>
          </a:prstGeom>
          <a:solidFill>
            <a:schemeClr val="tx2"/>
          </a:solidFill>
          <a:ln/>
        </p:spPr>
      </p:sp>
      <p:pic>
        <p:nvPicPr>
          <p:cNvPr id="5" name="Image 0" descr="Los mismos ajustes"/>
          <p:cNvPicPr>
            <a:picLocks noChangeAspect="1"/>
          </p:cNvPicPr>
          <p:nvPr/>
        </p:nvPicPr>
        <p:blipFill>
          <a:blip r:embed="rId3"/>
          <a:stretch>
            <a:fillRect/>
          </a:stretch>
        </p:blipFill>
        <p:spPr>
          <a:xfrm>
            <a:off x="1088136" y="2002536"/>
            <a:ext cx="475488" cy="475488"/>
          </a:xfrm>
          <a:prstGeom prst="rect">
            <a:avLst/>
          </a:prstGeom>
        </p:spPr>
      </p:pic>
      <p:sp>
        <p:nvSpPr>
          <p:cNvPr id="6" name="Text 3"/>
          <p:cNvSpPr txBox="1"/>
          <p:nvPr/>
        </p:nvSpPr>
        <p:spPr>
          <a:xfrm>
            <a:off x="868680"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ajustes</a:t>
            </a:r>
            <a:endParaRPr lang="en-US" sz="2100" dirty="0"/>
          </a:p>
        </p:txBody>
      </p:sp>
      <p:sp>
        <p:nvSpPr>
          <p:cNvPr id="7" name="Text 4"/>
          <p:cNvSpPr txBox="1"/>
          <p:nvPr/>
        </p:nvSpPr>
        <p:spPr>
          <a:xfrm>
            <a:off x="868680"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 misma luz automática y el mismo tono «de cine», si nadie los cambia.</a:t>
            </a:r>
            <a:endParaRPr lang="en-US" sz="1700" dirty="0"/>
          </a:p>
        </p:txBody>
      </p:sp>
      <p:sp>
        <p:nvSpPr>
          <p:cNvPr id="8" name="Tarjeta"/>
          <p:cNvSpPr/>
          <p:nvPr/>
        </p:nvSpPr>
        <p:spPr>
          <a:xfrm>
            <a:off x="4368698" y="1508760"/>
            <a:ext cx="3454298" cy="2834640"/>
          </a:xfrm>
          <a:prstGeom prst="roundRect">
            <a:avLst>
              <a:gd name="adj" fmla="val 4839"/>
            </a:avLst>
          </a:prstGeom>
          <a:solidFill>
            <a:schemeClr val="bg2"/>
          </a:solidFill>
          <a:ln/>
        </p:spPr>
      </p:sp>
      <p:sp>
        <p:nvSpPr>
          <p:cNvPr id="9" name="Los mismos materiales"/>
          <p:cNvSpPr/>
          <p:nvPr/>
        </p:nvSpPr>
        <p:spPr>
          <a:xfrm>
            <a:off x="4688738" y="1783080"/>
            <a:ext cx="914400" cy="914400"/>
          </a:xfrm>
          <a:prstGeom prst="ellipse">
            <a:avLst/>
          </a:prstGeom>
          <a:solidFill>
            <a:schemeClr val="tx2"/>
          </a:solidFill>
          <a:ln/>
        </p:spPr>
      </p:sp>
      <p:pic>
        <p:nvPicPr>
          <p:cNvPr id="10" name="Image 1" descr="Los mismos materiales"/>
          <p:cNvPicPr>
            <a:picLocks noChangeAspect="1"/>
          </p:cNvPicPr>
          <p:nvPr/>
        </p:nvPicPr>
        <p:blipFill>
          <a:blip r:embed="rId4"/>
          <a:stretch>
            <a:fillRect/>
          </a:stretch>
        </p:blipFill>
        <p:spPr>
          <a:xfrm>
            <a:off x="4908194" y="2002536"/>
            <a:ext cx="475488" cy="475488"/>
          </a:xfrm>
          <a:prstGeom prst="rect">
            <a:avLst/>
          </a:prstGeom>
        </p:spPr>
      </p:pic>
      <p:sp>
        <p:nvSpPr>
          <p:cNvPr id="11" name="Text 7"/>
          <p:cNvSpPr txBox="1"/>
          <p:nvPr/>
        </p:nvSpPr>
        <p:spPr>
          <a:xfrm>
            <a:off x="4688738"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materiales</a:t>
            </a:r>
            <a:endParaRPr lang="en-US" sz="2100" dirty="0"/>
          </a:p>
        </p:txBody>
      </p:sp>
      <p:sp>
        <p:nvSpPr>
          <p:cNvPr id="12" name="Text 8"/>
          <p:cNvSpPr txBox="1"/>
          <p:nvPr/>
        </p:nvSpPr>
        <p:spPr>
          <a:xfrm>
            <a:off x="4688738"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Las mismas rocas, árboles y texturas escaneadas, disponibles para todos.</a:t>
            </a:r>
            <a:endParaRPr lang="en-US" sz="1700" dirty="0"/>
          </a:p>
        </p:txBody>
      </p:sp>
      <p:sp>
        <p:nvSpPr>
          <p:cNvPr id="13" name="Tarjeta"/>
          <p:cNvSpPr/>
          <p:nvPr/>
        </p:nvSpPr>
        <p:spPr>
          <a:xfrm>
            <a:off x="8188757" y="1508760"/>
            <a:ext cx="3454298" cy="2834640"/>
          </a:xfrm>
          <a:prstGeom prst="roundRect">
            <a:avLst>
              <a:gd name="adj" fmla="val 4839"/>
            </a:avLst>
          </a:prstGeom>
          <a:solidFill>
            <a:schemeClr val="bg2"/>
          </a:solidFill>
          <a:ln/>
        </p:spPr>
      </p:sp>
      <p:sp>
        <p:nvSpPr>
          <p:cNvPr id="14" name="El atajo"/>
          <p:cNvSpPr/>
          <p:nvPr/>
        </p:nvSpPr>
        <p:spPr>
          <a:xfrm>
            <a:off x="8508797" y="1783080"/>
            <a:ext cx="914400" cy="914400"/>
          </a:xfrm>
          <a:prstGeom prst="ellipse">
            <a:avLst/>
          </a:prstGeom>
          <a:solidFill>
            <a:schemeClr val="tx2"/>
          </a:solidFill>
          <a:ln/>
        </p:spPr>
      </p:sp>
      <p:pic>
        <p:nvPicPr>
          <p:cNvPr id="15" name="Image 2" descr="El atajo"/>
          <p:cNvPicPr>
            <a:picLocks noChangeAspect="1"/>
          </p:cNvPicPr>
          <p:nvPr/>
        </p:nvPicPr>
        <p:blipFill>
          <a:blip r:embed="rId5"/>
          <a:stretch>
            <a:fillRect/>
          </a:stretch>
        </p:blipFill>
        <p:spPr>
          <a:xfrm>
            <a:off x="8728253" y="2002536"/>
            <a:ext cx="475488" cy="475488"/>
          </a:xfrm>
          <a:prstGeom prst="rect">
            <a:avLst/>
          </a:prstGeom>
        </p:spPr>
      </p:pic>
      <p:sp>
        <p:nvSpPr>
          <p:cNvPr id="16" name="Text 11"/>
          <p:cNvSpPr txBox="1"/>
          <p:nvPr/>
        </p:nvSpPr>
        <p:spPr>
          <a:xfrm>
            <a:off x="8508797"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El atajo</a:t>
            </a:r>
            <a:endParaRPr lang="en-US" sz="2100" dirty="0"/>
          </a:p>
        </p:txBody>
      </p:sp>
      <p:sp>
        <p:nvSpPr>
          <p:cNvPr id="17" name="Text 12"/>
          <p:cNvSpPr txBox="1"/>
          <p:nvPr/>
        </p:nvSpPr>
        <p:spPr>
          <a:xfrm>
            <a:off x="8508797"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Si la herramienta ya lo hace bien, dejamos de decidir nosotros.</a:t>
            </a:r>
            <a:endParaRPr lang="en-US" sz="1700" dirty="0"/>
          </a:p>
        </p:txBody>
      </p:sp>
      <p:sp>
        <p:nvSpPr>
          <p:cNvPr id="18" name="Cita"/>
          <p:cNvSpPr/>
          <p:nvPr/>
        </p:nvSpPr>
        <p:spPr>
          <a:xfrm>
            <a:off x="548640" y="4617720"/>
            <a:ext cx="11094415" cy="1280160"/>
          </a:xfrm>
          <a:prstGeom prst="roundRect">
            <a:avLst>
              <a:gd name="adj" fmla="val 10714"/>
            </a:avLst>
          </a:prstGeom>
          <a:solidFill>
            <a:schemeClr val="tx1"/>
          </a:solidFill>
          <a:ln/>
        </p:spPr>
      </p:sp>
      <p:sp>
        <p:nvSpPr>
          <p:cNvPr id="19" name="Text 14"/>
          <p:cNvSpPr txBox="1"/>
          <p:nvPr/>
        </p:nvSpPr>
        <p:spPr>
          <a:xfrm>
            <a:off x="868680" y="4617720"/>
            <a:ext cx="10454335" cy="128016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«Los motores no deciden la dirección artística.»</a:t>
            </a:r>
            <a:endParaRPr lang="en-US" sz="1900" dirty="0"/>
          </a:p>
          <a:p>
            <a:pPr marL="0" indent="0">
              <a:spcAft>
                <a:spcPts val="600"/>
              </a:spcAft>
              <a:buNone/>
            </a:pPr>
            <a:r>
              <a:rPr lang="en-US" sz="1300" b="1" dirty="0">
                <a:solidFill>
                  <a:schemeClr val="accent1"/>
                </a:solidFill>
              </a:rPr>
              <a:t>Respuesta de otro jugador en el mismo foro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contraejemplo: Clair Obscur: Expedition 33</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mismo motor. Un estilo propio: un mundo surrealista inspirado en la Belle Époque francesa.</a:t>
            </a:r>
            <a:endParaRPr lang="en-US" sz="1900" dirty="0"/>
          </a:p>
        </p:txBody>
      </p:sp>
      <p:sp>
        <p:nvSpPr>
          <p:cNvPr id="4" name="Miniatura"/>
          <p:cNvSpPr/>
          <p:nvPr/>
        </p:nvSpPr>
        <p:spPr>
          <a:xfrm>
            <a:off x="548640" y="2057400"/>
            <a:ext cx="1051560" cy="685800"/>
          </a:xfrm>
          <a:prstGeom prst="rect">
            <a:avLst/>
          </a:prstGeom>
          <a:solidFill>
            <a:schemeClr val="tx2"/>
          </a:solidFill>
          <a:ln/>
        </p:spPr>
      </p:sp>
      <p:sp>
        <p:nvSpPr>
          <p:cNvPr id="5" name="Sol"/>
          <p:cNvSpPr/>
          <p:nvPr/>
        </p:nvSpPr>
        <p:spPr>
          <a:xfrm>
            <a:off x="1263701" y="2139696"/>
            <a:ext cx="168250" cy="168250"/>
          </a:xfrm>
          <a:prstGeom prst="ellipse">
            <a:avLst/>
          </a:prstGeom>
          <a:solidFill>
            <a:schemeClr val="accent5"/>
          </a:solidFill>
          <a:ln/>
        </p:spPr>
      </p:sp>
      <p:sp>
        <p:nvSpPr>
          <p:cNvPr id="6" name="Montaña"/>
          <p:cNvSpPr/>
          <p:nvPr/>
        </p:nvSpPr>
        <p:spPr>
          <a:xfrm>
            <a:off x="632765" y="2263140"/>
            <a:ext cx="651967" cy="356616"/>
          </a:xfrm>
          <a:prstGeom prst="triangle">
            <a:avLst/>
          </a:prstGeom>
          <a:solidFill>
            <a:schemeClr val="bg2"/>
          </a:solidFill>
          <a:ln/>
        </p:spPr>
      </p:sp>
      <p:sp>
        <p:nvSpPr>
          <p:cNvPr id="7" name="Suelo"/>
          <p:cNvSpPr/>
          <p:nvPr/>
        </p:nvSpPr>
        <p:spPr>
          <a:xfrm>
            <a:off x="548640" y="2592324"/>
            <a:ext cx="1051560" cy="150876"/>
          </a:xfrm>
          <a:prstGeom prst="rect">
            <a:avLst/>
          </a:prstGeom>
          <a:solidFill>
            <a:schemeClr val="tx1"/>
          </a:solidFill>
          <a:ln/>
        </p:spPr>
      </p:sp>
      <p:sp>
        <p:nvSpPr>
          <p:cNvPr id="8" name="Miniatura"/>
          <p:cNvSpPr/>
          <p:nvPr/>
        </p:nvSpPr>
        <p:spPr>
          <a:xfrm>
            <a:off x="1737360" y="2057400"/>
            <a:ext cx="1051560" cy="685800"/>
          </a:xfrm>
          <a:prstGeom prst="rect">
            <a:avLst/>
          </a:prstGeom>
          <a:solidFill>
            <a:schemeClr val="tx2"/>
          </a:solidFill>
          <a:ln/>
        </p:spPr>
      </p:sp>
      <p:sp>
        <p:nvSpPr>
          <p:cNvPr id="9" name="Sol"/>
          <p:cNvSpPr/>
          <p:nvPr/>
        </p:nvSpPr>
        <p:spPr>
          <a:xfrm>
            <a:off x="2452421" y="2139696"/>
            <a:ext cx="168250" cy="168250"/>
          </a:xfrm>
          <a:prstGeom prst="ellipse">
            <a:avLst/>
          </a:prstGeom>
          <a:solidFill>
            <a:schemeClr val="accent5"/>
          </a:solidFill>
          <a:ln/>
        </p:spPr>
      </p:sp>
      <p:sp>
        <p:nvSpPr>
          <p:cNvPr id="10" name="Montaña"/>
          <p:cNvSpPr/>
          <p:nvPr/>
        </p:nvSpPr>
        <p:spPr>
          <a:xfrm>
            <a:off x="1821485" y="2263140"/>
            <a:ext cx="651967" cy="356616"/>
          </a:xfrm>
          <a:prstGeom prst="triangle">
            <a:avLst/>
          </a:prstGeom>
          <a:solidFill>
            <a:schemeClr val="bg2"/>
          </a:solidFill>
          <a:ln/>
        </p:spPr>
      </p:sp>
      <p:sp>
        <p:nvSpPr>
          <p:cNvPr id="11" name="Suelo"/>
          <p:cNvSpPr/>
          <p:nvPr/>
        </p:nvSpPr>
        <p:spPr>
          <a:xfrm>
            <a:off x="1737360" y="2592324"/>
            <a:ext cx="1051560" cy="150876"/>
          </a:xfrm>
          <a:prstGeom prst="rect">
            <a:avLst/>
          </a:prstGeom>
          <a:solidFill>
            <a:schemeClr val="tx1"/>
          </a:solidFill>
          <a:ln/>
        </p:spPr>
      </p:sp>
      <p:sp>
        <p:nvSpPr>
          <p:cNvPr id="12" name="Miniatura"/>
          <p:cNvSpPr/>
          <p:nvPr/>
        </p:nvSpPr>
        <p:spPr>
          <a:xfrm>
            <a:off x="2926080" y="2057400"/>
            <a:ext cx="1051560" cy="685800"/>
          </a:xfrm>
          <a:prstGeom prst="rect">
            <a:avLst/>
          </a:prstGeom>
          <a:solidFill>
            <a:schemeClr val="tx2"/>
          </a:solidFill>
          <a:ln/>
        </p:spPr>
      </p:sp>
      <p:sp>
        <p:nvSpPr>
          <p:cNvPr id="13" name="Sol"/>
          <p:cNvSpPr/>
          <p:nvPr/>
        </p:nvSpPr>
        <p:spPr>
          <a:xfrm>
            <a:off x="3641141" y="2139696"/>
            <a:ext cx="168250" cy="168250"/>
          </a:xfrm>
          <a:prstGeom prst="ellipse">
            <a:avLst/>
          </a:prstGeom>
          <a:solidFill>
            <a:schemeClr val="accent5"/>
          </a:solidFill>
          <a:ln/>
        </p:spPr>
      </p:sp>
      <p:sp>
        <p:nvSpPr>
          <p:cNvPr id="14" name="Montaña"/>
          <p:cNvSpPr/>
          <p:nvPr/>
        </p:nvSpPr>
        <p:spPr>
          <a:xfrm>
            <a:off x="3010205" y="2263140"/>
            <a:ext cx="651967" cy="356616"/>
          </a:xfrm>
          <a:prstGeom prst="triangle">
            <a:avLst/>
          </a:prstGeom>
          <a:solidFill>
            <a:schemeClr val="bg2"/>
          </a:solidFill>
          <a:ln/>
        </p:spPr>
      </p:sp>
      <p:sp>
        <p:nvSpPr>
          <p:cNvPr id="15" name="Suelo"/>
          <p:cNvSpPr/>
          <p:nvPr/>
        </p:nvSpPr>
        <p:spPr>
          <a:xfrm>
            <a:off x="2926080" y="2592324"/>
            <a:ext cx="1051560" cy="150876"/>
          </a:xfrm>
          <a:prstGeom prst="rect">
            <a:avLst/>
          </a:prstGeom>
          <a:solidFill>
            <a:schemeClr val="tx1"/>
          </a:solidFill>
          <a:ln/>
        </p:spPr>
      </p:sp>
      <p:sp>
        <p:nvSpPr>
          <p:cNvPr id="16" name="Miniatura"/>
          <p:cNvSpPr/>
          <p:nvPr/>
        </p:nvSpPr>
        <p:spPr>
          <a:xfrm>
            <a:off x="4114800" y="2057400"/>
            <a:ext cx="1051560" cy="685800"/>
          </a:xfrm>
          <a:prstGeom prst="rect">
            <a:avLst/>
          </a:prstGeom>
          <a:solidFill>
            <a:schemeClr val="accent4"/>
          </a:solidFill>
          <a:ln/>
        </p:spPr>
      </p:sp>
      <p:sp>
        <p:nvSpPr>
          <p:cNvPr id="17" name="Sol"/>
          <p:cNvSpPr/>
          <p:nvPr/>
        </p:nvSpPr>
        <p:spPr>
          <a:xfrm>
            <a:off x="4829861" y="2139696"/>
            <a:ext cx="168250" cy="168250"/>
          </a:xfrm>
          <a:prstGeom prst="ellipse">
            <a:avLst/>
          </a:prstGeom>
          <a:solidFill>
            <a:schemeClr val="accent1"/>
          </a:solidFill>
          <a:ln/>
        </p:spPr>
      </p:sp>
      <p:sp>
        <p:nvSpPr>
          <p:cNvPr id="18" name="Montaña"/>
          <p:cNvSpPr/>
          <p:nvPr/>
        </p:nvSpPr>
        <p:spPr>
          <a:xfrm>
            <a:off x="4198925" y="2263140"/>
            <a:ext cx="651967" cy="356616"/>
          </a:xfrm>
          <a:prstGeom prst="triangle">
            <a:avLst/>
          </a:prstGeom>
          <a:solidFill>
            <a:schemeClr val="accent3"/>
          </a:solidFill>
          <a:ln/>
        </p:spPr>
      </p:sp>
      <p:sp>
        <p:nvSpPr>
          <p:cNvPr id="19" name="Suelo"/>
          <p:cNvSpPr/>
          <p:nvPr/>
        </p:nvSpPr>
        <p:spPr>
          <a:xfrm>
            <a:off x="4114800" y="2592324"/>
            <a:ext cx="1051560" cy="150876"/>
          </a:xfrm>
          <a:prstGeom prst="rect">
            <a:avLst/>
          </a:prstGeom>
          <a:solidFill>
            <a:schemeClr val="tx1"/>
          </a:solidFill>
          <a:ln/>
        </p:spPr>
      </p:sp>
      <p:sp>
        <p:nvSpPr>
          <p:cNvPr id="20" name="Miniatura"/>
          <p:cNvSpPr/>
          <p:nvPr/>
        </p:nvSpPr>
        <p:spPr>
          <a:xfrm>
            <a:off x="5303520" y="2057400"/>
            <a:ext cx="1051560" cy="685800"/>
          </a:xfrm>
          <a:prstGeom prst="rect">
            <a:avLst/>
          </a:prstGeom>
          <a:solidFill>
            <a:schemeClr val="tx2"/>
          </a:solidFill>
          <a:ln/>
        </p:spPr>
      </p:sp>
      <p:sp>
        <p:nvSpPr>
          <p:cNvPr id="21" name="Sol"/>
          <p:cNvSpPr/>
          <p:nvPr/>
        </p:nvSpPr>
        <p:spPr>
          <a:xfrm>
            <a:off x="6018581" y="2139696"/>
            <a:ext cx="168250" cy="168250"/>
          </a:xfrm>
          <a:prstGeom prst="ellipse">
            <a:avLst/>
          </a:prstGeom>
          <a:solidFill>
            <a:schemeClr val="accent5"/>
          </a:solidFill>
          <a:ln/>
        </p:spPr>
      </p:sp>
      <p:sp>
        <p:nvSpPr>
          <p:cNvPr id="22" name="Montaña"/>
          <p:cNvSpPr/>
          <p:nvPr/>
        </p:nvSpPr>
        <p:spPr>
          <a:xfrm>
            <a:off x="5387645" y="2263140"/>
            <a:ext cx="651967" cy="356616"/>
          </a:xfrm>
          <a:prstGeom prst="triangle">
            <a:avLst/>
          </a:prstGeom>
          <a:solidFill>
            <a:schemeClr val="bg2"/>
          </a:solidFill>
          <a:ln/>
        </p:spPr>
      </p:sp>
      <p:sp>
        <p:nvSpPr>
          <p:cNvPr id="23" name="Suelo"/>
          <p:cNvSpPr/>
          <p:nvPr/>
        </p:nvSpPr>
        <p:spPr>
          <a:xfrm>
            <a:off x="5303520" y="2592324"/>
            <a:ext cx="1051560" cy="150876"/>
          </a:xfrm>
          <a:prstGeom prst="rect">
            <a:avLst/>
          </a:prstGeom>
          <a:solidFill>
            <a:schemeClr val="tx1"/>
          </a:solidFill>
          <a:ln/>
        </p:spPr>
      </p:sp>
      <p:sp>
        <p:nvSpPr>
          <p:cNvPr id="24" name="Miniatura"/>
          <p:cNvSpPr/>
          <p:nvPr/>
        </p:nvSpPr>
        <p:spPr>
          <a:xfrm>
            <a:off x="6492240" y="2057400"/>
            <a:ext cx="1051560" cy="685800"/>
          </a:xfrm>
          <a:prstGeom prst="rect">
            <a:avLst/>
          </a:prstGeom>
          <a:solidFill>
            <a:schemeClr val="tx2"/>
          </a:solidFill>
          <a:ln/>
        </p:spPr>
      </p:sp>
      <p:sp>
        <p:nvSpPr>
          <p:cNvPr id="25" name="Sol"/>
          <p:cNvSpPr/>
          <p:nvPr/>
        </p:nvSpPr>
        <p:spPr>
          <a:xfrm>
            <a:off x="7207301" y="2139696"/>
            <a:ext cx="168250" cy="168250"/>
          </a:xfrm>
          <a:prstGeom prst="ellipse">
            <a:avLst/>
          </a:prstGeom>
          <a:solidFill>
            <a:schemeClr val="accent5"/>
          </a:solidFill>
          <a:ln/>
        </p:spPr>
      </p:sp>
      <p:sp>
        <p:nvSpPr>
          <p:cNvPr id="26" name="Montaña"/>
          <p:cNvSpPr/>
          <p:nvPr/>
        </p:nvSpPr>
        <p:spPr>
          <a:xfrm>
            <a:off x="6576365" y="2263140"/>
            <a:ext cx="651967" cy="356616"/>
          </a:xfrm>
          <a:prstGeom prst="triangle">
            <a:avLst/>
          </a:prstGeom>
          <a:solidFill>
            <a:schemeClr val="bg2"/>
          </a:solidFill>
          <a:ln/>
        </p:spPr>
      </p:sp>
      <p:sp>
        <p:nvSpPr>
          <p:cNvPr id="27" name="Suelo"/>
          <p:cNvSpPr/>
          <p:nvPr/>
        </p:nvSpPr>
        <p:spPr>
          <a:xfrm>
            <a:off x="6492240" y="2592324"/>
            <a:ext cx="1051560" cy="150876"/>
          </a:xfrm>
          <a:prstGeom prst="rect">
            <a:avLst/>
          </a:prstGeom>
          <a:solidFill>
            <a:schemeClr val="tx1"/>
          </a:solidFill>
          <a:ln/>
        </p:spPr>
      </p:sp>
      <p:sp>
        <p:nvSpPr>
          <p:cNvPr id="28" name="Text 26"/>
          <p:cNvSpPr txBox="1"/>
          <p:nvPr/>
        </p:nvSpPr>
        <p:spPr>
          <a:xfrm>
            <a:off x="548640" y="30175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~30</a:t>
            </a:r>
            <a:endParaRPr lang="en-US" sz="4000" dirty="0"/>
          </a:p>
        </p:txBody>
      </p:sp>
      <p:sp>
        <p:nvSpPr>
          <p:cNvPr id="29" name="Text 27"/>
          <p:cNvSpPr txBox="1"/>
          <p:nvPr/>
        </p:nvSpPr>
        <p:spPr>
          <a:xfrm>
            <a:off x="2103120" y="30175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personas en el equipo</a:t>
            </a:r>
            <a:endParaRPr lang="en-US" sz="1900" dirty="0"/>
          </a:p>
        </p:txBody>
      </p:sp>
      <p:sp>
        <p:nvSpPr>
          <p:cNvPr id="30" name="Text 28"/>
          <p:cNvSpPr txBox="1"/>
          <p:nvPr/>
        </p:nvSpPr>
        <p:spPr>
          <a:xfrm>
            <a:off x="548640" y="39319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9</a:t>
            </a:r>
            <a:endParaRPr lang="en-US" sz="4000" dirty="0"/>
          </a:p>
        </p:txBody>
      </p:sp>
      <p:sp>
        <p:nvSpPr>
          <p:cNvPr id="31" name="Text 29"/>
          <p:cNvSpPr txBox="1"/>
          <p:nvPr/>
        </p:nvSpPr>
        <p:spPr>
          <a:xfrm>
            <a:off x="2103120" y="39319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premios en The Game Awards 2025</a:t>
            </a:r>
            <a:endParaRPr lang="en-US" sz="1900" dirty="0"/>
          </a:p>
        </p:txBody>
      </p:sp>
      <p:sp>
        <p:nvSpPr>
          <p:cNvPr id="32" name="Text 30"/>
          <p:cNvSpPr txBox="1"/>
          <p:nvPr/>
        </p:nvSpPr>
        <p:spPr>
          <a:xfrm>
            <a:off x="548640" y="48463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1.º</a:t>
            </a:r>
            <a:endParaRPr lang="en-US" sz="4000" dirty="0"/>
          </a:p>
        </p:txBody>
      </p:sp>
      <p:sp>
        <p:nvSpPr>
          <p:cNvPr id="33" name="Text 31"/>
          <p:cNvSpPr txBox="1"/>
          <p:nvPr/>
        </p:nvSpPr>
        <p:spPr>
          <a:xfrm>
            <a:off x="2103120" y="4846320"/>
            <a:ext cx="4754880" cy="777240"/>
          </a:xfrm>
          <a:prstGeom prst="rect">
            <a:avLst/>
          </a:prstGeom>
          <a:noFill/>
          <a:ln/>
        </p:spPr>
        <p:txBody>
          <a:bodyPr wrap="square" lIns="0" tIns="0" rIns="0" bIns="0" rtlCol="0" anchor="ctr"/>
          <a:lstStyle/>
          <a:p>
            <a:pPr marL="0" indent="0">
              <a:buNone/>
            </a:pPr>
            <a:r>
              <a:rPr lang="en-US" sz="1900" dirty="0">
                <a:solidFill>
                  <a:schemeClr val="tx1"/>
                </a:solidFill>
              </a:rPr>
              <a:t>Juego del Año 2025</a:t>
            </a:r>
            <a:endParaRPr lang="en-US" sz="1900" dirty="0"/>
          </a:p>
        </p:txBody>
      </p:sp>
      <p:sp>
        <p:nvSpPr>
          <p:cNvPr id="34" name="Premio"/>
          <p:cNvSpPr/>
          <p:nvPr/>
        </p:nvSpPr>
        <p:spPr>
          <a:xfrm>
            <a:off x="548640" y="5715000"/>
            <a:ext cx="457200" cy="457200"/>
          </a:xfrm>
          <a:prstGeom prst="ellipse">
            <a:avLst/>
          </a:prstGeom>
          <a:solidFill>
            <a:schemeClr val="accent1"/>
          </a:solidFill>
          <a:ln/>
        </p:spPr>
      </p:sp>
      <p:pic>
        <p:nvPicPr>
          <p:cNvPr id="35" name="Image 0" descr="Premio"/>
          <p:cNvPicPr>
            <a:picLocks noChangeAspect="1"/>
          </p:cNvPicPr>
          <p:nvPr/>
        </p:nvPicPr>
        <p:blipFill>
          <a:blip r:embed="rId3"/>
          <a:stretch>
            <a:fillRect/>
          </a:stretch>
        </p:blipFill>
        <p:spPr>
          <a:xfrm>
            <a:off x="658368" y="5824728"/>
            <a:ext cx="237744" cy="237744"/>
          </a:xfrm>
          <a:prstGeom prst="rect">
            <a:avLst/>
          </a:prstGeom>
        </p:spPr>
      </p:pic>
      <p:sp>
        <p:nvSpPr>
          <p:cNvPr id="36" name="Text 33"/>
          <p:cNvSpPr txBox="1"/>
          <p:nvPr/>
        </p:nvSpPr>
        <p:spPr>
          <a:xfrm>
            <a:off x="1143000" y="5715000"/>
            <a:ext cx="5669280" cy="457200"/>
          </a:xfrm>
          <a:prstGeom prst="rect">
            <a:avLst/>
          </a:prstGeom>
          <a:noFill/>
          <a:ln/>
        </p:spPr>
        <p:txBody>
          <a:bodyPr wrap="square" lIns="0" tIns="0" rIns="0" bIns="0" rtlCol="0" anchor="ctr"/>
          <a:lstStyle/>
          <a:p>
            <a:pPr marL="0" indent="0">
              <a:buNone/>
            </a:pPr>
            <a:r>
              <a:rPr lang="en-US" sz="1600" b="1" dirty="0">
                <a:solidFill>
                  <a:schemeClr val="tx1"/>
                </a:solidFill>
              </a:rPr>
              <a:t>Entre sus premios: mejor dirección artística.</a:t>
            </a:r>
            <a:endParaRPr lang="en-US" sz="1600" dirty="0"/>
          </a:p>
        </p:txBody>
      </p:sp>
      <p:sp>
        <p:nvSpPr>
          <p:cNvPr id="37" name="Hueco para captura"/>
          <p:cNvSpPr/>
          <p:nvPr/>
        </p:nvSpPr>
        <p:spPr>
          <a:xfrm>
            <a:off x="7863840" y="2057400"/>
            <a:ext cx="3779215" cy="4114800"/>
          </a:xfrm>
          <a:prstGeom prst="roundRect">
            <a:avLst>
              <a:gd name="adj" fmla="val 2903"/>
            </a:avLst>
          </a:prstGeom>
          <a:solidFill>
            <a:schemeClr val="bg2"/>
          </a:solidFill>
          <a:ln w="19050">
            <a:solidFill>
              <a:srgbClr val="8A94A6"/>
            </a:solidFill>
            <a:prstDash val="dash"/>
          </a:ln>
        </p:spPr>
      </p:sp>
      <p:sp>
        <p:nvSpPr>
          <p:cNvPr id="38" name="Captura"/>
          <p:cNvSpPr/>
          <p:nvPr/>
        </p:nvSpPr>
        <p:spPr>
          <a:xfrm>
            <a:off x="9387688" y="3337560"/>
            <a:ext cx="731520" cy="731520"/>
          </a:xfrm>
          <a:prstGeom prst="ellipse">
            <a:avLst/>
          </a:prstGeom>
          <a:solidFill>
            <a:schemeClr val="accent5"/>
          </a:solidFill>
          <a:ln/>
        </p:spPr>
      </p:sp>
      <p:pic>
        <p:nvPicPr>
          <p:cNvPr id="39" name="Image 1" descr="Captura"/>
          <p:cNvPicPr>
            <a:picLocks noChangeAspect="1"/>
          </p:cNvPicPr>
          <p:nvPr/>
        </p:nvPicPr>
        <p:blipFill>
          <a:blip r:embed="rId4"/>
          <a:stretch>
            <a:fillRect/>
          </a:stretch>
        </p:blipFill>
        <p:spPr>
          <a:xfrm>
            <a:off x="9563252" y="3513125"/>
            <a:ext cx="380390" cy="380390"/>
          </a:xfrm>
          <a:prstGeom prst="rect">
            <a:avLst/>
          </a:prstGeom>
        </p:spPr>
      </p:pic>
      <p:sp>
        <p:nvSpPr>
          <p:cNvPr id="4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pic>
        <p:nvPicPr>
          <p:cNvPr id="42" name="Imagen 41" descr="Análisis de Clair Obscur: Expedition 33: La mezcla imposible entre Final  Fantasy y Sekiro es también un RPG imprescindible - Reseñas 3DJuegos">
            <a:extLst>
              <a:ext uri="{FF2B5EF4-FFF2-40B4-BE49-F238E27FC236}">
                <a16:creationId xmlns:a16="http://schemas.microsoft.com/office/drawing/2014/main" id="{BACBAE2E-4847-1591-83F7-8F9C0B4AB28E}"/>
              </a:ext>
            </a:extLst>
          </p:cNvPr>
          <p:cNvPicPr>
            <a:picLocks noChangeAspect="1"/>
          </p:cNvPicPr>
          <p:nvPr/>
        </p:nvPicPr>
        <p:blipFill>
          <a:blip r:embed="rId5"/>
          <a:srcRect l="17515" r="10964"/>
          <a:stretch>
            <a:fillRect/>
          </a:stretch>
        </p:blipFill>
        <p:spPr>
          <a:xfrm>
            <a:off x="7796085" y="1965960"/>
            <a:ext cx="4069994" cy="42679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qué tiene que ver esto</a:t>
            </a:r>
            <a:endParaRPr lang="en-US" sz="3400" dirty="0"/>
          </a:p>
          <a:p>
            <a:pPr marL="0" indent="0">
              <a:buNone/>
            </a:pPr>
            <a:r>
              <a:rPr lang="en-US" sz="3400" b="1" dirty="0">
                <a:solidFill>
                  <a:schemeClr val="accent1"/>
                </a:solidFill>
              </a:rPr>
              <a:t>con la inteligencia artificial?</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 experimento con 293 escritores</a:t>
            </a:r>
            <a:endParaRPr lang="en-US" sz="3200" dirty="0"/>
          </a:p>
        </p:txBody>
      </p:sp>
      <p:sp>
        <p:nvSpPr>
          <p:cNvPr id="3" name="Experimento"/>
          <p:cNvSpPr/>
          <p:nvPr/>
        </p:nvSpPr>
        <p:spPr>
          <a:xfrm>
            <a:off x="548640" y="1417320"/>
            <a:ext cx="685800" cy="685800"/>
          </a:xfrm>
          <a:prstGeom prst="ellipse">
            <a:avLst/>
          </a:prstGeom>
          <a:solidFill>
            <a:schemeClr val="tx2"/>
          </a:solidFill>
          <a:ln/>
        </p:spPr>
      </p:sp>
      <p:pic>
        <p:nvPicPr>
          <p:cNvPr id="4" name="Image 0" descr="Experimento"/>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371600"/>
            <a:ext cx="10180015" cy="777240"/>
          </a:xfrm>
          <a:prstGeom prst="rect">
            <a:avLst/>
          </a:prstGeom>
          <a:noFill/>
          <a:ln/>
        </p:spPr>
        <p:txBody>
          <a:bodyPr wrap="square" lIns="0" tIns="0" rIns="0" bIns="0" rtlCol="0" anchor="ctr"/>
          <a:lstStyle/>
          <a:p>
            <a:pPr marL="0" indent="0">
              <a:buNone/>
            </a:pPr>
            <a:r>
              <a:rPr lang="en-US" sz="1800" dirty="0">
                <a:solidFill>
                  <a:schemeClr val="tx1"/>
                </a:solidFill>
              </a:rPr>
              <a:t>Escribieron un relato muy corto: unos solos y otros con ideas de una IA. Después, 600 personas les pusieron nota del 1 al 9, sin saber quién había usado IA.</a:t>
            </a:r>
            <a:endParaRPr lang="en-US" sz="1800" dirty="0"/>
          </a:p>
        </p:txBody>
      </p:sp>
      <p:sp>
        <p:nvSpPr>
          <p:cNvPr id="6" name="Tarjeta"/>
          <p:cNvSpPr/>
          <p:nvPr/>
        </p:nvSpPr>
        <p:spPr>
          <a:xfrm>
            <a:off x="548640" y="2468880"/>
            <a:ext cx="5364327" cy="2651760"/>
          </a:xfrm>
          <a:prstGeom prst="roundRect">
            <a:avLst>
              <a:gd name="adj" fmla="val 5172"/>
            </a:avLst>
          </a:prstGeom>
          <a:solidFill>
            <a:schemeClr val="bg2"/>
          </a:solidFill>
          <a:ln/>
        </p:spPr>
      </p:sp>
      <p:sp>
        <p:nvSpPr>
          <p:cNvPr id="7" name="Text 4"/>
          <p:cNvSpPr txBox="1"/>
          <p:nvPr/>
        </p:nvSpPr>
        <p:spPr>
          <a:xfrm>
            <a:off x="822959" y="2606040"/>
            <a:ext cx="4815687" cy="1097280"/>
          </a:xfrm>
          <a:prstGeom prst="rect">
            <a:avLst/>
          </a:prstGeom>
          <a:noFill/>
          <a:ln/>
        </p:spPr>
        <p:txBody>
          <a:bodyPr wrap="square" lIns="0" tIns="0" rIns="0" bIns="0" rtlCol="0" anchor="ctr"/>
          <a:lstStyle/>
          <a:p>
            <a:pPr marL="0" indent="0" algn="ctr">
              <a:buNone/>
            </a:pPr>
            <a:r>
              <a:rPr lang="en-US" sz="6000" b="1" dirty="0">
                <a:solidFill>
                  <a:schemeClr val="accent2"/>
                </a:solidFill>
              </a:rPr>
              <a:t>5  →  5,4</a:t>
            </a:r>
            <a:endParaRPr lang="en-US" sz="6000" dirty="0"/>
          </a:p>
        </p:txBody>
      </p:sp>
      <p:sp>
        <p:nvSpPr>
          <p:cNvPr id="8" name="Text 5"/>
          <p:cNvSpPr txBox="1"/>
          <p:nvPr/>
        </p:nvSpPr>
        <p:spPr>
          <a:xfrm>
            <a:off x="822959"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Cada relato, un poco mejor</a:t>
            </a:r>
            <a:endParaRPr lang="en-US" sz="2000" dirty="0"/>
          </a:p>
          <a:p>
            <a:pPr marL="0" indent="0" algn="ctr">
              <a:buNone/>
            </a:pPr>
            <a:r>
              <a:rPr lang="en-US" sz="1500" dirty="0">
                <a:solidFill>
                  <a:schemeClr val="tx2"/>
                </a:solidFill>
              </a:rPr>
              <a:t>Con ideas de la IA, la nota sube un poco: si sin IA sacaban un 5, con IA sacaban un 5,4.</a:t>
            </a:r>
            <a:endParaRPr lang="en-US" sz="2000" dirty="0"/>
          </a:p>
        </p:txBody>
      </p:sp>
      <p:sp>
        <p:nvSpPr>
          <p:cNvPr id="12" name="Tarjeta"/>
          <p:cNvSpPr/>
          <p:nvPr/>
        </p:nvSpPr>
        <p:spPr>
          <a:xfrm>
            <a:off x="6278727" y="2468880"/>
            <a:ext cx="5364327" cy="2651760"/>
          </a:xfrm>
          <a:prstGeom prst="roundRect">
            <a:avLst>
              <a:gd name="adj" fmla="val 5172"/>
            </a:avLst>
          </a:prstGeom>
          <a:solidFill>
            <a:schemeClr val="bg2"/>
          </a:solidFill>
          <a:ln/>
        </p:spPr>
      </p:sp>
      <p:sp>
        <p:nvSpPr>
          <p:cNvPr id="13" name="Text 10"/>
          <p:cNvSpPr txBox="1"/>
          <p:nvPr/>
        </p:nvSpPr>
        <p:spPr>
          <a:xfrm>
            <a:off x="6553047" y="2606040"/>
            <a:ext cx="4815687" cy="1097280"/>
          </a:xfrm>
          <a:prstGeom prst="rect">
            <a:avLst/>
          </a:prstGeom>
          <a:noFill/>
          <a:ln/>
        </p:spPr>
        <p:txBody>
          <a:bodyPr wrap="square" lIns="0" tIns="0" rIns="0" bIns="0" rtlCol="0" anchor="ctr"/>
          <a:lstStyle/>
          <a:p>
            <a:pPr marL="0" indent="0" algn="ctr">
              <a:buNone/>
            </a:pPr>
            <a:r>
              <a:rPr lang="en-US" sz="4800" b="1" dirty="0">
                <a:solidFill>
                  <a:schemeClr val="accent3"/>
                </a:solidFill>
              </a:rPr>
              <a:t>Más parecidos</a:t>
            </a:r>
            <a:endParaRPr lang="en-US" sz="6000" dirty="0"/>
          </a:p>
        </p:txBody>
      </p:sp>
      <p:sp>
        <p:nvSpPr>
          <p:cNvPr id="14" name="Text 11"/>
          <p:cNvSpPr txBox="1"/>
          <p:nvPr/>
        </p:nvSpPr>
        <p:spPr>
          <a:xfrm>
            <a:off x="6553047"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Todos los relatos, más iguales</a:t>
            </a:r>
            <a:endParaRPr lang="en-US" sz="2000" dirty="0"/>
          </a:p>
          <a:p>
            <a:pPr marL="0" indent="0" algn="ctr">
              <a:buNone/>
            </a:pPr>
            <a:r>
              <a:rPr lang="en-US" sz="1500" dirty="0">
                <a:solidFill>
                  <a:schemeClr val="tx2"/>
                </a:solidFill>
              </a:rPr>
              <a:t>Un ordenador comparó los textos: los hechos con IA tiraban hacia las mismas ideas.</a:t>
            </a:r>
            <a:endParaRPr lang="en-US" sz="2000" dirty="0"/>
          </a:p>
        </p:txBody>
      </p:sp>
      <p:sp>
        <p:nvSpPr>
          <p:cNvPr id="15" name="Text 12"/>
          <p:cNvSpPr txBox="1"/>
          <p:nvPr/>
        </p:nvSpPr>
        <p:spPr>
          <a:xfrm>
            <a:off x="548640" y="5394960"/>
            <a:ext cx="11094415" cy="365760"/>
          </a:xfrm>
          <a:prstGeom prst="rect">
            <a:avLst/>
          </a:prstGeom>
          <a:noFill/>
          <a:ln/>
        </p:spPr>
        <p:txBody>
          <a:bodyPr wrap="square" lIns="0" tIns="0" rIns="0" bIns="0" rtlCol="0" anchor="ctr"/>
          <a:lstStyle/>
          <a:p>
            <a:pPr marL="0" indent="0">
              <a:buNone/>
            </a:pPr>
            <a:r>
              <a:rPr lang="en-US" sz="1300" i="1" dirty="0">
                <a:solidFill>
                  <a:schemeClr val="accent5"/>
                </a:solidFill>
              </a:rPr>
              <a:t>Doshi y Hauser (2024), Science Advances. A quien más ayudó la IA fue a las personas menos creativas.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dilema</a:t>
            </a:r>
            <a:endParaRPr lang="en-US" sz="3200" dirty="0"/>
          </a:p>
        </p:txBody>
      </p:sp>
      <p:sp>
        <p:nvSpPr>
          <p:cNvPr id="3" name="Tarjeta"/>
          <p:cNvSpPr/>
          <p:nvPr/>
        </p:nvSpPr>
        <p:spPr>
          <a:xfrm>
            <a:off x="548640" y="1508760"/>
            <a:ext cx="5349240" cy="1920240"/>
          </a:xfrm>
          <a:prstGeom prst="roundRect">
            <a:avLst>
              <a:gd name="adj" fmla="val 7143"/>
            </a:avLst>
          </a:prstGeom>
          <a:solidFill>
            <a:schemeClr val="bg2"/>
          </a:solidFill>
          <a:ln/>
        </p:spPr>
      </p:sp>
      <p:sp>
        <p:nvSpPr>
          <p:cNvPr id="4" name="Cada persona"/>
          <p:cNvSpPr/>
          <p:nvPr/>
        </p:nvSpPr>
        <p:spPr>
          <a:xfrm>
            <a:off x="868680" y="1783080"/>
            <a:ext cx="1371600" cy="1371600"/>
          </a:xfrm>
          <a:prstGeom prst="ellipse">
            <a:avLst/>
          </a:prstGeom>
          <a:solidFill>
            <a:schemeClr val="accent2"/>
          </a:solidFill>
          <a:ln/>
        </p:spPr>
      </p:sp>
      <p:pic>
        <p:nvPicPr>
          <p:cNvPr id="5" name="Image 0" descr="Cada persona"/>
          <p:cNvPicPr>
            <a:picLocks noChangeAspect="1"/>
          </p:cNvPicPr>
          <p:nvPr/>
        </p:nvPicPr>
        <p:blipFill>
          <a:blip r:embed="rId3"/>
          <a:stretch>
            <a:fillRect/>
          </a:stretch>
        </p:blipFill>
        <p:spPr>
          <a:xfrm>
            <a:off x="1197864" y="2112264"/>
            <a:ext cx="713232" cy="713232"/>
          </a:xfrm>
          <a:prstGeom prst="rect">
            <a:avLst/>
          </a:prstGeom>
        </p:spPr>
      </p:pic>
      <p:sp>
        <p:nvSpPr>
          <p:cNvPr id="6" name="Text 3"/>
          <p:cNvSpPr txBox="1"/>
          <p:nvPr/>
        </p:nvSpPr>
        <p:spPr>
          <a:xfrm>
            <a:off x="2468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Cada persona</a:t>
            </a:r>
            <a:endParaRPr lang="en-US" sz="2000" dirty="0"/>
          </a:p>
          <a:p>
            <a:pPr marL="0" indent="0">
              <a:buNone/>
            </a:pPr>
            <a:r>
              <a:rPr lang="en-US" sz="2000" dirty="0">
                <a:solidFill>
                  <a:schemeClr val="tx1"/>
                </a:solidFill>
              </a:rPr>
              <a:t>sale ganando: su resultado es mejor.</a:t>
            </a:r>
            <a:endParaRPr lang="en-US" sz="2000" dirty="0"/>
          </a:p>
        </p:txBody>
      </p:sp>
      <p:sp>
        <p:nvSpPr>
          <p:cNvPr id="7" name="Tarjeta"/>
          <p:cNvSpPr/>
          <p:nvPr/>
        </p:nvSpPr>
        <p:spPr>
          <a:xfrm>
            <a:off x="6263640" y="1508760"/>
            <a:ext cx="5349240" cy="1920240"/>
          </a:xfrm>
          <a:prstGeom prst="roundRect">
            <a:avLst>
              <a:gd name="adj" fmla="val 7143"/>
            </a:avLst>
          </a:prstGeom>
          <a:solidFill>
            <a:schemeClr val="bg2"/>
          </a:solidFill>
          <a:ln/>
        </p:spPr>
      </p:sp>
      <p:sp>
        <p:nvSpPr>
          <p:cNvPr id="8" name="El conjunto"/>
          <p:cNvSpPr/>
          <p:nvPr/>
        </p:nvSpPr>
        <p:spPr>
          <a:xfrm>
            <a:off x="6583680" y="1783080"/>
            <a:ext cx="1371600" cy="1371600"/>
          </a:xfrm>
          <a:prstGeom prst="ellipse">
            <a:avLst/>
          </a:prstGeom>
          <a:solidFill>
            <a:schemeClr val="accent3"/>
          </a:solidFill>
          <a:ln/>
        </p:spPr>
      </p:sp>
      <p:pic>
        <p:nvPicPr>
          <p:cNvPr id="9" name="Image 1" descr="El conjunto"/>
          <p:cNvPicPr>
            <a:picLocks noChangeAspect="1"/>
          </p:cNvPicPr>
          <p:nvPr/>
        </p:nvPicPr>
        <p:blipFill>
          <a:blip r:embed="rId4"/>
          <a:stretch>
            <a:fillRect/>
          </a:stretch>
        </p:blipFill>
        <p:spPr>
          <a:xfrm>
            <a:off x="6912864" y="2112264"/>
            <a:ext cx="713232" cy="713232"/>
          </a:xfrm>
          <a:prstGeom prst="rect">
            <a:avLst/>
          </a:prstGeom>
        </p:spPr>
      </p:pic>
      <p:sp>
        <p:nvSpPr>
          <p:cNvPr id="10" name="Text 6"/>
          <p:cNvSpPr txBox="1"/>
          <p:nvPr/>
        </p:nvSpPr>
        <p:spPr>
          <a:xfrm>
            <a:off x="8183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El conjunto</a:t>
            </a:r>
            <a:endParaRPr lang="en-US" sz="2000" dirty="0"/>
          </a:p>
          <a:p>
            <a:pPr marL="0" indent="0">
              <a:buNone/>
            </a:pPr>
            <a:r>
              <a:rPr lang="en-US" sz="2000" dirty="0">
                <a:solidFill>
                  <a:schemeClr val="tx1"/>
                </a:solidFill>
              </a:rPr>
              <a:t>sale perdiendo: todo se parece más.</a:t>
            </a:r>
            <a:endParaRPr lang="en-US" sz="2000" dirty="0"/>
          </a:p>
        </p:txBody>
      </p:sp>
      <p:sp>
        <p:nvSpPr>
          <p:cNvPr id="11" name="Cita"/>
          <p:cNvSpPr/>
          <p:nvPr/>
        </p:nvSpPr>
        <p:spPr>
          <a:xfrm>
            <a:off x="548640" y="3749040"/>
            <a:ext cx="11094415" cy="1371600"/>
          </a:xfrm>
          <a:prstGeom prst="roundRect">
            <a:avLst>
              <a:gd name="adj" fmla="val 10000"/>
            </a:avLst>
          </a:prstGeom>
          <a:solidFill>
            <a:schemeClr val="tx1"/>
          </a:solidFill>
          <a:ln/>
        </p:spPr>
      </p:sp>
      <p:sp>
        <p:nvSpPr>
          <p:cNvPr id="12" name="Text 8"/>
          <p:cNvSpPr txBox="1"/>
          <p:nvPr/>
        </p:nvSpPr>
        <p:spPr>
          <a:xfrm>
            <a:off x="868680" y="3749040"/>
            <a:ext cx="10454335" cy="137160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«Individualmente, los escritores salen ganando; colectivamente, se produce un abanico más estrecho de contenido nuevo.»</a:t>
            </a:r>
            <a:endParaRPr lang="en-US" sz="1900" dirty="0"/>
          </a:p>
          <a:p>
            <a:pPr marL="0" indent="0">
              <a:spcAft>
                <a:spcPts val="600"/>
              </a:spcAft>
              <a:buNone/>
            </a:pPr>
            <a:r>
              <a:rPr lang="en-US" sz="1300" b="1" dirty="0">
                <a:solidFill>
                  <a:schemeClr val="accent1"/>
                </a:solidFill>
              </a:rPr>
              <a:t>Doshi y Hauser (2024), Science Advances</a:t>
            </a:r>
            <a:endParaRPr lang="en-US" sz="1900" dirty="0"/>
          </a:p>
        </p:txBody>
      </p:sp>
      <p:sp>
        <p:nvSpPr>
          <p:cNvPr id="13" name="Text 9"/>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Exactamente lo que pasó con Unreal Engine 5: cada juego, más bonito; todos, más parecidos.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misma historia, dos herramientas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794760"/>
        </p:xfrm>
        <a:graphic>
          <a:graphicData uri="http://schemas.openxmlformats.org/drawingml/2006/table">
            <a:tbl>
              <a:tblPr/>
              <a:tblGrid>
                <a:gridCol w="2194560">
                  <a:extLst>
                    <a:ext uri="{9D8B030D-6E8A-4147-A177-3AD203B41FA5}">
                      <a16:colId xmlns:a16="http://schemas.microsoft.com/office/drawing/2014/main" val="20000"/>
                    </a:ext>
                  </a:extLst>
                </a:gridCol>
                <a:gridCol w="4448556">
                  <a:extLst>
                    <a:ext uri="{9D8B030D-6E8A-4147-A177-3AD203B41FA5}">
                      <a16:colId xmlns:a16="http://schemas.microsoft.com/office/drawing/2014/main" val="20001"/>
                    </a:ext>
                  </a:extLst>
                </a:gridCol>
                <a:gridCol w="4448556">
                  <a:extLst>
                    <a:ext uri="{9D8B030D-6E8A-4147-A177-3AD203B41FA5}">
                      <a16:colId xmlns:a16="http://schemas.microsoft.com/office/drawing/2014/main" val="20002"/>
                    </a:ext>
                  </a:extLst>
                </a:gridCol>
              </a:tblGrid>
              <a:tr h="594360">
                <a:tc>
                  <a:txBody>
                    <a:bodyPr/>
                    <a:lstStyle/>
                    <a:p>
                      <a:pPr marL="0" indent="0">
                        <a:buNone/>
                      </a:pP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1"/>
                    </a:solidFill>
                  </a:tcPr>
                </a:tc>
                <a:tc>
                  <a:txBody>
                    <a:bodyPr/>
                    <a:lstStyle/>
                    <a:p>
                      <a:pPr marL="0" indent="0">
                        <a:buNone/>
                      </a:pPr>
                      <a:r>
                        <a:rPr lang="en-US" sz="1900" b="1" dirty="0">
                          <a:solidFill>
                            <a:schemeClr val="bg1"/>
                          </a:solidFill>
                        </a:rPr>
                        <a:t>Unreal Engine 5</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900" b="1" dirty="0">
                          <a:solidFill>
                            <a:schemeClr val="bg1"/>
                          </a:solidFill>
                        </a:rPr>
                        <a:t>La IA</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868680">
                <a:tc>
                  <a:txBody>
                    <a:bodyPr/>
                    <a:lstStyle/>
                    <a:p>
                      <a:pPr marL="0" indent="0">
                        <a:buNone/>
                      </a:pPr>
                      <a:r>
                        <a:rPr lang="en-US" sz="1700" b="1" dirty="0">
                          <a:solidFill>
                            <a:schemeClr val="tx1"/>
                          </a:solidFill>
                        </a:rPr>
                        <a:t>Lo que ofrece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Luz, detalle y materiales de gran estudio, automáticamente.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Ideas, textos y resúmenes de calidad, en segundos.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700" b="1" dirty="0">
                          <a:solidFill>
                            <a:schemeClr val="tx1"/>
                          </a:solidFill>
                        </a:rPr>
                        <a:t>El atajo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los ajustes por defecto.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la primera respuesta.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700" b="1" dirty="0">
                          <a:solidFill>
                            <a:schemeClr val="tx1"/>
                          </a:solidFill>
                        </a:rPr>
                        <a:t>El resultado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Juegos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Cartas de presentación, propuestas e ideas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731520">
                <a:tc>
                  <a:txBody>
                    <a:bodyPr/>
                    <a:lstStyle/>
                    <a:p>
                      <a:pPr marL="0" indent="0">
                        <a:buNone/>
                      </a:pPr>
                      <a:r>
                        <a:rPr lang="en-US" sz="1700" b="1" dirty="0">
                          <a:solidFill>
                            <a:schemeClr val="tx1"/>
                          </a:solidFill>
                        </a:rPr>
                        <a:t>Quién destaca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un estilo propio.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ideas propias.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La moraleja</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herramienta es el lienzo, no el pintor.</a:t>
            </a:r>
            <a:endParaRPr lang="en-US" sz="3400" dirty="0"/>
          </a:p>
          <a:p>
            <a:pPr marL="0" indent="0">
              <a:buNone/>
            </a:pPr>
            <a:r>
              <a:rPr lang="en-US" sz="3400" dirty="0">
                <a:solidFill>
                  <a:schemeClr val="accent1"/>
                </a:solidFill>
              </a:rPr>
              <a:t>Primero pensamos las personas; después, la IA amplía lo nuestro.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Fuentes</a:t>
            </a:r>
            <a:endParaRPr lang="en-US" sz="3200" dirty="0"/>
          </a:p>
        </p:txBody>
      </p:sp>
      <p:sp>
        <p:nvSpPr>
          <p:cNvPr id="3" name="Fuentes"/>
          <p:cNvSpPr/>
          <p:nvPr/>
        </p:nvSpPr>
        <p:spPr>
          <a:xfrm>
            <a:off x="548640" y="1417320"/>
            <a:ext cx="685800" cy="685800"/>
          </a:xfrm>
          <a:prstGeom prst="ellipse">
            <a:avLst/>
          </a:prstGeom>
          <a:solidFill>
            <a:schemeClr val="tx2"/>
          </a:solidFill>
          <a:ln/>
        </p:spPr>
      </p:sp>
      <p:pic>
        <p:nvPicPr>
          <p:cNvPr id="4" name="Image 0" descr="Fuentes"/>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417320"/>
            <a:ext cx="10180015" cy="4572000"/>
          </a:xfrm>
          <a:prstGeom prst="rect">
            <a:avLst/>
          </a:prstGeom>
          <a:noFill/>
          <a:ln/>
        </p:spPr>
        <p:txBody>
          <a:bodyPr wrap="square" lIns="0" tIns="0" rIns="0" bIns="0" rtlCol="0" anchor="t"/>
          <a:lstStyle/>
          <a:p>
            <a:pPr marL="0" indent="0">
              <a:buNone/>
            </a:pPr>
            <a:r>
              <a:rPr lang="en-US" sz="1500" dirty="0">
                <a:solidFill>
                  <a:schemeClr val="tx1"/>
                </a:solidFill>
              </a:rPr>
              <a:t>Doshi, A. R. y Hauser, O. P. (2024). Generative AI enhances individual creativity but reduces the collective diversity of novel content. Science Advances, 10(28).</a:t>
            </a:r>
            <a:endParaRPr lang="en-US" sz="1500" dirty="0"/>
          </a:p>
          <a:p>
            <a:pPr marL="0" indent="0">
              <a:spcAft>
                <a:spcPts val="1000"/>
              </a:spcAft>
              <a:buNone/>
            </a:pPr>
            <a:r>
              <a:rPr lang="en-US" sz="1200" u="sng" dirty="0">
                <a:solidFill>
                  <a:schemeClr val="accent2"/>
                </a:solidFill>
                <a:hlinkClick r:id="rId4">
                  <a:extLst>
                    <a:ext uri="{A12FA001-AC4F-418D-AE19-62706E023703}">
                      <ahyp:hlinkClr xmlns:ahyp="http://schemas.microsoft.com/office/drawing/2018/hyperlinkcolor" val="tx"/>
                    </a:ext>
                  </a:extLst>
                </a:hlinkClick>
              </a:rPr>
              <a:t>https://pmc.ncbi.nlm.nih.gov/articles/PMC11244532</a:t>
            </a:r>
            <a:endParaRPr lang="en-US" sz="1500" dirty="0"/>
          </a:p>
          <a:p>
            <a:pPr marL="0" indent="0">
              <a:buNone/>
            </a:pPr>
            <a:r>
              <a:rPr lang="en-US" sz="1500" dirty="0">
                <a:solidFill>
                  <a:schemeClr val="tx1"/>
                </a:solidFill>
              </a:rPr>
              <a:t>«Unreal Engine 5». Wikipedia.</a:t>
            </a:r>
            <a:endParaRPr lang="en-US" sz="1500" dirty="0"/>
          </a:p>
          <a:p>
            <a:pPr marL="0" indent="0">
              <a:spcAft>
                <a:spcPts val="1000"/>
              </a:spcAft>
              <a:buNone/>
            </a:pPr>
            <a:r>
              <a:rPr lang="en-US" sz="1200" u="sng" dirty="0">
                <a:solidFill>
                  <a:schemeClr val="accent2"/>
                </a:solidFill>
                <a:hlinkClick r:id="rId5">
                  <a:extLst>
                    <a:ext uri="{A12FA001-AC4F-418D-AE19-62706E023703}">
                      <ahyp:hlinkClr xmlns:ahyp="http://schemas.microsoft.com/office/drawing/2018/hyperlinkcolor" val="tx"/>
                    </a:ext>
                  </a:extLst>
                </a:hlinkClick>
              </a:rPr>
              <a:t>https://en.wikipedia.org/wiki/Unreal_Engine_5</a:t>
            </a:r>
            <a:endParaRPr lang="en-US" sz="1500" dirty="0"/>
          </a:p>
          <a:p>
            <a:pPr marL="0" indent="0">
              <a:buNone/>
            </a:pPr>
            <a:r>
              <a:rPr lang="en-US" sz="1500" dirty="0">
                <a:solidFill>
                  <a:schemeClr val="tx1"/>
                </a:solidFill>
              </a:rPr>
              <a:t>Creative Bloq. «Using Unreal Engine 5 “can be a trap”, says the dev behind Clair Obscur: Expedition 33».</a:t>
            </a:r>
            <a:endParaRPr lang="en-US" sz="1500" dirty="0"/>
          </a:p>
          <a:p>
            <a:pPr marL="0" indent="0">
              <a:spcAft>
                <a:spcPts val="1000"/>
              </a:spcAft>
              <a:buNone/>
            </a:pPr>
            <a:r>
              <a:rPr lang="en-US" sz="1200" u="sng" dirty="0">
                <a:solidFill>
                  <a:schemeClr val="accent2"/>
                </a:solidFill>
                <a:hlinkClick r:id="rId6">
                  <a:extLst>
                    <a:ext uri="{A12FA001-AC4F-418D-AE19-62706E023703}">
                      <ahyp:hlinkClr xmlns:ahyp="http://schemas.microsoft.com/office/drawing/2018/hyperlinkcolor" val="tx"/>
                    </a:ext>
                  </a:extLst>
                </a:hlinkClick>
              </a:rPr>
              <a:t>https://creativebloq.com/3d/video-game-design/using-unreal-engine-5-can-be-a-trap-says-the-dev-behind-clair-obscur-expedition-33</a:t>
            </a:r>
            <a:endParaRPr lang="en-US" sz="1500" dirty="0"/>
          </a:p>
          <a:p>
            <a:pPr marL="0" indent="0">
              <a:buNone/>
            </a:pPr>
            <a:r>
              <a:rPr lang="en-US" sz="1500" dirty="0">
                <a:solidFill>
                  <a:schemeClr val="tx1"/>
                </a:solidFill>
              </a:rPr>
              <a:t>Windows Central. Ganadores de The Game Awards 2025.</a:t>
            </a:r>
            <a:endParaRPr lang="en-US" sz="1500" dirty="0"/>
          </a:p>
          <a:p>
            <a:pPr marL="0" indent="0">
              <a:spcAft>
                <a:spcPts val="1000"/>
              </a:spcAft>
              <a:buNone/>
            </a:pPr>
            <a:r>
              <a:rPr lang="en-US" sz="1200" u="sng" dirty="0">
                <a:solidFill>
                  <a:schemeClr val="accent2"/>
                </a:solidFill>
                <a:hlinkClick r:id="rId7">
                  <a:extLst>
                    <a:ext uri="{A12FA001-AC4F-418D-AE19-62706E023703}">
                      <ahyp:hlinkClr xmlns:ahyp="http://schemas.microsoft.com/office/drawing/2018/hyperlinkcolor" val="tx"/>
                    </a:ext>
                  </a:extLst>
                </a:hlinkClick>
              </a:rPr>
              <a:t>https://www.windowscentral.com/gaming/the-game-awards-2025-winners</a:t>
            </a:r>
            <a:endParaRPr lang="en-US" sz="1500" dirty="0"/>
          </a:p>
          <a:p>
            <a:pPr marL="0" indent="0">
              <a:buNone/>
            </a:pPr>
            <a:r>
              <a:rPr lang="en-US" sz="1500" dirty="0">
                <a:solidFill>
                  <a:schemeClr val="tx1"/>
                </a:solidFill>
              </a:rPr>
              <a:t>ResetEra. «I'm already starting to feel tired of Unreal Engine 5» (abril de 2026).</a:t>
            </a:r>
            <a:endParaRPr lang="en-US" sz="1500" dirty="0"/>
          </a:p>
          <a:p>
            <a:pPr marL="0" indent="0">
              <a:spcAft>
                <a:spcPts val="1000"/>
              </a:spcAft>
              <a:buNone/>
            </a:pPr>
            <a:r>
              <a:rPr lang="en-US" sz="1200" u="sng" dirty="0">
                <a:solidFill>
                  <a:schemeClr val="accent2"/>
                </a:solidFill>
                <a:hlinkClick r:id="rId8">
                  <a:extLst>
                    <a:ext uri="{A12FA001-AC4F-418D-AE19-62706E023703}">
                      <ahyp:hlinkClr xmlns:ahyp="http://schemas.microsoft.com/office/drawing/2018/hyperlinkcolor" val="tx"/>
                    </a:ext>
                  </a:extLst>
                </a:hlinkClick>
              </a:rPr>
              <a:t>https://www.resetera.com/threads/im-already-starting-to-feel-tired-of-unreal-engine-5.1487680/</a:t>
            </a:r>
            <a:endParaRPr lang="en-US" sz="15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TotalTime>
  <Words>1976</Words>
  <Application>Microsoft Office PowerPoint</Application>
  <PresentationFormat>Panorámica</PresentationFormat>
  <Paragraphs>145</Paragraphs>
  <Slides>13</Slides>
  <Notes>13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13</vt:i4>
      </vt:variant>
    </vt:vector>
  </HeadingPairs>
  <TitlesOfParts>
    <vt:vector size="16" baseType="lpstr">
      <vt:lpstr>Arial</vt:lpstr>
      <vt:lpstr>Calibri</vt:lpstr>
      <vt:lpstr>Creatividad, ofimática e IA</vt:lpstr>
      <vt:lpstr>Misma herramienta, mismo resultado</vt:lpstr>
      <vt:lpstr>Presentación de PowerPoint</vt:lpstr>
      <vt:lpstr>Unreal Engine 5: un salto enorme</vt:lpstr>
      <vt:lpstr>La promesa: calidad de gran estudio para cualquiera</vt:lpstr>
      <vt:lpstr>Lo que pasó después</vt:lpstr>
      <vt:lpstr>¿Por qué se parecían?</vt:lpstr>
      <vt:lpstr>El contraejemplo: Clair Obscur: Expedition 33</vt:lpstr>
      <vt:lpstr>Presentación de PowerPoint</vt:lpstr>
      <vt:lpstr>Un experimento con 293 escritores</vt:lpstr>
      <vt:lpstr>El dilema</vt:lpstr>
      <vt:lpstr>La misma historia, dos herramientas</vt:lpstr>
      <vt:lpstr>Presentación de PowerPoint</vt:lpstr>
      <vt:lpstr>Fuentes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Historia Unreal: misma herramienta, mismo resultado</dc:title>
  <dc:subject>Desarrollo de las habilidades creativas e innovadoras con herramientas ofimáticas y de inteligencia artificial</dc:subject>
  <dc:creator>PptxGenJS</dc:creator>
  <cp:lastModifiedBy>Javier Nieto</cp:lastModifiedBy>
  <cp:revision>6</cp:revision>
  <dcterms:created xsi:type="dcterms:W3CDTF">2026-10-17T17:46:57Z</dcterms:created>
  <dcterms:modified xsi:type="dcterms:W3CDTF">2026-10-17T18:25:00Z</dcterms:modified>
</cp:coreProperties>
</file>