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erva 1" id="{a2511010-009a-2b99-5972-72ea62ac1ef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de reserva: solo si sobra tiempo al final. Recorre entero, de forma continua y rápida, el proceso del curso sobre un caso nuevo y por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no hay nada nuevo: es el mismo proceso del curso, en rápido. Llevar el tiempo de forma estricta.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0–3. Leer los datos base. Los problemas los aporta el grupo: casi todo el mundo vive o ha vivido en una comunidad de vecinos. Elegir entre todos un problema común y formularlo como reto «¿Cómo podríamos…?», sin que contenga ya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minutos, por parejas y sin IA. Que apunten las ideas: las pegarán en el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El prompt está en el guion para copiarlo. Primero las personas, después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terminar la fase 1. Las parejas descartan o adaptan las ideas que ya no sirven.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Sin matriz todavía: solo quedarse con 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La misma matriz del bloque 3. La ganadora no tiene por qué ser la de mayor puntuación, pero si no lo es hay que explicar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La IA puede ayudar a redactar, pero la ficha la revisa la pareja. El indicador, igual que en el bloque 4: qué se mediría y cómo, no lo que se conseguirá.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minutos: con ocho parejas, un minuto de defensa y la pregunta. Qué buscar al corregir:
- El reto está bien formulado: no contiene ya la solución y se centra en las personas.
- La propuesta se ha adaptado al giro: funciona para quien no usa WhatsApp ni smartphone.
- La elección se justifica con la matriz, no solo con «nos gusta».
- El indicador es medible y no viene acompañado de resultados inventados.
- No aparecen datos personales de vecinos en lo que se ha introducido en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Ejercicio de reserva 1 · La comunidad de vecinos que no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Ejercicio de reserva 1 · La comunidad de vecinos que no funciona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comunidad de vecinos que no funciona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Ejercicio de reserva 1 · 30 minutos · técnica: brainstorming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Todo el proceso, en 30 minutos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Lo mismo que hemos hecho durante el curso, pero seguido y rápido:</a:t>
            </a:r>
            <a:endParaRPr lang="en-US" sz="1900" dirty="0"/>
          </a:p>
        </p:txBody>
      </p:sp>
      <p:sp>
        <p:nvSpPr>
          <p:cNvPr id="4" name="Tarjeta"/>
          <p:cNvSpPr/>
          <p:nvPr/>
        </p:nvSpPr>
        <p:spPr>
          <a:xfrm>
            <a:off x="548640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5" name="1. Generar ideas"/>
          <p:cNvSpPr/>
          <p:nvPr/>
        </p:nvSpPr>
        <p:spPr>
          <a:xfrm>
            <a:off x="1027146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1. Generar id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547" y="25274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Generar ideas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3–10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48067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0" name="Tarjeta"/>
          <p:cNvSpPr/>
          <p:nvPr/>
        </p:nvSpPr>
        <p:spPr>
          <a:xfrm>
            <a:off x="2831531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1" name="2. Seleccionar"/>
          <p:cNvSpPr/>
          <p:nvPr/>
        </p:nvSpPr>
        <p:spPr>
          <a:xfrm>
            <a:off x="3310037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2. Seleccion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38" y="252740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68691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Seleccionar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68691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10–12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30958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6" name="Tarjeta"/>
          <p:cNvSpPr/>
          <p:nvPr/>
        </p:nvSpPr>
        <p:spPr>
          <a:xfrm>
            <a:off x="5114422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7" name="3. Comparar y elegir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3. Comparar y eleg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52740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1582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Comparar y elegir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51582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12–17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113849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2" name="Tarjeta"/>
          <p:cNvSpPr/>
          <p:nvPr/>
        </p:nvSpPr>
        <p:spPr>
          <a:xfrm>
            <a:off x="7397313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3" name="4. Documentar"/>
          <p:cNvSpPr/>
          <p:nvPr/>
        </p:nvSpPr>
        <p:spPr>
          <a:xfrm>
            <a:off x="7875819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4. Documen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220" y="2527402"/>
            <a:ext cx="523037" cy="5230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34473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Documentar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34473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17–22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396740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8" name="Tarjeta"/>
          <p:cNvSpPr/>
          <p:nvPr/>
        </p:nvSpPr>
        <p:spPr>
          <a:xfrm>
            <a:off x="9680204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9" name="5. Defender"/>
          <p:cNvSpPr/>
          <p:nvPr/>
        </p:nvSpPr>
        <p:spPr>
          <a:xfrm>
            <a:off x="10158710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5. Defen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0111" y="2527402"/>
            <a:ext cx="523037" cy="5230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17364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Defender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17364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22–30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Técnica de este ejercicio: Brainstorming.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caso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662111" y="548640"/>
            <a:ext cx="298094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62111" y="5486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0–3 · Todo el grupo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Comunidad de propietarios Los Almendros, 14. Sois el equipo del pequeño despacho de administración de fincas que la gestiona.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Dato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D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9631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32 viviendas, un bar en el bajo y un ascensor de 25 años.</a:t>
            </a:r>
            <a:endParaRPr lang="en-US" sz="1600" dirty="0"/>
          </a:p>
        </p:txBody>
      </p:sp>
      <p:sp>
        <p:nvSpPr>
          <p:cNvPr id="10" name="Tarjeta"/>
          <p:cNvSpPr/>
          <p:nvPr/>
        </p:nvSpPr>
        <p:spPr>
          <a:xfrm>
            <a:off x="4353458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Dato"/>
          <p:cNvSpPr/>
          <p:nvPr/>
        </p:nvSpPr>
        <p:spPr>
          <a:xfrm>
            <a:off x="4627778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Da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70" y="24963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7778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tercio de mayores de 70 años, familias, 8 pisos de alquiler con inquilinos que cambian y 3 propietarios que viven fuera.</a:t>
            </a:r>
            <a:endParaRPr lang="en-US" sz="1600" dirty="0"/>
          </a:p>
        </p:txBody>
      </p:sp>
      <p:sp>
        <p:nvSpPr>
          <p:cNvPr id="14" name="Tarjeta"/>
          <p:cNvSpPr/>
          <p:nvPr/>
        </p:nvSpPr>
        <p:spPr>
          <a:xfrm>
            <a:off x="8158277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5" name="Dato"/>
          <p:cNvSpPr/>
          <p:nvPr/>
        </p:nvSpPr>
        <p:spPr>
          <a:xfrm>
            <a:off x="8432597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Da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189" y="24963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2597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presidenta de este año es Carmen, de 74 años.</a:t>
            </a:r>
            <a:endParaRPr lang="en-US" sz="1600" dirty="0"/>
          </a:p>
        </p:txBody>
      </p:sp>
      <p:sp>
        <p:nvSpPr>
          <p:cNvPr id="18" name="Mensaje"/>
          <p:cNvSpPr/>
          <p:nvPr/>
        </p:nvSpPr>
        <p:spPr>
          <a:xfrm>
            <a:off x="548640" y="425196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42519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«Esto no funciona. Ayudadnos».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Entre todos: ¿qué suele fallar en una comunidad de vecinos? Elegimos un problema y lo convertimos en reto: «¿Cómo podríamos…?».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1: ideas con brainstorming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398203" y="548640"/>
            <a:ext cx="224485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98203" y="548640"/>
            <a:ext cx="2244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3–7 · Sin IA</a:t>
            </a:r>
            <a:endParaRPr lang="en-US" sz="1400" dirty="0"/>
          </a:p>
        </p:txBody>
      </p:sp>
      <p:sp>
        <p:nvSpPr>
          <p:cNvPr id="5" name="Instrucción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952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1732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Por parejas, todas las ideas que se os ocurran sobre el reto.</a:t>
            </a:r>
            <a:endParaRPr lang="en-US" sz="2000" dirty="0"/>
          </a:p>
        </p:txBody>
      </p:sp>
      <p:sp>
        <p:nvSpPr>
          <p:cNvPr id="8" name="Instrucción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Instru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8382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56032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Cantidad antes que calidad, sin criticar, construyendo sobre otras ideas. Las disparatadas, bienvenidas.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Nuestras ideas:</a:t>
            </a:r>
            <a:endParaRPr lang="en-US" sz="1800" dirty="0"/>
          </a:p>
        </p:txBody>
      </p:sp>
      <p:sp>
        <p:nvSpPr>
          <p:cNvPr id="12" name="Hueco"/>
          <p:cNvSpPr/>
          <p:nvPr/>
        </p:nvSpPr>
        <p:spPr>
          <a:xfrm>
            <a:off x="548640" y="4343400"/>
            <a:ext cx="11094415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3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7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1. Generar ideas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1: más ideas con la IA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293047" y="548640"/>
            <a:ext cx="235000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293047" y="548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7–10 · Con IA</a:t>
            </a:r>
            <a:endParaRPr lang="en-US" sz="1400" dirty="0"/>
          </a:p>
        </p:txBody>
      </p:sp>
      <p:sp>
        <p:nvSpPr>
          <p:cNvPr id="5" name="Prompt"/>
          <p:cNvSpPr/>
          <p:nvPr/>
        </p:nvSpPr>
        <p:spPr>
          <a:xfrm>
            <a:off x="548640" y="1417320"/>
            <a:ext cx="11094415" cy="1874520"/>
          </a:xfrm>
          <a:prstGeom prst="roundRect">
            <a:avLst>
              <a:gd name="adj" fmla="val 5854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Somos el despacho de administración de una comunidad de 32 viviendas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vecinos mayores, inquilinos que cambian a menudo y propietarios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viven fuera. Este es nuestro reto: 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 tenemos estas ideas: 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ideas de la pareja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Propón diez ideas nuevas que no se parezcan a las nuestras,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bajo coste y que puedan probarse en un mes. Una línea por idea.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Leed lo que propone la IA y añadid a vuestra lista lo que valga la pena.</a:t>
            </a:r>
            <a:endParaRPr lang="en-US" sz="1800" dirty="0"/>
          </a:p>
        </p:txBody>
      </p:sp>
      <p:sp>
        <p:nvSpPr>
          <p:cNvPr id="8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1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1. Generar ideas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Giro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Carmen, la presidenta, no tiene WhatsApp ni smartphone. Un tercio de los propietarios tampoco.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¿Qué ideas ya no sirven? ¿Cuáles podéis adaptar?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2: quedaos con tres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10–12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De todas vuestras ideas y las de la IA, las tres que más os interesan:</a:t>
            </a:r>
            <a:endParaRPr lang="en-US" sz="1900" dirty="0"/>
          </a:p>
        </p:txBody>
      </p:sp>
      <p:sp>
        <p:nvSpPr>
          <p:cNvPr id="6" name="Propuesta 1"/>
          <p:cNvSpPr/>
          <p:nvPr/>
        </p:nvSpPr>
        <p:spPr>
          <a:xfrm>
            <a:off x="548640" y="21671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</a:t>
            </a:r>
            <a:endParaRPr lang="en-US" sz="2400" dirty="0"/>
          </a:p>
        </p:txBody>
      </p:sp>
      <p:sp>
        <p:nvSpPr>
          <p:cNvPr id="8" name="Hueco"/>
          <p:cNvSpPr/>
          <p:nvPr/>
        </p:nvSpPr>
        <p:spPr>
          <a:xfrm>
            <a:off x="1463040" y="196596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9" name="Propuesta 2"/>
          <p:cNvSpPr/>
          <p:nvPr/>
        </p:nvSpPr>
        <p:spPr>
          <a:xfrm>
            <a:off x="548640" y="33558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</a:t>
            </a:r>
            <a:endParaRPr lang="en-US" sz="2400" dirty="0"/>
          </a:p>
        </p:txBody>
      </p:sp>
      <p:sp>
        <p:nvSpPr>
          <p:cNvPr id="11" name="Hueco"/>
          <p:cNvSpPr/>
          <p:nvPr/>
        </p:nvSpPr>
        <p:spPr>
          <a:xfrm>
            <a:off x="1463040" y="315468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2" name="Propuesta 3"/>
          <p:cNvSpPr/>
          <p:nvPr/>
        </p:nvSpPr>
        <p:spPr>
          <a:xfrm>
            <a:off x="548640" y="45445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44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</a:t>
            </a:r>
            <a:endParaRPr lang="en-US" sz="2400" dirty="0"/>
          </a:p>
        </p:txBody>
      </p:sp>
      <p:sp>
        <p:nvSpPr>
          <p:cNvPr id="14" name="Hueco"/>
          <p:cNvSpPr/>
          <p:nvPr/>
        </p:nvSpPr>
        <p:spPr>
          <a:xfrm>
            <a:off x="1463040" y="434340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5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9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2. Seleccionar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3: comparad y elegid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12–17 · Parejas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33295"/>
                <a:gridCol w="1737360"/>
                <a:gridCol w="1737360"/>
                <a:gridCol w="1737360"/>
                <a:gridCol w="173736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Propuesta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Impacto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35 %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Viabilidad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30 %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Bajo coste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Originalidad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Puntuad del 1 al 5 (en «Bajo coste», 5 = muy económica), con la calculadora o en Excel.</a:t>
            </a:r>
            <a:endParaRPr lang="en-US" sz="1600" dirty="0"/>
          </a:p>
        </p:txBody>
      </p:sp>
      <p:sp>
        <p:nvSpPr>
          <p:cNvPr id="7" name="Tarjeta"/>
          <p:cNvSpPr/>
          <p:nvPr/>
        </p:nvSpPr>
        <p:spPr>
          <a:xfrm>
            <a:off x="548640" y="438912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Decisión"/>
          <p:cNvSpPr/>
          <p:nvPr/>
        </p:nvSpPr>
        <p:spPr>
          <a:xfrm>
            <a:off x="822960" y="459028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Deci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754880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438912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Elegimos _______________ porque _______________________________</a:t>
            </a:r>
            <a:endParaRPr lang="en-US" sz="2100" dirty="0"/>
          </a:p>
        </p:txBody>
      </p:sp>
      <p:sp>
        <p:nvSpPr>
          <p:cNvPr id="11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3. Comparar y elegir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4: la ficha, en cinco líneas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17–22 · Parejas</a:t>
            </a:r>
            <a:endParaRPr lang="en-US" sz="1400" dirty="0"/>
          </a:p>
        </p:txBody>
      </p:sp>
      <p:sp>
        <p:nvSpPr>
          <p:cNvPr id="5" name="Problema"/>
          <p:cNvSpPr/>
          <p:nvPr/>
        </p:nvSpPr>
        <p:spPr>
          <a:xfrm>
            <a:off x="548640" y="141732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Problema</a:t>
            </a:r>
            <a:endParaRPr lang="en-US" sz="1700" dirty="0"/>
          </a:p>
        </p:txBody>
      </p:sp>
      <p:sp>
        <p:nvSpPr>
          <p:cNvPr id="7" name="Hueco"/>
          <p:cNvSpPr/>
          <p:nvPr/>
        </p:nvSpPr>
        <p:spPr>
          <a:xfrm>
            <a:off x="4023360" y="1417320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8" name="Solución"/>
          <p:cNvSpPr/>
          <p:nvPr/>
        </p:nvSpPr>
        <p:spPr>
          <a:xfrm>
            <a:off x="548640" y="2221992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21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Solución</a:t>
            </a:r>
            <a:endParaRPr lang="en-US" sz="1700" dirty="0"/>
          </a:p>
        </p:txBody>
      </p:sp>
      <p:sp>
        <p:nvSpPr>
          <p:cNvPr id="10" name="Hueco"/>
          <p:cNvSpPr/>
          <p:nvPr/>
        </p:nvSpPr>
        <p:spPr>
          <a:xfrm>
            <a:off x="4023360" y="2221992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1" name="Qué necesitamos"/>
          <p:cNvSpPr/>
          <p:nvPr/>
        </p:nvSpPr>
        <p:spPr>
          <a:xfrm>
            <a:off x="548640" y="3026664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26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necesitamos</a:t>
            </a:r>
            <a:endParaRPr lang="en-US" sz="1700" dirty="0"/>
          </a:p>
        </p:txBody>
      </p:sp>
      <p:sp>
        <p:nvSpPr>
          <p:cNvPr id="13" name="Hueco"/>
          <p:cNvSpPr/>
          <p:nvPr/>
        </p:nvSpPr>
        <p:spPr>
          <a:xfrm>
            <a:off x="4023360" y="3026664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4" name="Principal riesgo"/>
          <p:cNvSpPr/>
          <p:nvPr/>
        </p:nvSpPr>
        <p:spPr>
          <a:xfrm>
            <a:off x="548640" y="3831336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8313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Principal riesgo</a:t>
            </a:r>
            <a:endParaRPr lang="en-US" sz="1700" dirty="0"/>
          </a:p>
        </p:txBody>
      </p:sp>
      <p:sp>
        <p:nvSpPr>
          <p:cNvPr id="16" name="Hueco"/>
          <p:cNvSpPr/>
          <p:nvPr/>
        </p:nvSpPr>
        <p:spPr>
          <a:xfrm>
            <a:off x="4023360" y="3831336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7" name="Cómo sabremos si funciona"/>
          <p:cNvSpPr/>
          <p:nvPr/>
        </p:nvSpPr>
        <p:spPr>
          <a:xfrm>
            <a:off x="548640" y="4636008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36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sabremos si funciona</a:t>
            </a:r>
            <a:endParaRPr lang="en-US" sz="1700" dirty="0"/>
          </a:p>
        </p:txBody>
      </p:sp>
      <p:sp>
        <p:nvSpPr>
          <p:cNvPr id="19" name="Hueco"/>
          <p:cNvSpPr/>
          <p:nvPr/>
        </p:nvSpPr>
        <p:spPr>
          <a:xfrm>
            <a:off x="4023360" y="4636008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En «Cómo sabremos si funciona»: qué mediríais y cómo, antes y después de una prueba. Sin inventar resultados.</a:t>
            </a:r>
            <a:endParaRPr lang="en-US" sz="1500" dirty="0"/>
          </a:p>
        </p:txBody>
      </p:sp>
      <p:sp>
        <p:nvSpPr>
          <p:cNvPr id="21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4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4. Documentar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5: la junta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22–30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Un minuto por pareja, con la estructura de la defensa:</a:t>
            </a:r>
            <a:endParaRPr lang="en-US" sz="1900" dirty="0"/>
          </a:p>
        </p:txBody>
      </p:sp>
      <p:sp>
        <p:nvSpPr>
          <p:cNvPr id="6" name="Problema"/>
          <p:cNvSpPr/>
          <p:nvPr/>
        </p:nvSpPr>
        <p:spPr>
          <a:xfrm>
            <a:off x="585216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Problema</a:t>
            </a:r>
            <a:endParaRPr lang="en-US" sz="1400" dirty="0"/>
          </a:p>
        </p:txBody>
      </p:sp>
      <p:sp>
        <p:nvSpPr>
          <p:cNvPr id="8" name="Por qué importa"/>
          <p:cNvSpPr/>
          <p:nvPr/>
        </p:nvSpPr>
        <p:spPr>
          <a:xfrm>
            <a:off x="2804099" y="1965960"/>
            <a:ext cx="2145731" cy="10972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16163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 qué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importa</a:t>
            </a:r>
            <a:endParaRPr lang="en-US" sz="1400" dirty="0"/>
          </a:p>
        </p:txBody>
      </p:sp>
      <p:sp>
        <p:nvSpPr>
          <p:cNvPr id="10" name="Qué proponemos"/>
          <p:cNvSpPr/>
          <p:nvPr/>
        </p:nvSpPr>
        <p:spPr>
          <a:xfrm>
            <a:off x="5022982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5046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proponemos</a:t>
            </a:r>
            <a:endParaRPr lang="en-US" sz="1400" dirty="0"/>
          </a:p>
        </p:txBody>
      </p:sp>
      <p:sp>
        <p:nvSpPr>
          <p:cNvPr id="12" name="Cómo lo haríamos"/>
          <p:cNvSpPr/>
          <p:nvPr/>
        </p:nvSpPr>
        <p:spPr>
          <a:xfrm>
            <a:off x="7241865" y="1965960"/>
            <a:ext cx="2145731" cy="10972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53929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Cómo 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haríamos</a:t>
            </a:r>
            <a:endParaRPr lang="en-US" sz="1400" dirty="0"/>
          </a:p>
        </p:txBody>
      </p:sp>
      <p:sp>
        <p:nvSpPr>
          <p:cNvPr id="14" name="Cómo lo mediríamos"/>
          <p:cNvSpPr/>
          <p:nvPr/>
        </p:nvSpPr>
        <p:spPr>
          <a:xfrm>
            <a:off x="9460748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72812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Cómo 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mediríamos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548640" y="3429000"/>
            <a:ext cx="11094415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7" name="Pregunta difícil"/>
          <p:cNvSpPr/>
          <p:nvPr/>
        </p:nvSpPr>
        <p:spPr>
          <a:xfrm>
            <a:off x="868680" y="37033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Pregunta difíc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922776"/>
            <a:ext cx="475488" cy="47548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2057400" y="3429000"/>
            <a:ext cx="9311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Después, una pregunta difícil.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El docente hace de Carmen, la presidenta.</a:t>
            </a:r>
            <a:endParaRPr lang="en-US" sz="2100" dirty="0"/>
          </a:p>
        </p:txBody>
      </p:sp>
      <p:sp>
        <p:nvSpPr>
          <p:cNvPr id="20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1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4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5. Defender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 de reserva 1. La comunidad de vecinos que no funciona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2026-10-18T20:33:00Z</dcterms:created>
  <dcterms:modified xsi:type="dcterms:W3CDTF">2026-10-18T20:33:00Z</dcterms:modified>
</cp:coreProperties>
</file>