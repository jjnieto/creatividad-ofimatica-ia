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erva 1" id="{a2511010-009a-2b99-5972-72ea62ac1ef7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Ejercicio de reserva: solo si sobra tiempo al final. Recorre entero, de forma continua y rápida, el proceso del curso sobre un caso nuevo y por parejas.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Recordar que no hay nada nuevo: es el mismo proceso del curso, en rápido. Llevar el tiempo de forma estricta.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Minutos 0–3. Leer los datos base. Los problemas los aporta el grupo: casi todo el mundo vive o ha vivido en una comunidad de vecinos. Elegir entre todos un problema común y formularlo como reto «¿Cómo podríamos…?», sin que contenga ya la solución.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minutos, por parejas y sin IA. Que apunten las ideas: las pegarán en el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minutos. El prompt está en el guion para copiarlo. Primero las personas, después 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 terminar la fase 1. Las parejas descartan o adaptan las ideas que ya no sirven.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minutos. Sin matriz todavía: solo quedarse con 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La misma matriz del bloque 3. La ganadora no tiene por qué ser la de mayor puntuación, pero si no lo es hay que explicar por qué.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minutos. La IA puede ayudar a redactar, pero la ficha la revisa la pareja. El indicador, igual que en el bloque 4: qué se mediría y cómo, no lo que se conseguirá.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Ocho minutos: con ocho parejas, un minuto de defensa y la pregunta. Qué buscar al corregir:
- El reto está bien formulado: no contiene ya la solución y se centra en las personas.
- La propuesta se ha adaptado al giro: funciona para quien no usa WhatsApp ni smartphone.
- La elección se justifica con la matriz, no solo con «nos gusta».
- El indicador es medible y no viene acompañado de resultados inventados.
- No aparecen datos personales de vecinos en lo que se ha introducido en 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76809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Ejercicio de reserva 1 · La comunidad de vecinos que no funciona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CAD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Ejercicio de reserva 1 · La comunidad de vecinos que no funciona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R1</a:t>
            </a:r>
            <a:endParaRPr lang="en-US" sz="14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108960" y="2103120"/>
            <a:ext cx="8503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 comunidad de vecinos que no funciona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108960" y="3749040"/>
            <a:ext cx="8503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Ejercicio de reserva 1 · 30 minutos · técnica: brainstorming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Todo el proceso, en 30 minutos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Lo mismo que hemos hecho durante el curso, pero seguido y rápido:</a:t>
            </a:r>
            <a:endParaRPr lang="en-US" sz="1900" dirty="0"/>
          </a:p>
        </p:txBody>
      </p:sp>
      <p:sp>
        <p:nvSpPr>
          <p:cNvPr id="4" name="Tarjeta"/>
          <p:cNvSpPr/>
          <p:nvPr/>
        </p:nvSpPr>
        <p:spPr>
          <a:xfrm>
            <a:off x="548640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5" name="1. Generar ideas"/>
          <p:cNvSpPr/>
          <p:nvPr/>
        </p:nvSpPr>
        <p:spPr>
          <a:xfrm>
            <a:off x="1027146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1. Generar ide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8547" y="2527402"/>
            <a:ext cx="523037" cy="52303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Generar ideas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3–10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2548067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0" name="Tarjeta"/>
          <p:cNvSpPr/>
          <p:nvPr/>
        </p:nvSpPr>
        <p:spPr>
          <a:xfrm>
            <a:off x="2831531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1" name="2. Seleccionar"/>
          <p:cNvSpPr/>
          <p:nvPr/>
        </p:nvSpPr>
        <p:spPr>
          <a:xfrm>
            <a:off x="3310037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mage 1" descr="2. Seleccion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1438" y="2527402"/>
            <a:ext cx="523037" cy="52303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68691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Seleccionar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2968691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10–12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830958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16" name="Tarjeta"/>
          <p:cNvSpPr/>
          <p:nvPr/>
        </p:nvSpPr>
        <p:spPr>
          <a:xfrm>
            <a:off x="5114422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17" name="3. Comparar y elegir"/>
          <p:cNvSpPr/>
          <p:nvPr/>
        </p:nvSpPr>
        <p:spPr>
          <a:xfrm>
            <a:off x="5592928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age 2" descr="3. Comparar y eleg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4329" y="2527402"/>
            <a:ext cx="523037" cy="52303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251582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Comparar y elegir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251582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12–17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7113849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2" name="Tarjeta"/>
          <p:cNvSpPr/>
          <p:nvPr/>
        </p:nvSpPr>
        <p:spPr>
          <a:xfrm>
            <a:off x="7397313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3" name="4. Documentar"/>
          <p:cNvSpPr/>
          <p:nvPr/>
        </p:nvSpPr>
        <p:spPr>
          <a:xfrm>
            <a:off x="7875819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Image 3" descr="4. Document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7220" y="2527402"/>
            <a:ext cx="523037" cy="52303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534473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Documentar</a:t>
            </a:r>
            <a:endParaRPr lang="en-US" sz="1800" dirty="0"/>
          </a:p>
        </p:txBody>
      </p:sp>
      <p:sp>
        <p:nvSpPr>
          <p:cNvPr id="26" name="Text 20"/>
          <p:cNvSpPr txBox="1"/>
          <p:nvPr/>
        </p:nvSpPr>
        <p:spPr>
          <a:xfrm>
            <a:off x="7534473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17–22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9396740" y="3383280"/>
            <a:ext cx="246888" cy="0"/>
          </a:xfrm>
          <a:prstGeom prst="line">
            <a:avLst/>
          </a:prstGeom>
          <a:noFill/>
          <a:ln w="31750">
            <a:solidFill>
              <a:srgbClr val="3A4664"/>
            </a:solidFill>
            <a:prstDash val="solid"/>
            <a:tailEnd type="triangle"/>
          </a:ln>
        </p:spPr>
      </p:sp>
      <p:sp>
        <p:nvSpPr>
          <p:cNvPr id="28" name="Tarjeta"/>
          <p:cNvSpPr/>
          <p:nvPr/>
        </p:nvSpPr>
        <p:spPr>
          <a:xfrm>
            <a:off x="9680204" y="2011680"/>
            <a:ext cx="1962851" cy="2743200"/>
          </a:xfrm>
          <a:prstGeom prst="roundRect">
            <a:avLst>
              <a:gd name="adj" fmla="val 6988"/>
            </a:avLst>
          </a:prstGeom>
          <a:solidFill>
            <a:schemeClr val="bg2"/>
          </a:solidFill>
          <a:ln/>
        </p:spPr>
      </p:sp>
      <p:sp>
        <p:nvSpPr>
          <p:cNvPr id="29" name="5. Defender"/>
          <p:cNvSpPr/>
          <p:nvPr/>
        </p:nvSpPr>
        <p:spPr>
          <a:xfrm>
            <a:off x="10158710" y="2286000"/>
            <a:ext cx="1005840" cy="10058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mage 4" descr="5. Defen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0111" y="2527402"/>
            <a:ext cx="523037" cy="523037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9817364" y="3474720"/>
            <a:ext cx="168853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5. Defender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9817364" y="4160520"/>
            <a:ext cx="16885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Min. 22–30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1206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Técnica de este ejercicio: Brainstorming.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caso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8662111" y="548640"/>
            <a:ext cx="2980944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62111" y="548640"/>
            <a:ext cx="2980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0–3 · Todo el grupo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Comunidad de propietarios Los Almendros, 14. Sois el equipo del pequeño despacho de administración de fincas que la gestiona.</a:t>
            </a:r>
            <a:endParaRPr lang="en-US" sz="1900" dirty="0"/>
          </a:p>
        </p:txBody>
      </p:sp>
      <p:sp>
        <p:nvSpPr>
          <p:cNvPr id="6" name="Tarjeta"/>
          <p:cNvSpPr/>
          <p:nvPr/>
        </p:nvSpPr>
        <p:spPr>
          <a:xfrm>
            <a:off x="548640" y="2103120"/>
            <a:ext cx="3484778" cy="19202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7" name="Dato"/>
          <p:cNvSpPr/>
          <p:nvPr/>
        </p:nvSpPr>
        <p:spPr>
          <a:xfrm>
            <a:off x="822960" y="23317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8" name="Image 0" descr="Da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496312"/>
            <a:ext cx="356616" cy="3566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31089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32 viviendas, un bar en el bajo y un ascensor de 25 años.</a:t>
            </a:r>
            <a:endParaRPr lang="en-US" sz="1600" dirty="0"/>
          </a:p>
        </p:txBody>
      </p:sp>
      <p:sp>
        <p:nvSpPr>
          <p:cNvPr id="10" name="Tarjeta"/>
          <p:cNvSpPr/>
          <p:nvPr/>
        </p:nvSpPr>
        <p:spPr>
          <a:xfrm>
            <a:off x="4353458" y="2103120"/>
            <a:ext cx="3484778" cy="19202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1" name="Dato"/>
          <p:cNvSpPr/>
          <p:nvPr/>
        </p:nvSpPr>
        <p:spPr>
          <a:xfrm>
            <a:off x="4627778" y="23317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Da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370" y="2496312"/>
            <a:ext cx="356616" cy="35661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27778" y="31089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Un tercio de mayores de 70 años, familias, 8 pisos de alquiler con inquilinos que cambian y 3 propietarios que viven fuera.</a:t>
            </a:r>
            <a:endParaRPr lang="en-US" sz="1600" dirty="0"/>
          </a:p>
        </p:txBody>
      </p:sp>
      <p:sp>
        <p:nvSpPr>
          <p:cNvPr id="14" name="Tarjeta"/>
          <p:cNvSpPr/>
          <p:nvPr/>
        </p:nvSpPr>
        <p:spPr>
          <a:xfrm>
            <a:off x="8158277" y="2103120"/>
            <a:ext cx="3484778" cy="192024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/>
        </p:spPr>
      </p:sp>
      <p:sp>
        <p:nvSpPr>
          <p:cNvPr id="15" name="Dato"/>
          <p:cNvSpPr/>
          <p:nvPr/>
        </p:nvSpPr>
        <p:spPr>
          <a:xfrm>
            <a:off x="8432597" y="2331720"/>
            <a:ext cx="685800" cy="6858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mage 2" descr="Dat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7189" y="2496312"/>
            <a:ext cx="356616" cy="35661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32597" y="3108960"/>
            <a:ext cx="29361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 presidenta de este año es Carmen, de 74 años.</a:t>
            </a:r>
            <a:endParaRPr lang="en-US" sz="1600" dirty="0"/>
          </a:p>
        </p:txBody>
      </p:sp>
      <p:sp>
        <p:nvSpPr>
          <p:cNvPr id="18" name="Mensaje"/>
          <p:cNvSpPr/>
          <p:nvPr/>
        </p:nvSpPr>
        <p:spPr>
          <a:xfrm>
            <a:off x="548640" y="4251960"/>
            <a:ext cx="11094415" cy="685800"/>
          </a:xfrm>
          <a:prstGeom prst="roundRect">
            <a:avLst>
              <a:gd name="adj" fmla="val 16000"/>
            </a:avLst>
          </a:prstGeom>
          <a:solidFill>
            <a:schemeClr val="tx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68680" y="425196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«Esto no funciona. Ayudadnos».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51206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Entre todos: ¿qué suele fallar en una comunidad de vecinos? Elegimos un problema y lo convertimos en reto: «¿Cómo podríamos…?».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1: ideas con brainstorming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398203" y="548640"/>
            <a:ext cx="2244852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398203" y="548640"/>
            <a:ext cx="22448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3–7 · Sin IA</a:t>
            </a:r>
            <a:endParaRPr lang="en-US" sz="1400" dirty="0"/>
          </a:p>
        </p:txBody>
      </p:sp>
      <p:sp>
        <p:nvSpPr>
          <p:cNvPr id="5" name="Instrucción"/>
          <p:cNvSpPr/>
          <p:nvPr/>
        </p:nvSpPr>
        <p:spPr>
          <a:xfrm>
            <a:off x="548640" y="15087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Instrucc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178" y="169529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417320"/>
            <a:ext cx="100885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Por parejas, todas las ideas que se os ocurran sobre el reto.</a:t>
            </a:r>
            <a:endParaRPr lang="en-US" sz="2000" dirty="0"/>
          </a:p>
        </p:txBody>
      </p:sp>
      <p:sp>
        <p:nvSpPr>
          <p:cNvPr id="8" name="Instrucción"/>
          <p:cNvSpPr/>
          <p:nvPr/>
        </p:nvSpPr>
        <p:spPr>
          <a:xfrm>
            <a:off x="548640" y="265176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1" descr="Instrucc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8" y="2838298"/>
            <a:ext cx="404165" cy="40416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2560320"/>
            <a:ext cx="100885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Cantidad antes que calidad, sin criticar, construyendo sobre otras ideas. Las disparatadas, bienvenidas.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Nuestras ideas:</a:t>
            </a:r>
            <a:endParaRPr lang="en-US" sz="1800" dirty="0"/>
          </a:p>
        </p:txBody>
      </p:sp>
      <p:sp>
        <p:nvSpPr>
          <p:cNvPr id="12" name="Hueco"/>
          <p:cNvSpPr/>
          <p:nvPr/>
        </p:nvSpPr>
        <p:spPr>
          <a:xfrm>
            <a:off x="548640" y="4343400"/>
            <a:ext cx="11094415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3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5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6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7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1. Generar ideas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1: más ideas con la IA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293047" y="548640"/>
            <a:ext cx="2350008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293047" y="548640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Min. 7–10 · Con IA</a:t>
            </a:r>
            <a:endParaRPr lang="en-US" sz="1400" dirty="0"/>
          </a:p>
        </p:txBody>
      </p:sp>
      <p:sp>
        <p:nvSpPr>
          <p:cNvPr id="5" name="Prompt"/>
          <p:cNvSpPr/>
          <p:nvPr/>
        </p:nvSpPr>
        <p:spPr>
          <a:xfrm>
            <a:off x="548640" y="1417320"/>
            <a:ext cx="11094415" cy="1874520"/>
          </a:xfrm>
          <a:prstGeom prst="roundRect">
            <a:avLst>
              <a:gd name="adj" fmla="val 5854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00200"/>
            <a:ext cx="1054577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Somos el despacho de administración de una comunidad de 32 viviendas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 vecinos mayores, inquilinos que cambian a menudo y propietarios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 viven fuera. Este es nuestro reto: 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reto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 tenemos estas ideas: 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ideas de la pareja</a:t>
            </a:r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Propón diez ideas nuevas que no se parezcan a las nuestras,</a:t>
            </a:r>
            <a:endParaRPr lang="en-US" sz="17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 bajo coste y que puedan probarse en un mes. Una línea por idea.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Leed lo que propone la IA y añadid a vuestra lista lo que valga la pena.</a:t>
            </a:r>
            <a:endParaRPr lang="en-US" sz="1800" dirty="0"/>
          </a:p>
        </p:txBody>
      </p:sp>
      <p:sp>
        <p:nvSpPr>
          <p:cNvPr id="8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0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1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2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1. Generar ideas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728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Giro</a:t>
            </a:r>
            <a:endParaRPr lang="en-US" sz="1800" dirty="0"/>
          </a:p>
        </p:txBody>
      </p:sp>
      <p:sp>
        <p:nvSpPr>
          <p:cNvPr id="3" name="Text 0"/>
          <p:cNvSpPr/>
          <p:nvPr>
            <p:ph idx="100" type="body" hasCustomPrompt="1"/>
          </p:nvPr>
        </p:nvSpPr>
        <p:spPr>
          <a:xfrm>
            <a:off x="1097280" y="1554480"/>
            <a:ext cx="9966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Carmen, la presidenta, no tiene WhatsApp ni smartphone. Un tercio de los propietarios tampoco.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¿Qué ideas ya no sirven? ¿Cuáles podéis adaptar?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2: quedaos con tres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10–12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De todas vuestras ideas y las de la IA, las tres que más os interesan:</a:t>
            </a:r>
            <a:endParaRPr lang="en-US" sz="1900" dirty="0"/>
          </a:p>
        </p:txBody>
      </p:sp>
      <p:sp>
        <p:nvSpPr>
          <p:cNvPr id="6" name="Propuesta 1"/>
          <p:cNvSpPr/>
          <p:nvPr/>
        </p:nvSpPr>
        <p:spPr>
          <a:xfrm>
            <a:off x="548640" y="216712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1671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</a:t>
            </a:r>
            <a:endParaRPr lang="en-US" sz="2400" dirty="0"/>
          </a:p>
        </p:txBody>
      </p:sp>
      <p:sp>
        <p:nvSpPr>
          <p:cNvPr id="8" name="Hueco"/>
          <p:cNvSpPr/>
          <p:nvPr/>
        </p:nvSpPr>
        <p:spPr>
          <a:xfrm>
            <a:off x="1463040" y="1965960"/>
            <a:ext cx="10180015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9" name="Propuesta 2"/>
          <p:cNvSpPr/>
          <p:nvPr/>
        </p:nvSpPr>
        <p:spPr>
          <a:xfrm>
            <a:off x="548640" y="335584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3558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B</a:t>
            </a:r>
            <a:endParaRPr lang="en-US" sz="2400" dirty="0"/>
          </a:p>
        </p:txBody>
      </p:sp>
      <p:sp>
        <p:nvSpPr>
          <p:cNvPr id="11" name="Hueco"/>
          <p:cNvSpPr/>
          <p:nvPr/>
        </p:nvSpPr>
        <p:spPr>
          <a:xfrm>
            <a:off x="1463040" y="3154680"/>
            <a:ext cx="10180015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2" name="Propuesta 3"/>
          <p:cNvSpPr/>
          <p:nvPr/>
        </p:nvSpPr>
        <p:spPr>
          <a:xfrm>
            <a:off x="548640" y="454456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4456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C</a:t>
            </a:r>
            <a:endParaRPr lang="en-US" sz="2400" dirty="0"/>
          </a:p>
        </p:txBody>
      </p:sp>
      <p:sp>
        <p:nvSpPr>
          <p:cNvPr id="14" name="Hueco"/>
          <p:cNvSpPr/>
          <p:nvPr/>
        </p:nvSpPr>
        <p:spPr>
          <a:xfrm>
            <a:off x="1463040" y="4343400"/>
            <a:ext cx="10180015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5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6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8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9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2. Seleccionar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3: comparad y elegid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12–17 · Parejas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133295"/>
                <a:gridCol w="1737360"/>
                <a:gridCol w="1737360"/>
                <a:gridCol w="1737360"/>
                <a:gridCol w="1737360"/>
                <a:gridCol w="21031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Propuesta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Impacto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35 %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Viabilidad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30 %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Bajo coste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20 %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Originalidad</a:t>
                      </a:r>
                      <a:endParaRPr lang="en-US" sz="1700" dirty="0"/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15 %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bg1"/>
                          </a:solidFill>
                        </a:rPr>
                        <a:t>Resultado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A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</a:t>
                      </a: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7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A9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404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Puntuad del 1 al 5 (en «Bajo coste», 5 = muy económica), con la calculadora o en Excel.</a:t>
            </a:r>
            <a:endParaRPr lang="en-US" sz="1600" dirty="0"/>
          </a:p>
        </p:txBody>
      </p:sp>
      <p:sp>
        <p:nvSpPr>
          <p:cNvPr id="7" name="Tarjeta"/>
          <p:cNvSpPr/>
          <p:nvPr/>
        </p:nvSpPr>
        <p:spPr>
          <a:xfrm>
            <a:off x="548640" y="4389120"/>
            <a:ext cx="11094415" cy="109728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/>
        </p:spPr>
      </p:sp>
      <p:sp>
        <p:nvSpPr>
          <p:cNvPr id="8" name="Decisión"/>
          <p:cNvSpPr/>
          <p:nvPr/>
        </p:nvSpPr>
        <p:spPr>
          <a:xfrm>
            <a:off x="822960" y="459028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mage 0" descr="Decisió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4754880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37360" y="4389120"/>
            <a:ext cx="96313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Elegimos _______________ porque _______________________________</a:t>
            </a:r>
            <a:endParaRPr lang="en-US" sz="2100" dirty="0"/>
          </a:p>
        </p:txBody>
      </p:sp>
      <p:sp>
        <p:nvSpPr>
          <p:cNvPr id="11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2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3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5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3. Comparar y elegir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4: la ficha, en cinco líneas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17–22 · Parejas</a:t>
            </a:r>
            <a:endParaRPr lang="en-US" sz="1400" dirty="0"/>
          </a:p>
        </p:txBody>
      </p:sp>
      <p:sp>
        <p:nvSpPr>
          <p:cNvPr id="5" name="Problema"/>
          <p:cNvSpPr/>
          <p:nvPr/>
        </p:nvSpPr>
        <p:spPr>
          <a:xfrm>
            <a:off x="548640" y="1417320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Problema</a:t>
            </a:r>
            <a:endParaRPr lang="en-US" sz="1700" dirty="0"/>
          </a:p>
        </p:txBody>
      </p:sp>
      <p:sp>
        <p:nvSpPr>
          <p:cNvPr id="7" name="Hueco"/>
          <p:cNvSpPr/>
          <p:nvPr/>
        </p:nvSpPr>
        <p:spPr>
          <a:xfrm>
            <a:off x="4023360" y="1417320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8" name="Solución"/>
          <p:cNvSpPr/>
          <p:nvPr/>
        </p:nvSpPr>
        <p:spPr>
          <a:xfrm>
            <a:off x="548640" y="2221992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222199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Solución</a:t>
            </a:r>
            <a:endParaRPr lang="en-US" sz="1700" dirty="0"/>
          </a:p>
        </p:txBody>
      </p:sp>
      <p:sp>
        <p:nvSpPr>
          <p:cNvPr id="10" name="Hueco"/>
          <p:cNvSpPr/>
          <p:nvPr/>
        </p:nvSpPr>
        <p:spPr>
          <a:xfrm>
            <a:off x="4023360" y="2221992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1" name="Qué necesitamos"/>
          <p:cNvSpPr/>
          <p:nvPr/>
        </p:nvSpPr>
        <p:spPr>
          <a:xfrm>
            <a:off x="548640" y="3026664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0266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Recursos</a:t>
            </a:r>
            <a:endParaRPr lang="en-US" sz="1700" dirty="0"/>
          </a:p>
        </p:txBody>
      </p:sp>
      <p:sp>
        <p:nvSpPr>
          <p:cNvPr id="13" name="Hueco"/>
          <p:cNvSpPr/>
          <p:nvPr/>
        </p:nvSpPr>
        <p:spPr>
          <a:xfrm>
            <a:off x="4023360" y="3026664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4" name="Principal riesgo"/>
          <p:cNvSpPr/>
          <p:nvPr/>
        </p:nvSpPr>
        <p:spPr>
          <a:xfrm>
            <a:off x="548640" y="3831336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tx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383133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Riesgos</a:t>
            </a:r>
            <a:endParaRPr lang="en-US" sz="1700" dirty="0"/>
          </a:p>
        </p:txBody>
      </p:sp>
      <p:sp>
        <p:nvSpPr>
          <p:cNvPr id="16" name="Hueco"/>
          <p:cNvSpPr/>
          <p:nvPr/>
        </p:nvSpPr>
        <p:spPr>
          <a:xfrm>
            <a:off x="4023360" y="3831336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17" name="Cómo sabremos si funciona"/>
          <p:cNvSpPr/>
          <p:nvPr/>
        </p:nvSpPr>
        <p:spPr>
          <a:xfrm>
            <a:off x="548640" y="4636008"/>
            <a:ext cx="3291840" cy="658368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463600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Cómo sabremos si funciona</a:t>
            </a:r>
            <a:endParaRPr lang="en-US" sz="1700" dirty="0"/>
          </a:p>
        </p:txBody>
      </p:sp>
      <p:sp>
        <p:nvSpPr>
          <p:cNvPr id="19" name="Hueco"/>
          <p:cNvSpPr/>
          <p:nvPr/>
        </p:nvSpPr>
        <p:spPr>
          <a:xfrm>
            <a:off x="4023360" y="4636008"/>
            <a:ext cx="7619695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 w="12700">
            <a:solidFill>
              <a:srgbClr val="8A94A6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53949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3"/>
                </a:solidFill>
              </a:rPr>
              <a:t>En «Cómo sabremos si funciona»: qué mediríais y cómo, antes y después de una prueba. Sin inventar resultados.</a:t>
            </a:r>
            <a:endParaRPr lang="en-US" sz="1500" dirty="0"/>
          </a:p>
        </p:txBody>
      </p:sp>
      <p:sp>
        <p:nvSpPr>
          <p:cNvPr id="21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2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4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4. Documentar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Fase 5: la junta</a:t>
            </a:r>
            <a:endParaRPr lang="en-US" sz="3200" dirty="0"/>
          </a:p>
        </p:txBody>
      </p:sp>
      <p:sp>
        <p:nvSpPr>
          <p:cNvPr id="3" name="Etiqueta de tiempo"/>
          <p:cNvSpPr/>
          <p:nvPr/>
        </p:nvSpPr>
        <p:spPr>
          <a:xfrm>
            <a:off x="9082735" y="548640"/>
            <a:ext cx="256032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082735" y="548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Min. 22–30 · Parejas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chemeClr val="tx2"/>
                </a:solidFill>
              </a:rPr>
              <a:t>Un minuto por pareja, con la estructura de la defensa:</a:t>
            </a:r>
            <a:endParaRPr lang="en-US" sz="1900" dirty="0"/>
          </a:p>
        </p:txBody>
      </p:sp>
      <p:sp>
        <p:nvSpPr>
          <p:cNvPr id="6" name="Problema"/>
          <p:cNvSpPr/>
          <p:nvPr/>
        </p:nvSpPr>
        <p:spPr>
          <a:xfrm>
            <a:off x="585216" y="1965960"/>
            <a:ext cx="2145731" cy="109728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Problema</a:t>
            </a:r>
            <a:endParaRPr lang="en-US" sz="1400" dirty="0"/>
          </a:p>
        </p:txBody>
      </p:sp>
      <p:sp>
        <p:nvSpPr>
          <p:cNvPr id="8" name="Por qué importa"/>
          <p:cNvSpPr/>
          <p:nvPr/>
        </p:nvSpPr>
        <p:spPr>
          <a:xfrm>
            <a:off x="2804099" y="1965960"/>
            <a:ext cx="2145731" cy="109728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16163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Por qué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importa</a:t>
            </a:r>
            <a:endParaRPr lang="en-US" sz="1400" dirty="0"/>
          </a:p>
        </p:txBody>
      </p:sp>
      <p:sp>
        <p:nvSpPr>
          <p:cNvPr id="10" name="Qué proponemos"/>
          <p:cNvSpPr/>
          <p:nvPr/>
        </p:nvSpPr>
        <p:spPr>
          <a:xfrm>
            <a:off x="5022982" y="1965960"/>
            <a:ext cx="2145731" cy="109728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35046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Qué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proponemos</a:t>
            </a:r>
            <a:endParaRPr lang="en-US" sz="1400" dirty="0"/>
          </a:p>
        </p:txBody>
      </p:sp>
      <p:sp>
        <p:nvSpPr>
          <p:cNvPr id="12" name="Cómo lo haríamos"/>
          <p:cNvSpPr/>
          <p:nvPr/>
        </p:nvSpPr>
        <p:spPr>
          <a:xfrm>
            <a:off x="7241865" y="1965960"/>
            <a:ext cx="2145731" cy="1097280"/>
          </a:xfrm>
          <a:prstGeom prst="chevron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53929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Cómo lo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haríamos</a:t>
            </a:r>
            <a:endParaRPr lang="en-US" sz="1400" dirty="0"/>
          </a:p>
        </p:txBody>
      </p:sp>
      <p:sp>
        <p:nvSpPr>
          <p:cNvPr id="14" name="Cómo lo mediríamos"/>
          <p:cNvSpPr/>
          <p:nvPr/>
        </p:nvSpPr>
        <p:spPr>
          <a:xfrm>
            <a:off x="9460748" y="1965960"/>
            <a:ext cx="2145731" cy="1097280"/>
          </a:xfrm>
          <a:prstGeom prst="chevron">
            <a:avLst/>
          </a:prstGeom>
          <a:solidFill>
            <a:schemeClr val="tx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972812" y="1965960"/>
            <a:ext cx="112160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Cómo lo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mediríamos</a:t>
            </a:r>
            <a:endParaRPr lang="en-US" sz="1400" dirty="0"/>
          </a:p>
        </p:txBody>
      </p:sp>
      <p:sp>
        <p:nvSpPr>
          <p:cNvPr id="16" name="Tarjeta"/>
          <p:cNvSpPr/>
          <p:nvPr/>
        </p:nvSpPr>
        <p:spPr>
          <a:xfrm>
            <a:off x="548640" y="3429000"/>
            <a:ext cx="11094415" cy="1463040"/>
          </a:xfrm>
          <a:prstGeom prst="roundRect">
            <a:avLst>
              <a:gd name="adj" fmla="val 9375"/>
            </a:avLst>
          </a:prstGeom>
          <a:solidFill>
            <a:schemeClr val="bg2"/>
          </a:solidFill>
          <a:ln/>
        </p:spPr>
      </p:sp>
      <p:sp>
        <p:nvSpPr>
          <p:cNvPr id="17" name="Pregunta difícil"/>
          <p:cNvSpPr/>
          <p:nvPr/>
        </p:nvSpPr>
        <p:spPr>
          <a:xfrm>
            <a:off x="868680" y="370332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0" descr="Pregunta difíc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3922776"/>
            <a:ext cx="475488" cy="47548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2057400" y="3429000"/>
            <a:ext cx="9311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Después, una pregunta difícil.</a:t>
            </a:r>
            <a:endParaRPr lang="en-US" sz="2100" dirty="0"/>
          </a:p>
          <a:p>
            <a:pPr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El docente hace de Carmen, la presidenta.</a:t>
            </a:r>
            <a:endParaRPr lang="en-US" sz="2100" dirty="0"/>
          </a:p>
        </p:txBody>
      </p:sp>
      <p:sp>
        <p:nvSpPr>
          <p:cNvPr id="20" name="Fase 1"/>
          <p:cNvSpPr/>
          <p:nvPr/>
        </p:nvSpPr>
        <p:spPr>
          <a:xfrm>
            <a:off x="548640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1" name="Fase 2"/>
          <p:cNvSpPr/>
          <p:nvPr/>
        </p:nvSpPr>
        <p:spPr>
          <a:xfrm>
            <a:off x="841248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2" name="Fase 3"/>
          <p:cNvSpPr/>
          <p:nvPr/>
        </p:nvSpPr>
        <p:spPr>
          <a:xfrm>
            <a:off x="1133856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3" name="Fase 4"/>
          <p:cNvSpPr/>
          <p:nvPr/>
        </p:nvSpPr>
        <p:spPr>
          <a:xfrm>
            <a:off x="1426464" y="5779008"/>
            <a:ext cx="182880" cy="182880"/>
          </a:xfrm>
          <a:prstGeom prst="ellipse">
            <a:avLst/>
          </a:prstGeom>
          <a:solidFill>
            <a:schemeClr val="bg2"/>
          </a:solidFill>
          <a:ln/>
        </p:spPr>
      </p:sp>
      <p:sp>
        <p:nvSpPr>
          <p:cNvPr id="24" name="Fase 5"/>
          <p:cNvSpPr/>
          <p:nvPr/>
        </p:nvSpPr>
        <p:spPr>
          <a:xfrm>
            <a:off x="1719072" y="5779008"/>
            <a:ext cx="182880" cy="1828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148840" y="56875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5. Defender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8A94A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idad, ofimática e IA">
  <a:themeElements>
    <a:clrScheme name="Creatividad, ofimática e IA">
      <a:dk1>
        <a:srgbClr val="1F2A44"/>
      </a:dk1>
      <a:lt1>
        <a:srgbClr val="FFFFFF"/>
      </a:lt1>
      <a:dk2>
        <a:srgbClr val="3A4664"/>
      </a:dk2>
      <a:lt2>
        <a:srgbClr val="F2F4F8"/>
      </a:lt2>
      <a:accent1>
        <a:srgbClr val="F4A300"/>
      </a:accent1>
      <a:accent2>
        <a:srgbClr val="0F7C70"/>
      </a:accent2>
      <a:accent3>
        <a:srgbClr val="D64933"/>
      </a:accent3>
      <a:accent4>
        <a:srgbClr val="6C5CE7"/>
      </a:accent4>
      <a:accent5>
        <a:srgbClr val="8A94A6"/>
      </a:accent5>
      <a:accent6>
        <a:srgbClr val="2D6A4F"/>
      </a:accent6>
      <a:hlink>
        <a:srgbClr val="0F7C70"/>
      </a:hlink>
      <a:folHlink>
        <a:srgbClr val="6C5CE7"/>
      </a:folHlink>
    </a:clrScheme>
    <a:fontScheme name="Creatividad, ofimática e I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Ejercicio de reserva 1. La comunidad de vecinos que no funciona</dc:title>
  <dc:subject>Desarrollo de las habilidades creativas e innovadoras con herramientas ofimáticas y de inteligencia artificial</dc:subject>
  <dc:creator>PptxGenJS</dc:creator>
  <cp:lastModifiedBy>PptxGenJS</cp:lastModifiedBy>
  <cp:revision>1</cp:revision>
  <dcterms:created xsi:type="dcterms:W3CDTF">2026-10-18T20:33:00Z</dcterms:created>
  <dcterms:modified xsi:type="dcterms:W3CDTF">2026-10-18T20:33:00Z</dcterms:modified>
</cp:coreProperties>
</file>