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loque 2" id="{a4fd40de-b0ea-61de-d3cb-6cc021afd3ab}">
          <p14:sldIdLst>
            <p14:sldId id="256"/>
            <p14:sldId id="257"/>
            <p14:sldId id="258"/>
          </p14:sldIdLst>
        </p14:section>
        <p14:section name="SCAMPER" id="{b030f65f-9e67-5812-4888-233947d4e4ed}">
          <p14:sldIdLst>
            <p14:sldId id="259"/>
            <p14:sldId id="260"/>
            <p14:sldId id="261"/>
            <p14:sldId id="262"/>
            <p14:sldId id="263"/>
          </p14:sldIdLst>
        </p14:section>
        <p14:section name="Provocación" id="{e828f01f-688f-6f94-8875-2aa07c3c65ff}">
          <p14:sldIdLst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Selección" id="{cb9a1edd-7b47-8e83-f51d-5a8f1aedf0b3}">
          <p14:sldIdLst>
            <p14:sldId id="270"/>
            <p14:sldId id="271"/>
          </p14:sldIdLst>
        </p14:section>
        <p14:section name="Pensamiento crítico" id="{f957d10f-62d4-5140-0de4-da16e047bad3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del bloque: aplicar dos técnicas estructuradas, primero sin IA y después con IA, sobre un mismo caso profesional, y seleccionar las tres mejores propuestas, que se evaluarán en la matriz del bloque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Recorrido del bloque. Se mantiene la regla del curso: en cada técnica, primero piensa la pareja y después se pide ayuda a la 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pareja elige uno de los tres casos y trabaja con él durante todo el bloque: SCAMPER, provocación y selección de propuestas. Conviene que los tres casos queden repartidos entre las parejas.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Minutos 45–50. SCAMPER es una lista de siete preguntas para transformar un proceso o producto que ya existe. A diferencia del brainstorming, no parte de cero: obliga a mirar el proceso actual desde siete ángulos.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Recorrer la tabla rápido, letra a letra: cada pregunta mira el mismo proceso desde un ángulo distinto. Es el mismo ejemplo de la peluquería del bloque 1, para comparar qué tipo de ideas da cada técnica.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Minutos 50–62. Por parejas, sin IA, sobre el caso elegido. Pasar por las mesas: si una pareja se atasca en una letra, que pase a la siguiente y vuelva después. Conviene que anoten las ideas en un documento, porque las pegarán en el prompt de la ronda con 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Minutos 62–72. Cada pareja copia el prompt (está en el guion) y rellena lo que va entre corchetes. Insistir: describir el proceso, nunca a las personas.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peticiones se escriben en la misma conversación, a continuación de la respuesta de la IA. Al terminar, cada pareja compara las ideas de la IA con las suyas: ¿qué ha aportado que no se les hubiera ocurrido? ¿Qué no ha entendido del caso?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Minutos 72–77. La provocación (técnica de pensamiento lateral de Edward de Bono) consiste en lanzar una afirmación deliberadamente absurda que rompe una suposición que nadie cuestiona y después hacer el movimiento: extraer del absurdo un principio útil y convertirlo en una idea práctica.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Leer cada fila de izquierda a derecha: provocación absurda → principio útil → idea práctica. Así se ve que el absurdo no es el final, sino el trampolín.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Advertencia para el docente: el error típico es quedarse en la provocación y reírse. Insistir siempre en «¿y qué principio útil sacamos de esto?».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Minutos 77–85. Por parejas, sin IA. Que cada provocación sea de un tipo distinto (inversión, exageración, eliminación o deseo). Pasar por las mesas comprobando que no se quedan en la provocación: tienen que llegar hasta una idea práctica.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Minutos 85–92. Cada pareja copia el prompt (está en el guion) y rellena lo que va entre corchetes.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pareja revisa la tabla de la IA con estas dos preguntas. La frase final es una hipótesis para comprobar, no una conclusión: si en el grupo sale lo contrario, mejor todavía.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Minutos 92–100. Entregable: tabla sencilla con el problema, las tres propuestas, las razones de su selección y el origen de cada una. Estas tres propuestas se puntuarán en la matriz de decisión del bloque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Puesta en común rápida, a mano alzada. Igual que en el bloque 1, no adelantar conclusiones: que salgan de lo que ha pasado en las parejas.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Minutos 100–103. Proyectar y dar tres minutos. Hay cuatro problemas: datos personales en el prompt, un estudio y una cifra sin verificar, una función que puede no existir y una generalización falsa. La corrección está en la diapositiva siguiente.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Minutos 103–105. Corregir en común: preguntar qué problemas han encontrado las parejas antes de mostrar cada uno.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del bloque. Enlazar con el bloque 3: las tres propuestas de cada pareja se van a documentar y a comparar con una matriz de decisión.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768096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94760"/>
            <a:ext cx="76809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CION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108960" y="2103120"/>
            <a:ext cx="85039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3108960" y="3749040"/>
            <a:ext cx="85039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Bloque 2 · SCAMPER y provocación con IA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STACADO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1097280" y="1554480"/>
            <a:ext cx="9966960" cy="3108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Bloque 2 · SCAMPER y provocación con IA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2194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3108960" y="2103120"/>
            <a:ext cx="8503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SCAMPER y provocación con IA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3108960" y="374904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</a:rPr>
              <a:t>60 minutos · por parejas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Qué vamos a hacer en este bloque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242041" y="2331720"/>
            <a:ext cx="9707613" cy="0"/>
          </a:xfrm>
          <a:prstGeom prst="line">
            <a:avLst/>
          </a:prstGeom>
          <a:noFill/>
          <a:ln w="50800">
            <a:solidFill>
              <a:srgbClr val="F2F4F8"/>
            </a:solidFill>
            <a:prstDash val="solid"/>
          </a:ln>
        </p:spPr>
      </p:sp>
      <p:sp>
        <p:nvSpPr>
          <p:cNvPr id="4" name="Paso 1"/>
          <p:cNvSpPr/>
          <p:nvPr/>
        </p:nvSpPr>
        <p:spPr>
          <a:xfrm>
            <a:off x="716261" y="1805940"/>
            <a:ext cx="1051560" cy="10515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16261" y="18059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45–50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3086100"/>
            <a:ext cx="129536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SCAMPER: qué es</a:t>
            </a:r>
            <a:endParaRPr lang="en-US" sz="1500" dirty="0"/>
          </a:p>
        </p:txBody>
      </p:sp>
      <p:sp>
        <p:nvSpPr>
          <p:cNvPr id="7" name="Paso 2"/>
          <p:cNvSpPr/>
          <p:nvPr/>
        </p:nvSpPr>
        <p:spPr>
          <a:xfrm>
            <a:off x="2103063" y="1805940"/>
            <a:ext cx="1051560" cy="10515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103063" y="18059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50–62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981162" y="3086100"/>
            <a:ext cx="129536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Ejercicio 2: ideas de la pareja</a:t>
            </a:r>
            <a:endParaRPr lang="en-US" sz="1500" dirty="0"/>
          </a:p>
        </p:txBody>
      </p:sp>
      <p:sp>
        <p:nvSpPr>
          <p:cNvPr id="10" name="Paso 3"/>
          <p:cNvSpPr/>
          <p:nvPr/>
        </p:nvSpPr>
        <p:spPr>
          <a:xfrm>
            <a:off x="3489865" y="1805940"/>
            <a:ext cx="1051560" cy="10515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89865" y="18059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62–72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367964" y="3086100"/>
            <a:ext cx="129536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Ejercicio 2: ideas con IA</a:t>
            </a:r>
            <a:endParaRPr lang="en-US" sz="1500" dirty="0"/>
          </a:p>
        </p:txBody>
      </p:sp>
      <p:sp>
        <p:nvSpPr>
          <p:cNvPr id="13" name="Paso 4"/>
          <p:cNvSpPr/>
          <p:nvPr/>
        </p:nvSpPr>
        <p:spPr>
          <a:xfrm>
            <a:off x="4876667" y="1805940"/>
            <a:ext cx="1051560" cy="10515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76667" y="18059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72–77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754766" y="3086100"/>
            <a:ext cx="129536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Provocación: qué es</a:t>
            </a:r>
            <a:endParaRPr lang="en-US" sz="1500" dirty="0"/>
          </a:p>
        </p:txBody>
      </p:sp>
      <p:sp>
        <p:nvSpPr>
          <p:cNvPr id="16" name="Paso 5"/>
          <p:cNvSpPr/>
          <p:nvPr/>
        </p:nvSpPr>
        <p:spPr>
          <a:xfrm>
            <a:off x="6263469" y="1805940"/>
            <a:ext cx="1051560" cy="10515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63469" y="18059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77–85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141568" y="3086100"/>
            <a:ext cx="129536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Ejercicio 3: ideas de la pareja</a:t>
            </a:r>
            <a:endParaRPr lang="en-US" sz="1500" dirty="0"/>
          </a:p>
        </p:txBody>
      </p:sp>
      <p:sp>
        <p:nvSpPr>
          <p:cNvPr id="19" name="Paso 6"/>
          <p:cNvSpPr/>
          <p:nvPr/>
        </p:nvSpPr>
        <p:spPr>
          <a:xfrm>
            <a:off x="7650270" y="1805940"/>
            <a:ext cx="1051560" cy="10515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0270" y="18059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85–92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528370" y="3086100"/>
            <a:ext cx="129536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Ejercicio 3: ideas con IA</a:t>
            </a:r>
            <a:endParaRPr lang="en-US" sz="1500" dirty="0"/>
          </a:p>
        </p:txBody>
      </p:sp>
      <p:sp>
        <p:nvSpPr>
          <p:cNvPr id="22" name="Paso 7"/>
          <p:cNvSpPr/>
          <p:nvPr/>
        </p:nvSpPr>
        <p:spPr>
          <a:xfrm>
            <a:off x="9037072" y="1805940"/>
            <a:ext cx="1051560" cy="10515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037072" y="18059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92–100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915171" y="3086100"/>
            <a:ext cx="129536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Elegimos tres propuestas</a:t>
            </a:r>
            <a:endParaRPr lang="en-US" sz="1500" dirty="0"/>
          </a:p>
        </p:txBody>
      </p:sp>
      <p:sp>
        <p:nvSpPr>
          <p:cNvPr id="25" name="Paso 8"/>
          <p:cNvSpPr/>
          <p:nvPr/>
        </p:nvSpPr>
        <p:spPr>
          <a:xfrm>
            <a:off x="10423874" y="1805940"/>
            <a:ext cx="1051560" cy="10515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423874" y="18059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100–105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0301973" y="3086100"/>
            <a:ext cx="129536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¿Qué falla aquí?</a:t>
            </a:r>
            <a:endParaRPr lang="en-US" sz="1500" dirty="0"/>
          </a:p>
        </p:txBody>
      </p:sp>
      <p:sp>
        <p:nvSpPr>
          <p:cNvPr id="28" name="Personas"/>
          <p:cNvSpPr/>
          <p:nvPr/>
        </p:nvSpPr>
        <p:spPr>
          <a:xfrm>
            <a:off x="548640" y="48463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9" name="Image 0" descr="Person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314" y="4977994"/>
            <a:ext cx="285293" cy="285293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1234440" y="48463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Ámbar: piensa la pareja</a:t>
            </a:r>
            <a:endParaRPr lang="en-US" sz="1600" dirty="0"/>
          </a:p>
        </p:txBody>
      </p:sp>
      <p:sp>
        <p:nvSpPr>
          <p:cNvPr id="31" name="IA"/>
          <p:cNvSpPr/>
          <p:nvPr/>
        </p:nvSpPr>
        <p:spPr>
          <a:xfrm>
            <a:off x="5394960" y="48463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2" name="Image 1" descr="I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6634" y="4977994"/>
            <a:ext cx="285293" cy="285293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6080760" y="48463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Verde: trabajamos con la IA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Por parejas: elegid un caso</a:t>
            </a:r>
            <a:endParaRPr lang="en-US" sz="3200" dirty="0"/>
          </a:p>
        </p:txBody>
      </p:sp>
      <p:sp>
        <p:nvSpPr>
          <p:cNvPr id="3" name="Etiqueta de tiempo"/>
          <p:cNvSpPr/>
          <p:nvPr/>
        </p:nvSpPr>
        <p:spPr>
          <a:xfrm>
            <a:off x="9398203" y="548640"/>
            <a:ext cx="2244852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398203" y="548640"/>
            <a:ext cx="22448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Min. 45 · Parejas</a:t>
            </a:r>
            <a:endParaRPr lang="en-US" sz="1400" dirty="0"/>
          </a:p>
        </p:txBody>
      </p:sp>
      <p:sp>
        <p:nvSpPr>
          <p:cNvPr id="5" name="Tarjeta"/>
          <p:cNvSpPr/>
          <p:nvPr/>
        </p:nvSpPr>
        <p:spPr>
          <a:xfrm>
            <a:off x="548640" y="1463040"/>
            <a:ext cx="3454298" cy="3749040"/>
          </a:xfrm>
          <a:prstGeom prst="roundRect">
            <a:avLst>
              <a:gd name="adj" fmla="val 3971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225698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chemeClr val="accent5"/>
                </a:solidFill>
              </a:rPr>
              <a:t>1</a:t>
            </a:r>
            <a:endParaRPr lang="en-US" sz="2800" dirty="0"/>
          </a:p>
        </p:txBody>
      </p:sp>
      <p:sp>
        <p:nvSpPr>
          <p:cNvPr id="7" name="Un comercio que pierde pedidos"/>
          <p:cNvSpPr/>
          <p:nvPr/>
        </p:nvSpPr>
        <p:spPr>
          <a:xfrm>
            <a:off x="868680" y="1737360"/>
            <a:ext cx="914400" cy="9144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8" name="Image 0" descr="Un comercio que pierde pedid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1956816"/>
            <a:ext cx="475488" cy="47548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68680" y="2788920"/>
            <a:ext cx="28142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Un comercio que pierde pedidos</a:t>
            </a:r>
            <a:endParaRPr lang="en-US" sz="21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3566160"/>
            <a:ext cx="281421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Los pedidos llegan por teléfono, WhatsApp y en el mostrador; se apuntan en una libreta y a veces se olvidan o se sirven tarde.</a:t>
            </a:r>
            <a:endParaRPr lang="en-US" sz="1600" dirty="0"/>
          </a:p>
        </p:txBody>
      </p:sp>
      <p:sp>
        <p:nvSpPr>
          <p:cNvPr id="11" name="Tarjeta"/>
          <p:cNvSpPr/>
          <p:nvPr/>
        </p:nvSpPr>
        <p:spPr>
          <a:xfrm>
            <a:off x="4368698" y="1463040"/>
            <a:ext cx="3454298" cy="3749040"/>
          </a:xfrm>
          <a:prstGeom prst="roundRect">
            <a:avLst>
              <a:gd name="adj" fmla="val 3971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045757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chemeClr val="accent5"/>
                </a:solidFill>
              </a:rPr>
              <a:t>2</a:t>
            </a:r>
            <a:endParaRPr lang="en-US" sz="2800" dirty="0"/>
          </a:p>
        </p:txBody>
      </p:sp>
      <p:sp>
        <p:nvSpPr>
          <p:cNvPr id="13" name="Una asociación que pierde tiempo"/>
          <p:cNvSpPr/>
          <p:nvPr/>
        </p:nvSpPr>
        <p:spPr>
          <a:xfrm>
            <a:off x="4688738" y="1737360"/>
            <a:ext cx="914400" cy="9144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4" name="Image 1" descr="Una asociación que pierde tiemp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8194" y="1956816"/>
            <a:ext cx="475488" cy="47548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688738" y="2788920"/>
            <a:ext cx="28142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Una asociación que pierde tiempo</a:t>
            </a:r>
            <a:endParaRPr lang="en-US" sz="2100" dirty="0"/>
          </a:p>
        </p:txBody>
      </p:sp>
      <p:sp>
        <p:nvSpPr>
          <p:cNvPr id="16" name="Text 12"/>
          <p:cNvSpPr txBox="1"/>
          <p:nvPr/>
        </p:nvSpPr>
        <p:spPr>
          <a:xfrm>
            <a:off x="4688738" y="3566160"/>
            <a:ext cx="281421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Las actividades se anuncian por WhatsApp y las inscripciones se apuntan en un Excel que solo actualiza una persona; se pierden inscripciones y quedan plazas libres.</a:t>
            </a:r>
            <a:endParaRPr lang="en-US" sz="1600" dirty="0"/>
          </a:p>
        </p:txBody>
      </p:sp>
      <p:sp>
        <p:nvSpPr>
          <p:cNvPr id="17" name="Tarjeta"/>
          <p:cNvSpPr/>
          <p:nvPr/>
        </p:nvSpPr>
        <p:spPr>
          <a:xfrm>
            <a:off x="8188757" y="1463040"/>
            <a:ext cx="3454298" cy="3749040"/>
          </a:xfrm>
          <a:prstGeom prst="roundRect">
            <a:avLst>
              <a:gd name="adj" fmla="val 3971"/>
            </a:avLst>
          </a:prstGeom>
          <a:solidFill>
            <a:schemeClr val="bg2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10865815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chemeClr val="accent5"/>
                </a:solidFill>
              </a:rPr>
              <a:t>3</a:t>
            </a:r>
            <a:endParaRPr lang="en-US" sz="2800" dirty="0"/>
          </a:p>
        </p:txBody>
      </p:sp>
      <p:sp>
        <p:nvSpPr>
          <p:cNvPr id="19" name="Una oficina con las mismas preguntas"/>
          <p:cNvSpPr/>
          <p:nvPr/>
        </p:nvSpPr>
        <p:spPr>
          <a:xfrm>
            <a:off x="8508797" y="1737360"/>
            <a:ext cx="914400" cy="9144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0" name="Image 2" descr="Una oficina con las mismas pregunta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8253" y="1956816"/>
            <a:ext cx="475488" cy="47548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508797" y="2788920"/>
            <a:ext cx="28142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Una oficina con las mismas preguntas</a:t>
            </a:r>
            <a:endParaRPr lang="en-US" sz="2100" dirty="0"/>
          </a:p>
        </p:txBody>
      </p:sp>
      <p:sp>
        <p:nvSpPr>
          <p:cNvPr id="22" name="Text 17"/>
          <p:cNvSpPr txBox="1"/>
          <p:nvPr/>
        </p:nvSpPr>
        <p:spPr>
          <a:xfrm>
            <a:off x="8508797" y="3566160"/>
            <a:ext cx="281421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Por teléfono y por correo llegan a diario las mismas consultas (horarios, documentación, plazos) y se responden una a una.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548640" y="54406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Trabajaréis con el mismo caso todo el bloque. Vuestras tres mejores propuestas pasarán a la matriz del bloque 3.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SCAMPER: siete preguntas</a:t>
            </a:r>
            <a:endParaRPr lang="en-US" sz="3200" dirty="0"/>
          </a:p>
        </p:txBody>
      </p:sp>
      <p:sp>
        <p:nvSpPr>
          <p:cNvPr id="3" name="Etiqueta de tiempo"/>
          <p:cNvSpPr/>
          <p:nvPr/>
        </p:nvSpPr>
        <p:spPr>
          <a:xfrm>
            <a:off x="10134295" y="548640"/>
            <a:ext cx="1508760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134295" y="5486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Min. 45–50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chemeClr val="tx2"/>
                </a:solidFill>
              </a:rPr>
              <a:t>Para transformar algo que ya existe, mirándolo desde siete ángulos.</a:t>
            </a:r>
            <a:endParaRPr lang="en-US" sz="2100" dirty="0"/>
          </a:p>
        </p:txBody>
      </p:sp>
      <p:sp>
        <p:nvSpPr>
          <p:cNvPr id="6" name="Letra S"/>
          <p:cNvSpPr/>
          <p:nvPr/>
        </p:nvSpPr>
        <p:spPr>
          <a:xfrm>
            <a:off x="548640" y="2103120"/>
            <a:ext cx="1428162" cy="1428162"/>
          </a:xfrm>
          <a:prstGeom prst="roundRect">
            <a:avLst>
              <a:gd name="adj" fmla="val 9604"/>
            </a:avLst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103120"/>
            <a:ext cx="1428162" cy="1428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3622722"/>
            <a:ext cx="15196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Sustituir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4308522"/>
            <a:ext cx="151960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¿Qué podemos cambiar por otra cosa?</a:t>
            </a:r>
            <a:endParaRPr lang="en-US" sz="1400" dirty="0"/>
          </a:p>
        </p:txBody>
      </p:sp>
      <p:sp>
        <p:nvSpPr>
          <p:cNvPr id="10" name="Letra C"/>
          <p:cNvSpPr/>
          <p:nvPr/>
        </p:nvSpPr>
        <p:spPr>
          <a:xfrm>
            <a:off x="2159682" y="2103120"/>
            <a:ext cx="1428162" cy="1428162"/>
          </a:xfrm>
          <a:prstGeom prst="roundRect">
            <a:avLst>
              <a:gd name="adj" fmla="val 9604"/>
            </a:avLst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159682" y="2103120"/>
            <a:ext cx="1428162" cy="1428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6000" dirty="0"/>
          </a:p>
        </p:txBody>
      </p:sp>
      <p:sp>
        <p:nvSpPr>
          <p:cNvPr id="12" name="Text 10"/>
          <p:cNvSpPr txBox="1"/>
          <p:nvPr/>
        </p:nvSpPr>
        <p:spPr>
          <a:xfrm>
            <a:off x="2113962" y="3622722"/>
            <a:ext cx="15196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Combinar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113962" y="4308522"/>
            <a:ext cx="151960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¿Qué elementos podemos unir?</a:t>
            </a:r>
            <a:endParaRPr lang="en-US" sz="1400" dirty="0"/>
          </a:p>
        </p:txBody>
      </p:sp>
      <p:sp>
        <p:nvSpPr>
          <p:cNvPr id="14" name="Letra A"/>
          <p:cNvSpPr/>
          <p:nvPr/>
        </p:nvSpPr>
        <p:spPr>
          <a:xfrm>
            <a:off x="3770724" y="2103120"/>
            <a:ext cx="1428162" cy="1428162"/>
          </a:xfrm>
          <a:prstGeom prst="roundRect">
            <a:avLst>
              <a:gd name="adj" fmla="val 9604"/>
            </a:avLst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770724" y="2103120"/>
            <a:ext cx="1428162" cy="1428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6000" dirty="0"/>
          </a:p>
        </p:txBody>
      </p:sp>
      <p:sp>
        <p:nvSpPr>
          <p:cNvPr id="16" name="Text 14"/>
          <p:cNvSpPr txBox="1"/>
          <p:nvPr/>
        </p:nvSpPr>
        <p:spPr>
          <a:xfrm>
            <a:off x="3725004" y="3622722"/>
            <a:ext cx="15196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Adaptar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725004" y="4308522"/>
            <a:ext cx="151960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¿Qué funciona en otro sector?</a:t>
            </a:r>
            <a:endParaRPr lang="en-US" sz="1400" dirty="0"/>
          </a:p>
        </p:txBody>
      </p:sp>
      <p:sp>
        <p:nvSpPr>
          <p:cNvPr id="18" name="Letra M"/>
          <p:cNvSpPr/>
          <p:nvPr/>
        </p:nvSpPr>
        <p:spPr>
          <a:xfrm>
            <a:off x="5381767" y="2103120"/>
            <a:ext cx="1428162" cy="1428162"/>
          </a:xfrm>
          <a:prstGeom prst="roundRect">
            <a:avLst>
              <a:gd name="adj" fmla="val 9604"/>
            </a:avLst>
          </a:prstGeom>
          <a:solidFill>
            <a:schemeClr val="accent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381767" y="2103120"/>
            <a:ext cx="1428162" cy="1428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6000" dirty="0"/>
          </a:p>
        </p:txBody>
      </p:sp>
      <p:sp>
        <p:nvSpPr>
          <p:cNvPr id="20" name="Text 18"/>
          <p:cNvSpPr txBox="1"/>
          <p:nvPr/>
        </p:nvSpPr>
        <p:spPr>
          <a:xfrm>
            <a:off x="5336047" y="3622722"/>
            <a:ext cx="15196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Modificar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336047" y="4308522"/>
            <a:ext cx="151960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¿Qué podemos ampliar o reducir?</a:t>
            </a:r>
            <a:endParaRPr lang="en-US" sz="1400" dirty="0"/>
          </a:p>
        </p:txBody>
      </p:sp>
      <p:sp>
        <p:nvSpPr>
          <p:cNvPr id="22" name="Letra P"/>
          <p:cNvSpPr/>
          <p:nvPr/>
        </p:nvSpPr>
        <p:spPr>
          <a:xfrm>
            <a:off x="6992809" y="2103120"/>
            <a:ext cx="1428162" cy="1428162"/>
          </a:xfrm>
          <a:prstGeom prst="roundRect">
            <a:avLst>
              <a:gd name="adj" fmla="val 9604"/>
            </a:avLst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992809" y="2103120"/>
            <a:ext cx="1428162" cy="1428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6000" dirty="0"/>
          </a:p>
        </p:txBody>
      </p:sp>
      <p:sp>
        <p:nvSpPr>
          <p:cNvPr id="24" name="Text 22"/>
          <p:cNvSpPr txBox="1"/>
          <p:nvPr/>
        </p:nvSpPr>
        <p:spPr>
          <a:xfrm>
            <a:off x="6947089" y="3622722"/>
            <a:ext cx="15196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Proponer otros usos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947089" y="4308522"/>
            <a:ext cx="151960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¿Para qué más puede servir?</a:t>
            </a:r>
            <a:endParaRPr lang="en-US" sz="1400" dirty="0"/>
          </a:p>
        </p:txBody>
      </p:sp>
      <p:sp>
        <p:nvSpPr>
          <p:cNvPr id="26" name="Letra E"/>
          <p:cNvSpPr/>
          <p:nvPr/>
        </p:nvSpPr>
        <p:spPr>
          <a:xfrm>
            <a:off x="8603851" y="2103120"/>
            <a:ext cx="1428162" cy="1428162"/>
          </a:xfrm>
          <a:prstGeom prst="roundRect">
            <a:avLst>
              <a:gd name="adj" fmla="val 9604"/>
            </a:avLst>
          </a:prstGeom>
          <a:solidFill>
            <a:schemeClr val="accent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603851" y="2103120"/>
            <a:ext cx="1428162" cy="1428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6000" dirty="0"/>
          </a:p>
        </p:txBody>
      </p:sp>
      <p:sp>
        <p:nvSpPr>
          <p:cNvPr id="28" name="Text 26"/>
          <p:cNvSpPr txBox="1"/>
          <p:nvPr/>
        </p:nvSpPr>
        <p:spPr>
          <a:xfrm>
            <a:off x="8558131" y="3622722"/>
            <a:ext cx="15196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Eliminar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8558131" y="4308522"/>
            <a:ext cx="151960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¿Qué pasos sobran?</a:t>
            </a:r>
            <a:endParaRPr lang="en-US" sz="1400" dirty="0"/>
          </a:p>
        </p:txBody>
      </p:sp>
      <p:sp>
        <p:nvSpPr>
          <p:cNvPr id="30" name="Letra R"/>
          <p:cNvSpPr/>
          <p:nvPr/>
        </p:nvSpPr>
        <p:spPr>
          <a:xfrm>
            <a:off x="10214893" y="2103120"/>
            <a:ext cx="1428162" cy="1428162"/>
          </a:xfrm>
          <a:prstGeom prst="roundRect">
            <a:avLst>
              <a:gd name="adj" fmla="val 9604"/>
            </a:avLst>
          </a:prstGeom>
          <a:solidFill>
            <a:schemeClr val="accent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214893" y="2103120"/>
            <a:ext cx="1428162" cy="1428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6000" dirty="0"/>
          </a:p>
        </p:txBody>
      </p:sp>
      <p:sp>
        <p:nvSpPr>
          <p:cNvPr id="32" name="Text 30"/>
          <p:cNvSpPr txBox="1"/>
          <p:nvPr/>
        </p:nvSpPr>
        <p:spPr>
          <a:xfrm>
            <a:off x="10169173" y="3622722"/>
            <a:ext cx="15196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Reorganizar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10169173" y="4308522"/>
            <a:ext cx="151960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¿Qué orden podemos cambiar?</a:t>
            </a:r>
            <a:endParaRPr lang="en-US" sz="1400" dirty="0"/>
          </a:p>
        </p:txBody>
      </p:sp>
      <p:sp>
        <p:nvSpPr>
          <p:cNvPr id="34" name="Tarjeta"/>
          <p:cNvSpPr/>
          <p:nvPr/>
        </p:nvSpPr>
        <p:spPr>
          <a:xfrm>
            <a:off x="548640" y="5349240"/>
            <a:ext cx="11094415" cy="731520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68680" y="5349240"/>
            <a:ext cx="104543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El brainstorming parte de cero. </a:t>
            </a:r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SCAMPER parte de cómo se hace hoy.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SCAMPER en la peluquería</a:t>
            </a:r>
            <a:endParaRPr lang="en-US" sz="3200" dirty="0"/>
          </a:p>
        </p:txBody>
      </p:sp>
      <p:sp>
        <p:nvSpPr>
          <p:cNvPr id="3" name="Etiqueta de tiempo"/>
          <p:cNvSpPr/>
          <p:nvPr/>
        </p:nvSpPr>
        <p:spPr>
          <a:xfrm>
            <a:off x="10134295" y="548640"/>
            <a:ext cx="1508760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134295" y="5486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Min. 45–50</a:t>
            </a:r>
            <a:endParaRPr lang="en-US" sz="1400" dirty="0"/>
          </a:p>
        </p:txBody>
      </p:sp>
      <p:sp>
        <p:nvSpPr>
          <p:cNvPr id="5" name="Peluquería"/>
          <p:cNvSpPr/>
          <p:nvPr/>
        </p:nvSpPr>
        <p:spPr>
          <a:xfrm>
            <a:off x="548640" y="1325880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6" name="Image 0" descr="Peluquerí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314" y="145755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3258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Proceso actual: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los clientes llaman por teléfono para pedir cita.</a:t>
            </a:r>
            <a:endParaRPr lang="en-US" sz="1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94415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2971800"/>
                <a:gridCol w="5882335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Pregunta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Ejemplo en la peluquería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S</a:t>
                      </a:r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  Sustituir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¿Qué podemos cambiar por otra cosa?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Sustituir la llamada por una reserva por internet sencilla.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C</a:t>
                      </a:r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  Combinar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¿Qué elementos podemos unir?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Combinar la confirmación de la cita con un recordatorio el día anterior.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A</a:t>
                      </a:r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  Adaptar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¿Qué funciona en otro sector?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Adaptar la lista de espera de los restaurantes: avisar si queda un hueco libre.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M</a:t>
                      </a:r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  Modificar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¿Qué podemos ampliar o reducir?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Reducir la llamada a tres preguntas fijas: servicio, día y hora.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P</a:t>
                      </a:r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  Proponer otros usos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¿Para qué más puede servir?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Usar el recordatorio también para pedir una valoración del servicio.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E</a:t>
                      </a:r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  Eliminar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¿Qué pasos sobran?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Eliminar la llamada para confirmar la cita.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R</a:t>
                      </a:r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  Reorganizar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¿Qué orden podemos cambiar?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Preguntar el servicio al reservar, para preparar el material antes de que llegue el cliente.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Ejercicio 2: SCAMPER en vuestro caso</a:t>
            </a:r>
            <a:endParaRPr lang="en-US" sz="3200" dirty="0"/>
          </a:p>
        </p:txBody>
      </p:sp>
      <p:sp>
        <p:nvSpPr>
          <p:cNvPr id="3" name="Etiqueta de tiempo"/>
          <p:cNvSpPr/>
          <p:nvPr/>
        </p:nvSpPr>
        <p:spPr>
          <a:xfrm>
            <a:off x="9187891" y="548640"/>
            <a:ext cx="2455164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87891" y="548640"/>
            <a:ext cx="24551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Min. 50–62 · Sin IA</a:t>
            </a:r>
            <a:endParaRPr lang="en-US" sz="1400" dirty="0"/>
          </a:p>
        </p:txBody>
      </p:sp>
      <p:sp>
        <p:nvSpPr>
          <p:cNvPr id="5" name="Instrucción"/>
          <p:cNvSpPr/>
          <p:nvPr/>
        </p:nvSpPr>
        <p:spPr>
          <a:xfrm>
            <a:off x="548640" y="15087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Instrucció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673352"/>
            <a:ext cx="356616" cy="356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50876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Describid en tres o cuatro líneas cómo funciona hoy el proceso.</a:t>
            </a:r>
            <a:endParaRPr lang="en-US" sz="2000" dirty="0"/>
          </a:p>
        </p:txBody>
      </p:sp>
      <p:sp>
        <p:nvSpPr>
          <p:cNvPr id="8" name="Instrucción"/>
          <p:cNvSpPr/>
          <p:nvPr/>
        </p:nvSpPr>
        <p:spPr>
          <a:xfrm>
            <a:off x="548640" y="24688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mage 1" descr="Instrucció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633472"/>
            <a:ext cx="356616" cy="35661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3040" y="246888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Escribid al menos una idea por cada letra de SCAMPER.</a:t>
            </a:r>
            <a:endParaRPr lang="en-US" sz="2000" dirty="0"/>
          </a:p>
        </p:txBody>
      </p:sp>
      <p:sp>
        <p:nvSpPr>
          <p:cNvPr id="11" name="Letra S"/>
          <p:cNvSpPr/>
          <p:nvPr/>
        </p:nvSpPr>
        <p:spPr>
          <a:xfrm>
            <a:off x="548640" y="3611880"/>
            <a:ext cx="1428162" cy="1554480"/>
          </a:xfrm>
          <a:prstGeom prst="roundRect">
            <a:avLst>
              <a:gd name="adj" fmla="val 9604"/>
            </a:avLst>
          </a:prstGeom>
          <a:solidFill>
            <a:schemeClr val="bg2"/>
          </a:solidFill>
          <a:ln w="25400">
            <a:solidFill>
              <a:srgbClr val="F4A300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48640" y="3703320"/>
            <a:ext cx="142816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4400" dirty="0"/>
          </a:p>
        </p:txBody>
      </p:sp>
      <p:sp>
        <p:nvSpPr>
          <p:cNvPr id="13" name="Text 9"/>
          <p:cNvSpPr txBox="1"/>
          <p:nvPr/>
        </p:nvSpPr>
        <p:spPr>
          <a:xfrm>
            <a:off x="594360" y="4526280"/>
            <a:ext cx="133672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Sustituir</a:t>
            </a:r>
            <a:endParaRPr lang="en-US" sz="1300" dirty="0"/>
          </a:p>
        </p:txBody>
      </p:sp>
      <p:sp>
        <p:nvSpPr>
          <p:cNvPr id="14" name="Letra C"/>
          <p:cNvSpPr/>
          <p:nvPr/>
        </p:nvSpPr>
        <p:spPr>
          <a:xfrm>
            <a:off x="2159682" y="3611880"/>
            <a:ext cx="1428162" cy="1554480"/>
          </a:xfrm>
          <a:prstGeom prst="roundRect">
            <a:avLst>
              <a:gd name="adj" fmla="val 9604"/>
            </a:avLst>
          </a:prstGeom>
          <a:solidFill>
            <a:schemeClr val="bg2"/>
          </a:solidFill>
          <a:ln w="25400">
            <a:solidFill>
              <a:srgbClr val="F4A300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2159682" y="3703320"/>
            <a:ext cx="142816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4400" dirty="0"/>
          </a:p>
        </p:txBody>
      </p:sp>
      <p:sp>
        <p:nvSpPr>
          <p:cNvPr id="16" name="Text 12"/>
          <p:cNvSpPr txBox="1"/>
          <p:nvPr/>
        </p:nvSpPr>
        <p:spPr>
          <a:xfrm>
            <a:off x="2205402" y="4526280"/>
            <a:ext cx="133672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Combinar</a:t>
            </a:r>
            <a:endParaRPr lang="en-US" sz="1300" dirty="0"/>
          </a:p>
        </p:txBody>
      </p:sp>
      <p:sp>
        <p:nvSpPr>
          <p:cNvPr id="17" name="Letra A"/>
          <p:cNvSpPr/>
          <p:nvPr/>
        </p:nvSpPr>
        <p:spPr>
          <a:xfrm>
            <a:off x="3770724" y="3611880"/>
            <a:ext cx="1428162" cy="1554480"/>
          </a:xfrm>
          <a:prstGeom prst="roundRect">
            <a:avLst>
              <a:gd name="adj" fmla="val 9604"/>
            </a:avLst>
          </a:prstGeom>
          <a:solidFill>
            <a:schemeClr val="bg2"/>
          </a:solidFill>
          <a:ln w="25400">
            <a:solidFill>
              <a:srgbClr val="F4A300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3770724" y="3703320"/>
            <a:ext cx="142816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4400" dirty="0"/>
          </a:p>
        </p:txBody>
      </p:sp>
      <p:sp>
        <p:nvSpPr>
          <p:cNvPr id="19" name="Text 15"/>
          <p:cNvSpPr txBox="1"/>
          <p:nvPr/>
        </p:nvSpPr>
        <p:spPr>
          <a:xfrm>
            <a:off x="3816444" y="4526280"/>
            <a:ext cx="133672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Adaptar</a:t>
            </a:r>
            <a:endParaRPr lang="en-US" sz="1300" dirty="0"/>
          </a:p>
        </p:txBody>
      </p:sp>
      <p:sp>
        <p:nvSpPr>
          <p:cNvPr id="20" name="Letra M"/>
          <p:cNvSpPr/>
          <p:nvPr/>
        </p:nvSpPr>
        <p:spPr>
          <a:xfrm>
            <a:off x="5381767" y="3611880"/>
            <a:ext cx="1428162" cy="1554480"/>
          </a:xfrm>
          <a:prstGeom prst="roundRect">
            <a:avLst>
              <a:gd name="adj" fmla="val 9604"/>
            </a:avLst>
          </a:prstGeom>
          <a:solidFill>
            <a:schemeClr val="bg2"/>
          </a:solidFill>
          <a:ln w="25400">
            <a:solidFill>
              <a:srgbClr val="F4A300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5381767" y="3703320"/>
            <a:ext cx="142816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4400" dirty="0"/>
          </a:p>
        </p:txBody>
      </p:sp>
      <p:sp>
        <p:nvSpPr>
          <p:cNvPr id="22" name="Text 18"/>
          <p:cNvSpPr txBox="1"/>
          <p:nvPr/>
        </p:nvSpPr>
        <p:spPr>
          <a:xfrm>
            <a:off x="5427487" y="4526280"/>
            <a:ext cx="133672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Modificar</a:t>
            </a:r>
            <a:endParaRPr lang="en-US" sz="1300" dirty="0"/>
          </a:p>
        </p:txBody>
      </p:sp>
      <p:sp>
        <p:nvSpPr>
          <p:cNvPr id="23" name="Letra P"/>
          <p:cNvSpPr/>
          <p:nvPr/>
        </p:nvSpPr>
        <p:spPr>
          <a:xfrm>
            <a:off x="6992809" y="3611880"/>
            <a:ext cx="1428162" cy="1554480"/>
          </a:xfrm>
          <a:prstGeom prst="roundRect">
            <a:avLst>
              <a:gd name="adj" fmla="val 9604"/>
            </a:avLst>
          </a:prstGeom>
          <a:solidFill>
            <a:schemeClr val="bg2"/>
          </a:solidFill>
          <a:ln w="25400">
            <a:solidFill>
              <a:srgbClr val="F4A300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992809" y="3703320"/>
            <a:ext cx="142816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4400" dirty="0"/>
          </a:p>
        </p:txBody>
      </p:sp>
      <p:sp>
        <p:nvSpPr>
          <p:cNvPr id="25" name="Text 21"/>
          <p:cNvSpPr txBox="1"/>
          <p:nvPr/>
        </p:nvSpPr>
        <p:spPr>
          <a:xfrm>
            <a:off x="7038529" y="4526280"/>
            <a:ext cx="133672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Proponer otros usos</a:t>
            </a:r>
            <a:endParaRPr lang="en-US" sz="1300" dirty="0"/>
          </a:p>
        </p:txBody>
      </p:sp>
      <p:sp>
        <p:nvSpPr>
          <p:cNvPr id="26" name="Letra E"/>
          <p:cNvSpPr/>
          <p:nvPr/>
        </p:nvSpPr>
        <p:spPr>
          <a:xfrm>
            <a:off x="8603851" y="3611880"/>
            <a:ext cx="1428162" cy="1554480"/>
          </a:xfrm>
          <a:prstGeom prst="roundRect">
            <a:avLst>
              <a:gd name="adj" fmla="val 9604"/>
            </a:avLst>
          </a:prstGeom>
          <a:solidFill>
            <a:schemeClr val="bg2"/>
          </a:solidFill>
          <a:ln w="25400">
            <a:solidFill>
              <a:srgbClr val="F4A300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8603851" y="3703320"/>
            <a:ext cx="142816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4400" dirty="0"/>
          </a:p>
        </p:txBody>
      </p:sp>
      <p:sp>
        <p:nvSpPr>
          <p:cNvPr id="28" name="Text 24"/>
          <p:cNvSpPr txBox="1"/>
          <p:nvPr/>
        </p:nvSpPr>
        <p:spPr>
          <a:xfrm>
            <a:off x="8649571" y="4526280"/>
            <a:ext cx="133672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Eliminar</a:t>
            </a:r>
            <a:endParaRPr lang="en-US" sz="1300" dirty="0"/>
          </a:p>
        </p:txBody>
      </p:sp>
      <p:sp>
        <p:nvSpPr>
          <p:cNvPr id="29" name="Letra R"/>
          <p:cNvSpPr/>
          <p:nvPr/>
        </p:nvSpPr>
        <p:spPr>
          <a:xfrm>
            <a:off x="10214893" y="3611880"/>
            <a:ext cx="1428162" cy="1554480"/>
          </a:xfrm>
          <a:prstGeom prst="roundRect">
            <a:avLst>
              <a:gd name="adj" fmla="val 9604"/>
            </a:avLst>
          </a:prstGeom>
          <a:solidFill>
            <a:schemeClr val="bg2"/>
          </a:solidFill>
          <a:ln w="25400">
            <a:solidFill>
              <a:srgbClr val="F4A300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10214893" y="3703320"/>
            <a:ext cx="142816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4400" dirty="0"/>
          </a:p>
        </p:txBody>
      </p:sp>
      <p:sp>
        <p:nvSpPr>
          <p:cNvPr id="31" name="Text 27"/>
          <p:cNvSpPr txBox="1"/>
          <p:nvPr/>
        </p:nvSpPr>
        <p:spPr>
          <a:xfrm>
            <a:off x="10260613" y="4526280"/>
            <a:ext cx="133672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Reorganizar</a:t>
            </a:r>
            <a:endParaRPr lang="en-US" sz="1300" dirty="0"/>
          </a:p>
        </p:txBody>
      </p:sp>
      <p:sp>
        <p:nvSpPr>
          <p:cNvPr id="32" name="Text 28"/>
          <p:cNvSpPr txBox="1"/>
          <p:nvPr/>
        </p:nvSpPr>
        <p:spPr>
          <a:xfrm>
            <a:off x="548640" y="54864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tx2"/>
                </a:solidFill>
              </a:rPr>
              <a:t>Guardad vuestras ideas: las usaréis en el prompt.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Ronda con IA: el prompt</a:t>
            </a:r>
            <a:endParaRPr lang="en-US" sz="3200" dirty="0"/>
          </a:p>
        </p:txBody>
      </p:sp>
      <p:sp>
        <p:nvSpPr>
          <p:cNvPr id="3" name="Etiqueta de tiempo"/>
          <p:cNvSpPr/>
          <p:nvPr/>
        </p:nvSpPr>
        <p:spPr>
          <a:xfrm>
            <a:off x="9187891" y="548640"/>
            <a:ext cx="2455164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87891" y="548640"/>
            <a:ext cx="24551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Min. 62–72 · Con IA</a:t>
            </a:r>
            <a:endParaRPr lang="en-US" sz="1400" dirty="0"/>
          </a:p>
        </p:txBody>
      </p:sp>
      <p:sp>
        <p:nvSpPr>
          <p:cNvPr id="5" name="Prompt"/>
          <p:cNvSpPr/>
          <p:nvPr/>
        </p:nvSpPr>
        <p:spPr>
          <a:xfrm>
            <a:off x="548640" y="1325880"/>
            <a:ext cx="6858000" cy="4572000"/>
          </a:xfrm>
          <a:prstGeom prst="roundRect">
            <a:avLst>
              <a:gd name="adj" fmla="val 2400"/>
            </a:avLst>
          </a:prstGeom>
          <a:solidFill>
            <a:schemeClr val="tx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508760"/>
            <a:ext cx="6309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Actúa como especialista en mejora de procesos de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pequeñas empresas y organizaciones.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Proceso actual: </a:t>
            </a:r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describir en 3 o 4 líneas cómo se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hace hoy, sin nombres ni datos personales</a:t>
            </a:r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Problema: </a:t>
            </a:r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qué falla y a quién afecta</a:t>
            </a:r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Restricciones: sin comprar software caro, sin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contratar personal y que pueda probarse en un mes.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Ya hemos aplicado SCAMPER y tenemos estas ideas: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pegar las ideas de la pareja, indicando la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letra de cada una</a:t>
            </a:r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Aplica SCAMPER al proceso: para cada una de las siete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letras, propón dos ideas que no repitan las nuestras.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Preséntalo en una tabla con estas columnas: letra,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idea, qué cambia en el proceso, beneficio principal y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dificultad (baja, media o alta).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inventes cifras de ahorro ni de resultados.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0" y="1371600"/>
            <a:ext cx="3870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Por qué funciona</a:t>
            </a:r>
            <a:endParaRPr lang="en-US" sz="2200" dirty="0"/>
          </a:p>
        </p:txBody>
      </p:sp>
      <p:sp>
        <p:nvSpPr>
          <p:cNvPr id="8" name="Razón 1"/>
          <p:cNvSpPr/>
          <p:nvPr/>
        </p:nvSpPr>
        <p:spPr>
          <a:xfrm>
            <a:off x="7772400" y="210312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412480" y="2057400"/>
            <a:ext cx="3230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Describe el proceso actual: la materia prima de SCAMPER.</a:t>
            </a:r>
            <a:endParaRPr lang="en-US" sz="1600" dirty="0"/>
          </a:p>
        </p:txBody>
      </p:sp>
      <p:sp>
        <p:nvSpPr>
          <p:cNvPr id="11" name="Razón 2"/>
          <p:cNvSpPr/>
          <p:nvPr/>
        </p:nvSpPr>
        <p:spPr>
          <a:xfrm>
            <a:off x="7772400" y="312724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0" y="3127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412480" y="3081528"/>
            <a:ext cx="3230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Incluye vuestras ideas para que la IA no las repita.</a:t>
            </a:r>
            <a:endParaRPr lang="en-US" sz="1600" dirty="0"/>
          </a:p>
        </p:txBody>
      </p:sp>
      <p:sp>
        <p:nvSpPr>
          <p:cNvPr id="14" name="Razón 3"/>
          <p:cNvSpPr/>
          <p:nvPr/>
        </p:nvSpPr>
        <p:spPr>
          <a:xfrm>
            <a:off x="7772400" y="4151376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0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0" y="4105656"/>
            <a:ext cx="3230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Las restricciones evitan soluciones caras o irreales.</a:t>
            </a:r>
            <a:endParaRPr lang="en-US" sz="1600" dirty="0"/>
          </a:p>
        </p:txBody>
      </p:sp>
      <p:sp>
        <p:nvSpPr>
          <p:cNvPr id="17" name="Razón 4"/>
          <p:cNvSpPr/>
          <p:nvPr/>
        </p:nvSpPr>
        <p:spPr>
          <a:xfrm>
            <a:off x="7772400" y="5175504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0" y="5175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0" y="5129784"/>
            <a:ext cx="3230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La tabla obliga a concretar cada idea y facilita compararla con las vuestras.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No os quedéis en el primer prompt</a:t>
            </a:r>
            <a:endParaRPr lang="en-US" sz="3200" dirty="0"/>
          </a:p>
        </p:txBody>
      </p:sp>
      <p:sp>
        <p:nvSpPr>
          <p:cNvPr id="3" name="Etiqueta de tiempo"/>
          <p:cNvSpPr/>
          <p:nvPr/>
        </p:nvSpPr>
        <p:spPr>
          <a:xfrm>
            <a:off x="9187891" y="548640"/>
            <a:ext cx="2455164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87891" y="548640"/>
            <a:ext cx="24551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Min. 62–72 · Con IA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Seguid la conversación con al menos una de estas peticiones:</a:t>
            </a:r>
            <a:endParaRPr lang="en-US" sz="2000" dirty="0"/>
          </a:p>
        </p:txBody>
      </p:sp>
      <p:sp>
        <p:nvSpPr>
          <p:cNvPr id="6" name="Petición"/>
          <p:cNvSpPr/>
          <p:nvPr/>
        </p:nvSpPr>
        <p:spPr>
          <a:xfrm>
            <a:off x="548640" y="210312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mage 0" descr="Petició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205" y="2278685"/>
            <a:ext cx="380390" cy="380390"/>
          </a:xfrm>
          <a:prstGeom prst="rect">
            <a:avLst/>
          </a:prstGeom>
        </p:spPr>
      </p:pic>
      <p:sp>
        <p:nvSpPr>
          <p:cNvPr id="8" name="Petición"/>
          <p:cNvSpPr/>
          <p:nvPr/>
        </p:nvSpPr>
        <p:spPr>
          <a:xfrm>
            <a:off x="1554480" y="2057400"/>
            <a:ext cx="10088575" cy="82296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828800" y="2057400"/>
            <a:ext cx="95399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Descarta las ideas que requieran más de 100 € o conocimientos técnicos.</a:t>
            </a:r>
            <a:endParaRPr lang="en-US" sz="1800" dirty="0"/>
          </a:p>
        </p:txBody>
      </p:sp>
      <p:sp>
        <p:nvSpPr>
          <p:cNvPr id="10" name="Petición"/>
          <p:cNvSpPr/>
          <p:nvPr/>
        </p:nvSpPr>
        <p:spPr>
          <a:xfrm>
            <a:off x="548640" y="315468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Image 1" descr="Petició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205" y="3330245"/>
            <a:ext cx="380390" cy="380390"/>
          </a:xfrm>
          <a:prstGeom prst="rect">
            <a:avLst/>
          </a:prstGeom>
        </p:spPr>
      </p:pic>
      <p:sp>
        <p:nvSpPr>
          <p:cNvPr id="12" name="Petición"/>
          <p:cNvSpPr/>
          <p:nvPr/>
        </p:nvSpPr>
        <p:spPr>
          <a:xfrm>
            <a:off x="1554480" y="3108960"/>
            <a:ext cx="10088575" cy="82296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1828800" y="3108960"/>
            <a:ext cx="95399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Prioriza las ideas que puedan probarse en una semana.</a:t>
            </a:r>
            <a:endParaRPr lang="en-US" sz="1800" dirty="0"/>
          </a:p>
        </p:txBody>
      </p:sp>
      <p:sp>
        <p:nvSpPr>
          <p:cNvPr id="14" name="Petición"/>
          <p:cNvSpPr/>
          <p:nvPr/>
        </p:nvSpPr>
        <p:spPr>
          <a:xfrm>
            <a:off x="548640" y="420624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Image 2" descr="Petició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205" y="4381805"/>
            <a:ext cx="380390" cy="380390"/>
          </a:xfrm>
          <a:prstGeom prst="rect">
            <a:avLst/>
          </a:prstGeom>
        </p:spPr>
      </p:pic>
      <p:sp>
        <p:nvSpPr>
          <p:cNvPr id="16" name="Petición"/>
          <p:cNvSpPr/>
          <p:nvPr/>
        </p:nvSpPr>
        <p:spPr>
          <a:xfrm>
            <a:off x="1554480" y="4160520"/>
            <a:ext cx="10088575" cy="82296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1828800" y="4160520"/>
            <a:ext cx="95399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Señala los inconvenientes de las tres mejores ideas.</a:t>
            </a:r>
            <a:endParaRPr lang="en-US" sz="1800" dirty="0"/>
          </a:p>
        </p:txBody>
      </p:sp>
      <p:sp>
        <p:nvSpPr>
          <p:cNvPr id="18" name="Iterar"/>
          <p:cNvSpPr/>
          <p:nvPr/>
        </p:nvSpPr>
        <p:spPr>
          <a:xfrm>
            <a:off x="548640" y="534924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9" name="Image 3" descr="Itera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259" y="5502859"/>
            <a:ext cx="332842" cy="33284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417320" y="5349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Un buen trabajo con IA es iterativo: no termina en el primer prompt.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Provocación: salir de lo de siempre</a:t>
            </a:r>
            <a:endParaRPr lang="en-US" sz="3200" dirty="0"/>
          </a:p>
        </p:txBody>
      </p:sp>
      <p:sp>
        <p:nvSpPr>
          <p:cNvPr id="3" name="Etiqueta de tiempo"/>
          <p:cNvSpPr/>
          <p:nvPr/>
        </p:nvSpPr>
        <p:spPr>
          <a:xfrm>
            <a:off x="10134295" y="548640"/>
            <a:ext cx="1508760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134295" y="5486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Min. 72–77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Una técnica de pensamiento lateral de Edward de Bono, en tres pasos:</a:t>
            </a:r>
            <a:endParaRPr lang="en-US" sz="2000" dirty="0"/>
          </a:p>
        </p:txBody>
      </p:sp>
      <p:sp>
        <p:nvSpPr>
          <p:cNvPr id="6" name="Tarjeta"/>
          <p:cNvSpPr/>
          <p:nvPr/>
        </p:nvSpPr>
        <p:spPr>
          <a:xfrm>
            <a:off x="548640" y="2011680"/>
            <a:ext cx="3332378" cy="288036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7" name="1. Provocación"/>
          <p:cNvSpPr/>
          <p:nvPr/>
        </p:nvSpPr>
        <p:spPr>
          <a:xfrm>
            <a:off x="868680" y="2240280"/>
            <a:ext cx="914400" cy="9144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8" name="Image 0" descr="1. Provocació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2459736"/>
            <a:ext cx="475488" cy="47548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68680" y="3291840"/>
            <a:ext cx="26922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1. Provocación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3794760"/>
            <a:ext cx="26922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Una afirmación deliberadamente absurda o imposible, que rompe algo que damos por hecho.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972458" y="3429000"/>
            <a:ext cx="365760" cy="0"/>
          </a:xfrm>
          <a:prstGeom prst="line">
            <a:avLst/>
          </a:prstGeom>
          <a:noFill/>
          <a:ln w="38100">
            <a:solidFill>
              <a:srgbClr val="3A4664"/>
            </a:solidFill>
            <a:prstDash val="solid"/>
            <a:tailEnd type="triangle"/>
          </a:ln>
        </p:spPr>
      </p:sp>
      <p:sp>
        <p:nvSpPr>
          <p:cNvPr id="12" name="Tarjeta"/>
          <p:cNvSpPr/>
          <p:nvPr/>
        </p:nvSpPr>
        <p:spPr>
          <a:xfrm>
            <a:off x="4429658" y="2011680"/>
            <a:ext cx="3332378" cy="288036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13" name="2. Movimiento"/>
          <p:cNvSpPr/>
          <p:nvPr/>
        </p:nvSpPr>
        <p:spPr>
          <a:xfrm>
            <a:off x="4749698" y="2240280"/>
            <a:ext cx="914400" cy="9144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4" name="Image 1" descr="2. Movimient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9154" y="2459736"/>
            <a:ext cx="475488" cy="47548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749698" y="3291840"/>
            <a:ext cx="26922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2. Movimiento</a:t>
            </a:r>
            <a:endParaRPr lang="en-US" sz="2200" dirty="0"/>
          </a:p>
        </p:txBody>
      </p:sp>
      <p:sp>
        <p:nvSpPr>
          <p:cNvPr id="16" name="Text 12"/>
          <p:cNvSpPr txBox="1"/>
          <p:nvPr/>
        </p:nvSpPr>
        <p:spPr>
          <a:xfrm>
            <a:off x="4749698" y="3794760"/>
            <a:ext cx="26922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Buscar qué principio útil se esconde en ese absurdo.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7853477" y="3429000"/>
            <a:ext cx="365760" cy="0"/>
          </a:xfrm>
          <a:prstGeom prst="line">
            <a:avLst/>
          </a:prstGeom>
          <a:noFill/>
          <a:ln w="38100">
            <a:solidFill>
              <a:srgbClr val="3A4664"/>
            </a:solidFill>
            <a:prstDash val="solid"/>
            <a:tailEnd type="triangle"/>
          </a:ln>
        </p:spPr>
      </p:sp>
      <p:sp>
        <p:nvSpPr>
          <p:cNvPr id="18" name="Tarjeta"/>
          <p:cNvSpPr/>
          <p:nvPr/>
        </p:nvSpPr>
        <p:spPr>
          <a:xfrm>
            <a:off x="8310677" y="2011680"/>
            <a:ext cx="3332378" cy="288036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19" name="3. Idea práctica"/>
          <p:cNvSpPr/>
          <p:nvPr/>
        </p:nvSpPr>
        <p:spPr>
          <a:xfrm>
            <a:off x="8630717" y="224028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mage 2" descr="3. Idea práctic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0173" y="2459736"/>
            <a:ext cx="475488" cy="47548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630717" y="3291840"/>
            <a:ext cx="26922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3. Idea práctica</a:t>
            </a:r>
            <a:endParaRPr lang="en-US" sz="2200" dirty="0"/>
          </a:p>
        </p:txBody>
      </p:sp>
      <p:sp>
        <p:nvSpPr>
          <p:cNvPr id="22" name="Text 17"/>
          <p:cNvSpPr txBox="1"/>
          <p:nvPr/>
        </p:nvSpPr>
        <p:spPr>
          <a:xfrm>
            <a:off x="8630717" y="3794760"/>
            <a:ext cx="26922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Convertir ese principio en algo que se pueda hacer de verdad.</a:t>
            </a:r>
            <a:endParaRPr lang="en-US" sz="1600" dirty="0"/>
          </a:p>
        </p:txBody>
      </p:sp>
      <p:sp>
        <p:nvSpPr>
          <p:cNvPr id="23" name="Tarjeta"/>
          <p:cNvSpPr/>
          <p:nvPr/>
        </p:nvSpPr>
        <p:spPr>
          <a:xfrm>
            <a:off x="548640" y="5212080"/>
            <a:ext cx="11094415" cy="777240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868680" y="5212080"/>
            <a:ext cx="10454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SCAMPER mejora lo que existe. </a:t>
            </a:r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La provocación rompe lo que damos por hecho.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Cuatro tipos de provocación, en la peluquería</a:t>
            </a:r>
            <a:endParaRPr lang="en-US" sz="3200" dirty="0"/>
          </a:p>
        </p:txBody>
      </p:sp>
      <p:sp>
        <p:nvSpPr>
          <p:cNvPr id="3" name="Etiqueta de tiempo"/>
          <p:cNvSpPr/>
          <p:nvPr/>
        </p:nvSpPr>
        <p:spPr>
          <a:xfrm>
            <a:off x="10134295" y="548640"/>
            <a:ext cx="1508760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134295" y="5486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Min. 72–77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200400"/>
                <a:gridCol w="2743200"/>
                <a:gridCol w="323057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Tipo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Provocación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Movimiento: principio útil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Idea práctica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Inversión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chemeClr val="tx1"/>
                          </a:solidFill>
                        </a:rPr>
                        <a:t>darle la vuelta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i="1" dirty="0">
                          <a:solidFill>
                            <a:schemeClr val="tx1"/>
                          </a:solidFill>
                        </a:rPr>
                        <a:t>«La peluquería llama a los clientes, y no al revés».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La peluquería puede tomar la iniciativa.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Al terminar cada servicio, proponer ya la fecha de la siguiente cita.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Exageración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chemeClr val="tx1"/>
                          </a:solidFill>
                        </a:rPr>
                        <a:t>llevarlo al extremo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i="1" dirty="0">
                          <a:solidFill>
                            <a:schemeClr val="tx1"/>
                          </a:solidFill>
                        </a:rPr>
                        <a:t>«Cada cliente viene todos los días».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Clientes con citas fijas y recurrentes.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Abono mensual con cita fija para clientes habituales.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Eliminación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chemeClr val="tx1"/>
                          </a:solidFill>
                        </a:rPr>
                        <a:t>quitar lo imprescindible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i="1" dirty="0">
                          <a:solidFill>
                            <a:schemeClr val="tx1"/>
                          </a:solidFill>
                        </a:rPr>
                        <a:t>«La peluquería no tiene teléfono».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El teléfono no tiene por qué ser el canal principal.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Reservas por otros canales; el teléfono, solo para imprevistos.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Deseo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chemeClr val="tx1"/>
                          </a:solidFill>
                        </a:rPr>
                        <a:t>¿y si…? imposible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i="1" dirty="0">
                          <a:solidFill>
                            <a:schemeClr val="tx1"/>
                          </a:solidFill>
                        </a:rPr>
                        <a:t>«¿Y si el cliente supiera exactamente cuándo le toca, aunque llegue sin cita?».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Hacer visible la espera.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Turno visible en el móvil o en una pantalla en la puerta.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1097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El error típico</a:t>
            </a:r>
            <a:endParaRPr lang="en-US" sz="1800" dirty="0"/>
          </a:p>
        </p:txBody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1097280" y="1554480"/>
            <a:ext cx="9966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chemeClr val="bg1"/>
                </a:solidFill>
              </a:rPr>
              <a:t>Quedarse en la provocación y reírse.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Sin movimiento no hay idea: ¿qué principio útil sacamos de esto?</a:t>
            </a: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Ejercicio 3: provocación en vuestro caso</a:t>
            </a:r>
            <a:endParaRPr lang="en-US" sz="3200" dirty="0"/>
          </a:p>
        </p:txBody>
      </p:sp>
      <p:sp>
        <p:nvSpPr>
          <p:cNvPr id="3" name="Etiqueta de tiempo"/>
          <p:cNvSpPr/>
          <p:nvPr/>
        </p:nvSpPr>
        <p:spPr>
          <a:xfrm>
            <a:off x="9187891" y="548640"/>
            <a:ext cx="2455164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87891" y="548640"/>
            <a:ext cx="24551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Min. 77–85 · Sin IA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2"/>
                </a:solidFill>
              </a:rPr>
              <a:t>Tres provocaciones de tipos distintos, sobre el mismo caso. Para cada una, llegad hasta la idea práctica:</a:t>
            </a:r>
            <a:endParaRPr lang="en-US" sz="1900" dirty="0"/>
          </a:p>
        </p:txBody>
      </p:sp>
      <p:sp>
        <p:nvSpPr>
          <p:cNvPr id="6" name="Provocación"/>
          <p:cNvSpPr/>
          <p:nvPr/>
        </p:nvSpPr>
        <p:spPr>
          <a:xfrm>
            <a:off x="548640" y="2057400"/>
            <a:ext cx="3362858" cy="54864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057400"/>
            <a:ext cx="33628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Provocación</a:t>
            </a:r>
            <a:endParaRPr lang="en-US" sz="1800" dirty="0"/>
          </a:p>
        </p:txBody>
      </p:sp>
      <p:sp>
        <p:nvSpPr>
          <p:cNvPr id="8" name="Hueco"/>
          <p:cNvSpPr/>
          <p:nvPr/>
        </p:nvSpPr>
        <p:spPr>
          <a:xfrm>
            <a:off x="548640" y="2788920"/>
            <a:ext cx="3362858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rgbClr val="8A94A6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3984650" y="3218688"/>
            <a:ext cx="356616" cy="0"/>
          </a:xfrm>
          <a:prstGeom prst="line">
            <a:avLst/>
          </a:prstGeom>
          <a:noFill/>
          <a:ln w="31750">
            <a:solidFill>
              <a:srgbClr val="3A4664"/>
            </a:solidFill>
            <a:prstDash val="solid"/>
            <a:tailEnd type="triangle"/>
          </a:ln>
        </p:spPr>
      </p:sp>
      <p:sp>
        <p:nvSpPr>
          <p:cNvPr id="10" name="Hueco"/>
          <p:cNvSpPr/>
          <p:nvPr/>
        </p:nvSpPr>
        <p:spPr>
          <a:xfrm>
            <a:off x="548640" y="3840480"/>
            <a:ext cx="3362858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rgbClr val="8A94A6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3984650" y="4270248"/>
            <a:ext cx="356616" cy="0"/>
          </a:xfrm>
          <a:prstGeom prst="line">
            <a:avLst/>
          </a:prstGeom>
          <a:noFill/>
          <a:ln w="31750">
            <a:solidFill>
              <a:srgbClr val="3A4664"/>
            </a:solidFill>
            <a:prstDash val="solid"/>
            <a:tailEnd type="triangle"/>
          </a:ln>
        </p:spPr>
      </p:sp>
      <p:sp>
        <p:nvSpPr>
          <p:cNvPr id="12" name="Hueco"/>
          <p:cNvSpPr/>
          <p:nvPr/>
        </p:nvSpPr>
        <p:spPr>
          <a:xfrm>
            <a:off x="548640" y="4892040"/>
            <a:ext cx="3362858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rgbClr val="8A94A6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3984650" y="5321808"/>
            <a:ext cx="356616" cy="0"/>
          </a:xfrm>
          <a:prstGeom prst="line">
            <a:avLst/>
          </a:prstGeom>
          <a:noFill/>
          <a:ln w="31750">
            <a:solidFill>
              <a:srgbClr val="3A4664"/>
            </a:solidFill>
            <a:prstDash val="solid"/>
            <a:tailEnd type="triangle"/>
          </a:ln>
        </p:spPr>
      </p:sp>
      <p:sp>
        <p:nvSpPr>
          <p:cNvPr id="14" name="Principio útil"/>
          <p:cNvSpPr/>
          <p:nvPr/>
        </p:nvSpPr>
        <p:spPr>
          <a:xfrm>
            <a:off x="4414418" y="2057400"/>
            <a:ext cx="3362858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414418" y="2057400"/>
            <a:ext cx="33628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Principio útil</a:t>
            </a:r>
            <a:endParaRPr lang="en-US" sz="1800" dirty="0"/>
          </a:p>
        </p:txBody>
      </p:sp>
      <p:sp>
        <p:nvSpPr>
          <p:cNvPr id="16" name="Hueco"/>
          <p:cNvSpPr/>
          <p:nvPr/>
        </p:nvSpPr>
        <p:spPr>
          <a:xfrm>
            <a:off x="4414418" y="2788920"/>
            <a:ext cx="3362858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rgbClr val="8A94A6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7850429" y="3218688"/>
            <a:ext cx="356616" cy="0"/>
          </a:xfrm>
          <a:prstGeom prst="line">
            <a:avLst/>
          </a:prstGeom>
          <a:noFill/>
          <a:ln w="31750">
            <a:solidFill>
              <a:srgbClr val="3A4664"/>
            </a:solidFill>
            <a:prstDash val="solid"/>
            <a:tailEnd type="triangle"/>
          </a:ln>
        </p:spPr>
      </p:sp>
      <p:sp>
        <p:nvSpPr>
          <p:cNvPr id="18" name="Hueco"/>
          <p:cNvSpPr/>
          <p:nvPr/>
        </p:nvSpPr>
        <p:spPr>
          <a:xfrm>
            <a:off x="4414418" y="3840480"/>
            <a:ext cx="3362858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rgbClr val="8A94A6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7850429" y="4270248"/>
            <a:ext cx="356616" cy="0"/>
          </a:xfrm>
          <a:prstGeom prst="line">
            <a:avLst/>
          </a:prstGeom>
          <a:noFill/>
          <a:ln w="31750">
            <a:solidFill>
              <a:srgbClr val="3A4664"/>
            </a:solidFill>
            <a:prstDash val="solid"/>
            <a:tailEnd type="triangle"/>
          </a:ln>
        </p:spPr>
      </p:sp>
      <p:sp>
        <p:nvSpPr>
          <p:cNvPr id="20" name="Hueco"/>
          <p:cNvSpPr/>
          <p:nvPr/>
        </p:nvSpPr>
        <p:spPr>
          <a:xfrm>
            <a:off x="4414418" y="4892040"/>
            <a:ext cx="3362858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rgbClr val="8A94A6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7850429" y="5321808"/>
            <a:ext cx="356616" cy="0"/>
          </a:xfrm>
          <a:prstGeom prst="line">
            <a:avLst/>
          </a:prstGeom>
          <a:noFill/>
          <a:ln w="31750">
            <a:solidFill>
              <a:srgbClr val="3A4664"/>
            </a:solidFill>
            <a:prstDash val="solid"/>
            <a:tailEnd type="triangle"/>
          </a:ln>
        </p:spPr>
      </p:sp>
      <p:sp>
        <p:nvSpPr>
          <p:cNvPr id="22" name="Idea práctica"/>
          <p:cNvSpPr/>
          <p:nvPr/>
        </p:nvSpPr>
        <p:spPr>
          <a:xfrm>
            <a:off x="8280197" y="2057400"/>
            <a:ext cx="3362858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80197" y="2057400"/>
            <a:ext cx="33628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Idea práctica</a:t>
            </a:r>
            <a:endParaRPr lang="en-US" sz="1800" dirty="0"/>
          </a:p>
        </p:txBody>
      </p:sp>
      <p:sp>
        <p:nvSpPr>
          <p:cNvPr id="24" name="Hueco"/>
          <p:cNvSpPr/>
          <p:nvPr/>
        </p:nvSpPr>
        <p:spPr>
          <a:xfrm>
            <a:off x="8280197" y="2788920"/>
            <a:ext cx="3362858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rgbClr val="8A94A6"/>
            </a:solidFill>
            <a:prstDash val="dash"/>
          </a:ln>
        </p:spPr>
      </p:sp>
      <p:sp>
        <p:nvSpPr>
          <p:cNvPr id="25" name="Hueco"/>
          <p:cNvSpPr/>
          <p:nvPr/>
        </p:nvSpPr>
        <p:spPr>
          <a:xfrm>
            <a:off x="8280197" y="3840480"/>
            <a:ext cx="3362858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rgbClr val="8A94A6"/>
            </a:solidFill>
            <a:prstDash val="dash"/>
          </a:ln>
        </p:spPr>
      </p:sp>
      <p:sp>
        <p:nvSpPr>
          <p:cNvPr id="26" name="Hueco"/>
          <p:cNvSpPr/>
          <p:nvPr/>
        </p:nvSpPr>
        <p:spPr>
          <a:xfrm>
            <a:off x="8280197" y="4892040"/>
            <a:ext cx="3362858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rgbClr val="8A94A6"/>
            </a:solidFill>
            <a:prstDash val="dash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Ronda con IA: el prompt</a:t>
            </a:r>
            <a:endParaRPr lang="en-US" sz="3200" dirty="0"/>
          </a:p>
        </p:txBody>
      </p:sp>
      <p:sp>
        <p:nvSpPr>
          <p:cNvPr id="3" name="Etiqueta de tiempo"/>
          <p:cNvSpPr/>
          <p:nvPr/>
        </p:nvSpPr>
        <p:spPr>
          <a:xfrm>
            <a:off x="9187891" y="548640"/>
            <a:ext cx="2455164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87891" y="548640"/>
            <a:ext cx="24551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Min. 85–92 · Con IA</a:t>
            </a:r>
            <a:endParaRPr lang="en-US" sz="1400" dirty="0"/>
          </a:p>
        </p:txBody>
      </p:sp>
      <p:sp>
        <p:nvSpPr>
          <p:cNvPr id="5" name="Prompt"/>
          <p:cNvSpPr/>
          <p:nvPr/>
        </p:nvSpPr>
        <p:spPr>
          <a:xfrm>
            <a:off x="548640" y="1325880"/>
            <a:ext cx="6858000" cy="4754880"/>
          </a:xfrm>
          <a:prstGeom prst="roundRect">
            <a:avLst>
              <a:gd name="adj" fmla="val 2308"/>
            </a:avLst>
          </a:prstGeom>
          <a:solidFill>
            <a:schemeClr val="tx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508760"/>
            <a:ext cx="6309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Actúa como experto en pensamiento lateral y en la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técnica de provocación de Edward de Bono.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Situación: </a:t>
            </a:r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describir el proceso actual y el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problema, sin nombres ni datos personales</a:t>
            </a:r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Paso 1. Escribe 6 provocaciones: afirmaciones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deliberadamente absurdas o imposibles que rompan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una suposición sobre esta situación. Incluye al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menos una de cada tipo: inversión, exageración,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eliminación y deseo («¿Y si…?»).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Paso 2. Para cada provocación, haz el movimiento: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explica qué principio útil puede extraerse de ella.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Paso 3. Convierte cada principio en una idea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práctica, realista y de bajo coste.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Preséntalo en una tabla con cuatro columnas: tipo,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provocación, principio útil e idea práctica.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repitas estas provocaciones nuestras: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pegar las de la pareja</a:t>
            </a:r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0" y="1371600"/>
            <a:ext cx="3870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Por qué funciona</a:t>
            </a:r>
            <a:endParaRPr lang="en-US" sz="2200" dirty="0"/>
          </a:p>
        </p:txBody>
      </p:sp>
      <p:sp>
        <p:nvSpPr>
          <p:cNvPr id="8" name="Razón 1"/>
          <p:cNvSpPr/>
          <p:nvPr/>
        </p:nvSpPr>
        <p:spPr>
          <a:xfrm>
            <a:off x="7772400" y="210312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412480" y="2057400"/>
            <a:ext cx="3230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Separa los tres pasos de la técnica: la IA no salta directamente a una idea convencional.</a:t>
            </a:r>
            <a:endParaRPr lang="en-US" sz="1600" dirty="0"/>
          </a:p>
        </p:txBody>
      </p:sp>
      <p:sp>
        <p:nvSpPr>
          <p:cNvPr id="11" name="Razón 2"/>
          <p:cNvSpPr/>
          <p:nvPr/>
        </p:nvSpPr>
        <p:spPr>
          <a:xfrm>
            <a:off x="7772400" y="312724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0" y="3127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412480" y="3081528"/>
            <a:ext cx="3230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Exige los cuatro tipos para forzar la variedad.</a:t>
            </a:r>
            <a:endParaRPr lang="en-US" sz="1600" dirty="0"/>
          </a:p>
        </p:txBody>
      </p:sp>
      <p:sp>
        <p:nvSpPr>
          <p:cNvPr id="14" name="Razón 3"/>
          <p:cNvSpPr/>
          <p:nvPr/>
        </p:nvSpPr>
        <p:spPr>
          <a:xfrm>
            <a:off x="7772400" y="4151376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0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0" y="4105656"/>
            <a:ext cx="3230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La tabla permite comprobar si el movimiento tiene sentido o solo suena bien.</a:t>
            </a:r>
            <a:endParaRPr lang="en-US" sz="1600" dirty="0"/>
          </a:p>
        </p:txBody>
      </p:sp>
      <p:sp>
        <p:nvSpPr>
          <p:cNvPr id="17" name="Razón 4"/>
          <p:cNvSpPr/>
          <p:nvPr/>
        </p:nvSpPr>
        <p:spPr>
          <a:xfrm>
            <a:off x="7772400" y="5175504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0" y="5175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0" y="5129784"/>
            <a:ext cx="3230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Incluye vuestras provocaciones para que no las repita.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Revisad lo que dice la IA</a:t>
            </a:r>
            <a:endParaRPr lang="en-US" sz="3200" dirty="0"/>
          </a:p>
        </p:txBody>
      </p:sp>
      <p:sp>
        <p:nvSpPr>
          <p:cNvPr id="3" name="Etiqueta de tiempo"/>
          <p:cNvSpPr/>
          <p:nvPr/>
        </p:nvSpPr>
        <p:spPr>
          <a:xfrm>
            <a:off x="9187891" y="548640"/>
            <a:ext cx="2455164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87891" y="548640"/>
            <a:ext cx="24551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Min. 85–92 · Con IA</a:t>
            </a:r>
            <a:endParaRPr lang="en-US" sz="1400" dirty="0"/>
          </a:p>
        </p:txBody>
      </p:sp>
      <p:sp>
        <p:nvSpPr>
          <p:cNvPr id="5" name="Tarjeta"/>
          <p:cNvSpPr/>
          <p:nvPr/>
        </p:nvSpPr>
        <p:spPr>
          <a:xfrm>
            <a:off x="548640" y="1554480"/>
            <a:ext cx="5364328" cy="329184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/>
        </p:spPr>
      </p:sp>
      <p:sp>
        <p:nvSpPr>
          <p:cNvPr id="6" name="Pregunta"/>
          <p:cNvSpPr/>
          <p:nvPr/>
        </p:nvSpPr>
        <p:spPr>
          <a:xfrm>
            <a:off x="914400" y="1828800"/>
            <a:ext cx="1097280" cy="10972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mage 0" descr="Pregunt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7747" y="2092147"/>
            <a:ext cx="570586" cy="57058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14400" y="3108960"/>
            <a:ext cx="46328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¿El principio útil se deduce de verdad de la provocación?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4069080"/>
            <a:ext cx="4632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¿O la IA se ha inventado la conexión?</a:t>
            </a:r>
            <a:endParaRPr lang="en-US" sz="1700" dirty="0"/>
          </a:p>
        </p:txBody>
      </p:sp>
      <p:sp>
        <p:nvSpPr>
          <p:cNvPr id="10" name="Tarjeta"/>
          <p:cNvSpPr/>
          <p:nvPr/>
        </p:nvSpPr>
        <p:spPr>
          <a:xfrm>
            <a:off x="6278728" y="1554480"/>
            <a:ext cx="5364328" cy="329184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/>
        </p:spPr>
      </p:sp>
      <p:sp>
        <p:nvSpPr>
          <p:cNvPr id="11" name="Pregunta"/>
          <p:cNvSpPr/>
          <p:nvPr/>
        </p:nvSpPr>
        <p:spPr>
          <a:xfrm>
            <a:off x="6644488" y="1828800"/>
            <a:ext cx="1097280" cy="10972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Image 1" descr="Pregunt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7835" y="2092147"/>
            <a:ext cx="570586" cy="57058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644488" y="3108960"/>
            <a:ext cx="46328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¿La idea práctica es aplicable, o es un tópico?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6644488" y="4069080"/>
            <a:ext cx="4632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¿Se podría probar en vuestro caso con pocos recursos?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5212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3"/>
                </a:solidFill>
              </a:rPr>
              <a:t>La IA es muy atrevida provocando. Lo difícil es el movimiento: ahí, vuestro criterio.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Elegid vuestras tres mejores propuestas</a:t>
            </a:r>
            <a:endParaRPr lang="en-US" sz="3200" dirty="0"/>
          </a:p>
        </p:txBody>
      </p:sp>
      <p:sp>
        <p:nvSpPr>
          <p:cNvPr id="3" name="Etiqueta de tiempo"/>
          <p:cNvSpPr/>
          <p:nvPr/>
        </p:nvSpPr>
        <p:spPr>
          <a:xfrm>
            <a:off x="8977579" y="548640"/>
            <a:ext cx="2665476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977579" y="548640"/>
            <a:ext cx="26654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Min. 92–100 · Parejas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2"/>
                </a:solidFill>
              </a:rPr>
              <a:t>Juntad las ideas de SCAMPER y de la provocación, vuestras y de la IA. Justificad cada elección:</a:t>
            </a:r>
            <a:endParaRPr lang="en-US" sz="1900" dirty="0"/>
          </a:p>
        </p:txBody>
      </p:sp>
      <p:sp>
        <p:nvSpPr>
          <p:cNvPr id="6" name="Coste"/>
          <p:cNvSpPr/>
          <p:nvPr/>
        </p:nvSpPr>
        <p:spPr>
          <a:xfrm>
            <a:off x="548640" y="20116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0" descr="Cos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59" y="2165299"/>
            <a:ext cx="332842" cy="33284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25880" y="20116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Coste</a:t>
            </a:r>
            <a:endParaRPr lang="en-US" sz="1900" dirty="0"/>
          </a:p>
        </p:txBody>
      </p:sp>
      <p:sp>
        <p:nvSpPr>
          <p:cNvPr id="9" name="Beneficio"/>
          <p:cNvSpPr/>
          <p:nvPr/>
        </p:nvSpPr>
        <p:spPr>
          <a:xfrm>
            <a:off x="3474720" y="20116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Benefici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8339" y="216529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251960" y="20116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Beneficio</a:t>
            </a:r>
            <a:endParaRPr lang="en-US" sz="1900" dirty="0"/>
          </a:p>
        </p:txBody>
      </p:sp>
      <p:sp>
        <p:nvSpPr>
          <p:cNvPr id="12" name="Facilidad de aplicación"/>
          <p:cNvSpPr/>
          <p:nvPr/>
        </p:nvSpPr>
        <p:spPr>
          <a:xfrm>
            <a:off x="6400800" y="20116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2" descr="Facilidad de aplicació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4419" y="2165299"/>
            <a:ext cx="332842" cy="33284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178040" y="20116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Facilidad de aplicación</a:t>
            </a:r>
            <a:endParaRPr lang="en-US" sz="1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71800"/>
          <a:ext cx="11094415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4967935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Propuesta</a:t>
                      </a:r>
                      <a:endParaRPr lang="en-US" sz="16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Por qué la elegimos</a:t>
                      </a:r>
                      <a:endParaRPr lang="en-US" sz="16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Origen</a:t>
                      </a:r>
                      <a:endParaRPr lang="en-US" sz="16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en-US" sz="16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en-US" sz="16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en-US" sz="16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ext 10"/>
          <p:cNvSpPr txBox="1"/>
          <p:nvPr/>
        </p:nvSpPr>
        <p:spPr>
          <a:xfrm>
            <a:off x="548640" y="57150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Origen: pareja, IA o combinación de las dos.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Puesta en común</a:t>
            </a:r>
            <a:endParaRPr lang="en-US" sz="3200" dirty="0"/>
          </a:p>
        </p:txBody>
      </p:sp>
      <p:sp>
        <p:nvSpPr>
          <p:cNvPr id="3" name="Etiqueta de tiempo"/>
          <p:cNvSpPr/>
          <p:nvPr/>
        </p:nvSpPr>
        <p:spPr>
          <a:xfrm>
            <a:off x="8346643" y="548640"/>
            <a:ext cx="3296412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346643" y="548640"/>
            <a:ext cx="32964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Min. 92–100 · Todo el grupo</a:t>
            </a:r>
            <a:endParaRPr lang="en-US" sz="1400" dirty="0"/>
          </a:p>
        </p:txBody>
      </p:sp>
      <p:sp>
        <p:nvSpPr>
          <p:cNvPr id="5" name="Tarjeta"/>
          <p:cNvSpPr/>
          <p:nvPr/>
        </p:nvSpPr>
        <p:spPr>
          <a:xfrm>
            <a:off x="548640" y="1600200"/>
            <a:ext cx="3454298" cy="3566160"/>
          </a:xfrm>
          <a:prstGeom prst="roundRect">
            <a:avLst>
              <a:gd name="adj" fmla="val 3971"/>
            </a:avLst>
          </a:prstGeom>
          <a:solidFill>
            <a:schemeClr val="bg2"/>
          </a:solidFill>
          <a:ln/>
        </p:spPr>
      </p:sp>
      <p:sp>
        <p:nvSpPr>
          <p:cNvPr id="6" name="Pregunta"/>
          <p:cNvSpPr/>
          <p:nvPr/>
        </p:nvSpPr>
        <p:spPr>
          <a:xfrm>
            <a:off x="1681429" y="1965960"/>
            <a:ext cx="1188720" cy="11887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7" name="Image 0" descr="Pregunt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6722" y="2251253"/>
            <a:ext cx="618134" cy="61813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68680" y="3429000"/>
            <a:ext cx="281421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¿De dónde han salido las propuestas elegidas: de la pareja, de la IA o de una combinación?</a:t>
            </a:r>
            <a:endParaRPr lang="en-US" sz="2200" dirty="0"/>
          </a:p>
        </p:txBody>
      </p:sp>
      <p:sp>
        <p:nvSpPr>
          <p:cNvPr id="9" name="Tarjeta"/>
          <p:cNvSpPr/>
          <p:nvPr/>
        </p:nvSpPr>
        <p:spPr>
          <a:xfrm>
            <a:off x="4368698" y="1600200"/>
            <a:ext cx="3454298" cy="3566160"/>
          </a:xfrm>
          <a:prstGeom prst="roundRect">
            <a:avLst>
              <a:gd name="adj" fmla="val 3971"/>
            </a:avLst>
          </a:prstGeom>
          <a:solidFill>
            <a:schemeClr val="bg2"/>
          </a:solidFill>
          <a:ln/>
        </p:spPr>
      </p:sp>
      <p:sp>
        <p:nvSpPr>
          <p:cNvPr id="10" name="Pregunta"/>
          <p:cNvSpPr/>
          <p:nvPr/>
        </p:nvSpPr>
        <p:spPr>
          <a:xfrm>
            <a:off x="5501488" y="1965960"/>
            <a:ext cx="1188720" cy="11887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1" name="Image 1" descr="Pregunt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6780" y="2251253"/>
            <a:ext cx="618134" cy="61813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88738" y="3429000"/>
            <a:ext cx="281421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¿Qué técnica ha dado ideas más aplicables?</a:t>
            </a:r>
            <a:endParaRPr lang="en-US" sz="2200" dirty="0"/>
          </a:p>
        </p:txBody>
      </p:sp>
      <p:sp>
        <p:nvSpPr>
          <p:cNvPr id="13" name="Tarjeta"/>
          <p:cNvSpPr/>
          <p:nvPr/>
        </p:nvSpPr>
        <p:spPr>
          <a:xfrm>
            <a:off x="8188757" y="1600200"/>
            <a:ext cx="3454298" cy="3566160"/>
          </a:xfrm>
          <a:prstGeom prst="roundRect">
            <a:avLst>
              <a:gd name="adj" fmla="val 3971"/>
            </a:avLst>
          </a:prstGeom>
          <a:solidFill>
            <a:schemeClr val="bg2"/>
          </a:solidFill>
          <a:ln/>
        </p:spPr>
      </p:sp>
      <p:sp>
        <p:nvSpPr>
          <p:cNvPr id="14" name="Pregunta"/>
          <p:cNvSpPr/>
          <p:nvPr/>
        </p:nvSpPr>
        <p:spPr>
          <a:xfrm>
            <a:off x="9321546" y="1965960"/>
            <a:ext cx="1188720" cy="11887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5" name="Image 2" descr="Pregunt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6839" y="2251253"/>
            <a:ext cx="618134" cy="61813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508797" y="3429000"/>
            <a:ext cx="281421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¿Y más originales?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¿Qué falla aquí?</a:t>
            </a:r>
            <a:endParaRPr lang="en-US" sz="3200" dirty="0"/>
          </a:p>
        </p:txBody>
      </p:sp>
      <p:sp>
        <p:nvSpPr>
          <p:cNvPr id="3" name="Etiqueta de tiempo"/>
          <p:cNvSpPr/>
          <p:nvPr/>
        </p:nvSpPr>
        <p:spPr>
          <a:xfrm>
            <a:off x="8872423" y="548640"/>
            <a:ext cx="2770632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872423" y="548640"/>
            <a:ext cx="277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Min. 100–103 · Parejas</a:t>
            </a:r>
            <a:endParaRPr lang="en-US" sz="1400" dirty="0"/>
          </a:p>
        </p:txBody>
      </p:sp>
      <p:sp>
        <p:nvSpPr>
          <p:cNvPr id="5" name="Prompt"/>
          <p:cNvSpPr/>
          <p:nvPr/>
        </p:nvSpPr>
        <p:spPr>
          <a:xfrm>
            <a:off x="548640" y="1463040"/>
            <a:ext cx="5364328" cy="4023360"/>
          </a:xfrm>
          <a:prstGeom prst="roundRect">
            <a:avLst>
              <a:gd name="adj" fmla="val 3409"/>
            </a:avLst>
          </a:prstGeom>
          <a:solidFill>
            <a:schemeClr val="tx1"/>
          </a:solidFill>
          <a:ln/>
        </p:spPr>
      </p:sp>
      <p:sp>
        <p:nvSpPr>
          <p:cNvPr id="6" name="Prompt"/>
          <p:cNvSpPr/>
          <p:nvPr/>
        </p:nvSpPr>
        <p:spPr>
          <a:xfrm>
            <a:off x="868680" y="1691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0" descr="Promp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" y="1845259"/>
            <a:ext cx="332842" cy="33284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91640" y="1691640"/>
            <a:ext cx="3901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El prompt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514600"/>
            <a:ext cx="47242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chemeClr val="bg1"/>
                </a:solidFill>
              </a:rPr>
              <a:t>«Nuestra clienta María García Ruiz, de la calle Mayor 12, falta siempre a sus citas y no paga las anulaciones. ¿Cómo reducimos las ausencias?»</a:t>
            </a:r>
            <a:endParaRPr lang="en-US" sz="1900" dirty="0"/>
          </a:p>
        </p:txBody>
      </p:sp>
      <p:sp>
        <p:nvSpPr>
          <p:cNvPr id="10" name="Tarjeta"/>
          <p:cNvSpPr/>
          <p:nvPr/>
        </p:nvSpPr>
        <p:spPr>
          <a:xfrm>
            <a:off x="6278728" y="1463040"/>
            <a:ext cx="5364328" cy="4023360"/>
          </a:xfrm>
          <a:prstGeom prst="roundRect">
            <a:avLst>
              <a:gd name="adj" fmla="val 3409"/>
            </a:avLst>
          </a:prstGeom>
          <a:solidFill>
            <a:schemeClr val="bg2"/>
          </a:solidFill>
          <a:ln/>
        </p:spPr>
      </p:sp>
      <p:sp>
        <p:nvSpPr>
          <p:cNvPr id="11" name="IA"/>
          <p:cNvSpPr/>
          <p:nvPr/>
        </p:nvSpPr>
        <p:spPr>
          <a:xfrm>
            <a:off x="6598768" y="169164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Image 1" descr="I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2387" y="1845259"/>
            <a:ext cx="332842" cy="33284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421728" y="1691640"/>
            <a:ext cx="3901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La respuesta de la IA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6598768" y="2514600"/>
            <a:ext cx="472424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«Según un estudio de la Universidad de Salamanca de 2023, enviar recordatorios reduce las ausencias un 47 %. Os recomiendo activar la función de recordatorios automáticos gratuita que incluye vuestra aplicación de mensajería. También podéis cobrar una fianza del 50 % al reservar; es la práctica habitual en todas las peluquerías».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56692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Por parejas: encontrad todos los problemas.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Cuatro problemas</a:t>
            </a:r>
            <a:endParaRPr lang="en-US" sz="3200" dirty="0"/>
          </a:p>
        </p:txBody>
      </p:sp>
      <p:sp>
        <p:nvSpPr>
          <p:cNvPr id="3" name="Etiqueta de tiempo"/>
          <p:cNvSpPr/>
          <p:nvPr/>
        </p:nvSpPr>
        <p:spPr>
          <a:xfrm>
            <a:off x="9923983" y="548640"/>
            <a:ext cx="1719072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923983" y="54864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Min. 103–105</a:t>
            </a:r>
            <a:endParaRPr lang="en-US" sz="1400" dirty="0"/>
          </a:p>
        </p:txBody>
      </p:sp>
      <p:sp>
        <p:nvSpPr>
          <p:cNvPr id="5" name="Tarjeta"/>
          <p:cNvSpPr/>
          <p:nvPr/>
        </p:nvSpPr>
        <p:spPr>
          <a:xfrm>
            <a:off x="548640" y="1463040"/>
            <a:ext cx="5364328" cy="1737360"/>
          </a:xfrm>
          <a:prstGeom prst="roundRect">
            <a:avLst>
              <a:gd name="adj" fmla="val 7895"/>
            </a:avLst>
          </a:prstGeom>
          <a:solidFill>
            <a:schemeClr val="bg2"/>
          </a:solidFill>
          <a:ln/>
        </p:spPr>
      </p:sp>
      <p:sp>
        <p:nvSpPr>
          <p:cNvPr id="6" name="Datos personales en el prompt"/>
          <p:cNvSpPr/>
          <p:nvPr/>
        </p:nvSpPr>
        <p:spPr>
          <a:xfrm>
            <a:off x="822960" y="1737360"/>
            <a:ext cx="777240" cy="7772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7" name="Image 0" descr="Datos personales en el promp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498" y="1923898"/>
            <a:ext cx="404165" cy="40416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828800" y="1691640"/>
            <a:ext cx="385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Datos personales en el prompt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1828800" y="2194560"/>
            <a:ext cx="38555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Nombre, apellidos y dirección de una clienta. Bastaba con «algunos clientes faltan a sus citas».</a:t>
            </a:r>
            <a:endParaRPr lang="en-US" sz="1600" dirty="0"/>
          </a:p>
        </p:txBody>
      </p:sp>
      <p:sp>
        <p:nvSpPr>
          <p:cNvPr id="10" name="Tarjeta"/>
          <p:cNvSpPr/>
          <p:nvPr/>
        </p:nvSpPr>
        <p:spPr>
          <a:xfrm>
            <a:off x="6278728" y="1463040"/>
            <a:ext cx="5364328" cy="1737360"/>
          </a:xfrm>
          <a:prstGeom prst="roundRect">
            <a:avLst>
              <a:gd name="adj" fmla="val 7895"/>
            </a:avLst>
          </a:prstGeom>
          <a:solidFill>
            <a:schemeClr val="bg2"/>
          </a:solidFill>
          <a:ln/>
        </p:spPr>
      </p:sp>
      <p:sp>
        <p:nvSpPr>
          <p:cNvPr id="11" name="Estudio y cifra sin verificar"/>
          <p:cNvSpPr/>
          <p:nvPr/>
        </p:nvSpPr>
        <p:spPr>
          <a:xfrm>
            <a:off x="6553048" y="1737360"/>
            <a:ext cx="777240" cy="7772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2" name="Image 1" descr="Estudio y cifra sin verifica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585" y="1923898"/>
            <a:ext cx="404165" cy="40416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558888" y="1691640"/>
            <a:ext cx="385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Estudio y cifra sin verificar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7558888" y="2194560"/>
            <a:ext cx="38555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Pueden ser inventados. Hay que comprobar la fuente antes de usarlos.</a:t>
            </a:r>
            <a:endParaRPr lang="en-US" sz="1600" dirty="0"/>
          </a:p>
        </p:txBody>
      </p:sp>
      <p:sp>
        <p:nvSpPr>
          <p:cNvPr id="15" name="Tarjeta"/>
          <p:cNvSpPr/>
          <p:nvPr/>
        </p:nvSpPr>
        <p:spPr>
          <a:xfrm>
            <a:off x="548640" y="3429000"/>
            <a:ext cx="5364328" cy="1737360"/>
          </a:xfrm>
          <a:prstGeom prst="roundRect">
            <a:avLst>
              <a:gd name="adj" fmla="val 7895"/>
            </a:avLst>
          </a:prstGeom>
          <a:solidFill>
            <a:schemeClr val="bg2"/>
          </a:solidFill>
          <a:ln/>
        </p:spPr>
      </p:sp>
      <p:sp>
        <p:nvSpPr>
          <p:cNvPr id="16" name="Una función que puede no existir"/>
          <p:cNvSpPr/>
          <p:nvPr/>
        </p:nvSpPr>
        <p:spPr>
          <a:xfrm>
            <a:off x="822960" y="3703320"/>
            <a:ext cx="777240" cy="7772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7" name="Image 2" descr="Una función que puede no existi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8" y="3889858"/>
            <a:ext cx="404165" cy="40416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828800" y="3657600"/>
            <a:ext cx="385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Una función que puede no existir</a:t>
            </a:r>
            <a:endParaRPr lang="en-US" sz="2000" dirty="0"/>
          </a:p>
        </p:txBody>
      </p:sp>
      <p:sp>
        <p:nvSpPr>
          <p:cNvPr id="19" name="Text 14"/>
          <p:cNvSpPr txBox="1"/>
          <p:nvPr/>
        </p:nvSpPr>
        <p:spPr>
          <a:xfrm>
            <a:off x="1828800" y="4160520"/>
            <a:ext cx="38555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Antes de proponerla, comprobar que la herramienta la tiene y que es gratuita.</a:t>
            </a:r>
            <a:endParaRPr lang="en-US" sz="1600" dirty="0"/>
          </a:p>
        </p:txBody>
      </p:sp>
      <p:sp>
        <p:nvSpPr>
          <p:cNvPr id="20" name="Tarjeta"/>
          <p:cNvSpPr/>
          <p:nvPr/>
        </p:nvSpPr>
        <p:spPr>
          <a:xfrm>
            <a:off x="6278728" y="3429000"/>
            <a:ext cx="5364328" cy="1737360"/>
          </a:xfrm>
          <a:prstGeom prst="roundRect">
            <a:avLst>
              <a:gd name="adj" fmla="val 7895"/>
            </a:avLst>
          </a:prstGeom>
          <a:solidFill>
            <a:schemeClr val="bg2"/>
          </a:solidFill>
          <a:ln/>
        </p:spPr>
      </p:sp>
      <p:sp>
        <p:nvSpPr>
          <p:cNvPr id="21" name="Una generalización falsa"/>
          <p:cNvSpPr/>
          <p:nvPr/>
        </p:nvSpPr>
        <p:spPr>
          <a:xfrm>
            <a:off x="6553048" y="3703320"/>
            <a:ext cx="777240" cy="7772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2" name="Image 3" descr="Una generalización fals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9585" y="3889858"/>
            <a:ext cx="404165" cy="404165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558888" y="3657600"/>
            <a:ext cx="385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Una generalización falsa</a:t>
            </a:r>
            <a:endParaRPr lang="en-US" sz="2000" dirty="0"/>
          </a:p>
        </p:txBody>
      </p:sp>
      <p:sp>
        <p:nvSpPr>
          <p:cNvPr id="24" name="Text 18"/>
          <p:cNvSpPr txBox="1"/>
          <p:nvPr/>
        </p:nvSpPr>
        <p:spPr>
          <a:xfrm>
            <a:off x="7558888" y="4160520"/>
            <a:ext cx="38555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«La práctica habitual en todas las peluquerías» no está demostrado, y una fianza puede ahuyentar clientes.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1097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Idea clave del bloque 2</a:t>
            </a:r>
            <a:endParaRPr lang="en-US" sz="1800" dirty="0"/>
          </a:p>
        </p:txBody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1097280" y="1554480"/>
            <a:ext cx="9966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chemeClr val="bg1"/>
                </a:solidFill>
              </a:rPr>
              <a:t>La IA puede inventar funciones, cifras o estudios: cada idea se revisa antes de aceptarla.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En los prompts se describe el proceso, nunca a las personas.</a:t>
            </a: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eatividad, ofimática e IA">
  <a:themeElements>
    <a:clrScheme name="Creatividad, ofimática e IA">
      <a:dk1>
        <a:srgbClr val="1F2A44"/>
      </a:dk1>
      <a:lt1>
        <a:srgbClr val="FFFFFF"/>
      </a:lt1>
      <a:dk2>
        <a:srgbClr val="3A4664"/>
      </a:dk2>
      <a:lt2>
        <a:srgbClr val="F2F4F8"/>
      </a:lt2>
      <a:accent1>
        <a:srgbClr val="F4A300"/>
      </a:accent1>
      <a:accent2>
        <a:srgbClr val="0F7C70"/>
      </a:accent2>
      <a:accent3>
        <a:srgbClr val="D64933"/>
      </a:accent3>
      <a:accent4>
        <a:srgbClr val="6C5CE7"/>
      </a:accent4>
      <a:accent5>
        <a:srgbClr val="8A94A6"/>
      </a:accent5>
      <a:accent6>
        <a:srgbClr val="2D6A4F"/>
      </a:accent6>
      <a:hlink>
        <a:srgbClr val="0F7C70"/>
      </a:hlink>
      <a:folHlink>
        <a:srgbClr val="6C5CE7"/>
      </a:folHlink>
    </a:clrScheme>
    <a:fontScheme name="Creatividad, ofimática e IA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Bloque 2. SCAMPER y provocación con IA</dc:title>
  <dc:subject>Desarrollo de las habilidades creativas e innovadoras con herramientas ofimáticas y de inteligencia artificial</dc:subject>
  <dc:creator>PptxGenJS</dc:creator>
  <cp:lastModifiedBy>PptxGenJS</cp:lastModifiedBy>
  <cp:revision>1</cp:revision>
  <dcterms:created xsi:type="dcterms:W3CDTF">2026-10-17T18:33:15Z</dcterms:created>
  <dcterms:modified xsi:type="dcterms:W3CDTF">2026-10-17T18:33:15Z</dcterms:modified>
</cp:coreProperties>
</file>