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5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loque 2" id="{A4FD40DE-B0EA-61DE-D3CB-6CC021AFD3AB}">
          <p14:sldIdLst>
            <p14:sldId id="256"/>
            <p14:sldId id="257"/>
            <p14:sldId id="258"/>
          </p14:sldIdLst>
        </p14:section>
        <p14:section name="SCAMPER" id="{B030F65F-9E67-5812-4888-233947D4E4ED}">
          <p14:sldIdLst>
            <p14:sldId id="259"/>
            <p14:sldId id="260"/>
            <p14:sldId id="261"/>
            <p14:sldId id="262"/>
            <p14:sldId id="263"/>
            <p14:sldId id="275"/>
          </p14:sldIdLst>
        </p14:section>
        <p14:section name="Provocación" id="{E828F01F-688F-6F94-8875-2AA07C3C65FF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Selección" id="{CB9A1EDD-7B47-8E83-F51D-5A8F1AEDF0B3}">
          <p14:sldIdLst>
            <p14:sldId id="270"/>
            <p14:sldId id="271"/>
          </p14:sldIdLst>
        </p14:section>
        <p14:section name="Pensamiento crítico" id="{F957D10F-62D4-5140-0DE4-DA16E047BAD3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94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31860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del bloque: aplicar dos técnicas estructuradas, primero sin IA y después con IA, sobre un mismo caso profesional, y seleccionar las tres mejores propuestas, que se evaluarán en la matriz del bloque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del bloque. Se mantiene la regla del curso: en cada técnica, primero piensa la pareja y después se pide ayuda a la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pareja elige uno de los tres casos y trabaja con él durante todo el bloque: SCAMPER, provocación y selección de propuestas. Conviene que los tres casos queden repartidos entre las parejas.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45–50. SCAMPER es una lista de siete preguntas para transformar un proceso o producto que ya existe. A diferencia del brainstorming, no parte de cero: obliga a mirar el proceso actual desde siete ángulos.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la tabla rápido, letra a letra: cada pregunta mira el mismo proceso desde un ángulo distinto. Es el mismo ejemplo de la peluquería del bloque 1, para comparar qué tipo de ideas da cada técnica.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50–62. Por parejas, sin IA, sobre el caso elegido. Pasar por las mesas: si una pareja se atasca en una letra, que pase a la siguiente y vuelva después. Conviene que anoten las ideas en un documento, porque las pegarán en el prompt de la ronda con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62–72. Cada pareja copia el prompt (está en el guion) y rellena lo que va entre corchetes. Insistir: describir el proceso, nunca a las personas.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peticiones se escriben en la misma conversación, a continuación de la respuesta de la IA. Al terminar, cada pareja compara las ideas de la IA con las suyas: ¿qué ha aportado que no se les hubiera ocurrido? ¿Qué no ha entendido del caso?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Últimos minutos del tramo 62–72, antes de pasar a la provocación. Cada pareja cuenta en unos 30 segundos su mejor idea sin IA, la mejor idea que le ha dado la IA y algo que la IA no haya entendido de su caso.</a:t>
            </a:r>
          </a:p>
          <a:p>
            <a:endParaRPr/>
          </a:p>
          <a:p>
            <a:r>
              <a:t>Con 8 parejas son unos 4 minutos: ir rápido, sin debatir cada idea. Si no da tiempo, que hablen solo tres o cuatro parejas.</a:t>
            </a:r>
          </a:p>
          <a:p>
            <a:endParaRPr/>
          </a:p>
          <a:p>
            <a:r>
              <a:t>Al final, la pregunta para todos: ¿qué ha aportado la IA que no se os hubiera ocurrido? No adelantar la conclusión: que salga de lo que cuentan las parejas. Las ideas se guardan: se usarán en la selección de las tres propuestas.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72–77. La provocación (técnica de pensamiento lateral de Edward de Bono) consiste en lanzar una afirmación deliberadamente absurda que rompe una suposición que nadie cuestiona y después hacer el movimiento: extraer del absurdo un principio útil y convertirlo en una idea práctica.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cada fila de izquierda a derecha: provocación absurda → principio útil → idea práctica. Así se ve que el absurdo no es el final, sino el trampolín.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Advertencia para el docente: el error típico es quedarse en la provocación y reírse. Insistir siempre en «¿y qué principio útil sacamos de esto?».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77–85. Por parejas, sin IA. Que cada provocación sea de un tipo distinto (inversión, exageración, eliminación o deseo). Pasar por las mesas comprobando que no se quedan en la provocación: tienen que llegar hasta una idea práctica.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85–92. Cada pareja copia el prompt (está en el guion) y rellena lo que va entre corchetes.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pareja revisa la tabla de la IA con estas dos preguntas. La frase final es una hipótesis para comprobar, no una conclusión: si en el grupo sale lo contrario, mejor todavía.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92–100. Entregable: tabla sencilla con el problema, las tres propuestas, las razones de su selección y el origen de cada una. Estas tres propuestas se puntuarán en la matriz de decisión del bloque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Puesta en común rápida, a mano alzada. Igual que en el bloque 1, no adelantar conclusiones: que salgan de lo que ha pasado en las parejas.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100–103. Proyectar y dar tres minutos. Hay cuatro problemas: datos personales en el prompt, un estudio y una cifra sin verificar, una función que puede no existir y una generalización falsa. La corrección está en la diapositiva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103–105. Corregir en común: preguntar qué problemas han encontrado las parejas antes de mostrar cada uno.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del bloque. Enlazar con el bloque 3: las tres propuestas de cada pareja se van a documentar y a comparar con una matriz de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73736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79476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Bloque 2 · SCAMPER y provocación con 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Bloque 2 · SCAMPER y provocación con 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SCAMPER y provocación con IA</a:t>
            </a: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accent1"/>
                </a:solidFill>
              </a:rPr>
              <a:t>60 minutos · por parejas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Qué vamos a hacer en este bloque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42041" y="2331720"/>
            <a:ext cx="9707613" cy="0"/>
          </a:xfrm>
          <a:prstGeom prst="line">
            <a:avLst/>
          </a:prstGeom>
          <a:noFill/>
          <a:ln w="50800">
            <a:solidFill>
              <a:srgbClr val="F2F4F8"/>
            </a:solidFill>
            <a:prstDash val="solid"/>
          </a:ln>
        </p:spPr>
      </p:sp>
      <p:sp>
        <p:nvSpPr>
          <p:cNvPr id="4" name="Paso 1"/>
          <p:cNvSpPr/>
          <p:nvPr/>
        </p:nvSpPr>
        <p:spPr>
          <a:xfrm>
            <a:off x="716261" y="180594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6261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45–50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1"/>
                </a:solidFill>
              </a:rPr>
              <a:t>SCAMPER: qué es</a:t>
            </a:r>
            <a:endParaRPr lang="en-US" sz="1500" dirty="0"/>
          </a:p>
        </p:txBody>
      </p:sp>
      <p:sp>
        <p:nvSpPr>
          <p:cNvPr id="7" name="Paso 2"/>
          <p:cNvSpPr/>
          <p:nvPr/>
        </p:nvSpPr>
        <p:spPr>
          <a:xfrm>
            <a:off x="2103063" y="180594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03063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50–62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981162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1"/>
                </a:solidFill>
              </a:rPr>
              <a:t>Ejercicio 2: ideas de la pareja</a:t>
            </a:r>
            <a:endParaRPr lang="en-US" sz="1500" dirty="0"/>
          </a:p>
        </p:txBody>
      </p:sp>
      <p:sp>
        <p:nvSpPr>
          <p:cNvPr id="10" name="Paso 3"/>
          <p:cNvSpPr/>
          <p:nvPr/>
        </p:nvSpPr>
        <p:spPr>
          <a:xfrm>
            <a:off x="3489865" y="1805940"/>
            <a:ext cx="1051560" cy="10515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89865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62–72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367964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1"/>
                </a:solidFill>
              </a:rPr>
              <a:t>Ejercicio 2: ideas con IA</a:t>
            </a:r>
            <a:endParaRPr lang="en-US" sz="1500" dirty="0"/>
          </a:p>
        </p:txBody>
      </p:sp>
      <p:sp>
        <p:nvSpPr>
          <p:cNvPr id="13" name="Paso 4"/>
          <p:cNvSpPr/>
          <p:nvPr/>
        </p:nvSpPr>
        <p:spPr>
          <a:xfrm>
            <a:off x="4876667" y="180594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76667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72–77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754766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1"/>
                </a:solidFill>
              </a:rPr>
              <a:t>Provocación: qué es</a:t>
            </a:r>
            <a:endParaRPr lang="en-US" sz="1500" dirty="0"/>
          </a:p>
        </p:txBody>
      </p:sp>
      <p:sp>
        <p:nvSpPr>
          <p:cNvPr id="16" name="Paso 5"/>
          <p:cNvSpPr/>
          <p:nvPr/>
        </p:nvSpPr>
        <p:spPr>
          <a:xfrm>
            <a:off x="6263469" y="180594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63469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77–85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141568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1"/>
                </a:solidFill>
              </a:rPr>
              <a:t>Ejercicio 3: ideas de la pareja</a:t>
            </a:r>
            <a:endParaRPr lang="en-US" sz="1500" dirty="0"/>
          </a:p>
        </p:txBody>
      </p:sp>
      <p:sp>
        <p:nvSpPr>
          <p:cNvPr id="19" name="Paso 6"/>
          <p:cNvSpPr/>
          <p:nvPr/>
        </p:nvSpPr>
        <p:spPr>
          <a:xfrm>
            <a:off x="7650270" y="1805940"/>
            <a:ext cx="1051560" cy="10515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0270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85–92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528370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1"/>
                </a:solidFill>
              </a:rPr>
              <a:t>Ejercicio 3: ideas con IA</a:t>
            </a:r>
            <a:endParaRPr lang="en-US" sz="1500" dirty="0"/>
          </a:p>
        </p:txBody>
      </p:sp>
      <p:sp>
        <p:nvSpPr>
          <p:cNvPr id="22" name="Paso 7"/>
          <p:cNvSpPr/>
          <p:nvPr/>
        </p:nvSpPr>
        <p:spPr>
          <a:xfrm>
            <a:off x="9037072" y="180594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037072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92–100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915171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1"/>
                </a:solidFill>
              </a:rPr>
              <a:t>Elegimos tres propuestas</a:t>
            </a:r>
            <a:endParaRPr lang="en-US" sz="1500" dirty="0"/>
          </a:p>
        </p:txBody>
      </p:sp>
      <p:sp>
        <p:nvSpPr>
          <p:cNvPr id="25" name="Paso 8"/>
          <p:cNvSpPr/>
          <p:nvPr/>
        </p:nvSpPr>
        <p:spPr>
          <a:xfrm>
            <a:off x="10423874" y="1805940"/>
            <a:ext cx="1051560" cy="1051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423874" y="18059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100–105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301973" y="3086100"/>
            <a:ext cx="129536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tx1"/>
                </a:solidFill>
              </a:rPr>
              <a:t>¿Qué falla aquí?</a:t>
            </a:r>
            <a:endParaRPr lang="en-US" sz="1500" dirty="0"/>
          </a:p>
        </p:txBody>
      </p:sp>
      <p:sp>
        <p:nvSpPr>
          <p:cNvPr id="28" name="Personas"/>
          <p:cNvSpPr/>
          <p:nvPr/>
        </p:nvSpPr>
        <p:spPr>
          <a:xfrm>
            <a:off x="548640" y="4846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mage 0" descr="Person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977994"/>
            <a:ext cx="285293" cy="285293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234440" y="48463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Ámbar: piensa la pareja</a:t>
            </a:r>
            <a:endParaRPr lang="en-US" sz="1600" dirty="0"/>
          </a:p>
        </p:txBody>
      </p:sp>
      <p:sp>
        <p:nvSpPr>
          <p:cNvPr id="31" name="IA"/>
          <p:cNvSpPr/>
          <p:nvPr/>
        </p:nvSpPr>
        <p:spPr>
          <a:xfrm>
            <a:off x="5394960" y="48463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2" name="Image 1" descr="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6634" y="4977994"/>
            <a:ext cx="285293" cy="285293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6080760" y="48463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Verde: trabajamos con la IA</a:t>
            </a:r>
            <a:endParaRPr lang="en-US" sz="16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Por parejas: elegid un caso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398203" y="548640"/>
            <a:ext cx="224485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98203" y="548640"/>
            <a:ext cx="22448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45 · Parejas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46304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25698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chemeClr val="accent5"/>
                </a:solidFill>
              </a:rPr>
              <a:t>1</a:t>
            </a:r>
            <a:endParaRPr lang="en-US" sz="2800" dirty="0"/>
          </a:p>
        </p:txBody>
      </p:sp>
      <p:sp>
        <p:nvSpPr>
          <p:cNvPr id="7" name="Un comercio que pierde pedidos"/>
          <p:cNvSpPr/>
          <p:nvPr/>
        </p:nvSpPr>
        <p:spPr>
          <a:xfrm>
            <a:off x="868680" y="17373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Image 0" descr="Un comercio que pierde pedid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1956816"/>
            <a:ext cx="475488" cy="47548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278892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chemeClr val="tx1"/>
                </a:solidFill>
              </a:rPr>
              <a:t>Un comercio que pierde pedidos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6616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Los pedidos llegan por teléfono, WhatsApp y en el mostrador; se apuntan en una libreta y a veces se olvidan o se sirven tarde.</a:t>
            </a:r>
            <a:endParaRPr lang="en-US" sz="1600" dirty="0"/>
          </a:p>
        </p:txBody>
      </p:sp>
      <p:sp>
        <p:nvSpPr>
          <p:cNvPr id="11" name="Tarjeta"/>
          <p:cNvSpPr/>
          <p:nvPr/>
        </p:nvSpPr>
        <p:spPr>
          <a:xfrm>
            <a:off x="4368698" y="146304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045757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chemeClr val="accent5"/>
                </a:solidFill>
              </a:rPr>
              <a:t>2</a:t>
            </a:r>
            <a:endParaRPr lang="en-US" sz="2800" dirty="0"/>
          </a:p>
        </p:txBody>
      </p:sp>
      <p:sp>
        <p:nvSpPr>
          <p:cNvPr id="13" name="Una asociación que pierde tiempo"/>
          <p:cNvSpPr/>
          <p:nvPr/>
        </p:nvSpPr>
        <p:spPr>
          <a:xfrm>
            <a:off x="4688738" y="17373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4" name="Image 1" descr="Una asociación que pierde tiemp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8194" y="1956816"/>
            <a:ext cx="475488" cy="4754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88738" y="278892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chemeClr val="tx1"/>
                </a:solidFill>
              </a:rPr>
              <a:t>Una asociación que </a:t>
            </a:r>
            <a:r>
              <a:rPr lang="en-US" sz="2100" b="1" dirty="0" err="1">
                <a:solidFill>
                  <a:schemeClr val="tx1"/>
                </a:solidFill>
              </a:rPr>
              <a:t>pierde</a:t>
            </a:r>
            <a:r>
              <a:rPr lang="en-US" sz="2100" b="1" dirty="0">
                <a:solidFill>
                  <a:schemeClr val="tx1"/>
                </a:solidFill>
              </a:rPr>
              <a:t> </a:t>
            </a:r>
            <a:r>
              <a:rPr lang="en-US" sz="2100" b="1" dirty="0" err="1">
                <a:solidFill>
                  <a:schemeClr val="tx1"/>
                </a:solidFill>
              </a:rPr>
              <a:t>gente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4688738" y="356616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Las actividades se anuncian por WhatsApp y las inscripciones se apuntan en un Excel que solo actualiza una persona; se pierden inscripciones y quedan plazas libres.</a:t>
            </a:r>
            <a:endParaRPr lang="en-US" sz="1600" dirty="0"/>
          </a:p>
        </p:txBody>
      </p:sp>
      <p:sp>
        <p:nvSpPr>
          <p:cNvPr id="17" name="Tarjeta"/>
          <p:cNvSpPr/>
          <p:nvPr/>
        </p:nvSpPr>
        <p:spPr>
          <a:xfrm>
            <a:off x="8188757" y="1463040"/>
            <a:ext cx="3454298" cy="374904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65815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chemeClr val="accent5"/>
                </a:solidFill>
              </a:rPr>
              <a:t>3</a:t>
            </a:r>
            <a:endParaRPr lang="en-US" sz="2800" dirty="0"/>
          </a:p>
        </p:txBody>
      </p:sp>
      <p:sp>
        <p:nvSpPr>
          <p:cNvPr id="19" name="Una oficina con las mismas preguntas"/>
          <p:cNvSpPr/>
          <p:nvPr/>
        </p:nvSpPr>
        <p:spPr>
          <a:xfrm>
            <a:off x="8508797" y="17373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2" descr="Una oficina con las mismas pregunta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8253" y="1956816"/>
            <a:ext cx="475488" cy="47548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508797" y="278892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chemeClr val="tx1"/>
                </a:solidFill>
              </a:rPr>
              <a:t>Una oficina con las mismas preguntas</a:t>
            </a:r>
            <a:endParaRPr lang="en-US" sz="2100" dirty="0"/>
          </a:p>
        </p:txBody>
      </p:sp>
      <p:sp>
        <p:nvSpPr>
          <p:cNvPr id="22" name="Text 17"/>
          <p:cNvSpPr txBox="1"/>
          <p:nvPr/>
        </p:nvSpPr>
        <p:spPr>
          <a:xfrm>
            <a:off x="8508797" y="356616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Por teléfono y por correo llegan a diario las mismas consultas (horarios, documentación, plazos) y se responden una a una.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Trabajaréis con el mismo caso todo el bloque. Vuestras tres mejores propuestas pasarán a la matriz del bloque 3.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SCAMPER: siete preguntas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45–50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chemeClr val="tx2"/>
                </a:solidFill>
              </a:rPr>
              <a:t>Para transformar algo que ya existe, mirándolo desde siete ángulos.</a:t>
            </a:r>
            <a:endParaRPr lang="en-US" sz="2100" dirty="0"/>
          </a:p>
        </p:txBody>
      </p:sp>
      <p:sp>
        <p:nvSpPr>
          <p:cNvPr id="6" name="Letra S"/>
          <p:cNvSpPr/>
          <p:nvPr/>
        </p:nvSpPr>
        <p:spPr>
          <a:xfrm>
            <a:off x="548640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Sustituir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¿Qué podemos cambiar por otra cosa?</a:t>
            </a:r>
            <a:endParaRPr lang="en-US" sz="1400" dirty="0"/>
          </a:p>
        </p:txBody>
      </p:sp>
      <p:sp>
        <p:nvSpPr>
          <p:cNvPr id="10" name="Letra C"/>
          <p:cNvSpPr/>
          <p:nvPr/>
        </p:nvSpPr>
        <p:spPr>
          <a:xfrm>
            <a:off x="2159682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59682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2113962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Combinar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113962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¿Qué elementos podemos unir?</a:t>
            </a:r>
            <a:endParaRPr lang="en-US" sz="1400" dirty="0"/>
          </a:p>
        </p:txBody>
      </p:sp>
      <p:sp>
        <p:nvSpPr>
          <p:cNvPr id="14" name="Letra A"/>
          <p:cNvSpPr/>
          <p:nvPr/>
        </p:nvSpPr>
        <p:spPr>
          <a:xfrm>
            <a:off x="3770724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770724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000" dirty="0"/>
          </a:p>
        </p:txBody>
      </p:sp>
      <p:sp>
        <p:nvSpPr>
          <p:cNvPr id="16" name="Text 14"/>
          <p:cNvSpPr txBox="1"/>
          <p:nvPr/>
        </p:nvSpPr>
        <p:spPr>
          <a:xfrm>
            <a:off x="3725004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Adaptar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725004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¿Qué funciona en otro sector?</a:t>
            </a:r>
            <a:endParaRPr lang="en-US" sz="1400" dirty="0"/>
          </a:p>
        </p:txBody>
      </p:sp>
      <p:sp>
        <p:nvSpPr>
          <p:cNvPr id="18" name="Letra M"/>
          <p:cNvSpPr/>
          <p:nvPr/>
        </p:nvSpPr>
        <p:spPr>
          <a:xfrm>
            <a:off x="5381767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81767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6000" dirty="0"/>
          </a:p>
        </p:txBody>
      </p:sp>
      <p:sp>
        <p:nvSpPr>
          <p:cNvPr id="20" name="Text 18"/>
          <p:cNvSpPr txBox="1"/>
          <p:nvPr/>
        </p:nvSpPr>
        <p:spPr>
          <a:xfrm>
            <a:off x="5336047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Modificar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336047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¿Qué podemos ampliar o reducir?</a:t>
            </a:r>
            <a:endParaRPr lang="en-US" sz="1400" dirty="0"/>
          </a:p>
        </p:txBody>
      </p:sp>
      <p:sp>
        <p:nvSpPr>
          <p:cNvPr id="22" name="Letra P"/>
          <p:cNvSpPr/>
          <p:nvPr/>
        </p:nvSpPr>
        <p:spPr>
          <a:xfrm>
            <a:off x="6992809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92809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6000" dirty="0"/>
          </a:p>
        </p:txBody>
      </p:sp>
      <p:sp>
        <p:nvSpPr>
          <p:cNvPr id="24" name="Text 22"/>
          <p:cNvSpPr txBox="1"/>
          <p:nvPr/>
        </p:nvSpPr>
        <p:spPr>
          <a:xfrm>
            <a:off x="6947089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Proponer otros usos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947089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¿Para qué más puede servir?</a:t>
            </a:r>
            <a:endParaRPr lang="en-US" sz="1400" dirty="0"/>
          </a:p>
        </p:txBody>
      </p:sp>
      <p:sp>
        <p:nvSpPr>
          <p:cNvPr id="26" name="Letra E"/>
          <p:cNvSpPr/>
          <p:nvPr/>
        </p:nvSpPr>
        <p:spPr>
          <a:xfrm>
            <a:off x="8603851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603851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6000" dirty="0"/>
          </a:p>
        </p:txBody>
      </p:sp>
      <p:sp>
        <p:nvSpPr>
          <p:cNvPr id="28" name="Text 26"/>
          <p:cNvSpPr txBox="1"/>
          <p:nvPr/>
        </p:nvSpPr>
        <p:spPr>
          <a:xfrm>
            <a:off x="8558131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Eliminar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558131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¿Qué pasos sobran?</a:t>
            </a:r>
            <a:endParaRPr lang="en-US" sz="1400" dirty="0"/>
          </a:p>
        </p:txBody>
      </p:sp>
      <p:sp>
        <p:nvSpPr>
          <p:cNvPr id="30" name="Letra R"/>
          <p:cNvSpPr/>
          <p:nvPr/>
        </p:nvSpPr>
        <p:spPr>
          <a:xfrm>
            <a:off x="10214893" y="2103120"/>
            <a:ext cx="1428162" cy="1428162"/>
          </a:xfrm>
          <a:prstGeom prst="roundRect">
            <a:avLst>
              <a:gd name="adj" fmla="val 9604"/>
            </a:avLst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214893" y="2103120"/>
            <a:ext cx="1428162" cy="1428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000" dirty="0"/>
          </a:p>
        </p:txBody>
      </p:sp>
      <p:sp>
        <p:nvSpPr>
          <p:cNvPr id="32" name="Text 30"/>
          <p:cNvSpPr txBox="1"/>
          <p:nvPr/>
        </p:nvSpPr>
        <p:spPr>
          <a:xfrm>
            <a:off x="10169173" y="3622722"/>
            <a:ext cx="15196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Reorganizar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10169173" y="4308522"/>
            <a:ext cx="151960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2"/>
                </a:solidFill>
              </a:rPr>
              <a:t>¿Qué orden podemos cambiar?</a:t>
            </a:r>
            <a:endParaRPr lang="en-US" sz="1400" dirty="0"/>
          </a:p>
        </p:txBody>
      </p:sp>
      <p:sp>
        <p:nvSpPr>
          <p:cNvPr id="34" name="Tarjeta"/>
          <p:cNvSpPr/>
          <p:nvPr/>
        </p:nvSpPr>
        <p:spPr>
          <a:xfrm>
            <a:off x="548640" y="5349240"/>
            <a:ext cx="11094415" cy="731520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8680" y="5349240"/>
            <a:ext cx="104543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El brainstorming parte de cero. </a:t>
            </a:r>
            <a:r>
              <a:rPr lang="en-US" sz="1900" b="1" dirty="0">
                <a:solidFill>
                  <a:schemeClr val="tx1"/>
                </a:solidFill>
              </a:rPr>
              <a:t>SCAMPER parte de cómo se hace hoy.</a:t>
            </a:r>
            <a:endParaRPr lang="en-US" sz="19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SCAMPER en la peluquería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45–50</a:t>
            </a:r>
            <a:endParaRPr lang="en-US" sz="1400" dirty="0"/>
          </a:p>
        </p:txBody>
      </p:sp>
      <p:sp>
        <p:nvSpPr>
          <p:cNvPr id="5" name="Peluquería"/>
          <p:cNvSpPr/>
          <p:nvPr/>
        </p:nvSpPr>
        <p:spPr>
          <a:xfrm>
            <a:off x="548640" y="1325880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mage 0" descr="Peluquerí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14575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325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Proceso actual: </a:t>
            </a:r>
            <a:r>
              <a:rPr lang="en-US" sz="1900" dirty="0">
                <a:solidFill>
                  <a:schemeClr val="tx1"/>
                </a:solidFill>
              </a:rPr>
              <a:t>los clientes llaman por teléfono para pedir cita.</a:t>
            </a:r>
            <a:endParaRPr lang="en-US" sz="1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4415" cy="3700272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82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Pregunta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Ejemplo en la peluquería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Sustituir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¿Qué podemos cambiar por otra cosa?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Sustituir la llamada por una reserva por internet sencilla.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C</a:t>
                      </a: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Combinar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¿Qué elementos podemos unir?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Combinar la confirmación de la cita con un recordatorio el día anterior.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A</a:t>
                      </a: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Adaptar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¿Qué funciona en otro sector?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Adaptar la lista de espera de los restaurantes: avisar si queda un hueco libre.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M</a:t>
                      </a: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Modificar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¿Qué podemos ampliar o reducir?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Reducir la llamada a tres preguntas fijas: servicio, día y hora.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P</a:t>
                      </a: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Proponer otros usos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¿Para qué más puede servir?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Usar el recordatorio también para pedir una valoración del servicio.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E</a:t>
                      </a: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Eliminar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¿Qué pasos sobran?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Eliminar la llamada para confirmar la cita.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R</a:t>
                      </a: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  Reorganizar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¿Qué orden podemos cambiar?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Preguntar el servicio al reservar, para preparar el material antes de que llegue el cliente.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Ejercicio 2: SCAMPER en vuestro caso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50–62 · Sin IA</a:t>
            </a:r>
            <a:endParaRPr lang="en-US" sz="1400" dirty="0"/>
          </a:p>
        </p:txBody>
      </p:sp>
      <p:sp>
        <p:nvSpPr>
          <p:cNvPr id="5" name="Instrucción"/>
          <p:cNvSpPr/>
          <p:nvPr/>
        </p:nvSpPr>
        <p:spPr>
          <a:xfrm>
            <a:off x="548640" y="15087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Instrucc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73352"/>
            <a:ext cx="356616" cy="35661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087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Describid en tres o cuatro líneas cómo funciona hoy el proceso.</a:t>
            </a:r>
            <a:endParaRPr lang="en-US" sz="2000" dirty="0"/>
          </a:p>
        </p:txBody>
      </p:sp>
      <p:sp>
        <p:nvSpPr>
          <p:cNvPr id="8" name="Instrucción"/>
          <p:cNvSpPr/>
          <p:nvPr/>
        </p:nvSpPr>
        <p:spPr>
          <a:xfrm>
            <a:off x="548640" y="24688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Instrucció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633472"/>
            <a:ext cx="356616" cy="3566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24688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Escribid al menos una idea por cada letra de SCAMPER.</a:t>
            </a:r>
            <a:endParaRPr lang="en-US" sz="2000" dirty="0"/>
          </a:p>
        </p:txBody>
      </p:sp>
      <p:sp>
        <p:nvSpPr>
          <p:cNvPr id="11" name="Letra S"/>
          <p:cNvSpPr/>
          <p:nvPr/>
        </p:nvSpPr>
        <p:spPr>
          <a:xfrm>
            <a:off x="548640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Sustituir</a:t>
            </a:r>
            <a:endParaRPr lang="en-US" sz="1300" dirty="0"/>
          </a:p>
        </p:txBody>
      </p:sp>
      <p:sp>
        <p:nvSpPr>
          <p:cNvPr id="14" name="Letra C"/>
          <p:cNvSpPr/>
          <p:nvPr/>
        </p:nvSpPr>
        <p:spPr>
          <a:xfrm>
            <a:off x="2159682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159682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4400" dirty="0"/>
          </a:p>
        </p:txBody>
      </p:sp>
      <p:sp>
        <p:nvSpPr>
          <p:cNvPr id="16" name="Text 12"/>
          <p:cNvSpPr txBox="1"/>
          <p:nvPr/>
        </p:nvSpPr>
        <p:spPr>
          <a:xfrm>
            <a:off x="2205402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Combinar</a:t>
            </a:r>
            <a:endParaRPr lang="en-US" sz="1300" dirty="0"/>
          </a:p>
        </p:txBody>
      </p:sp>
      <p:sp>
        <p:nvSpPr>
          <p:cNvPr id="17" name="Letra A"/>
          <p:cNvSpPr/>
          <p:nvPr/>
        </p:nvSpPr>
        <p:spPr>
          <a:xfrm>
            <a:off x="3770724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770724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4400" dirty="0"/>
          </a:p>
        </p:txBody>
      </p:sp>
      <p:sp>
        <p:nvSpPr>
          <p:cNvPr id="19" name="Text 15"/>
          <p:cNvSpPr txBox="1"/>
          <p:nvPr/>
        </p:nvSpPr>
        <p:spPr>
          <a:xfrm>
            <a:off x="3816444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Adaptar</a:t>
            </a:r>
            <a:endParaRPr lang="en-US" sz="1300" dirty="0"/>
          </a:p>
        </p:txBody>
      </p:sp>
      <p:sp>
        <p:nvSpPr>
          <p:cNvPr id="20" name="Letra M"/>
          <p:cNvSpPr/>
          <p:nvPr/>
        </p:nvSpPr>
        <p:spPr>
          <a:xfrm>
            <a:off x="5381767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81767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4400" dirty="0"/>
          </a:p>
        </p:txBody>
      </p:sp>
      <p:sp>
        <p:nvSpPr>
          <p:cNvPr id="22" name="Text 18"/>
          <p:cNvSpPr txBox="1"/>
          <p:nvPr/>
        </p:nvSpPr>
        <p:spPr>
          <a:xfrm>
            <a:off x="5427487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Modificar</a:t>
            </a:r>
            <a:endParaRPr lang="en-US" sz="1300" dirty="0"/>
          </a:p>
        </p:txBody>
      </p:sp>
      <p:sp>
        <p:nvSpPr>
          <p:cNvPr id="23" name="Letra P"/>
          <p:cNvSpPr/>
          <p:nvPr/>
        </p:nvSpPr>
        <p:spPr>
          <a:xfrm>
            <a:off x="6992809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92809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7038529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Proponer otros usos</a:t>
            </a:r>
            <a:endParaRPr lang="en-US" sz="1300" dirty="0"/>
          </a:p>
        </p:txBody>
      </p:sp>
      <p:sp>
        <p:nvSpPr>
          <p:cNvPr id="26" name="Letra E"/>
          <p:cNvSpPr/>
          <p:nvPr/>
        </p:nvSpPr>
        <p:spPr>
          <a:xfrm>
            <a:off x="8603851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603851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4400" dirty="0"/>
          </a:p>
        </p:txBody>
      </p:sp>
      <p:sp>
        <p:nvSpPr>
          <p:cNvPr id="28" name="Text 24"/>
          <p:cNvSpPr txBox="1"/>
          <p:nvPr/>
        </p:nvSpPr>
        <p:spPr>
          <a:xfrm>
            <a:off x="8649571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Eliminar</a:t>
            </a:r>
            <a:endParaRPr lang="en-US" sz="1300" dirty="0"/>
          </a:p>
        </p:txBody>
      </p:sp>
      <p:sp>
        <p:nvSpPr>
          <p:cNvPr id="29" name="Letra R"/>
          <p:cNvSpPr/>
          <p:nvPr/>
        </p:nvSpPr>
        <p:spPr>
          <a:xfrm>
            <a:off x="10214893" y="3611880"/>
            <a:ext cx="1428162" cy="1554480"/>
          </a:xfrm>
          <a:prstGeom prst="roundRect">
            <a:avLst>
              <a:gd name="adj" fmla="val 9604"/>
            </a:avLst>
          </a:prstGeom>
          <a:solidFill>
            <a:schemeClr val="bg2"/>
          </a:solidFill>
          <a:ln w="25400">
            <a:solidFill>
              <a:srgbClr val="F4A300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0214893" y="3703320"/>
            <a:ext cx="14281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4400" dirty="0"/>
          </a:p>
        </p:txBody>
      </p:sp>
      <p:sp>
        <p:nvSpPr>
          <p:cNvPr id="31" name="Text 27"/>
          <p:cNvSpPr txBox="1"/>
          <p:nvPr/>
        </p:nvSpPr>
        <p:spPr>
          <a:xfrm>
            <a:off x="10260613" y="4526280"/>
            <a:ext cx="13367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tx1"/>
                </a:solidFill>
              </a:rPr>
              <a:t>Reorganizar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chemeClr val="tx2"/>
                </a:solidFill>
              </a:rPr>
              <a:t>Guardad vuestras ideas: las usaréis en el prompt.</a:t>
            </a:r>
            <a:endParaRPr lang="en-US" sz="18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Ronda con IA: el prompt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62–72 · Con IA</a:t>
            </a:r>
            <a:endParaRPr lang="en-US" sz="1400" dirty="0"/>
          </a:p>
        </p:txBody>
      </p:sp>
      <p:sp>
        <p:nvSpPr>
          <p:cNvPr id="5" name="Prompt"/>
          <p:cNvSpPr/>
          <p:nvPr/>
        </p:nvSpPr>
        <p:spPr>
          <a:xfrm>
            <a:off x="548640" y="1325880"/>
            <a:ext cx="6858000" cy="4572000"/>
          </a:xfrm>
          <a:prstGeom prst="roundRect">
            <a:avLst>
              <a:gd name="adj" fmla="val 2400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50876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Actúa como especialista en mejora de procesos de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pequeñas empresas y organizaciones.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Proceso actual: </a:t>
            </a: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[describir en 3 o 4 líneas cómo se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hace hoy, sin nombres ni datos personales]</a:t>
            </a: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Problema: </a:t>
            </a: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[qué falla y a quién afecta]</a:t>
            </a: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Restricciones: sin comprar software caro, sin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contratar personal y que pueda probarse en un mes.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 hemos aplicado SCAMPER y tenemos estas ideas: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[pegar las ideas de la pareja, indicando la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letra de cada una]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Aplica SCAMPER al proceso: para cada una de las siete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letras, propón dos ideas que no repitan las nuestras.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Preséntalo en una tabla con estas columnas: letra,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idea, qué cambia en el proceso, beneficio principal y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dificultad (baja, media o alta).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inventes cifras de ahorro ni de resultados.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1371600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Por qué funciona</a:t>
            </a:r>
            <a:endParaRPr lang="en-US" sz="2200" dirty="0"/>
          </a:p>
        </p:txBody>
      </p:sp>
      <p:sp>
        <p:nvSpPr>
          <p:cNvPr id="8" name="Razón 1"/>
          <p:cNvSpPr/>
          <p:nvPr/>
        </p:nvSpPr>
        <p:spPr>
          <a:xfrm>
            <a:off x="7772400" y="21031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412480" y="2057400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Describe el proceso actual: la materia prima de SCAMPER.</a:t>
            </a:r>
            <a:endParaRPr lang="en-US" sz="1600" dirty="0"/>
          </a:p>
        </p:txBody>
      </p:sp>
      <p:sp>
        <p:nvSpPr>
          <p:cNvPr id="11" name="Razón 2"/>
          <p:cNvSpPr/>
          <p:nvPr/>
        </p:nvSpPr>
        <p:spPr>
          <a:xfrm>
            <a:off x="7772400" y="312724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3081528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Incluye vuestras ideas para que la IA no las repita.</a:t>
            </a:r>
            <a:endParaRPr lang="en-US" sz="1600" dirty="0"/>
          </a:p>
        </p:txBody>
      </p:sp>
      <p:sp>
        <p:nvSpPr>
          <p:cNvPr id="14" name="Razón 3"/>
          <p:cNvSpPr/>
          <p:nvPr/>
        </p:nvSpPr>
        <p:spPr>
          <a:xfrm>
            <a:off x="7772400" y="415137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4105656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Las restricciones evitan soluciones caras o irreales.</a:t>
            </a:r>
            <a:endParaRPr lang="en-US" sz="1600" dirty="0"/>
          </a:p>
        </p:txBody>
      </p:sp>
      <p:sp>
        <p:nvSpPr>
          <p:cNvPr id="17" name="Razón 4"/>
          <p:cNvSpPr/>
          <p:nvPr/>
        </p:nvSpPr>
        <p:spPr>
          <a:xfrm>
            <a:off x="7772400" y="517550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0" y="5175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5129784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La tabla obliga a concretar cada idea y facilita compararla con las vuestras.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No os quedéis en el primer prompt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62–72 · Con 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2"/>
                </a:solidFill>
              </a:rPr>
              <a:t>Seguid la conversación con al menos una de estas peticiones:</a:t>
            </a:r>
            <a:endParaRPr lang="en-US" sz="2000" dirty="0"/>
          </a:p>
        </p:txBody>
      </p:sp>
      <p:sp>
        <p:nvSpPr>
          <p:cNvPr id="6" name="Petición"/>
          <p:cNvSpPr/>
          <p:nvPr/>
        </p:nvSpPr>
        <p:spPr>
          <a:xfrm>
            <a:off x="548640" y="21031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Petic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2278685"/>
            <a:ext cx="380390" cy="380390"/>
          </a:xfrm>
          <a:prstGeom prst="rect">
            <a:avLst/>
          </a:prstGeom>
        </p:spPr>
      </p:pic>
      <p:sp>
        <p:nvSpPr>
          <p:cNvPr id="8" name="Petición"/>
          <p:cNvSpPr/>
          <p:nvPr/>
        </p:nvSpPr>
        <p:spPr>
          <a:xfrm>
            <a:off x="1554480" y="2057400"/>
            <a:ext cx="10088575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828800" y="2057400"/>
            <a:ext cx="95399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Descarta las ideas que requieran más de 100 € o conocimientos técnicos.</a:t>
            </a:r>
            <a:endParaRPr lang="en-US" sz="1800" dirty="0"/>
          </a:p>
        </p:txBody>
      </p:sp>
      <p:sp>
        <p:nvSpPr>
          <p:cNvPr id="10" name="Petición"/>
          <p:cNvSpPr/>
          <p:nvPr/>
        </p:nvSpPr>
        <p:spPr>
          <a:xfrm>
            <a:off x="548640" y="31546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Petició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3330245"/>
            <a:ext cx="380390" cy="380390"/>
          </a:xfrm>
          <a:prstGeom prst="rect">
            <a:avLst/>
          </a:prstGeom>
        </p:spPr>
      </p:pic>
      <p:sp>
        <p:nvSpPr>
          <p:cNvPr id="12" name="Petición"/>
          <p:cNvSpPr/>
          <p:nvPr/>
        </p:nvSpPr>
        <p:spPr>
          <a:xfrm>
            <a:off x="1554480" y="3108960"/>
            <a:ext cx="10088575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1828800" y="3108960"/>
            <a:ext cx="95399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Prioriza las ideas que puedan probarse en una semana.</a:t>
            </a:r>
            <a:endParaRPr lang="en-US" sz="1800" dirty="0"/>
          </a:p>
        </p:txBody>
      </p:sp>
      <p:sp>
        <p:nvSpPr>
          <p:cNvPr id="14" name="Petición"/>
          <p:cNvSpPr/>
          <p:nvPr/>
        </p:nvSpPr>
        <p:spPr>
          <a:xfrm>
            <a:off x="548640" y="42062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mage 2" descr="Petició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5" y="4381805"/>
            <a:ext cx="380390" cy="380390"/>
          </a:xfrm>
          <a:prstGeom prst="rect">
            <a:avLst/>
          </a:prstGeom>
        </p:spPr>
      </p:pic>
      <p:sp>
        <p:nvSpPr>
          <p:cNvPr id="16" name="Petición"/>
          <p:cNvSpPr/>
          <p:nvPr/>
        </p:nvSpPr>
        <p:spPr>
          <a:xfrm>
            <a:off x="1554480" y="4160520"/>
            <a:ext cx="10088575" cy="82296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1828800" y="4160520"/>
            <a:ext cx="95399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Señala los inconvenientes de las tres mejores ideas.</a:t>
            </a:r>
            <a:endParaRPr lang="en-US" sz="1800" dirty="0"/>
          </a:p>
        </p:txBody>
      </p:sp>
      <p:sp>
        <p:nvSpPr>
          <p:cNvPr id="18" name="Iterar"/>
          <p:cNvSpPr/>
          <p:nvPr/>
        </p:nvSpPr>
        <p:spPr>
          <a:xfrm>
            <a:off x="548640" y="534924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3" descr="Itera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259" y="5502859"/>
            <a:ext cx="332842" cy="33284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5349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chemeClr val="tx1"/>
                </a:solidFill>
              </a:rPr>
              <a:t>Un buen trabajo con IA es iterativo: no termina en el primer prompt.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Conclusiones de SCAMPER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082735" y="548640"/>
            <a:ext cx="25603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082735" y="548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62–72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Cada pareja cuenta en 30 segundos lo que ha sacado de SCAMPER:</a:t>
            </a:r>
            <a:endParaRPr lang="en-US" sz="1900" dirty="0"/>
          </a:p>
        </p:txBody>
      </p:sp>
      <p:sp>
        <p:nvSpPr>
          <p:cNvPr id="22" name="Idea práctica"/>
          <p:cNvSpPr/>
          <p:nvPr/>
        </p:nvSpPr>
        <p:spPr>
          <a:xfrm>
            <a:off x="548640" y="2057400"/>
            <a:ext cx="3454298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205740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Nuestra mejor idea sin IA</a:t>
            </a:r>
            <a:endParaRPr lang="en-US" sz="1800" dirty="0"/>
          </a:p>
        </p:txBody>
      </p:sp>
      <p:sp>
        <p:nvSpPr>
          <p:cNvPr id="8" name="Hueco"/>
          <p:cNvSpPr/>
          <p:nvPr/>
        </p:nvSpPr>
        <p:spPr>
          <a:xfrm>
            <a:off x="548640" y="2788920"/>
            <a:ext cx="3454298" cy="242316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4" name="Principio útil"/>
          <p:cNvSpPr/>
          <p:nvPr/>
        </p:nvSpPr>
        <p:spPr>
          <a:xfrm>
            <a:off x="4368698" y="2057400"/>
            <a:ext cx="3454298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68698" y="205740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La mejor idea de la IA</a:t>
            </a:r>
            <a:endParaRPr lang="en-US" sz="1800" dirty="0"/>
          </a:p>
        </p:txBody>
      </p:sp>
      <p:sp>
        <p:nvSpPr>
          <p:cNvPr id="9" name="Hueco"/>
          <p:cNvSpPr/>
          <p:nvPr/>
        </p:nvSpPr>
        <p:spPr>
          <a:xfrm>
            <a:off x="4368698" y="2788920"/>
            <a:ext cx="3454298" cy="242316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6" name="Provocación"/>
          <p:cNvSpPr/>
          <p:nvPr/>
        </p:nvSpPr>
        <p:spPr>
          <a:xfrm>
            <a:off x="8188756" y="2057400"/>
            <a:ext cx="3454298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88756" y="2057400"/>
            <a:ext cx="345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Lo que la IA no entendió</a:t>
            </a:r>
            <a:endParaRPr lang="en-US" sz="1800" dirty="0"/>
          </a:p>
        </p:txBody>
      </p:sp>
      <p:sp>
        <p:nvSpPr>
          <p:cNvPr id="10" name="Hueco"/>
          <p:cNvSpPr/>
          <p:nvPr/>
        </p:nvSpPr>
        <p:spPr>
          <a:xfrm>
            <a:off x="8188756" y="2788920"/>
            <a:ext cx="3454298" cy="242316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1" name="Text 3"/>
          <p:cNvSpPr txBox="1"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Para todos: ¿qué ha aportado la IA que no se os hubiera ocurrido? ¿Y qué no ha entendido de vuestro caso?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Provocación: salir de lo de siempre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72–77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2"/>
                </a:solidFill>
              </a:rPr>
              <a:t>Una técnica de pensamiento lateral de Edward de Bono, en tres pasos:</a:t>
            </a:r>
            <a:endParaRPr lang="en-US" sz="2000" dirty="0"/>
          </a:p>
        </p:txBody>
      </p:sp>
      <p:sp>
        <p:nvSpPr>
          <p:cNvPr id="6" name="Tarjeta"/>
          <p:cNvSpPr/>
          <p:nvPr/>
        </p:nvSpPr>
        <p:spPr>
          <a:xfrm>
            <a:off x="548640" y="2011680"/>
            <a:ext cx="3332378" cy="28803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7" name="1. Provocación"/>
          <p:cNvSpPr/>
          <p:nvPr/>
        </p:nvSpPr>
        <p:spPr>
          <a:xfrm>
            <a:off x="868680" y="224028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Image 0" descr="1. Provocació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2459736"/>
            <a:ext cx="475488" cy="47548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3291840"/>
            <a:ext cx="2692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1. Provocación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94760"/>
            <a:ext cx="2692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Una afirmación deliberadamente absurda o imposible, que rompe algo que damos por hecho.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72458" y="3429000"/>
            <a:ext cx="365760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2" name="Tarjeta"/>
          <p:cNvSpPr/>
          <p:nvPr/>
        </p:nvSpPr>
        <p:spPr>
          <a:xfrm>
            <a:off x="4429658" y="2011680"/>
            <a:ext cx="3332378" cy="28803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3" name="2. Movimiento"/>
          <p:cNvSpPr/>
          <p:nvPr/>
        </p:nvSpPr>
        <p:spPr>
          <a:xfrm>
            <a:off x="4749698" y="224028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4" name="Image 1" descr="2. Movimien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9154" y="2459736"/>
            <a:ext cx="475488" cy="47548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749698" y="3291840"/>
            <a:ext cx="2692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2. Movimiento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4749698" y="3794760"/>
            <a:ext cx="2692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Buscar qué principio útil se esconde en ese absurdo.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7853477" y="3429000"/>
            <a:ext cx="365760" cy="0"/>
          </a:xfrm>
          <a:prstGeom prst="line">
            <a:avLst/>
          </a:prstGeom>
          <a:noFill/>
          <a:ln w="3810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8" name="Tarjeta"/>
          <p:cNvSpPr/>
          <p:nvPr/>
        </p:nvSpPr>
        <p:spPr>
          <a:xfrm>
            <a:off x="8310677" y="2011680"/>
            <a:ext cx="3332378" cy="28803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9" name="3. Idea práctica"/>
          <p:cNvSpPr/>
          <p:nvPr/>
        </p:nvSpPr>
        <p:spPr>
          <a:xfrm>
            <a:off x="8630717" y="22402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2" descr="3. Idea práctic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0173" y="2459736"/>
            <a:ext cx="475488" cy="47548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630717" y="3291840"/>
            <a:ext cx="26922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3. Idea práctica</a:t>
            </a:r>
            <a:endParaRPr 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8630717" y="3794760"/>
            <a:ext cx="2692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Convertir ese principio en algo que se pueda hacer de verdad.</a:t>
            </a:r>
            <a:endParaRPr lang="en-US" sz="1600" dirty="0"/>
          </a:p>
        </p:txBody>
      </p:sp>
      <p:sp>
        <p:nvSpPr>
          <p:cNvPr id="23" name="Tarjeta"/>
          <p:cNvSpPr/>
          <p:nvPr/>
        </p:nvSpPr>
        <p:spPr>
          <a:xfrm>
            <a:off x="548640" y="5212080"/>
            <a:ext cx="11094415" cy="777240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68680" y="521208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SCAMPER mejora lo que existe. </a:t>
            </a:r>
            <a:r>
              <a:rPr lang="en-US" sz="1900" b="1" dirty="0">
                <a:solidFill>
                  <a:schemeClr val="tx1"/>
                </a:solidFill>
              </a:rPr>
              <a:t>La provocación rompe lo que damos por hecho.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tipos de provocación, en la peluquería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10134295" y="548640"/>
            <a:ext cx="150876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134295" y="5486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72–77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420624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30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Provocación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Movimiento: principio útil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Idea práctica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Inversión</a:t>
                      </a:r>
                      <a:endParaRPr lang="en-US" sz="1500" dirty="0"/>
                    </a:p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chemeClr val="tx1"/>
                          </a:solidFill>
                        </a:rPr>
                        <a:t>darle la vuelta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i="1" dirty="0">
                          <a:solidFill>
                            <a:schemeClr val="tx1"/>
                          </a:solidFill>
                        </a:rPr>
                        <a:t>«La peluquería llama a los clientes, y no al revés».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 peluquería puede tomar la iniciativa.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 terminar cada servicio, proponer ya la fecha de la siguiente cita.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Exageración</a:t>
                      </a:r>
                      <a:endParaRPr lang="en-US" sz="1500" dirty="0"/>
                    </a:p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chemeClr val="tx1"/>
                          </a:solidFill>
                        </a:rPr>
                        <a:t>llevarlo al extremo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i="1" dirty="0">
                          <a:solidFill>
                            <a:schemeClr val="tx1"/>
                          </a:solidFill>
                        </a:rPr>
                        <a:t>«Cada cliente viene todos los días».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Clientes con citas fijas y recurrentes.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Abono mensual con cita fija para clientes habituales.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Eliminación</a:t>
                      </a:r>
                      <a:endParaRPr lang="en-US" sz="1500" dirty="0"/>
                    </a:p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chemeClr val="tx1"/>
                          </a:solidFill>
                        </a:rPr>
                        <a:t>quitar lo imprescindible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i="1" dirty="0">
                          <a:solidFill>
                            <a:schemeClr val="tx1"/>
                          </a:solidFill>
                        </a:rPr>
                        <a:t>«La peluquería no tiene teléfono».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El teléfono no tiene por qué ser el canal principal.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Reservas por otros canales; el teléfono, solo para imprevistos.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Deseo</a:t>
                      </a:r>
                      <a:endParaRPr lang="en-US" sz="1500" dirty="0"/>
                    </a:p>
                    <a:p>
                      <a:pPr marL="0" indent="0">
                        <a:buNone/>
                      </a:pPr>
                      <a:r>
                        <a:rPr lang="en-US" sz="1200" i="1" dirty="0">
                          <a:solidFill>
                            <a:schemeClr val="tx1"/>
                          </a:solidFill>
                        </a:rPr>
                        <a:t>¿y si…? imposible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i="1" dirty="0">
                          <a:solidFill>
                            <a:schemeClr val="tx1"/>
                          </a:solidFill>
                        </a:rPr>
                        <a:t>«¿Y si el cliente supiera exactamente cuándo le toca, aunque llegue sin cita?».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Hacer visible la espera.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Turno visible en el móvil o en una pantalla en la puerta.</a:t>
                      </a:r>
                      <a:endParaRPr lang="en-US" sz="15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2F4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El error típico</a:t>
            </a:r>
            <a:endParaRPr lang="en-US" sz="1800" dirty="0"/>
          </a:p>
        </p:txBody>
      </p:sp>
      <p:sp>
        <p:nvSpPr>
          <p:cNvPr id="3" name="Text 0"/>
          <p:cNvSpPr>
            <a:spLocks noGrp="1"/>
          </p:cNvSpPr>
          <p:nvPr>
            <p:ph type="body" idx="100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chemeClr val="bg1"/>
                </a:solidFill>
              </a:rPr>
              <a:t>Quedarse en la provocación y reírse.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Sin movimiento no hay idea: ¿qué principio útil sacamos de esto?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Ejercicio 3: provocación en vuestro caso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77–85 · Sin 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Tres provocaciones de tipos distintos, sobre el mismo caso. Para cada una, llegad hasta la idea práctica:</a:t>
            </a:r>
            <a:endParaRPr lang="en-US" sz="1900" dirty="0"/>
          </a:p>
        </p:txBody>
      </p:sp>
      <p:sp>
        <p:nvSpPr>
          <p:cNvPr id="6" name="Provocación"/>
          <p:cNvSpPr/>
          <p:nvPr/>
        </p:nvSpPr>
        <p:spPr>
          <a:xfrm>
            <a:off x="548640" y="2057400"/>
            <a:ext cx="3362858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57400"/>
            <a:ext cx="336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Provocación</a:t>
            </a:r>
            <a:endParaRPr lang="en-US" sz="1800" dirty="0"/>
          </a:p>
        </p:txBody>
      </p:sp>
      <p:sp>
        <p:nvSpPr>
          <p:cNvPr id="8" name="Hueco"/>
          <p:cNvSpPr/>
          <p:nvPr/>
        </p:nvSpPr>
        <p:spPr>
          <a:xfrm>
            <a:off x="548640" y="278892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3984650" y="3218688"/>
            <a:ext cx="356616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0" name="Hueco"/>
          <p:cNvSpPr/>
          <p:nvPr/>
        </p:nvSpPr>
        <p:spPr>
          <a:xfrm>
            <a:off x="548640" y="384048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984650" y="4270248"/>
            <a:ext cx="356616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2" name="Hueco"/>
          <p:cNvSpPr/>
          <p:nvPr/>
        </p:nvSpPr>
        <p:spPr>
          <a:xfrm>
            <a:off x="548640" y="489204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984650" y="5321808"/>
            <a:ext cx="356616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4" name="Principio útil"/>
          <p:cNvSpPr/>
          <p:nvPr/>
        </p:nvSpPr>
        <p:spPr>
          <a:xfrm>
            <a:off x="4414418" y="2057400"/>
            <a:ext cx="3362858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14418" y="2057400"/>
            <a:ext cx="336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Principio útil</a:t>
            </a:r>
            <a:endParaRPr lang="en-US" sz="1800" dirty="0"/>
          </a:p>
        </p:txBody>
      </p:sp>
      <p:sp>
        <p:nvSpPr>
          <p:cNvPr id="16" name="Hueco"/>
          <p:cNvSpPr/>
          <p:nvPr/>
        </p:nvSpPr>
        <p:spPr>
          <a:xfrm>
            <a:off x="4414418" y="278892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7850429" y="3218688"/>
            <a:ext cx="356616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8" name="Hueco"/>
          <p:cNvSpPr/>
          <p:nvPr/>
        </p:nvSpPr>
        <p:spPr>
          <a:xfrm>
            <a:off x="4414418" y="384048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850429" y="4270248"/>
            <a:ext cx="356616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20" name="Hueco"/>
          <p:cNvSpPr/>
          <p:nvPr/>
        </p:nvSpPr>
        <p:spPr>
          <a:xfrm>
            <a:off x="4414418" y="489204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850429" y="5321808"/>
            <a:ext cx="356616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22" name="Idea práctica"/>
          <p:cNvSpPr/>
          <p:nvPr/>
        </p:nvSpPr>
        <p:spPr>
          <a:xfrm>
            <a:off x="8280197" y="2057400"/>
            <a:ext cx="3362858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80197" y="2057400"/>
            <a:ext cx="336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</a:rPr>
              <a:t>Idea práctica</a:t>
            </a:r>
            <a:endParaRPr lang="en-US" sz="1800" dirty="0"/>
          </a:p>
        </p:txBody>
      </p:sp>
      <p:sp>
        <p:nvSpPr>
          <p:cNvPr id="24" name="Hueco"/>
          <p:cNvSpPr/>
          <p:nvPr/>
        </p:nvSpPr>
        <p:spPr>
          <a:xfrm>
            <a:off x="8280197" y="278892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5" name="Hueco"/>
          <p:cNvSpPr/>
          <p:nvPr/>
        </p:nvSpPr>
        <p:spPr>
          <a:xfrm>
            <a:off x="8280197" y="384048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6" name="Hueco"/>
          <p:cNvSpPr/>
          <p:nvPr/>
        </p:nvSpPr>
        <p:spPr>
          <a:xfrm>
            <a:off x="8280197" y="4892040"/>
            <a:ext cx="3362858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Ronda con IA: el prompt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85–92 · Con IA</a:t>
            </a:r>
            <a:endParaRPr lang="en-US" sz="1400" dirty="0"/>
          </a:p>
        </p:txBody>
      </p:sp>
      <p:sp>
        <p:nvSpPr>
          <p:cNvPr id="5" name="Prompt"/>
          <p:cNvSpPr/>
          <p:nvPr/>
        </p:nvSpPr>
        <p:spPr>
          <a:xfrm>
            <a:off x="548640" y="1325880"/>
            <a:ext cx="6858000" cy="4754880"/>
          </a:xfrm>
          <a:prstGeom prst="roundRect">
            <a:avLst>
              <a:gd name="adj" fmla="val 2308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508760"/>
            <a:ext cx="6309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Actúa como experto en pensamiento lateral y en la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técnica de provocación de Edward de Bono.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Situación: </a:t>
            </a: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[describir el proceso actual y el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problema, sin nombres ni datos personales]</a:t>
            </a: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1. Escribe 6 provocaciones: afirmaciones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deliberadamente absurdas o imposibles que rompan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 suposición sobre esta situación. Incluye al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menos una de cada tipo: inversión, exageración,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eliminación y deseo («¿Y si…?»).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2. Para cada provocación, haz el movimiento: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explica qué principio útil puede extraerse de ella.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3. Convierte cada principio en una idea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práctica, realista y de bajo coste.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Preséntalo en una tabla con cuatro columnas: tipo,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provocación, principio útil e idea práctica.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repitas estas provocaciones nuestras:</a:t>
            </a:r>
            <a:endParaRPr lang="en-US" sz="1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[pegar las de la pareja]</a:t>
            </a: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1371600"/>
            <a:ext cx="3870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Por qué funciona</a:t>
            </a:r>
            <a:endParaRPr lang="en-US" sz="2200" dirty="0"/>
          </a:p>
        </p:txBody>
      </p:sp>
      <p:sp>
        <p:nvSpPr>
          <p:cNvPr id="8" name="Razón 1"/>
          <p:cNvSpPr/>
          <p:nvPr/>
        </p:nvSpPr>
        <p:spPr>
          <a:xfrm>
            <a:off x="7772400" y="21031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412480" y="2057400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Separa los tres pasos de la técnica: la IA no salta directamente a una idea convencional.</a:t>
            </a:r>
            <a:endParaRPr lang="en-US" sz="1600" dirty="0"/>
          </a:p>
        </p:txBody>
      </p:sp>
      <p:sp>
        <p:nvSpPr>
          <p:cNvPr id="11" name="Razón 2"/>
          <p:cNvSpPr/>
          <p:nvPr/>
        </p:nvSpPr>
        <p:spPr>
          <a:xfrm>
            <a:off x="7772400" y="312724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3081528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Exige los cuatro tipos para forzar la variedad.</a:t>
            </a:r>
            <a:endParaRPr lang="en-US" sz="1600" dirty="0"/>
          </a:p>
        </p:txBody>
      </p:sp>
      <p:sp>
        <p:nvSpPr>
          <p:cNvPr id="14" name="Razón 3"/>
          <p:cNvSpPr/>
          <p:nvPr/>
        </p:nvSpPr>
        <p:spPr>
          <a:xfrm>
            <a:off x="7772400" y="415137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4105656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La tabla permite comprobar si el movimiento tiene sentido o solo suena bien.</a:t>
            </a:r>
            <a:endParaRPr lang="en-US" sz="1600" dirty="0"/>
          </a:p>
        </p:txBody>
      </p:sp>
      <p:sp>
        <p:nvSpPr>
          <p:cNvPr id="17" name="Razón 4"/>
          <p:cNvSpPr/>
          <p:nvPr/>
        </p:nvSpPr>
        <p:spPr>
          <a:xfrm>
            <a:off x="7772400" y="5175504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0" y="5175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5129784"/>
            <a:ext cx="3230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Incluye vuestras provocaciones para que no las repita.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Revisad lo que dice la IA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187891" y="548640"/>
            <a:ext cx="2455164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87891" y="54864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85–92 · Con IA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554480"/>
            <a:ext cx="5364328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6" name="Pregunta"/>
          <p:cNvSpPr/>
          <p:nvPr/>
        </p:nvSpPr>
        <p:spPr>
          <a:xfrm>
            <a:off x="914400" y="18288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Pregun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47" y="2092147"/>
            <a:ext cx="570586" cy="57058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31089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¿El principio útil se deduce de verdad de la provocación?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06908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2"/>
                </a:solidFill>
              </a:rPr>
              <a:t>¿O la IA se ha inventado la conexión?</a:t>
            </a:r>
            <a:endParaRPr lang="en-US" sz="1700" dirty="0"/>
          </a:p>
        </p:txBody>
      </p:sp>
      <p:sp>
        <p:nvSpPr>
          <p:cNvPr id="10" name="Tarjeta"/>
          <p:cNvSpPr/>
          <p:nvPr/>
        </p:nvSpPr>
        <p:spPr>
          <a:xfrm>
            <a:off x="6278728" y="1554480"/>
            <a:ext cx="5364328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</p:spPr>
      </p:sp>
      <p:sp>
        <p:nvSpPr>
          <p:cNvPr id="11" name="Pregunta"/>
          <p:cNvSpPr/>
          <p:nvPr/>
        </p:nvSpPr>
        <p:spPr>
          <a:xfrm>
            <a:off x="6644488" y="18288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gun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7835" y="2092147"/>
            <a:ext cx="570586" cy="57058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44488" y="31089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¿La idea práctica es aplicable, o es un tópico?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644488" y="4069080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2"/>
                </a:solidFill>
              </a:rPr>
              <a:t>¿Se podría probar en vuestro caso con pocos recursos?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212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La IA es muy atrevida provocando. Lo difícil es el movimiento: ahí, vuestro criterio.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Elegid vuestras tres mejores propuestas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977579" y="548640"/>
            <a:ext cx="266547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977579" y="548640"/>
            <a:ext cx="2665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92–100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tx2"/>
                </a:solidFill>
              </a:rPr>
              <a:t>Juntad las ideas de SCAMPER y de la provocación, vuestras y de la IA. Justificad cada elección:</a:t>
            </a:r>
            <a:endParaRPr lang="en-US" sz="1900" dirty="0"/>
          </a:p>
        </p:txBody>
      </p:sp>
      <p:sp>
        <p:nvSpPr>
          <p:cNvPr id="6" name="Coste"/>
          <p:cNvSpPr/>
          <p:nvPr/>
        </p:nvSpPr>
        <p:spPr>
          <a:xfrm>
            <a:off x="548640" y="2011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Cos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2165299"/>
            <a:ext cx="332842" cy="33284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2011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Coste</a:t>
            </a:r>
            <a:endParaRPr lang="en-US" sz="1900" dirty="0"/>
          </a:p>
        </p:txBody>
      </p:sp>
      <p:sp>
        <p:nvSpPr>
          <p:cNvPr id="9" name="Beneficio"/>
          <p:cNvSpPr/>
          <p:nvPr/>
        </p:nvSpPr>
        <p:spPr>
          <a:xfrm>
            <a:off x="3474720" y="2011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Benefici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8339" y="216529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51960" y="2011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Beneficio</a:t>
            </a:r>
            <a:endParaRPr lang="en-US" sz="1900" dirty="0"/>
          </a:p>
        </p:txBody>
      </p:sp>
      <p:sp>
        <p:nvSpPr>
          <p:cNvPr id="12" name="Facilidad de aplicación"/>
          <p:cNvSpPr/>
          <p:nvPr/>
        </p:nvSpPr>
        <p:spPr>
          <a:xfrm>
            <a:off x="6400800" y="2011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Facilidad de aplicació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419" y="2165299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178040" y="2011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Facilidad de aplicación</a:t>
            </a:r>
            <a:endParaRPr lang="en-US" sz="1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11094415" cy="265176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679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Propuesta</a:t>
                      </a:r>
                      <a:endParaRPr lang="en-US" sz="16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Por qué la elegimos</a:t>
                      </a:r>
                      <a:endParaRPr lang="en-US" sz="16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Origen</a:t>
                      </a:r>
                      <a:endParaRPr lang="en-US" sz="16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en-US" sz="16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en-US" sz="16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en-US" sz="16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548640" y="57150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chemeClr val="tx2"/>
                </a:solidFill>
              </a:rPr>
              <a:t>Origen: pareja, IA o combinación de las dos.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Puesta en común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346643" y="548640"/>
            <a:ext cx="32964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346643" y="548640"/>
            <a:ext cx="32964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92–100 · Todo el grupo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600200"/>
            <a:ext cx="3454298" cy="356616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6" name="Pregunta"/>
          <p:cNvSpPr/>
          <p:nvPr/>
        </p:nvSpPr>
        <p:spPr>
          <a:xfrm>
            <a:off x="1681429" y="196596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gun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6722" y="2251253"/>
            <a:ext cx="618134" cy="61813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42900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tx1"/>
                </a:solidFill>
              </a:rPr>
              <a:t>¿De dónde han salido las propuestas elegidas: de la pareja, de la IA o de una combinación?</a:t>
            </a:r>
            <a:endParaRPr lang="en-US" sz="2200" dirty="0"/>
          </a:p>
        </p:txBody>
      </p:sp>
      <p:sp>
        <p:nvSpPr>
          <p:cNvPr id="9" name="Tarjeta"/>
          <p:cNvSpPr/>
          <p:nvPr/>
        </p:nvSpPr>
        <p:spPr>
          <a:xfrm>
            <a:off x="4368698" y="1600200"/>
            <a:ext cx="3454298" cy="356616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0" name="Pregunta"/>
          <p:cNvSpPr/>
          <p:nvPr/>
        </p:nvSpPr>
        <p:spPr>
          <a:xfrm>
            <a:off x="5501488" y="196596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mage 1" descr="Pregun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6780" y="2251253"/>
            <a:ext cx="618134" cy="6181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88738" y="342900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tx1"/>
                </a:solidFill>
              </a:rPr>
              <a:t>¿Qué técnica ha dado ideas más aplicables?</a:t>
            </a:r>
            <a:endParaRPr lang="en-US" sz="2200" dirty="0"/>
          </a:p>
        </p:txBody>
      </p:sp>
      <p:sp>
        <p:nvSpPr>
          <p:cNvPr id="13" name="Tarjeta"/>
          <p:cNvSpPr/>
          <p:nvPr/>
        </p:nvSpPr>
        <p:spPr>
          <a:xfrm>
            <a:off x="8188757" y="1600200"/>
            <a:ext cx="3454298" cy="3566160"/>
          </a:xfrm>
          <a:prstGeom prst="roundRect">
            <a:avLst>
              <a:gd name="adj" fmla="val 3971"/>
            </a:avLst>
          </a:prstGeom>
          <a:solidFill>
            <a:schemeClr val="bg2"/>
          </a:solidFill>
          <a:ln/>
        </p:spPr>
      </p:sp>
      <p:sp>
        <p:nvSpPr>
          <p:cNvPr id="14" name="Pregunta"/>
          <p:cNvSpPr/>
          <p:nvPr/>
        </p:nvSpPr>
        <p:spPr>
          <a:xfrm>
            <a:off x="9321546" y="196596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gunt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6839" y="2251253"/>
            <a:ext cx="618134" cy="61813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08797" y="3429000"/>
            <a:ext cx="28142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tx1"/>
                </a:solidFill>
              </a:rPr>
              <a:t>¿Y más originales?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¿Qué falla aquí?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872423" y="548640"/>
            <a:ext cx="277063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72423" y="548640"/>
            <a:ext cx="2770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100–103 · Parejas</a:t>
            </a:r>
            <a:endParaRPr lang="en-US" sz="1400" dirty="0"/>
          </a:p>
        </p:txBody>
      </p:sp>
      <p:sp>
        <p:nvSpPr>
          <p:cNvPr id="5" name="Prompt"/>
          <p:cNvSpPr/>
          <p:nvPr/>
        </p:nvSpPr>
        <p:spPr>
          <a:xfrm>
            <a:off x="548640" y="1463040"/>
            <a:ext cx="5364328" cy="4023360"/>
          </a:xfrm>
          <a:prstGeom prst="roundRect">
            <a:avLst>
              <a:gd name="adj" fmla="val 3409"/>
            </a:avLst>
          </a:prstGeom>
          <a:solidFill>
            <a:schemeClr val="tx1"/>
          </a:solidFill>
          <a:ln/>
        </p:spPr>
      </p:sp>
      <p:sp>
        <p:nvSpPr>
          <p:cNvPr id="6" name="Prompt"/>
          <p:cNvSpPr/>
          <p:nvPr/>
        </p:nvSpPr>
        <p:spPr>
          <a:xfrm>
            <a:off x="86868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omp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1845259"/>
            <a:ext cx="332842" cy="33284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1691640"/>
            <a:ext cx="3901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El prompt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47242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i="1" dirty="0">
                <a:solidFill>
                  <a:schemeClr val="bg1"/>
                </a:solidFill>
              </a:rPr>
              <a:t>«Nuestra clienta María García Ruiz, de la calle Mayor 12, falta siempre a sus citas y no paga las anulaciones. ¿Cómo reducimos las ausencias?»</a:t>
            </a:r>
            <a:endParaRPr lang="en-US" sz="1900" dirty="0"/>
          </a:p>
        </p:txBody>
      </p:sp>
      <p:sp>
        <p:nvSpPr>
          <p:cNvPr id="10" name="Tarjeta"/>
          <p:cNvSpPr/>
          <p:nvPr/>
        </p:nvSpPr>
        <p:spPr>
          <a:xfrm>
            <a:off x="6278728" y="1463040"/>
            <a:ext cx="5364328" cy="4023360"/>
          </a:xfrm>
          <a:prstGeom prst="roundRect">
            <a:avLst>
              <a:gd name="adj" fmla="val 3409"/>
            </a:avLst>
          </a:prstGeom>
          <a:solidFill>
            <a:schemeClr val="bg2"/>
          </a:solidFill>
          <a:ln/>
        </p:spPr>
      </p:sp>
      <p:sp>
        <p:nvSpPr>
          <p:cNvPr id="11" name="IA"/>
          <p:cNvSpPr/>
          <p:nvPr/>
        </p:nvSpPr>
        <p:spPr>
          <a:xfrm>
            <a:off x="6598768" y="1691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387" y="184525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21728" y="1691640"/>
            <a:ext cx="3901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La respuesta de la IA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598768" y="2514600"/>
            <a:ext cx="472424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chemeClr val="tx1"/>
                </a:solidFill>
              </a:rPr>
              <a:t>«Según un estudio de la Universidad de Salamanca de 2023, enviar recordatorios reduce las ausencias un 47 %. Os recomiendo activar la función de recordatorios automáticos gratuita que incluye vuestra aplicación de mensajería. También podéis cobrar una fianza del 50 % al reservar; es la práctica habitual en todas las peluquerías».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Por parejas: encontrad todos los problemas.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problemas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923983" y="548640"/>
            <a:ext cx="1719072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3983" y="54864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103–105</a:t>
            </a:r>
            <a:endParaRPr lang="en-US" sz="1400" dirty="0"/>
          </a:p>
        </p:txBody>
      </p:sp>
      <p:sp>
        <p:nvSpPr>
          <p:cNvPr id="5" name="Tarjeta"/>
          <p:cNvSpPr/>
          <p:nvPr/>
        </p:nvSpPr>
        <p:spPr>
          <a:xfrm>
            <a:off x="548640" y="1463040"/>
            <a:ext cx="5364328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/>
        </p:spPr>
      </p:sp>
      <p:sp>
        <p:nvSpPr>
          <p:cNvPr id="6" name="Datos personales en el prompt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Image 0" descr="Datos personales en el promp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1923898"/>
            <a:ext cx="404165" cy="40416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1691640"/>
            <a:ext cx="385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Datos personales en el prompt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194560"/>
            <a:ext cx="3855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Nombre, apellidos y dirección de una clienta. Bastaba con «algunos clientes faltan a sus citas».</a:t>
            </a:r>
            <a:endParaRPr lang="en-US" sz="1600" dirty="0"/>
          </a:p>
        </p:txBody>
      </p:sp>
      <p:sp>
        <p:nvSpPr>
          <p:cNvPr id="10" name="Tarjeta"/>
          <p:cNvSpPr/>
          <p:nvPr/>
        </p:nvSpPr>
        <p:spPr>
          <a:xfrm>
            <a:off x="6278728" y="1463040"/>
            <a:ext cx="5364328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/>
        </p:spPr>
      </p:sp>
      <p:sp>
        <p:nvSpPr>
          <p:cNvPr id="11" name="Estudio y cifra sin verificar"/>
          <p:cNvSpPr/>
          <p:nvPr/>
        </p:nvSpPr>
        <p:spPr>
          <a:xfrm>
            <a:off x="6553048" y="173736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mage 1" descr="Estudio y cifra sin verific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585" y="1923898"/>
            <a:ext cx="404165" cy="40416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558888" y="1691640"/>
            <a:ext cx="385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Estudio y cifra sin verificar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7558888" y="2194560"/>
            <a:ext cx="3855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Pueden ser inventados. Hay que comprobar la fuente antes de usarlos.</a:t>
            </a:r>
            <a:endParaRPr lang="en-US" sz="1600" dirty="0"/>
          </a:p>
        </p:txBody>
      </p:sp>
      <p:sp>
        <p:nvSpPr>
          <p:cNvPr id="15" name="Tarjeta"/>
          <p:cNvSpPr/>
          <p:nvPr/>
        </p:nvSpPr>
        <p:spPr>
          <a:xfrm>
            <a:off x="548640" y="3429000"/>
            <a:ext cx="5364328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/>
        </p:spPr>
      </p:sp>
      <p:sp>
        <p:nvSpPr>
          <p:cNvPr id="16" name="Una función que puede no existir"/>
          <p:cNvSpPr/>
          <p:nvPr/>
        </p:nvSpPr>
        <p:spPr>
          <a:xfrm>
            <a:off x="822960" y="370332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Una función que puede no exist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498" y="3889858"/>
            <a:ext cx="404165" cy="40416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828800" y="3657600"/>
            <a:ext cx="385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Una función que puede no existir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1828800" y="4160520"/>
            <a:ext cx="3855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Antes de proponerla, comprobar que la herramienta la tiene y que es gratuita.</a:t>
            </a:r>
            <a:endParaRPr lang="en-US" sz="1600" dirty="0"/>
          </a:p>
        </p:txBody>
      </p:sp>
      <p:sp>
        <p:nvSpPr>
          <p:cNvPr id="20" name="Tarjeta"/>
          <p:cNvSpPr/>
          <p:nvPr/>
        </p:nvSpPr>
        <p:spPr>
          <a:xfrm>
            <a:off x="6278728" y="3429000"/>
            <a:ext cx="5364328" cy="173736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/>
        </p:spPr>
      </p:sp>
      <p:sp>
        <p:nvSpPr>
          <p:cNvPr id="21" name="Una generalización falsa"/>
          <p:cNvSpPr/>
          <p:nvPr/>
        </p:nvSpPr>
        <p:spPr>
          <a:xfrm>
            <a:off x="6553048" y="370332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Image 3" descr="Una generalización fals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9585" y="3889858"/>
            <a:ext cx="404165" cy="40416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558888" y="3657600"/>
            <a:ext cx="385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Una generalización falsa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7558888" y="4160520"/>
            <a:ext cx="3855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«La práctica habitual en todas las peluquerías» no está demostrado, y una fianza puede ahuyentar clientes.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Idea clave del bloque 2</a:t>
            </a:r>
            <a:endParaRPr lang="en-US" sz="1800" dirty="0"/>
          </a:p>
        </p:txBody>
      </p:sp>
      <p:sp>
        <p:nvSpPr>
          <p:cNvPr id="3" name="Text 0"/>
          <p:cNvSpPr>
            <a:spLocks noGrp="1"/>
          </p:cNvSpPr>
          <p:nvPr>
            <p:ph type="body" idx="100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chemeClr val="bg1"/>
                </a:solidFill>
              </a:rPr>
              <a:t>La IA puede inventar funciones, cifras o estudios: cada idea se revisa antes de aceptarla.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En los prompts se describe el proceso, nunca a las personas.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idad, ofimática e IA">
  <a:themeElements>
    <a:clrScheme name="Creatividad, ofimática e IA">
      <a:dk1>
        <a:srgbClr val="1F2A44"/>
      </a:dk1>
      <a:lt1>
        <a:srgbClr val="FFFFFF"/>
      </a:lt1>
      <a:dk2>
        <a:srgbClr val="3A4664"/>
      </a:dk2>
      <a:lt2>
        <a:srgbClr val="F2F4F8"/>
      </a:lt2>
      <a:accent1>
        <a:srgbClr val="F4A300"/>
      </a:accent1>
      <a:accent2>
        <a:srgbClr val="0F7C70"/>
      </a:accent2>
      <a:accent3>
        <a:srgbClr val="D64933"/>
      </a:accent3>
      <a:accent4>
        <a:srgbClr val="6C5CE7"/>
      </a:accent4>
      <a:accent5>
        <a:srgbClr val="8A94A6"/>
      </a:accent5>
      <a:accent6>
        <a:srgbClr val="2D6A4F"/>
      </a:accent6>
      <a:hlink>
        <a:srgbClr val="0F7C70"/>
      </a:hlink>
      <a:folHlink>
        <a:srgbClr val="6C5CE7"/>
      </a:folHlink>
    </a:clrScheme>
    <a:fontScheme name="Creatividad, ofimática e I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2699</Words>
  <Application>Microsoft Office PowerPoint</Application>
  <PresentationFormat>Panorámica</PresentationFormat>
  <Paragraphs>331</Paragraphs>
  <Slides>20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4" baseType="lpstr">
      <vt:lpstr>Arial</vt:lpstr>
      <vt:lpstr>Calibri</vt:lpstr>
      <vt:lpstr>Courier New</vt:lpstr>
      <vt:lpstr>Creatividad, ofimática e IA</vt:lpstr>
      <vt:lpstr>SCAMPER y provocación con IA</vt:lpstr>
      <vt:lpstr>Qué vamos a hacer en este bloque</vt:lpstr>
      <vt:lpstr>Por parejas: elegid un caso</vt:lpstr>
      <vt:lpstr>SCAMPER: siete preguntas</vt:lpstr>
      <vt:lpstr>SCAMPER en la peluquería</vt:lpstr>
      <vt:lpstr>Ejercicio 2: SCAMPER en vuestro caso</vt:lpstr>
      <vt:lpstr>Ronda con IA: el prompt</vt:lpstr>
      <vt:lpstr>No os quedéis en el primer prompt</vt:lpstr>
      <vt:lpstr>Conclusiones de SCAMPER</vt:lpstr>
      <vt:lpstr>Provocación: salir de lo de siempre</vt:lpstr>
      <vt:lpstr>Cuatro tipos de provocación, en la peluquería</vt:lpstr>
      <vt:lpstr>Presentación de PowerPoint</vt:lpstr>
      <vt:lpstr>Ejercicio 3: provocación en vuestro caso</vt:lpstr>
      <vt:lpstr>Ronda con IA: el prompt</vt:lpstr>
      <vt:lpstr>Revisad lo que dice la IA</vt:lpstr>
      <vt:lpstr>Elegid vuestras tres mejores propuestas</vt:lpstr>
      <vt:lpstr>Puesta en común</vt:lpstr>
      <vt:lpstr>¿Qué falla aquí?</vt:lpstr>
      <vt:lpstr>Cuatro problemas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Bloque 2. SCAMPER y provocación con IA</dc:title>
  <dc:subject>Desarrollo de las habilidades creativas e innovadoras con herramientas ofimáticas y de inteligencia artificial</dc:subject>
  <dc:creator>PptxGenJS</dc:creator>
  <cp:lastModifiedBy>Javier Nieto</cp:lastModifiedBy>
  <cp:revision>2</cp:revision>
  <dcterms:created xsi:type="dcterms:W3CDTF">2026-10-17T18:33:15Z</dcterms:created>
  <dcterms:modified xsi:type="dcterms:W3CDTF">2026-10-17T19:06:11Z</dcterms:modified>
</cp:coreProperties>
</file>