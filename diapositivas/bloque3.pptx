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loque 3" id="{5ff5fe02-a817-b88f-a900-29c062896b7b}">
          <p14:sldIdLst>
            <p14:sldId id="256"/>
            <p14:sldId id="257"/>
          </p14:sldIdLst>
        </p14:section>
        <p14:section name="Comparar" id="{56f4c333-f744-796e-c10e-d970740eed12}">
          <p14:sldIdLst>
            <p14:sldId id="258"/>
            <p14:sldId id="259"/>
            <p14:sldId id="260"/>
            <p14:sldId id="261"/>
            <p14:sldId id="262"/>
            <p14:sldId id="263"/>
            <p14:sldId id="264"/>
            <p14:sldId id="265"/>
          </p14:sldIdLst>
        </p14:section>
        <p14:section name="Documentar" id="{02137ed3-9f1e-08ac-d079-1bd855976f64}">
          <p14:sldIdLst>
            <p14:sldId id="266"/>
            <p14:sldId id="267"/>
            <p14:sldId id="268"/>
            <p14:sldId id="269"/>
          </p14:sldIdLst>
        </p14:section>
        <p14:section name="Síntesis" id="{7f2b2a64-9ee0-e806-9bdb-b52e1a03261c}">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del bloque: que cada pareja compare con criterio sus tres propuestas del bloque 2, elija la ganadora con argumentos y la ponga por escrito en una ficha de una página. Excel y Word son el soporte, no el contenido: no explicar funciones básicas. La propuesta ganadora es la que cada pareja desarrollará en el bloque 4 y defenderá en el bloque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del bloque: primero comparar las tres propuestas de cada pareja y decidir la ganadora (Excel o Google Sheets); después, ponerla por escrito (Word o Google Docs). Primero se decide y luego se documenta.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105–113. Explicar los cuatro criterios y sus pesos. Los resultados dependen de las puntuaciones y los pesos que se elijan: la matriz es una ayuda para razonar, no una prueba objetiva.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105–113, actividad de 3 minutos. Asignar a cada pareja una de las tres propuestas. Una vez hecho a mano, se entiende lo que hace la fórmula. Resultados: formulario digital 4,35; chatbot informativo 3,30; panel de seguimiento 4,20.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Corregir con el grupo. Si alguna pareja ha obtenido otro resultado, revisar juntos la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la fórmula en directo en una hoja de cálculo y copiarla hacia abajo. Aviso: con esta fórmula los pesos están escritos dentro. Si en el Ejercicio 4 se cambian los pesos, hay que cambiar también los porcentajes de la fórmula en todas las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113–140. Por parejas, con las tres propuestas seleccionadas al final del bloque 2. Recordar al cambiar los pesos (paso 5) que hay que cambiar los porcentajes en la fórmula de todas las filas, y que los pesos deben seguir sumando 100 %. Entregable: hoja de cálculo con decisiones argumentadas.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prompt está en el guion para copiarlo. Lo interesante es contrastar: ¿tenía razón la IA en sus observaciones o se ha equivocado en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paso del Ejercicio 4. La matriz ayuda a razonar, pero la decisión es de la pareja. Esta propuesta ganadora es la que redactarán en la ficha exprés, desarrollarán en el bloque 4 y defenderán en el bloque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Puesta en común en los últimos 4 minutos del ejercicio. Preguntas clave: ¿ha cambiado la clasificación al modificar los pesos? ¿Tenía razón la IA en sus observaciones o se ha equivocado en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140–145. Demostración: crear en directo un documento profesional de una página con estos apartados. El ejemplo de la derecha es el que se usa en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140–145. Pedir a la IA una versión más clara y concisa del documento de ejemplo y revisar en voz alta cada cambio: cuál aceptamos, cuál rechazamos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145–160. Por parejas, con la propuesta ganadora que acaban de elegir. El prompt está en el guion para copiarlo. Pasar por las mesas: lo habitual es que la IA escriba de más o meta afirmaciones que nadie le ha dado. Esta ficha servirá de borrador para el documento del bloque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Puesta en común en los últimos 4 minutos del tramo: dos o tres parejas. Buscar ejemplos concretos de cosas que la IA añadió sin que nadie se las diera.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160–165. Anotar las respuestas: indican en qué insistir durante el bloque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Enlazar con el bloque 4: cada pareja va a desarrollar su propuesta ganadora hasta convertirla en un proyecto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768096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7680960" cy="137160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108960" y="2103120"/>
            <a:ext cx="850392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3108960" y="3749040"/>
            <a:ext cx="8503920" cy="73152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5"/>
                </a:solidFill>
              </a:rPr>
              <a:t>Bloque 3 · Comparar, decidir y documentar</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STACAD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097280" y="1554480"/>
            <a:ext cx="9966960" cy="3108960"/>
          </a:xfrm>
          <a:prstGeom prst="rect">
            <a:avLst/>
          </a:prstGeom>
          <a:noFill/>
          <a:ln/>
        </p:spPr>
        <p:txBody>
          <a:bodyPr wrap="square" rtlCol="0"/>
          <a:lstStyle>
            <a:lvl1pPr indent="0" marL="0">
              <a:buNone/>
              <a:defRPr lang="en-US" sz="3400" dirty="0">
                <a:solidFill>
                  <a:schemeClr val="bg1"/>
                </a:solidFill>
              </a:defRPr>
            </a:lvl1pPr>
          </a:lstStyle>
          <a:p>
            <a:pPr indent="0" marL="0">
              <a:buNone/>
            </a:pPr>
            <a:endParaRPr lang="en-US" sz="34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5"/>
                </a:solidFill>
              </a:rPr>
              <a:t>Bloque 3 · Comparar, decidir y documentar</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737360"/>
            <a:ext cx="2194560" cy="2743200"/>
          </a:xfrm>
          <a:prstGeom prst="rect">
            <a:avLst/>
          </a:prstGeom>
          <a:noFill/>
          <a:ln/>
        </p:spPr>
        <p:txBody>
          <a:bodyPr wrap="square" lIns="0" tIns="0" rIns="0" bIns="0" rtlCol="0" anchor="ctr"/>
          <a:lstStyle/>
          <a:p>
            <a:pPr algn="ctr" indent="0" marL="0">
              <a:buNone/>
            </a:pPr>
            <a:r>
              <a:rPr lang="en-US" sz="20000" b="1" dirty="0">
                <a:solidFill>
                  <a:schemeClr val="accent1"/>
                </a:solidFill>
                <a:latin typeface="Arial" pitchFamily="34" charset="0"/>
                <a:ea typeface="Arial" pitchFamily="34" charset="-122"/>
                <a:cs typeface="Arial" pitchFamily="34" charset="-120"/>
              </a:rPr>
              <a:t>3</a:t>
            </a:r>
            <a:endParaRPr lang="en-US" sz="20000" dirty="0"/>
          </a:p>
        </p:txBody>
      </p:sp>
      <p:sp>
        <p:nvSpPr>
          <p:cNvPr id="3" name="Text 0"/>
          <p:cNvSpPr/>
          <p:nvPr>
            <p:ph idx="100" type="title" hasCustomPrompt="1"/>
          </p:nvPr>
        </p:nvSpPr>
        <p:spPr>
          <a:xfrm>
            <a:off x="3108960" y="2103120"/>
            <a:ext cx="8503920" cy="1463040"/>
          </a:xfrm>
          <a:prstGeom prst="rect">
            <a:avLst/>
          </a:prstGeom>
          <a:noFill/>
          <a:ln/>
        </p:spPr>
        <p:txBody>
          <a:bodyPr wrap="square" lIns="0" tIns="0" rIns="0" bIns="0" rtlCol="0" anchor="b"/>
          <a:lstStyle/>
          <a:p>
            <a:pPr algn="l" indent="0" marL="0">
              <a:buNone/>
            </a:pPr>
            <a:r>
              <a:rPr lang="en-US" sz="4000" b="1" dirty="0">
                <a:solidFill>
                  <a:schemeClr val="bg1"/>
                </a:solidFill>
              </a:rPr>
              <a:t>Comparar, decidir y documentar</a:t>
            </a:r>
            <a:endParaRPr lang="en-US" sz="4000" dirty="0"/>
          </a:p>
        </p:txBody>
      </p:sp>
      <p:sp>
        <p:nvSpPr>
          <p:cNvPr id="4" name="Text 0"/>
          <p:cNvSpPr/>
          <p:nvPr>
            <p:ph idx="101" type="body" hasCustomPrompt="1"/>
          </p:nvPr>
        </p:nvSpPr>
        <p:spPr>
          <a:xfrm>
            <a:off x="3108960" y="3749040"/>
            <a:ext cx="8503920" cy="731520"/>
          </a:xfrm>
          <a:prstGeom prst="rect">
            <a:avLst/>
          </a:prstGeom>
          <a:noFill/>
          <a:ln/>
        </p:spPr>
        <p:txBody>
          <a:bodyPr wrap="square" lIns="0" tIns="0" rIns="0" bIns="0" rtlCol="0" anchor="t"/>
          <a:lstStyle/>
          <a:p>
            <a:pPr indent="0" marL="0">
              <a:buNone/>
            </a:pPr>
            <a:r>
              <a:rPr lang="en-US" sz="2200" dirty="0">
                <a:solidFill>
                  <a:schemeClr val="accent1"/>
                </a:solidFill>
              </a:rPr>
              <a:t>60 minutos · por parejas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Qué vamos a hacer en este bloque</a:t>
            </a:r>
            <a:endParaRPr lang="en-US" sz="3200" dirty="0"/>
          </a:p>
        </p:txBody>
      </p:sp>
      <p:sp>
        <p:nvSpPr>
          <p:cNvPr id="3" name="Shape 1"/>
          <p:cNvSpPr/>
          <p:nvPr/>
        </p:nvSpPr>
        <p:spPr>
          <a:xfrm>
            <a:off x="1658082" y="2377440"/>
            <a:ext cx="8875532" cy="0"/>
          </a:xfrm>
          <a:prstGeom prst="line">
            <a:avLst/>
          </a:prstGeom>
          <a:noFill/>
          <a:ln w="50800">
            <a:solidFill>
              <a:srgbClr val="F2F4F8"/>
            </a:solidFill>
            <a:prstDash val="solid"/>
          </a:ln>
        </p:spPr>
      </p:sp>
      <p:sp>
        <p:nvSpPr>
          <p:cNvPr id="4" name="Paso 1"/>
          <p:cNvSpPr/>
          <p:nvPr/>
        </p:nvSpPr>
        <p:spPr>
          <a:xfrm>
            <a:off x="1040862" y="1760220"/>
            <a:ext cx="1234440" cy="1234440"/>
          </a:xfrm>
          <a:prstGeom prst="ellipse">
            <a:avLst/>
          </a:prstGeom>
          <a:solidFill>
            <a:schemeClr val="tx2"/>
          </a:solidFill>
          <a:ln/>
        </p:spPr>
      </p:sp>
      <p:sp>
        <p:nvSpPr>
          <p:cNvPr id="5" name="Text 3"/>
          <p:cNvSpPr txBox="1"/>
          <p:nvPr/>
        </p:nvSpPr>
        <p:spPr>
          <a:xfrm>
            <a:off x="1040862" y="1760220"/>
            <a:ext cx="1234440" cy="1234440"/>
          </a:xfrm>
          <a:prstGeom prst="rect">
            <a:avLst/>
          </a:prstGeom>
          <a:noFill/>
          <a:ln/>
        </p:spPr>
        <p:txBody>
          <a:bodyPr wrap="square" lIns="0" tIns="0" rIns="0" bIns="0" rtlCol="0" anchor="ctr"/>
          <a:lstStyle/>
          <a:p>
            <a:pPr algn="ctr" indent="0" marL="0">
              <a:buNone/>
            </a:pPr>
            <a:r>
              <a:rPr lang="en-US" sz="1700" b="1" dirty="0">
                <a:solidFill>
                  <a:schemeClr val="bg1"/>
                </a:solidFill>
              </a:rPr>
              <a:t>105–113</a:t>
            </a:r>
            <a:endParaRPr lang="en-US" sz="1700" dirty="0"/>
          </a:p>
        </p:txBody>
      </p:sp>
      <p:sp>
        <p:nvSpPr>
          <p:cNvPr id="6" name="Text 4"/>
          <p:cNvSpPr txBox="1"/>
          <p:nvPr/>
        </p:nvSpPr>
        <p:spPr>
          <a:xfrm>
            <a:off x="640080" y="3223260"/>
            <a:ext cx="2036003" cy="914400"/>
          </a:xfrm>
          <a:prstGeom prst="rect">
            <a:avLst/>
          </a:prstGeom>
          <a:noFill/>
          <a:ln/>
        </p:spPr>
        <p:txBody>
          <a:bodyPr wrap="square" lIns="0" tIns="0" rIns="0" bIns="0" rtlCol="0" anchor="t"/>
          <a:lstStyle/>
          <a:p>
            <a:pPr algn="ctr" indent="0" marL="0">
              <a:buNone/>
            </a:pPr>
            <a:r>
              <a:rPr lang="en-US" sz="1700" dirty="0">
                <a:solidFill>
                  <a:schemeClr val="tx1"/>
                </a:solidFill>
              </a:rPr>
              <a:t>La matriz de decisión</a:t>
            </a:r>
            <a:endParaRPr lang="en-US" sz="1700" dirty="0"/>
          </a:p>
        </p:txBody>
      </p:sp>
      <p:sp>
        <p:nvSpPr>
          <p:cNvPr id="7" name="Paso 2"/>
          <p:cNvSpPr/>
          <p:nvPr/>
        </p:nvSpPr>
        <p:spPr>
          <a:xfrm>
            <a:off x="3259745" y="1760220"/>
            <a:ext cx="1234440" cy="1234440"/>
          </a:xfrm>
          <a:prstGeom prst="ellipse">
            <a:avLst/>
          </a:prstGeom>
          <a:solidFill>
            <a:schemeClr val="accent1"/>
          </a:solidFill>
          <a:ln/>
        </p:spPr>
      </p:sp>
      <p:sp>
        <p:nvSpPr>
          <p:cNvPr id="8" name="Text 6"/>
          <p:cNvSpPr txBox="1"/>
          <p:nvPr/>
        </p:nvSpPr>
        <p:spPr>
          <a:xfrm>
            <a:off x="3259745" y="1760220"/>
            <a:ext cx="1234440" cy="1234440"/>
          </a:xfrm>
          <a:prstGeom prst="rect">
            <a:avLst/>
          </a:prstGeom>
          <a:noFill/>
          <a:ln/>
        </p:spPr>
        <p:txBody>
          <a:bodyPr wrap="square" lIns="0" tIns="0" rIns="0" bIns="0" rtlCol="0" anchor="ctr"/>
          <a:lstStyle/>
          <a:p>
            <a:pPr algn="ctr" indent="0" marL="0">
              <a:buNone/>
            </a:pPr>
            <a:r>
              <a:rPr lang="en-US" sz="1700" b="1" dirty="0">
                <a:solidFill>
                  <a:schemeClr val="tx1"/>
                </a:solidFill>
              </a:rPr>
              <a:t>113–140</a:t>
            </a:r>
            <a:endParaRPr lang="en-US" sz="1700" dirty="0"/>
          </a:p>
        </p:txBody>
      </p:sp>
      <p:sp>
        <p:nvSpPr>
          <p:cNvPr id="9" name="Text 7"/>
          <p:cNvSpPr txBox="1"/>
          <p:nvPr/>
        </p:nvSpPr>
        <p:spPr>
          <a:xfrm>
            <a:off x="2858963" y="3223260"/>
            <a:ext cx="2036003" cy="914400"/>
          </a:xfrm>
          <a:prstGeom prst="rect">
            <a:avLst/>
          </a:prstGeom>
          <a:noFill/>
          <a:ln/>
        </p:spPr>
        <p:txBody>
          <a:bodyPr wrap="square" lIns="0" tIns="0" rIns="0" bIns="0" rtlCol="0" anchor="t"/>
          <a:lstStyle/>
          <a:p>
            <a:pPr algn="ctr" indent="0" marL="0">
              <a:buNone/>
            </a:pPr>
            <a:r>
              <a:rPr lang="en-US" sz="1700" dirty="0">
                <a:solidFill>
                  <a:schemeClr val="tx1"/>
                </a:solidFill>
              </a:rPr>
              <a:t>Ejercicio 4: elegir la ganadora</a:t>
            </a:r>
            <a:endParaRPr lang="en-US" sz="1700" dirty="0"/>
          </a:p>
        </p:txBody>
      </p:sp>
      <p:sp>
        <p:nvSpPr>
          <p:cNvPr id="10" name="Paso 3"/>
          <p:cNvSpPr/>
          <p:nvPr/>
        </p:nvSpPr>
        <p:spPr>
          <a:xfrm>
            <a:off x="5478628" y="1760220"/>
            <a:ext cx="1234440" cy="1234440"/>
          </a:xfrm>
          <a:prstGeom prst="ellipse">
            <a:avLst/>
          </a:prstGeom>
          <a:solidFill>
            <a:schemeClr val="tx2"/>
          </a:solidFill>
          <a:ln/>
        </p:spPr>
      </p:sp>
      <p:sp>
        <p:nvSpPr>
          <p:cNvPr id="11" name="Text 9"/>
          <p:cNvSpPr txBox="1"/>
          <p:nvPr/>
        </p:nvSpPr>
        <p:spPr>
          <a:xfrm>
            <a:off x="5478628" y="1760220"/>
            <a:ext cx="1234440" cy="1234440"/>
          </a:xfrm>
          <a:prstGeom prst="rect">
            <a:avLst/>
          </a:prstGeom>
          <a:noFill/>
          <a:ln/>
        </p:spPr>
        <p:txBody>
          <a:bodyPr wrap="square" lIns="0" tIns="0" rIns="0" bIns="0" rtlCol="0" anchor="ctr"/>
          <a:lstStyle/>
          <a:p>
            <a:pPr algn="ctr" indent="0" marL="0">
              <a:buNone/>
            </a:pPr>
            <a:r>
              <a:rPr lang="en-US" sz="1700" b="1" dirty="0">
                <a:solidFill>
                  <a:schemeClr val="bg1"/>
                </a:solidFill>
              </a:rPr>
              <a:t>140–145</a:t>
            </a:r>
            <a:endParaRPr lang="en-US" sz="1700" dirty="0"/>
          </a:p>
        </p:txBody>
      </p:sp>
      <p:sp>
        <p:nvSpPr>
          <p:cNvPr id="12" name="Text 10"/>
          <p:cNvSpPr txBox="1"/>
          <p:nvPr/>
        </p:nvSpPr>
        <p:spPr>
          <a:xfrm>
            <a:off x="5077846" y="3223260"/>
            <a:ext cx="2036003" cy="914400"/>
          </a:xfrm>
          <a:prstGeom prst="rect">
            <a:avLst/>
          </a:prstGeom>
          <a:noFill/>
          <a:ln/>
        </p:spPr>
        <p:txBody>
          <a:bodyPr wrap="square" lIns="0" tIns="0" rIns="0" bIns="0" rtlCol="0" anchor="t"/>
          <a:lstStyle/>
          <a:p>
            <a:pPr algn="ctr" indent="0" marL="0">
              <a:buNone/>
            </a:pPr>
            <a:r>
              <a:rPr lang="en-US" sz="1700" dirty="0">
                <a:solidFill>
                  <a:schemeClr val="tx1"/>
                </a:solidFill>
              </a:rPr>
              <a:t>Una propuesta en una página</a:t>
            </a:r>
            <a:endParaRPr lang="en-US" sz="1700" dirty="0"/>
          </a:p>
        </p:txBody>
      </p:sp>
      <p:sp>
        <p:nvSpPr>
          <p:cNvPr id="13" name="Paso 4"/>
          <p:cNvSpPr/>
          <p:nvPr/>
        </p:nvSpPr>
        <p:spPr>
          <a:xfrm>
            <a:off x="7697511" y="1760220"/>
            <a:ext cx="1234440" cy="1234440"/>
          </a:xfrm>
          <a:prstGeom prst="ellipse">
            <a:avLst/>
          </a:prstGeom>
          <a:solidFill>
            <a:schemeClr val="accent2"/>
          </a:solidFill>
          <a:ln/>
        </p:spPr>
      </p:sp>
      <p:sp>
        <p:nvSpPr>
          <p:cNvPr id="14" name="Text 12"/>
          <p:cNvSpPr txBox="1"/>
          <p:nvPr/>
        </p:nvSpPr>
        <p:spPr>
          <a:xfrm>
            <a:off x="7697511" y="1760220"/>
            <a:ext cx="1234440" cy="1234440"/>
          </a:xfrm>
          <a:prstGeom prst="rect">
            <a:avLst/>
          </a:prstGeom>
          <a:noFill/>
          <a:ln/>
        </p:spPr>
        <p:txBody>
          <a:bodyPr wrap="square" lIns="0" tIns="0" rIns="0" bIns="0" rtlCol="0" anchor="ctr"/>
          <a:lstStyle/>
          <a:p>
            <a:pPr algn="ctr" indent="0" marL="0">
              <a:buNone/>
            </a:pPr>
            <a:r>
              <a:rPr lang="en-US" sz="1700" b="1" dirty="0">
                <a:solidFill>
                  <a:schemeClr val="bg1"/>
                </a:solidFill>
              </a:rPr>
              <a:t>145–160</a:t>
            </a:r>
            <a:endParaRPr lang="en-US" sz="1700" dirty="0"/>
          </a:p>
        </p:txBody>
      </p:sp>
      <p:sp>
        <p:nvSpPr>
          <p:cNvPr id="15" name="Text 13"/>
          <p:cNvSpPr txBox="1"/>
          <p:nvPr/>
        </p:nvSpPr>
        <p:spPr>
          <a:xfrm>
            <a:off x="7296729" y="3223260"/>
            <a:ext cx="2036003" cy="914400"/>
          </a:xfrm>
          <a:prstGeom prst="rect">
            <a:avLst/>
          </a:prstGeom>
          <a:noFill/>
          <a:ln/>
        </p:spPr>
        <p:txBody>
          <a:bodyPr wrap="square" lIns="0" tIns="0" rIns="0" bIns="0" rtlCol="0" anchor="t"/>
          <a:lstStyle/>
          <a:p>
            <a:pPr algn="ctr" indent="0" marL="0">
              <a:buNone/>
            </a:pPr>
            <a:r>
              <a:rPr lang="en-US" sz="1700" dirty="0">
                <a:solidFill>
                  <a:schemeClr val="tx1"/>
                </a:solidFill>
              </a:rPr>
              <a:t>Ficha exprés de la ganadora</a:t>
            </a:r>
            <a:endParaRPr lang="en-US" sz="1700" dirty="0"/>
          </a:p>
        </p:txBody>
      </p:sp>
      <p:sp>
        <p:nvSpPr>
          <p:cNvPr id="16" name="Paso 5"/>
          <p:cNvSpPr/>
          <p:nvPr/>
        </p:nvSpPr>
        <p:spPr>
          <a:xfrm>
            <a:off x="9916394" y="1760220"/>
            <a:ext cx="1234440" cy="1234440"/>
          </a:xfrm>
          <a:prstGeom prst="ellipse">
            <a:avLst/>
          </a:prstGeom>
          <a:solidFill>
            <a:schemeClr val="tx2"/>
          </a:solidFill>
          <a:ln/>
        </p:spPr>
      </p:sp>
      <p:sp>
        <p:nvSpPr>
          <p:cNvPr id="17" name="Text 15"/>
          <p:cNvSpPr txBox="1"/>
          <p:nvPr/>
        </p:nvSpPr>
        <p:spPr>
          <a:xfrm>
            <a:off x="9916394" y="1760220"/>
            <a:ext cx="1234440" cy="1234440"/>
          </a:xfrm>
          <a:prstGeom prst="rect">
            <a:avLst/>
          </a:prstGeom>
          <a:noFill/>
          <a:ln/>
        </p:spPr>
        <p:txBody>
          <a:bodyPr wrap="square" lIns="0" tIns="0" rIns="0" bIns="0" rtlCol="0" anchor="ctr"/>
          <a:lstStyle/>
          <a:p>
            <a:pPr algn="ctr" indent="0" marL="0">
              <a:buNone/>
            </a:pPr>
            <a:r>
              <a:rPr lang="en-US" sz="1700" b="1" dirty="0">
                <a:solidFill>
                  <a:schemeClr val="bg1"/>
                </a:solidFill>
              </a:rPr>
              <a:t>160–165</a:t>
            </a:r>
            <a:endParaRPr lang="en-US" sz="1700" dirty="0"/>
          </a:p>
        </p:txBody>
      </p:sp>
      <p:sp>
        <p:nvSpPr>
          <p:cNvPr id="18" name="Text 16"/>
          <p:cNvSpPr txBox="1"/>
          <p:nvPr/>
        </p:nvSpPr>
        <p:spPr>
          <a:xfrm>
            <a:off x="9515612" y="3223260"/>
            <a:ext cx="2036003" cy="914400"/>
          </a:xfrm>
          <a:prstGeom prst="rect">
            <a:avLst/>
          </a:prstGeom>
          <a:noFill/>
          <a:ln/>
        </p:spPr>
        <p:txBody>
          <a:bodyPr wrap="square" lIns="0" tIns="0" rIns="0" bIns="0" rtlCol="0" anchor="t"/>
          <a:lstStyle/>
          <a:p>
            <a:pPr algn="ctr" indent="0" marL="0">
              <a:buNone/>
            </a:pPr>
            <a:r>
              <a:rPr lang="en-US" sz="1700" dirty="0">
                <a:solidFill>
                  <a:schemeClr val="tx1"/>
                </a:solidFill>
              </a:rPr>
              <a:t>Síntesis</a:t>
            </a:r>
            <a:endParaRPr lang="en-US" sz="1700" dirty="0"/>
          </a:p>
        </p:txBody>
      </p:sp>
      <p:sp>
        <p:nvSpPr>
          <p:cNvPr id="19" name="Personas"/>
          <p:cNvSpPr/>
          <p:nvPr/>
        </p:nvSpPr>
        <p:spPr>
          <a:xfrm>
            <a:off x="548640" y="4846320"/>
            <a:ext cx="548640" cy="548640"/>
          </a:xfrm>
          <a:prstGeom prst="ellipse">
            <a:avLst/>
          </a:prstGeom>
          <a:solidFill>
            <a:schemeClr val="accent1"/>
          </a:solidFill>
          <a:ln/>
        </p:spPr>
      </p:sp>
      <p:pic>
        <p:nvPicPr>
          <p:cNvPr id="20" name="Image 0" descr="Personas">    </p:cNvPr>
          <p:cNvPicPr>
            <a:picLocks noChangeAspect="1"/>
          </p:cNvPicPr>
          <p:nvPr/>
        </p:nvPicPr>
        <p:blipFill>
          <a:blip r:embed="rId1"/>
          <a:stretch>
            <a:fillRect/>
          </a:stretch>
        </p:blipFill>
        <p:spPr>
          <a:xfrm>
            <a:off x="680314" y="4977994"/>
            <a:ext cx="285293" cy="285293"/>
          </a:xfrm>
          <a:prstGeom prst="rect">
            <a:avLst/>
          </a:prstGeom>
        </p:spPr>
      </p:pic>
      <p:sp>
        <p:nvSpPr>
          <p:cNvPr id="21" name="Text 18"/>
          <p:cNvSpPr txBox="1"/>
          <p:nvPr/>
        </p:nvSpPr>
        <p:spPr>
          <a:xfrm>
            <a:off x="1234440" y="4846320"/>
            <a:ext cx="3840480" cy="548640"/>
          </a:xfrm>
          <a:prstGeom prst="rect">
            <a:avLst/>
          </a:prstGeom>
          <a:noFill/>
          <a:ln/>
        </p:spPr>
        <p:txBody>
          <a:bodyPr wrap="square" lIns="0" tIns="0" rIns="0" bIns="0" rtlCol="0" anchor="ctr"/>
          <a:lstStyle/>
          <a:p>
            <a:pPr indent="0" marL="0">
              <a:buNone/>
            </a:pPr>
            <a:r>
              <a:rPr lang="en-US" sz="1600" dirty="0">
                <a:solidFill>
                  <a:schemeClr val="tx1"/>
                </a:solidFill>
              </a:rPr>
              <a:t>Ámbar: piensa la pareja</a:t>
            </a:r>
            <a:endParaRPr lang="en-US" sz="1600" dirty="0"/>
          </a:p>
        </p:txBody>
      </p:sp>
      <p:sp>
        <p:nvSpPr>
          <p:cNvPr id="22" name="IA"/>
          <p:cNvSpPr/>
          <p:nvPr/>
        </p:nvSpPr>
        <p:spPr>
          <a:xfrm>
            <a:off x="5394960" y="4846320"/>
            <a:ext cx="548640" cy="548640"/>
          </a:xfrm>
          <a:prstGeom prst="ellipse">
            <a:avLst/>
          </a:prstGeom>
          <a:solidFill>
            <a:schemeClr val="accent2"/>
          </a:solidFill>
          <a:ln/>
        </p:spPr>
      </p:sp>
      <p:pic>
        <p:nvPicPr>
          <p:cNvPr id="23" name="Image 1" descr="IA">    </p:cNvPr>
          <p:cNvPicPr>
            <a:picLocks noChangeAspect="1"/>
          </p:cNvPicPr>
          <p:nvPr/>
        </p:nvPicPr>
        <p:blipFill>
          <a:blip r:embed="rId2"/>
          <a:stretch>
            <a:fillRect/>
          </a:stretch>
        </p:blipFill>
        <p:spPr>
          <a:xfrm>
            <a:off x="5526634" y="4977994"/>
            <a:ext cx="285293" cy="285293"/>
          </a:xfrm>
          <a:prstGeom prst="rect">
            <a:avLst/>
          </a:prstGeom>
        </p:spPr>
      </p:pic>
      <p:sp>
        <p:nvSpPr>
          <p:cNvPr id="24" name="Text 20"/>
          <p:cNvSpPr txBox="1"/>
          <p:nvPr/>
        </p:nvSpPr>
        <p:spPr>
          <a:xfrm>
            <a:off x="6080760" y="4846320"/>
            <a:ext cx="3840480" cy="548640"/>
          </a:xfrm>
          <a:prstGeom prst="rect">
            <a:avLst/>
          </a:prstGeom>
          <a:noFill/>
          <a:ln/>
        </p:spPr>
        <p:txBody>
          <a:bodyPr wrap="square" lIns="0" tIns="0" rIns="0" bIns="0" rtlCol="0" anchor="ctr"/>
          <a:lstStyle/>
          <a:p>
            <a:pPr indent="0" marL="0">
              <a:buNone/>
            </a:pPr>
            <a:r>
              <a:rPr lang="en-US" sz="1600" dirty="0">
                <a:solidFill>
                  <a:schemeClr val="tx1"/>
                </a:solidFill>
              </a:rPr>
              <a:t>Verde: trabajamos con la IA</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matriz de decisión</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algn="ctr" indent="0" marL="0">
              <a:buNone/>
            </a:pPr>
            <a:r>
              <a:rPr lang="en-US" sz="1400" b="1" dirty="0">
                <a:solidFill>
                  <a:schemeClr val="tx1"/>
                </a:solidFill>
              </a:rPr>
              <a:t>Min. 105–113</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900" dirty="0">
                <a:solidFill>
                  <a:schemeClr val="tx2"/>
                </a:solidFill>
              </a:rPr>
              <a:t>Cada propuesta se puntúa del 1 al 5 en cuatro criterios. Cada criterio pesa distinto:</a:t>
            </a:r>
            <a:endParaRPr lang="en-US" sz="1900" dirty="0"/>
          </a:p>
        </p:txBody>
      </p:sp>
      <p:sp>
        <p:nvSpPr>
          <p:cNvPr id="6" name="Impacto"/>
          <p:cNvSpPr/>
          <p:nvPr/>
        </p:nvSpPr>
        <p:spPr>
          <a:xfrm>
            <a:off x="548640" y="2148840"/>
            <a:ext cx="3883045" cy="1463040"/>
          </a:xfrm>
          <a:prstGeom prst="rect">
            <a:avLst/>
          </a:prstGeom>
          <a:solidFill>
            <a:schemeClr val="accent1"/>
          </a:solidFill>
          <a:ln w="25400">
            <a:solidFill>
              <a:srgbClr val="FFFFFF"/>
            </a:solidFill>
            <a:prstDash val="solid"/>
          </a:ln>
        </p:spPr>
      </p:sp>
      <p:sp>
        <p:nvSpPr>
          <p:cNvPr id="7" name="Text 5"/>
          <p:cNvSpPr txBox="1"/>
          <p:nvPr/>
        </p:nvSpPr>
        <p:spPr>
          <a:xfrm>
            <a:off x="640080" y="2148840"/>
            <a:ext cx="3700165" cy="1463040"/>
          </a:xfrm>
          <a:prstGeom prst="rect">
            <a:avLst/>
          </a:prstGeom>
          <a:noFill/>
          <a:ln/>
        </p:spPr>
        <p:txBody>
          <a:bodyPr wrap="square" lIns="0" tIns="0" rIns="0" bIns="0" rtlCol="0" anchor="ctr"/>
          <a:lstStyle/>
          <a:p>
            <a:pPr algn="ctr" indent="0" marL="0">
              <a:buNone/>
            </a:pPr>
            <a:r>
              <a:rPr lang="en-US" sz="4000" b="1" dirty="0">
                <a:solidFill>
                  <a:schemeClr val="tx1"/>
                </a:solidFill>
              </a:rPr>
              <a:t>35 %</a:t>
            </a:r>
            <a:endParaRPr lang="en-US" sz="4000" dirty="0"/>
          </a:p>
          <a:p>
            <a:pPr algn="ctr" indent="0" marL="0">
              <a:buNone/>
            </a:pPr>
            <a:r>
              <a:rPr lang="en-US" sz="1900" b="1" dirty="0">
                <a:solidFill>
                  <a:schemeClr val="tx1"/>
                </a:solidFill>
              </a:rPr>
              <a:t>Impacto</a:t>
            </a:r>
            <a:endParaRPr lang="en-US" sz="4000" dirty="0"/>
          </a:p>
        </p:txBody>
      </p:sp>
      <p:sp>
        <p:nvSpPr>
          <p:cNvPr id="8" name="Viabilidad"/>
          <p:cNvSpPr/>
          <p:nvPr/>
        </p:nvSpPr>
        <p:spPr>
          <a:xfrm>
            <a:off x="4431685" y="2148840"/>
            <a:ext cx="3328325" cy="1463040"/>
          </a:xfrm>
          <a:prstGeom prst="rect">
            <a:avLst/>
          </a:prstGeom>
          <a:solidFill>
            <a:schemeClr val="accent2"/>
          </a:solidFill>
          <a:ln w="25400">
            <a:solidFill>
              <a:srgbClr val="FFFFFF"/>
            </a:solidFill>
            <a:prstDash val="solid"/>
          </a:ln>
        </p:spPr>
      </p:sp>
      <p:sp>
        <p:nvSpPr>
          <p:cNvPr id="9" name="Text 7"/>
          <p:cNvSpPr txBox="1"/>
          <p:nvPr/>
        </p:nvSpPr>
        <p:spPr>
          <a:xfrm>
            <a:off x="4523125" y="2148840"/>
            <a:ext cx="3145445" cy="1463040"/>
          </a:xfrm>
          <a:prstGeom prst="rect">
            <a:avLst/>
          </a:prstGeom>
          <a:noFill/>
          <a:ln/>
        </p:spPr>
        <p:txBody>
          <a:bodyPr wrap="square" lIns="0" tIns="0" rIns="0" bIns="0" rtlCol="0" anchor="ctr"/>
          <a:lstStyle/>
          <a:p>
            <a:pPr algn="ctr" indent="0" marL="0">
              <a:buNone/>
            </a:pPr>
            <a:r>
              <a:rPr lang="en-US" sz="4000" b="1" dirty="0">
                <a:solidFill>
                  <a:schemeClr val="bg1"/>
                </a:solidFill>
              </a:rPr>
              <a:t>30 %</a:t>
            </a:r>
            <a:endParaRPr lang="en-US" sz="4000" dirty="0"/>
          </a:p>
          <a:p>
            <a:pPr algn="ctr" indent="0" marL="0">
              <a:buNone/>
            </a:pPr>
            <a:r>
              <a:rPr lang="en-US" sz="1900" b="1" dirty="0">
                <a:solidFill>
                  <a:schemeClr val="bg1"/>
                </a:solidFill>
              </a:rPr>
              <a:t>Viabilidad</a:t>
            </a:r>
            <a:endParaRPr lang="en-US" sz="4000" dirty="0"/>
          </a:p>
        </p:txBody>
      </p:sp>
      <p:sp>
        <p:nvSpPr>
          <p:cNvPr id="10" name="Bajo coste"/>
          <p:cNvSpPr/>
          <p:nvPr/>
        </p:nvSpPr>
        <p:spPr>
          <a:xfrm>
            <a:off x="7760010" y="2148840"/>
            <a:ext cx="2218883" cy="1463040"/>
          </a:xfrm>
          <a:prstGeom prst="rect">
            <a:avLst/>
          </a:prstGeom>
          <a:solidFill>
            <a:schemeClr val="accent4"/>
          </a:solidFill>
          <a:ln w="25400">
            <a:solidFill>
              <a:srgbClr val="FFFFFF"/>
            </a:solidFill>
            <a:prstDash val="solid"/>
          </a:ln>
        </p:spPr>
      </p:sp>
      <p:sp>
        <p:nvSpPr>
          <p:cNvPr id="11" name="Text 9"/>
          <p:cNvSpPr txBox="1"/>
          <p:nvPr/>
        </p:nvSpPr>
        <p:spPr>
          <a:xfrm>
            <a:off x="7851450" y="2148840"/>
            <a:ext cx="2036003" cy="1463040"/>
          </a:xfrm>
          <a:prstGeom prst="rect">
            <a:avLst/>
          </a:prstGeom>
          <a:noFill/>
          <a:ln/>
        </p:spPr>
        <p:txBody>
          <a:bodyPr wrap="square" lIns="0" tIns="0" rIns="0" bIns="0" rtlCol="0" anchor="ctr"/>
          <a:lstStyle/>
          <a:p>
            <a:pPr algn="ctr" indent="0" marL="0">
              <a:buNone/>
            </a:pPr>
            <a:r>
              <a:rPr lang="en-US" sz="4000" b="1" dirty="0">
                <a:solidFill>
                  <a:schemeClr val="bg1"/>
                </a:solidFill>
              </a:rPr>
              <a:t>20 %</a:t>
            </a:r>
            <a:endParaRPr lang="en-US" sz="4000" dirty="0"/>
          </a:p>
          <a:p>
            <a:pPr algn="ctr" indent="0" marL="0">
              <a:buNone/>
            </a:pPr>
            <a:r>
              <a:rPr lang="en-US" sz="1900" b="1" dirty="0">
                <a:solidFill>
                  <a:schemeClr val="bg1"/>
                </a:solidFill>
              </a:rPr>
              <a:t>Bajo coste</a:t>
            </a:r>
            <a:endParaRPr lang="en-US" sz="4000" dirty="0"/>
          </a:p>
        </p:txBody>
      </p:sp>
      <p:sp>
        <p:nvSpPr>
          <p:cNvPr id="12" name="Originalidad"/>
          <p:cNvSpPr/>
          <p:nvPr/>
        </p:nvSpPr>
        <p:spPr>
          <a:xfrm>
            <a:off x="9978893" y="2148840"/>
            <a:ext cx="1664162" cy="1463040"/>
          </a:xfrm>
          <a:prstGeom prst="rect">
            <a:avLst/>
          </a:prstGeom>
          <a:solidFill>
            <a:schemeClr val="accent3"/>
          </a:solidFill>
          <a:ln w="25400">
            <a:solidFill>
              <a:srgbClr val="FFFFFF"/>
            </a:solidFill>
            <a:prstDash val="solid"/>
          </a:ln>
        </p:spPr>
      </p:sp>
      <p:sp>
        <p:nvSpPr>
          <p:cNvPr id="13" name="Text 11"/>
          <p:cNvSpPr txBox="1"/>
          <p:nvPr/>
        </p:nvSpPr>
        <p:spPr>
          <a:xfrm>
            <a:off x="10070333" y="2148840"/>
            <a:ext cx="1481282" cy="1463040"/>
          </a:xfrm>
          <a:prstGeom prst="rect">
            <a:avLst/>
          </a:prstGeom>
          <a:noFill/>
          <a:ln/>
        </p:spPr>
        <p:txBody>
          <a:bodyPr wrap="square" lIns="0" tIns="0" rIns="0" bIns="0" rtlCol="0" anchor="ctr"/>
          <a:lstStyle/>
          <a:p>
            <a:pPr algn="ctr" indent="0" marL="0">
              <a:buNone/>
            </a:pPr>
            <a:r>
              <a:rPr lang="en-US" sz="4000" b="1" dirty="0">
                <a:solidFill>
                  <a:schemeClr val="bg1"/>
                </a:solidFill>
              </a:rPr>
              <a:t>15 %</a:t>
            </a:r>
            <a:endParaRPr lang="en-US" sz="4000" dirty="0"/>
          </a:p>
          <a:p>
            <a:pPr algn="ctr" indent="0" marL="0">
              <a:buNone/>
            </a:pPr>
            <a:r>
              <a:rPr lang="en-US" sz="1900" b="1" dirty="0">
                <a:solidFill>
                  <a:schemeClr val="bg1"/>
                </a:solidFill>
              </a:rPr>
              <a:t>Originalidad</a:t>
            </a:r>
            <a:endParaRPr lang="en-US" sz="4000" dirty="0"/>
          </a:p>
        </p:txBody>
      </p:sp>
      <p:sp>
        <p:nvSpPr>
          <p:cNvPr id="14" name="Text 12"/>
          <p:cNvSpPr txBox="1"/>
          <p:nvPr/>
        </p:nvSpPr>
        <p:spPr>
          <a:xfrm>
            <a:off x="548640" y="3749040"/>
            <a:ext cx="11094415" cy="411480"/>
          </a:xfrm>
          <a:prstGeom prst="rect">
            <a:avLst/>
          </a:prstGeom>
          <a:noFill/>
          <a:ln/>
        </p:spPr>
        <p:txBody>
          <a:bodyPr wrap="square" lIns="0" tIns="0" rIns="0" bIns="0" rtlCol="0" anchor="ctr"/>
          <a:lstStyle/>
          <a:p>
            <a:pPr algn="r" indent="0" marL="0">
              <a:buNone/>
            </a:pPr>
            <a:r>
              <a:rPr lang="en-US" sz="1600" i="1" dirty="0">
                <a:solidFill>
                  <a:schemeClr val="tx2"/>
                </a:solidFill>
              </a:rPr>
              <a:t>Total: 100 %</a:t>
            </a:r>
            <a:endParaRPr lang="en-US" sz="1600" dirty="0"/>
          </a:p>
        </p:txBody>
      </p:sp>
      <p:sp>
        <p:nvSpPr>
          <p:cNvPr id="15" name="Tarjeta"/>
          <p:cNvSpPr/>
          <p:nvPr/>
        </p:nvSpPr>
        <p:spPr>
          <a:xfrm>
            <a:off x="548640" y="4343400"/>
            <a:ext cx="11094415" cy="960120"/>
          </a:xfrm>
          <a:prstGeom prst="roundRect">
            <a:avLst>
              <a:gd name="adj" fmla="val 14286"/>
            </a:avLst>
          </a:prstGeom>
          <a:solidFill>
            <a:schemeClr val="bg2"/>
          </a:solidFill>
          <a:ln/>
        </p:spPr>
      </p:sp>
      <p:sp>
        <p:nvSpPr>
          <p:cNvPr id="16" name="Atención"/>
          <p:cNvSpPr/>
          <p:nvPr/>
        </p:nvSpPr>
        <p:spPr>
          <a:xfrm>
            <a:off x="822960" y="4498848"/>
            <a:ext cx="640080" cy="640080"/>
          </a:xfrm>
          <a:prstGeom prst="ellipse">
            <a:avLst/>
          </a:prstGeom>
          <a:solidFill>
            <a:schemeClr val="accent4"/>
          </a:solidFill>
          <a:ln/>
        </p:spPr>
      </p:sp>
      <p:pic>
        <p:nvPicPr>
          <p:cNvPr id="17" name="Image 0" descr="Atención">    </p:cNvPr>
          <p:cNvPicPr>
            <a:picLocks noChangeAspect="1"/>
          </p:cNvPicPr>
          <p:nvPr/>
        </p:nvPicPr>
        <p:blipFill>
          <a:blip r:embed="rId1"/>
          <a:stretch>
            <a:fillRect/>
          </a:stretch>
        </p:blipFill>
        <p:spPr>
          <a:xfrm>
            <a:off x="976579" y="4652467"/>
            <a:ext cx="332842" cy="332842"/>
          </a:xfrm>
          <a:prstGeom prst="rect">
            <a:avLst/>
          </a:prstGeom>
        </p:spPr>
      </p:pic>
      <p:sp>
        <p:nvSpPr>
          <p:cNvPr id="18" name="Text 15"/>
          <p:cNvSpPr txBox="1"/>
          <p:nvPr/>
        </p:nvSpPr>
        <p:spPr>
          <a:xfrm>
            <a:off x="1645920" y="4343400"/>
            <a:ext cx="9722815" cy="960120"/>
          </a:xfrm>
          <a:prstGeom prst="rect">
            <a:avLst/>
          </a:prstGeom>
          <a:noFill/>
          <a:ln/>
        </p:spPr>
        <p:txBody>
          <a:bodyPr wrap="square" lIns="0" tIns="0" rIns="0" bIns="0" rtlCol="0" anchor="ctr"/>
          <a:lstStyle/>
          <a:p>
            <a:pPr indent="0" marL="0">
              <a:buNone/>
            </a:pPr>
            <a:r>
              <a:rPr lang="en-US" sz="1900" b="1" dirty="0">
                <a:solidFill>
                  <a:schemeClr val="tx1"/>
                </a:solidFill>
              </a:rPr>
              <a:t>Ojo con «Bajo coste»: </a:t>
            </a:r>
            <a:pPr indent="0" marL="0">
              <a:buNone/>
            </a:pPr>
            <a:r>
              <a:rPr lang="en-US" sz="1900" dirty="0">
                <a:solidFill>
                  <a:schemeClr val="tx1"/>
                </a:solidFill>
              </a:rPr>
              <a:t>un 5 significa muy económica, no muy cara.</a:t>
            </a:r>
            <a:endParaRPr lang="en-US" sz="1900" dirty="0"/>
          </a:p>
        </p:txBody>
      </p:sp>
      <p:sp>
        <p:nvSpPr>
          <p:cNvPr id="19" name="Text 16"/>
          <p:cNvSpPr txBox="1"/>
          <p:nvPr/>
        </p:nvSpPr>
        <p:spPr>
          <a:xfrm>
            <a:off x="548640" y="5532120"/>
            <a:ext cx="11094415" cy="457200"/>
          </a:xfrm>
          <a:prstGeom prst="rect">
            <a:avLst/>
          </a:prstGeom>
          <a:noFill/>
          <a:ln/>
        </p:spPr>
        <p:txBody>
          <a:bodyPr wrap="square" lIns="0" tIns="0" rIns="0" bIns="0" rtlCol="0" anchor="ctr"/>
          <a:lstStyle/>
          <a:p>
            <a:pPr indent="0" marL="0">
              <a:buNone/>
            </a:pPr>
            <a:r>
              <a:rPr lang="en-US" sz="1900" b="1" dirty="0">
                <a:solidFill>
                  <a:schemeClr val="accent3"/>
                </a:solidFill>
              </a:rPr>
              <a:t>La matriz es una ayuda para razonar, no una prueba objetiva.</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Calculadlo vosotros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algn="ctr" indent="0" marL="0">
              <a:buNone/>
            </a:pPr>
            <a:r>
              <a:rPr lang="en-US" sz="1400" b="1" dirty="0">
                <a:solidFill>
                  <a:schemeClr val="tx1"/>
                </a:solidFill>
              </a:rPr>
              <a:t>Min. 105–113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Con la calculadora del móvil, calculad el resultado de la propuesta que os toque:</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047695"/>
                <a:gridCol w="1645920"/>
                <a:gridCol w="1645920"/>
                <a:gridCol w="1645920"/>
                <a:gridCol w="1645920"/>
                <a:gridCol w="1463040"/>
              </a:tblGrid>
              <a:tr h="777240">
                <a:tc>
                  <a:txBody>
                    <a:bodyPr/>
                    <a:lstStyle/>
                    <a:p>
                      <a:pPr algn="ctr" indent="0" marL="0">
                        <a:buNone/>
                      </a:pPr>
                      <a:r>
                        <a:rPr lang="en-US" sz="1800" b="1" dirty="0">
                          <a:solidFill>
                            <a:schemeClr val="bg1"/>
                          </a:solidFill>
                        </a:rPr>
                        <a:t>Propuesta</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tx1"/>
                          </a:solidFill>
                        </a:rPr>
                        <a:t>Impacto</a:t>
                      </a:r>
                      <a:endParaRPr lang="en-US" sz="1800" dirty="0"/>
                    </a:p>
                    <a:p>
                      <a:pPr algn="ctr" indent="0" marL="0">
                        <a:buNone/>
                      </a:pPr>
                      <a:r>
                        <a:rPr lang="en-US" sz="1800" b="1" dirty="0">
                          <a:solidFill>
                            <a:schemeClr val="tx1"/>
                          </a:solidFill>
                        </a:rPr>
                        <a:t>35 %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algn="ctr" indent="0" marL="0">
                        <a:buNone/>
                      </a:pPr>
                      <a:r>
                        <a:rPr lang="en-US" sz="1800" b="1" dirty="0">
                          <a:solidFill>
                            <a:schemeClr val="bg1"/>
                          </a:solidFill>
                        </a:rPr>
                        <a:t>Viabilidad</a:t>
                      </a:r>
                      <a:endParaRPr lang="en-US" sz="1800" dirty="0"/>
                    </a:p>
                    <a:p>
                      <a:pPr algn="ctr" indent="0" marL="0">
                        <a:buNone/>
                      </a:pPr>
                      <a:r>
                        <a:rPr lang="en-US" sz="1800" b="1" dirty="0">
                          <a:solidFill>
                            <a:schemeClr val="bg1"/>
                          </a:solidFill>
                        </a:rPr>
                        <a:t>30 %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2"/>
                    </a:solidFill>
                  </a:tcPr>
                </a:tc>
                <a:tc>
                  <a:txBody>
                    <a:bodyPr/>
                    <a:lstStyle/>
                    <a:p>
                      <a:pPr algn="ctr" indent="0" marL="0">
                        <a:buNone/>
                      </a:pPr>
                      <a:r>
                        <a:rPr lang="en-US" sz="1800" b="1" dirty="0">
                          <a:solidFill>
                            <a:schemeClr val="bg1"/>
                          </a:solidFill>
                        </a:rPr>
                        <a:t>Bajo coste</a:t>
                      </a:r>
                      <a:endParaRPr lang="en-US" sz="1800" dirty="0"/>
                    </a:p>
                    <a:p>
                      <a:pPr algn="ctr" indent="0" marL="0">
                        <a:buNone/>
                      </a:pPr>
                      <a:r>
                        <a:rPr lang="en-US" sz="1800" b="1" dirty="0">
                          <a:solidFill>
                            <a:schemeClr val="bg1"/>
                          </a:solidFill>
                        </a:rPr>
                        <a:t>20 %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4"/>
                    </a:solidFill>
                  </a:tcPr>
                </a:tc>
                <a:tc>
                  <a:txBody>
                    <a:bodyPr/>
                    <a:lstStyle/>
                    <a:p>
                      <a:pPr algn="ctr" indent="0" marL="0">
                        <a:buNone/>
                      </a:pPr>
                      <a:r>
                        <a:rPr lang="en-US" sz="1800" b="1" dirty="0">
                          <a:solidFill>
                            <a:schemeClr val="bg1"/>
                          </a:solidFill>
                        </a:rPr>
                        <a:t>Originalidad</a:t>
                      </a:r>
                      <a:endParaRPr lang="en-US" sz="1800" dirty="0"/>
                    </a:p>
                    <a:p>
                      <a:pPr algn="ctr" indent="0" marL="0">
                        <a:buNone/>
                      </a:pPr>
                      <a:r>
                        <a:rPr lang="en-US" sz="1800" b="1" dirty="0">
                          <a:solidFill>
                            <a:schemeClr val="bg1"/>
                          </a:solidFill>
                        </a:rPr>
                        <a:t>15 %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3"/>
                    </a:solidFill>
                  </a:tcPr>
                </a:tc>
                <a:tc>
                  <a:txBody>
                    <a:bodyPr/>
                    <a:lstStyle/>
                    <a:p>
                      <a:pPr algn="ctr" indent="0" marL="0">
                        <a:buNone/>
                      </a:pPr>
                      <a:r>
                        <a:rPr lang="en-US" sz="1800" b="1" dirty="0">
                          <a:solidFill>
                            <a:schemeClr val="bg1"/>
                          </a:solidFill>
                        </a:rPr>
                        <a:t>Resultado</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r>
              <a:tr h="640080">
                <a:tc>
                  <a:txBody>
                    <a:bodyPr/>
                    <a:lstStyle/>
                    <a:p>
                      <a:pPr indent="0" marL="0">
                        <a:buNone/>
                      </a:pPr>
                      <a:r>
                        <a:rPr lang="en-US" sz="1800" b="1" dirty="0">
                          <a:solidFill>
                            <a:schemeClr val="tx1"/>
                          </a:solidFill>
                        </a:rPr>
                        <a:t>Formulario digital</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5</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5</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3</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2200" b="1" dirty="0">
                          <a:solidFill>
                            <a:schemeClr val="accent5"/>
                          </a:solidFill>
                        </a:rPr>
                        <a:t>?</a:t>
                      </a:r>
                      <a:endParaRPr lang="en-US" sz="22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r h="640080">
                <a:tc>
                  <a:txBody>
                    <a:bodyPr/>
                    <a:lstStyle/>
                    <a:p>
                      <a:pPr indent="0" marL="0">
                        <a:buNone/>
                      </a:pPr>
                      <a:r>
                        <a:rPr lang="en-US" sz="1800" b="1" dirty="0">
                          <a:solidFill>
                            <a:schemeClr val="tx1"/>
                          </a:solidFill>
                        </a:rPr>
                        <a:t>Chatbot informativo</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3</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2</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2200" b="1" dirty="0">
                          <a:solidFill>
                            <a:schemeClr val="accent5"/>
                          </a:solidFill>
                        </a:rPr>
                        <a:t>?</a:t>
                      </a:r>
                      <a:endParaRPr lang="en-US" sz="22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r h="640080">
                <a:tc>
                  <a:txBody>
                    <a:bodyPr/>
                    <a:lstStyle/>
                    <a:p>
                      <a:pPr indent="0" marL="0">
                        <a:buNone/>
                      </a:pPr>
                      <a:r>
                        <a:rPr lang="en-US" sz="1800" b="1" dirty="0">
                          <a:solidFill>
                            <a:schemeClr val="tx1"/>
                          </a:solidFill>
                        </a:rPr>
                        <a:t>Panel de seguimiento</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5</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3</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2200" b="1" dirty="0">
                          <a:solidFill>
                            <a:schemeClr val="accent5"/>
                          </a:solidFill>
                        </a:rPr>
                        <a:t>?</a:t>
                      </a:r>
                      <a:endParaRPr lang="en-US" sz="22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bl>
          </a:graphicData>
        </a:graphic>
      </p:graphicFrame>
      <p:sp>
        <p:nvSpPr>
          <p:cNvPr id="7" name="Tarjeta"/>
          <p:cNvSpPr/>
          <p:nvPr/>
        </p:nvSpPr>
        <p:spPr>
          <a:xfrm>
            <a:off x="548640" y="4983480"/>
            <a:ext cx="11094415" cy="960120"/>
          </a:xfrm>
          <a:prstGeom prst="roundRect">
            <a:avLst>
              <a:gd name="adj" fmla="val 14286"/>
            </a:avLst>
          </a:prstGeom>
          <a:solidFill>
            <a:schemeClr val="bg2"/>
          </a:solidFill>
          <a:ln/>
        </p:spPr>
      </p:sp>
      <p:sp>
        <p:nvSpPr>
          <p:cNvPr id="8" name="Calculadora"/>
          <p:cNvSpPr/>
          <p:nvPr/>
        </p:nvSpPr>
        <p:spPr>
          <a:xfrm>
            <a:off x="822960" y="5138928"/>
            <a:ext cx="640080" cy="640080"/>
          </a:xfrm>
          <a:prstGeom prst="ellipse">
            <a:avLst/>
          </a:prstGeom>
          <a:solidFill>
            <a:schemeClr val="accent1"/>
          </a:solidFill>
          <a:ln/>
        </p:spPr>
      </p:sp>
      <p:pic>
        <p:nvPicPr>
          <p:cNvPr id="9" name="Image 0" descr="Calculadora">    </p:cNvPr>
          <p:cNvPicPr>
            <a:picLocks noChangeAspect="1"/>
          </p:cNvPicPr>
          <p:nvPr/>
        </p:nvPicPr>
        <p:blipFill>
          <a:blip r:embed="rId1"/>
          <a:stretch>
            <a:fillRect/>
          </a:stretch>
        </p:blipFill>
        <p:spPr>
          <a:xfrm>
            <a:off x="976579" y="5292547"/>
            <a:ext cx="332842" cy="332842"/>
          </a:xfrm>
          <a:prstGeom prst="rect">
            <a:avLst/>
          </a:prstGeom>
        </p:spPr>
      </p:pic>
      <p:sp>
        <p:nvSpPr>
          <p:cNvPr id="10" name="Text 6"/>
          <p:cNvSpPr txBox="1"/>
          <p:nvPr/>
        </p:nvSpPr>
        <p:spPr>
          <a:xfrm>
            <a:off x="1645920" y="4983480"/>
            <a:ext cx="9722815" cy="960120"/>
          </a:xfrm>
          <a:prstGeom prst="rect">
            <a:avLst/>
          </a:prstGeom>
          <a:noFill/>
          <a:ln/>
        </p:spPr>
        <p:txBody>
          <a:bodyPr wrap="square" lIns="0" tIns="0" rIns="0" bIns="0" rtlCol="0" anchor="ctr"/>
          <a:lstStyle/>
          <a:p>
            <a:pPr indent="0" marL="0">
              <a:buNone/>
            </a:pPr>
            <a:r>
              <a:rPr lang="en-US" sz="2000" b="1" dirty="0">
                <a:solidFill>
                  <a:schemeClr val="tx1"/>
                </a:solidFill>
              </a:rPr>
              <a:t>Impacto × 0,35  +  Viabilidad × 0,30  +  Bajo coste × 0,20  +  Originalidad × 0,15</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Los resultados</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algn="ctr" indent="0" marL="0">
              <a:buNone/>
            </a:pPr>
            <a:r>
              <a:rPr lang="en-US" sz="1400" b="1" dirty="0">
                <a:solidFill>
                  <a:schemeClr val="tx1"/>
                </a:solidFill>
              </a:rPr>
              <a:t>Min. 105–113</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47695"/>
                <a:gridCol w="1645920"/>
                <a:gridCol w="1645920"/>
                <a:gridCol w="1645920"/>
                <a:gridCol w="1645920"/>
                <a:gridCol w="1463040"/>
              </a:tblGrid>
              <a:tr h="777240">
                <a:tc>
                  <a:txBody>
                    <a:bodyPr/>
                    <a:lstStyle/>
                    <a:p>
                      <a:pPr algn="ctr" indent="0" marL="0">
                        <a:buNone/>
                      </a:pPr>
                      <a:r>
                        <a:rPr lang="en-US" sz="1800" b="1" dirty="0">
                          <a:solidFill>
                            <a:schemeClr val="bg1"/>
                          </a:solidFill>
                        </a:rPr>
                        <a:t>Propuesta</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tx1"/>
                          </a:solidFill>
                        </a:rPr>
                        <a:t>Impacto</a:t>
                      </a:r>
                      <a:endParaRPr lang="en-US" sz="1800" dirty="0"/>
                    </a:p>
                    <a:p>
                      <a:pPr algn="ctr" indent="0" marL="0">
                        <a:buNone/>
                      </a:pPr>
                      <a:r>
                        <a:rPr lang="en-US" sz="1800" b="1" dirty="0">
                          <a:solidFill>
                            <a:schemeClr val="tx1"/>
                          </a:solidFill>
                        </a:rPr>
                        <a:t>35 %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algn="ctr" indent="0" marL="0">
                        <a:buNone/>
                      </a:pPr>
                      <a:r>
                        <a:rPr lang="en-US" sz="1800" b="1" dirty="0">
                          <a:solidFill>
                            <a:schemeClr val="bg1"/>
                          </a:solidFill>
                        </a:rPr>
                        <a:t>Viabilidad</a:t>
                      </a:r>
                      <a:endParaRPr lang="en-US" sz="1800" dirty="0"/>
                    </a:p>
                    <a:p>
                      <a:pPr algn="ctr" indent="0" marL="0">
                        <a:buNone/>
                      </a:pPr>
                      <a:r>
                        <a:rPr lang="en-US" sz="1800" b="1" dirty="0">
                          <a:solidFill>
                            <a:schemeClr val="bg1"/>
                          </a:solidFill>
                        </a:rPr>
                        <a:t>30 %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2"/>
                    </a:solidFill>
                  </a:tcPr>
                </a:tc>
                <a:tc>
                  <a:txBody>
                    <a:bodyPr/>
                    <a:lstStyle/>
                    <a:p>
                      <a:pPr algn="ctr" indent="0" marL="0">
                        <a:buNone/>
                      </a:pPr>
                      <a:r>
                        <a:rPr lang="en-US" sz="1800" b="1" dirty="0">
                          <a:solidFill>
                            <a:schemeClr val="bg1"/>
                          </a:solidFill>
                        </a:rPr>
                        <a:t>Bajo coste</a:t>
                      </a:r>
                      <a:endParaRPr lang="en-US" sz="1800" dirty="0"/>
                    </a:p>
                    <a:p>
                      <a:pPr algn="ctr" indent="0" marL="0">
                        <a:buNone/>
                      </a:pPr>
                      <a:r>
                        <a:rPr lang="en-US" sz="1800" b="1" dirty="0">
                          <a:solidFill>
                            <a:schemeClr val="bg1"/>
                          </a:solidFill>
                        </a:rPr>
                        <a:t>20 %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4"/>
                    </a:solidFill>
                  </a:tcPr>
                </a:tc>
                <a:tc>
                  <a:txBody>
                    <a:bodyPr/>
                    <a:lstStyle/>
                    <a:p>
                      <a:pPr algn="ctr" indent="0" marL="0">
                        <a:buNone/>
                      </a:pPr>
                      <a:r>
                        <a:rPr lang="en-US" sz="1800" b="1" dirty="0">
                          <a:solidFill>
                            <a:schemeClr val="bg1"/>
                          </a:solidFill>
                        </a:rPr>
                        <a:t>Originalidad</a:t>
                      </a:r>
                      <a:endParaRPr lang="en-US" sz="1800" dirty="0"/>
                    </a:p>
                    <a:p>
                      <a:pPr algn="ctr" indent="0" marL="0">
                        <a:buNone/>
                      </a:pPr>
                      <a:r>
                        <a:rPr lang="en-US" sz="1800" b="1" dirty="0">
                          <a:solidFill>
                            <a:schemeClr val="bg1"/>
                          </a:solidFill>
                        </a:rPr>
                        <a:t>15 %</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3"/>
                    </a:solidFill>
                  </a:tcPr>
                </a:tc>
                <a:tc>
                  <a:txBody>
                    <a:bodyPr/>
                    <a:lstStyle/>
                    <a:p>
                      <a:pPr algn="ctr" indent="0" marL="0">
                        <a:buNone/>
                      </a:pPr>
                      <a:r>
                        <a:rPr lang="en-US" sz="1800" b="1" dirty="0">
                          <a:solidFill>
                            <a:schemeClr val="bg1"/>
                          </a:solidFill>
                        </a:rPr>
                        <a:t>Resultado</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r>
              <a:tr h="640080">
                <a:tc>
                  <a:txBody>
                    <a:bodyPr/>
                    <a:lstStyle/>
                    <a:p>
                      <a:pPr indent="0" marL="0">
                        <a:buNone/>
                      </a:pPr>
                      <a:r>
                        <a:rPr lang="en-US" sz="1800" b="1" dirty="0">
                          <a:solidFill>
                            <a:schemeClr val="tx1"/>
                          </a:solidFill>
                        </a:rPr>
                        <a:t>Formulario digital</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5</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5</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3</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2200" b="1" dirty="0">
                          <a:solidFill>
                            <a:schemeClr val="accent3"/>
                          </a:solidFill>
                        </a:rPr>
                        <a:t>4,35</a:t>
                      </a:r>
                      <a:endParaRPr lang="en-US" sz="22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r h="640080">
                <a:tc>
                  <a:txBody>
                    <a:bodyPr/>
                    <a:lstStyle/>
                    <a:p>
                      <a:pPr indent="0" marL="0">
                        <a:buNone/>
                      </a:pPr>
                      <a:r>
                        <a:rPr lang="en-US" sz="1800" b="1" dirty="0">
                          <a:solidFill>
                            <a:schemeClr val="tx1"/>
                          </a:solidFill>
                        </a:rPr>
                        <a:t>Chatbot informativo</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3</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2</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2200" b="1" dirty="0">
                          <a:solidFill>
                            <a:schemeClr val="accent3"/>
                          </a:solidFill>
                        </a:rPr>
                        <a:t>3,30</a:t>
                      </a:r>
                      <a:endParaRPr lang="en-US" sz="22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r h="640080">
                <a:tc>
                  <a:txBody>
                    <a:bodyPr/>
                    <a:lstStyle/>
                    <a:p>
                      <a:pPr indent="0" marL="0">
                        <a:buNone/>
                      </a:pPr>
                      <a:r>
                        <a:rPr lang="en-US" sz="1800" b="1" dirty="0">
                          <a:solidFill>
                            <a:schemeClr val="tx1"/>
                          </a:solidFill>
                        </a:rPr>
                        <a:t>Panel de seguimiento</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5</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4</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1800" dirty="0">
                          <a:solidFill>
                            <a:schemeClr val="tx1"/>
                          </a:solidFill>
                        </a:rPr>
                        <a:t>3</a:t>
                      </a:r>
                      <a:endParaRPr lang="en-US" sz="18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algn="ctr" indent="0" marL="0">
                        <a:buNone/>
                      </a:pPr>
                      <a:r>
                        <a:rPr lang="en-US" sz="2200" b="1" dirty="0">
                          <a:solidFill>
                            <a:schemeClr val="accent3"/>
                          </a:solidFill>
                        </a:rPr>
                        <a:t>4,20</a:t>
                      </a:r>
                      <a:endParaRPr lang="en-US" sz="2200" dirty="0"/>
                    </a:p>
                  </a:txBody>
                  <a:tcPr marL="91440" marR="91440"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bl>
          </a:graphicData>
        </a:graphic>
      </p:graphicFrame>
      <p:sp>
        <p:nvSpPr>
          <p:cNvPr id="6" name="Text 3"/>
          <p:cNvSpPr txBox="1"/>
          <p:nvPr/>
        </p:nvSpPr>
        <p:spPr>
          <a:xfrm>
            <a:off x="548640" y="4434840"/>
            <a:ext cx="11094415" cy="411480"/>
          </a:xfrm>
          <a:prstGeom prst="rect">
            <a:avLst/>
          </a:prstGeom>
          <a:noFill/>
          <a:ln/>
        </p:spPr>
        <p:txBody>
          <a:bodyPr wrap="square" lIns="0" tIns="0" rIns="0" bIns="0" rtlCol="0" anchor="ctr"/>
          <a:lstStyle/>
          <a:p>
            <a:pPr indent="0" marL="0">
              <a:buNone/>
            </a:pPr>
            <a:r>
              <a:rPr lang="en-US" sz="1700" b="1" dirty="0">
                <a:solidFill>
                  <a:schemeClr val="tx2"/>
                </a:solidFill>
              </a:rPr>
              <a:t>Ejemplo, el formulario digital:</a:t>
            </a:r>
            <a:endParaRPr lang="en-US" sz="1700" dirty="0"/>
          </a:p>
        </p:txBody>
      </p:sp>
      <p:sp>
        <p:nvSpPr>
          <p:cNvPr id="7" name="Tarjeta"/>
          <p:cNvSpPr/>
          <p:nvPr/>
        </p:nvSpPr>
        <p:spPr>
          <a:xfrm>
            <a:off x="548640" y="4937760"/>
            <a:ext cx="1965960" cy="868680"/>
          </a:xfrm>
          <a:prstGeom prst="roundRect">
            <a:avLst>
              <a:gd name="adj" fmla="val 15789"/>
            </a:avLst>
          </a:prstGeom>
          <a:solidFill>
            <a:schemeClr val="bg2"/>
          </a:solidFill>
          <a:ln/>
        </p:spPr>
      </p:sp>
      <p:sp>
        <p:nvSpPr>
          <p:cNvPr id="8" name="Text 5"/>
          <p:cNvSpPr txBox="1"/>
          <p:nvPr/>
        </p:nvSpPr>
        <p:spPr>
          <a:xfrm>
            <a:off x="548640" y="4937760"/>
            <a:ext cx="1965960" cy="868680"/>
          </a:xfrm>
          <a:prstGeom prst="rect">
            <a:avLst/>
          </a:prstGeom>
          <a:noFill/>
          <a:ln/>
        </p:spPr>
        <p:txBody>
          <a:bodyPr wrap="square" lIns="0" tIns="0" rIns="0" bIns="0" rtlCol="0" anchor="ctr"/>
          <a:lstStyle/>
          <a:p>
            <a:pPr algn="ctr" indent="0" marL="0">
              <a:buNone/>
            </a:pPr>
            <a:r>
              <a:rPr lang="en-US" sz="1800" dirty="0">
                <a:solidFill>
                  <a:schemeClr val="tx1"/>
                </a:solidFill>
              </a:rPr>
              <a:t>4 × 0,35 = </a:t>
            </a:r>
            <a:pPr algn="ctr" indent="0" marL="0">
              <a:buNone/>
            </a:pPr>
            <a:r>
              <a:rPr lang="en-US" sz="1800" b="1" dirty="0">
                <a:solidFill>
                  <a:schemeClr val="tx1"/>
                </a:solidFill>
              </a:rPr>
              <a:t>1,40</a:t>
            </a:r>
            <a:endParaRPr lang="en-US" sz="1800" dirty="0"/>
          </a:p>
        </p:txBody>
      </p:sp>
      <p:sp>
        <p:nvSpPr>
          <p:cNvPr id="9" name="Text 6"/>
          <p:cNvSpPr txBox="1"/>
          <p:nvPr/>
        </p:nvSpPr>
        <p:spPr>
          <a:xfrm>
            <a:off x="2514600" y="4937760"/>
            <a:ext cx="411480" cy="86868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0" name="Tarjeta"/>
          <p:cNvSpPr/>
          <p:nvPr/>
        </p:nvSpPr>
        <p:spPr>
          <a:xfrm>
            <a:off x="2926080" y="4937760"/>
            <a:ext cx="1965960" cy="868680"/>
          </a:xfrm>
          <a:prstGeom prst="roundRect">
            <a:avLst>
              <a:gd name="adj" fmla="val 15789"/>
            </a:avLst>
          </a:prstGeom>
          <a:solidFill>
            <a:schemeClr val="bg2"/>
          </a:solidFill>
          <a:ln/>
        </p:spPr>
      </p:sp>
      <p:sp>
        <p:nvSpPr>
          <p:cNvPr id="11" name="Text 8"/>
          <p:cNvSpPr txBox="1"/>
          <p:nvPr/>
        </p:nvSpPr>
        <p:spPr>
          <a:xfrm>
            <a:off x="2926080" y="4937760"/>
            <a:ext cx="1965960" cy="868680"/>
          </a:xfrm>
          <a:prstGeom prst="rect">
            <a:avLst/>
          </a:prstGeom>
          <a:noFill/>
          <a:ln/>
        </p:spPr>
        <p:txBody>
          <a:bodyPr wrap="square" lIns="0" tIns="0" rIns="0" bIns="0" rtlCol="0" anchor="ctr"/>
          <a:lstStyle/>
          <a:p>
            <a:pPr algn="ctr" indent="0" marL="0">
              <a:buNone/>
            </a:pPr>
            <a:r>
              <a:rPr lang="en-US" sz="1800" dirty="0">
                <a:solidFill>
                  <a:schemeClr val="tx1"/>
                </a:solidFill>
              </a:rPr>
              <a:t>5 × 0,30 = </a:t>
            </a:r>
            <a:pPr algn="ctr" indent="0" marL="0">
              <a:buNone/>
            </a:pPr>
            <a:r>
              <a:rPr lang="en-US" sz="1800" b="1" dirty="0">
                <a:solidFill>
                  <a:schemeClr val="tx1"/>
                </a:solidFill>
              </a:rPr>
              <a:t>1,50</a:t>
            </a:r>
            <a:endParaRPr lang="en-US" sz="1800" dirty="0"/>
          </a:p>
        </p:txBody>
      </p:sp>
      <p:sp>
        <p:nvSpPr>
          <p:cNvPr id="12" name="Text 9"/>
          <p:cNvSpPr txBox="1"/>
          <p:nvPr/>
        </p:nvSpPr>
        <p:spPr>
          <a:xfrm>
            <a:off x="4892040" y="4937760"/>
            <a:ext cx="411480" cy="86868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3" name="Tarjeta"/>
          <p:cNvSpPr/>
          <p:nvPr/>
        </p:nvSpPr>
        <p:spPr>
          <a:xfrm>
            <a:off x="5303520" y="4937760"/>
            <a:ext cx="1965960" cy="868680"/>
          </a:xfrm>
          <a:prstGeom prst="roundRect">
            <a:avLst>
              <a:gd name="adj" fmla="val 15789"/>
            </a:avLst>
          </a:prstGeom>
          <a:solidFill>
            <a:schemeClr val="bg2"/>
          </a:solidFill>
          <a:ln/>
        </p:spPr>
      </p:sp>
      <p:sp>
        <p:nvSpPr>
          <p:cNvPr id="14" name="Text 11"/>
          <p:cNvSpPr txBox="1"/>
          <p:nvPr/>
        </p:nvSpPr>
        <p:spPr>
          <a:xfrm>
            <a:off x="5303520" y="4937760"/>
            <a:ext cx="1965960" cy="868680"/>
          </a:xfrm>
          <a:prstGeom prst="rect">
            <a:avLst/>
          </a:prstGeom>
          <a:noFill/>
          <a:ln/>
        </p:spPr>
        <p:txBody>
          <a:bodyPr wrap="square" lIns="0" tIns="0" rIns="0" bIns="0" rtlCol="0" anchor="ctr"/>
          <a:lstStyle/>
          <a:p>
            <a:pPr algn="ctr" indent="0" marL="0">
              <a:buNone/>
            </a:pPr>
            <a:r>
              <a:rPr lang="en-US" sz="1800" dirty="0">
                <a:solidFill>
                  <a:schemeClr val="tx1"/>
                </a:solidFill>
              </a:rPr>
              <a:t>5 × 0,20 = </a:t>
            </a:r>
            <a:pPr algn="ctr" indent="0" marL="0">
              <a:buNone/>
            </a:pPr>
            <a:r>
              <a:rPr lang="en-US" sz="1800" b="1" dirty="0">
                <a:solidFill>
                  <a:schemeClr val="tx1"/>
                </a:solidFill>
              </a:rPr>
              <a:t>1,00</a:t>
            </a:r>
            <a:endParaRPr lang="en-US" sz="1800" dirty="0"/>
          </a:p>
        </p:txBody>
      </p:sp>
      <p:sp>
        <p:nvSpPr>
          <p:cNvPr id="15" name="Text 12"/>
          <p:cNvSpPr txBox="1"/>
          <p:nvPr/>
        </p:nvSpPr>
        <p:spPr>
          <a:xfrm>
            <a:off x="7269480" y="4937760"/>
            <a:ext cx="411480" cy="86868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6" name="Tarjeta"/>
          <p:cNvSpPr/>
          <p:nvPr/>
        </p:nvSpPr>
        <p:spPr>
          <a:xfrm>
            <a:off x="7680960" y="4937760"/>
            <a:ext cx="1965960" cy="868680"/>
          </a:xfrm>
          <a:prstGeom prst="roundRect">
            <a:avLst>
              <a:gd name="adj" fmla="val 15789"/>
            </a:avLst>
          </a:prstGeom>
          <a:solidFill>
            <a:schemeClr val="bg2"/>
          </a:solidFill>
          <a:ln/>
        </p:spPr>
      </p:sp>
      <p:sp>
        <p:nvSpPr>
          <p:cNvPr id="17" name="Text 14"/>
          <p:cNvSpPr txBox="1"/>
          <p:nvPr/>
        </p:nvSpPr>
        <p:spPr>
          <a:xfrm>
            <a:off x="7680960" y="4937760"/>
            <a:ext cx="1965960" cy="868680"/>
          </a:xfrm>
          <a:prstGeom prst="rect">
            <a:avLst/>
          </a:prstGeom>
          <a:noFill/>
          <a:ln/>
        </p:spPr>
        <p:txBody>
          <a:bodyPr wrap="square" lIns="0" tIns="0" rIns="0" bIns="0" rtlCol="0" anchor="ctr"/>
          <a:lstStyle/>
          <a:p>
            <a:pPr algn="ctr" indent="0" marL="0">
              <a:buNone/>
            </a:pPr>
            <a:r>
              <a:rPr lang="en-US" sz="1800" dirty="0">
                <a:solidFill>
                  <a:schemeClr val="tx1"/>
                </a:solidFill>
              </a:rPr>
              <a:t>3 × 0,15 = </a:t>
            </a:r>
            <a:pPr algn="ctr" indent="0" marL="0">
              <a:buNone/>
            </a:pPr>
            <a:r>
              <a:rPr lang="en-US" sz="1800" b="1" dirty="0">
                <a:solidFill>
                  <a:schemeClr val="tx1"/>
                </a:solidFill>
              </a:rPr>
              <a:t>0,45</a:t>
            </a:r>
            <a:endParaRPr lang="en-US" sz="1800" dirty="0"/>
          </a:p>
        </p:txBody>
      </p:sp>
      <p:sp>
        <p:nvSpPr>
          <p:cNvPr id="18" name="Text 15"/>
          <p:cNvSpPr txBox="1"/>
          <p:nvPr/>
        </p:nvSpPr>
        <p:spPr>
          <a:xfrm>
            <a:off x="9646920" y="4937760"/>
            <a:ext cx="411480" cy="86868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9" name="Resultado"/>
          <p:cNvSpPr/>
          <p:nvPr/>
        </p:nvSpPr>
        <p:spPr>
          <a:xfrm>
            <a:off x="10058400" y="4937760"/>
            <a:ext cx="1584655" cy="868680"/>
          </a:xfrm>
          <a:prstGeom prst="roundRect">
            <a:avLst>
              <a:gd name="adj" fmla="val 15789"/>
            </a:avLst>
          </a:prstGeom>
          <a:solidFill>
            <a:schemeClr val="accent3"/>
          </a:solidFill>
          <a:ln/>
        </p:spPr>
      </p:sp>
      <p:sp>
        <p:nvSpPr>
          <p:cNvPr id="20" name="Text 17"/>
          <p:cNvSpPr txBox="1"/>
          <p:nvPr/>
        </p:nvSpPr>
        <p:spPr>
          <a:xfrm>
            <a:off x="10058400" y="4937760"/>
            <a:ext cx="1584655" cy="868680"/>
          </a:xfrm>
          <a:prstGeom prst="rect">
            <a:avLst/>
          </a:prstGeom>
          <a:noFill/>
          <a:ln/>
        </p:spPr>
        <p:txBody>
          <a:bodyPr wrap="square" lIns="0" tIns="0" rIns="0" bIns="0" rtlCol="0" anchor="ctr"/>
          <a:lstStyle/>
          <a:p>
            <a:pPr algn="ctr" indent="0" marL="0">
              <a:buNone/>
            </a:pPr>
            <a:r>
              <a:rPr lang="en-US" sz="2600" b="1" dirty="0">
                <a:solidFill>
                  <a:schemeClr val="bg1"/>
                </a:solidFill>
              </a:rPr>
              <a:t>4,35</a:t>
            </a:r>
            <a:endParaRPr lang="en-US" sz="2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fórmula en Excel o Google Sheets</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algn="ctr" indent="0" marL="0">
              <a:buNone/>
            </a:pPr>
            <a:r>
              <a:rPr lang="en-US" sz="1400" b="1" dirty="0">
                <a:solidFill>
                  <a:schemeClr val="tx1"/>
                </a:solidFill>
              </a:rPr>
              <a:t>Min. 105–113</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900" dirty="0">
                <a:solidFill>
                  <a:schemeClr val="tx2"/>
                </a:solidFill>
              </a:rPr>
              <a:t>Si las puntuaciones están en las columnas B a E, en la celda F2:</a:t>
            </a:r>
            <a:endParaRPr lang="en-US" sz="1900" dirty="0"/>
          </a:p>
        </p:txBody>
      </p:sp>
      <p:sp>
        <p:nvSpPr>
          <p:cNvPr id="6" name="Fórmula"/>
          <p:cNvSpPr/>
          <p:nvPr/>
        </p:nvSpPr>
        <p:spPr>
          <a:xfrm>
            <a:off x="548640" y="2011680"/>
            <a:ext cx="11094415" cy="1188720"/>
          </a:xfrm>
          <a:prstGeom prst="roundRect">
            <a:avLst>
              <a:gd name="adj" fmla="val 9231"/>
            </a:avLst>
          </a:prstGeom>
          <a:solidFill>
            <a:schemeClr val="tx1"/>
          </a:solidFill>
          <a:ln/>
        </p:spPr>
      </p:sp>
      <p:sp>
        <p:nvSpPr>
          <p:cNvPr id="7" name="Text 5"/>
          <p:cNvSpPr txBox="1"/>
          <p:nvPr/>
        </p:nvSpPr>
        <p:spPr>
          <a:xfrm>
            <a:off x="548640" y="2011680"/>
            <a:ext cx="11094415" cy="1188720"/>
          </a:xfrm>
          <a:prstGeom prst="rect">
            <a:avLst/>
          </a:prstGeom>
          <a:noFill/>
          <a:ln/>
        </p:spPr>
        <p:txBody>
          <a:bodyPr wrap="square" lIns="0" tIns="0" rIns="0" bIns="0" rtlCol="0" anchor="ctr"/>
          <a:lstStyle/>
          <a:p>
            <a:pPr algn="ctr" indent="0" marL="0">
              <a:buNone/>
            </a:pPr>
            <a:r>
              <a:rPr lang="en-US" sz="3600" b="1" dirty="0">
                <a:solidFill>
                  <a:schemeClr val="accent1"/>
                </a:solidFill>
                <a:latin typeface="Courier New" pitchFamily="34" charset="0"/>
                <a:ea typeface="Courier New" pitchFamily="34" charset="-122"/>
                <a:cs typeface="Courier New" pitchFamily="34" charset="-120"/>
              </a:rPr>
              <a:t>=B2*35%+C2*30%+D2*20%+E2*15%</a:t>
            </a:r>
            <a:endParaRPr lang="en-US" sz="3600" dirty="0"/>
          </a:p>
        </p:txBody>
      </p:sp>
      <p:sp>
        <p:nvSpPr>
          <p:cNvPr id="8" name="Columna B"/>
          <p:cNvSpPr/>
          <p:nvPr/>
        </p:nvSpPr>
        <p:spPr>
          <a:xfrm>
            <a:off x="548640" y="3474720"/>
            <a:ext cx="2567864" cy="822960"/>
          </a:xfrm>
          <a:prstGeom prst="roundRect">
            <a:avLst>
              <a:gd name="adj" fmla="val 13333"/>
            </a:avLst>
          </a:prstGeom>
          <a:solidFill>
            <a:schemeClr val="accent1"/>
          </a:solidFill>
          <a:ln/>
        </p:spPr>
      </p:sp>
      <p:sp>
        <p:nvSpPr>
          <p:cNvPr id="9" name="Text 7"/>
          <p:cNvSpPr txBox="1"/>
          <p:nvPr/>
        </p:nvSpPr>
        <p:spPr>
          <a:xfrm>
            <a:off x="548640" y="3474720"/>
            <a:ext cx="2567864" cy="822960"/>
          </a:xfrm>
          <a:prstGeom prst="rect">
            <a:avLst/>
          </a:prstGeom>
          <a:noFill/>
          <a:ln/>
        </p:spPr>
        <p:txBody>
          <a:bodyPr wrap="square" lIns="0" tIns="0" rIns="0" bIns="0" rtlCol="0" anchor="ctr"/>
          <a:lstStyle/>
          <a:p>
            <a:pPr algn="ctr" indent="0" marL="0">
              <a:buNone/>
            </a:pPr>
            <a:r>
              <a:rPr lang="en-US" sz="1800" b="1" dirty="0">
                <a:solidFill>
                  <a:schemeClr val="tx1"/>
                </a:solidFill>
              </a:rPr>
              <a:t>Columna B  </a:t>
            </a:r>
            <a:pPr algn="ctr" indent="0" marL="0">
              <a:buNone/>
            </a:pPr>
            <a:r>
              <a:rPr lang="en-US" sz="1800" dirty="0">
                <a:solidFill>
                  <a:schemeClr val="tx1"/>
                </a:solidFill>
              </a:rPr>
              <a:t>Impacto</a:t>
            </a:r>
            <a:endParaRPr lang="en-US" sz="1800" dirty="0"/>
          </a:p>
        </p:txBody>
      </p:sp>
      <p:sp>
        <p:nvSpPr>
          <p:cNvPr id="10" name="Columna C"/>
          <p:cNvSpPr/>
          <p:nvPr/>
        </p:nvSpPr>
        <p:spPr>
          <a:xfrm>
            <a:off x="3390824" y="3474720"/>
            <a:ext cx="2567864" cy="822960"/>
          </a:xfrm>
          <a:prstGeom prst="roundRect">
            <a:avLst>
              <a:gd name="adj" fmla="val 13333"/>
            </a:avLst>
          </a:prstGeom>
          <a:solidFill>
            <a:schemeClr val="accent2"/>
          </a:solidFill>
          <a:ln/>
        </p:spPr>
      </p:sp>
      <p:sp>
        <p:nvSpPr>
          <p:cNvPr id="11" name="Text 9"/>
          <p:cNvSpPr txBox="1"/>
          <p:nvPr/>
        </p:nvSpPr>
        <p:spPr>
          <a:xfrm>
            <a:off x="3390824" y="3474720"/>
            <a:ext cx="2567864" cy="822960"/>
          </a:xfrm>
          <a:prstGeom prst="rect">
            <a:avLst/>
          </a:prstGeom>
          <a:noFill/>
          <a:ln/>
        </p:spPr>
        <p:txBody>
          <a:bodyPr wrap="square" lIns="0" tIns="0" rIns="0" bIns="0" rtlCol="0" anchor="ctr"/>
          <a:lstStyle/>
          <a:p>
            <a:pPr algn="ctr" indent="0" marL="0">
              <a:buNone/>
            </a:pPr>
            <a:r>
              <a:rPr lang="en-US" sz="1800" b="1" dirty="0">
                <a:solidFill>
                  <a:schemeClr val="bg1"/>
                </a:solidFill>
              </a:rPr>
              <a:t>Columna C  </a:t>
            </a:r>
            <a:pPr algn="ctr" indent="0" marL="0">
              <a:buNone/>
            </a:pPr>
            <a:r>
              <a:rPr lang="en-US" sz="1800" dirty="0">
                <a:solidFill>
                  <a:schemeClr val="bg1"/>
                </a:solidFill>
              </a:rPr>
              <a:t>Viabilidad</a:t>
            </a:r>
            <a:endParaRPr lang="en-US" sz="1800" dirty="0"/>
          </a:p>
        </p:txBody>
      </p:sp>
      <p:sp>
        <p:nvSpPr>
          <p:cNvPr id="12" name="Columna D"/>
          <p:cNvSpPr/>
          <p:nvPr/>
        </p:nvSpPr>
        <p:spPr>
          <a:xfrm>
            <a:off x="6233008" y="3474720"/>
            <a:ext cx="2567864" cy="822960"/>
          </a:xfrm>
          <a:prstGeom prst="roundRect">
            <a:avLst>
              <a:gd name="adj" fmla="val 13333"/>
            </a:avLst>
          </a:prstGeom>
          <a:solidFill>
            <a:schemeClr val="accent4"/>
          </a:solidFill>
          <a:ln/>
        </p:spPr>
      </p:sp>
      <p:sp>
        <p:nvSpPr>
          <p:cNvPr id="13" name="Text 11"/>
          <p:cNvSpPr txBox="1"/>
          <p:nvPr/>
        </p:nvSpPr>
        <p:spPr>
          <a:xfrm>
            <a:off x="6233008" y="3474720"/>
            <a:ext cx="2567864" cy="822960"/>
          </a:xfrm>
          <a:prstGeom prst="rect">
            <a:avLst/>
          </a:prstGeom>
          <a:noFill/>
          <a:ln/>
        </p:spPr>
        <p:txBody>
          <a:bodyPr wrap="square" lIns="0" tIns="0" rIns="0" bIns="0" rtlCol="0" anchor="ctr"/>
          <a:lstStyle/>
          <a:p>
            <a:pPr algn="ctr" indent="0" marL="0">
              <a:buNone/>
            </a:pPr>
            <a:r>
              <a:rPr lang="en-US" sz="1800" b="1" dirty="0">
                <a:solidFill>
                  <a:schemeClr val="bg1"/>
                </a:solidFill>
              </a:rPr>
              <a:t>Columna D  </a:t>
            </a:r>
            <a:pPr algn="ctr" indent="0" marL="0">
              <a:buNone/>
            </a:pPr>
            <a:r>
              <a:rPr lang="en-US" sz="1800" dirty="0">
                <a:solidFill>
                  <a:schemeClr val="bg1"/>
                </a:solidFill>
              </a:rPr>
              <a:t>Bajo coste</a:t>
            </a:r>
            <a:endParaRPr lang="en-US" sz="1800" dirty="0"/>
          </a:p>
        </p:txBody>
      </p:sp>
      <p:sp>
        <p:nvSpPr>
          <p:cNvPr id="14" name="Columna E"/>
          <p:cNvSpPr/>
          <p:nvPr/>
        </p:nvSpPr>
        <p:spPr>
          <a:xfrm>
            <a:off x="9075191" y="3474720"/>
            <a:ext cx="2567864" cy="822960"/>
          </a:xfrm>
          <a:prstGeom prst="roundRect">
            <a:avLst>
              <a:gd name="adj" fmla="val 13333"/>
            </a:avLst>
          </a:prstGeom>
          <a:solidFill>
            <a:schemeClr val="accent3"/>
          </a:solidFill>
          <a:ln/>
        </p:spPr>
      </p:sp>
      <p:sp>
        <p:nvSpPr>
          <p:cNvPr id="15" name="Text 13"/>
          <p:cNvSpPr txBox="1"/>
          <p:nvPr/>
        </p:nvSpPr>
        <p:spPr>
          <a:xfrm>
            <a:off x="9075191" y="3474720"/>
            <a:ext cx="2567864" cy="822960"/>
          </a:xfrm>
          <a:prstGeom prst="rect">
            <a:avLst/>
          </a:prstGeom>
          <a:noFill/>
          <a:ln/>
        </p:spPr>
        <p:txBody>
          <a:bodyPr wrap="square" lIns="0" tIns="0" rIns="0" bIns="0" rtlCol="0" anchor="ctr"/>
          <a:lstStyle/>
          <a:p>
            <a:pPr algn="ctr" indent="0" marL="0">
              <a:buNone/>
            </a:pPr>
            <a:r>
              <a:rPr lang="en-US" sz="1800" b="1" dirty="0">
                <a:solidFill>
                  <a:schemeClr val="bg1"/>
                </a:solidFill>
              </a:rPr>
              <a:t>Columna E  </a:t>
            </a:r>
            <a:pPr algn="ctr" indent="0" marL="0">
              <a:buNone/>
            </a:pPr>
            <a:r>
              <a:rPr lang="en-US" sz="1800" dirty="0">
                <a:solidFill>
                  <a:schemeClr val="bg1"/>
                </a:solidFill>
              </a:rPr>
              <a:t>Originalidad</a:t>
            </a:r>
            <a:endParaRPr lang="en-US" sz="1800" dirty="0"/>
          </a:p>
        </p:txBody>
      </p:sp>
      <p:sp>
        <p:nvSpPr>
          <p:cNvPr id="16" name="Copiadla hacia abajo para el resto de propuestas."/>
          <p:cNvSpPr/>
          <p:nvPr/>
        </p:nvSpPr>
        <p:spPr>
          <a:xfrm>
            <a:off x="548640" y="4572000"/>
            <a:ext cx="594360" cy="594360"/>
          </a:xfrm>
          <a:prstGeom prst="ellipse">
            <a:avLst/>
          </a:prstGeom>
          <a:solidFill>
            <a:schemeClr val="tx2"/>
          </a:solidFill>
          <a:ln/>
        </p:spPr>
      </p:sp>
      <p:pic>
        <p:nvPicPr>
          <p:cNvPr id="17" name="Image 0" descr="Copiadla hacia abajo para el resto de propuestas.">    </p:cNvPr>
          <p:cNvPicPr>
            <a:picLocks noChangeAspect="1"/>
          </p:cNvPicPr>
          <p:nvPr/>
        </p:nvPicPr>
        <p:blipFill>
          <a:blip r:embed="rId1"/>
          <a:stretch>
            <a:fillRect/>
          </a:stretch>
        </p:blipFill>
        <p:spPr>
          <a:xfrm>
            <a:off x="691286" y="4714646"/>
            <a:ext cx="309067" cy="309067"/>
          </a:xfrm>
          <a:prstGeom prst="rect">
            <a:avLst/>
          </a:prstGeom>
        </p:spPr>
      </p:pic>
      <p:sp>
        <p:nvSpPr>
          <p:cNvPr id="18" name="Text 15"/>
          <p:cNvSpPr txBox="1"/>
          <p:nvPr/>
        </p:nvSpPr>
        <p:spPr>
          <a:xfrm>
            <a:off x="1371600" y="4572000"/>
            <a:ext cx="10058400" cy="594360"/>
          </a:xfrm>
          <a:prstGeom prst="rect">
            <a:avLst/>
          </a:prstGeom>
          <a:noFill/>
          <a:ln/>
        </p:spPr>
        <p:txBody>
          <a:bodyPr wrap="square" lIns="0" tIns="0" rIns="0" bIns="0" rtlCol="0" anchor="ctr"/>
          <a:lstStyle/>
          <a:p>
            <a:pPr indent="0" marL="0">
              <a:buNone/>
            </a:pPr>
            <a:r>
              <a:rPr lang="en-US" sz="1900" dirty="0">
                <a:solidFill>
                  <a:schemeClr val="tx1"/>
                </a:solidFill>
              </a:rPr>
              <a:t>Copiadla hacia abajo para el resto de propuestas.</a:t>
            </a:r>
            <a:endParaRPr lang="en-US" sz="1900" dirty="0"/>
          </a:p>
        </p:txBody>
      </p:sp>
      <p:sp>
        <p:nvSpPr>
          <p:cNvPr id="19" name="Ordenad las propuestas por resultado."/>
          <p:cNvSpPr/>
          <p:nvPr/>
        </p:nvSpPr>
        <p:spPr>
          <a:xfrm>
            <a:off x="548640" y="5349240"/>
            <a:ext cx="594360" cy="594360"/>
          </a:xfrm>
          <a:prstGeom prst="ellipse">
            <a:avLst/>
          </a:prstGeom>
          <a:solidFill>
            <a:schemeClr val="tx2"/>
          </a:solidFill>
          <a:ln/>
        </p:spPr>
      </p:sp>
      <p:pic>
        <p:nvPicPr>
          <p:cNvPr id="20" name="Image 1" descr="Ordenad las propuestas por resultado.">    </p:cNvPr>
          <p:cNvPicPr>
            <a:picLocks noChangeAspect="1"/>
          </p:cNvPicPr>
          <p:nvPr/>
        </p:nvPicPr>
        <p:blipFill>
          <a:blip r:embed="rId2"/>
          <a:stretch>
            <a:fillRect/>
          </a:stretch>
        </p:blipFill>
        <p:spPr>
          <a:xfrm>
            <a:off x="691286" y="5491886"/>
            <a:ext cx="309067" cy="309067"/>
          </a:xfrm>
          <a:prstGeom prst="rect">
            <a:avLst/>
          </a:prstGeom>
        </p:spPr>
      </p:pic>
      <p:sp>
        <p:nvSpPr>
          <p:cNvPr id="21" name="Text 17"/>
          <p:cNvSpPr txBox="1"/>
          <p:nvPr/>
        </p:nvSpPr>
        <p:spPr>
          <a:xfrm>
            <a:off x="1371600" y="5349240"/>
            <a:ext cx="10058400" cy="594360"/>
          </a:xfrm>
          <a:prstGeom prst="rect">
            <a:avLst/>
          </a:prstGeom>
          <a:noFill/>
          <a:ln/>
        </p:spPr>
        <p:txBody>
          <a:bodyPr wrap="square" lIns="0" tIns="0" rIns="0" bIns="0" rtlCol="0" anchor="ctr"/>
          <a:lstStyle/>
          <a:p>
            <a:pPr indent="0" marL="0">
              <a:buNone/>
            </a:pPr>
            <a:r>
              <a:rPr lang="en-US" sz="1900" dirty="0">
                <a:solidFill>
                  <a:schemeClr val="tx1"/>
                </a:solidFill>
              </a:rPr>
              <a:t>Ordenad las propuestas por resultado.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Ejercicio 4: elegir con criterio</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algn="ctr" indent="0" marL="0">
              <a:buNone/>
            </a:pPr>
            <a:r>
              <a:rPr lang="en-US" sz="1400" b="1" dirty="0">
                <a:solidFill>
                  <a:schemeClr val="tx1"/>
                </a:solidFill>
              </a:rPr>
              <a:t>Min. 113–140 · Parejas</a:t>
            </a:r>
            <a:endParaRPr lang="en-US" sz="1400" dirty="0"/>
          </a:p>
        </p:txBody>
      </p:sp>
      <p:sp>
        <p:nvSpPr>
          <p:cNvPr id="5" name="Paso 1"/>
          <p:cNvSpPr/>
          <p:nvPr/>
        </p:nvSpPr>
        <p:spPr>
          <a:xfrm>
            <a:off x="548640" y="1554480"/>
            <a:ext cx="502920" cy="502920"/>
          </a:xfrm>
          <a:prstGeom prst="ellipse">
            <a:avLst/>
          </a:prstGeom>
          <a:solidFill>
            <a:schemeClr val="accent1"/>
          </a:solidFill>
          <a:ln/>
        </p:spPr>
      </p:sp>
      <p:sp>
        <p:nvSpPr>
          <p:cNvPr id="6" name="Text 4"/>
          <p:cNvSpPr txBox="1"/>
          <p:nvPr/>
        </p:nvSpPr>
        <p:spPr>
          <a:xfrm>
            <a:off x="548640" y="15544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Paso 1"/>
          <p:cNvSpPr/>
          <p:nvPr/>
        </p:nvSpPr>
        <p:spPr>
          <a:xfrm>
            <a:off x="1280160" y="1463040"/>
            <a:ext cx="685800" cy="685800"/>
          </a:xfrm>
          <a:prstGeom prst="ellipse">
            <a:avLst/>
          </a:prstGeom>
          <a:solidFill>
            <a:schemeClr val="tx2"/>
          </a:solidFill>
          <a:ln/>
        </p:spPr>
      </p:sp>
      <p:pic>
        <p:nvPicPr>
          <p:cNvPr id="8" name="Image 0" descr="Paso 1">    </p:cNvPr>
          <p:cNvPicPr>
            <a:picLocks noChangeAspect="1"/>
          </p:cNvPicPr>
          <p:nvPr/>
        </p:nvPicPr>
        <p:blipFill>
          <a:blip r:embed="rId1"/>
          <a:stretch>
            <a:fillRect/>
          </a:stretch>
        </p:blipFill>
        <p:spPr>
          <a:xfrm>
            <a:off x="1444752" y="1627632"/>
            <a:ext cx="356616" cy="356616"/>
          </a:xfrm>
          <a:prstGeom prst="rect">
            <a:avLst/>
          </a:prstGeom>
        </p:spPr>
      </p:pic>
      <p:sp>
        <p:nvSpPr>
          <p:cNvPr id="9" name="Text 6"/>
          <p:cNvSpPr txBox="1"/>
          <p:nvPr/>
        </p:nvSpPr>
        <p:spPr>
          <a:xfrm>
            <a:off x="2194560" y="1463040"/>
            <a:ext cx="9448495" cy="685800"/>
          </a:xfrm>
          <a:prstGeom prst="rect">
            <a:avLst/>
          </a:prstGeom>
          <a:noFill/>
          <a:ln/>
        </p:spPr>
        <p:txBody>
          <a:bodyPr wrap="square" lIns="0" tIns="0" rIns="0" bIns="0" rtlCol="0" anchor="ctr"/>
          <a:lstStyle/>
          <a:p>
            <a:pPr indent="0" marL="0">
              <a:buNone/>
            </a:pPr>
            <a:r>
              <a:rPr lang="en-US" sz="1900" dirty="0">
                <a:solidFill>
                  <a:schemeClr val="tx1"/>
                </a:solidFill>
              </a:rPr>
              <a:t>Introducid vuestras tres propuestas del bloque 2 en Excel o Sheets.</a:t>
            </a:r>
            <a:endParaRPr lang="en-US" sz="1900" dirty="0"/>
          </a:p>
        </p:txBody>
      </p:sp>
      <p:sp>
        <p:nvSpPr>
          <p:cNvPr id="10" name="Paso 2"/>
          <p:cNvSpPr/>
          <p:nvPr/>
        </p:nvSpPr>
        <p:spPr>
          <a:xfrm>
            <a:off x="548640" y="2423160"/>
            <a:ext cx="502920" cy="502920"/>
          </a:xfrm>
          <a:prstGeom prst="ellipse">
            <a:avLst/>
          </a:prstGeom>
          <a:solidFill>
            <a:schemeClr val="accent1"/>
          </a:solidFill>
          <a:ln/>
        </p:spPr>
      </p:sp>
      <p:sp>
        <p:nvSpPr>
          <p:cNvPr id="11" name="Text 8"/>
          <p:cNvSpPr txBox="1"/>
          <p:nvPr/>
        </p:nvSpPr>
        <p:spPr>
          <a:xfrm>
            <a:off x="548640" y="24231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Paso 2"/>
          <p:cNvSpPr/>
          <p:nvPr/>
        </p:nvSpPr>
        <p:spPr>
          <a:xfrm>
            <a:off x="1280160" y="2331720"/>
            <a:ext cx="685800" cy="685800"/>
          </a:xfrm>
          <a:prstGeom prst="ellipse">
            <a:avLst/>
          </a:prstGeom>
          <a:solidFill>
            <a:schemeClr val="tx2"/>
          </a:solidFill>
          <a:ln/>
        </p:spPr>
      </p:sp>
      <p:pic>
        <p:nvPicPr>
          <p:cNvPr id="13" name="Image 1" descr="Paso 2">    </p:cNvPr>
          <p:cNvPicPr>
            <a:picLocks noChangeAspect="1"/>
          </p:cNvPicPr>
          <p:nvPr/>
        </p:nvPicPr>
        <p:blipFill>
          <a:blip r:embed="rId2"/>
          <a:stretch>
            <a:fillRect/>
          </a:stretch>
        </p:blipFill>
        <p:spPr>
          <a:xfrm>
            <a:off x="1444752" y="2496312"/>
            <a:ext cx="356616" cy="356616"/>
          </a:xfrm>
          <a:prstGeom prst="rect">
            <a:avLst/>
          </a:prstGeom>
        </p:spPr>
      </p:pic>
      <p:sp>
        <p:nvSpPr>
          <p:cNvPr id="14" name="Text 10"/>
          <p:cNvSpPr txBox="1"/>
          <p:nvPr/>
        </p:nvSpPr>
        <p:spPr>
          <a:xfrm>
            <a:off x="2194560" y="2331720"/>
            <a:ext cx="9448495" cy="685800"/>
          </a:xfrm>
          <a:prstGeom prst="rect">
            <a:avLst/>
          </a:prstGeom>
          <a:noFill/>
          <a:ln/>
        </p:spPr>
        <p:txBody>
          <a:bodyPr wrap="square" lIns="0" tIns="0" rIns="0" bIns="0" rtlCol="0" anchor="ctr"/>
          <a:lstStyle/>
          <a:p>
            <a:pPr indent="0" marL="0">
              <a:buNone/>
            </a:pPr>
            <a:r>
              <a:rPr lang="en-US" sz="1900" dirty="0">
                <a:solidFill>
                  <a:schemeClr val="tx1"/>
                </a:solidFill>
              </a:rPr>
              <a:t>Puntuad cada criterio y calculad el total ponderado.</a:t>
            </a:r>
            <a:endParaRPr lang="en-US" sz="1900" dirty="0"/>
          </a:p>
        </p:txBody>
      </p:sp>
      <p:sp>
        <p:nvSpPr>
          <p:cNvPr id="15" name="Paso 3"/>
          <p:cNvSpPr/>
          <p:nvPr/>
        </p:nvSpPr>
        <p:spPr>
          <a:xfrm>
            <a:off x="548640" y="3291840"/>
            <a:ext cx="502920" cy="502920"/>
          </a:xfrm>
          <a:prstGeom prst="ellipse">
            <a:avLst/>
          </a:prstGeom>
          <a:solidFill>
            <a:schemeClr val="accent1"/>
          </a:solidFill>
          <a:ln/>
        </p:spPr>
      </p:sp>
      <p:sp>
        <p:nvSpPr>
          <p:cNvPr id="16" name="Text 12"/>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7" name="Paso 3"/>
          <p:cNvSpPr/>
          <p:nvPr/>
        </p:nvSpPr>
        <p:spPr>
          <a:xfrm>
            <a:off x="1280160" y="3200400"/>
            <a:ext cx="685800" cy="685800"/>
          </a:xfrm>
          <a:prstGeom prst="ellipse">
            <a:avLst/>
          </a:prstGeom>
          <a:solidFill>
            <a:schemeClr val="tx2"/>
          </a:solidFill>
          <a:ln/>
        </p:spPr>
      </p:sp>
      <p:pic>
        <p:nvPicPr>
          <p:cNvPr id="18" name="Image 2" descr="Paso 3">    </p:cNvPr>
          <p:cNvPicPr>
            <a:picLocks noChangeAspect="1"/>
          </p:cNvPicPr>
          <p:nvPr/>
        </p:nvPicPr>
        <p:blipFill>
          <a:blip r:embed="rId3"/>
          <a:stretch>
            <a:fillRect/>
          </a:stretch>
        </p:blipFill>
        <p:spPr>
          <a:xfrm>
            <a:off x="1444752" y="3364992"/>
            <a:ext cx="356616" cy="356616"/>
          </a:xfrm>
          <a:prstGeom prst="rect">
            <a:avLst/>
          </a:prstGeom>
        </p:spPr>
      </p:pic>
      <p:sp>
        <p:nvSpPr>
          <p:cNvPr id="19" name="Text 14"/>
          <p:cNvSpPr txBox="1"/>
          <p:nvPr/>
        </p:nvSpPr>
        <p:spPr>
          <a:xfrm>
            <a:off x="2194560" y="3200400"/>
            <a:ext cx="9448495" cy="685800"/>
          </a:xfrm>
          <a:prstGeom prst="rect">
            <a:avLst/>
          </a:prstGeom>
          <a:noFill/>
          <a:ln/>
        </p:spPr>
        <p:txBody>
          <a:bodyPr wrap="square" lIns="0" tIns="0" rIns="0" bIns="0" rtlCol="0" anchor="ctr"/>
          <a:lstStyle/>
          <a:p>
            <a:pPr indent="0" marL="0">
              <a:buNone/>
            </a:pPr>
            <a:r>
              <a:rPr lang="en-US" sz="1900" dirty="0">
                <a:solidFill>
                  <a:schemeClr val="tx1"/>
                </a:solidFill>
              </a:rPr>
              <a:t>Ordenad las propuestas por resultado.</a:t>
            </a:r>
            <a:endParaRPr lang="en-US" sz="1900" dirty="0"/>
          </a:p>
        </p:txBody>
      </p:sp>
      <p:sp>
        <p:nvSpPr>
          <p:cNvPr id="20" name="Paso 4"/>
          <p:cNvSpPr/>
          <p:nvPr/>
        </p:nvSpPr>
        <p:spPr>
          <a:xfrm>
            <a:off x="548640" y="4160520"/>
            <a:ext cx="502920" cy="502920"/>
          </a:xfrm>
          <a:prstGeom prst="ellipse">
            <a:avLst/>
          </a:prstGeom>
          <a:solidFill>
            <a:schemeClr val="accent1"/>
          </a:solidFill>
          <a:ln/>
        </p:spPr>
      </p:sp>
      <p:sp>
        <p:nvSpPr>
          <p:cNvPr id="21" name="Text 16"/>
          <p:cNvSpPr txBox="1"/>
          <p:nvPr/>
        </p:nvSpPr>
        <p:spPr>
          <a:xfrm>
            <a:off x="548640" y="41605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Paso 4"/>
          <p:cNvSpPr/>
          <p:nvPr/>
        </p:nvSpPr>
        <p:spPr>
          <a:xfrm>
            <a:off x="1280160" y="4069080"/>
            <a:ext cx="685800" cy="685800"/>
          </a:xfrm>
          <a:prstGeom prst="ellipse">
            <a:avLst/>
          </a:prstGeom>
          <a:solidFill>
            <a:schemeClr val="tx2"/>
          </a:solidFill>
          <a:ln/>
        </p:spPr>
      </p:sp>
      <p:pic>
        <p:nvPicPr>
          <p:cNvPr id="23" name="Image 3" descr="Paso 4">    </p:cNvPr>
          <p:cNvPicPr>
            <a:picLocks noChangeAspect="1"/>
          </p:cNvPicPr>
          <p:nvPr/>
        </p:nvPicPr>
        <p:blipFill>
          <a:blip r:embed="rId4"/>
          <a:stretch>
            <a:fillRect/>
          </a:stretch>
        </p:blipFill>
        <p:spPr>
          <a:xfrm>
            <a:off x="1444752" y="4233672"/>
            <a:ext cx="356616" cy="356616"/>
          </a:xfrm>
          <a:prstGeom prst="rect">
            <a:avLst/>
          </a:prstGeom>
        </p:spPr>
      </p:pic>
      <p:sp>
        <p:nvSpPr>
          <p:cNvPr id="24" name="Text 18"/>
          <p:cNvSpPr txBox="1"/>
          <p:nvPr/>
        </p:nvSpPr>
        <p:spPr>
          <a:xfrm>
            <a:off x="2194560" y="4069080"/>
            <a:ext cx="9448495" cy="685800"/>
          </a:xfrm>
          <a:prstGeom prst="rect">
            <a:avLst/>
          </a:prstGeom>
          <a:noFill/>
          <a:ln/>
        </p:spPr>
        <p:txBody>
          <a:bodyPr wrap="square" lIns="0" tIns="0" rIns="0" bIns="0" rtlCol="0" anchor="ctr"/>
          <a:lstStyle/>
          <a:p>
            <a:pPr indent="0" marL="0">
              <a:buNone/>
            </a:pPr>
            <a:r>
              <a:rPr lang="en-US" sz="1900" dirty="0">
                <a:solidFill>
                  <a:schemeClr val="tx1"/>
                </a:solidFill>
              </a:rPr>
              <a:t>Discutid: ¿la primera os parece de verdad la más adecuada?</a:t>
            </a:r>
            <a:endParaRPr lang="en-US" sz="1900" dirty="0"/>
          </a:p>
        </p:txBody>
      </p:sp>
      <p:sp>
        <p:nvSpPr>
          <p:cNvPr id="25" name="Paso 5"/>
          <p:cNvSpPr/>
          <p:nvPr/>
        </p:nvSpPr>
        <p:spPr>
          <a:xfrm>
            <a:off x="548640" y="5029200"/>
            <a:ext cx="502920" cy="502920"/>
          </a:xfrm>
          <a:prstGeom prst="ellipse">
            <a:avLst/>
          </a:prstGeom>
          <a:solidFill>
            <a:schemeClr val="accent1"/>
          </a:solidFill>
          <a:ln/>
        </p:spPr>
      </p:sp>
      <p:sp>
        <p:nvSpPr>
          <p:cNvPr id="26" name="Text 20"/>
          <p:cNvSpPr txBox="1"/>
          <p:nvPr/>
        </p:nvSpPr>
        <p:spPr>
          <a:xfrm>
            <a:off x="548640" y="50292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7" name="Paso 5"/>
          <p:cNvSpPr/>
          <p:nvPr/>
        </p:nvSpPr>
        <p:spPr>
          <a:xfrm>
            <a:off x="1280160" y="4937760"/>
            <a:ext cx="685800" cy="685800"/>
          </a:xfrm>
          <a:prstGeom prst="ellipse">
            <a:avLst/>
          </a:prstGeom>
          <a:solidFill>
            <a:schemeClr val="tx2"/>
          </a:solidFill>
          <a:ln/>
        </p:spPr>
      </p:sp>
      <p:pic>
        <p:nvPicPr>
          <p:cNvPr id="28" name="Image 4" descr="Paso 5">    </p:cNvPr>
          <p:cNvPicPr>
            <a:picLocks noChangeAspect="1"/>
          </p:cNvPicPr>
          <p:nvPr/>
        </p:nvPicPr>
        <p:blipFill>
          <a:blip r:embed="rId5"/>
          <a:stretch>
            <a:fillRect/>
          </a:stretch>
        </p:blipFill>
        <p:spPr>
          <a:xfrm>
            <a:off x="1444752" y="5102352"/>
            <a:ext cx="356616" cy="356616"/>
          </a:xfrm>
          <a:prstGeom prst="rect">
            <a:avLst/>
          </a:prstGeom>
        </p:spPr>
      </p:pic>
      <p:sp>
        <p:nvSpPr>
          <p:cNvPr id="29" name="Text 22"/>
          <p:cNvSpPr txBox="1"/>
          <p:nvPr/>
        </p:nvSpPr>
        <p:spPr>
          <a:xfrm>
            <a:off x="2194560" y="4937760"/>
            <a:ext cx="9448495" cy="685800"/>
          </a:xfrm>
          <a:prstGeom prst="rect">
            <a:avLst/>
          </a:prstGeom>
          <a:noFill/>
          <a:ln/>
        </p:spPr>
        <p:txBody>
          <a:bodyPr wrap="square" lIns="0" tIns="0" rIns="0" bIns="0" rtlCol="0" anchor="ctr"/>
          <a:lstStyle/>
          <a:p>
            <a:pPr indent="0" marL="0">
              <a:buNone/>
            </a:pPr>
            <a:r>
              <a:rPr lang="en-US" sz="1900" dirty="0">
                <a:solidFill>
                  <a:schemeClr val="tx1"/>
                </a:solidFill>
              </a:rPr>
              <a:t>Cambiad los pesos (sin pasar del 100 %), dando más importancia al coste. ¿Cambia la clasificación?</a:t>
            </a:r>
            <a:endParaRPr lang="en-US" sz="1900" dirty="0"/>
          </a:p>
        </p:txBody>
      </p:sp>
      <p:sp>
        <p:nvSpPr>
          <p:cNvPr id="30" name="Text 23"/>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2200" b="1" dirty="0">
                <a:solidFill>
                  <a:schemeClr val="accent2"/>
                </a:solidFill>
              </a:rPr>
              <a:t>6 y 7  </a:t>
            </a:r>
            <a:pPr indent="0" marL="0">
              <a:buNone/>
            </a:pPr>
            <a:r>
              <a:rPr lang="en-US" sz="1900" b="1" dirty="0">
                <a:solidFill>
                  <a:schemeClr val="accent2"/>
                </a:solidFill>
              </a:rPr>
              <a:t>Después, la IA revisa vuestra matriz y vosotros decidís →</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Paso 6: que la IA revise la matriz</a:t>
            </a:r>
            <a:endParaRPr lang="en-US" sz="3200" dirty="0"/>
          </a:p>
        </p:txBody>
      </p:sp>
      <p:sp>
        <p:nvSpPr>
          <p:cNvPr id="3" name="Etiqueta de tiempo"/>
          <p:cNvSpPr/>
          <p:nvPr/>
        </p:nvSpPr>
        <p:spPr>
          <a:xfrm>
            <a:off x="8977579" y="548640"/>
            <a:ext cx="2665476" cy="457200"/>
          </a:xfrm>
          <a:prstGeom prst="roundRect">
            <a:avLst>
              <a:gd name="adj" fmla="val 50000"/>
            </a:avLst>
          </a:prstGeom>
          <a:solidFill>
            <a:schemeClr val="accent2"/>
          </a:solidFill>
          <a:ln/>
        </p:spPr>
      </p:sp>
      <p:sp>
        <p:nvSpPr>
          <p:cNvPr id="4" name="Text 2"/>
          <p:cNvSpPr txBox="1"/>
          <p:nvPr/>
        </p:nvSpPr>
        <p:spPr>
          <a:xfrm>
            <a:off x="8977579" y="548640"/>
            <a:ext cx="2665476" cy="457200"/>
          </a:xfrm>
          <a:prstGeom prst="rect">
            <a:avLst/>
          </a:prstGeom>
          <a:noFill/>
          <a:ln/>
        </p:spPr>
        <p:txBody>
          <a:bodyPr wrap="square" lIns="0" tIns="0" rIns="0" bIns="0" rtlCol="0" anchor="ctr"/>
          <a:lstStyle/>
          <a:p>
            <a:pPr algn="ctr" indent="0" marL="0">
              <a:buNone/>
            </a:pPr>
            <a:r>
              <a:rPr lang="en-US" sz="1400" b="1" dirty="0">
                <a:solidFill>
                  <a:schemeClr val="bg1"/>
                </a:solidFill>
              </a:rPr>
              <a:t>Min. 113–140 · Con IA</a:t>
            </a:r>
            <a:endParaRPr lang="en-US" sz="1400" dirty="0"/>
          </a:p>
        </p:txBody>
      </p:sp>
      <p:sp>
        <p:nvSpPr>
          <p:cNvPr id="5" name="Prompt"/>
          <p:cNvSpPr/>
          <p:nvPr/>
        </p:nvSpPr>
        <p:spPr>
          <a:xfrm>
            <a:off x="548640" y="1417320"/>
            <a:ext cx="11094415" cy="1828800"/>
          </a:xfrm>
          <a:prstGeom prst="roundRect">
            <a:avLst>
              <a:gd name="adj" fmla="val 6000"/>
            </a:avLst>
          </a:prstGeom>
          <a:solidFill>
            <a:schemeClr val="tx1"/>
          </a:solidFill>
          <a:ln/>
        </p:spPr>
      </p:sp>
      <p:sp>
        <p:nvSpPr>
          <p:cNvPr id="6" name="Text 4"/>
          <p:cNvSpPr txBox="1"/>
          <p:nvPr/>
        </p:nvSpPr>
        <p:spPr>
          <a:xfrm>
            <a:off x="822960" y="1600200"/>
            <a:ext cx="10545775" cy="1463040"/>
          </a:xfrm>
          <a:prstGeom prst="rect">
            <a:avLst/>
          </a:prstGeom>
          <a:noFill/>
          <a:ln/>
        </p:spPr>
        <p:txBody>
          <a:bodyPr wrap="square" lIns="0" tIns="0" rIns="0" bIns="0" rtlCol="0" anchor="t"/>
          <a:lstStyle/>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Te paso una matriz de decisión con tres propuestas, cuatro criterios</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puntuados del 1 al 5 y sus pesos: </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pegar la tabla con los pesos</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Revísala: comprueba si los cálculos son correctos, si alguna</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puntuación parece incoherente con la descripción de la propuesta</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y si falta algún criterio importante. Justifica cada observación.</a:t>
            </a:r>
            <a:endParaRPr lang="en-US" sz="1700" dirty="0"/>
          </a:p>
        </p:txBody>
      </p:sp>
      <p:sp>
        <p:nvSpPr>
          <p:cNvPr id="7" name="Tarjeta"/>
          <p:cNvSpPr/>
          <p:nvPr/>
        </p:nvSpPr>
        <p:spPr>
          <a:xfrm>
            <a:off x="548640" y="3566160"/>
            <a:ext cx="5364328" cy="2240280"/>
          </a:xfrm>
          <a:prstGeom prst="roundRect">
            <a:avLst>
              <a:gd name="adj" fmla="val 6122"/>
            </a:avLst>
          </a:prstGeom>
          <a:solidFill>
            <a:schemeClr val="bg2"/>
          </a:solidFill>
          <a:ln/>
        </p:spPr>
      </p:sp>
      <p:sp>
        <p:nvSpPr>
          <p:cNvPr id="8" name="¿Son correctas sus observaciones?"/>
          <p:cNvSpPr/>
          <p:nvPr/>
        </p:nvSpPr>
        <p:spPr>
          <a:xfrm>
            <a:off x="868680" y="3794760"/>
            <a:ext cx="822960" cy="822960"/>
          </a:xfrm>
          <a:prstGeom prst="ellipse">
            <a:avLst/>
          </a:prstGeom>
          <a:solidFill>
            <a:schemeClr val="accent2"/>
          </a:solidFill>
          <a:ln/>
        </p:spPr>
      </p:sp>
      <p:pic>
        <p:nvPicPr>
          <p:cNvPr id="9" name="Image 0" descr="¿Son correctas sus observaciones?">    </p:cNvPr>
          <p:cNvPicPr>
            <a:picLocks noChangeAspect="1"/>
          </p:cNvPicPr>
          <p:nvPr/>
        </p:nvPicPr>
        <p:blipFill>
          <a:blip r:embed="rId1"/>
          <a:stretch>
            <a:fillRect/>
          </a:stretch>
        </p:blipFill>
        <p:spPr>
          <a:xfrm>
            <a:off x="1066190" y="3992270"/>
            <a:ext cx="427939" cy="427939"/>
          </a:xfrm>
          <a:prstGeom prst="rect">
            <a:avLst/>
          </a:prstGeom>
        </p:spPr>
      </p:pic>
      <p:sp>
        <p:nvSpPr>
          <p:cNvPr id="10" name="Text 7"/>
          <p:cNvSpPr txBox="1"/>
          <p:nvPr/>
        </p:nvSpPr>
        <p:spPr>
          <a:xfrm>
            <a:off x="1920240" y="3794760"/>
            <a:ext cx="3718408" cy="822960"/>
          </a:xfrm>
          <a:prstGeom prst="rect">
            <a:avLst/>
          </a:prstGeom>
          <a:noFill/>
          <a:ln/>
        </p:spPr>
        <p:txBody>
          <a:bodyPr wrap="square" lIns="0" tIns="0" rIns="0" bIns="0" rtlCol="0" anchor="ctr"/>
          <a:lstStyle/>
          <a:p>
            <a:pPr indent="0" marL="0">
              <a:buNone/>
            </a:pPr>
            <a:r>
              <a:rPr lang="en-US" sz="2000" b="1" dirty="0">
                <a:solidFill>
                  <a:schemeClr val="tx1"/>
                </a:solidFill>
              </a:rPr>
              <a:t>¿Son correctas sus observaciones?</a:t>
            </a:r>
            <a:endParaRPr lang="en-US" sz="2000" dirty="0"/>
          </a:p>
        </p:txBody>
      </p:sp>
      <p:sp>
        <p:nvSpPr>
          <p:cNvPr id="11" name="Text 8"/>
          <p:cNvSpPr txBox="1"/>
          <p:nvPr/>
        </p:nvSpPr>
        <p:spPr>
          <a:xfrm>
            <a:off x="868680" y="4800600"/>
            <a:ext cx="4724248" cy="868680"/>
          </a:xfrm>
          <a:prstGeom prst="rect">
            <a:avLst/>
          </a:prstGeom>
          <a:noFill/>
          <a:ln/>
        </p:spPr>
        <p:txBody>
          <a:bodyPr wrap="square" lIns="0" tIns="0" rIns="0" bIns="0" rtlCol="0" anchor="t"/>
          <a:lstStyle/>
          <a:p>
            <a:pPr indent="0" marL="0">
              <a:buNone/>
            </a:pPr>
            <a:r>
              <a:rPr lang="en-US" sz="1700" dirty="0">
                <a:solidFill>
                  <a:schemeClr val="tx1"/>
                </a:solidFill>
              </a:rPr>
              <a:t>Comprobad cada una: la IA también se equivoca con los números.</a:t>
            </a:r>
            <a:endParaRPr lang="en-US" sz="1700" dirty="0"/>
          </a:p>
        </p:txBody>
      </p:sp>
      <p:sp>
        <p:nvSpPr>
          <p:cNvPr id="12" name="Tarjeta"/>
          <p:cNvSpPr/>
          <p:nvPr/>
        </p:nvSpPr>
        <p:spPr>
          <a:xfrm>
            <a:off x="6278728" y="3566160"/>
            <a:ext cx="5364328" cy="2240280"/>
          </a:xfrm>
          <a:prstGeom prst="roundRect">
            <a:avLst>
              <a:gd name="adj" fmla="val 6122"/>
            </a:avLst>
          </a:prstGeom>
          <a:solidFill>
            <a:schemeClr val="bg2"/>
          </a:solidFill>
          <a:ln/>
        </p:spPr>
      </p:sp>
      <p:sp>
        <p:nvSpPr>
          <p:cNvPr id="13" name="¿Cambiaríais algo por lo que dice?"/>
          <p:cNvSpPr/>
          <p:nvPr/>
        </p:nvSpPr>
        <p:spPr>
          <a:xfrm>
            <a:off x="6598768" y="3794760"/>
            <a:ext cx="822960" cy="822960"/>
          </a:xfrm>
          <a:prstGeom prst="ellipse">
            <a:avLst/>
          </a:prstGeom>
          <a:solidFill>
            <a:schemeClr val="accent2"/>
          </a:solidFill>
          <a:ln/>
        </p:spPr>
      </p:sp>
      <p:pic>
        <p:nvPicPr>
          <p:cNvPr id="14" name="Image 1" descr="¿Cambiaríais algo por lo que dice?">    </p:cNvPr>
          <p:cNvPicPr>
            <a:picLocks noChangeAspect="1"/>
          </p:cNvPicPr>
          <p:nvPr/>
        </p:nvPicPr>
        <p:blipFill>
          <a:blip r:embed="rId2"/>
          <a:stretch>
            <a:fillRect/>
          </a:stretch>
        </p:blipFill>
        <p:spPr>
          <a:xfrm>
            <a:off x="6796278" y="3992270"/>
            <a:ext cx="427939" cy="427939"/>
          </a:xfrm>
          <a:prstGeom prst="rect">
            <a:avLst/>
          </a:prstGeom>
        </p:spPr>
      </p:pic>
      <p:sp>
        <p:nvSpPr>
          <p:cNvPr id="15" name="Text 11"/>
          <p:cNvSpPr txBox="1"/>
          <p:nvPr/>
        </p:nvSpPr>
        <p:spPr>
          <a:xfrm>
            <a:off x="7650328" y="3794760"/>
            <a:ext cx="3718408" cy="822960"/>
          </a:xfrm>
          <a:prstGeom prst="rect">
            <a:avLst/>
          </a:prstGeom>
          <a:noFill/>
          <a:ln/>
        </p:spPr>
        <p:txBody>
          <a:bodyPr wrap="square" lIns="0" tIns="0" rIns="0" bIns="0" rtlCol="0" anchor="ctr"/>
          <a:lstStyle/>
          <a:p>
            <a:pPr indent="0" marL="0">
              <a:buNone/>
            </a:pPr>
            <a:r>
              <a:rPr lang="en-US" sz="2000" b="1" dirty="0">
                <a:solidFill>
                  <a:schemeClr val="tx1"/>
                </a:solidFill>
              </a:rPr>
              <a:t>¿Cambiaríais algo por lo que dice?</a:t>
            </a:r>
            <a:endParaRPr lang="en-US" sz="2000" dirty="0"/>
          </a:p>
        </p:txBody>
      </p:sp>
      <p:sp>
        <p:nvSpPr>
          <p:cNvPr id="16" name="Text 12"/>
          <p:cNvSpPr txBox="1"/>
          <p:nvPr/>
        </p:nvSpPr>
        <p:spPr>
          <a:xfrm>
            <a:off x="6598768" y="4800600"/>
            <a:ext cx="4724248" cy="868680"/>
          </a:xfrm>
          <a:prstGeom prst="rect">
            <a:avLst/>
          </a:prstGeom>
          <a:noFill/>
          <a:ln/>
        </p:spPr>
        <p:txBody>
          <a:bodyPr wrap="square" lIns="0" tIns="0" rIns="0" bIns="0" rtlCol="0" anchor="t"/>
          <a:lstStyle/>
          <a:p>
            <a:pPr indent="0" marL="0">
              <a:buNone/>
            </a:pPr>
            <a:r>
              <a:rPr lang="en-US" sz="1700" dirty="0">
                <a:solidFill>
                  <a:schemeClr val="tx1"/>
                </a:solidFill>
              </a:rPr>
              <a:t>Solo si os convence el argumento, no porque lo diga la IA.</a:t>
            </a:r>
            <a:endParaRPr lang="en-US" sz="17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Paso 7: decidid</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algn="ctr" indent="0" marL="0">
              <a:buNone/>
            </a:pPr>
            <a:r>
              <a:rPr lang="en-US" sz="1400" b="1" dirty="0">
                <a:solidFill>
                  <a:schemeClr val="tx1"/>
                </a:solidFill>
              </a:rPr>
              <a:t>Min. 113–140 · Parejas</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900" dirty="0">
                <a:solidFill>
                  <a:schemeClr val="tx2"/>
                </a:solidFill>
              </a:rPr>
              <a:t>Elegid vuestra propuesta ganadora y justificadla en una frase:</a:t>
            </a:r>
            <a:endParaRPr lang="en-US" sz="1900" dirty="0"/>
          </a:p>
        </p:txBody>
      </p:sp>
      <p:sp>
        <p:nvSpPr>
          <p:cNvPr id="6" name="Tarjeta"/>
          <p:cNvSpPr/>
          <p:nvPr/>
        </p:nvSpPr>
        <p:spPr>
          <a:xfrm>
            <a:off x="548640" y="2057400"/>
            <a:ext cx="11094415" cy="2377440"/>
          </a:xfrm>
          <a:prstGeom prst="roundRect">
            <a:avLst>
              <a:gd name="adj" fmla="val 5769"/>
            </a:avLst>
          </a:prstGeom>
          <a:solidFill>
            <a:schemeClr val="bg2"/>
          </a:solidFill>
          <a:ln/>
        </p:spPr>
      </p:sp>
      <p:sp>
        <p:nvSpPr>
          <p:cNvPr id="7" name="Decisión"/>
          <p:cNvSpPr/>
          <p:nvPr/>
        </p:nvSpPr>
        <p:spPr>
          <a:xfrm>
            <a:off x="914400" y="2606040"/>
            <a:ext cx="1280160" cy="1280160"/>
          </a:xfrm>
          <a:prstGeom prst="ellipse">
            <a:avLst/>
          </a:prstGeom>
          <a:solidFill>
            <a:schemeClr val="accent1"/>
          </a:solidFill>
          <a:ln/>
        </p:spPr>
      </p:sp>
      <p:pic>
        <p:nvPicPr>
          <p:cNvPr id="8" name="Image 0" descr="Decisión">    </p:cNvPr>
          <p:cNvPicPr>
            <a:picLocks noChangeAspect="1"/>
          </p:cNvPicPr>
          <p:nvPr/>
        </p:nvPicPr>
        <p:blipFill>
          <a:blip r:embed="rId1"/>
          <a:stretch>
            <a:fillRect/>
          </a:stretch>
        </p:blipFill>
        <p:spPr>
          <a:xfrm>
            <a:off x="1221638" y="2913278"/>
            <a:ext cx="665683" cy="665683"/>
          </a:xfrm>
          <a:prstGeom prst="rect">
            <a:avLst/>
          </a:prstGeom>
        </p:spPr>
      </p:pic>
      <p:sp>
        <p:nvSpPr>
          <p:cNvPr id="9" name="Text 6"/>
          <p:cNvSpPr txBox="1"/>
          <p:nvPr/>
        </p:nvSpPr>
        <p:spPr>
          <a:xfrm>
            <a:off x="2560320" y="2331720"/>
            <a:ext cx="1554480" cy="731520"/>
          </a:xfrm>
          <a:prstGeom prst="rect">
            <a:avLst/>
          </a:prstGeom>
          <a:noFill/>
          <a:ln/>
        </p:spPr>
        <p:txBody>
          <a:bodyPr wrap="square" lIns="0" tIns="0" rIns="0" bIns="0" rtlCol="0" anchor="ctr"/>
          <a:lstStyle/>
          <a:p>
            <a:pPr indent="0" marL="0">
              <a:buNone/>
            </a:pPr>
            <a:r>
              <a:rPr lang="en-US" sz="2600" b="1" dirty="0">
                <a:solidFill>
                  <a:schemeClr val="tx1"/>
                </a:solidFill>
              </a:rPr>
              <a:t>Elegimos</a:t>
            </a:r>
            <a:endParaRPr lang="en-US" sz="2600" dirty="0"/>
          </a:p>
        </p:txBody>
      </p:sp>
      <p:sp>
        <p:nvSpPr>
          <p:cNvPr id="10" name="Hueco"/>
          <p:cNvSpPr/>
          <p:nvPr/>
        </p:nvSpPr>
        <p:spPr>
          <a:xfrm>
            <a:off x="4206240" y="2331720"/>
            <a:ext cx="7071055" cy="731520"/>
          </a:xfrm>
          <a:prstGeom prst="roundRect">
            <a:avLst>
              <a:gd name="adj" fmla="val 12500"/>
            </a:avLst>
          </a:prstGeom>
          <a:solidFill>
            <a:schemeClr val="bg1"/>
          </a:solidFill>
          <a:ln w="12700">
            <a:solidFill>
              <a:srgbClr val="8A94A6"/>
            </a:solidFill>
            <a:prstDash val="dash"/>
          </a:ln>
        </p:spPr>
      </p:sp>
      <p:sp>
        <p:nvSpPr>
          <p:cNvPr id="11" name="Text 8"/>
          <p:cNvSpPr txBox="1"/>
          <p:nvPr/>
        </p:nvSpPr>
        <p:spPr>
          <a:xfrm>
            <a:off x="2560320" y="3337560"/>
            <a:ext cx="1554480" cy="731520"/>
          </a:xfrm>
          <a:prstGeom prst="rect">
            <a:avLst/>
          </a:prstGeom>
          <a:noFill/>
          <a:ln/>
        </p:spPr>
        <p:txBody>
          <a:bodyPr wrap="square" lIns="0" tIns="0" rIns="0" bIns="0" rtlCol="0" anchor="ctr"/>
          <a:lstStyle/>
          <a:p>
            <a:pPr indent="0" marL="0">
              <a:buNone/>
            </a:pPr>
            <a:r>
              <a:rPr lang="en-US" sz="2600" b="1" dirty="0">
                <a:solidFill>
                  <a:schemeClr val="tx1"/>
                </a:solidFill>
              </a:rPr>
              <a:t>porque</a:t>
            </a:r>
            <a:endParaRPr lang="en-US" sz="2600" dirty="0"/>
          </a:p>
        </p:txBody>
      </p:sp>
      <p:sp>
        <p:nvSpPr>
          <p:cNvPr id="12" name="Hueco"/>
          <p:cNvSpPr/>
          <p:nvPr/>
        </p:nvSpPr>
        <p:spPr>
          <a:xfrm>
            <a:off x="4206240" y="3337560"/>
            <a:ext cx="7071055" cy="731520"/>
          </a:xfrm>
          <a:prstGeom prst="roundRect">
            <a:avLst>
              <a:gd name="adj" fmla="val 12500"/>
            </a:avLst>
          </a:prstGeom>
          <a:solidFill>
            <a:schemeClr val="bg1"/>
          </a:solidFill>
          <a:ln w="12700">
            <a:solidFill>
              <a:srgbClr val="8A94A6"/>
            </a:solidFill>
            <a:prstDash val="dash"/>
          </a:ln>
        </p:spPr>
      </p:sp>
      <p:sp>
        <p:nvSpPr>
          <p:cNvPr id="13" name="Tarjeta"/>
          <p:cNvSpPr/>
          <p:nvPr/>
        </p:nvSpPr>
        <p:spPr>
          <a:xfrm>
            <a:off x="548640" y="4709160"/>
            <a:ext cx="11094415" cy="1051560"/>
          </a:xfrm>
          <a:prstGeom prst="roundRect">
            <a:avLst>
              <a:gd name="adj" fmla="val 13043"/>
            </a:avLst>
          </a:prstGeom>
          <a:solidFill>
            <a:schemeClr val="bg2"/>
          </a:solidFill>
          <a:ln/>
        </p:spPr>
      </p:sp>
      <p:sp>
        <p:nvSpPr>
          <p:cNvPr id="14" name="Criterio"/>
          <p:cNvSpPr/>
          <p:nvPr/>
        </p:nvSpPr>
        <p:spPr>
          <a:xfrm>
            <a:off x="822960" y="4892040"/>
            <a:ext cx="685800" cy="685800"/>
          </a:xfrm>
          <a:prstGeom prst="ellipse">
            <a:avLst/>
          </a:prstGeom>
          <a:solidFill>
            <a:schemeClr val="tx2"/>
          </a:solidFill>
          <a:ln/>
        </p:spPr>
      </p:sp>
      <p:pic>
        <p:nvPicPr>
          <p:cNvPr id="15" name="Image 1" descr="Criterio">    </p:cNvPr>
          <p:cNvPicPr>
            <a:picLocks noChangeAspect="1"/>
          </p:cNvPicPr>
          <p:nvPr/>
        </p:nvPicPr>
        <p:blipFill>
          <a:blip r:embed="rId2"/>
          <a:stretch>
            <a:fillRect/>
          </a:stretch>
        </p:blipFill>
        <p:spPr>
          <a:xfrm>
            <a:off x="987552" y="5056632"/>
            <a:ext cx="356616" cy="356616"/>
          </a:xfrm>
          <a:prstGeom prst="rect">
            <a:avLst/>
          </a:prstGeom>
        </p:spPr>
      </p:pic>
      <p:sp>
        <p:nvSpPr>
          <p:cNvPr id="16" name="Text 12"/>
          <p:cNvSpPr txBox="1"/>
          <p:nvPr/>
        </p:nvSpPr>
        <p:spPr>
          <a:xfrm>
            <a:off x="1737360" y="4709160"/>
            <a:ext cx="9631375" cy="1051560"/>
          </a:xfrm>
          <a:prstGeom prst="rect">
            <a:avLst/>
          </a:prstGeom>
          <a:noFill/>
          <a:ln/>
        </p:spPr>
        <p:txBody>
          <a:bodyPr wrap="square" lIns="0" tIns="0" rIns="0" bIns="0" rtlCol="0" anchor="ctr"/>
          <a:lstStyle/>
          <a:p>
            <a:pPr indent="0" marL="0">
              <a:buNone/>
            </a:pPr>
            <a:r>
              <a:rPr lang="en-US" sz="1900" b="1" dirty="0">
                <a:solidFill>
                  <a:schemeClr val="tx1"/>
                </a:solidFill>
              </a:rPr>
              <a:t>No tiene por qué ser la de mayor puntuación. Pero si no lo es, tenéis que explicar por qué.</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Ejercicio 4: vuestras conclusiones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algn="ctr" indent="0" marL="0">
              <a:buNone/>
            </a:pPr>
            <a:r>
              <a:rPr lang="en-US" sz="1400" b="1" dirty="0">
                <a:solidFill>
                  <a:schemeClr val="tx1"/>
                </a:solidFill>
              </a:rPr>
              <a:t>Min. 136–140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Cada pareja cuenta en 30 segundos:</a:t>
            </a:r>
            <a:endParaRPr lang="en-US" sz="1900" dirty="0"/>
          </a:p>
        </p:txBody>
      </p:sp>
      <p:sp>
        <p:nvSpPr>
          <p:cNvPr id="6" name="Nuestra propuesta ganadora"/>
          <p:cNvSpPr/>
          <p:nvPr/>
        </p:nvSpPr>
        <p:spPr>
          <a:xfrm>
            <a:off x="548640" y="2057400"/>
            <a:ext cx="3454298" cy="548640"/>
          </a:xfrm>
          <a:prstGeom prst="roundRect">
            <a:avLst>
              <a:gd name="adj" fmla="val 16667"/>
            </a:avLst>
          </a:prstGeom>
          <a:solidFill>
            <a:schemeClr val="accent1"/>
          </a:solidFill>
          <a:ln/>
        </p:spPr>
      </p:sp>
      <p:sp>
        <p:nvSpPr>
          <p:cNvPr id="7" name="Text 5"/>
          <p:cNvSpPr txBox="1"/>
          <p:nvPr/>
        </p:nvSpPr>
        <p:spPr>
          <a:xfrm>
            <a:off x="640080" y="2057400"/>
            <a:ext cx="3271418" cy="548640"/>
          </a:xfrm>
          <a:prstGeom prst="rect">
            <a:avLst/>
          </a:prstGeom>
          <a:noFill/>
          <a:ln/>
        </p:spPr>
        <p:txBody>
          <a:bodyPr wrap="square" lIns="0" tIns="0" rIns="0" bIns="0" rtlCol="0" anchor="ctr"/>
          <a:lstStyle/>
          <a:p>
            <a:pPr algn="ctr" indent="0" marL="0">
              <a:buNone/>
            </a:pPr>
            <a:r>
              <a:rPr lang="en-US" sz="1800" b="1" dirty="0">
                <a:solidFill>
                  <a:schemeClr val="tx1"/>
                </a:solidFill>
              </a:rPr>
              <a:t>Nuestra propuesta ganadora</a:t>
            </a:r>
            <a:endParaRPr lang="en-US" sz="1800" dirty="0"/>
          </a:p>
        </p:txBody>
      </p:sp>
      <p:sp>
        <p:nvSpPr>
          <p:cNvPr id="8" name="Hueco"/>
          <p:cNvSpPr/>
          <p:nvPr/>
        </p:nvSpPr>
        <p:spPr>
          <a:xfrm>
            <a:off x="548640" y="2788920"/>
            <a:ext cx="3454298" cy="2423160"/>
          </a:xfrm>
          <a:prstGeom prst="roundRect">
            <a:avLst>
              <a:gd name="adj" fmla="val 3774"/>
            </a:avLst>
          </a:prstGeom>
          <a:solidFill>
            <a:schemeClr val="bg2"/>
          </a:solidFill>
          <a:ln w="12700">
            <a:solidFill>
              <a:srgbClr val="8A94A6"/>
            </a:solidFill>
            <a:prstDash val="dash"/>
          </a:ln>
        </p:spPr>
      </p:sp>
      <p:sp>
        <p:nvSpPr>
          <p:cNvPr id="9" name="¿Cambió al mover los pesos?"/>
          <p:cNvSpPr/>
          <p:nvPr/>
        </p:nvSpPr>
        <p:spPr>
          <a:xfrm>
            <a:off x="4368698" y="2057400"/>
            <a:ext cx="3454298" cy="548640"/>
          </a:xfrm>
          <a:prstGeom prst="roundRect">
            <a:avLst>
              <a:gd name="adj" fmla="val 16667"/>
            </a:avLst>
          </a:prstGeom>
          <a:solidFill>
            <a:schemeClr val="tx2"/>
          </a:solidFill>
          <a:ln/>
        </p:spPr>
      </p:sp>
      <p:sp>
        <p:nvSpPr>
          <p:cNvPr id="10" name="Text 8"/>
          <p:cNvSpPr txBox="1"/>
          <p:nvPr/>
        </p:nvSpPr>
        <p:spPr>
          <a:xfrm>
            <a:off x="4460138" y="2057400"/>
            <a:ext cx="3271418" cy="548640"/>
          </a:xfrm>
          <a:prstGeom prst="rect">
            <a:avLst/>
          </a:prstGeom>
          <a:noFill/>
          <a:ln/>
        </p:spPr>
        <p:txBody>
          <a:bodyPr wrap="square" lIns="0" tIns="0" rIns="0" bIns="0" rtlCol="0" anchor="ctr"/>
          <a:lstStyle/>
          <a:p>
            <a:pPr algn="ctr" indent="0" marL="0">
              <a:buNone/>
            </a:pPr>
            <a:r>
              <a:rPr lang="en-US" sz="1800" b="1" dirty="0">
                <a:solidFill>
                  <a:schemeClr val="bg1"/>
                </a:solidFill>
              </a:rPr>
              <a:t>¿Cambió al mover los pesos?</a:t>
            </a:r>
            <a:endParaRPr lang="en-US" sz="1800" dirty="0"/>
          </a:p>
        </p:txBody>
      </p:sp>
      <p:sp>
        <p:nvSpPr>
          <p:cNvPr id="11" name="Hueco"/>
          <p:cNvSpPr/>
          <p:nvPr/>
        </p:nvSpPr>
        <p:spPr>
          <a:xfrm>
            <a:off x="4368698" y="2788920"/>
            <a:ext cx="3454298" cy="2423160"/>
          </a:xfrm>
          <a:prstGeom prst="roundRect">
            <a:avLst>
              <a:gd name="adj" fmla="val 3774"/>
            </a:avLst>
          </a:prstGeom>
          <a:solidFill>
            <a:schemeClr val="bg2"/>
          </a:solidFill>
          <a:ln w="12700">
            <a:solidFill>
              <a:srgbClr val="8A94A6"/>
            </a:solidFill>
            <a:prstDash val="dash"/>
          </a:ln>
        </p:spPr>
      </p:sp>
      <p:sp>
        <p:nvSpPr>
          <p:cNvPr id="12" name="¿Tenía razón la IA?"/>
          <p:cNvSpPr/>
          <p:nvPr/>
        </p:nvSpPr>
        <p:spPr>
          <a:xfrm>
            <a:off x="8188757" y="2057400"/>
            <a:ext cx="3454298" cy="548640"/>
          </a:xfrm>
          <a:prstGeom prst="roundRect">
            <a:avLst>
              <a:gd name="adj" fmla="val 16667"/>
            </a:avLst>
          </a:prstGeom>
          <a:solidFill>
            <a:schemeClr val="accent2"/>
          </a:solidFill>
          <a:ln/>
        </p:spPr>
      </p:sp>
      <p:sp>
        <p:nvSpPr>
          <p:cNvPr id="13" name="Text 11"/>
          <p:cNvSpPr txBox="1"/>
          <p:nvPr/>
        </p:nvSpPr>
        <p:spPr>
          <a:xfrm>
            <a:off x="8280197" y="2057400"/>
            <a:ext cx="3271418" cy="548640"/>
          </a:xfrm>
          <a:prstGeom prst="rect">
            <a:avLst/>
          </a:prstGeom>
          <a:noFill/>
          <a:ln/>
        </p:spPr>
        <p:txBody>
          <a:bodyPr wrap="square" lIns="0" tIns="0" rIns="0" bIns="0" rtlCol="0" anchor="ctr"/>
          <a:lstStyle/>
          <a:p>
            <a:pPr algn="ctr" indent="0" marL="0">
              <a:buNone/>
            </a:pPr>
            <a:r>
              <a:rPr lang="en-US" sz="1800" b="1" dirty="0">
                <a:solidFill>
                  <a:schemeClr val="bg1"/>
                </a:solidFill>
              </a:rPr>
              <a:t>¿Tenía razón la IA?</a:t>
            </a:r>
            <a:endParaRPr lang="en-US" sz="1800" dirty="0"/>
          </a:p>
        </p:txBody>
      </p:sp>
      <p:sp>
        <p:nvSpPr>
          <p:cNvPr id="14" name="Hueco"/>
          <p:cNvSpPr/>
          <p:nvPr/>
        </p:nvSpPr>
        <p:spPr>
          <a:xfrm>
            <a:off x="8188757" y="2788920"/>
            <a:ext cx="3454298" cy="2423160"/>
          </a:xfrm>
          <a:prstGeom prst="roundRect">
            <a:avLst>
              <a:gd name="adj" fmla="val 3774"/>
            </a:avLst>
          </a:prstGeom>
          <a:solidFill>
            <a:schemeClr val="bg2"/>
          </a:solidFill>
          <a:ln w="12700">
            <a:solidFill>
              <a:srgbClr val="8A94A6"/>
            </a:solidFill>
            <a:prstDash val="dash"/>
          </a:ln>
        </p:spPr>
      </p:sp>
      <p:sp>
        <p:nvSpPr>
          <p:cNvPr id="15" name="Text 13"/>
          <p:cNvSpPr txBox="1"/>
          <p:nvPr/>
        </p:nvSpPr>
        <p:spPr>
          <a:xfrm>
            <a:off x="548640" y="5440680"/>
            <a:ext cx="11094415" cy="502920"/>
          </a:xfrm>
          <a:prstGeom prst="rect">
            <a:avLst/>
          </a:prstGeom>
          <a:noFill/>
          <a:ln/>
        </p:spPr>
        <p:txBody>
          <a:bodyPr wrap="square" lIns="0" tIns="0" rIns="0" bIns="0" rtlCol="0" anchor="ctr"/>
          <a:lstStyle/>
          <a:p>
            <a:pPr indent="0" marL="0">
              <a:buNone/>
            </a:pPr>
            <a:r>
              <a:rPr lang="en-US" sz="1900" b="1" dirty="0">
                <a:solidFill>
                  <a:schemeClr val="tx1"/>
                </a:solidFill>
              </a:rPr>
              <a:t>Entregable: la hoja de cálculo con la decisión argumentada. Ahora, a ponerla por escrito.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Una propuesta en una página</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algn="ctr" indent="0" marL="0">
              <a:buNone/>
            </a:pPr>
            <a:r>
              <a:rPr lang="en-US" sz="1400" b="1" dirty="0">
                <a:solidFill>
                  <a:schemeClr val="tx1"/>
                </a:solidFill>
              </a:rPr>
              <a:t>Min. 140–145</a:t>
            </a:r>
            <a:endParaRPr lang="en-US" sz="1400" dirty="0"/>
          </a:p>
        </p:txBody>
      </p:sp>
      <p:sp>
        <p:nvSpPr>
          <p:cNvPr id="5" name="Text 3"/>
          <p:cNvSpPr txBox="1"/>
          <p:nvPr/>
        </p:nvSpPr>
        <p:spPr>
          <a:xfrm>
            <a:off x="548640" y="1371600"/>
            <a:ext cx="4937760" cy="457200"/>
          </a:xfrm>
          <a:prstGeom prst="rect">
            <a:avLst/>
          </a:prstGeom>
          <a:noFill/>
          <a:ln/>
        </p:spPr>
        <p:txBody>
          <a:bodyPr wrap="square" lIns="0" tIns="0" rIns="0" bIns="0" rtlCol="0" anchor="ctr"/>
          <a:lstStyle/>
          <a:p>
            <a:pPr indent="0" marL="0">
              <a:buNone/>
            </a:pPr>
            <a:r>
              <a:rPr lang="en-US" sz="1900" dirty="0">
                <a:solidFill>
                  <a:schemeClr val="tx2"/>
                </a:solidFill>
              </a:rPr>
              <a:t>Seis apartados, en Word o Google Docs:</a:t>
            </a:r>
            <a:endParaRPr lang="en-US" sz="1900" dirty="0"/>
          </a:p>
        </p:txBody>
      </p:sp>
      <p:sp>
        <p:nvSpPr>
          <p:cNvPr id="6" name="Apartado 1"/>
          <p:cNvSpPr/>
          <p:nvPr/>
        </p:nvSpPr>
        <p:spPr>
          <a:xfrm>
            <a:off x="548640" y="1965960"/>
            <a:ext cx="411480" cy="411480"/>
          </a:xfrm>
          <a:prstGeom prst="ellipse">
            <a:avLst/>
          </a:prstGeom>
          <a:solidFill>
            <a:schemeClr val="accent1"/>
          </a:solidFill>
          <a:ln/>
        </p:spPr>
      </p:sp>
      <p:sp>
        <p:nvSpPr>
          <p:cNvPr id="7" name="Text 5"/>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8" name="Text 6"/>
          <p:cNvSpPr txBox="1"/>
          <p:nvPr/>
        </p:nvSpPr>
        <p:spPr>
          <a:xfrm>
            <a:off x="1143000" y="1965960"/>
            <a:ext cx="4114800" cy="411480"/>
          </a:xfrm>
          <a:prstGeom prst="rect">
            <a:avLst/>
          </a:prstGeom>
          <a:noFill/>
          <a:ln/>
        </p:spPr>
        <p:txBody>
          <a:bodyPr wrap="square" lIns="0" tIns="0" rIns="0" bIns="0" rtlCol="0" anchor="ctr"/>
          <a:lstStyle/>
          <a:p>
            <a:pPr indent="0" marL="0">
              <a:buNone/>
            </a:pPr>
            <a:r>
              <a:rPr lang="en-US" sz="1900" dirty="0">
                <a:solidFill>
                  <a:schemeClr val="tx1"/>
                </a:solidFill>
              </a:rPr>
              <a:t>Nombre de la propuesta</a:t>
            </a:r>
            <a:endParaRPr lang="en-US" sz="1900" dirty="0"/>
          </a:p>
        </p:txBody>
      </p:sp>
      <p:sp>
        <p:nvSpPr>
          <p:cNvPr id="9" name="Apartado 2"/>
          <p:cNvSpPr/>
          <p:nvPr/>
        </p:nvSpPr>
        <p:spPr>
          <a:xfrm>
            <a:off x="548640" y="2514600"/>
            <a:ext cx="411480" cy="411480"/>
          </a:xfrm>
          <a:prstGeom prst="ellipse">
            <a:avLst/>
          </a:prstGeom>
          <a:solidFill>
            <a:schemeClr val="accent1"/>
          </a:solidFill>
          <a:ln/>
        </p:spPr>
      </p:sp>
      <p:sp>
        <p:nvSpPr>
          <p:cNvPr id="10" name="Text 8"/>
          <p:cNvSpPr txBox="1"/>
          <p:nvPr/>
        </p:nvSpPr>
        <p:spPr>
          <a:xfrm>
            <a:off x="548640" y="251460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1" name="Text 9"/>
          <p:cNvSpPr txBox="1"/>
          <p:nvPr/>
        </p:nvSpPr>
        <p:spPr>
          <a:xfrm>
            <a:off x="1143000" y="2514600"/>
            <a:ext cx="4114800" cy="411480"/>
          </a:xfrm>
          <a:prstGeom prst="rect">
            <a:avLst/>
          </a:prstGeom>
          <a:noFill/>
          <a:ln/>
        </p:spPr>
        <p:txBody>
          <a:bodyPr wrap="square" lIns="0" tIns="0" rIns="0" bIns="0" rtlCol="0" anchor="ctr"/>
          <a:lstStyle/>
          <a:p>
            <a:pPr indent="0" marL="0">
              <a:buNone/>
            </a:pPr>
            <a:r>
              <a:rPr lang="en-US" sz="1900" dirty="0">
                <a:solidFill>
                  <a:schemeClr val="tx1"/>
                </a:solidFill>
              </a:rPr>
              <a:t>Problema</a:t>
            </a:r>
            <a:endParaRPr lang="en-US" sz="1900" dirty="0"/>
          </a:p>
        </p:txBody>
      </p:sp>
      <p:sp>
        <p:nvSpPr>
          <p:cNvPr id="12" name="Apartado 3"/>
          <p:cNvSpPr/>
          <p:nvPr/>
        </p:nvSpPr>
        <p:spPr>
          <a:xfrm>
            <a:off x="548640" y="3063240"/>
            <a:ext cx="411480" cy="411480"/>
          </a:xfrm>
          <a:prstGeom prst="ellipse">
            <a:avLst/>
          </a:prstGeom>
          <a:solidFill>
            <a:schemeClr val="accent1"/>
          </a:solidFill>
          <a:ln/>
        </p:spPr>
      </p:sp>
      <p:sp>
        <p:nvSpPr>
          <p:cNvPr id="13" name="Text 11"/>
          <p:cNvSpPr txBox="1"/>
          <p:nvPr/>
        </p:nvSpPr>
        <p:spPr>
          <a:xfrm>
            <a:off x="548640" y="306324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4" name="Text 12"/>
          <p:cNvSpPr txBox="1"/>
          <p:nvPr/>
        </p:nvSpPr>
        <p:spPr>
          <a:xfrm>
            <a:off x="1143000" y="3063240"/>
            <a:ext cx="4114800" cy="411480"/>
          </a:xfrm>
          <a:prstGeom prst="rect">
            <a:avLst/>
          </a:prstGeom>
          <a:noFill/>
          <a:ln/>
        </p:spPr>
        <p:txBody>
          <a:bodyPr wrap="square" lIns="0" tIns="0" rIns="0" bIns="0" rtlCol="0" anchor="ctr"/>
          <a:lstStyle/>
          <a:p>
            <a:pPr indent="0" marL="0">
              <a:buNone/>
            </a:pPr>
            <a:r>
              <a:rPr lang="en-US" sz="1900" dirty="0">
                <a:solidFill>
                  <a:schemeClr val="tx1"/>
                </a:solidFill>
              </a:rPr>
              <a:t>Solución</a:t>
            </a:r>
            <a:endParaRPr lang="en-US" sz="1900" dirty="0"/>
          </a:p>
        </p:txBody>
      </p:sp>
      <p:sp>
        <p:nvSpPr>
          <p:cNvPr id="15" name="Apartado 4"/>
          <p:cNvSpPr/>
          <p:nvPr/>
        </p:nvSpPr>
        <p:spPr>
          <a:xfrm>
            <a:off x="548640" y="3611880"/>
            <a:ext cx="411480" cy="411480"/>
          </a:xfrm>
          <a:prstGeom prst="ellipse">
            <a:avLst/>
          </a:prstGeom>
          <a:solidFill>
            <a:schemeClr val="accent1"/>
          </a:solidFill>
          <a:ln/>
        </p:spPr>
      </p:sp>
      <p:sp>
        <p:nvSpPr>
          <p:cNvPr id="16" name="Text 14"/>
          <p:cNvSpPr txBox="1"/>
          <p:nvPr/>
        </p:nvSpPr>
        <p:spPr>
          <a:xfrm>
            <a:off x="548640" y="361188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17" name="Text 15"/>
          <p:cNvSpPr txBox="1"/>
          <p:nvPr/>
        </p:nvSpPr>
        <p:spPr>
          <a:xfrm>
            <a:off x="1143000" y="3611880"/>
            <a:ext cx="4114800" cy="411480"/>
          </a:xfrm>
          <a:prstGeom prst="rect">
            <a:avLst/>
          </a:prstGeom>
          <a:noFill/>
          <a:ln/>
        </p:spPr>
        <p:txBody>
          <a:bodyPr wrap="square" lIns="0" tIns="0" rIns="0" bIns="0" rtlCol="0" anchor="ctr"/>
          <a:lstStyle/>
          <a:p>
            <a:pPr indent="0" marL="0">
              <a:buNone/>
            </a:pPr>
            <a:r>
              <a:rPr lang="en-US" sz="1900" dirty="0">
                <a:solidFill>
                  <a:schemeClr val="tx1"/>
                </a:solidFill>
              </a:rPr>
              <a:t>Beneficios esperados</a:t>
            </a:r>
            <a:endParaRPr lang="en-US" sz="1900" dirty="0"/>
          </a:p>
        </p:txBody>
      </p:sp>
      <p:sp>
        <p:nvSpPr>
          <p:cNvPr id="18" name="Apartado 5"/>
          <p:cNvSpPr/>
          <p:nvPr/>
        </p:nvSpPr>
        <p:spPr>
          <a:xfrm>
            <a:off x="548640" y="4160520"/>
            <a:ext cx="411480" cy="411480"/>
          </a:xfrm>
          <a:prstGeom prst="ellipse">
            <a:avLst/>
          </a:prstGeom>
          <a:solidFill>
            <a:schemeClr val="accent1"/>
          </a:solidFill>
          <a:ln/>
        </p:spPr>
      </p:sp>
      <p:sp>
        <p:nvSpPr>
          <p:cNvPr id="19" name="Text 17"/>
          <p:cNvSpPr txBox="1"/>
          <p:nvPr/>
        </p:nvSpPr>
        <p:spPr>
          <a:xfrm>
            <a:off x="548640" y="416052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20" name="Text 18"/>
          <p:cNvSpPr txBox="1"/>
          <p:nvPr/>
        </p:nvSpPr>
        <p:spPr>
          <a:xfrm>
            <a:off x="1143000" y="4160520"/>
            <a:ext cx="4114800" cy="411480"/>
          </a:xfrm>
          <a:prstGeom prst="rect">
            <a:avLst/>
          </a:prstGeom>
          <a:noFill/>
          <a:ln/>
        </p:spPr>
        <p:txBody>
          <a:bodyPr wrap="square" lIns="0" tIns="0" rIns="0" bIns="0" rtlCol="0" anchor="ctr"/>
          <a:lstStyle/>
          <a:p>
            <a:pPr indent="0" marL="0">
              <a:buNone/>
            </a:pPr>
            <a:r>
              <a:rPr lang="en-US" sz="1900" dirty="0">
                <a:solidFill>
                  <a:schemeClr val="tx1"/>
                </a:solidFill>
              </a:rPr>
              <a:t>Recursos</a:t>
            </a:r>
            <a:endParaRPr lang="en-US" sz="1900" dirty="0"/>
          </a:p>
        </p:txBody>
      </p:sp>
      <p:sp>
        <p:nvSpPr>
          <p:cNvPr id="21" name="Apartado 6"/>
          <p:cNvSpPr/>
          <p:nvPr/>
        </p:nvSpPr>
        <p:spPr>
          <a:xfrm>
            <a:off x="548640" y="4709160"/>
            <a:ext cx="411480" cy="411480"/>
          </a:xfrm>
          <a:prstGeom prst="ellipse">
            <a:avLst/>
          </a:prstGeom>
          <a:solidFill>
            <a:schemeClr val="accent1"/>
          </a:solidFill>
          <a:ln/>
        </p:spPr>
      </p:sp>
      <p:sp>
        <p:nvSpPr>
          <p:cNvPr id="22" name="Text 20"/>
          <p:cNvSpPr txBox="1"/>
          <p:nvPr/>
        </p:nvSpPr>
        <p:spPr>
          <a:xfrm>
            <a:off x="548640" y="470916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6</a:t>
            </a:r>
            <a:endParaRPr lang="en-US" sz="1500" dirty="0"/>
          </a:p>
        </p:txBody>
      </p:sp>
      <p:sp>
        <p:nvSpPr>
          <p:cNvPr id="23" name="Text 21"/>
          <p:cNvSpPr txBox="1"/>
          <p:nvPr/>
        </p:nvSpPr>
        <p:spPr>
          <a:xfrm>
            <a:off x="1143000" y="4709160"/>
            <a:ext cx="4114800" cy="411480"/>
          </a:xfrm>
          <a:prstGeom prst="rect">
            <a:avLst/>
          </a:prstGeom>
          <a:noFill/>
          <a:ln/>
        </p:spPr>
        <p:txBody>
          <a:bodyPr wrap="square" lIns="0" tIns="0" rIns="0" bIns="0" rtlCol="0" anchor="ctr"/>
          <a:lstStyle/>
          <a:p>
            <a:pPr indent="0" marL="0">
              <a:buNone/>
            </a:pPr>
            <a:r>
              <a:rPr lang="en-US" sz="1900" dirty="0">
                <a:solidFill>
                  <a:schemeClr val="tx1"/>
                </a:solidFill>
              </a:rPr>
              <a:t>Riesgos</a:t>
            </a:r>
            <a:endParaRPr lang="en-US" sz="1900" dirty="0"/>
          </a:p>
        </p:txBody>
      </p:sp>
      <p:sp>
        <p:nvSpPr>
          <p:cNvPr id="27" name="Página"/>
          <p:cNvSpPr/>
          <p:nvPr/>
        </p:nvSpPr>
        <p:spPr>
          <a:xfrm>
            <a:off x="5852160" y="1325880"/>
            <a:ext cx="5790895" cy="4800600"/>
          </a:xfrm>
          <a:prstGeom prst="rect">
            <a:avLst/>
          </a:prstGeom>
          <a:solidFill>
            <a:schemeClr val="bg1"/>
          </a:solidFill>
          <a:ln w="12700">
            <a:solidFill>
              <a:srgbClr val="8A94A6"/>
            </a:solidFill>
            <a:prstDash val="solid"/>
          </a:ln>
          <a:effectLst>
            <a:outerShdw sx="100000" sy="100000" kx="0" ky="0" algn="bl" rotWithShape="0" blurRad="101600" dist="38100" dir="5400000">
              <a:srgbClr val="8A94A6">
                <a:alpha val="35000"/>
              </a:srgbClr>
            </a:outerShdw>
          </a:effectLst>
        </p:spPr>
      </p:sp>
      <p:sp>
        <p:nvSpPr>
          <p:cNvPr id="28" name="Documento"/>
          <p:cNvSpPr/>
          <p:nvPr/>
        </p:nvSpPr>
        <p:spPr>
          <a:xfrm>
            <a:off x="6172200" y="1600200"/>
            <a:ext cx="548640" cy="548640"/>
          </a:xfrm>
          <a:prstGeom prst="ellipse">
            <a:avLst/>
          </a:prstGeom>
          <a:solidFill>
            <a:schemeClr val="tx2"/>
          </a:solidFill>
          <a:ln/>
        </p:spPr>
      </p:sp>
      <p:pic>
        <p:nvPicPr>
          <p:cNvPr id="29" name="Image 0" descr="Documento">    </p:cNvPr>
          <p:cNvPicPr>
            <a:picLocks noChangeAspect="1"/>
          </p:cNvPicPr>
          <p:nvPr/>
        </p:nvPicPr>
        <p:blipFill>
          <a:blip r:embed="rId1"/>
          <a:stretch>
            <a:fillRect/>
          </a:stretch>
        </p:blipFill>
        <p:spPr>
          <a:xfrm>
            <a:off x="6303874" y="1731874"/>
            <a:ext cx="285293" cy="285293"/>
          </a:xfrm>
          <a:prstGeom prst="rect">
            <a:avLst/>
          </a:prstGeom>
        </p:spPr>
      </p:pic>
      <p:sp>
        <p:nvSpPr>
          <p:cNvPr id="30" name="Text 27"/>
          <p:cNvSpPr txBox="1"/>
          <p:nvPr/>
        </p:nvSpPr>
        <p:spPr>
          <a:xfrm>
            <a:off x="6858000" y="1554480"/>
            <a:ext cx="4510735" cy="685800"/>
          </a:xfrm>
          <a:prstGeom prst="rect">
            <a:avLst/>
          </a:prstGeom>
          <a:noFill/>
          <a:ln/>
        </p:spPr>
        <p:txBody>
          <a:bodyPr wrap="square" lIns="0" tIns="0" rIns="0" bIns="0" rtlCol="0" anchor="ctr"/>
          <a:lstStyle/>
          <a:p>
            <a:pPr indent="0" marL="0">
              <a:buNone/>
            </a:pPr>
            <a:r>
              <a:rPr lang="en-US" sz="1200" b="1" dirty="0">
                <a:solidFill>
                  <a:schemeClr val="accent5"/>
                </a:solidFill>
              </a:rPr>
              <a:t>EJEMPLO · NOMBRE DE LA PROPUESTA</a:t>
            </a:r>
            <a:endParaRPr lang="en-US" sz="1200" dirty="0"/>
          </a:p>
          <a:p>
            <a:pPr indent="0" marL="0">
              <a:buNone/>
            </a:pPr>
            <a:r>
              <a:rPr lang="en-US" sz="1900" b="1" dirty="0">
                <a:solidFill>
                  <a:schemeClr val="tx1"/>
                </a:solidFill>
              </a:rPr>
              <a:t>Sistema de seguimiento de solicitudes</a:t>
            </a:r>
            <a:endParaRPr lang="en-US" sz="1200" dirty="0"/>
          </a:p>
        </p:txBody>
      </p:sp>
      <p:sp>
        <p:nvSpPr>
          <p:cNvPr id="31" name="Text 28"/>
          <p:cNvSpPr txBox="1"/>
          <p:nvPr/>
        </p:nvSpPr>
        <p:spPr>
          <a:xfrm>
            <a:off x="6172200" y="2468880"/>
            <a:ext cx="5150815" cy="3429000"/>
          </a:xfrm>
          <a:prstGeom prst="rect">
            <a:avLst/>
          </a:prstGeom>
          <a:noFill/>
          <a:ln/>
        </p:spPr>
        <p:txBody>
          <a:bodyPr wrap="square" lIns="0" tIns="0" rIns="0" bIns="0" rtlCol="0" anchor="t"/>
          <a:lstStyle/>
          <a:p>
            <a:pPr indent="0" marL="0">
              <a:spcAft>
                <a:spcPts val="1000"/>
              </a:spcAft>
              <a:buNone/>
            </a:pPr>
            <a:r>
              <a:rPr lang="en-US" sz="1600" b="1" dirty="0">
                <a:solidFill>
                  <a:schemeClr val="tx1"/>
                </a:solidFill>
              </a:rPr>
              <a:t>Problema: </a:t>
            </a:r>
            <a:pPr indent="0" marL="0">
              <a:spcAft>
                <a:spcPts val="1000"/>
              </a:spcAft>
              <a:buNone/>
            </a:pPr>
            <a:r>
              <a:rPr lang="en-US" sz="1600" dirty="0">
                <a:solidFill>
                  <a:schemeClr val="tx1"/>
                </a:solidFill>
              </a:rPr>
              <a:t>una pequeña empresa pierde peticiones entre correos dispersos.</a:t>
            </a:r>
            <a:endParaRPr lang="en-US" sz="1600" dirty="0"/>
          </a:p>
          <a:p>
            <a:pPr indent="0" marL="0">
              <a:spcAft>
                <a:spcPts val="1000"/>
              </a:spcAft>
              <a:buNone/>
            </a:pPr>
            <a:r>
              <a:rPr lang="en-US" sz="1600" b="1" dirty="0">
                <a:solidFill>
                  <a:schemeClr val="tx1"/>
                </a:solidFill>
              </a:rPr>
              <a:t>Solución: </a:t>
            </a:r>
            <a:pPr indent="0" marL="0">
              <a:spcAft>
                <a:spcPts val="1000"/>
              </a:spcAft>
              <a:buNone/>
            </a:pPr>
            <a:r>
              <a:rPr lang="en-US" sz="1600" dirty="0">
                <a:solidFill>
                  <a:schemeClr val="tx1"/>
                </a:solidFill>
              </a:rPr>
              <a:t>centralizar las solicitudes en un formulario y una hoja compartida.</a:t>
            </a:r>
            <a:endParaRPr lang="en-US" sz="1600" dirty="0"/>
          </a:p>
          <a:p>
            <a:pPr indent="0" marL="0">
              <a:spcAft>
                <a:spcPts val="1000"/>
              </a:spcAft>
              <a:buNone/>
            </a:pPr>
            <a:r>
              <a:rPr lang="en-US" sz="1600" b="1" dirty="0">
                <a:solidFill>
                  <a:schemeClr val="tx1"/>
                </a:solidFill>
              </a:rPr>
              <a:t>Beneficios esperados: </a:t>
            </a:r>
            <a:pPr indent="0" marL="0">
              <a:spcAft>
                <a:spcPts val="1000"/>
              </a:spcAft>
              <a:buNone/>
            </a:pPr>
            <a:r>
              <a:rPr lang="en-US" sz="1600" dirty="0">
                <a:solidFill>
                  <a:schemeClr val="tx1"/>
                </a:solidFill>
              </a:rPr>
              <a:t>menos olvidos y un seguimiento más fácil.</a:t>
            </a:r>
            <a:endParaRPr lang="en-US" sz="1600" dirty="0"/>
          </a:p>
          <a:p>
            <a:pPr indent="0" marL="0">
              <a:spcAft>
                <a:spcPts val="1000"/>
              </a:spcAft>
              <a:buNone/>
            </a:pPr>
            <a:r>
              <a:rPr lang="en-US" sz="1600" b="1" dirty="0">
                <a:solidFill>
                  <a:schemeClr val="tx1"/>
                </a:solidFill>
              </a:rPr>
              <a:t>Recursos: </a:t>
            </a:r>
            <a:pPr indent="0" marL="0">
              <a:spcAft>
                <a:spcPts val="1000"/>
              </a:spcAft>
              <a:buNone/>
            </a:pPr>
            <a:r>
              <a:rPr lang="en-US" sz="1600" dirty="0">
                <a:solidFill>
                  <a:schemeClr val="tx1"/>
                </a:solidFill>
              </a:rPr>
              <a:t>herramientas ya disponibles y una breve formación interna.</a:t>
            </a:r>
            <a:endParaRPr lang="en-US" sz="1600" dirty="0"/>
          </a:p>
          <a:p>
            <a:pPr indent="0" marL="0">
              <a:spcAft>
                <a:spcPts val="1000"/>
              </a:spcAft>
              <a:buNone/>
            </a:pPr>
            <a:r>
              <a:rPr lang="en-US" sz="1600" b="1" dirty="0">
                <a:solidFill>
                  <a:schemeClr val="tx1"/>
                </a:solidFill>
              </a:rPr>
              <a:t>Riesgos: </a:t>
            </a:r>
            <a:pPr indent="0" marL="0">
              <a:spcAft>
                <a:spcPts val="1000"/>
              </a:spcAft>
              <a:buNone/>
            </a:pPr>
            <a:r>
              <a:rPr lang="en-US" sz="1600" dirty="0">
                <a:solidFill>
                  <a:schemeClr val="tx1"/>
                </a:solidFill>
              </a:rPr>
              <a:t>errores de registro, accesos indebidos y resistencia al cambio.</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IA propone, vosotros decidís</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algn="ctr" indent="0" marL="0">
              <a:buNone/>
            </a:pPr>
            <a:r>
              <a:rPr lang="en-US" sz="1400" b="1" dirty="0">
                <a:solidFill>
                  <a:schemeClr val="tx1"/>
                </a:solidFill>
              </a:rPr>
              <a:t>Min. 140–145</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900" dirty="0">
                <a:solidFill>
                  <a:schemeClr val="tx2"/>
                </a:solidFill>
              </a:rPr>
              <a:t>Demostración: pedir a la IA una versión más clara y concisa del documento.</a:t>
            </a:r>
            <a:endParaRPr lang="en-US" sz="1900" dirty="0"/>
          </a:p>
        </p:txBody>
      </p:sp>
      <p:sp>
        <p:nvSpPr>
          <p:cNvPr id="6" name="Tarjeta"/>
          <p:cNvSpPr/>
          <p:nvPr/>
        </p:nvSpPr>
        <p:spPr>
          <a:xfrm>
            <a:off x="548640" y="2057400"/>
            <a:ext cx="5318608" cy="3108960"/>
          </a:xfrm>
          <a:prstGeom prst="roundRect">
            <a:avLst>
              <a:gd name="adj" fmla="val 4412"/>
            </a:avLst>
          </a:prstGeom>
          <a:solidFill>
            <a:schemeClr val="bg2"/>
          </a:solidFill>
          <a:ln/>
        </p:spPr>
      </p:sp>
      <p:sp>
        <p:nvSpPr>
          <p:cNvPr id="7" name="IA"/>
          <p:cNvSpPr/>
          <p:nvPr/>
        </p:nvSpPr>
        <p:spPr>
          <a:xfrm>
            <a:off x="868680" y="2331720"/>
            <a:ext cx="914400" cy="914400"/>
          </a:xfrm>
          <a:prstGeom prst="ellipse">
            <a:avLst/>
          </a:prstGeom>
          <a:solidFill>
            <a:schemeClr val="accent2"/>
          </a:solidFill>
          <a:ln/>
        </p:spPr>
      </p:sp>
      <p:pic>
        <p:nvPicPr>
          <p:cNvPr id="8" name="Image 0" descr="IA">    </p:cNvPr>
          <p:cNvPicPr>
            <a:picLocks noChangeAspect="1"/>
          </p:cNvPicPr>
          <p:nvPr/>
        </p:nvPicPr>
        <p:blipFill>
          <a:blip r:embed="rId1"/>
          <a:stretch>
            <a:fillRect/>
          </a:stretch>
        </p:blipFill>
        <p:spPr>
          <a:xfrm>
            <a:off x="1088136" y="2551176"/>
            <a:ext cx="475488" cy="475488"/>
          </a:xfrm>
          <a:prstGeom prst="rect">
            <a:avLst/>
          </a:prstGeom>
        </p:spPr>
      </p:pic>
      <p:sp>
        <p:nvSpPr>
          <p:cNvPr id="9" name="Text 6"/>
          <p:cNvSpPr txBox="1"/>
          <p:nvPr/>
        </p:nvSpPr>
        <p:spPr>
          <a:xfrm>
            <a:off x="2011680" y="2331720"/>
            <a:ext cx="3581248" cy="914400"/>
          </a:xfrm>
          <a:prstGeom prst="rect">
            <a:avLst/>
          </a:prstGeom>
          <a:noFill/>
          <a:ln/>
        </p:spPr>
        <p:txBody>
          <a:bodyPr wrap="square" lIns="0" tIns="0" rIns="0" bIns="0" rtlCol="0" anchor="ctr"/>
          <a:lstStyle/>
          <a:p>
            <a:pPr indent="0" marL="0">
              <a:buNone/>
            </a:pPr>
            <a:r>
              <a:rPr lang="en-US" sz="2200" b="1" dirty="0">
                <a:solidFill>
                  <a:schemeClr val="tx1"/>
                </a:solidFill>
              </a:rPr>
              <a:t>La IA propone cambios</a:t>
            </a:r>
            <a:endParaRPr lang="en-US" sz="2200" dirty="0"/>
          </a:p>
        </p:txBody>
      </p:sp>
      <p:sp>
        <p:nvSpPr>
          <p:cNvPr id="10" name="Text 7"/>
          <p:cNvSpPr txBox="1"/>
          <p:nvPr/>
        </p:nvSpPr>
        <p:spPr>
          <a:xfrm>
            <a:off x="868680" y="3474720"/>
            <a:ext cx="4678528" cy="1463040"/>
          </a:xfrm>
          <a:prstGeom prst="rect">
            <a:avLst/>
          </a:prstGeom>
          <a:noFill/>
          <a:ln/>
        </p:spPr>
        <p:txBody>
          <a:bodyPr wrap="square" lIns="0" tIns="0" rIns="0" bIns="0" rtlCol="0" anchor="t"/>
          <a:lstStyle/>
          <a:p>
            <a:pPr indent="0" marL="0">
              <a:buNone/>
            </a:pPr>
            <a:r>
              <a:rPr lang="en-US" sz="1800" dirty="0">
                <a:solidFill>
                  <a:schemeClr val="tx1"/>
                </a:solidFill>
              </a:rPr>
              <a:t>Frases más cortas, otro orden, otras palabras… y a veces datos o afirmaciones que no estaban.</a:t>
            </a:r>
            <a:endParaRPr lang="en-US" sz="1800" dirty="0"/>
          </a:p>
        </p:txBody>
      </p:sp>
      <p:sp>
        <p:nvSpPr>
          <p:cNvPr id="11" name="Tarjeta"/>
          <p:cNvSpPr/>
          <p:nvPr/>
        </p:nvSpPr>
        <p:spPr>
          <a:xfrm>
            <a:off x="6324448" y="2057400"/>
            <a:ext cx="5318608" cy="3108960"/>
          </a:xfrm>
          <a:prstGeom prst="roundRect">
            <a:avLst>
              <a:gd name="adj" fmla="val 4412"/>
            </a:avLst>
          </a:prstGeom>
          <a:solidFill>
            <a:schemeClr val="bg2"/>
          </a:solidFill>
          <a:ln/>
        </p:spPr>
      </p:sp>
      <p:sp>
        <p:nvSpPr>
          <p:cNvPr id="12" name="Personas"/>
          <p:cNvSpPr/>
          <p:nvPr/>
        </p:nvSpPr>
        <p:spPr>
          <a:xfrm>
            <a:off x="6644488" y="2331720"/>
            <a:ext cx="914400" cy="914400"/>
          </a:xfrm>
          <a:prstGeom prst="ellipse">
            <a:avLst/>
          </a:prstGeom>
          <a:solidFill>
            <a:schemeClr val="accent1"/>
          </a:solidFill>
          <a:ln/>
        </p:spPr>
      </p:sp>
      <p:pic>
        <p:nvPicPr>
          <p:cNvPr id="13" name="Image 1" descr="Personas">    </p:cNvPr>
          <p:cNvPicPr>
            <a:picLocks noChangeAspect="1"/>
          </p:cNvPicPr>
          <p:nvPr/>
        </p:nvPicPr>
        <p:blipFill>
          <a:blip r:embed="rId2"/>
          <a:stretch>
            <a:fillRect/>
          </a:stretch>
        </p:blipFill>
        <p:spPr>
          <a:xfrm>
            <a:off x="6863944" y="2551176"/>
            <a:ext cx="475488" cy="475488"/>
          </a:xfrm>
          <a:prstGeom prst="rect">
            <a:avLst/>
          </a:prstGeom>
        </p:spPr>
      </p:pic>
      <p:sp>
        <p:nvSpPr>
          <p:cNvPr id="14" name="Text 10"/>
          <p:cNvSpPr txBox="1"/>
          <p:nvPr/>
        </p:nvSpPr>
        <p:spPr>
          <a:xfrm>
            <a:off x="7787488" y="2331720"/>
            <a:ext cx="3581248" cy="914400"/>
          </a:xfrm>
          <a:prstGeom prst="rect">
            <a:avLst/>
          </a:prstGeom>
          <a:noFill/>
          <a:ln/>
        </p:spPr>
        <p:txBody>
          <a:bodyPr wrap="square" lIns="0" tIns="0" rIns="0" bIns="0" rtlCol="0" anchor="ctr"/>
          <a:lstStyle/>
          <a:p>
            <a:pPr indent="0" marL="0">
              <a:buNone/>
            </a:pPr>
            <a:r>
              <a:rPr lang="en-US" sz="2200" b="1" dirty="0">
                <a:solidFill>
                  <a:schemeClr val="tx1"/>
                </a:solidFill>
              </a:rPr>
              <a:t>Vosotros decidís</a:t>
            </a:r>
            <a:endParaRPr lang="en-US" sz="2200" dirty="0"/>
          </a:p>
        </p:txBody>
      </p:sp>
      <p:sp>
        <p:nvSpPr>
          <p:cNvPr id="15" name="Aceptar lo que mejora el texto."/>
          <p:cNvSpPr/>
          <p:nvPr/>
        </p:nvSpPr>
        <p:spPr>
          <a:xfrm>
            <a:off x="6644488" y="3520440"/>
            <a:ext cx="548640" cy="548640"/>
          </a:xfrm>
          <a:prstGeom prst="ellipse">
            <a:avLst/>
          </a:prstGeom>
          <a:solidFill>
            <a:schemeClr val="accent6"/>
          </a:solidFill>
          <a:ln/>
        </p:spPr>
      </p:sp>
      <p:pic>
        <p:nvPicPr>
          <p:cNvPr id="16" name="Image 2" descr="Aceptar lo que mejora el texto.">    </p:cNvPr>
          <p:cNvPicPr>
            <a:picLocks noChangeAspect="1"/>
          </p:cNvPicPr>
          <p:nvPr/>
        </p:nvPicPr>
        <p:blipFill>
          <a:blip r:embed="rId3"/>
          <a:stretch>
            <a:fillRect/>
          </a:stretch>
        </p:blipFill>
        <p:spPr>
          <a:xfrm>
            <a:off x="6776161" y="3652114"/>
            <a:ext cx="285293" cy="285293"/>
          </a:xfrm>
          <a:prstGeom prst="rect">
            <a:avLst/>
          </a:prstGeom>
        </p:spPr>
      </p:pic>
      <p:sp>
        <p:nvSpPr>
          <p:cNvPr id="17" name="Text 12"/>
          <p:cNvSpPr txBox="1"/>
          <p:nvPr/>
        </p:nvSpPr>
        <p:spPr>
          <a:xfrm>
            <a:off x="7376008" y="3520440"/>
            <a:ext cx="3947008" cy="548640"/>
          </a:xfrm>
          <a:prstGeom prst="rect">
            <a:avLst/>
          </a:prstGeom>
          <a:noFill/>
          <a:ln/>
        </p:spPr>
        <p:txBody>
          <a:bodyPr wrap="square" lIns="0" tIns="0" rIns="0" bIns="0" rtlCol="0" anchor="ctr"/>
          <a:lstStyle/>
          <a:p>
            <a:pPr indent="0" marL="0">
              <a:buNone/>
            </a:pPr>
            <a:r>
              <a:rPr lang="en-US" sz="1800" dirty="0">
                <a:solidFill>
                  <a:schemeClr val="tx1"/>
                </a:solidFill>
              </a:rPr>
              <a:t>Aceptar lo que mejora el texto.</a:t>
            </a:r>
            <a:endParaRPr lang="en-US" sz="1800" dirty="0"/>
          </a:p>
        </p:txBody>
      </p:sp>
      <p:sp>
        <p:nvSpPr>
          <p:cNvPr id="18" name="Rechazar lo que cambia el sentido o no es cierto."/>
          <p:cNvSpPr/>
          <p:nvPr/>
        </p:nvSpPr>
        <p:spPr>
          <a:xfrm>
            <a:off x="6644488" y="4251960"/>
            <a:ext cx="548640" cy="548640"/>
          </a:xfrm>
          <a:prstGeom prst="ellipse">
            <a:avLst/>
          </a:prstGeom>
          <a:solidFill>
            <a:schemeClr val="accent3"/>
          </a:solidFill>
          <a:ln/>
        </p:spPr>
      </p:sp>
      <p:pic>
        <p:nvPicPr>
          <p:cNvPr id="19" name="Image 3" descr="Rechazar lo que cambia el sentido o no es cierto.">    </p:cNvPr>
          <p:cNvPicPr>
            <a:picLocks noChangeAspect="1"/>
          </p:cNvPicPr>
          <p:nvPr/>
        </p:nvPicPr>
        <p:blipFill>
          <a:blip r:embed="rId4"/>
          <a:stretch>
            <a:fillRect/>
          </a:stretch>
        </p:blipFill>
        <p:spPr>
          <a:xfrm>
            <a:off x="6776161" y="4383634"/>
            <a:ext cx="285293" cy="285293"/>
          </a:xfrm>
          <a:prstGeom prst="rect">
            <a:avLst/>
          </a:prstGeom>
        </p:spPr>
      </p:pic>
      <p:sp>
        <p:nvSpPr>
          <p:cNvPr id="20" name="Text 14"/>
          <p:cNvSpPr txBox="1"/>
          <p:nvPr/>
        </p:nvSpPr>
        <p:spPr>
          <a:xfrm>
            <a:off x="7376008" y="4251960"/>
            <a:ext cx="3947008" cy="548640"/>
          </a:xfrm>
          <a:prstGeom prst="rect">
            <a:avLst/>
          </a:prstGeom>
          <a:noFill/>
          <a:ln/>
        </p:spPr>
        <p:txBody>
          <a:bodyPr wrap="square" lIns="0" tIns="0" rIns="0" bIns="0" rtlCol="0" anchor="ctr"/>
          <a:lstStyle/>
          <a:p>
            <a:pPr indent="0" marL="0">
              <a:buNone/>
            </a:pPr>
            <a:r>
              <a:rPr lang="en-US" sz="1800" dirty="0">
                <a:solidFill>
                  <a:schemeClr val="tx1"/>
                </a:solidFill>
              </a:rPr>
              <a:t>Rechazar lo que cambia el sentido o no es cierto.</a:t>
            </a:r>
            <a:endParaRPr lang="en-US" sz="1800" dirty="0"/>
          </a:p>
        </p:txBody>
      </p:sp>
      <p:sp>
        <p:nvSpPr>
          <p:cNvPr id="21" name="Shape 15"/>
          <p:cNvSpPr/>
          <p:nvPr/>
        </p:nvSpPr>
        <p:spPr>
          <a:xfrm>
            <a:off x="5912968" y="3611880"/>
            <a:ext cx="365760" cy="0"/>
          </a:xfrm>
          <a:prstGeom prst="line">
            <a:avLst/>
          </a:prstGeom>
          <a:noFill/>
          <a:ln w="38100">
            <a:solidFill>
              <a:srgbClr val="3A4664"/>
            </a:solidFill>
            <a:prstDash val="solid"/>
            <a:tailEnd type="triangle"/>
          </a:ln>
        </p:spPr>
      </p:sp>
      <p:sp>
        <p:nvSpPr>
          <p:cNvPr id="22" name="Text 16"/>
          <p:cNvSpPr txBox="1"/>
          <p:nvPr/>
        </p:nvSpPr>
        <p:spPr>
          <a:xfrm>
            <a:off x="548640" y="5440680"/>
            <a:ext cx="11094415" cy="502920"/>
          </a:xfrm>
          <a:prstGeom prst="rect">
            <a:avLst/>
          </a:prstGeom>
          <a:noFill/>
          <a:ln/>
        </p:spPr>
        <p:txBody>
          <a:bodyPr wrap="square" lIns="0" tIns="0" rIns="0" bIns="0" rtlCol="0" anchor="ctr"/>
          <a:lstStyle/>
          <a:p>
            <a:pPr indent="0" marL="0">
              <a:buNone/>
            </a:pPr>
            <a:r>
              <a:rPr lang="en-US" sz="2000" b="1" dirty="0">
                <a:solidFill>
                  <a:schemeClr val="accent3"/>
                </a:solidFill>
              </a:rPr>
              <a:t>El documento es vuestro: la IA no firma la propuesta.</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Ficha exprés con IA</a:t>
            </a:r>
            <a:endParaRPr lang="en-US" sz="3200" dirty="0"/>
          </a:p>
        </p:txBody>
      </p:sp>
      <p:sp>
        <p:nvSpPr>
          <p:cNvPr id="3" name="Etiqueta de tiempo"/>
          <p:cNvSpPr/>
          <p:nvPr/>
        </p:nvSpPr>
        <p:spPr>
          <a:xfrm>
            <a:off x="8977579" y="548640"/>
            <a:ext cx="2665476" cy="457200"/>
          </a:xfrm>
          <a:prstGeom prst="roundRect">
            <a:avLst>
              <a:gd name="adj" fmla="val 50000"/>
            </a:avLst>
          </a:prstGeom>
          <a:solidFill>
            <a:schemeClr val="accent2"/>
          </a:solidFill>
          <a:ln/>
        </p:spPr>
      </p:sp>
      <p:sp>
        <p:nvSpPr>
          <p:cNvPr id="4" name="Text 2"/>
          <p:cNvSpPr txBox="1"/>
          <p:nvPr/>
        </p:nvSpPr>
        <p:spPr>
          <a:xfrm>
            <a:off x="8977579" y="548640"/>
            <a:ext cx="2665476" cy="457200"/>
          </a:xfrm>
          <a:prstGeom prst="rect">
            <a:avLst/>
          </a:prstGeom>
          <a:noFill/>
          <a:ln/>
        </p:spPr>
        <p:txBody>
          <a:bodyPr wrap="square" lIns="0" tIns="0" rIns="0" bIns="0" rtlCol="0" anchor="ctr"/>
          <a:lstStyle/>
          <a:p>
            <a:pPr algn="ctr" indent="0" marL="0">
              <a:buNone/>
            </a:pPr>
            <a:r>
              <a:rPr lang="en-US" sz="1400" b="1" dirty="0">
                <a:solidFill>
                  <a:schemeClr val="bg1"/>
                </a:solidFill>
              </a:rPr>
              <a:t>Min. 145–160 · Con IA</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Con la propuesta ganadora que acabáis de elegir:</a:t>
            </a:r>
            <a:endParaRPr lang="en-US" sz="1900" dirty="0"/>
          </a:p>
        </p:txBody>
      </p:sp>
      <p:sp>
        <p:nvSpPr>
          <p:cNvPr id="6" name="Text 4"/>
          <p:cNvSpPr txBox="1"/>
          <p:nvPr/>
        </p:nvSpPr>
        <p:spPr>
          <a:xfrm>
            <a:off x="548640" y="1920240"/>
            <a:ext cx="457200" cy="457200"/>
          </a:xfrm>
          <a:prstGeom prst="rect">
            <a:avLst/>
          </a:prstGeom>
          <a:noFill/>
          <a:ln/>
        </p:spPr>
        <p:txBody>
          <a:bodyPr wrap="square" lIns="0" tIns="0" rIns="0" bIns="0" rtlCol="0" anchor="ctr"/>
          <a:lstStyle/>
          <a:p>
            <a:pPr indent="0" marL="0">
              <a:buNone/>
            </a:pPr>
            <a:r>
              <a:rPr lang="en-US" sz="2600" b="1" dirty="0">
                <a:solidFill>
                  <a:schemeClr val="accent2"/>
                </a:solidFill>
              </a:rPr>
              <a:t>1</a:t>
            </a:r>
            <a:endParaRPr lang="en-US" sz="2600" dirty="0"/>
          </a:p>
        </p:txBody>
      </p:sp>
      <p:sp>
        <p:nvSpPr>
          <p:cNvPr id="7" name="Prompt"/>
          <p:cNvSpPr/>
          <p:nvPr/>
        </p:nvSpPr>
        <p:spPr>
          <a:xfrm>
            <a:off x="1097280" y="1874520"/>
            <a:ext cx="10545775" cy="1417320"/>
          </a:xfrm>
          <a:prstGeom prst="roundRect">
            <a:avLst>
              <a:gd name="adj" fmla="val 7742"/>
            </a:avLst>
          </a:prstGeom>
          <a:solidFill>
            <a:schemeClr val="tx1"/>
          </a:solidFill>
          <a:ln/>
        </p:spPr>
      </p:sp>
      <p:sp>
        <p:nvSpPr>
          <p:cNvPr id="8" name="Text 6"/>
          <p:cNvSpPr txBox="1"/>
          <p:nvPr/>
        </p:nvSpPr>
        <p:spPr>
          <a:xfrm>
            <a:off x="1371600" y="2057400"/>
            <a:ext cx="9997135" cy="1051560"/>
          </a:xfrm>
          <a:prstGeom prst="rect">
            <a:avLst/>
          </a:prstGeom>
          <a:noFill/>
          <a:ln/>
        </p:spPr>
        <p:txBody>
          <a:bodyPr wrap="square" lIns="0" tIns="0" rIns="0" bIns="0" rtlCol="0" anchor="t"/>
          <a:lstStyle/>
          <a:p>
            <a:pPr indent="0" marL="0">
              <a:lnSpc>
                <a:spcPct val="95000"/>
              </a:lnSpc>
              <a:buNone/>
            </a:pPr>
            <a:r>
              <a:rPr lang="en-US" sz="1600" dirty="0">
                <a:solidFill>
                  <a:schemeClr val="bg1"/>
                </a:solidFill>
                <a:latin typeface="Courier New" pitchFamily="34" charset="0"/>
                <a:ea typeface="Courier New" pitchFamily="34" charset="-122"/>
                <a:cs typeface="Courier New" pitchFamily="34" charset="-120"/>
              </a:rPr>
              <a:t>Redacta una ficha de una página con estos apartados: nombre de la</a:t>
            </a:r>
            <a:endParaRPr lang="en-US" sz="1600" dirty="0"/>
          </a:p>
          <a:p>
            <a:pPr indent="0" marL="0">
              <a:lnSpc>
                <a:spcPct val="95000"/>
              </a:lnSpc>
              <a:buNone/>
            </a:pPr>
            <a:r>
              <a:rPr lang="en-US" sz="1600" dirty="0">
                <a:solidFill>
                  <a:schemeClr val="bg1"/>
                </a:solidFill>
                <a:latin typeface="Courier New" pitchFamily="34" charset="0"/>
                <a:ea typeface="Courier New" pitchFamily="34" charset="-122"/>
                <a:cs typeface="Courier New" pitchFamily="34" charset="-120"/>
              </a:rPr>
              <a:t>propuesta, problema, solución, beneficios esperados, recursos y riesgos.</a:t>
            </a:r>
            <a:endParaRPr lang="en-US" sz="1600" dirty="0"/>
          </a:p>
          <a:p>
            <a:pPr indent="0" marL="0">
              <a:lnSpc>
                <a:spcPct val="95000"/>
              </a:lnSpc>
              <a:buNone/>
            </a:pPr>
            <a:r>
              <a:rPr lang="en-US" sz="1600" dirty="0">
                <a:solidFill>
                  <a:schemeClr val="bg1"/>
                </a:solidFill>
                <a:latin typeface="Courier New" pitchFamily="34" charset="0"/>
                <a:ea typeface="Courier New" pitchFamily="34" charset="-122"/>
                <a:cs typeface="Courier New" pitchFamily="34" charset="-120"/>
              </a:rPr>
              <a:t>La propuesta es: </a:t>
            </a:r>
            <a:pPr indent="0" marL="0">
              <a:lnSpc>
                <a:spcPct val="95000"/>
              </a:lnSpc>
              <a:buNone/>
            </a:pPr>
            <a:r>
              <a:rPr lang="en-US" sz="16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600" b="1" dirty="0">
                <a:solidFill>
                  <a:schemeClr val="accent1"/>
                </a:solidFill>
                <a:latin typeface="Courier New" pitchFamily="34" charset="0"/>
                <a:ea typeface="Courier New" pitchFamily="34" charset="-122"/>
                <a:cs typeface="Courier New" pitchFamily="34" charset="-120"/>
              </a:rPr>
              <a:t>describir la propuesta sin datos personales</a:t>
            </a:r>
            <a:pPr indent="0" marL="0">
              <a:lnSpc>
                <a:spcPct val="95000"/>
              </a:lnSpc>
              <a:buNone/>
            </a:pPr>
            <a:r>
              <a:rPr lang="en-US" sz="16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600" dirty="0">
                <a:solidFill>
                  <a:schemeClr val="bg1"/>
                </a:solidFill>
                <a:latin typeface="Courier New" pitchFamily="34" charset="0"/>
                <a:ea typeface="Courier New" pitchFamily="34" charset="-122"/>
                <a:cs typeface="Courier New" pitchFamily="34" charset="-120"/>
              </a:rPr>
              <a:t>.</a:t>
            </a:r>
            <a:endParaRPr lang="en-US" sz="1600" dirty="0"/>
          </a:p>
          <a:p>
            <a:pPr indent="0" marL="0">
              <a:lnSpc>
                <a:spcPct val="95000"/>
              </a:lnSpc>
              <a:buNone/>
            </a:pPr>
            <a:r>
              <a:rPr lang="en-US" sz="1600" dirty="0">
                <a:solidFill>
                  <a:schemeClr val="bg1"/>
                </a:solidFill>
                <a:latin typeface="Courier New" pitchFamily="34" charset="0"/>
                <a:ea typeface="Courier New" pitchFamily="34" charset="-122"/>
                <a:cs typeface="Courier New" pitchFamily="34" charset="-120"/>
              </a:rPr>
              <a:t>Usa frases cortas y no inventes cifras ni resultados.</a:t>
            </a:r>
            <a:endParaRPr lang="en-US" sz="1600" dirty="0"/>
          </a:p>
        </p:txBody>
      </p:sp>
      <p:sp>
        <p:nvSpPr>
          <p:cNvPr id="9" name="Text 7"/>
          <p:cNvSpPr txBox="1"/>
          <p:nvPr/>
        </p:nvSpPr>
        <p:spPr>
          <a:xfrm>
            <a:off x="548640" y="3520440"/>
            <a:ext cx="11094415" cy="502920"/>
          </a:xfrm>
          <a:prstGeom prst="rect">
            <a:avLst/>
          </a:prstGeom>
          <a:noFill/>
          <a:ln/>
        </p:spPr>
        <p:txBody>
          <a:bodyPr wrap="square" lIns="0" tIns="0" rIns="0" bIns="0" rtlCol="0" anchor="ctr"/>
          <a:lstStyle/>
          <a:p>
            <a:pPr indent="0" marL="0">
              <a:buNone/>
            </a:pPr>
            <a:r>
              <a:rPr lang="en-US" sz="2600" b="1" dirty="0">
                <a:solidFill>
                  <a:schemeClr val="accent1"/>
                </a:solidFill>
              </a:rPr>
              <a:t>2  </a:t>
            </a:r>
            <a:pPr indent="0" marL="0">
              <a:buNone/>
            </a:pPr>
            <a:r>
              <a:rPr lang="en-US" sz="1900" dirty="0">
                <a:solidFill>
                  <a:schemeClr val="tx1"/>
                </a:solidFill>
              </a:rPr>
              <a:t>Pasadla a Word o Google Docs y marcad tres cosas que cambiaríais:</a:t>
            </a:r>
            <a:endParaRPr lang="en-US" sz="1900" dirty="0"/>
          </a:p>
        </p:txBody>
      </p:sp>
      <p:sp>
        <p:nvSpPr>
          <p:cNvPr id="10" name="Tarjeta"/>
          <p:cNvSpPr/>
          <p:nvPr/>
        </p:nvSpPr>
        <p:spPr>
          <a:xfrm>
            <a:off x="1097280" y="4160520"/>
            <a:ext cx="3271418" cy="1005840"/>
          </a:xfrm>
          <a:prstGeom prst="roundRect">
            <a:avLst>
              <a:gd name="adj" fmla="val 13636"/>
            </a:avLst>
          </a:prstGeom>
          <a:solidFill>
            <a:schemeClr val="bg2"/>
          </a:solidFill>
          <a:ln/>
        </p:spPr>
      </p:sp>
      <p:sp>
        <p:nvSpPr>
          <p:cNvPr id="11" name="Algo que sobra"/>
          <p:cNvSpPr/>
          <p:nvPr/>
        </p:nvSpPr>
        <p:spPr>
          <a:xfrm>
            <a:off x="1325880" y="4343400"/>
            <a:ext cx="640080" cy="640080"/>
          </a:xfrm>
          <a:prstGeom prst="ellipse">
            <a:avLst/>
          </a:prstGeom>
          <a:solidFill>
            <a:schemeClr val="accent1"/>
          </a:solidFill>
          <a:ln/>
        </p:spPr>
      </p:sp>
      <p:pic>
        <p:nvPicPr>
          <p:cNvPr id="12" name="Image 0" descr="Algo que sobra">    </p:cNvPr>
          <p:cNvPicPr>
            <a:picLocks noChangeAspect="1"/>
          </p:cNvPicPr>
          <p:nvPr/>
        </p:nvPicPr>
        <p:blipFill>
          <a:blip r:embed="rId1"/>
          <a:stretch>
            <a:fillRect/>
          </a:stretch>
        </p:blipFill>
        <p:spPr>
          <a:xfrm>
            <a:off x="1479499" y="4497019"/>
            <a:ext cx="332842" cy="332842"/>
          </a:xfrm>
          <a:prstGeom prst="rect">
            <a:avLst/>
          </a:prstGeom>
        </p:spPr>
      </p:pic>
      <p:sp>
        <p:nvSpPr>
          <p:cNvPr id="13" name="Text 10"/>
          <p:cNvSpPr txBox="1"/>
          <p:nvPr/>
        </p:nvSpPr>
        <p:spPr>
          <a:xfrm>
            <a:off x="2103120" y="4160520"/>
            <a:ext cx="2082698" cy="1005840"/>
          </a:xfrm>
          <a:prstGeom prst="rect">
            <a:avLst/>
          </a:prstGeom>
          <a:noFill/>
          <a:ln/>
        </p:spPr>
        <p:txBody>
          <a:bodyPr wrap="square" lIns="0" tIns="0" rIns="0" bIns="0" rtlCol="0" anchor="ctr"/>
          <a:lstStyle/>
          <a:p>
            <a:pPr indent="0" marL="0">
              <a:buNone/>
            </a:pPr>
            <a:r>
              <a:rPr lang="en-US" sz="1700" b="1" dirty="0">
                <a:solidFill>
                  <a:schemeClr val="tx1"/>
                </a:solidFill>
              </a:rPr>
              <a:t>Algo que sobra</a:t>
            </a:r>
            <a:endParaRPr lang="en-US" sz="1700" dirty="0"/>
          </a:p>
        </p:txBody>
      </p:sp>
      <p:sp>
        <p:nvSpPr>
          <p:cNvPr id="14" name="Tarjeta"/>
          <p:cNvSpPr/>
          <p:nvPr/>
        </p:nvSpPr>
        <p:spPr>
          <a:xfrm>
            <a:off x="4734458" y="4160520"/>
            <a:ext cx="3271418" cy="1005840"/>
          </a:xfrm>
          <a:prstGeom prst="roundRect">
            <a:avLst>
              <a:gd name="adj" fmla="val 13636"/>
            </a:avLst>
          </a:prstGeom>
          <a:solidFill>
            <a:schemeClr val="bg2"/>
          </a:solidFill>
          <a:ln/>
        </p:spPr>
      </p:sp>
      <p:sp>
        <p:nvSpPr>
          <p:cNvPr id="15" name="Algo que falta"/>
          <p:cNvSpPr/>
          <p:nvPr/>
        </p:nvSpPr>
        <p:spPr>
          <a:xfrm>
            <a:off x="4963058" y="4343400"/>
            <a:ext cx="640080" cy="640080"/>
          </a:xfrm>
          <a:prstGeom prst="ellipse">
            <a:avLst/>
          </a:prstGeom>
          <a:solidFill>
            <a:schemeClr val="accent1"/>
          </a:solidFill>
          <a:ln/>
        </p:spPr>
      </p:sp>
      <p:pic>
        <p:nvPicPr>
          <p:cNvPr id="16" name="Image 1" descr="Algo que falta">    </p:cNvPr>
          <p:cNvPicPr>
            <a:picLocks noChangeAspect="1"/>
          </p:cNvPicPr>
          <p:nvPr/>
        </p:nvPicPr>
        <p:blipFill>
          <a:blip r:embed="rId2"/>
          <a:stretch>
            <a:fillRect/>
          </a:stretch>
        </p:blipFill>
        <p:spPr>
          <a:xfrm>
            <a:off x="5116678" y="4497019"/>
            <a:ext cx="332842" cy="332842"/>
          </a:xfrm>
          <a:prstGeom prst="rect">
            <a:avLst/>
          </a:prstGeom>
        </p:spPr>
      </p:pic>
      <p:sp>
        <p:nvSpPr>
          <p:cNvPr id="17" name="Text 13"/>
          <p:cNvSpPr txBox="1"/>
          <p:nvPr/>
        </p:nvSpPr>
        <p:spPr>
          <a:xfrm>
            <a:off x="5740298" y="4160520"/>
            <a:ext cx="2082698" cy="1005840"/>
          </a:xfrm>
          <a:prstGeom prst="rect">
            <a:avLst/>
          </a:prstGeom>
          <a:noFill/>
          <a:ln/>
        </p:spPr>
        <p:txBody>
          <a:bodyPr wrap="square" lIns="0" tIns="0" rIns="0" bIns="0" rtlCol="0" anchor="ctr"/>
          <a:lstStyle/>
          <a:p>
            <a:pPr indent="0" marL="0">
              <a:buNone/>
            </a:pPr>
            <a:r>
              <a:rPr lang="en-US" sz="1700" b="1" dirty="0">
                <a:solidFill>
                  <a:schemeClr val="tx1"/>
                </a:solidFill>
              </a:rPr>
              <a:t>Algo que falta</a:t>
            </a:r>
            <a:endParaRPr lang="en-US" sz="1700" dirty="0"/>
          </a:p>
        </p:txBody>
      </p:sp>
      <p:sp>
        <p:nvSpPr>
          <p:cNvPr id="18" name="Tarjeta"/>
          <p:cNvSpPr/>
          <p:nvPr/>
        </p:nvSpPr>
        <p:spPr>
          <a:xfrm>
            <a:off x="8371637" y="4160520"/>
            <a:ext cx="3271418" cy="1005840"/>
          </a:xfrm>
          <a:prstGeom prst="roundRect">
            <a:avLst>
              <a:gd name="adj" fmla="val 13636"/>
            </a:avLst>
          </a:prstGeom>
          <a:solidFill>
            <a:schemeClr val="bg2"/>
          </a:solidFill>
          <a:ln/>
        </p:spPr>
      </p:sp>
      <p:sp>
        <p:nvSpPr>
          <p:cNvPr id="19" name="Algo que no es cierto o no está justificado"/>
          <p:cNvSpPr/>
          <p:nvPr/>
        </p:nvSpPr>
        <p:spPr>
          <a:xfrm>
            <a:off x="8600237" y="4343400"/>
            <a:ext cx="640080" cy="640080"/>
          </a:xfrm>
          <a:prstGeom prst="ellipse">
            <a:avLst/>
          </a:prstGeom>
          <a:solidFill>
            <a:schemeClr val="accent1"/>
          </a:solidFill>
          <a:ln/>
        </p:spPr>
      </p:sp>
      <p:pic>
        <p:nvPicPr>
          <p:cNvPr id="20" name="Image 2" descr="Algo que no es cierto o no está justificado">    </p:cNvPr>
          <p:cNvPicPr>
            <a:picLocks noChangeAspect="1"/>
          </p:cNvPicPr>
          <p:nvPr/>
        </p:nvPicPr>
        <p:blipFill>
          <a:blip r:embed="rId3"/>
          <a:stretch>
            <a:fillRect/>
          </a:stretch>
        </p:blipFill>
        <p:spPr>
          <a:xfrm>
            <a:off x="8753856" y="4497019"/>
            <a:ext cx="332842" cy="332842"/>
          </a:xfrm>
          <a:prstGeom prst="rect">
            <a:avLst/>
          </a:prstGeom>
        </p:spPr>
      </p:pic>
      <p:sp>
        <p:nvSpPr>
          <p:cNvPr id="21" name="Text 16"/>
          <p:cNvSpPr txBox="1"/>
          <p:nvPr/>
        </p:nvSpPr>
        <p:spPr>
          <a:xfrm>
            <a:off x="9377477" y="4160520"/>
            <a:ext cx="2082698" cy="1005840"/>
          </a:xfrm>
          <a:prstGeom prst="rect">
            <a:avLst/>
          </a:prstGeom>
          <a:noFill/>
          <a:ln/>
        </p:spPr>
        <p:txBody>
          <a:bodyPr wrap="square" lIns="0" tIns="0" rIns="0" bIns="0" rtlCol="0" anchor="ctr"/>
          <a:lstStyle/>
          <a:p>
            <a:pPr indent="0" marL="0">
              <a:buNone/>
            </a:pPr>
            <a:r>
              <a:rPr lang="en-US" sz="1700" b="1" dirty="0">
                <a:solidFill>
                  <a:schemeClr val="tx1"/>
                </a:solidFill>
              </a:rPr>
              <a:t>Algo que no es cierto o no está justificado</a:t>
            </a:r>
            <a:endParaRPr lang="en-US" sz="1700" dirty="0"/>
          </a:p>
        </p:txBody>
      </p:sp>
      <p:sp>
        <p:nvSpPr>
          <p:cNvPr id="22" name="Text 17"/>
          <p:cNvSpPr txBox="1"/>
          <p:nvPr/>
        </p:nvSpPr>
        <p:spPr>
          <a:xfrm>
            <a:off x="548640" y="5394960"/>
            <a:ext cx="11094415" cy="502920"/>
          </a:xfrm>
          <a:prstGeom prst="rect">
            <a:avLst/>
          </a:prstGeom>
          <a:noFill/>
          <a:ln/>
        </p:spPr>
        <p:txBody>
          <a:bodyPr wrap="square" lIns="0" tIns="0" rIns="0" bIns="0" rtlCol="0" anchor="ctr"/>
          <a:lstStyle/>
          <a:p>
            <a:pPr indent="0" marL="0">
              <a:buNone/>
            </a:pPr>
            <a:r>
              <a:rPr lang="en-US" sz="2600" b="1" dirty="0">
                <a:solidFill>
                  <a:schemeClr val="accent1"/>
                </a:solidFill>
              </a:rPr>
              <a:t>3  </a:t>
            </a:r>
            <a:pPr indent="0" marL="0">
              <a:buNone/>
            </a:pPr>
            <a:r>
              <a:rPr lang="en-US" sz="1900" dirty="0">
                <a:solidFill>
                  <a:schemeClr val="tx1"/>
                </a:solidFill>
              </a:rPr>
              <a:t>Corregidlas.</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Ficha exprés: ¿qué habéis cambiado?</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algn="ctr" indent="0" marL="0">
              <a:buNone/>
            </a:pPr>
            <a:r>
              <a:rPr lang="en-US" sz="1400" b="1" dirty="0">
                <a:solidFill>
                  <a:schemeClr val="tx1"/>
                </a:solidFill>
              </a:rPr>
              <a:t>Min. 156–160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Dos o tres parejas cuentan qué han corregido y por qué:</a:t>
            </a:r>
            <a:endParaRPr lang="en-US" sz="1900" dirty="0"/>
          </a:p>
        </p:txBody>
      </p:sp>
      <p:sp>
        <p:nvSpPr>
          <p:cNvPr id="6" name="Lo que sobraba"/>
          <p:cNvSpPr/>
          <p:nvPr/>
        </p:nvSpPr>
        <p:spPr>
          <a:xfrm>
            <a:off x="548640" y="2057400"/>
            <a:ext cx="3454298" cy="548640"/>
          </a:xfrm>
          <a:prstGeom prst="roundRect">
            <a:avLst>
              <a:gd name="adj" fmla="val 16667"/>
            </a:avLst>
          </a:prstGeom>
          <a:solidFill>
            <a:schemeClr val="accent1"/>
          </a:solidFill>
          <a:ln/>
        </p:spPr>
      </p:sp>
      <p:sp>
        <p:nvSpPr>
          <p:cNvPr id="7" name="Text 5"/>
          <p:cNvSpPr txBox="1"/>
          <p:nvPr/>
        </p:nvSpPr>
        <p:spPr>
          <a:xfrm>
            <a:off x="640080" y="2057400"/>
            <a:ext cx="3271418" cy="548640"/>
          </a:xfrm>
          <a:prstGeom prst="rect">
            <a:avLst/>
          </a:prstGeom>
          <a:noFill/>
          <a:ln/>
        </p:spPr>
        <p:txBody>
          <a:bodyPr wrap="square" lIns="0" tIns="0" rIns="0" bIns="0" rtlCol="0" anchor="ctr"/>
          <a:lstStyle/>
          <a:p>
            <a:pPr algn="ctr" indent="0" marL="0">
              <a:buNone/>
            </a:pPr>
            <a:r>
              <a:rPr lang="en-US" sz="1800" b="1" dirty="0">
                <a:solidFill>
                  <a:schemeClr val="tx1"/>
                </a:solidFill>
              </a:rPr>
              <a:t>Lo que sobraba</a:t>
            </a:r>
            <a:endParaRPr lang="en-US" sz="1800" dirty="0"/>
          </a:p>
        </p:txBody>
      </p:sp>
      <p:sp>
        <p:nvSpPr>
          <p:cNvPr id="8" name="Hueco"/>
          <p:cNvSpPr/>
          <p:nvPr/>
        </p:nvSpPr>
        <p:spPr>
          <a:xfrm>
            <a:off x="548640" y="2788920"/>
            <a:ext cx="3454298" cy="2423160"/>
          </a:xfrm>
          <a:prstGeom prst="roundRect">
            <a:avLst>
              <a:gd name="adj" fmla="val 3774"/>
            </a:avLst>
          </a:prstGeom>
          <a:solidFill>
            <a:schemeClr val="bg2"/>
          </a:solidFill>
          <a:ln w="12700">
            <a:solidFill>
              <a:srgbClr val="8A94A6"/>
            </a:solidFill>
            <a:prstDash val="dash"/>
          </a:ln>
        </p:spPr>
      </p:sp>
      <p:sp>
        <p:nvSpPr>
          <p:cNvPr id="9" name="Lo que faltaba"/>
          <p:cNvSpPr/>
          <p:nvPr/>
        </p:nvSpPr>
        <p:spPr>
          <a:xfrm>
            <a:off x="4368698" y="2057400"/>
            <a:ext cx="3454298" cy="548640"/>
          </a:xfrm>
          <a:prstGeom prst="roundRect">
            <a:avLst>
              <a:gd name="adj" fmla="val 16667"/>
            </a:avLst>
          </a:prstGeom>
          <a:solidFill>
            <a:schemeClr val="accent2"/>
          </a:solidFill>
          <a:ln/>
        </p:spPr>
      </p:sp>
      <p:sp>
        <p:nvSpPr>
          <p:cNvPr id="10" name="Text 8"/>
          <p:cNvSpPr txBox="1"/>
          <p:nvPr/>
        </p:nvSpPr>
        <p:spPr>
          <a:xfrm>
            <a:off x="4460138" y="2057400"/>
            <a:ext cx="3271418" cy="548640"/>
          </a:xfrm>
          <a:prstGeom prst="rect">
            <a:avLst/>
          </a:prstGeom>
          <a:noFill/>
          <a:ln/>
        </p:spPr>
        <p:txBody>
          <a:bodyPr wrap="square" lIns="0" tIns="0" rIns="0" bIns="0" rtlCol="0" anchor="ctr"/>
          <a:lstStyle/>
          <a:p>
            <a:pPr algn="ctr" indent="0" marL="0">
              <a:buNone/>
            </a:pPr>
            <a:r>
              <a:rPr lang="en-US" sz="1800" b="1" dirty="0">
                <a:solidFill>
                  <a:schemeClr val="bg1"/>
                </a:solidFill>
              </a:rPr>
              <a:t>Lo que faltaba</a:t>
            </a:r>
            <a:endParaRPr lang="en-US" sz="1800" dirty="0"/>
          </a:p>
        </p:txBody>
      </p:sp>
      <p:sp>
        <p:nvSpPr>
          <p:cNvPr id="11" name="Hueco"/>
          <p:cNvSpPr/>
          <p:nvPr/>
        </p:nvSpPr>
        <p:spPr>
          <a:xfrm>
            <a:off x="4368698" y="2788920"/>
            <a:ext cx="3454298" cy="2423160"/>
          </a:xfrm>
          <a:prstGeom prst="roundRect">
            <a:avLst>
              <a:gd name="adj" fmla="val 3774"/>
            </a:avLst>
          </a:prstGeom>
          <a:solidFill>
            <a:schemeClr val="bg2"/>
          </a:solidFill>
          <a:ln w="12700">
            <a:solidFill>
              <a:srgbClr val="8A94A6"/>
            </a:solidFill>
            <a:prstDash val="dash"/>
          </a:ln>
        </p:spPr>
      </p:sp>
      <p:sp>
        <p:nvSpPr>
          <p:cNvPr id="12" name="Lo que no era cierto"/>
          <p:cNvSpPr/>
          <p:nvPr/>
        </p:nvSpPr>
        <p:spPr>
          <a:xfrm>
            <a:off x="8188757" y="2057400"/>
            <a:ext cx="3454298" cy="548640"/>
          </a:xfrm>
          <a:prstGeom prst="roundRect">
            <a:avLst>
              <a:gd name="adj" fmla="val 16667"/>
            </a:avLst>
          </a:prstGeom>
          <a:solidFill>
            <a:schemeClr val="accent3"/>
          </a:solidFill>
          <a:ln/>
        </p:spPr>
      </p:sp>
      <p:sp>
        <p:nvSpPr>
          <p:cNvPr id="13" name="Text 11"/>
          <p:cNvSpPr txBox="1"/>
          <p:nvPr/>
        </p:nvSpPr>
        <p:spPr>
          <a:xfrm>
            <a:off x="8280197" y="2057400"/>
            <a:ext cx="3271418" cy="548640"/>
          </a:xfrm>
          <a:prstGeom prst="rect">
            <a:avLst/>
          </a:prstGeom>
          <a:noFill/>
          <a:ln/>
        </p:spPr>
        <p:txBody>
          <a:bodyPr wrap="square" lIns="0" tIns="0" rIns="0" bIns="0" rtlCol="0" anchor="ctr"/>
          <a:lstStyle/>
          <a:p>
            <a:pPr algn="ctr" indent="0" marL="0">
              <a:buNone/>
            </a:pPr>
            <a:r>
              <a:rPr lang="en-US" sz="1800" b="1" dirty="0">
                <a:solidFill>
                  <a:schemeClr val="bg1"/>
                </a:solidFill>
              </a:rPr>
              <a:t>Lo que no era cierto</a:t>
            </a:r>
            <a:endParaRPr lang="en-US" sz="1800" dirty="0"/>
          </a:p>
        </p:txBody>
      </p:sp>
      <p:sp>
        <p:nvSpPr>
          <p:cNvPr id="14" name="Hueco"/>
          <p:cNvSpPr/>
          <p:nvPr/>
        </p:nvSpPr>
        <p:spPr>
          <a:xfrm>
            <a:off x="8188757" y="2788920"/>
            <a:ext cx="3454298" cy="2423160"/>
          </a:xfrm>
          <a:prstGeom prst="roundRect">
            <a:avLst>
              <a:gd name="adj" fmla="val 3774"/>
            </a:avLst>
          </a:prstGeom>
          <a:solidFill>
            <a:schemeClr val="bg2"/>
          </a:solidFill>
          <a:ln w="12700">
            <a:solidFill>
              <a:srgbClr val="8A94A6"/>
            </a:solidFill>
            <a:prstDash val="dash"/>
          </a:ln>
        </p:spPr>
      </p:sp>
      <p:sp>
        <p:nvSpPr>
          <p:cNvPr id="15" name="Text 13"/>
          <p:cNvSpPr txBox="1"/>
          <p:nvPr/>
        </p:nvSpPr>
        <p:spPr>
          <a:xfrm>
            <a:off x="548640" y="5440680"/>
            <a:ext cx="11094415" cy="502920"/>
          </a:xfrm>
          <a:prstGeom prst="rect">
            <a:avLst/>
          </a:prstGeom>
          <a:noFill/>
          <a:ln/>
        </p:spPr>
        <p:txBody>
          <a:bodyPr wrap="square" lIns="0" tIns="0" rIns="0" bIns="0" rtlCol="0" anchor="ctr"/>
          <a:lstStyle/>
          <a:p>
            <a:pPr indent="0" marL="0">
              <a:buNone/>
            </a:pPr>
            <a:r>
              <a:rPr lang="en-US" sz="1900" b="1" dirty="0">
                <a:solidFill>
                  <a:schemeClr val="tx1"/>
                </a:solidFill>
              </a:rPr>
              <a:t>Guardad la ficha: será el borrador del documento del bloque 4.</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Lo que llevamos hecho</a:t>
            </a:r>
            <a:endParaRPr lang="en-US" sz="3200" dirty="0"/>
          </a:p>
        </p:txBody>
      </p:sp>
      <p:sp>
        <p:nvSpPr>
          <p:cNvPr id="3" name="Etiqueta de tiempo"/>
          <p:cNvSpPr/>
          <p:nvPr/>
        </p:nvSpPr>
        <p:spPr>
          <a:xfrm>
            <a:off x="8241487" y="548640"/>
            <a:ext cx="3401568" cy="457200"/>
          </a:xfrm>
          <a:prstGeom prst="roundRect">
            <a:avLst>
              <a:gd name="adj" fmla="val 50000"/>
            </a:avLst>
          </a:prstGeom>
          <a:solidFill>
            <a:schemeClr val="accent1"/>
          </a:solidFill>
          <a:ln/>
        </p:spPr>
      </p:sp>
      <p:sp>
        <p:nvSpPr>
          <p:cNvPr id="4" name="Text 2"/>
          <p:cNvSpPr txBox="1"/>
          <p:nvPr/>
        </p:nvSpPr>
        <p:spPr>
          <a:xfrm>
            <a:off x="8241487" y="548640"/>
            <a:ext cx="3401568" cy="457200"/>
          </a:xfrm>
          <a:prstGeom prst="rect">
            <a:avLst/>
          </a:prstGeom>
          <a:noFill/>
          <a:ln/>
        </p:spPr>
        <p:txBody>
          <a:bodyPr wrap="square" lIns="0" tIns="0" rIns="0" bIns="0" rtlCol="0" anchor="ctr"/>
          <a:lstStyle/>
          <a:p>
            <a:pPr algn="ctr" indent="0" marL="0">
              <a:buNone/>
            </a:pPr>
            <a:r>
              <a:rPr lang="en-US" sz="1400" b="1" dirty="0">
                <a:solidFill>
                  <a:schemeClr val="tx1"/>
                </a:solidFill>
              </a:rPr>
              <a:t>Min. 160–165 · Todo el grupo</a:t>
            </a:r>
            <a:endParaRPr lang="en-US" sz="1400" dirty="0"/>
          </a:p>
        </p:txBody>
      </p:sp>
      <p:sp>
        <p:nvSpPr>
          <p:cNvPr id="5" name="Detectar"/>
          <p:cNvSpPr/>
          <p:nvPr/>
        </p:nvSpPr>
        <p:spPr>
          <a:xfrm>
            <a:off x="594360" y="1645920"/>
            <a:ext cx="2127443" cy="1463040"/>
          </a:xfrm>
          <a:prstGeom prst="chevron">
            <a:avLst/>
          </a:prstGeom>
          <a:solidFill>
            <a:schemeClr val="tx1"/>
          </a:solidFill>
          <a:ln/>
        </p:spPr>
      </p:sp>
      <p:sp>
        <p:nvSpPr>
          <p:cNvPr id="6" name="Detectar"/>
          <p:cNvSpPr/>
          <p:nvPr/>
        </p:nvSpPr>
        <p:spPr>
          <a:xfrm>
            <a:off x="1338042" y="1783080"/>
            <a:ext cx="640080" cy="640080"/>
          </a:xfrm>
          <a:prstGeom prst="ellipse">
            <a:avLst/>
          </a:prstGeom>
          <a:solidFill>
            <a:schemeClr val="accent1"/>
          </a:solidFill>
          <a:ln/>
        </p:spPr>
      </p:sp>
      <p:pic>
        <p:nvPicPr>
          <p:cNvPr id="7" name="Image 0" descr="Detectar">    </p:cNvPr>
          <p:cNvPicPr>
            <a:picLocks noChangeAspect="1"/>
          </p:cNvPicPr>
          <p:nvPr/>
        </p:nvPicPr>
        <p:blipFill>
          <a:blip r:embed="rId1"/>
          <a:stretch>
            <a:fillRect/>
          </a:stretch>
        </p:blipFill>
        <p:spPr>
          <a:xfrm>
            <a:off x="1491661" y="1936699"/>
            <a:ext cx="332842" cy="332842"/>
          </a:xfrm>
          <a:prstGeom prst="rect">
            <a:avLst/>
          </a:prstGeom>
        </p:spPr>
      </p:pic>
      <p:sp>
        <p:nvSpPr>
          <p:cNvPr id="8" name="Text 5"/>
          <p:cNvSpPr txBox="1"/>
          <p:nvPr/>
        </p:nvSpPr>
        <p:spPr>
          <a:xfrm>
            <a:off x="822960" y="2468880"/>
            <a:ext cx="1670243" cy="502920"/>
          </a:xfrm>
          <a:prstGeom prst="rect">
            <a:avLst/>
          </a:prstGeom>
          <a:noFill/>
          <a:ln/>
        </p:spPr>
        <p:txBody>
          <a:bodyPr wrap="square" lIns="0" tIns="0" rIns="0" bIns="0" rtlCol="0" anchor="ctr"/>
          <a:lstStyle/>
          <a:p>
            <a:pPr algn="ctr" indent="0" marL="0">
              <a:buNone/>
            </a:pPr>
            <a:r>
              <a:rPr lang="en-US" sz="1900" b="1" dirty="0">
                <a:solidFill>
                  <a:schemeClr val="bg1"/>
                </a:solidFill>
              </a:rPr>
              <a:t>Detectar</a:t>
            </a:r>
            <a:endParaRPr lang="en-US" sz="1900" dirty="0"/>
          </a:p>
        </p:txBody>
      </p:sp>
      <p:sp>
        <p:nvSpPr>
          <p:cNvPr id="9" name="Idear"/>
          <p:cNvSpPr/>
          <p:nvPr/>
        </p:nvSpPr>
        <p:spPr>
          <a:xfrm>
            <a:off x="2813243" y="1645920"/>
            <a:ext cx="2127443" cy="1463040"/>
          </a:xfrm>
          <a:prstGeom prst="chevron">
            <a:avLst/>
          </a:prstGeom>
          <a:solidFill>
            <a:schemeClr val="tx2"/>
          </a:solidFill>
          <a:ln/>
        </p:spPr>
      </p:sp>
      <p:sp>
        <p:nvSpPr>
          <p:cNvPr id="10" name="Idear"/>
          <p:cNvSpPr/>
          <p:nvPr/>
        </p:nvSpPr>
        <p:spPr>
          <a:xfrm>
            <a:off x="3556925" y="1783080"/>
            <a:ext cx="640080" cy="640080"/>
          </a:xfrm>
          <a:prstGeom prst="ellipse">
            <a:avLst/>
          </a:prstGeom>
          <a:solidFill>
            <a:schemeClr val="accent1"/>
          </a:solidFill>
          <a:ln/>
        </p:spPr>
      </p:sp>
      <p:pic>
        <p:nvPicPr>
          <p:cNvPr id="11" name="Image 1" descr="Idear">    </p:cNvPr>
          <p:cNvPicPr>
            <a:picLocks noChangeAspect="1"/>
          </p:cNvPicPr>
          <p:nvPr/>
        </p:nvPicPr>
        <p:blipFill>
          <a:blip r:embed="rId2"/>
          <a:stretch>
            <a:fillRect/>
          </a:stretch>
        </p:blipFill>
        <p:spPr>
          <a:xfrm>
            <a:off x="3710544" y="1936699"/>
            <a:ext cx="332842" cy="332842"/>
          </a:xfrm>
          <a:prstGeom prst="rect">
            <a:avLst/>
          </a:prstGeom>
        </p:spPr>
      </p:pic>
      <p:sp>
        <p:nvSpPr>
          <p:cNvPr id="12" name="Text 8"/>
          <p:cNvSpPr txBox="1"/>
          <p:nvPr/>
        </p:nvSpPr>
        <p:spPr>
          <a:xfrm>
            <a:off x="3041843" y="2468880"/>
            <a:ext cx="1670243" cy="502920"/>
          </a:xfrm>
          <a:prstGeom prst="rect">
            <a:avLst/>
          </a:prstGeom>
          <a:noFill/>
          <a:ln/>
        </p:spPr>
        <p:txBody>
          <a:bodyPr wrap="square" lIns="0" tIns="0" rIns="0" bIns="0" rtlCol="0" anchor="ctr"/>
          <a:lstStyle/>
          <a:p>
            <a:pPr algn="ctr" indent="0" marL="0">
              <a:buNone/>
            </a:pPr>
            <a:r>
              <a:rPr lang="en-US" sz="1900" b="1" dirty="0">
                <a:solidFill>
                  <a:schemeClr val="bg1"/>
                </a:solidFill>
              </a:rPr>
              <a:t>Idear</a:t>
            </a:r>
            <a:endParaRPr lang="en-US" sz="1900" dirty="0"/>
          </a:p>
        </p:txBody>
      </p:sp>
      <p:sp>
        <p:nvSpPr>
          <p:cNvPr id="13" name="Comparar"/>
          <p:cNvSpPr/>
          <p:nvPr/>
        </p:nvSpPr>
        <p:spPr>
          <a:xfrm>
            <a:off x="5032126" y="1645920"/>
            <a:ext cx="2127443" cy="1463040"/>
          </a:xfrm>
          <a:prstGeom prst="chevron">
            <a:avLst/>
          </a:prstGeom>
          <a:solidFill>
            <a:schemeClr val="tx1"/>
          </a:solidFill>
          <a:ln/>
        </p:spPr>
      </p:sp>
      <p:sp>
        <p:nvSpPr>
          <p:cNvPr id="14" name="Comparar"/>
          <p:cNvSpPr/>
          <p:nvPr/>
        </p:nvSpPr>
        <p:spPr>
          <a:xfrm>
            <a:off x="5775808" y="1783080"/>
            <a:ext cx="640080" cy="640080"/>
          </a:xfrm>
          <a:prstGeom prst="ellipse">
            <a:avLst/>
          </a:prstGeom>
          <a:solidFill>
            <a:schemeClr val="accent1"/>
          </a:solidFill>
          <a:ln/>
        </p:spPr>
      </p:sp>
      <p:pic>
        <p:nvPicPr>
          <p:cNvPr id="15" name="Image 2" descr="Comparar">    </p:cNvPr>
          <p:cNvPicPr>
            <a:picLocks noChangeAspect="1"/>
          </p:cNvPicPr>
          <p:nvPr/>
        </p:nvPicPr>
        <p:blipFill>
          <a:blip r:embed="rId3"/>
          <a:stretch>
            <a:fillRect/>
          </a:stretch>
        </p:blipFill>
        <p:spPr>
          <a:xfrm>
            <a:off x="5929427" y="1936699"/>
            <a:ext cx="332842" cy="332842"/>
          </a:xfrm>
          <a:prstGeom prst="rect">
            <a:avLst/>
          </a:prstGeom>
        </p:spPr>
      </p:pic>
      <p:sp>
        <p:nvSpPr>
          <p:cNvPr id="16" name="Text 11"/>
          <p:cNvSpPr txBox="1"/>
          <p:nvPr/>
        </p:nvSpPr>
        <p:spPr>
          <a:xfrm>
            <a:off x="5260726" y="2468880"/>
            <a:ext cx="1670243" cy="502920"/>
          </a:xfrm>
          <a:prstGeom prst="rect">
            <a:avLst/>
          </a:prstGeom>
          <a:noFill/>
          <a:ln/>
        </p:spPr>
        <p:txBody>
          <a:bodyPr wrap="square" lIns="0" tIns="0" rIns="0" bIns="0" rtlCol="0" anchor="ctr"/>
          <a:lstStyle/>
          <a:p>
            <a:pPr algn="ctr" indent="0" marL="0">
              <a:buNone/>
            </a:pPr>
            <a:r>
              <a:rPr lang="en-US" sz="1900" b="1" dirty="0">
                <a:solidFill>
                  <a:schemeClr val="bg1"/>
                </a:solidFill>
              </a:rPr>
              <a:t>Comparar</a:t>
            </a:r>
            <a:endParaRPr lang="en-US" sz="1900" dirty="0"/>
          </a:p>
        </p:txBody>
      </p:sp>
      <p:sp>
        <p:nvSpPr>
          <p:cNvPr id="17" name="Decidir"/>
          <p:cNvSpPr/>
          <p:nvPr/>
        </p:nvSpPr>
        <p:spPr>
          <a:xfrm>
            <a:off x="7251009" y="1645920"/>
            <a:ext cx="2127443" cy="1463040"/>
          </a:xfrm>
          <a:prstGeom prst="chevron">
            <a:avLst/>
          </a:prstGeom>
          <a:solidFill>
            <a:schemeClr val="tx2"/>
          </a:solidFill>
          <a:ln/>
        </p:spPr>
      </p:sp>
      <p:sp>
        <p:nvSpPr>
          <p:cNvPr id="18" name="Decidir"/>
          <p:cNvSpPr/>
          <p:nvPr/>
        </p:nvSpPr>
        <p:spPr>
          <a:xfrm>
            <a:off x="7994691" y="1783080"/>
            <a:ext cx="640080" cy="640080"/>
          </a:xfrm>
          <a:prstGeom prst="ellipse">
            <a:avLst/>
          </a:prstGeom>
          <a:solidFill>
            <a:schemeClr val="accent1"/>
          </a:solidFill>
          <a:ln/>
        </p:spPr>
      </p:sp>
      <p:pic>
        <p:nvPicPr>
          <p:cNvPr id="19" name="Image 3" descr="Decidir">    </p:cNvPr>
          <p:cNvPicPr>
            <a:picLocks noChangeAspect="1"/>
          </p:cNvPicPr>
          <p:nvPr/>
        </p:nvPicPr>
        <p:blipFill>
          <a:blip r:embed="rId4"/>
          <a:stretch>
            <a:fillRect/>
          </a:stretch>
        </p:blipFill>
        <p:spPr>
          <a:xfrm>
            <a:off x="8148310" y="1936699"/>
            <a:ext cx="332842" cy="332842"/>
          </a:xfrm>
          <a:prstGeom prst="rect">
            <a:avLst/>
          </a:prstGeom>
        </p:spPr>
      </p:pic>
      <p:sp>
        <p:nvSpPr>
          <p:cNvPr id="20" name="Text 14"/>
          <p:cNvSpPr txBox="1"/>
          <p:nvPr/>
        </p:nvSpPr>
        <p:spPr>
          <a:xfrm>
            <a:off x="7479609" y="2468880"/>
            <a:ext cx="1670243" cy="502920"/>
          </a:xfrm>
          <a:prstGeom prst="rect">
            <a:avLst/>
          </a:prstGeom>
          <a:noFill/>
          <a:ln/>
        </p:spPr>
        <p:txBody>
          <a:bodyPr wrap="square" lIns="0" tIns="0" rIns="0" bIns="0" rtlCol="0" anchor="ctr"/>
          <a:lstStyle/>
          <a:p>
            <a:pPr algn="ctr" indent="0" marL="0">
              <a:buNone/>
            </a:pPr>
            <a:r>
              <a:rPr lang="en-US" sz="1900" b="1" dirty="0">
                <a:solidFill>
                  <a:schemeClr val="bg1"/>
                </a:solidFill>
              </a:rPr>
              <a:t>Decidir</a:t>
            </a:r>
            <a:endParaRPr lang="en-US" sz="1900" dirty="0"/>
          </a:p>
        </p:txBody>
      </p:sp>
      <p:sp>
        <p:nvSpPr>
          <p:cNvPr id="21" name="Documentar"/>
          <p:cNvSpPr/>
          <p:nvPr/>
        </p:nvSpPr>
        <p:spPr>
          <a:xfrm>
            <a:off x="9469892" y="1645920"/>
            <a:ext cx="2127443" cy="1463040"/>
          </a:xfrm>
          <a:prstGeom prst="chevron">
            <a:avLst/>
          </a:prstGeom>
          <a:solidFill>
            <a:schemeClr val="tx1"/>
          </a:solidFill>
          <a:ln/>
        </p:spPr>
      </p:sp>
      <p:sp>
        <p:nvSpPr>
          <p:cNvPr id="22" name="Documentar"/>
          <p:cNvSpPr/>
          <p:nvPr/>
        </p:nvSpPr>
        <p:spPr>
          <a:xfrm>
            <a:off x="10213574" y="1783080"/>
            <a:ext cx="640080" cy="640080"/>
          </a:xfrm>
          <a:prstGeom prst="ellipse">
            <a:avLst/>
          </a:prstGeom>
          <a:solidFill>
            <a:schemeClr val="accent1"/>
          </a:solidFill>
          <a:ln/>
        </p:spPr>
      </p:sp>
      <p:pic>
        <p:nvPicPr>
          <p:cNvPr id="23" name="Image 4" descr="Documentar">    </p:cNvPr>
          <p:cNvPicPr>
            <a:picLocks noChangeAspect="1"/>
          </p:cNvPicPr>
          <p:nvPr/>
        </p:nvPicPr>
        <p:blipFill>
          <a:blip r:embed="rId5"/>
          <a:stretch>
            <a:fillRect/>
          </a:stretch>
        </p:blipFill>
        <p:spPr>
          <a:xfrm>
            <a:off x="10367193" y="1936699"/>
            <a:ext cx="332842" cy="332842"/>
          </a:xfrm>
          <a:prstGeom prst="rect">
            <a:avLst/>
          </a:prstGeom>
        </p:spPr>
      </p:pic>
      <p:sp>
        <p:nvSpPr>
          <p:cNvPr id="24" name="Text 17"/>
          <p:cNvSpPr txBox="1"/>
          <p:nvPr/>
        </p:nvSpPr>
        <p:spPr>
          <a:xfrm>
            <a:off x="9698492" y="2468880"/>
            <a:ext cx="1670243" cy="502920"/>
          </a:xfrm>
          <a:prstGeom prst="rect">
            <a:avLst/>
          </a:prstGeom>
          <a:noFill/>
          <a:ln/>
        </p:spPr>
        <p:txBody>
          <a:bodyPr wrap="square" lIns="0" tIns="0" rIns="0" bIns="0" rtlCol="0" anchor="ctr"/>
          <a:lstStyle/>
          <a:p>
            <a:pPr algn="ctr" indent="0" marL="0">
              <a:buNone/>
            </a:pPr>
            <a:r>
              <a:rPr lang="en-US" sz="1900" b="1" dirty="0">
                <a:solidFill>
                  <a:schemeClr val="bg1"/>
                </a:solidFill>
              </a:rPr>
              <a:t>Documentar</a:t>
            </a:r>
            <a:endParaRPr lang="en-US" sz="1900" dirty="0"/>
          </a:p>
        </p:txBody>
      </p:sp>
      <p:sp>
        <p:nvSpPr>
          <p:cNvPr id="25" name="Tarjeta"/>
          <p:cNvSpPr/>
          <p:nvPr/>
        </p:nvSpPr>
        <p:spPr>
          <a:xfrm>
            <a:off x="548640" y="3657600"/>
            <a:ext cx="11094415" cy="1828800"/>
          </a:xfrm>
          <a:prstGeom prst="roundRect">
            <a:avLst>
              <a:gd name="adj" fmla="val 7500"/>
            </a:avLst>
          </a:prstGeom>
          <a:solidFill>
            <a:schemeClr val="bg2"/>
          </a:solidFill>
          <a:ln/>
        </p:spPr>
      </p:sp>
      <p:sp>
        <p:nvSpPr>
          <p:cNvPr id="26" name="Ronda"/>
          <p:cNvSpPr/>
          <p:nvPr/>
        </p:nvSpPr>
        <p:spPr>
          <a:xfrm>
            <a:off x="914400" y="4023360"/>
            <a:ext cx="1097280" cy="1097280"/>
          </a:xfrm>
          <a:prstGeom prst="ellipse">
            <a:avLst/>
          </a:prstGeom>
          <a:solidFill>
            <a:schemeClr val="accent1"/>
          </a:solidFill>
          <a:ln/>
        </p:spPr>
      </p:sp>
      <p:pic>
        <p:nvPicPr>
          <p:cNvPr id="27" name="Image 5" descr="Ronda">    </p:cNvPr>
          <p:cNvPicPr>
            <a:picLocks noChangeAspect="1"/>
          </p:cNvPicPr>
          <p:nvPr/>
        </p:nvPicPr>
        <p:blipFill>
          <a:blip r:embed="rId6"/>
          <a:stretch>
            <a:fillRect/>
          </a:stretch>
        </p:blipFill>
        <p:spPr>
          <a:xfrm>
            <a:off x="1177747" y="4286707"/>
            <a:ext cx="570586" cy="570586"/>
          </a:xfrm>
          <a:prstGeom prst="rect">
            <a:avLst/>
          </a:prstGeom>
        </p:spPr>
      </p:pic>
      <p:sp>
        <p:nvSpPr>
          <p:cNvPr id="28" name="Text 20"/>
          <p:cNvSpPr txBox="1"/>
          <p:nvPr/>
        </p:nvSpPr>
        <p:spPr>
          <a:xfrm>
            <a:off x="2286000" y="3657600"/>
            <a:ext cx="9082735" cy="1828800"/>
          </a:xfrm>
          <a:prstGeom prst="rect">
            <a:avLst/>
          </a:prstGeom>
          <a:noFill/>
          <a:ln/>
        </p:spPr>
        <p:txBody>
          <a:bodyPr wrap="square" lIns="0" tIns="0" rIns="0" bIns="0" rtlCol="0" anchor="ctr"/>
          <a:lstStyle/>
          <a:p>
            <a:pPr indent="0" marL="0">
              <a:buNone/>
            </a:pPr>
            <a:r>
              <a:rPr lang="en-US" sz="2400" b="1" dirty="0">
                <a:solidFill>
                  <a:schemeClr val="tx1"/>
                </a:solidFill>
              </a:rPr>
              <a:t>Ronda rápida</a:t>
            </a:r>
            <a:endParaRPr lang="en-US" sz="2100" dirty="0"/>
          </a:p>
          <a:p>
            <a:pPr indent="0" marL="0">
              <a:buNone/>
            </a:pPr>
            <a:r>
              <a:rPr lang="en-US" sz="2100" dirty="0">
                <a:solidFill>
                  <a:schemeClr val="tx1"/>
                </a:solidFill>
              </a:rPr>
              <a:t>Cada pareja, en una frase: ¿qué paso os ha costado más hasta ahora y por qué?</a:t>
            </a:r>
            <a:endParaRPr lang="en-US" sz="2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indent="0" marL="0">
              <a:buNone/>
            </a:pPr>
            <a:r>
              <a:rPr lang="en-US" sz="1800" b="1" dirty="0">
                <a:solidFill>
                  <a:schemeClr val="accent1"/>
                </a:solidFill>
              </a:rPr>
              <a:t>Idea clave del bloque 3</a:t>
            </a:r>
            <a:endParaRPr lang="en-US" sz="1800" dirty="0"/>
          </a:p>
        </p:txBody>
      </p:sp>
      <p:sp>
        <p:nvSpPr>
          <p:cNvPr id="3" name="Text 0"/>
          <p:cNvSpPr/>
          <p:nvPr>
            <p:ph idx="100" type="body" hasCustomPrompt="1"/>
          </p:nvPr>
        </p:nvSpPr>
        <p:spPr>
          <a:xfrm>
            <a:off x="1097280" y="1554480"/>
            <a:ext cx="9966960" cy="3108960"/>
          </a:xfrm>
          <a:prstGeom prst="rect">
            <a:avLst/>
          </a:prstGeom>
          <a:noFill/>
          <a:ln/>
        </p:spPr>
        <p:txBody>
          <a:bodyPr wrap="square" lIns="0" tIns="0" rIns="0" bIns="0" rtlCol="0" anchor="ctr"/>
          <a:lstStyle/>
          <a:p>
            <a:pPr indent="0" marL="0">
              <a:buNone/>
            </a:pPr>
            <a:r>
              <a:rPr lang="en-US" sz="3400" dirty="0">
                <a:solidFill>
                  <a:schemeClr val="bg1"/>
                </a:solidFill>
              </a:rPr>
              <a:t>Un documento de la IA no está terminado hasta que lo revisáis.</a:t>
            </a:r>
            <a:endParaRPr lang="en-US" sz="3400" dirty="0"/>
          </a:p>
          <a:p>
            <a:pPr indent="0" marL="0">
              <a:buNone/>
            </a:pPr>
            <a:r>
              <a:rPr lang="en-US" sz="3400" b="1" dirty="0">
                <a:solidFill>
                  <a:schemeClr val="accent1"/>
                </a:solidFill>
              </a:rPr>
              <a:t>Y la matriz no decide por vosotros: os ayuda a razonar.</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reatividad, ofimática e IA">
  <a:themeElements>
    <a:clrScheme name="Creatividad, ofimática e IA">
      <a:dk1>
        <a:srgbClr val="1F2A44"/>
      </a:dk1>
      <a:lt1>
        <a:srgbClr val="FFFFFF"/>
      </a:lt1>
      <a:dk2>
        <a:srgbClr val="3A4664"/>
      </a:dk2>
      <a:lt2>
        <a:srgbClr val="F2F4F8"/>
      </a:lt2>
      <a:accent1>
        <a:srgbClr val="F4A300"/>
      </a:accent1>
      <a:accent2>
        <a:srgbClr val="0F7C70"/>
      </a:accent2>
      <a:accent3>
        <a:srgbClr val="D64933"/>
      </a:accent3>
      <a:accent4>
        <a:srgbClr val="6C5CE7"/>
      </a:accent4>
      <a:accent5>
        <a:srgbClr val="8A94A6"/>
      </a:accent5>
      <a:accent6>
        <a:srgbClr val="2D6A4F"/>
      </a:accent6>
      <a:hlink>
        <a:srgbClr val="0F7C70"/>
      </a:hlink>
      <a:folHlink>
        <a:srgbClr val="6C5CE7"/>
      </a:folHlink>
    </a:clrScheme>
    <a:fontScheme name="Creatividad, ofimática e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Bloque 3. Comparar, decidir y documentar</dc:title>
  <dc:subject>Desarrollo de las habilidades creativas e innovadoras con herramientas ofimáticas y de inteligencia artificial</dc:subject>
  <dc:creator>PptxGenJS</dc:creator>
  <cp:lastModifiedBy>PptxGenJS</cp:lastModifiedBy>
  <cp:revision>1</cp:revision>
  <dcterms:created xsi:type="dcterms:W3CDTF">2026-10-18T18:57:19Z</dcterms:created>
  <dcterms:modified xsi:type="dcterms:W3CDTF">2026-10-18T18:57:19Z</dcterms:modified>
</cp:coreProperties>
</file>