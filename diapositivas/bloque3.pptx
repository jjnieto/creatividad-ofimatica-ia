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loque 3" id="{49cce5fb-ffac-417a-9127-fa8ef88f61c8}">
          <p14:sldIdLst>
            <p14:sldId id="256"/>
            <p14:sldId id="257"/>
          </p14:sldIdLst>
        </p14:section>
        <p14:section name="Documentar" id="{8bc869d6-07fb-3257-157b-735d04fa4f46}">
          <p14:sldIdLst>
            <p14:sldId id="258"/>
            <p14:sldId id="259"/>
            <p14:sldId id="260"/>
            <p14:sldId id="261"/>
          </p14:sldIdLst>
        </p14:section>
        <p14:section name="Comparar" id="{d6770422-6b44-9675-5148-aeb238f7536a}">
          <p14:sldIdLst>
            <p14:sldId id="262"/>
            <p14:sldId id="263"/>
            <p14:sldId id="264"/>
            <p14:sldId id="265"/>
            <p14:sldId id="266"/>
            <p14:sldId id="267"/>
            <p14:sldId id="268"/>
          </p14:sldIdLst>
        </p14:section>
        <p14:section name="Síntesis" id="{8dbe8792-c321-e22d-59a7-13f1868cfb31}">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documentar y comparar propuestas con herramientas ofimáticas conocidas, sin detenerse en funciones básicas. Las parejas trabajan con las tres propuestas que seleccionaron al final del bloque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documentar una propuesta (Word o Google Docs) y compararla con otras (Excel o Google Sheets). Nivel intermedio: no explicar funciones básicas de los programas.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105–110. Demostración: crear en directo un documento profesional de una página con estos apartados. El ejemplo de la derecha es el que se usa en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105–110. Pedir a la IA una versión más clara y concisa del documento de ejemplo y revisar en voz alta cada cambio: cuál aceptamos, cuál rechazamos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110–120. Por parejas. El prompt está en el guion para copiarlo. Pasar por las mesas: lo habitual es que la IA escriba de más o meta afirmaciones que nadie le ha dado. Esta ficha servirá de borrador para el documento del bloque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breve: dos o tres parejas. Buscar ejemplos concretos de cosas que la IA añadió sin que nadie se las diera.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120–128. Explicar los cuatro criterios y sus pesos. Los resultados dependen de las puntuaciones y los pesos que se elijan: la matriz es una ayuda para razonar, no una prueba objetiva.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120–128, actividad de 3 minutos. Asignar a cada pareja una de las tres propuestas. Una vez hecho a mano, se entiende lo que hace la fórmula. Resultados: formulario digital 4,35; chatbot informativo 3,30; panel de seguimiento 4,20.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128–160.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5 minutos del ejercicio. Preguntas clave: ¿ha cambiado la clasificación al modificar los pesos? ¿Tenía razón la IA en sus observaciones o se ha equivocado en algo?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ahora se integra todo en un proyecto completo sobre el caso Oficina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737360"/>
            <a:ext cx="7680960" cy="18288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548640" y="3794760"/>
            <a:ext cx="7680960" cy="1371600"/>
          </a:xfrm>
          <a:prstGeom prst="rect">
            <a:avLst/>
          </a:prstGeom>
          <a:noFill/>
          <a:ln/>
        </p:spPr>
        <p:txBody>
          <a:bodyPr wrap="square" rtlCol="0"/>
          <a:lstStyle>
            <a:lvl1pPr indent="0" marL="0">
              <a:buNone/>
              <a:defRPr lang="en-US" sz="2000" dirty="0">
                <a:solidFill>
                  <a:schemeClr val="accent1"/>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108960" y="2103120"/>
            <a:ext cx="850392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3108960" y="3749040"/>
            <a:ext cx="8503920" cy="731520"/>
          </a:xfrm>
          <a:prstGeom prst="rect">
            <a:avLst/>
          </a:prstGeom>
          <a:noFill/>
          <a:ln/>
        </p:spPr>
        <p:txBody>
          <a:bodyPr wrap="square" rtlCol="0"/>
          <a:lstStyle>
            <a:lvl1pPr indent="0" marL="0">
              <a:buNone/>
              <a:defRPr lang="en-US" sz="2200" dirty="0">
                <a:solidFill>
                  <a:schemeClr val="accent1"/>
                </a:solidFill>
              </a:defRPr>
            </a:lvl1pPr>
          </a:lstStyle>
          <a:p>
            <a:pPr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100" dirty="0">
                <a:solidFill>
                  <a:schemeClr val="accent5"/>
                </a:solidFill>
              </a:rPr>
              <a:t>Bloque 3 · Ofimática para desarrollar y evaluar ideas</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097280" y="1554480"/>
            <a:ext cx="9966960" cy="3108960"/>
          </a:xfrm>
          <a:prstGeom prst="rect">
            <a:avLst/>
          </a:prstGeom>
          <a:noFill/>
          <a:ln/>
        </p:spPr>
        <p:txBody>
          <a:bodyPr wrap="square" rtlCol="0"/>
          <a:lstStyle>
            <a:lvl1pPr indent="0" marL="0">
              <a:buNone/>
              <a:defRPr lang="en-US" sz="3400" dirty="0">
                <a:solidFill>
                  <a:schemeClr val="bg1"/>
                </a:solidFill>
              </a:defRPr>
            </a:lvl1pPr>
          </a:lstStyle>
          <a:p>
            <a:pPr indent="0" marL="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indent="0" marL="0">
              <a:buNone/>
            </a:pPr>
            <a:r>
              <a:rPr lang="en-US" sz="1100" dirty="0">
                <a:solidFill>
                  <a:schemeClr val="accent5"/>
                </a:solidFill>
              </a:rPr>
              <a:t>Bloque 3 · Ofimática para desarrollar y evaluar ideas</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algn="ctr" indent="0" marL="0">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p:nvPr>
            <p:ph idx="100" type="title" hasCustomPrompt="1"/>
          </p:nvPr>
        </p:nvSpPr>
        <p:spPr>
          <a:xfrm>
            <a:off x="3108960" y="2103120"/>
            <a:ext cx="8503920" cy="1463040"/>
          </a:xfrm>
          <a:prstGeom prst="rect">
            <a:avLst/>
          </a:prstGeom>
          <a:noFill/>
          <a:ln/>
        </p:spPr>
        <p:txBody>
          <a:bodyPr wrap="square" lIns="0" tIns="0" rIns="0" bIns="0" rtlCol="0" anchor="b"/>
          <a:lstStyle/>
          <a:p>
            <a:pPr algn="l" indent="0" marL="0">
              <a:buNone/>
            </a:pPr>
            <a:r>
              <a:rPr lang="en-US" sz="4000" b="1" dirty="0">
                <a:solidFill>
                  <a:schemeClr val="bg1"/>
                </a:solidFill>
              </a:rPr>
              <a:t>Ofimática para desarrollar y evaluar ideas</a:t>
            </a:r>
            <a:endParaRPr lang="en-US" sz="4000" dirty="0"/>
          </a:p>
        </p:txBody>
      </p:sp>
      <p:sp>
        <p:nvSpPr>
          <p:cNvPr id="4" name="Text 0"/>
          <p:cNvSpPr/>
          <p:nvPr>
            <p:ph idx="101" type="body" hasCustomPrompt="1"/>
          </p:nvPr>
        </p:nvSpPr>
        <p:spPr>
          <a:xfrm>
            <a:off x="3108960" y="3749040"/>
            <a:ext cx="8503920" cy="731520"/>
          </a:xfrm>
          <a:prstGeom prst="rect">
            <a:avLst/>
          </a:prstGeom>
          <a:noFill/>
          <a:ln/>
        </p:spPr>
        <p:txBody>
          <a:bodyPr wrap="square" lIns="0" tIns="0" rIns="0" bIns="0" rtlCol="0" anchor="t"/>
          <a:lstStyle/>
          <a:p>
            <a:pPr indent="0" marL="0">
              <a:buNone/>
            </a:pPr>
            <a:r>
              <a:rPr lang="en-US" sz="2200" dirty="0">
                <a:solidFill>
                  <a:schemeClr val="accent1"/>
                </a:solidFill>
              </a:rPr>
              <a:t>60 minutos · por parejas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algn="ctr" indent="0" marL="0">
              <a:buNone/>
            </a:pPr>
            <a:r>
              <a:rPr lang="en-US" sz="1700" b="1" dirty="0">
                <a:solidFill>
                  <a:schemeClr val="bg1"/>
                </a:solidFill>
              </a:rPr>
              <a:t>105–110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Una propuesta en una página</a:t>
            </a:r>
            <a:endParaRPr lang="en-US" sz="1700" dirty="0"/>
          </a:p>
        </p:txBody>
      </p:sp>
      <p:sp>
        <p:nvSpPr>
          <p:cNvPr id="7" name="Paso 2"/>
          <p:cNvSpPr/>
          <p:nvPr/>
        </p:nvSpPr>
        <p:spPr>
          <a:xfrm>
            <a:off x="3259745" y="1760220"/>
            <a:ext cx="1234440" cy="1234440"/>
          </a:xfrm>
          <a:prstGeom prst="ellipse">
            <a:avLst/>
          </a:prstGeom>
          <a:solidFill>
            <a:schemeClr val="accent2"/>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algn="ctr" indent="0" marL="0">
              <a:buNone/>
            </a:pPr>
            <a:r>
              <a:rPr lang="en-US" sz="1700" b="1" dirty="0">
                <a:solidFill>
                  <a:schemeClr val="bg1"/>
                </a:solidFill>
              </a:rPr>
              <a:t>110–120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Ficha exprés con IA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algn="ctr" indent="0" marL="0">
              <a:buNone/>
            </a:pPr>
            <a:r>
              <a:rPr lang="en-US" sz="1700" b="1" dirty="0">
                <a:solidFill>
                  <a:schemeClr val="bg1"/>
                </a:solidFill>
              </a:rPr>
              <a:t>120–128</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La matriz de decisión</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algn="ctr" indent="0" marL="0">
              <a:buNone/>
            </a:pPr>
            <a:r>
              <a:rPr lang="en-US" sz="1700" b="1" dirty="0">
                <a:solidFill>
                  <a:schemeClr val="tx1"/>
                </a:solidFill>
              </a:rPr>
              <a:t>128–160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Ejercicio 4: elegir con criterio</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algn="ctr" indent="0" marL="0">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algn="ctr" indent="0" marL="0">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r>
          <p:cNvPicPr>
            <a:picLocks noChangeAspect="1"/>
          </p:cNvPicPr>
          <p:nvPr/>
        </p:nvPicPr>
        <p:blipFill>
          <a:blip r:embed="rId1"/>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indent="0" marL="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r>
          <p:cNvPicPr>
            <a:picLocks noChangeAspect="1"/>
          </p:cNvPicPr>
          <p:nvPr/>
        </p:nvPicPr>
        <p:blipFill>
          <a:blip r:embed="rId2"/>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indent="0" marL="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105–110</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indent="0" marL="0">
              <a:buNone/>
            </a:pPr>
            <a:r>
              <a:rPr lang="en-US" sz="1900" dirty="0">
                <a:solidFill>
                  <a:schemeClr val="tx2"/>
                </a:solidFill>
              </a:rPr>
              <a:t>Siete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indent="0" marL="0">
              <a:buNone/>
            </a:pPr>
            <a:r>
              <a:rPr lang="en-US" sz="1900" dirty="0">
                <a:solidFill>
                  <a:schemeClr val="tx1"/>
                </a:solidFill>
              </a:rPr>
              <a:t>Título del proyecto</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indent="0" marL="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indent="0" marL="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indent="0" marL="0">
              <a:buNone/>
            </a:pPr>
            <a:r>
              <a:rPr lang="en-US" sz="1900" dirty="0">
                <a:solidFill>
                  <a:schemeClr val="tx1"/>
                </a:solidFill>
              </a:rPr>
              <a:t>Destinatarios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indent="0" marL="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indent="0" marL="0">
              <a:buNone/>
            </a:pPr>
            <a:r>
              <a:rPr lang="en-US" sz="1900" dirty="0">
                <a:solidFill>
                  <a:schemeClr val="tx1"/>
                </a:solidFill>
              </a:rPr>
              <a:t>Beneficios</a:t>
            </a:r>
            <a:endParaRPr lang="en-US" sz="1900" dirty="0"/>
          </a:p>
        </p:txBody>
      </p:sp>
      <p:sp>
        <p:nvSpPr>
          <p:cNvPr id="24" name="Apartado 7"/>
          <p:cNvSpPr/>
          <p:nvPr/>
        </p:nvSpPr>
        <p:spPr>
          <a:xfrm>
            <a:off x="548640" y="5257800"/>
            <a:ext cx="411480" cy="411480"/>
          </a:xfrm>
          <a:prstGeom prst="ellipse">
            <a:avLst/>
          </a:prstGeom>
          <a:solidFill>
            <a:schemeClr val="accent1"/>
          </a:solidFill>
          <a:ln/>
        </p:spPr>
      </p:sp>
      <p:sp>
        <p:nvSpPr>
          <p:cNvPr id="25" name="Text 23"/>
          <p:cNvSpPr txBox="1"/>
          <p:nvPr/>
        </p:nvSpPr>
        <p:spPr>
          <a:xfrm>
            <a:off x="548640" y="5257800"/>
            <a:ext cx="411480" cy="411480"/>
          </a:xfrm>
          <a:prstGeom prst="rect">
            <a:avLst/>
          </a:prstGeom>
          <a:noFill/>
          <a:ln/>
        </p:spPr>
        <p:txBody>
          <a:bodyPr wrap="square" lIns="0" tIns="0" rIns="0" bIns="0" rtlCol="0" anchor="ctr"/>
          <a:lstStyle/>
          <a:p>
            <a:pPr algn="ctr" indent="0" marL="0">
              <a:buNone/>
            </a:pPr>
            <a:r>
              <a:rPr lang="en-US" sz="1500" b="1" dirty="0">
                <a:solidFill>
                  <a:schemeClr val="tx1"/>
                </a:solidFill>
              </a:rPr>
              <a:t>7</a:t>
            </a:r>
            <a:endParaRPr lang="en-US" sz="1500" dirty="0"/>
          </a:p>
        </p:txBody>
      </p:sp>
      <p:sp>
        <p:nvSpPr>
          <p:cNvPr id="26" name="Text 24"/>
          <p:cNvSpPr txBox="1"/>
          <p:nvPr/>
        </p:nvSpPr>
        <p:spPr>
          <a:xfrm>
            <a:off x="1143000" y="5257800"/>
            <a:ext cx="4114800" cy="411480"/>
          </a:xfrm>
          <a:prstGeom prst="rect">
            <a:avLst/>
          </a:prstGeom>
          <a:noFill/>
          <a:ln/>
        </p:spPr>
        <p:txBody>
          <a:bodyPr wrap="square" lIns="0" tIns="0" rIns="0" bIns="0" rtlCol="0" anchor="ctr"/>
          <a:lstStyle/>
          <a:p>
            <a:pPr indent="0" marL="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sx="100000" sy="100000" kx="0" ky="0" algn="bl" rotWithShape="0" blurRad="101600" dist="38100" dir="540000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r>
          <p:cNvPicPr>
            <a:picLocks noChangeAspect="1"/>
          </p:cNvPicPr>
          <p:nvPr/>
        </p:nvPicPr>
        <p:blipFill>
          <a:blip r:embed="rId1"/>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indent="0" marL="0">
              <a:buNone/>
            </a:pPr>
            <a:r>
              <a:rPr lang="en-US" sz="1200" b="1" dirty="0">
                <a:solidFill>
                  <a:schemeClr val="accent5"/>
                </a:solidFill>
              </a:rPr>
              <a:t>EJEMPLO · PROYECTO</a:t>
            </a:r>
            <a:endParaRPr lang="en-US" sz="1200" dirty="0"/>
          </a:p>
          <a:p>
            <a:pPr indent="0" marL="0">
              <a:buNone/>
            </a:pPr>
            <a:r>
              <a:rPr lang="en-US" sz="1900" b="1" dirty="0">
                <a:solidFill>
                  <a:schemeClr val="tx1"/>
                </a:solidFill>
              </a:rPr>
              <a:t>Sistema de seguimiento de solicitudes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indent="0" marL="0">
              <a:spcAft>
                <a:spcPts val="1000"/>
              </a:spcAft>
              <a:buNone/>
            </a:pPr>
            <a:r>
              <a:rPr lang="en-US" sz="1600" b="1" dirty="0">
                <a:solidFill>
                  <a:schemeClr val="tx1"/>
                </a:solidFill>
              </a:rPr>
              <a:t>Problema: </a:t>
            </a:r>
            <a:pPr indent="0" marL="0">
              <a:spcAft>
                <a:spcPts val="1000"/>
              </a:spcAft>
              <a:buNone/>
            </a:pPr>
            <a:r>
              <a:rPr lang="en-US" sz="1600" dirty="0">
                <a:solidFill>
                  <a:schemeClr val="tx1"/>
                </a:solidFill>
              </a:rPr>
              <a:t>una pequeña empresa pierde peticiones entre correos dispersos.</a:t>
            </a:r>
            <a:endParaRPr lang="en-US" sz="1600" dirty="0"/>
          </a:p>
          <a:p>
            <a:pPr indent="0" marL="0">
              <a:spcAft>
                <a:spcPts val="1000"/>
              </a:spcAft>
              <a:buNone/>
            </a:pPr>
            <a:r>
              <a:rPr lang="en-US" sz="1600" b="1" dirty="0">
                <a:solidFill>
                  <a:schemeClr val="tx1"/>
                </a:solidFill>
              </a:rPr>
              <a:t>Solución: </a:t>
            </a:r>
            <a:pPr indent="0" marL="0">
              <a:spcAft>
                <a:spcPts val="1000"/>
              </a:spcAft>
              <a:buNone/>
            </a:pPr>
            <a:r>
              <a:rPr lang="en-US" sz="1600" dirty="0">
                <a:solidFill>
                  <a:schemeClr val="tx1"/>
                </a:solidFill>
              </a:rPr>
              <a:t>centralizar las solicitudes en un formulario y una hoja compartida.</a:t>
            </a:r>
            <a:endParaRPr lang="en-US" sz="1600" dirty="0"/>
          </a:p>
          <a:p>
            <a:pPr indent="0" marL="0">
              <a:spcAft>
                <a:spcPts val="1000"/>
              </a:spcAft>
              <a:buNone/>
            </a:pPr>
            <a:r>
              <a:rPr lang="en-US" sz="1600" b="1" dirty="0">
                <a:solidFill>
                  <a:schemeClr val="tx1"/>
                </a:solidFill>
              </a:rPr>
              <a:t>Beneficios esperados: </a:t>
            </a:r>
            <a:pPr indent="0" marL="0">
              <a:spcAft>
                <a:spcPts val="1000"/>
              </a:spcAft>
              <a:buNone/>
            </a:pPr>
            <a:r>
              <a:rPr lang="en-US" sz="1600" dirty="0">
                <a:solidFill>
                  <a:schemeClr val="tx1"/>
                </a:solidFill>
              </a:rPr>
              <a:t>menos olvidos y un seguimiento más fácil.</a:t>
            </a:r>
            <a:endParaRPr lang="en-US" sz="1600" dirty="0"/>
          </a:p>
          <a:p>
            <a:pPr indent="0" marL="0">
              <a:spcAft>
                <a:spcPts val="1000"/>
              </a:spcAft>
              <a:buNone/>
            </a:pPr>
            <a:r>
              <a:rPr lang="en-US" sz="1600" b="1" dirty="0">
                <a:solidFill>
                  <a:schemeClr val="tx1"/>
                </a:solidFill>
              </a:rPr>
              <a:t>Recursos: </a:t>
            </a:r>
            <a:pPr indent="0" marL="0">
              <a:spcAft>
                <a:spcPts val="1000"/>
              </a:spcAft>
              <a:buNone/>
            </a:pPr>
            <a:r>
              <a:rPr lang="en-US" sz="1600" dirty="0">
                <a:solidFill>
                  <a:schemeClr val="tx1"/>
                </a:solidFill>
              </a:rPr>
              <a:t>herramientas ya disponibles y una breve formación interna.</a:t>
            </a:r>
            <a:endParaRPr lang="en-US" sz="1600" dirty="0"/>
          </a:p>
          <a:p>
            <a:pPr indent="0" marL="0">
              <a:spcAft>
                <a:spcPts val="1000"/>
              </a:spcAft>
              <a:buNone/>
            </a:pPr>
            <a:r>
              <a:rPr lang="en-US" sz="1600" b="1" dirty="0">
                <a:solidFill>
                  <a:schemeClr val="tx1"/>
                </a:solidFill>
              </a:rPr>
              <a:t>Riesgos: </a:t>
            </a:r>
            <a:pPr indent="0" marL="0">
              <a:spcAft>
                <a:spcPts val="1000"/>
              </a:spcAft>
              <a:buNone/>
            </a:pPr>
            <a:r>
              <a:rPr lang="en-US" sz="1600" dirty="0">
                <a:solidFill>
                  <a:schemeClr val="tx1"/>
                </a:solidFill>
              </a:rPr>
              <a:t>errores de registro, accesos indebidos y resistencia al cambio.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105–110</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indent="0" marL="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r>
          <p:cNvPicPr>
            <a:picLocks noChangeAspect="1"/>
          </p:cNvPicPr>
          <p:nvPr/>
        </p:nvPicPr>
        <p:blipFill>
          <a:blip r:embed="rId1"/>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indent="0" marL="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indent="0" marL="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r>
          <p:cNvPicPr>
            <a:picLocks noChangeAspect="1"/>
          </p:cNvPicPr>
          <p:nvPr/>
        </p:nvPicPr>
        <p:blipFill>
          <a:blip r:embed="rId2"/>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indent="0" marL="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r>
          <p:cNvPicPr>
            <a:picLocks noChangeAspect="1"/>
          </p:cNvPicPr>
          <p:nvPr/>
        </p:nvPicPr>
        <p:blipFill>
          <a:blip r:embed="rId3"/>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indent="0" marL="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r>
          <p:cNvPicPr>
            <a:picLocks noChangeAspect="1"/>
          </p:cNvPicPr>
          <p:nvPr/>
        </p:nvPicPr>
        <p:blipFill>
          <a:blip r:embed="rId4"/>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indent="0" marL="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algn="ctr" indent="0" marL="0">
              <a:buNone/>
            </a:pPr>
            <a:r>
              <a:rPr lang="en-US" sz="1400" b="1" dirty="0">
                <a:solidFill>
                  <a:schemeClr val="bg1"/>
                </a:solidFill>
              </a:rPr>
              <a:t>Min. 110–120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Con la mejor de vuestras tres propuestas del bloque 2:</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indent="0" marL="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propuesta de una página con estos apartados:</a:t>
            </a:r>
            <a:endParaRPr lang="en-US" sz="1600" dirty="0"/>
          </a:p>
          <a:p>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proyecto, problema, solución, beneficios esperados, recursos y riesgos.</a:t>
            </a:r>
            <a:endParaRPr lang="en-US" sz="1600" dirty="0"/>
          </a:p>
          <a:p>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pPr indent="0" marL="0">
              <a:lnSpc>
                <a:spcPct val="95000"/>
              </a:lnSpc>
              <a:buNone/>
            </a:pPr>
            <a:r>
              <a:rPr lang="en-US" sz="16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pPr indent="0" marL="0">
              <a:lnSpc>
                <a:spcPct val="95000"/>
              </a:lnSpc>
              <a:buNone/>
            </a:pPr>
            <a:r>
              <a:rPr lang="en-US" sz="16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indent="0" marL="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indent="0" marL="0">
              <a:buNone/>
            </a:pPr>
            <a:r>
              <a:rPr lang="en-US" sz="2600" b="1" dirty="0">
                <a:solidFill>
                  <a:schemeClr val="accent1"/>
                </a:solidFill>
              </a:rPr>
              <a:t>2  </a:t>
            </a:r>
            <a:pPr indent="0" marL="0">
              <a:buNone/>
            </a:pP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r>
          <p:cNvPicPr>
            <a:picLocks noChangeAspect="1"/>
          </p:cNvPicPr>
          <p:nvPr/>
        </p:nvPicPr>
        <p:blipFill>
          <a:blip r:embed="rId1"/>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indent="0" marL="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r>
          <p:cNvPicPr>
            <a:picLocks noChangeAspect="1"/>
          </p:cNvPicPr>
          <p:nvPr/>
        </p:nvPicPr>
        <p:blipFill>
          <a:blip r:embed="rId2"/>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indent="0" marL="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r>
          <p:cNvPicPr>
            <a:picLocks noChangeAspect="1"/>
          </p:cNvPicPr>
          <p:nvPr/>
        </p:nvPicPr>
        <p:blipFill>
          <a:blip r:embed="rId3"/>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indent="0" marL="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indent="0" marL="0">
              <a:buNone/>
            </a:pPr>
            <a:r>
              <a:rPr lang="en-US" sz="2600" b="1" dirty="0">
                <a:solidFill>
                  <a:schemeClr val="accent1"/>
                </a:solidFill>
              </a:rPr>
              <a:t>3  </a:t>
            </a:r>
            <a:pPr indent="0" marL="0">
              <a:buNone/>
            </a:pP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110–120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Dos o tres parejas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algn="ctr" indent="0" marL="0">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algn="ctr" indent="0" marL="0">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algn="ctr" indent="0" marL="0">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1900" b="1" dirty="0">
                <a:solidFill>
                  <a:schemeClr val="tx1"/>
                </a:solidFill>
              </a:rPr>
              <a:t>Guardad la ficha: será el borrador del documento del bloque 4.</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120–128</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indent="0" marL="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algn="ctr" indent="0" marL="0">
              <a:buNone/>
            </a:pPr>
            <a:r>
              <a:rPr lang="en-US" sz="4000" b="1" dirty="0">
                <a:solidFill>
                  <a:schemeClr val="tx1"/>
                </a:solidFill>
              </a:rPr>
              <a:t>35 %</a:t>
            </a:r>
            <a:endParaRPr lang="en-US" sz="4000" dirty="0"/>
          </a:p>
          <a:p>
            <a:pPr algn="ctr" indent="0" marL="0">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algn="ctr" indent="0" marL="0">
              <a:buNone/>
            </a:pPr>
            <a:r>
              <a:rPr lang="en-US" sz="4000" b="1" dirty="0">
                <a:solidFill>
                  <a:schemeClr val="bg1"/>
                </a:solidFill>
              </a:rPr>
              <a:t>30 %</a:t>
            </a:r>
            <a:endParaRPr lang="en-US" sz="4000" dirty="0"/>
          </a:p>
          <a:p>
            <a:pPr algn="ctr" indent="0" marL="0">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algn="ctr" indent="0" marL="0">
              <a:buNone/>
            </a:pPr>
            <a:r>
              <a:rPr lang="en-US" sz="4000" b="1" dirty="0">
                <a:solidFill>
                  <a:schemeClr val="bg1"/>
                </a:solidFill>
              </a:rPr>
              <a:t>20 %</a:t>
            </a:r>
            <a:endParaRPr lang="en-US" sz="4000" dirty="0"/>
          </a:p>
          <a:p>
            <a:pPr algn="ctr" indent="0" marL="0">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algn="ctr" indent="0" marL="0">
              <a:buNone/>
            </a:pPr>
            <a:r>
              <a:rPr lang="en-US" sz="4000" b="1" dirty="0">
                <a:solidFill>
                  <a:schemeClr val="bg1"/>
                </a:solidFill>
              </a:rPr>
              <a:t>15 %</a:t>
            </a:r>
            <a:endParaRPr lang="en-US" sz="4000" dirty="0"/>
          </a:p>
          <a:p>
            <a:pPr algn="ctr" indent="0" marL="0">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algn="r" indent="0" marL="0">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r>
          <p:cNvPicPr>
            <a:picLocks noChangeAspect="1"/>
          </p:cNvPicPr>
          <p:nvPr/>
        </p:nvPicPr>
        <p:blipFill>
          <a:blip r:embed="rId1"/>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indent="0" marL="0">
              <a:buNone/>
            </a:pPr>
            <a:r>
              <a:rPr lang="en-US" sz="1900" b="1" dirty="0">
                <a:solidFill>
                  <a:schemeClr val="tx1"/>
                </a:solidFill>
              </a:rPr>
              <a:t>Ojo con «Bajo coste»: </a:t>
            </a:r>
            <a:pPr indent="0" marL="0">
              <a:buNone/>
            </a:pP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indent="0" marL="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120–128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Con la calculadora del móvil, calculad el resultado de la propuesta que os toque:</a:t>
            </a:r>
            <a:endParaRPr lang="en-US" sz="1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3047695"/>
                <a:gridCol w="1645920"/>
                <a:gridCol w="1645920"/>
                <a:gridCol w="1645920"/>
                <a:gridCol w="1645920"/>
                <a:gridCol w="1463040"/>
              </a:tblGrid>
              <a:tr h="777240">
                <a:tc>
                  <a:txBody>
                    <a:bodyPr/>
                    <a:lstStyle/>
                    <a:p>
                      <a:pPr algn="ctr" indent="0" marL="0">
                        <a:buNone/>
                      </a:pPr>
                      <a:r>
                        <a:rPr lang="en-US" sz="1800" b="1" dirty="0">
                          <a:solidFill>
                            <a:schemeClr val="bg1"/>
                          </a:solidFill>
                        </a:rPr>
                        <a:t>Propuesta</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tx1"/>
                          </a:solidFill>
                        </a:rPr>
                        <a:t>Impacto</a:t>
                      </a:r>
                      <a:endParaRPr lang="en-US" sz="1800" dirty="0"/>
                    </a:p>
                    <a:p>
                      <a:pPr algn="ctr" indent="0" marL="0">
                        <a:buNone/>
                      </a:pPr>
                      <a:r>
                        <a:rPr lang="en-US" sz="1800" b="1" dirty="0">
                          <a:solidFill>
                            <a:schemeClr val="tx1"/>
                          </a:solidFill>
                        </a:rPr>
                        <a:t>35 %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Viabilidad</a:t>
                      </a:r>
                      <a:endParaRPr lang="en-US" sz="1800" dirty="0"/>
                    </a:p>
                    <a:p>
                      <a:pPr algn="ctr" indent="0" marL="0">
                        <a:buNone/>
                      </a:pPr>
                      <a:r>
                        <a:rPr lang="en-US" sz="1800" b="1" dirty="0">
                          <a:solidFill>
                            <a:schemeClr val="bg1"/>
                          </a:solidFill>
                        </a:rPr>
                        <a:t>30 %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algn="ctr" indent="0" marL="0">
                        <a:buNone/>
                      </a:pPr>
                      <a:r>
                        <a:rPr lang="en-US" sz="1800" b="1" dirty="0">
                          <a:solidFill>
                            <a:schemeClr val="bg1"/>
                          </a:solidFill>
                        </a:rPr>
                        <a:t>Bajo coste</a:t>
                      </a:r>
                      <a:endParaRPr lang="en-US" sz="1800" dirty="0"/>
                    </a:p>
                    <a:p>
                      <a:pPr algn="ctr" indent="0" marL="0">
                        <a:buNone/>
                      </a:pPr>
                      <a:r>
                        <a:rPr lang="en-US" sz="1800" b="1" dirty="0">
                          <a:solidFill>
                            <a:schemeClr val="bg1"/>
                          </a:solidFill>
                        </a:rPr>
                        <a:t>20 %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bg1"/>
                          </a:solidFill>
                        </a:rPr>
                        <a:t>Originalidad</a:t>
                      </a:r>
                      <a:endParaRPr lang="en-US" sz="1800" dirty="0"/>
                    </a:p>
                    <a:p>
                      <a:pPr algn="ctr" indent="0" marL="0">
                        <a:buNone/>
                      </a:pPr>
                      <a:r>
                        <a:rPr lang="en-US" sz="1800" b="1" dirty="0">
                          <a:solidFill>
                            <a:schemeClr val="bg1"/>
                          </a:solidFill>
                        </a:rPr>
                        <a:t>15 %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algn="ctr" indent="0" marL="0">
                        <a:buNone/>
                      </a:pPr>
                      <a:r>
                        <a:rPr lang="en-US" sz="1800" b="1" dirty="0">
                          <a:solidFill>
                            <a:schemeClr val="bg1"/>
                          </a:solidFill>
                        </a:rPr>
                        <a:t>Resultado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r>
              <a:tr h="640080">
                <a:tc>
                  <a:txBody>
                    <a:bodyPr/>
                    <a:lstStyle/>
                    <a:p>
                      <a:pPr indent="0" marL="0">
                        <a:buNone/>
                      </a:pPr>
                      <a:r>
                        <a:rPr lang="en-US" sz="1800" b="1" dirty="0">
                          <a:solidFill>
                            <a:schemeClr val="tx1"/>
                          </a:solidFill>
                        </a:rPr>
                        <a:t>Formulario digital</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5"/>
                          </a:solidFill>
                        </a:rPr>
                        <a:t>?</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r h="640080">
                <a:tc>
                  <a:txBody>
                    <a:bodyPr/>
                    <a:lstStyle/>
                    <a:p>
                      <a:pPr indent="0" marL="0">
                        <a:buNone/>
                      </a:pPr>
                      <a:r>
                        <a:rPr lang="en-US" sz="1800" b="1" dirty="0">
                          <a:solidFill>
                            <a:schemeClr val="tx1"/>
                          </a:solidFill>
                        </a:rPr>
                        <a:t>Chatbot informativo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2</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5"/>
                          </a:solidFill>
                        </a:rPr>
                        <a:t>?</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r h="640080">
                <a:tc>
                  <a:txBody>
                    <a:bodyPr/>
                    <a:lstStyle/>
                    <a:p>
                      <a:pPr indent="0" marL="0">
                        <a:buNone/>
                      </a:pPr>
                      <a:r>
                        <a:rPr lang="en-US" sz="1800" b="1" dirty="0">
                          <a:solidFill>
                            <a:schemeClr val="tx1"/>
                          </a:solidFill>
                        </a:rPr>
                        <a:t>Panel de seguimiento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5"/>
                          </a:solidFill>
                        </a:rPr>
                        <a:t>?</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r>
          <p:cNvPicPr>
            <a:picLocks noChangeAspect="1"/>
          </p:cNvPicPr>
          <p:nvPr/>
        </p:nvPicPr>
        <p:blipFill>
          <a:blip r:embed="rId1"/>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indent="0" marL="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120–128</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47695"/>
                <a:gridCol w="1645920"/>
                <a:gridCol w="1645920"/>
                <a:gridCol w="1645920"/>
                <a:gridCol w="1645920"/>
                <a:gridCol w="1463040"/>
              </a:tblGrid>
              <a:tr h="777240">
                <a:tc>
                  <a:txBody>
                    <a:bodyPr/>
                    <a:lstStyle/>
                    <a:p>
                      <a:pPr algn="ctr" indent="0" marL="0">
                        <a:buNone/>
                      </a:pPr>
                      <a:r>
                        <a:rPr lang="en-US" sz="1800" b="1" dirty="0">
                          <a:solidFill>
                            <a:schemeClr val="bg1"/>
                          </a:solidFill>
                        </a:rPr>
                        <a:t>Propuesta</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algn="ctr" indent="0" marL="0">
                        <a:buNone/>
                      </a:pPr>
                      <a:r>
                        <a:rPr lang="en-US" sz="1800" b="1" dirty="0">
                          <a:solidFill>
                            <a:schemeClr val="tx1"/>
                          </a:solidFill>
                        </a:rPr>
                        <a:t>Impacto</a:t>
                      </a:r>
                      <a:endParaRPr lang="en-US" sz="1800" dirty="0"/>
                    </a:p>
                    <a:p>
                      <a:pPr algn="ctr" indent="0" marL="0">
                        <a:buNone/>
                      </a:pPr>
                      <a:r>
                        <a:rPr lang="en-US" sz="1800" b="1" dirty="0">
                          <a:solidFill>
                            <a:schemeClr val="tx1"/>
                          </a:solidFill>
                        </a:rPr>
                        <a:t>35 %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algn="ctr" indent="0" marL="0">
                        <a:buNone/>
                      </a:pPr>
                      <a:r>
                        <a:rPr lang="en-US" sz="1800" b="1" dirty="0">
                          <a:solidFill>
                            <a:schemeClr val="bg1"/>
                          </a:solidFill>
                        </a:rPr>
                        <a:t>Viabilidad</a:t>
                      </a:r>
                      <a:endParaRPr lang="en-US" sz="1800" dirty="0"/>
                    </a:p>
                    <a:p>
                      <a:pPr algn="ctr" indent="0" marL="0">
                        <a:buNone/>
                      </a:pPr>
                      <a:r>
                        <a:rPr lang="en-US" sz="1800" b="1" dirty="0">
                          <a:solidFill>
                            <a:schemeClr val="bg1"/>
                          </a:solidFill>
                        </a:rPr>
                        <a:t>30 %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algn="ctr" indent="0" marL="0">
                        <a:buNone/>
                      </a:pPr>
                      <a:r>
                        <a:rPr lang="en-US" sz="1800" b="1" dirty="0">
                          <a:solidFill>
                            <a:schemeClr val="bg1"/>
                          </a:solidFill>
                        </a:rPr>
                        <a:t>Bajo coste</a:t>
                      </a:r>
                      <a:endParaRPr lang="en-US" sz="1800" dirty="0"/>
                    </a:p>
                    <a:p>
                      <a:pPr algn="ctr" indent="0" marL="0">
                        <a:buNone/>
                      </a:pPr>
                      <a:r>
                        <a:rPr lang="en-US" sz="1800" b="1" dirty="0">
                          <a:solidFill>
                            <a:schemeClr val="bg1"/>
                          </a:solidFill>
                        </a:rPr>
                        <a:t>20 %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algn="ctr" indent="0" marL="0">
                        <a:buNone/>
                      </a:pPr>
                      <a:r>
                        <a:rPr lang="en-US" sz="1800" b="1" dirty="0">
                          <a:solidFill>
                            <a:schemeClr val="bg1"/>
                          </a:solidFill>
                        </a:rPr>
                        <a:t>Originalidad</a:t>
                      </a:r>
                      <a:endParaRPr lang="en-US" sz="1800" dirty="0"/>
                    </a:p>
                    <a:p>
                      <a:pPr algn="ctr" indent="0" marL="0">
                        <a:buNone/>
                      </a:pPr>
                      <a:r>
                        <a:rPr lang="en-US" sz="1800" b="1" dirty="0">
                          <a:solidFill>
                            <a:schemeClr val="bg1"/>
                          </a:solidFill>
                        </a:rPr>
                        <a:t>15 %</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algn="ctr" indent="0" marL="0">
                        <a:buNone/>
                      </a:pPr>
                      <a:r>
                        <a:rPr lang="en-US" sz="1800" b="1" dirty="0">
                          <a:solidFill>
                            <a:schemeClr val="bg1"/>
                          </a:solidFill>
                        </a:rPr>
                        <a:t>Resultado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r>
              <a:tr h="640080">
                <a:tc>
                  <a:txBody>
                    <a:bodyPr/>
                    <a:lstStyle/>
                    <a:p>
                      <a:pPr indent="0" marL="0">
                        <a:buNone/>
                      </a:pPr>
                      <a:r>
                        <a:rPr lang="en-US" sz="1800" b="1" dirty="0">
                          <a:solidFill>
                            <a:schemeClr val="tx1"/>
                          </a:solidFill>
                        </a:rPr>
                        <a:t>Formulario digital</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3"/>
                          </a:solidFill>
                        </a:rPr>
                        <a:t>4,35</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r h="640080">
                <a:tc>
                  <a:txBody>
                    <a:bodyPr/>
                    <a:lstStyle/>
                    <a:p>
                      <a:pPr indent="0" marL="0">
                        <a:buNone/>
                      </a:pPr>
                      <a:r>
                        <a:rPr lang="en-US" sz="1800" b="1" dirty="0">
                          <a:solidFill>
                            <a:schemeClr val="tx1"/>
                          </a:solidFill>
                        </a:rPr>
                        <a:t>Chatbot informativo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2</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3"/>
                          </a:solidFill>
                        </a:rPr>
                        <a:t>3,30</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r h="640080">
                <a:tc>
                  <a:txBody>
                    <a:bodyPr/>
                    <a:lstStyle/>
                    <a:p>
                      <a:pPr indent="0" marL="0">
                        <a:buNone/>
                      </a:pPr>
                      <a:r>
                        <a:rPr lang="en-US" sz="1800" b="1" dirty="0">
                          <a:solidFill>
                            <a:schemeClr val="tx1"/>
                          </a:solidFill>
                        </a:rPr>
                        <a:t>Panel de seguimiento</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5</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4</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1800" dirty="0">
                          <a:solidFill>
                            <a:schemeClr val="tx1"/>
                          </a:solidFill>
                        </a:rPr>
                        <a:t>3</a:t>
                      </a:r>
                      <a:endParaRPr lang="en-US" sz="18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algn="ctr" indent="0" marL="0">
                        <a:buNone/>
                      </a:pPr>
                      <a:r>
                        <a:rPr lang="en-US" sz="2200" b="1" dirty="0">
                          <a:solidFill>
                            <a:schemeClr val="accent3"/>
                          </a:solidFill>
                        </a:rPr>
                        <a:t>4,20</a:t>
                      </a:r>
                      <a:endParaRPr lang="en-US" sz="2200" dirty="0"/>
                    </a:p>
                  </a:txBody>
                  <a:tcPr marL="91440" marR="91440"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r>
            </a:tbl>
          </a:graphicData>
        </a:graphic>
      </p:graphicFrame>
      <p:sp>
        <p:nvSpPr>
          <p:cNvPr id="6" name="Text 3"/>
          <p:cNvSpPr txBox="1"/>
          <p:nvPr/>
        </p:nvSpPr>
        <p:spPr>
          <a:xfrm>
            <a:off x="548640" y="4434840"/>
            <a:ext cx="11094415" cy="411480"/>
          </a:xfrm>
          <a:prstGeom prst="rect">
            <a:avLst/>
          </a:prstGeom>
          <a:noFill/>
          <a:ln/>
        </p:spPr>
        <p:txBody>
          <a:bodyPr wrap="square" lIns="0" tIns="0" rIns="0" bIns="0" rtlCol="0" anchor="ctr"/>
          <a:lstStyle/>
          <a:p>
            <a:pPr indent="0" marL="0">
              <a:buNone/>
            </a:pPr>
            <a:r>
              <a:rPr lang="en-US" sz="1700" b="1" dirty="0">
                <a:solidFill>
                  <a:schemeClr val="tx2"/>
                </a:solidFill>
              </a:rPr>
              <a:t>Ejemplo, el formulario digital:</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algn="ctr" indent="0" marL="0">
              <a:buNone/>
            </a:pPr>
            <a:r>
              <a:rPr lang="en-US" sz="1800" dirty="0">
                <a:solidFill>
                  <a:schemeClr val="tx1"/>
                </a:solidFill>
              </a:rPr>
              <a:t>4 × 0,35 = </a:t>
            </a:r>
            <a:pPr algn="ctr" indent="0" marL="0">
              <a:buNone/>
            </a:pP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algn="ctr" indent="0" marL="0">
              <a:buNone/>
            </a:pPr>
            <a:r>
              <a:rPr lang="en-US" sz="1800" dirty="0">
                <a:solidFill>
                  <a:schemeClr val="tx1"/>
                </a:solidFill>
              </a:rPr>
              <a:t>5 × 0,30 = </a:t>
            </a:r>
            <a:pPr algn="ctr" indent="0" marL="0">
              <a:buNone/>
            </a:pP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algn="ctr" indent="0" marL="0">
              <a:buNone/>
            </a:pPr>
            <a:r>
              <a:rPr lang="en-US" sz="1800" dirty="0">
                <a:solidFill>
                  <a:schemeClr val="tx1"/>
                </a:solidFill>
              </a:rPr>
              <a:t>5 × 0,20 = </a:t>
            </a:r>
            <a:pPr algn="ctr" indent="0" marL="0">
              <a:buNone/>
            </a:pP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algn="ctr" indent="0" marL="0">
              <a:buNone/>
            </a:pPr>
            <a:r>
              <a:rPr lang="en-US" sz="1800" dirty="0">
                <a:solidFill>
                  <a:schemeClr val="tx1"/>
                </a:solidFill>
              </a:rPr>
              <a:t>3 × 0,15 = </a:t>
            </a:r>
            <a:pPr algn="ctr" indent="0" marL="0">
              <a:buNone/>
            </a:pP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algn="ctr" indent="0" marL="0">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algn="ctr" indent="0" marL="0">
              <a:buNone/>
            </a:pPr>
            <a:r>
              <a:rPr lang="en-US" sz="1400" b="1" dirty="0">
                <a:solidFill>
                  <a:schemeClr val="tx1"/>
                </a:solidFill>
              </a:rPr>
              <a:t>Min. 120–128</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indent="0" marL="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algn="ctr" indent="0" marL="0">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algn="ctr" indent="0" marL="0">
              <a:buNone/>
            </a:pPr>
            <a:r>
              <a:rPr lang="en-US" sz="1800" b="1" dirty="0">
                <a:solidFill>
                  <a:schemeClr val="tx1"/>
                </a:solidFill>
              </a:rPr>
              <a:t>Columna B  </a:t>
            </a:r>
            <a:pPr algn="ctr" indent="0" marL="0">
              <a:buNone/>
            </a:pP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algn="ctr" indent="0" marL="0">
              <a:buNone/>
            </a:pPr>
            <a:r>
              <a:rPr lang="en-US" sz="1800" b="1" dirty="0">
                <a:solidFill>
                  <a:schemeClr val="bg1"/>
                </a:solidFill>
              </a:rPr>
              <a:t>Columna C  </a:t>
            </a:r>
            <a:pPr algn="ctr" indent="0" marL="0">
              <a:buNone/>
            </a:pP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algn="ctr" indent="0" marL="0">
              <a:buNone/>
            </a:pPr>
            <a:r>
              <a:rPr lang="en-US" sz="1800" b="1" dirty="0">
                <a:solidFill>
                  <a:schemeClr val="bg1"/>
                </a:solidFill>
              </a:rPr>
              <a:t>Columna D  </a:t>
            </a:r>
            <a:pPr algn="ctr" indent="0" marL="0">
              <a:buNone/>
            </a:pP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algn="ctr" indent="0" marL="0">
              <a:buNone/>
            </a:pPr>
            <a:r>
              <a:rPr lang="en-US" sz="1800" b="1" dirty="0">
                <a:solidFill>
                  <a:schemeClr val="bg1"/>
                </a:solidFill>
              </a:rPr>
              <a:t>Columna E  </a:t>
            </a:r>
            <a:pPr algn="ctr" indent="0" marL="0">
              <a:buNone/>
            </a:pP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r>
          <p:cNvPicPr>
            <a:picLocks noChangeAspect="1"/>
          </p:cNvPicPr>
          <p:nvPr/>
        </p:nvPicPr>
        <p:blipFill>
          <a:blip r:embed="rId1"/>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indent="0" marL="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r>
          <p:cNvPicPr>
            <a:picLocks noChangeAspect="1"/>
          </p:cNvPicPr>
          <p:nvPr/>
        </p:nvPicPr>
        <p:blipFill>
          <a:blip r:embed="rId2"/>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indent="0" marL="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128–160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r>
          <p:cNvPicPr>
            <a:picLocks noChangeAspect="1"/>
          </p:cNvPicPr>
          <p:nvPr/>
        </p:nvPicPr>
        <p:blipFill>
          <a:blip r:embed="rId1"/>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indent="0" marL="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r>
          <p:cNvPicPr>
            <a:picLocks noChangeAspect="1"/>
          </p:cNvPicPr>
          <p:nvPr/>
        </p:nvPicPr>
        <p:blipFill>
          <a:blip r:embed="rId2"/>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indent="0" marL="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r>
          <p:cNvPicPr>
            <a:picLocks noChangeAspect="1"/>
          </p:cNvPicPr>
          <p:nvPr/>
        </p:nvPicPr>
        <p:blipFill>
          <a:blip r:embed="rId3"/>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indent="0" marL="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r>
          <p:cNvPicPr>
            <a:picLocks noChangeAspect="1"/>
          </p:cNvPicPr>
          <p:nvPr/>
        </p:nvPicPr>
        <p:blipFill>
          <a:blip r:embed="rId4"/>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indent="0" marL="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algn="ctr" indent="0" marL="0">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r>
          <p:cNvPicPr>
            <a:picLocks noChangeAspect="1"/>
          </p:cNvPicPr>
          <p:nvPr/>
        </p:nvPicPr>
        <p:blipFill>
          <a:blip r:embed="rId5"/>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indent="0" marL="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indent="0" marL="0">
              <a:buNone/>
            </a:pPr>
            <a:r>
              <a:rPr lang="en-US" sz="2200" b="1" dirty="0">
                <a:solidFill>
                  <a:schemeClr val="accent2"/>
                </a:solidFill>
              </a:rPr>
              <a:t>6  </a:t>
            </a:r>
            <a:pPr indent="0" marL="0">
              <a:buNone/>
            </a:pPr>
            <a:r>
              <a:rPr lang="en-US" sz="1900" b="1" dirty="0">
                <a:solidFill>
                  <a:schemeClr val="accent2"/>
                </a:solidFill>
              </a:rPr>
              <a:t>Y después, la IA revisa vuestra matriz →</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algn="ctr" indent="0" marL="0">
              <a:buNone/>
            </a:pPr>
            <a:r>
              <a:rPr lang="en-US" sz="1400" b="1" dirty="0">
                <a:solidFill>
                  <a:schemeClr val="bg1"/>
                </a:solidFill>
              </a:rPr>
              <a:t>Min. 128–160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pegar la tabla con los pesos</a:t>
            </a:r>
            <a:pPr indent="0" marL="0">
              <a:lnSpc>
                <a:spcPct val="95000"/>
              </a:lnSpc>
              <a:buNone/>
            </a:pPr>
            <a:r>
              <a:rPr lang="en-US" sz="1700" b="1" dirty="0">
                <a:solidFill>
                  <a:schemeClr val="accent1"/>
                </a:solidFill>
                <a:latin typeface="Courier New" pitchFamily="34" charset="0"/>
                <a:ea typeface="Courier New" pitchFamily="34" charset="-122"/>
                <a:cs typeface="Courier New" pitchFamily="34" charset="-120"/>
              </a:rPr>
              <a:t>]</a:t>
            </a:r>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indent="0" marL="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r>
          <p:cNvPicPr>
            <a:picLocks noChangeAspect="1"/>
          </p:cNvPicPr>
          <p:nvPr/>
        </p:nvPicPr>
        <p:blipFill>
          <a:blip r:embed="rId1"/>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indent="0" marL="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indent="0" marL="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r>
          <p:cNvPicPr>
            <a:picLocks noChangeAspect="1"/>
          </p:cNvPicPr>
          <p:nvPr/>
        </p:nvPicPr>
        <p:blipFill>
          <a:blip r:embed="rId2"/>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indent="0" marL="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indent="0" marL="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algn="ctr" indent="0" marL="0">
              <a:buNone/>
            </a:pPr>
            <a:r>
              <a:rPr lang="en-US" sz="1400" b="1" dirty="0">
                <a:solidFill>
                  <a:schemeClr val="tx1"/>
                </a:solidFill>
              </a:rPr>
              <a:t>Min. 155–160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indent="0" marL="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algn="ctr" indent="0" marL="0">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algn="ctr" indent="0" marL="0">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algn="ctr" indent="0" marL="0">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indent="0" marL="0">
              <a:buNone/>
            </a:pPr>
            <a:r>
              <a:rPr lang="en-US" sz="1900" b="1" dirty="0">
                <a:solidFill>
                  <a:schemeClr val="tx1"/>
                </a:solidFill>
              </a:rPr>
              <a:t>Entregable: la hoja de cálculo con vuestras decisiones argumentadas.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777240"/>
          </a:xfrm>
          <a:prstGeom prst="rect">
            <a:avLst/>
          </a:prstGeom>
          <a:noFill/>
          <a:ln/>
        </p:spPr>
        <p:txBody>
          <a:bodyPr wrap="square" lIns="0" tIns="0" rIns="0" bIns="0" rtlCol="0" anchor="ctr"/>
          <a:lstStyle/>
          <a:p>
            <a:pPr algn="l" indent="0" marL="0">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algn="ctr" indent="0" marL="0">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r>
          <p:cNvPicPr>
            <a:picLocks noChangeAspect="1"/>
          </p:cNvPicPr>
          <p:nvPr/>
        </p:nvPicPr>
        <p:blipFill>
          <a:blip r:embed="rId1"/>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r>
          <p:cNvPicPr>
            <a:picLocks noChangeAspect="1"/>
          </p:cNvPicPr>
          <p:nvPr/>
        </p:nvPicPr>
        <p:blipFill>
          <a:blip r:embed="rId2"/>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Idear</a:t>
            </a:r>
            <a:endParaRPr lang="en-US" sz="1900" dirty="0"/>
          </a:p>
        </p:txBody>
      </p:sp>
      <p:sp>
        <p:nvSpPr>
          <p:cNvPr id="13" name="Documentar"/>
          <p:cNvSpPr/>
          <p:nvPr/>
        </p:nvSpPr>
        <p:spPr>
          <a:xfrm>
            <a:off x="5032126" y="1645920"/>
            <a:ext cx="2127443" cy="1463040"/>
          </a:xfrm>
          <a:prstGeom prst="chevron">
            <a:avLst/>
          </a:prstGeom>
          <a:solidFill>
            <a:schemeClr val="tx1"/>
          </a:solidFill>
          <a:ln/>
        </p:spPr>
      </p:sp>
      <p:sp>
        <p:nvSpPr>
          <p:cNvPr id="14" name="Documentar"/>
          <p:cNvSpPr/>
          <p:nvPr/>
        </p:nvSpPr>
        <p:spPr>
          <a:xfrm>
            <a:off x="5775808" y="1783080"/>
            <a:ext cx="640080" cy="640080"/>
          </a:xfrm>
          <a:prstGeom prst="ellipse">
            <a:avLst/>
          </a:prstGeom>
          <a:solidFill>
            <a:schemeClr val="accent1"/>
          </a:solidFill>
          <a:ln/>
        </p:spPr>
      </p:sp>
      <p:pic>
        <p:nvPicPr>
          <p:cNvPr id="15" name="Image 2" descr="Documentar">    </p:cNvPr>
          <p:cNvPicPr>
            <a:picLocks noChangeAspect="1"/>
          </p:cNvPicPr>
          <p:nvPr/>
        </p:nvPicPr>
        <p:blipFill>
          <a:blip r:embed="rId3"/>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Documentar</a:t>
            </a:r>
            <a:endParaRPr lang="en-US" sz="1900" dirty="0"/>
          </a:p>
        </p:txBody>
      </p:sp>
      <p:sp>
        <p:nvSpPr>
          <p:cNvPr id="17" name="Comparar"/>
          <p:cNvSpPr/>
          <p:nvPr/>
        </p:nvSpPr>
        <p:spPr>
          <a:xfrm>
            <a:off x="7251009" y="1645920"/>
            <a:ext cx="2127443" cy="1463040"/>
          </a:xfrm>
          <a:prstGeom prst="chevron">
            <a:avLst/>
          </a:prstGeom>
          <a:solidFill>
            <a:schemeClr val="tx2"/>
          </a:solidFill>
          <a:ln/>
        </p:spPr>
      </p:sp>
      <p:sp>
        <p:nvSpPr>
          <p:cNvPr id="18" name="Comparar"/>
          <p:cNvSpPr/>
          <p:nvPr/>
        </p:nvSpPr>
        <p:spPr>
          <a:xfrm>
            <a:off x="7994691" y="1783080"/>
            <a:ext cx="640080" cy="640080"/>
          </a:xfrm>
          <a:prstGeom prst="ellipse">
            <a:avLst/>
          </a:prstGeom>
          <a:solidFill>
            <a:schemeClr val="accent1"/>
          </a:solidFill>
          <a:ln/>
        </p:spPr>
      </p:sp>
      <p:pic>
        <p:nvPicPr>
          <p:cNvPr id="19" name="Image 3" descr="Comparar">    </p:cNvPr>
          <p:cNvPicPr>
            <a:picLocks noChangeAspect="1"/>
          </p:cNvPicPr>
          <p:nvPr/>
        </p:nvPicPr>
        <p:blipFill>
          <a:blip r:embed="rId4"/>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Comparar</a:t>
            </a:r>
            <a:endParaRPr lang="en-US" sz="1900" dirty="0"/>
          </a:p>
        </p:txBody>
      </p:sp>
      <p:sp>
        <p:nvSpPr>
          <p:cNvPr id="21" name="Decidir"/>
          <p:cNvSpPr/>
          <p:nvPr/>
        </p:nvSpPr>
        <p:spPr>
          <a:xfrm>
            <a:off x="9469892" y="1645920"/>
            <a:ext cx="2127443" cy="1463040"/>
          </a:xfrm>
          <a:prstGeom prst="chevron">
            <a:avLst/>
          </a:prstGeom>
          <a:solidFill>
            <a:schemeClr val="tx1"/>
          </a:solidFill>
          <a:ln/>
        </p:spPr>
      </p:sp>
      <p:sp>
        <p:nvSpPr>
          <p:cNvPr id="22" name="Decidir"/>
          <p:cNvSpPr/>
          <p:nvPr/>
        </p:nvSpPr>
        <p:spPr>
          <a:xfrm>
            <a:off x="10213574" y="1783080"/>
            <a:ext cx="640080" cy="640080"/>
          </a:xfrm>
          <a:prstGeom prst="ellipse">
            <a:avLst/>
          </a:prstGeom>
          <a:solidFill>
            <a:schemeClr val="accent1"/>
          </a:solidFill>
          <a:ln/>
        </p:spPr>
      </p:sp>
      <p:pic>
        <p:nvPicPr>
          <p:cNvPr id="23" name="Image 4" descr="Decidir">    </p:cNvPr>
          <p:cNvPicPr>
            <a:picLocks noChangeAspect="1"/>
          </p:cNvPicPr>
          <p:nvPr/>
        </p:nvPicPr>
        <p:blipFill>
          <a:blip r:embed="rId5"/>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algn="ctr" indent="0" marL="0">
              <a:buNone/>
            </a:pPr>
            <a:r>
              <a:rPr lang="en-US" sz="1900" b="1" dirty="0">
                <a:solidFill>
                  <a:schemeClr val="bg1"/>
                </a:solidFill>
              </a:rPr>
              <a:t>Decidir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r>
          <p:cNvPicPr>
            <a:picLocks noChangeAspect="1"/>
          </p:cNvPicPr>
          <p:nvPr/>
        </p:nvPicPr>
        <p:blipFill>
          <a:blip r:embed="rId6"/>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indent="0" marL="0">
              <a:buNone/>
            </a:pPr>
            <a:r>
              <a:rPr lang="en-US" sz="2400" b="1" dirty="0">
                <a:solidFill>
                  <a:schemeClr val="tx1"/>
                </a:solidFill>
              </a:rPr>
              <a:t>Ronda rápida</a:t>
            </a:r>
            <a:endParaRPr lang="en-US" sz="2100" dirty="0"/>
          </a:p>
          <a:p>
            <a:pPr indent="0" marL="0">
              <a:buNone/>
            </a:pPr>
            <a:r>
              <a:rPr lang="en-US" sz="2100" dirty="0">
                <a:solidFill>
                  <a:schemeClr val="tx1"/>
                </a:solidFill>
              </a:rPr>
              <a:t>Cada pareja, en una frase: ¿qué paso os ha costado más hasta ahora y por qué?</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indent="0" marL="0">
              <a:buNone/>
            </a:pPr>
            <a:r>
              <a:rPr lang="en-US" sz="1800" b="1" dirty="0">
                <a:solidFill>
                  <a:schemeClr val="accent1"/>
                </a:solidFill>
              </a:rPr>
              <a:t>Idea clave del bloque 3</a:t>
            </a:r>
            <a:endParaRPr lang="en-US" sz="1800" dirty="0"/>
          </a:p>
        </p:txBody>
      </p:sp>
      <p:sp>
        <p:nvSpPr>
          <p:cNvPr id="3" name="Text 0"/>
          <p:cNvSpPr/>
          <p:nvPr>
            <p:ph idx="100" type="body" hasCustomPrompt="1"/>
          </p:nvPr>
        </p:nvSpPr>
        <p:spPr>
          <a:xfrm>
            <a:off x="1097280" y="1554480"/>
            <a:ext cx="9966960" cy="3108960"/>
          </a:xfrm>
          <a:prstGeom prst="rect">
            <a:avLst/>
          </a:prstGeom>
          <a:noFill/>
          <a:ln/>
        </p:spPr>
        <p:txBody>
          <a:bodyPr wrap="square" lIns="0" tIns="0" rIns="0" bIns="0" rtlCol="0" anchor="ctr"/>
          <a:lstStyle/>
          <a:p>
            <a:pPr indent="0" marL="0">
              <a:buNone/>
            </a:pPr>
            <a:r>
              <a:rPr lang="en-US" sz="3400" dirty="0">
                <a:solidFill>
                  <a:schemeClr val="bg1"/>
                </a:solidFill>
              </a:rPr>
              <a:t>Un documento de la IA no está terminado hasta que lo revisáis.</a:t>
            </a:r>
            <a:endParaRPr lang="en-US" sz="3400" dirty="0"/>
          </a:p>
          <a:p>
            <a:pPr indent="0" marL="0">
              <a:buNone/>
            </a:pPr>
            <a:r>
              <a:rPr lang="en-US" sz="3400" b="1" dirty="0">
                <a:solidFill>
                  <a:schemeClr val="accent1"/>
                </a:solidFill>
              </a:rPr>
              <a:t>Y 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8A94A6"/>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3. Ofimática para desarrollar y evaluar ideas</dc:title>
  <dc:subject>Desarrollo de las habilidades creativas e innovadoras con herramientas ofimáticas y de inteligencia artificial</dc:subject>
  <dc:creator>PptxGenJS</dc:creator>
  <cp:lastModifiedBy>PptxGenJS</cp:lastModifiedBy>
  <cp:revision>1</cp:revision>
  <dcterms:created xsi:type="dcterms:W3CDTF">2026-10-17T19:08:54Z</dcterms:created>
  <dcterms:modified xsi:type="dcterms:W3CDTF">2026-10-17T19:08:54Z</dcterms:modified>
</cp:coreProperties>
</file>