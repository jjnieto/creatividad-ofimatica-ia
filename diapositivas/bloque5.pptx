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oque 5" id="{ce388a4d-6f73-6e2b-3b6f-69f0f707a0c8}">
          <p14:sldIdLst>
            <p14:sldId id="256"/>
            <p14:sldId id="257"/>
          </p14:sldIdLst>
        </p14:section>
        <p14:section name="Defender una idea" id="{3c6a5ef5-6b58-a273-7855-7404180bab09}">
          <p14:sldIdLst>
            <p14:sldId id="258"/>
            <p14:sldId id="259"/>
            <p14:sldId id="260"/>
          </p14:sldIdLst>
        </p14:section>
        <p14:section name="Presentaciones" id="{ff4ba565-ca63-9d3d-591f-15060dcadb00}">
          <p14:sldIdLst>
            <p14:sldId id="261"/>
            <p14:sldId id="262"/>
          </p14:sldIdLst>
        </p14:section>
        <p14:section name="IA evaluadora" id="{dda7b211-10f8-c2bc-1664-cf951f1bd64d}">
          <p14:sldIdLst>
            <p14:sldId id="263"/>
            <p14:sldId id="264"/>
          </p14:sldIdLst>
        </p14:section>
        <p14:section name="Empleo" id="{0ab61e27-b9a3-bca5-db6e-194663072e15}">
          <p14:sldIdLst>
            <p14:sldId id="265"/>
            <p14:sldId id="266"/>
            <p14:sldId id="267"/>
          </p14:sldIdLst>
        </p14:section>
        <p14:section name="Cierre" id="{feadb4f5-bc38-2379-edcb-2c48c4462ddf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del bloque: defender una propuesta, aceptar críticas constructivas y traducir la experiencia en evidencias profesionales.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del bloque: cada pareja defiende su propuesta ganadora ante el grupo y ante la IA, y después se traslada lo aprendido a la búsqueda de empleo.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240–244. Leer las dos versiones de la misma propuesta y preguntar al grupo cuál aprobaría y por qué.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versión A habla de herramientas y hace afirmaciones sin justificar; la B parte del problema, explica la solución y dice cómo se medirá. De ahí sale la estructura de la defensa.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244–250. Cada pareja prepara y ensaya en voz baja la primera frase de su presentación: el problema en 20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250–275. Con 16 personas organizadas en ocho parejas, reservar alrededor de dos minutos de presentación y uno de preguntas por equipo. Con grupos más numerosos, organizar mesas paralelas de evaluación.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observadores comentan claridad, originalidad, viabilidad y posibles riesgos, con al menos una propuesta de mejora.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275–285. El prompt está en el guion para copiarlo. Recordar: sin información sensible en el resumen.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equipo explica cuál de las críticas de la IA acepta y qué modificaría. Recordar que una respuesta de IA también puede contener errores.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285–295. Explicar que el trabajo realizado permite demostrar identificación de problemas, análisis, creatividad, dominio digital y comunicación.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que debe presentarse como simulación formativa, no como mejora realmente implantada en una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persona escribe su relato en 5 minutos. Después, tres o cuatro voluntarios lo leen en voz alta y el grupo propone una mejora para cada uno. Comprobar que nadie presenta la simulación como un logro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295–300. Preguntar oralmente.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a cada participante una técnica que quiera aplicar en un futuro empleo.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central para cerrar el taller (sección de orientaciones metodológicas del guion).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5 · Comunicación, pensamiento crítico y aplicación profesional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5 · Comunicación, pensamiento crítico y aplicación profesional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Comunicación, pensamiento crítico y aplicación profesional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60 minutos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Qué vamos a hacer en este bloque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658082" y="2377440"/>
            <a:ext cx="8875532" cy="0"/>
          </a:xfrm>
          <a:prstGeom prst="line">
            <a:avLst/>
          </a:prstGeom>
          <a:noFill/>
          <a:ln w="50800">
            <a:solidFill>
              <a:srgbClr val="F2F4F8"/>
            </a:solidFill>
            <a:prstDash val="solid"/>
          </a:ln>
        </p:spPr>
      </p:sp>
      <p:sp>
        <p:nvSpPr>
          <p:cNvPr id="4" name="Paso 1"/>
          <p:cNvSpPr/>
          <p:nvPr/>
        </p:nvSpPr>
        <p:spPr>
          <a:xfrm>
            <a:off x="1040862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40862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240–250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Cómo defender una idea</a:t>
            </a:r>
            <a:endParaRPr lang="en-US" sz="1700" dirty="0"/>
          </a:p>
        </p:txBody>
      </p:sp>
      <p:sp>
        <p:nvSpPr>
          <p:cNvPr id="7" name="Paso 2"/>
          <p:cNvSpPr/>
          <p:nvPr/>
        </p:nvSpPr>
        <p:spPr>
          <a:xfrm>
            <a:off x="3259745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59745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250–275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858963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Presentaciones y comentarios</a:t>
            </a:r>
            <a:endParaRPr lang="en-US" sz="1700" dirty="0"/>
          </a:p>
        </p:txBody>
      </p:sp>
      <p:sp>
        <p:nvSpPr>
          <p:cNvPr id="10" name="Paso 3"/>
          <p:cNvSpPr/>
          <p:nvPr/>
        </p:nvSpPr>
        <p:spPr>
          <a:xfrm>
            <a:off x="5478628" y="1760220"/>
            <a:ext cx="1234440" cy="1234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78628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275–285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077846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IA como evaluadora crítica</a:t>
            </a:r>
            <a:endParaRPr lang="en-US" sz="1700" dirty="0"/>
          </a:p>
        </p:txBody>
      </p:sp>
      <p:sp>
        <p:nvSpPr>
          <p:cNvPr id="13" name="Paso 4"/>
          <p:cNvSpPr/>
          <p:nvPr/>
        </p:nvSpPr>
        <p:spPr>
          <a:xfrm>
            <a:off x="7697511" y="1760220"/>
            <a:ext cx="1234440" cy="1234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97511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285–295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296729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 que habéis hecho, en una entrevista</a:t>
            </a:r>
            <a:endParaRPr lang="en-US" sz="1700" dirty="0"/>
          </a:p>
        </p:txBody>
      </p:sp>
      <p:sp>
        <p:nvSpPr>
          <p:cNvPr id="16" name="Paso 5"/>
          <p:cNvSpPr/>
          <p:nvPr/>
        </p:nvSpPr>
        <p:spPr>
          <a:xfrm>
            <a:off x="9916394" y="1760220"/>
            <a:ext cx="1234440" cy="12344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916394" y="17602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295–300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515612" y="3223260"/>
            <a:ext cx="20360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Comprobación final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¿Cuál convence más?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241487" y="548640"/>
            <a:ext cx="3401568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41487" y="54864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240–244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08760"/>
            <a:ext cx="5341468" cy="397764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6" name="Versión A"/>
          <p:cNvSpPr/>
          <p:nvPr/>
        </p:nvSpPr>
        <p:spPr>
          <a:xfrm>
            <a:off x="868680" y="1783080"/>
            <a:ext cx="2011680" cy="5486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783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Versión 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560320"/>
            <a:ext cx="470138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«Proponemos usar formularios de Google, una hoja de cálculo compartida y un chatbot con IA. Es muy moderno, es gratis y todas las empresas lo están usando».</a:t>
            </a:r>
            <a:endParaRPr lang="en-US" sz="1900" dirty="0"/>
          </a:p>
        </p:txBody>
      </p:sp>
      <p:sp>
        <p:nvSpPr>
          <p:cNvPr id="9" name="Tarjeta"/>
          <p:cNvSpPr/>
          <p:nvPr/>
        </p:nvSpPr>
        <p:spPr>
          <a:xfrm>
            <a:off x="6301588" y="1508760"/>
            <a:ext cx="5341468" cy="397764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/>
        </p:spPr>
      </p:sp>
      <p:sp>
        <p:nvSpPr>
          <p:cNvPr id="10" name="Versión B"/>
          <p:cNvSpPr/>
          <p:nvPr/>
        </p:nvSpPr>
        <p:spPr>
          <a:xfrm>
            <a:off x="6621628" y="1783080"/>
            <a:ext cx="201168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1628" y="1783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Versión 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621628" y="2560320"/>
            <a:ext cx="470138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«Nuestra oficina pierde consultas porque llegan por teléfono y por correo y nadie se encarga de ellas. Proponemos un formulario único que guarde cada consulta en una hoja compartida, con una persona responsable cada día. Lo probaríamos un mes y mediríamos cuántas consultas quedan sin respuesta».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¿Cuál aprobaríais? ¿Por qué?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 estructura de una buena defensa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923983" y="548640"/>
            <a:ext cx="171907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3983" y="5486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240–244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463040"/>
            <a:ext cx="5341468" cy="1051560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6" name="La A habla de herramientas y hace afirmaciones sin justificar.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Image 0" descr="La A habla de herramientas y hace afirmaciones sin justific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1463040"/>
            <a:ext cx="40613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 A habla de herramientas y hace afirmaciones sin justificar.</a:t>
            </a:r>
            <a:endParaRPr lang="en-US" sz="1800" dirty="0"/>
          </a:p>
        </p:txBody>
      </p:sp>
      <p:sp>
        <p:nvSpPr>
          <p:cNvPr id="9" name="Tarjeta"/>
          <p:cNvSpPr/>
          <p:nvPr/>
        </p:nvSpPr>
        <p:spPr>
          <a:xfrm>
            <a:off x="6301588" y="1463040"/>
            <a:ext cx="5341468" cy="1051560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0" name="La B parte del problema, explica la solución y dice cómo se medirá."/>
          <p:cNvSpPr/>
          <p:nvPr/>
        </p:nvSpPr>
        <p:spPr>
          <a:xfrm>
            <a:off x="6530188" y="16459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La B parte del problema, explica la solución y dice cómo se medirá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780" y="181051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98868" y="1463040"/>
            <a:ext cx="40613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 B parte del problema, explica la solución y dice cómo se medirá.</a:t>
            </a:r>
            <a:endParaRPr lang="en-US" sz="1800" dirty="0"/>
          </a:p>
        </p:txBody>
      </p:sp>
      <p:sp>
        <p:nvSpPr>
          <p:cNvPr id="13" name="Paso 1"/>
          <p:cNvSpPr/>
          <p:nvPr/>
        </p:nvSpPr>
        <p:spPr>
          <a:xfrm>
            <a:off x="585216" y="2880360"/>
            <a:ext cx="2145731" cy="1051560"/>
          </a:xfrm>
          <a:prstGeom prst="chevron">
            <a:avLst/>
          </a:prstGeom>
          <a:solidFill>
            <a:schemeClr val="tx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22960" y="2880360"/>
            <a:ext cx="167024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</a:t>
            </a:r>
            <a:endParaRPr lang="en-US" sz="3000" dirty="0"/>
          </a:p>
        </p:txBody>
      </p:sp>
      <p:sp>
        <p:nvSpPr>
          <p:cNvPr id="15" name="¿Qué problema hemos identificado?"/>
          <p:cNvSpPr/>
          <p:nvPr/>
        </p:nvSpPr>
        <p:spPr>
          <a:xfrm>
            <a:off x="1292322" y="41148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¿Qué problema hemos identificado?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886" y="429036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0080" y="498348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¿Qué problema hemos identificado?</a:t>
            </a:r>
            <a:endParaRPr lang="en-US" sz="1600" dirty="0"/>
          </a:p>
        </p:txBody>
      </p:sp>
      <p:sp>
        <p:nvSpPr>
          <p:cNvPr id="18" name="Paso 2"/>
          <p:cNvSpPr/>
          <p:nvPr/>
        </p:nvSpPr>
        <p:spPr>
          <a:xfrm>
            <a:off x="2804099" y="2880360"/>
            <a:ext cx="2145731" cy="1051560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3041843" y="2880360"/>
            <a:ext cx="167024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</a:t>
            </a:r>
            <a:endParaRPr lang="en-US" sz="3000" dirty="0"/>
          </a:p>
        </p:txBody>
      </p:sp>
      <p:sp>
        <p:nvSpPr>
          <p:cNvPr id="20" name="¿Por qué conviene resolverlo?"/>
          <p:cNvSpPr/>
          <p:nvPr/>
        </p:nvSpPr>
        <p:spPr>
          <a:xfrm>
            <a:off x="3511205" y="41148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¿Por qué conviene resolverlo?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769" y="4290365"/>
            <a:ext cx="380390" cy="38039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858963" y="498348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¿Por qué conviene resolverlo?</a:t>
            </a:r>
            <a:endParaRPr lang="en-US" sz="1600" dirty="0"/>
          </a:p>
        </p:txBody>
      </p:sp>
      <p:sp>
        <p:nvSpPr>
          <p:cNvPr id="23" name="Paso 3"/>
          <p:cNvSpPr/>
          <p:nvPr/>
        </p:nvSpPr>
        <p:spPr>
          <a:xfrm>
            <a:off x="5022982" y="2880360"/>
            <a:ext cx="2145731" cy="1051560"/>
          </a:xfrm>
          <a:prstGeom prst="chevron">
            <a:avLst/>
          </a:prstGeom>
          <a:solidFill>
            <a:schemeClr val="tx1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5260726" y="2880360"/>
            <a:ext cx="167024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</a:t>
            </a:r>
            <a:endParaRPr lang="en-US" sz="3000" dirty="0"/>
          </a:p>
        </p:txBody>
      </p:sp>
      <p:sp>
        <p:nvSpPr>
          <p:cNvPr id="25" name="¿Qué proponemos?"/>
          <p:cNvSpPr/>
          <p:nvPr/>
        </p:nvSpPr>
        <p:spPr>
          <a:xfrm>
            <a:off x="5730088" y="41148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¿Qué proponemos?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652" y="4290365"/>
            <a:ext cx="380390" cy="38039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77846" y="498348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¿Qué proponemos?</a:t>
            </a:r>
            <a:endParaRPr lang="en-US" sz="1600" dirty="0"/>
          </a:p>
        </p:txBody>
      </p:sp>
      <p:sp>
        <p:nvSpPr>
          <p:cNvPr id="28" name="Paso 4"/>
          <p:cNvSpPr/>
          <p:nvPr/>
        </p:nvSpPr>
        <p:spPr>
          <a:xfrm>
            <a:off x="7241865" y="2880360"/>
            <a:ext cx="2145731" cy="1051560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479609" y="2880360"/>
            <a:ext cx="167024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¿Cómo lo pondríamos en práctica?"/>
          <p:cNvSpPr/>
          <p:nvPr/>
        </p:nvSpPr>
        <p:spPr>
          <a:xfrm>
            <a:off x="7948971" y="41148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mage 5" descr="¿Cómo lo pondríamos en práctica?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4535" y="4290365"/>
            <a:ext cx="380390" cy="38039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296729" y="498348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¿Cómo lo pondríamos en práctica?</a:t>
            </a:r>
            <a:endParaRPr lang="en-US" sz="1600" dirty="0"/>
          </a:p>
        </p:txBody>
      </p:sp>
      <p:sp>
        <p:nvSpPr>
          <p:cNvPr id="33" name="Paso 5"/>
          <p:cNvSpPr/>
          <p:nvPr/>
        </p:nvSpPr>
        <p:spPr>
          <a:xfrm>
            <a:off x="9460748" y="2880360"/>
            <a:ext cx="2145731" cy="1051560"/>
          </a:xfrm>
          <a:prstGeom prst="chevron">
            <a:avLst/>
          </a:prstGeom>
          <a:solidFill>
            <a:schemeClr val="tx1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9698492" y="2880360"/>
            <a:ext cx="167024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</a:t>
            </a:r>
            <a:endParaRPr lang="en-US" sz="3000" dirty="0"/>
          </a:p>
        </p:txBody>
      </p:sp>
      <p:sp>
        <p:nvSpPr>
          <p:cNvPr id="35" name="¿Qué resultados esperaríamos y cómo los mediríamos?"/>
          <p:cNvSpPr/>
          <p:nvPr/>
        </p:nvSpPr>
        <p:spPr>
          <a:xfrm>
            <a:off x="10167854" y="41148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6" name="Image 6" descr="¿Qué resultados esperaríamos y cómo los mediríamos?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3418" y="4290365"/>
            <a:ext cx="380390" cy="38039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515612" y="498348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¿Qué resultados esperaríamos y cómo los mediríamos?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Ensayo: el problema en 20 segundos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244–250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Preparad y ensayad en voz baja la primera frase de vuestra presentación, siguiendo la versión B como modelo: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2103120"/>
            <a:ext cx="11094415" cy="109728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7" name="Modelo"/>
          <p:cNvSpPr/>
          <p:nvPr/>
        </p:nvSpPr>
        <p:spPr>
          <a:xfrm>
            <a:off x="822960" y="2286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mage 0" descr="Mode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461565"/>
            <a:ext cx="380390" cy="3803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2103120"/>
            <a:ext cx="9585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«Nuestra oficina pierde consultas porque llegan por teléfono y por correo y nadie se encarga de ellas…»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Nuestra primera frase:</a:t>
            </a:r>
            <a:endParaRPr lang="en-US" sz="1900" dirty="0"/>
          </a:p>
        </p:txBody>
      </p:sp>
      <p:sp>
        <p:nvSpPr>
          <p:cNvPr id="11" name="Hueco"/>
          <p:cNvSpPr/>
          <p:nvPr/>
        </p:nvSpPr>
        <p:spPr>
          <a:xfrm>
            <a:off x="548640" y="4069080"/>
            <a:ext cx="11094415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Presentaciones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250–275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Cada pareja presenta su propuesta:</a:t>
            </a:r>
            <a:endParaRPr lang="en-US" sz="1900" dirty="0"/>
          </a:p>
        </p:txBody>
      </p:sp>
      <p:sp>
        <p:nvSpPr>
          <p:cNvPr id="6" name="minutos de presentación"/>
          <p:cNvSpPr/>
          <p:nvPr/>
        </p:nvSpPr>
        <p:spPr>
          <a:xfrm>
            <a:off x="548640" y="2011680"/>
            <a:ext cx="5318608" cy="2377440"/>
          </a:xfrm>
          <a:prstGeom prst="roundRect">
            <a:avLst>
              <a:gd name="adj" fmla="val 5769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11680"/>
            <a:ext cx="53186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chemeClr val="tx1"/>
                </a:solidFill>
              </a:rPr>
              <a:t>2</a:t>
            </a:r>
            <a:endParaRPr lang="en-US" sz="96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minutos de presentación</a:t>
            </a:r>
            <a:endParaRPr lang="en-US" sz="9600" dirty="0"/>
          </a:p>
        </p:txBody>
      </p:sp>
      <p:sp>
        <p:nvSpPr>
          <p:cNvPr id="8" name="minuto de preguntas"/>
          <p:cNvSpPr/>
          <p:nvPr/>
        </p:nvSpPr>
        <p:spPr>
          <a:xfrm>
            <a:off x="6324448" y="2011680"/>
            <a:ext cx="5318608" cy="2377440"/>
          </a:xfrm>
          <a:prstGeom prst="roundRect">
            <a:avLst>
              <a:gd name="adj" fmla="val 5769"/>
            </a:avLst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24448" y="2011680"/>
            <a:ext cx="53186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chemeClr val="bg1"/>
                </a:solidFill>
              </a:rPr>
              <a:t>1</a:t>
            </a:r>
            <a:endParaRPr lang="en-US" sz="96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minuto de preguntas</a:t>
            </a:r>
            <a:endParaRPr lang="en-US" sz="9600" dirty="0"/>
          </a:p>
        </p:txBody>
      </p:sp>
      <p:sp>
        <p:nvSpPr>
          <p:cNvPr id="10" name="Tiempo"/>
          <p:cNvSpPr/>
          <p:nvPr/>
        </p:nvSpPr>
        <p:spPr>
          <a:xfrm>
            <a:off x="548640" y="48006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mage 0" descr="Tie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4976165"/>
            <a:ext cx="380390" cy="38039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08760" y="4800600"/>
            <a:ext cx="10134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El tiempo se cumple: con ocho parejas, no hay margen.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Mientras tanto, los observadores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241487" y="548640"/>
            <a:ext cx="3401568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41487" y="54864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250–275 · Todo el grupo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Comentad cada presentación según: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1965960"/>
            <a:ext cx="2533574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7" name="Claridad"/>
          <p:cNvSpPr/>
          <p:nvPr/>
        </p:nvSpPr>
        <p:spPr>
          <a:xfrm>
            <a:off x="1266787" y="2194560"/>
            <a:ext cx="1097280" cy="10972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Image 0" descr="Clar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0134" y="2457907"/>
            <a:ext cx="570586" cy="57058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3429000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Claridad</a:t>
            </a:r>
            <a:endParaRPr lang="en-US" sz="2100" dirty="0"/>
          </a:p>
        </p:txBody>
      </p:sp>
      <p:sp>
        <p:nvSpPr>
          <p:cNvPr id="10" name="Tarjeta"/>
          <p:cNvSpPr/>
          <p:nvPr/>
        </p:nvSpPr>
        <p:spPr>
          <a:xfrm>
            <a:off x="3402254" y="1965960"/>
            <a:ext cx="2533574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1" name="Originalidad"/>
          <p:cNvSpPr/>
          <p:nvPr/>
        </p:nvSpPr>
        <p:spPr>
          <a:xfrm>
            <a:off x="4120401" y="2194560"/>
            <a:ext cx="1097280" cy="10972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Origina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748" y="2457907"/>
            <a:ext cx="570586" cy="57058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85134" y="3429000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Originalidad</a:t>
            </a:r>
            <a:endParaRPr lang="en-US" sz="2100" dirty="0"/>
          </a:p>
        </p:txBody>
      </p:sp>
      <p:sp>
        <p:nvSpPr>
          <p:cNvPr id="14" name="Tarjeta"/>
          <p:cNvSpPr/>
          <p:nvPr/>
        </p:nvSpPr>
        <p:spPr>
          <a:xfrm>
            <a:off x="6255868" y="1965960"/>
            <a:ext cx="2533574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5" name="Viabilidad"/>
          <p:cNvSpPr/>
          <p:nvPr/>
        </p:nvSpPr>
        <p:spPr>
          <a:xfrm>
            <a:off x="6974015" y="2194560"/>
            <a:ext cx="1097280" cy="10972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mage 2" descr="Viabilid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7362" y="2457907"/>
            <a:ext cx="570586" cy="5705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38748" y="3429000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Viabilidad</a:t>
            </a:r>
            <a:endParaRPr lang="en-US" sz="2100" dirty="0"/>
          </a:p>
        </p:txBody>
      </p:sp>
      <p:sp>
        <p:nvSpPr>
          <p:cNvPr id="18" name="Tarjeta"/>
          <p:cNvSpPr/>
          <p:nvPr/>
        </p:nvSpPr>
        <p:spPr>
          <a:xfrm>
            <a:off x="9109481" y="1965960"/>
            <a:ext cx="2533574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9" name="Posibles riesgos"/>
          <p:cNvSpPr/>
          <p:nvPr/>
        </p:nvSpPr>
        <p:spPr>
          <a:xfrm>
            <a:off x="9827628" y="2194560"/>
            <a:ext cx="1097280" cy="10972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osibles riesg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0976" y="2457907"/>
            <a:ext cx="570586" cy="57058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92361" y="3429000"/>
            <a:ext cx="21678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Posibles riesgos</a:t>
            </a:r>
            <a:endParaRPr lang="en-US" sz="2100" dirty="0"/>
          </a:p>
        </p:txBody>
      </p:sp>
      <p:sp>
        <p:nvSpPr>
          <p:cNvPr id="22" name="Tarjeta"/>
          <p:cNvSpPr/>
          <p:nvPr/>
        </p:nvSpPr>
        <p:spPr>
          <a:xfrm>
            <a:off x="548640" y="4480560"/>
            <a:ext cx="11094415" cy="109728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23" name="Mejora"/>
          <p:cNvSpPr/>
          <p:nvPr/>
        </p:nvSpPr>
        <p:spPr>
          <a:xfrm>
            <a:off x="822960" y="466344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mage 4" descr="Mejo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25" y="4839005"/>
            <a:ext cx="380390" cy="38039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783080" y="4480560"/>
            <a:ext cx="9585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Y siempre, al menos una propuesta de mejora.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 IA como evaluadora crítica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977579" y="548640"/>
            <a:ext cx="2665476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77579" y="548640"/>
            <a:ext cx="2665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275–285 · Con 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Introducid un resumen de vuestra propuesta, sin información sensible:</a:t>
            </a:r>
            <a:endParaRPr lang="en-US" sz="1900" dirty="0"/>
          </a:p>
        </p:txBody>
      </p:sp>
      <p:sp>
        <p:nvSpPr>
          <p:cNvPr id="6" name="Prompt"/>
          <p:cNvSpPr/>
          <p:nvPr/>
        </p:nvSpPr>
        <p:spPr>
          <a:xfrm>
            <a:off x="548640" y="1920240"/>
            <a:ext cx="11094415" cy="310896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responsable de una empresa que debe decidir si implantar</a:t>
            </a:r>
            <a:endParaRPr lang="en-US" sz="19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propuesta de innovación. Voy a presentarte una solución.</a:t>
            </a:r>
            <a:endParaRPr lang="en-US" sz="19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Evalúala de forma crítica considerando utilidad, originalidad, coste,</a:t>
            </a:r>
            <a:endParaRPr lang="en-US" sz="19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facilidad de implantación y riesgos. Identifica tres debilidades,</a:t>
            </a:r>
            <a:endParaRPr lang="en-US" sz="19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dos preguntas difíciles y sugiere una mejora concreta.</a:t>
            </a:r>
            <a:endParaRPr lang="en-US" sz="19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des por válidas las cifras que no estén justificadas.</a:t>
            </a:r>
            <a:endParaRPr lang="en-US" sz="19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 es la propuesta: </a:t>
            </a:r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insertar descripción</a:t>
            </a:r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9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¿Qué críticas aceptáis?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275–285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Cada pareja explica:</a:t>
            </a:r>
            <a:endParaRPr lang="en-US" sz="1900" dirty="0"/>
          </a:p>
        </p:txBody>
      </p:sp>
      <p:sp>
        <p:nvSpPr>
          <p:cNvPr id="6" name="La crítica que aceptamos"/>
          <p:cNvSpPr/>
          <p:nvPr/>
        </p:nvSpPr>
        <p:spPr>
          <a:xfrm>
            <a:off x="548640" y="2057400"/>
            <a:ext cx="5364328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57400"/>
            <a:ext cx="518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La crítica que aceptamos</a:t>
            </a:r>
            <a:endParaRPr lang="en-US" sz="1800" dirty="0"/>
          </a:p>
        </p:txBody>
      </p:sp>
      <p:sp>
        <p:nvSpPr>
          <p:cNvPr id="8" name="Hueco"/>
          <p:cNvSpPr/>
          <p:nvPr/>
        </p:nvSpPr>
        <p:spPr>
          <a:xfrm>
            <a:off x="548640" y="2788920"/>
            <a:ext cx="5364328" cy="2423160"/>
          </a:xfrm>
          <a:prstGeom prst="roundRect">
            <a:avLst>
              <a:gd name="adj" fmla="val 3774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9" name="Qué modificaríamos"/>
          <p:cNvSpPr/>
          <p:nvPr/>
        </p:nvSpPr>
        <p:spPr>
          <a:xfrm>
            <a:off x="6278728" y="2057400"/>
            <a:ext cx="5364328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70168" y="2057400"/>
            <a:ext cx="518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Qué modificaríamos</a:t>
            </a:r>
            <a:endParaRPr lang="en-US" sz="1800" dirty="0"/>
          </a:p>
        </p:txBody>
      </p:sp>
      <p:sp>
        <p:nvSpPr>
          <p:cNvPr id="11" name="Hueco"/>
          <p:cNvSpPr/>
          <p:nvPr/>
        </p:nvSpPr>
        <p:spPr>
          <a:xfrm>
            <a:off x="6278728" y="2788920"/>
            <a:ext cx="5364328" cy="2423160"/>
          </a:xfrm>
          <a:prstGeom prst="roundRect">
            <a:avLst>
              <a:gd name="adj" fmla="val 3774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2" name="Aviso"/>
          <p:cNvSpPr/>
          <p:nvPr/>
        </p:nvSpPr>
        <p:spPr>
          <a:xfrm>
            <a:off x="548640" y="544068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Image 0" descr="Avi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" y="5583326"/>
            <a:ext cx="309067" cy="30906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371600" y="5440680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Ojo: la respuesta de la IA también puede contener errores.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 que habéis demostrado hoy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923983" y="548640"/>
            <a:ext cx="171907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3983" y="5486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285–295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645920"/>
            <a:ext cx="1999427" cy="2743200"/>
          </a:xfrm>
          <a:prstGeom prst="roundRect">
            <a:avLst>
              <a:gd name="adj" fmla="val 6860"/>
            </a:avLst>
          </a:prstGeom>
          <a:solidFill>
            <a:schemeClr val="bg2"/>
          </a:solidFill>
          <a:ln/>
        </p:spPr>
      </p:sp>
      <p:sp>
        <p:nvSpPr>
          <p:cNvPr id="6" name="Identificar problemas"/>
          <p:cNvSpPr/>
          <p:nvPr/>
        </p:nvSpPr>
        <p:spPr>
          <a:xfrm>
            <a:off x="953994" y="19659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Identificar problem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9286" y="2251253"/>
            <a:ext cx="618134" cy="6181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337560"/>
            <a:ext cx="172510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Identificar problemas</a:t>
            </a:r>
            <a:endParaRPr lang="en-US" sz="1900" dirty="0"/>
          </a:p>
        </p:txBody>
      </p:sp>
      <p:sp>
        <p:nvSpPr>
          <p:cNvPr id="9" name="Tarjeta"/>
          <p:cNvSpPr/>
          <p:nvPr/>
        </p:nvSpPr>
        <p:spPr>
          <a:xfrm>
            <a:off x="2822387" y="1645920"/>
            <a:ext cx="1999427" cy="2743200"/>
          </a:xfrm>
          <a:prstGeom prst="roundRect">
            <a:avLst>
              <a:gd name="adj" fmla="val 6860"/>
            </a:avLst>
          </a:prstGeom>
          <a:solidFill>
            <a:schemeClr val="bg2"/>
          </a:solidFill>
          <a:ln/>
        </p:spPr>
      </p:sp>
      <p:sp>
        <p:nvSpPr>
          <p:cNvPr id="10" name="Análisis"/>
          <p:cNvSpPr/>
          <p:nvPr/>
        </p:nvSpPr>
        <p:spPr>
          <a:xfrm>
            <a:off x="3227741" y="19659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Análisi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033" y="2251253"/>
            <a:ext cx="618134" cy="6181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59547" y="3337560"/>
            <a:ext cx="172510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Análisis</a:t>
            </a:r>
            <a:endParaRPr lang="en-US" sz="1900" dirty="0"/>
          </a:p>
        </p:txBody>
      </p:sp>
      <p:sp>
        <p:nvSpPr>
          <p:cNvPr id="13" name="Tarjeta"/>
          <p:cNvSpPr/>
          <p:nvPr/>
        </p:nvSpPr>
        <p:spPr>
          <a:xfrm>
            <a:off x="5096134" y="1645920"/>
            <a:ext cx="1999427" cy="2743200"/>
          </a:xfrm>
          <a:prstGeom prst="roundRect">
            <a:avLst>
              <a:gd name="adj" fmla="val 6860"/>
            </a:avLst>
          </a:prstGeom>
          <a:solidFill>
            <a:schemeClr val="bg2"/>
          </a:solidFill>
          <a:ln/>
        </p:spPr>
      </p:sp>
      <p:sp>
        <p:nvSpPr>
          <p:cNvPr id="14" name="Creatividad"/>
          <p:cNvSpPr/>
          <p:nvPr/>
        </p:nvSpPr>
        <p:spPr>
          <a:xfrm>
            <a:off x="5501488" y="19659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Creativid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6780" y="225125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33294" y="3337560"/>
            <a:ext cx="172510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Creatividad</a:t>
            </a:r>
            <a:endParaRPr lang="en-US" sz="1900" dirty="0"/>
          </a:p>
        </p:txBody>
      </p:sp>
      <p:sp>
        <p:nvSpPr>
          <p:cNvPr id="17" name="Tarjeta"/>
          <p:cNvSpPr/>
          <p:nvPr/>
        </p:nvSpPr>
        <p:spPr>
          <a:xfrm>
            <a:off x="7369881" y="1645920"/>
            <a:ext cx="1999427" cy="2743200"/>
          </a:xfrm>
          <a:prstGeom prst="roundRect">
            <a:avLst>
              <a:gd name="adj" fmla="val 6860"/>
            </a:avLst>
          </a:prstGeom>
          <a:solidFill>
            <a:schemeClr val="bg2"/>
          </a:solidFill>
          <a:ln/>
        </p:spPr>
      </p:sp>
      <p:sp>
        <p:nvSpPr>
          <p:cNvPr id="18" name="Dominio digital"/>
          <p:cNvSpPr/>
          <p:nvPr/>
        </p:nvSpPr>
        <p:spPr>
          <a:xfrm>
            <a:off x="7775235" y="19659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mage 3" descr="Dominio dig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0527" y="2251253"/>
            <a:ext cx="618134" cy="61813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507041" y="3337560"/>
            <a:ext cx="172510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Dominio digital</a:t>
            </a:r>
            <a:endParaRPr lang="en-US" sz="1900" dirty="0"/>
          </a:p>
        </p:txBody>
      </p:sp>
      <p:sp>
        <p:nvSpPr>
          <p:cNvPr id="21" name="Tarjeta"/>
          <p:cNvSpPr/>
          <p:nvPr/>
        </p:nvSpPr>
        <p:spPr>
          <a:xfrm>
            <a:off x="9643628" y="1645920"/>
            <a:ext cx="1999427" cy="2743200"/>
          </a:xfrm>
          <a:prstGeom prst="roundRect">
            <a:avLst>
              <a:gd name="adj" fmla="val 6860"/>
            </a:avLst>
          </a:prstGeom>
          <a:solidFill>
            <a:schemeClr val="bg2"/>
          </a:solidFill>
          <a:ln/>
        </p:spPr>
      </p:sp>
      <p:sp>
        <p:nvSpPr>
          <p:cNvPr id="22" name="Comunicación"/>
          <p:cNvSpPr/>
          <p:nvPr/>
        </p:nvSpPr>
        <p:spPr>
          <a:xfrm>
            <a:off x="10048982" y="19659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4" descr="Comunicació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4274" y="2251253"/>
            <a:ext cx="618134" cy="61813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780788" y="3337560"/>
            <a:ext cx="172510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Comunicación</a:t>
            </a:r>
            <a:endParaRPr lang="en-US" sz="19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Competencias que podéis contar en una entrevista de trabajo.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Cómo contarlo en una entrevista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923983" y="548640"/>
            <a:ext cx="171907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3983" y="5486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285–295</a:t>
            </a:r>
            <a:endParaRPr lang="en-US" sz="1400" dirty="0"/>
          </a:p>
        </p:txBody>
      </p:sp>
      <p:sp>
        <p:nvSpPr>
          <p:cNvPr id="5" name="Ejemplo"/>
          <p:cNvSpPr/>
          <p:nvPr/>
        </p:nvSpPr>
        <p:spPr>
          <a:xfrm>
            <a:off x="548640" y="1463040"/>
            <a:ext cx="11094415" cy="2377440"/>
          </a:xfrm>
          <a:prstGeom prst="roundRect">
            <a:avLst>
              <a:gd name="adj" fmla="val 5769"/>
            </a:avLst>
          </a:prstGeom>
          <a:solidFill>
            <a:schemeClr val="tx1"/>
          </a:solidFill>
          <a:ln/>
        </p:spPr>
      </p:sp>
      <p:sp>
        <p:nvSpPr>
          <p:cNvPr id="6" name="Ejemplo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Ejemp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1867205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1691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Ejemplo de relato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«En una actividad de innovación digital analicé un proceso administrativo, utilicé técnicas creativas e inteligencia artificial para generar alternativas y elaboré una matriz en Excel para evaluarlas. Después documenté una solución y preparé una presentación para defenderla».</a:t>
            </a:r>
            <a:endParaRPr lang="en-US" sz="1900" dirty="0"/>
          </a:p>
        </p:txBody>
      </p:sp>
      <p:sp>
        <p:nvSpPr>
          <p:cNvPr id="10" name="Tarjeta"/>
          <p:cNvSpPr/>
          <p:nvPr/>
        </p:nvSpPr>
        <p:spPr>
          <a:xfrm>
            <a:off x="548640" y="4160520"/>
            <a:ext cx="11094415" cy="1280160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1" name="Aviso"/>
          <p:cNvSpPr/>
          <p:nvPr/>
        </p:nvSpPr>
        <p:spPr>
          <a:xfrm>
            <a:off x="868680" y="43891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mage 1" descr="Avi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" y="458663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965960" y="4160520"/>
            <a:ext cx="9402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Siempre como simulación formativa, </a:t>
            </a:r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no como una mejora implantada de verdad en una empresa.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Actividad: mi relato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556955" y="548640"/>
            <a:ext cx="30861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556955" y="54864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285–295 · Individual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Escribid vuestro propio relato, de tres o cuatro líneas, adaptado a:</a:t>
            </a:r>
            <a:endParaRPr lang="en-US" sz="1900" dirty="0"/>
          </a:p>
        </p:txBody>
      </p:sp>
      <p:sp>
        <p:nvSpPr>
          <p:cNvPr id="6" name="El trabajo que ha hecho vuestra pareja"/>
          <p:cNvSpPr/>
          <p:nvPr/>
        </p:nvSpPr>
        <p:spPr>
          <a:xfrm>
            <a:off x="548640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El trabajo que ha hecho vuestra parej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356616" cy="3566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19202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El trabajo que ha hecho vuestra pareja</a:t>
            </a:r>
            <a:endParaRPr lang="en-US" sz="1900" dirty="0"/>
          </a:p>
        </p:txBody>
      </p:sp>
      <p:sp>
        <p:nvSpPr>
          <p:cNvPr id="9" name="El puesto al que aspiráis"/>
          <p:cNvSpPr/>
          <p:nvPr/>
        </p:nvSpPr>
        <p:spPr>
          <a:xfrm>
            <a:off x="6217920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El puesto al que aspirái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0848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9202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El puesto al que aspiráis</a:t>
            </a:r>
            <a:endParaRPr lang="en-US" sz="1900" dirty="0"/>
          </a:p>
        </p:txBody>
      </p:sp>
      <p:sp>
        <p:nvSpPr>
          <p:cNvPr id="12" name="Hueco"/>
          <p:cNvSpPr/>
          <p:nvPr/>
        </p:nvSpPr>
        <p:spPr>
          <a:xfrm>
            <a:off x="548640" y="2880360"/>
            <a:ext cx="11094415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3" name="Lectura"/>
          <p:cNvSpPr/>
          <p:nvPr/>
        </p:nvSpPr>
        <p:spPr>
          <a:xfrm>
            <a:off x="548640" y="534924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4" name="Image 2" descr="Lectur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5491886"/>
            <a:ext cx="309067" cy="30906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5349240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Después, tres o cuatro voluntarios lo leen y el grupo propone una mejora para cada uno.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Comprobación final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241487" y="548640"/>
            <a:ext cx="3401568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41487" y="54864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295–300 · Todo el grupo</a:t>
            </a:r>
            <a:endParaRPr lang="en-US" sz="1400" dirty="0"/>
          </a:p>
        </p:txBody>
      </p:sp>
      <p:sp>
        <p:nvSpPr>
          <p:cNvPr id="5" name="Pregunta 1"/>
          <p:cNvSpPr/>
          <p:nvPr/>
        </p:nvSpPr>
        <p:spPr>
          <a:xfrm>
            <a:off x="548640" y="15087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08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63040"/>
            <a:ext cx="10225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¿En qué se diferencia una idea creativa de una innovación?</a:t>
            </a:r>
            <a:endParaRPr lang="en-US" sz="2100" dirty="0"/>
          </a:p>
        </p:txBody>
      </p:sp>
      <p:sp>
        <p:nvSpPr>
          <p:cNvPr id="8" name="Pregunta 2"/>
          <p:cNvSpPr/>
          <p:nvPr/>
        </p:nvSpPr>
        <p:spPr>
          <a:xfrm>
            <a:off x="548640" y="23774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77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331720"/>
            <a:ext cx="10225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¿Qué diferencia hay entre el brainstorming, SCAMPER y la provocación?</a:t>
            </a:r>
            <a:endParaRPr lang="en-US" sz="2100" dirty="0"/>
          </a:p>
        </p:txBody>
      </p:sp>
      <p:sp>
        <p:nvSpPr>
          <p:cNvPr id="11" name="Pregunta 3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246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200400"/>
            <a:ext cx="10225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¿Qué ventaja ofrece una matriz de decisión?</a:t>
            </a:r>
            <a:endParaRPr lang="en-US" sz="2100" dirty="0"/>
          </a:p>
        </p:txBody>
      </p:sp>
      <p:sp>
        <p:nvSpPr>
          <p:cNvPr id="14" name="Pregunta 4"/>
          <p:cNvSpPr/>
          <p:nvPr/>
        </p:nvSpPr>
        <p:spPr>
          <a:xfrm>
            <a:off x="548640" y="4114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114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069080"/>
            <a:ext cx="10225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¿Por qué no conviene aceptar sin revisar las respuestas de una IA?</a:t>
            </a:r>
            <a:endParaRPr lang="en-US" sz="2100" dirty="0"/>
          </a:p>
        </p:txBody>
      </p:sp>
      <p:sp>
        <p:nvSpPr>
          <p:cNvPr id="17" name="Pregunta 5"/>
          <p:cNvSpPr/>
          <p:nvPr/>
        </p:nvSpPr>
        <p:spPr>
          <a:xfrm>
            <a:off x="548640" y="49834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983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5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937760"/>
            <a:ext cx="10225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¿Cómo mediríamos el resultado de una propuesta de mejora?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Para terminar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¿Qué técnica de hoy os gustaría aplicar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en vuestro próximo empleo?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El mensaje del curso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La IA ayuda a ampliar y acelerar el pensamiento creativo.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El valor profesional está en definir bien el problema, elegir una solución sensata y saber cómo comprobar si funciona.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idad, ofimática e IA">
  <a:themeElements>
    <a:clrScheme name="Creatividad, ofimática e IA">
      <a:dk1>
        <a:srgbClr val="1F2A44"/>
      </a:dk1>
      <a:lt1>
        <a:srgbClr val="FFFFFF"/>
      </a:lt1>
      <a:dk2>
        <a:srgbClr val="3A4664"/>
      </a:dk2>
      <a:lt2>
        <a:srgbClr val="F2F4F8"/>
      </a:lt2>
      <a:accent1>
        <a:srgbClr val="F4A300"/>
      </a:accent1>
      <a:accent2>
        <a:srgbClr val="0F7C70"/>
      </a:accent2>
      <a:accent3>
        <a:srgbClr val="D64933"/>
      </a:accent3>
      <a:accent4>
        <a:srgbClr val="6C5CE7"/>
      </a:accent4>
      <a:accent5>
        <a:srgbClr val="8A94A6"/>
      </a:accent5>
      <a:accent6>
        <a:srgbClr val="2D6A4F"/>
      </a:accent6>
      <a:hlink>
        <a:srgbClr val="0F7C70"/>
      </a:hlink>
      <a:folHlink>
        <a:srgbClr val="6C5CE7"/>
      </a:folHlink>
    </a:clrScheme>
    <a:fontScheme name="Creatividad, ofimática e I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Bloque 5. Comunicación, pensamiento crítico y aplicación profesional</dc:title>
  <dc:subject>Desarrollo de las habilidades creativas e innovadoras con herramientas ofimáticas y de inteligencia artificial</dc:subject>
  <dc:creator>PptxGenJS</dc:creator>
  <cp:lastModifiedBy>PptxGenJS</cp:lastModifiedBy>
  <cp:revision>1</cp:revision>
  <dcterms:created xsi:type="dcterms:W3CDTF">2026-10-18T20:09:46Z</dcterms:created>
  <dcterms:modified xsi:type="dcterms:W3CDTF">2026-10-18T20:09:46Z</dcterms:modified>
</cp:coreProperties>
</file>