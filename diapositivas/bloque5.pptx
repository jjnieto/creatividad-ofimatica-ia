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loque 5" id="{CE388A4D-6F73-6E2B-3B6F-69F0F707A0C8}">
          <p14:sldIdLst>
            <p14:sldId id="256"/>
            <p14:sldId id="257"/>
          </p14:sldIdLst>
        </p14:section>
        <p14:section name="Defender una idea" id="{3C6A5EF5-6B58-A273-7855-7404180BAB09}">
          <p14:sldIdLst>
            <p14:sldId id="258"/>
            <p14:sldId id="259"/>
            <p14:sldId id="260"/>
          </p14:sldIdLst>
        </p14:section>
        <p14:section name="Presentaciones" id="{FF4BA565-CA63-9D3D-591F-15060DCADB00}">
          <p14:sldIdLst>
            <p14:sldId id="261"/>
            <p14:sldId id="262"/>
          </p14:sldIdLst>
        </p14:section>
        <p14:section name="IA evaluadora" id="{DDA7B211-10F8-C2BC-1664-CF951F1BD64D}">
          <p14:sldIdLst>
            <p14:sldId id="263"/>
            <p14:sldId id="264"/>
          </p14:sldIdLst>
        </p14:section>
        <p14:section name="Empleo" id="{0AB61E27-B9A3-BCA5-DB6E-194663072E15}">
          <p14:sldIdLst>
            <p14:sldId id="265"/>
          </p14:sldIdLst>
        </p14:section>
        <p14:section name="Cierre" id="{FEADB4F5-BC38-2379-EDCB-2C48C4462DDF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9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75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del bloque: defender una propuesta, aceptar críticas constructivas y traducir la experiencia en evidencias profesionales.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del bloque: cada pareja defiende su propuesta ganadora ante el grupo y ante la IA, y después se traslada lo aprendido a la búsqueda de empleo.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240–244. Leer las dos versiones de la misma propuesta y preguntar al grupo cuál aprobaría y por 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versión A habla de herramientas y hace afirmaciones sin justificar; la B parte del problema, explica la solución y dice cómo se medirá. De ahí sale la estructura de la defensa.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244–250. Cada pareja prepara y ensaya en voz baja la primera frase de su presentación: el problema en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250–275. Con 16 personas organizadas en ocho parejas, reservar alrededor de dos minutos de presentación y uno de preguntas por equipo. Con grupos más numerosos, organizar mesas paralelas de evaluación.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observadores comentan claridad, originalidad, viabilidad y posibles riesgos, con al menos una propuesta de mejora.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275–285. El prompt está en el guion para copiarlo. Recordar: sin información sensible en el resumen.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equipo explica cuál de las críticas de la IA acepta y qué modificaría. Recordar que una respuesta de IA también puede contener errores.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285–295. Explicar que el trabajo realizado permite demostrar identificación de problemas, análisis, creatividad, dominio digital y comunicación.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295–300. Preguntar oralmente.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cada participante una técnica que quiera aplicar en un futuro empleo.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central para cerrar el taller (sección de orientaciones metodológicas del guion).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76809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79476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108960" y="2103120"/>
            <a:ext cx="85039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3108960" y="3749040"/>
            <a:ext cx="8503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Bloque 5 · Comunicación, pensamiento crítico y aplicación profesional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CAD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1097280" y="1554480"/>
            <a:ext cx="996696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Bloque 5 · Comunicación, pensamiento crítico y aplicación profesional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3108960" y="2103120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Comunicación, pensamiento crítico y aplicación profesional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3108960" y="37490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60 minutos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vamos a hacer en este bloque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58082" y="2377440"/>
            <a:ext cx="8875532" cy="0"/>
          </a:xfrm>
          <a:prstGeom prst="line">
            <a:avLst/>
          </a:prstGeom>
          <a:noFill/>
          <a:ln w="50800">
            <a:solidFill>
              <a:srgbClr val="F2F4F8"/>
            </a:solidFill>
            <a:prstDash val="solid"/>
          </a:ln>
        </p:spPr>
      </p:sp>
      <p:sp>
        <p:nvSpPr>
          <p:cNvPr id="4" name="Paso 1"/>
          <p:cNvSpPr/>
          <p:nvPr/>
        </p:nvSpPr>
        <p:spPr>
          <a:xfrm>
            <a:off x="1040862" y="1760220"/>
            <a:ext cx="1234440" cy="1234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0862" y="17602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240–250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23260"/>
            <a:ext cx="20360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1"/>
                </a:solidFill>
              </a:rPr>
              <a:t>Cómo defender una idea</a:t>
            </a:r>
            <a:endParaRPr lang="en-US" sz="1700" dirty="0"/>
          </a:p>
        </p:txBody>
      </p:sp>
      <p:sp>
        <p:nvSpPr>
          <p:cNvPr id="7" name="Paso 2"/>
          <p:cNvSpPr/>
          <p:nvPr/>
        </p:nvSpPr>
        <p:spPr>
          <a:xfrm>
            <a:off x="3259745" y="1760220"/>
            <a:ext cx="1234440" cy="1234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59745" y="17602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250–275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858963" y="3223260"/>
            <a:ext cx="20360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1"/>
                </a:solidFill>
              </a:rPr>
              <a:t>Presentaciones y comentarios</a:t>
            </a:r>
            <a:endParaRPr lang="en-US" sz="1700" dirty="0"/>
          </a:p>
        </p:txBody>
      </p:sp>
      <p:sp>
        <p:nvSpPr>
          <p:cNvPr id="10" name="Paso 3"/>
          <p:cNvSpPr/>
          <p:nvPr/>
        </p:nvSpPr>
        <p:spPr>
          <a:xfrm>
            <a:off x="5478628" y="1760220"/>
            <a:ext cx="1234440" cy="1234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78628" y="17602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275–285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077846" y="3223260"/>
            <a:ext cx="20360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1"/>
                </a:solidFill>
              </a:rPr>
              <a:t>La IA como evaluadora crítica</a:t>
            </a:r>
            <a:endParaRPr lang="en-US" sz="1700" dirty="0"/>
          </a:p>
        </p:txBody>
      </p:sp>
      <p:sp>
        <p:nvSpPr>
          <p:cNvPr id="13" name="Paso 4"/>
          <p:cNvSpPr/>
          <p:nvPr/>
        </p:nvSpPr>
        <p:spPr>
          <a:xfrm>
            <a:off x="7697511" y="1760220"/>
            <a:ext cx="1234440" cy="1234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97511" y="17602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285–295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296729" y="3223260"/>
            <a:ext cx="20360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1"/>
                </a:solidFill>
              </a:rPr>
              <a:t>Lo que habéis hecho, en una entrevista</a:t>
            </a:r>
            <a:endParaRPr lang="en-US" sz="1700" dirty="0"/>
          </a:p>
        </p:txBody>
      </p:sp>
      <p:sp>
        <p:nvSpPr>
          <p:cNvPr id="16" name="Paso 5"/>
          <p:cNvSpPr/>
          <p:nvPr/>
        </p:nvSpPr>
        <p:spPr>
          <a:xfrm>
            <a:off x="9916394" y="1760220"/>
            <a:ext cx="1234440" cy="12344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16394" y="17602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295–300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515612" y="3223260"/>
            <a:ext cx="20360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1"/>
                </a:solidFill>
              </a:rPr>
              <a:t>Comprobación final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¿Cuál convence más?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241487" y="548640"/>
            <a:ext cx="3401568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41487" y="54864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240–244 · Todo el grupo</a:t>
            </a:r>
            <a:endParaRPr lang="en-US" sz="1400" dirty="0"/>
          </a:p>
        </p:txBody>
      </p:sp>
      <p:sp>
        <p:nvSpPr>
          <p:cNvPr id="5" name="Tarjeta"/>
          <p:cNvSpPr/>
          <p:nvPr/>
        </p:nvSpPr>
        <p:spPr>
          <a:xfrm>
            <a:off x="548640" y="1508760"/>
            <a:ext cx="5341468" cy="39776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6" name="Versión A"/>
          <p:cNvSpPr/>
          <p:nvPr/>
        </p:nvSpPr>
        <p:spPr>
          <a:xfrm>
            <a:off x="868680" y="1783080"/>
            <a:ext cx="201168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Versión 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47013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chemeClr val="tx1"/>
                </a:solidFill>
              </a:rPr>
              <a:t>«Proponemos usar formularios de Google, una hoja de cálculo compartida y un chatbot con IA. Es muy moderno, es gratis y todas las empresas lo están usando».</a:t>
            </a:r>
            <a:endParaRPr lang="en-US" sz="1900" dirty="0"/>
          </a:p>
        </p:txBody>
      </p:sp>
      <p:sp>
        <p:nvSpPr>
          <p:cNvPr id="9" name="Tarjeta"/>
          <p:cNvSpPr/>
          <p:nvPr/>
        </p:nvSpPr>
        <p:spPr>
          <a:xfrm>
            <a:off x="6301588" y="1508760"/>
            <a:ext cx="5341468" cy="39776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10" name="Versión B"/>
          <p:cNvSpPr/>
          <p:nvPr/>
        </p:nvSpPr>
        <p:spPr>
          <a:xfrm>
            <a:off x="6621628" y="1783080"/>
            <a:ext cx="201168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1628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Versión 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621628" y="2560320"/>
            <a:ext cx="47013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chemeClr val="tx1"/>
                </a:solidFill>
              </a:rPr>
              <a:t>«Nuestra oficina pierde consultas porque llegan por teléfono y por correo y nadie se encarga de ellas. Proponemos un formulario único que guarde cada consulta en una hoja compartida, con una persona responsable cada día. Lo probaríamos un mes y mediríamos cuántas consultas quedan sin respuesta».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¿Cuál aprobaríais? ¿Por qué?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La estructura de una buena defensa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923983" y="548640"/>
            <a:ext cx="171907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3983" y="5486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240–244</a:t>
            </a:r>
            <a:endParaRPr lang="en-US" sz="1400" dirty="0"/>
          </a:p>
        </p:txBody>
      </p:sp>
      <p:sp>
        <p:nvSpPr>
          <p:cNvPr id="5" name="Tarjeta"/>
          <p:cNvSpPr/>
          <p:nvPr/>
        </p:nvSpPr>
        <p:spPr>
          <a:xfrm>
            <a:off x="548640" y="1463040"/>
            <a:ext cx="5341468" cy="10515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sp>
        <p:nvSpPr>
          <p:cNvPr id="6" name="La A habla de herramientas y hace afirmaciones sin justificar.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La A habla de herramientas y hace afirmaciones sin justificar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810512"/>
            <a:ext cx="356616" cy="356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463040"/>
            <a:ext cx="40613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La A habla de herramientas y hace afirmaciones sin justificar.</a:t>
            </a:r>
            <a:endParaRPr lang="en-US" sz="1800" dirty="0"/>
          </a:p>
        </p:txBody>
      </p:sp>
      <p:sp>
        <p:nvSpPr>
          <p:cNvPr id="9" name="Tarjeta"/>
          <p:cNvSpPr/>
          <p:nvPr/>
        </p:nvSpPr>
        <p:spPr>
          <a:xfrm>
            <a:off x="6301588" y="1463040"/>
            <a:ext cx="5341468" cy="10515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sp>
        <p:nvSpPr>
          <p:cNvPr id="10" name="La B parte del problema, explica la solución y dice cómo se medirá."/>
          <p:cNvSpPr/>
          <p:nvPr/>
        </p:nvSpPr>
        <p:spPr>
          <a:xfrm>
            <a:off x="6530188" y="16459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La B parte del problema, explica la solución y dice cómo se medirá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780" y="18105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98868" y="1463040"/>
            <a:ext cx="40613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La B parte del problema, explica la solución y dice cómo se medirá.</a:t>
            </a:r>
            <a:endParaRPr lang="en-US" sz="1800" dirty="0"/>
          </a:p>
        </p:txBody>
      </p:sp>
      <p:sp>
        <p:nvSpPr>
          <p:cNvPr id="13" name="Paso 1"/>
          <p:cNvSpPr/>
          <p:nvPr/>
        </p:nvSpPr>
        <p:spPr>
          <a:xfrm>
            <a:off x="585216" y="2880360"/>
            <a:ext cx="2145731" cy="105156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2880360"/>
            <a:ext cx="167024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15" name="¿Qué problema hemos identificado?"/>
          <p:cNvSpPr/>
          <p:nvPr/>
        </p:nvSpPr>
        <p:spPr>
          <a:xfrm>
            <a:off x="1292322" y="4114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¿Qué problema hemos identificado?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7886" y="429036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" y="4983480"/>
            <a:ext cx="20360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¿Qué problema hemos identificado?</a:t>
            </a:r>
            <a:endParaRPr lang="en-US" sz="1600" dirty="0"/>
          </a:p>
        </p:txBody>
      </p:sp>
      <p:sp>
        <p:nvSpPr>
          <p:cNvPr id="18" name="Paso 2"/>
          <p:cNvSpPr/>
          <p:nvPr/>
        </p:nvSpPr>
        <p:spPr>
          <a:xfrm>
            <a:off x="2804099" y="2880360"/>
            <a:ext cx="2145731" cy="105156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3041843" y="2880360"/>
            <a:ext cx="167024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20" name="¿Por qué conviene resolverlo?"/>
          <p:cNvSpPr/>
          <p:nvPr/>
        </p:nvSpPr>
        <p:spPr>
          <a:xfrm>
            <a:off x="3511205" y="4114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¿Por qué conviene resolverlo?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6769" y="429036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858963" y="4983480"/>
            <a:ext cx="20360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¿Por qué conviene resolverlo?</a:t>
            </a:r>
            <a:endParaRPr lang="en-US" sz="1600" dirty="0"/>
          </a:p>
        </p:txBody>
      </p:sp>
      <p:sp>
        <p:nvSpPr>
          <p:cNvPr id="23" name="Paso 3"/>
          <p:cNvSpPr/>
          <p:nvPr/>
        </p:nvSpPr>
        <p:spPr>
          <a:xfrm>
            <a:off x="5022982" y="2880360"/>
            <a:ext cx="2145731" cy="105156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5260726" y="2880360"/>
            <a:ext cx="167024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25" name="¿Qué proponemos?"/>
          <p:cNvSpPr/>
          <p:nvPr/>
        </p:nvSpPr>
        <p:spPr>
          <a:xfrm>
            <a:off x="5730088" y="4114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¿Qué proponemos?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652" y="4290365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77846" y="4983480"/>
            <a:ext cx="20360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¿Qué proponemos?</a:t>
            </a:r>
            <a:endParaRPr lang="en-US" sz="1600" dirty="0"/>
          </a:p>
        </p:txBody>
      </p:sp>
      <p:sp>
        <p:nvSpPr>
          <p:cNvPr id="28" name="Paso 4"/>
          <p:cNvSpPr/>
          <p:nvPr/>
        </p:nvSpPr>
        <p:spPr>
          <a:xfrm>
            <a:off x="7241865" y="2880360"/>
            <a:ext cx="2145731" cy="105156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7479609" y="2880360"/>
            <a:ext cx="167024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</a:t>
            </a:r>
            <a:endParaRPr lang="en-US" sz="3000" dirty="0"/>
          </a:p>
        </p:txBody>
      </p:sp>
      <p:sp>
        <p:nvSpPr>
          <p:cNvPr id="30" name="¿Cómo lo pondríamos en práctica?"/>
          <p:cNvSpPr/>
          <p:nvPr/>
        </p:nvSpPr>
        <p:spPr>
          <a:xfrm>
            <a:off x="7948971" y="4114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¿Cómo lo pondríamos en práctica?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4535" y="4290365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296729" y="4983480"/>
            <a:ext cx="20360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¿Cómo lo pondríamos en práctica?</a:t>
            </a:r>
            <a:endParaRPr lang="en-US" sz="1600" dirty="0"/>
          </a:p>
        </p:txBody>
      </p:sp>
      <p:sp>
        <p:nvSpPr>
          <p:cNvPr id="33" name="Paso 5"/>
          <p:cNvSpPr/>
          <p:nvPr/>
        </p:nvSpPr>
        <p:spPr>
          <a:xfrm>
            <a:off x="9460748" y="2880360"/>
            <a:ext cx="2145731" cy="105156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9698492" y="2880360"/>
            <a:ext cx="167024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</a:t>
            </a:r>
            <a:endParaRPr lang="en-US" sz="3000" dirty="0"/>
          </a:p>
        </p:txBody>
      </p:sp>
      <p:sp>
        <p:nvSpPr>
          <p:cNvPr id="35" name="¿Qué resultados esperaríamos y cómo los mediríamos?"/>
          <p:cNvSpPr/>
          <p:nvPr/>
        </p:nvSpPr>
        <p:spPr>
          <a:xfrm>
            <a:off x="10167854" y="4114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6" descr="¿Qué resultados esperaríamos y cómo los mediríamos?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3418" y="4290365"/>
            <a:ext cx="380390" cy="38039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515612" y="4983480"/>
            <a:ext cx="20360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¿Qué resultados esperaríamos y cómo los mediríamos?</a:t>
            </a:r>
            <a:endParaRPr lang="en-US" sz="16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Ensayo: el problema en 20 segundos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872423" y="548640"/>
            <a:ext cx="277063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72423" y="5486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244–250 · Parejas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</a:rPr>
              <a:t>Preparad y ensayad en voz baja la primera frase de vuestra presentación, siguiendo la versión B como modelo:</a:t>
            </a:r>
            <a:endParaRPr lang="en-US" sz="1900" dirty="0"/>
          </a:p>
        </p:txBody>
      </p:sp>
      <p:sp>
        <p:nvSpPr>
          <p:cNvPr id="6" name="Tarjeta"/>
          <p:cNvSpPr/>
          <p:nvPr/>
        </p:nvSpPr>
        <p:spPr>
          <a:xfrm>
            <a:off x="548640" y="2103120"/>
            <a:ext cx="11094415" cy="109728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7" name="Modelo"/>
          <p:cNvSpPr/>
          <p:nvPr/>
        </p:nvSpPr>
        <p:spPr>
          <a:xfrm>
            <a:off x="822960" y="2286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0" descr="Mode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2461565"/>
            <a:ext cx="380390" cy="3803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2103120"/>
            <a:ext cx="9585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chemeClr val="tx1"/>
                </a:solidFill>
              </a:rPr>
              <a:t>«Nuestra oficina pierde consultas porque llegan por teléfono y por correo y nadie se encarga de ellas…»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520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Nuestra primera frase:</a:t>
            </a:r>
            <a:endParaRPr lang="en-US" sz="1900" dirty="0"/>
          </a:p>
        </p:txBody>
      </p:sp>
      <p:sp>
        <p:nvSpPr>
          <p:cNvPr id="11" name="Hueco"/>
          <p:cNvSpPr/>
          <p:nvPr/>
        </p:nvSpPr>
        <p:spPr>
          <a:xfrm>
            <a:off x="548640" y="4069080"/>
            <a:ext cx="11094415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Presentaciones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872423" y="548640"/>
            <a:ext cx="277063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72423" y="5486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250–275 · Parejas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</a:rPr>
              <a:t>Cada pareja presenta su propuesta:</a:t>
            </a:r>
            <a:endParaRPr lang="en-US" sz="1900" dirty="0"/>
          </a:p>
        </p:txBody>
      </p:sp>
      <p:sp>
        <p:nvSpPr>
          <p:cNvPr id="6" name="minutos de presentación"/>
          <p:cNvSpPr/>
          <p:nvPr/>
        </p:nvSpPr>
        <p:spPr>
          <a:xfrm>
            <a:off x="548640" y="2011680"/>
            <a:ext cx="5318608" cy="2377440"/>
          </a:xfrm>
          <a:prstGeom prst="roundRect">
            <a:avLst>
              <a:gd name="adj" fmla="val 5769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011680"/>
            <a:ext cx="53186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chemeClr val="tx1"/>
                </a:solidFill>
              </a:rPr>
              <a:t>2 a 5</a:t>
            </a:r>
            <a:endParaRPr lang="en-US" sz="9600" dirty="0"/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minutos de presentación</a:t>
            </a:r>
            <a:endParaRPr lang="en-US" sz="9600" dirty="0"/>
          </a:p>
        </p:txBody>
      </p:sp>
      <p:sp>
        <p:nvSpPr>
          <p:cNvPr id="8" name="minuto de preguntas"/>
          <p:cNvSpPr/>
          <p:nvPr/>
        </p:nvSpPr>
        <p:spPr>
          <a:xfrm>
            <a:off x="6324448" y="2011680"/>
            <a:ext cx="5318608" cy="2377440"/>
          </a:xfrm>
          <a:prstGeom prst="roundRect">
            <a:avLst>
              <a:gd name="adj" fmla="val 5769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24448" y="2011680"/>
            <a:ext cx="53186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chemeClr val="bg1"/>
                </a:solidFill>
              </a:rPr>
              <a:t>2 a 5</a:t>
            </a:r>
            <a:endParaRPr lang="en-US" sz="9600" dirty="0"/>
          </a:p>
          <a:p>
            <a:pPr marL="0" indent="0" algn="ctr">
              <a:buNone/>
            </a:pPr>
            <a:r>
              <a:rPr lang="en-US" sz="2400" b="1" dirty="0" err="1">
                <a:solidFill>
                  <a:schemeClr val="bg1"/>
                </a:solidFill>
              </a:rPr>
              <a:t>minutos</a:t>
            </a:r>
            <a:r>
              <a:rPr lang="en-US" sz="2400" b="1" dirty="0">
                <a:solidFill>
                  <a:schemeClr val="bg1"/>
                </a:solidFill>
              </a:rPr>
              <a:t> de preguntas</a:t>
            </a:r>
            <a:endParaRPr lang="en-US" sz="9600" dirty="0"/>
          </a:p>
        </p:txBody>
      </p:sp>
      <p:sp>
        <p:nvSpPr>
          <p:cNvPr id="10" name="Tiempo"/>
          <p:cNvSpPr/>
          <p:nvPr/>
        </p:nvSpPr>
        <p:spPr>
          <a:xfrm>
            <a:off x="548640" y="48006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0" descr="Tiemp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4976165"/>
            <a:ext cx="380390" cy="38039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08760" y="4800600"/>
            <a:ext cx="10134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El tiempo se cumple: con ocho parejas, no hay margen.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Mientras tanto, los observadores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241487" y="548640"/>
            <a:ext cx="3401568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41487" y="54864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250–275 · Todo el grupo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</a:rPr>
              <a:t>Comentad cada presentación según:</a:t>
            </a:r>
            <a:endParaRPr lang="en-US" sz="1900" dirty="0"/>
          </a:p>
        </p:txBody>
      </p:sp>
      <p:sp>
        <p:nvSpPr>
          <p:cNvPr id="6" name="Tarjeta"/>
          <p:cNvSpPr/>
          <p:nvPr/>
        </p:nvSpPr>
        <p:spPr>
          <a:xfrm>
            <a:off x="548640" y="1965960"/>
            <a:ext cx="2533574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7" name="Claridad"/>
          <p:cNvSpPr/>
          <p:nvPr/>
        </p:nvSpPr>
        <p:spPr>
          <a:xfrm>
            <a:off x="1266787" y="219456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Clarid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134" y="2457907"/>
            <a:ext cx="570586" cy="57058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3429000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Claridad</a:t>
            </a:r>
            <a:endParaRPr lang="en-US" sz="2100" dirty="0"/>
          </a:p>
        </p:txBody>
      </p:sp>
      <p:sp>
        <p:nvSpPr>
          <p:cNvPr id="10" name="Tarjeta"/>
          <p:cNvSpPr/>
          <p:nvPr/>
        </p:nvSpPr>
        <p:spPr>
          <a:xfrm>
            <a:off x="3402254" y="1965960"/>
            <a:ext cx="2533574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1" name="Originalidad"/>
          <p:cNvSpPr/>
          <p:nvPr/>
        </p:nvSpPr>
        <p:spPr>
          <a:xfrm>
            <a:off x="4120401" y="219456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Originalid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748" y="2457907"/>
            <a:ext cx="570586" cy="57058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85134" y="3429000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Originalidad</a:t>
            </a:r>
            <a:endParaRPr lang="en-US" sz="2100" dirty="0"/>
          </a:p>
        </p:txBody>
      </p:sp>
      <p:sp>
        <p:nvSpPr>
          <p:cNvPr id="14" name="Tarjeta"/>
          <p:cNvSpPr/>
          <p:nvPr/>
        </p:nvSpPr>
        <p:spPr>
          <a:xfrm>
            <a:off x="6255868" y="1965960"/>
            <a:ext cx="2533574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5" name="Viabilidad"/>
          <p:cNvSpPr/>
          <p:nvPr/>
        </p:nvSpPr>
        <p:spPr>
          <a:xfrm>
            <a:off x="6974015" y="219456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2" descr="Viabilida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362" y="2457907"/>
            <a:ext cx="570586" cy="5705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38748" y="3429000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Viabilidad</a:t>
            </a:r>
            <a:endParaRPr lang="en-US" sz="2100" dirty="0"/>
          </a:p>
        </p:txBody>
      </p:sp>
      <p:sp>
        <p:nvSpPr>
          <p:cNvPr id="18" name="Tarjeta"/>
          <p:cNvSpPr/>
          <p:nvPr/>
        </p:nvSpPr>
        <p:spPr>
          <a:xfrm>
            <a:off x="9109481" y="1965960"/>
            <a:ext cx="2533574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9" name="Posibles riesgos"/>
          <p:cNvSpPr/>
          <p:nvPr/>
        </p:nvSpPr>
        <p:spPr>
          <a:xfrm>
            <a:off x="9827628" y="219456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3" descr="Posibles riesgo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0976" y="2457907"/>
            <a:ext cx="570586" cy="57058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92361" y="3429000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Posibles riesgos</a:t>
            </a:r>
            <a:endParaRPr lang="en-US" sz="2100" dirty="0"/>
          </a:p>
        </p:txBody>
      </p:sp>
      <p:sp>
        <p:nvSpPr>
          <p:cNvPr id="22" name="Tarjeta"/>
          <p:cNvSpPr/>
          <p:nvPr/>
        </p:nvSpPr>
        <p:spPr>
          <a:xfrm>
            <a:off x="548640" y="4480560"/>
            <a:ext cx="11094415" cy="109728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23" name="Mejora"/>
          <p:cNvSpPr/>
          <p:nvPr/>
        </p:nvSpPr>
        <p:spPr>
          <a:xfrm>
            <a:off x="822960" y="46634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4" name="Image 4" descr="Mejor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525" y="4839005"/>
            <a:ext cx="380390" cy="38039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783080" y="4480560"/>
            <a:ext cx="9585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Y siempre, al menos una propuesta de mejora.</a:t>
            </a:r>
            <a:endParaRPr lang="en-US" sz="2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La IA como evaluadora crítica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977579" y="548640"/>
            <a:ext cx="2665476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7579" y="548640"/>
            <a:ext cx="2665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Min. 275–285 · Con IA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</a:rPr>
              <a:t>Introducid un resumen de vuestra propuesta, sin información sensible:</a:t>
            </a:r>
            <a:endParaRPr lang="en-US" sz="1900" dirty="0"/>
          </a:p>
        </p:txBody>
      </p:sp>
      <p:sp>
        <p:nvSpPr>
          <p:cNvPr id="6" name="Prompt"/>
          <p:cNvSpPr/>
          <p:nvPr/>
        </p:nvSpPr>
        <p:spPr>
          <a:xfrm>
            <a:off x="548640" y="1920240"/>
            <a:ext cx="11094415" cy="310896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105457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Actúa como responsable de una empresa que debe decidir si implantar</a:t>
            </a:r>
            <a:endParaRPr lang="en-US" sz="19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propuesta de innovación. Voy a presentarte una solución.</a:t>
            </a:r>
            <a:endParaRPr lang="en-US" sz="19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Evalúala de forma crítica considerando utilidad, originalidad, coste,</a:t>
            </a:r>
            <a:endParaRPr lang="en-US" sz="19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facilidad de implantación y riesgos. Identifica tres debilidades,</a:t>
            </a:r>
            <a:endParaRPr lang="en-US" sz="19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 dos preguntas difíciles y sugiere una mejora concreta.</a:t>
            </a:r>
            <a:endParaRPr lang="en-US" sz="19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des por válidas las cifras que no estén justificadas.</a:t>
            </a:r>
            <a:endParaRPr lang="en-US" sz="19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 es la propuesta: </a:t>
            </a: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[insertar descripción]</a:t>
            </a: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¿Qué críticas aceptáis?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872423" y="548640"/>
            <a:ext cx="277063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72423" y="5486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275–285 · Parejas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</a:rPr>
              <a:t>Cada pareja explica:</a:t>
            </a:r>
            <a:endParaRPr lang="en-US" sz="1900" dirty="0"/>
          </a:p>
        </p:txBody>
      </p:sp>
      <p:sp>
        <p:nvSpPr>
          <p:cNvPr id="6" name="La crítica que aceptamos"/>
          <p:cNvSpPr/>
          <p:nvPr/>
        </p:nvSpPr>
        <p:spPr>
          <a:xfrm>
            <a:off x="548640" y="2057400"/>
            <a:ext cx="5364328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0574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La crítica que aceptamos</a:t>
            </a:r>
            <a:endParaRPr lang="en-US" sz="1800" dirty="0"/>
          </a:p>
        </p:txBody>
      </p:sp>
      <p:sp>
        <p:nvSpPr>
          <p:cNvPr id="8" name="Hueco"/>
          <p:cNvSpPr/>
          <p:nvPr/>
        </p:nvSpPr>
        <p:spPr>
          <a:xfrm>
            <a:off x="548640" y="2788920"/>
            <a:ext cx="5364328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9" name="Qué modificaríamos"/>
          <p:cNvSpPr/>
          <p:nvPr/>
        </p:nvSpPr>
        <p:spPr>
          <a:xfrm>
            <a:off x="6278728" y="2057400"/>
            <a:ext cx="5364328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70168" y="20574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Qué modificaríamos</a:t>
            </a:r>
            <a:endParaRPr lang="en-US" sz="1800" dirty="0"/>
          </a:p>
        </p:txBody>
      </p:sp>
      <p:sp>
        <p:nvSpPr>
          <p:cNvPr id="11" name="Hueco"/>
          <p:cNvSpPr/>
          <p:nvPr/>
        </p:nvSpPr>
        <p:spPr>
          <a:xfrm>
            <a:off x="6278728" y="2788920"/>
            <a:ext cx="5364328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2" name="Aviso"/>
          <p:cNvSpPr/>
          <p:nvPr/>
        </p:nvSpPr>
        <p:spPr>
          <a:xfrm>
            <a:off x="548640" y="54406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0" descr="Avis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583326"/>
            <a:ext cx="309067" cy="30906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371600" y="5440680"/>
            <a:ext cx="10271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Ojo: la respuesta de la IA también puede contener errores.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Lo que habéis demostrado hoy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923983" y="548640"/>
            <a:ext cx="171907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3983" y="5486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285–295</a:t>
            </a:r>
            <a:endParaRPr lang="en-US" sz="1400" dirty="0"/>
          </a:p>
        </p:txBody>
      </p:sp>
      <p:sp>
        <p:nvSpPr>
          <p:cNvPr id="5" name="Tarjeta"/>
          <p:cNvSpPr/>
          <p:nvPr/>
        </p:nvSpPr>
        <p:spPr>
          <a:xfrm>
            <a:off x="548640" y="1645920"/>
            <a:ext cx="1999427" cy="2743200"/>
          </a:xfrm>
          <a:prstGeom prst="roundRect">
            <a:avLst>
              <a:gd name="adj" fmla="val 6860"/>
            </a:avLst>
          </a:prstGeom>
          <a:solidFill>
            <a:schemeClr val="bg2"/>
          </a:solidFill>
          <a:ln/>
        </p:spPr>
      </p:sp>
      <p:sp>
        <p:nvSpPr>
          <p:cNvPr id="6" name="Identificar problemas"/>
          <p:cNvSpPr/>
          <p:nvPr/>
        </p:nvSpPr>
        <p:spPr>
          <a:xfrm>
            <a:off x="953994" y="19659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dentificar problem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286" y="2251253"/>
            <a:ext cx="618134" cy="61813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337560"/>
            <a:ext cx="172510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Identificar problemas</a:t>
            </a:r>
            <a:endParaRPr lang="en-US" sz="1900" dirty="0"/>
          </a:p>
        </p:txBody>
      </p:sp>
      <p:sp>
        <p:nvSpPr>
          <p:cNvPr id="9" name="Tarjeta"/>
          <p:cNvSpPr/>
          <p:nvPr/>
        </p:nvSpPr>
        <p:spPr>
          <a:xfrm>
            <a:off x="2822387" y="1645920"/>
            <a:ext cx="1999427" cy="2743200"/>
          </a:xfrm>
          <a:prstGeom prst="roundRect">
            <a:avLst>
              <a:gd name="adj" fmla="val 6860"/>
            </a:avLst>
          </a:prstGeom>
          <a:solidFill>
            <a:schemeClr val="bg2"/>
          </a:solidFill>
          <a:ln/>
        </p:spPr>
      </p:sp>
      <p:sp>
        <p:nvSpPr>
          <p:cNvPr id="10" name="Análisis"/>
          <p:cNvSpPr/>
          <p:nvPr/>
        </p:nvSpPr>
        <p:spPr>
          <a:xfrm>
            <a:off x="3227741" y="19659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Análisi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033" y="2251253"/>
            <a:ext cx="618134" cy="61813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59547" y="3337560"/>
            <a:ext cx="172510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Análisis</a:t>
            </a:r>
            <a:endParaRPr lang="en-US" sz="1900" dirty="0"/>
          </a:p>
        </p:txBody>
      </p:sp>
      <p:sp>
        <p:nvSpPr>
          <p:cNvPr id="13" name="Tarjeta"/>
          <p:cNvSpPr/>
          <p:nvPr/>
        </p:nvSpPr>
        <p:spPr>
          <a:xfrm>
            <a:off x="5096134" y="1645920"/>
            <a:ext cx="1999427" cy="2743200"/>
          </a:xfrm>
          <a:prstGeom prst="roundRect">
            <a:avLst>
              <a:gd name="adj" fmla="val 6860"/>
            </a:avLst>
          </a:prstGeom>
          <a:solidFill>
            <a:schemeClr val="bg2"/>
          </a:solidFill>
          <a:ln/>
        </p:spPr>
      </p:sp>
      <p:sp>
        <p:nvSpPr>
          <p:cNvPr id="14" name="Creatividad"/>
          <p:cNvSpPr/>
          <p:nvPr/>
        </p:nvSpPr>
        <p:spPr>
          <a:xfrm>
            <a:off x="5501488" y="19659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Creativida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6780" y="2251253"/>
            <a:ext cx="618134" cy="61813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33294" y="3337560"/>
            <a:ext cx="172510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Creatividad</a:t>
            </a:r>
            <a:endParaRPr lang="en-US" sz="1900" dirty="0"/>
          </a:p>
        </p:txBody>
      </p:sp>
      <p:sp>
        <p:nvSpPr>
          <p:cNvPr id="17" name="Tarjeta"/>
          <p:cNvSpPr/>
          <p:nvPr/>
        </p:nvSpPr>
        <p:spPr>
          <a:xfrm>
            <a:off x="7369881" y="1645920"/>
            <a:ext cx="1999427" cy="2743200"/>
          </a:xfrm>
          <a:prstGeom prst="roundRect">
            <a:avLst>
              <a:gd name="adj" fmla="val 6860"/>
            </a:avLst>
          </a:prstGeom>
          <a:solidFill>
            <a:schemeClr val="bg2"/>
          </a:solidFill>
          <a:ln/>
        </p:spPr>
      </p:sp>
      <p:sp>
        <p:nvSpPr>
          <p:cNvPr id="18" name="Dominio digital"/>
          <p:cNvSpPr/>
          <p:nvPr/>
        </p:nvSpPr>
        <p:spPr>
          <a:xfrm>
            <a:off x="7775235" y="19659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3" descr="Dominio digita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0527" y="2251253"/>
            <a:ext cx="618134" cy="61813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507041" y="3337560"/>
            <a:ext cx="172510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Dominio digital</a:t>
            </a:r>
            <a:endParaRPr lang="en-US" sz="1900" dirty="0"/>
          </a:p>
        </p:txBody>
      </p:sp>
      <p:sp>
        <p:nvSpPr>
          <p:cNvPr id="21" name="Tarjeta"/>
          <p:cNvSpPr/>
          <p:nvPr/>
        </p:nvSpPr>
        <p:spPr>
          <a:xfrm>
            <a:off x="9643628" y="1645920"/>
            <a:ext cx="1999427" cy="2743200"/>
          </a:xfrm>
          <a:prstGeom prst="roundRect">
            <a:avLst>
              <a:gd name="adj" fmla="val 6860"/>
            </a:avLst>
          </a:prstGeom>
          <a:solidFill>
            <a:schemeClr val="bg2"/>
          </a:solidFill>
          <a:ln/>
        </p:spPr>
      </p:sp>
      <p:sp>
        <p:nvSpPr>
          <p:cNvPr id="22" name="Comunicación"/>
          <p:cNvSpPr/>
          <p:nvPr/>
        </p:nvSpPr>
        <p:spPr>
          <a:xfrm>
            <a:off x="10048982" y="19659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4" descr="Comunicació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4274" y="2251253"/>
            <a:ext cx="618134" cy="61813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780788" y="3337560"/>
            <a:ext cx="172510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Comunicación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4846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Competencias que </a:t>
            </a:r>
            <a:r>
              <a:rPr lang="en-US" sz="2100" b="1" dirty="0" err="1">
                <a:solidFill>
                  <a:schemeClr val="tx2"/>
                </a:solidFill>
              </a:rPr>
              <a:t>podéis</a:t>
            </a:r>
            <a:r>
              <a:rPr lang="en-US" sz="2100" b="1" dirty="0">
                <a:solidFill>
                  <a:schemeClr val="tx2"/>
                </a:solidFill>
              </a:rPr>
              <a:t> </a:t>
            </a:r>
            <a:r>
              <a:rPr lang="en-US" sz="2100" b="1" dirty="0" err="1">
                <a:solidFill>
                  <a:schemeClr val="tx2"/>
                </a:solidFill>
              </a:rPr>
              <a:t>aplicar</a:t>
            </a:r>
            <a:r>
              <a:rPr lang="en-US" sz="2100" b="1" dirty="0">
                <a:solidFill>
                  <a:schemeClr val="tx2"/>
                </a:solidFill>
              </a:rPr>
              <a:t> </a:t>
            </a:r>
            <a:r>
              <a:rPr lang="en-US" sz="2100" b="1" dirty="0" err="1">
                <a:solidFill>
                  <a:schemeClr val="tx2"/>
                </a:solidFill>
              </a:rPr>
              <a:t>en</a:t>
            </a:r>
            <a:r>
              <a:rPr lang="en-US" sz="2100" b="1" dirty="0">
                <a:solidFill>
                  <a:schemeClr val="tx2"/>
                </a:solidFill>
              </a:rPr>
              <a:t> el día a día o </a:t>
            </a:r>
            <a:r>
              <a:rPr lang="en-US" sz="2100" b="1" dirty="0" err="1">
                <a:solidFill>
                  <a:schemeClr val="tx2"/>
                </a:solidFill>
              </a:rPr>
              <a:t>en</a:t>
            </a:r>
            <a:r>
              <a:rPr lang="en-US" sz="2100" b="1" dirty="0">
                <a:solidFill>
                  <a:schemeClr val="tx2"/>
                </a:solidFill>
              </a:rPr>
              <a:t> </a:t>
            </a:r>
            <a:r>
              <a:rPr lang="en-US" sz="2100" b="1" dirty="0" err="1">
                <a:solidFill>
                  <a:schemeClr val="tx2"/>
                </a:solidFill>
              </a:rPr>
              <a:t>futuros</a:t>
            </a:r>
            <a:r>
              <a:rPr lang="en-US" sz="2100" b="1" dirty="0">
                <a:solidFill>
                  <a:schemeClr val="tx2"/>
                </a:solidFill>
              </a:rPr>
              <a:t> </a:t>
            </a:r>
            <a:r>
              <a:rPr lang="en-US" sz="2100" b="1" dirty="0" err="1">
                <a:solidFill>
                  <a:schemeClr val="tx2"/>
                </a:solidFill>
              </a:rPr>
              <a:t>trabajos</a:t>
            </a:r>
            <a:r>
              <a:rPr lang="en-US" sz="2100" b="1" dirty="0">
                <a:solidFill>
                  <a:schemeClr val="tx2"/>
                </a:solidFill>
              </a:rPr>
              <a:t>.</a:t>
            </a:r>
            <a:endParaRPr lang="en-US" sz="2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Comprobación final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241487" y="548640"/>
            <a:ext cx="3401568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41487" y="54864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295–300 · Todo el grupo</a:t>
            </a:r>
            <a:endParaRPr lang="en-US" sz="1400" dirty="0"/>
          </a:p>
        </p:txBody>
      </p:sp>
      <p:sp>
        <p:nvSpPr>
          <p:cNvPr id="5" name="Pregunta 1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6304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</a:rPr>
              <a:t>¿En qué se diferencia una idea creativa de una innovación?</a:t>
            </a:r>
            <a:endParaRPr lang="en-US" sz="2100" dirty="0"/>
          </a:p>
        </p:txBody>
      </p:sp>
      <p:sp>
        <p:nvSpPr>
          <p:cNvPr id="8" name="Pregunta 2"/>
          <p:cNvSpPr/>
          <p:nvPr/>
        </p:nvSpPr>
        <p:spPr>
          <a:xfrm>
            <a:off x="548640" y="23774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33172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</a:rPr>
              <a:t>¿Qué diferencia hay entre el brainstorming, SCAMPER y la provocación?</a:t>
            </a:r>
            <a:endParaRPr lang="en-US" sz="2100" dirty="0"/>
          </a:p>
        </p:txBody>
      </p:sp>
      <p:sp>
        <p:nvSpPr>
          <p:cNvPr id="11" name="Pregunta 3"/>
          <p:cNvSpPr/>
          <p:nvPr/>
        </p:nvSpPr>
        <p:spPr>
          <a:xfrm>
            <a:off x="548640" y="32461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20040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</a:rPr>
              <a:t>¿Qué ventaja ofrece una matriz de decisión?</a:t>
            </a:r>
            <a:endParaRPr lang="en-US" sz="2100" dirty="0"/>
          </a:p>
        </p:txBody>
      </p:sp>
      <p:sp>
        <p:nvSpPr>
          <p:cNvPr id="14" name="Pregunta 4"/>
          <p:cNvSpPr/>
          <p:nvPr/>
        </p:nvSpPr>
        <p:spPr>
          <a:xfrm>
            <a:off x="548640" y="4114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0690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</a:rPr>
              <a:t>¿Por qué no conviene aceptar sin revisar las respuestas de una IA?</a:t>
            </a:r>
            <a:endParaRPr lang="en-US" sz="2100" dirty="0"/>
          </a:p>
        </p:txBody>
      </p:sp>
      <p:sp>
        <p:nvSpPr>
          <p:cNvPr id="17" name="Pregunta 5"/>
          <p:cNvSpPr/>
          <p:nvPr/>
        </p:nvSpPr>
        <p:spPr>
          <a:xfrm>
            <a:off x="548640" y="4983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983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5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93776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</a:rPr>
              <a:t>¿Cómo mediríamos el resultado de una propuesta de mejora?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Para terminar</a:t>
            </a:r>
            <a:endParaRPr lang="en-US" sz="1800" dirty="0"/>
          </a:p>
        </p:txBody>
      </p:sp>
      <p:sp>
        <p:nvSpPr>
          <p:cNvPr id="3" name="Text 0"/>
          <p:cNvSpPr>
            <a:spLocks noGrp="1"/>
          </p:cNvSpPr>
          <p:nvPr>
            <p:ph type="body" idx="100" hasCustomPrompt="1"/>
          </p:nvPr>
        </p:nvSpPr>
        <p:spPr>
          <a:xfrm>
            <a:off x="1097280" y="1554480"/>
            <a:ext cx="9966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chemeClr val="bg1"/>
                </a:solidFill>
              </a:rPr>
              <a:t>¿Qué técnica de hoy os gustaría aplicar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en vuestro próximo empleo?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El mensaje del curso</a:t>
            </a:r>
            <a:endParaRPr lang="en-US" sz="1800" dirty="0"/>
          </a:p>
        </p:txBody>
      </p:sp>
      <p:sp>
        <p:nvSpPr>
          <p:cNvPr id="3" name="Text 0"/>
          <p:cNvSpPr>
            <a:spLocks noGrp="1"/>
          </p:cNvSpPr>
          <p:nvPr>
            <p:ph type="body" idx="100" hasCustomPrompt="1"/>
          </p:nvPr>
        </p:nvSpPr>
        <p:spPr>
          <a:xfrm>
            <a:off x="1097280" y="1554480"/>
            <a:ext cx="9966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chemeClr val="bg1"/>
                </a:solidFill>
              </a:rPr>
              <a:t>La IA ayuda a ampliar y acelerar el pensamiento creativo.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El valor profesional está en definir bien el problema, elegir una solución sensata y saber cómo comprobar si funciona.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ividad, ofimática e IA">
  <a:themeElements>
    <a:clrScheme name="Creatividad, ofimática e IA">
      <a:dk1>
        <a:srgbClr val="1F2A44"/>
      </a:dk1>
      <a:lt1>
        <a:srgbClr val="FFFFFF"/>
      </a:lt1>
      <a:dk2>
        <a:srgbClr val="3A4664"/>
      </a:dk2>
      <a:lt2>
        <a:srgbClr val="F2F4F8"/>
      </a:lt2>
      <a:accent1>
        <a:srgbClr val="F4A300"/>
      </a:accent1>
      <a:accent2>
        <a:srgbClr val="0F7C70"/>
      </a:accent2>
      <a:accent3>
        <a:srgbClr val="D64933"/>
      </a:accent3>
      <a:accent4>
        <a:srgbClr val="6C5CE7"/>
      </a:accent4>
      <a:accent5>
        <a:srgbClr val="8A94A6"/>
      </a:accent5>
      <a:accent6>
        <a:srgbClr val="2D6A4F"/>
      </a:accent6>
      <a:hlink>
        <a:srgbClr val="0F7C70"/>
      </a:hlink>
      <a:folHlink>
        <a:srgbClr val="6C5CE7"/>
      </a:folHlink>
    </a:clrScheme>
    <a:fontScheme name="Creatividad, ofimática e I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942</Words>
  <Application>Microsoft Office PowerPoint</Application>
  <PresentationFormat>Panorámica</PresentationFormat>
  <Paragraphs>136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Creatividad, ofimática e IA</vt:lpstr>
      <vt:lpstr>Comunicación, pensamiento crítico y aplicación profesional</vt:lpstr>
      <vt:lpstr>Qué vamos a hacer en este bloque</vt:lpstr>
      <vt:lpstr>¿Cuál convence más?</vt:lpstr>
      <vt:lpstr>La estructura de una buena defensa</vt:lpstr>
      <vt:lpstr>Ensayo: el problema en 20 segundos</vt:lpstr>
      <vt:lpstr>Presentaciones</vt:lpstr>
      <vt:lpstr>Mientras tanto, los observadores</vt:lpstr>
      <vt:lpstr>La IA como evaluadora crítica</vt:lpstr>
      <vt:lpstr>¿Qué críticas aceptáis?</vt:lpstr>
      <vt:lpstr>Lo que habéis demostrado hoy</vt:lpstr>
      <vt:lpstr>Comprobación final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Bloque 5. Comunicación, pensamiento crítico y aplicación profesional</dc:title>
  <dc:subject>Desarrollo de las habilidades creativas e innovadoras con herramientas ofimáticas y de inteligencia artificial</dc:subject>
  <dc:creator>PptxGenJS</dc:creator>
  <cp:lastModifiedBy>Javier Nieto</cp:lastModifiedBy>
  <cp:revision>2</cp:revision>
  <dcterms:created xsi:type="dcterms:W3CDTF">2026-10-18T20:09:46Z</dcterms:created>
  <dcterms:modified xsi:type="dcterms:W3CDTF">2026-10-18T20:27:57Z</dcterms:modified>
</cp:coreProperties>
</file>