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796126df-0b64-f5e2-abc6-69394267492c}">
          <p14:sldIdLst>
            <p14:sldId id="256"/>
          </p14:sldIdLst>
        </p14:section>
        <p14:section name="Bloque 1" id="{838d60af-a157-e3d7-680b-4a91d57ae722}">
          <p14:sldIdLst>
            <p14:sldId id="257"/>
            <p14:sldId id="258"/>
          </p14:sldIdLst>
        </p14:section>
        <p14:section name="Creatividad e innovación" id="{a7cbea61-83b8-fa2e-e20e-3bda4a45e87b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Divergir y converger" id="{bba68cf4-6868-ae5b-98b3-7b9d61314012}">
          <p14:sldIdLst>
            <p14:sldId id="270"/>
            <p14:sldId id="271"/>
            <p14:sldId id="272"/>
          </p14:sldIdLst>
        </p14:section>
        <p14:section name="Brainstorming" id="{5eba0b80-37fc-3789-265d-f57d18718d2a}">
          <p14:sldIdLst>
            <p14:sldId id="273"/>
            <p14:sldId id="274"/>
            <p14:sldId id="275"/>
            <p14:sldId id="276"/>
          </p14:sldIdLst>
        </p14:section>
        <p14:section name="Ejercicio 1" id="{f18c1e95-c364-8c41-a0e8-4a55cd186ba4}">
          <p14:sldIdLst>
            <p14:sldId id="277"/>
            <p14:sldId id="278"/>
            <p14:sldId id="279"/>
          </p14:sldIdLst>
        </p14:section>
        <p14:section name="Comparación y cierre" id="{5722d296-48ac-47ec-f13c-e83e4443e48b}">
          <p14:sldIdLst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Presentarse brevemente y explicar que el taller es práctico: se trabaja sobre problemas de pequeñas empresas y organizaciones, no sobre funciones sueltas de los programas.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del bloque: entender la diferencia entre creatividad, innovación y competencia digital, y practicar la primera técnica creativa, el brainstorming, primero entre personas y después con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recorrido del bloque. Explicar el código de color que se usará en todo el curso: en ámbar, lo que piensa el grupo sin ayuda; en verde, lo que se hace con la IA. Las etiquetas de la esquina superior derecha indican siempre los minutos del guion.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0–3. Leer la pregunta y pedir votación a mano alzada.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0–3. Pedir a dos o tres voluntarios que cuenten en una frase alguna mejora que vieran (o hicieran) en un trabajo anterior. Apuntarlas: servirán de ejemplos durante la explicación de los tres conceptos.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3–5. Explicar los tres conceptos usando, si es posible, los ejemplos que acaban de dar los voluntarios. Subrayar que la creatividad no se limita a ámbitos artísticos: también consiste en mejorar tareas cotidianas y procesos de trabajo.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5–10. Explicar la dinámica: un dedo, creatividad; dos, innovación; tres, competencia digital. Leer cada situación, pedir el voto y, si hay votos repartidos, preguntar a una persona de cada opción. Las respuestas orientativas están en las notas de cada situación.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orientativa: Creatividad: es una idea, todavía no se ha aplicado.
Criterio para resolver las dudas: ¿es solo una idea o ya se ha puesto en práctica? ¿Aporta valor?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orientativa: Innovación: se ha aplicado y aporta valor.
Criterio para resolver las dudas: ¿es solo una idea o ya se ha puesto en práctica? ¿Aporta valor?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orientativa: Competencia digital.
Criterio para resolver las dudas: ¿es solo una idea o ya se ha puesto en práctica? ¿Aporta valor?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orientativa: Innovación.
Criterio para resolver las dudas: ¿es solo una idea o ya se ha puesto en práctica? ¿Aporta valor?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orientativa: Creatividad; si se pone en práctica y funciona, innovación. Situación discutible a propósito: lo importante es el razonamiento, no acertar.
Criterio para resolver las dudas: ¿es solo una idea o ya se ha puesto en práctica? ¿Aporta valor?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orientativa: Competencia digital; sería innovación si cambiara cómo se atiende a los clientes extranjeros. Situación discutible a propósito: lo importante es el razonamiento, no acertar.
Criterio para resolver las dudas: ¿es solo una idea o ya se ha puesto en práctica? ¿Aporta valor?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esta diapositiva cuando haya votos repartidos o al terminar las seis situaciones. Las situaciones 5 y 6 son discutibles a propósito.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10–12. Cada persona, en silencio y por escrito, anota en 90 segundos todos los usos que se le ocurran para un clip. Después, cada una dice cuántos ha escrito y quien tenga más lee su lista.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12–14. Votar un solo uso. No explicar todavía la teoría: la conclusión viene en la diapositiva siguiente, sobre lo que acaban de hacer.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14–15. Lo que acaban de hacer con el clip: primero pensamiento divergente (muchos usos, sin juzgar) y después convergente (elegir uno con criterio). Las tres técnicas del curso sirven para abrir el abanico; la matriz del bloque 3 sirve para cerrarlo.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 para todo el curso: en cada técnica, primero piensan las personas y después se pide ayuda a la IA. Si la IA va primero, el grupo se ancla en sus propuestas y deja de pensar por su cuenta. Además, así se puede comparar qué aporta cada 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Ejemplo que acompaña a las tres técnicas del curso. Es ajeno a los ejercicios: usar siempre el mismo ejemplo deja ver qué tipo de ideas produce cada técnica.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15–20. Qué es el brainstorming y sus cuatro reglas. La regla 3 (construir sobre la idea de otra persona) se aplicará después también a la combinación de ideas del grupo y de la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Lanzar las ideas a buen ritmo para mostrar cómo funciona. Terminar con la idea disparatada y mostrar que, construyendo sobre ella, se llega a una idea sensata: por eso las ideas disparatadas son bienvenidas.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20–30. Entre todo el grupo, sin IA. Dar el turno en rueda para que participen todas las personas y no solo las más extrovertidas; quien no tenga idea dice «paso» y se continúa. Apuntar todas las ideas numeradas en la pizarra o en un documento compartido, sin comentarlas. Al final, contar el total: se usará en la comparación.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30–38. Proyectar la IA y pegar la lista de ideas del grupo en el lugar indicado. Leer en voz alta las propuestas de la IA y comentar cuáles sorprenden y cuáles son genéricas o repiten lo ya dicho con otras palabras. El texto del prompt para copiar está en el guion docente.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30–38. Lanzar este segundo prompt en la misma conversación con la IA, a continuación del primero.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38–45. Cada persona marca las tres ideas que le parecen más originales, sin fijarse en si vienen del grupo o de la IA. Después, contar y rellenar la tabla: cuántas ideas salieron sin IA y con IA, y cuántas de las más votadas son de cada origen.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adelantar la conclusión: puede salir que la IA aporta más cantidad pero menos originalidad, o lo contrario. Lo importante es que el grupo lo compruebe con sus propios datos de la tabla.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Conclusión del bloque. Enlazar con el bloque 2: ahora se aplicarán dos técnicas más estructuradas, SCAMPER y la provocación, por parejas.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76809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108960" y="2103120"/>
            <a:ext cx="85039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108960" y="3749040"/>
            <a:ext cx="85039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Bloque 1 · Activación de la creatividad y brainstorming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CAD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97280" y="1554480"/>
            <a:ext cx="996696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Bloque 1 · Activación de la creatividad y brainstorming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Creatividad, ofimática e IA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Desarrollo de las habilidades creativas e innovadoras con herramientas ofimáticas y de inteligencia artificial</a:t>
            </a:r>
            <a:endParaRPr lang="en-US" sz="2000" dirty="0"/>
          </a:p>
        </p:txBody>
      </p:sp>
      <p:sp>
        <p:nvSpPr>
          <p:cNvPr id="4" name="Bombilla"/>
          <p:cNvSpPr/>
          <p:nvPr/>
        </p:nvSpPr>
        <p:spPr>
          <a:xfrm>
            <a:off x="8869680" y="1828800"/>
            <a:ext cx="2743200" cy="2743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Bombil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48" y="2487168"/>
            <a:ext cx="1426464" cy="1426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60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Taller práctico · 5 horas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2194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3108960" y="2103120"/>
            <a:ext cx="8503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Activación de la creatividad y brainstorming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3108960" y="374904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45 minutos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Qué vamos a hacer en este bloque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473175" y="2331720"/>
            <a:ext cx="9245346" cy="0"/>
          </a:xfrm>
          <a:prstGeom prst="line">
            <a:avLst/>
          </a:prstGeom>
          <a:noFill/>
          <a:ln w="50800">
            <a:solidFill>
              <a:srgbClr val="F2F4F8"/>
            </a:solidFill>
            <a:prstDash val="solid"/>
          </a:ln>
        </p:spPr>
      </p:sp>
      <p:sp>
        <p:nvSpPr>
          <p:cNvPr id="4" name="Paso 1"/>
          <p:cNvSpPr/>
          <p:nvPr/>
        </p:nvSpPr>
        <p:spPr>
          <a:xfrm>
            <a:off x="901675" y="1760220"/>
            <a:ext cx="1143000" cy="11430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01675" y="176022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0–10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31820"/>
            <a:ext cx="166618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Creatividad, innovación y competencia digital</a:t>
            </a:r>
            <a:endParaRPr lang="en-US" sz="1600" dirty="0"/>
          </a:p>
        </p:txBody>
      </p:sp>
      <p:sp>
        <p:nvSpPr>
          <p:cNvPr id="7" name="Paso 2"/>
          <p:cNvSpPr/>
          <p:nvPr/>
        </p:nvSpPr>
        <p:spPr>
          <a:xfrm>
            <a:off x="2750744" y="1760220"/>
            <a:ext cx="1143000" cy="11430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750744" y="176022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10–15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489149" y="3131820"/>
            <a:ext cx="166618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Abrir y cerrar: divergir y converger</a:t>
            </a:r>
            <a:endParaRPr lang="en-US" sz="1600" dirty="0"/>
          </a:p>
        </p:txBody>
      </p:sp>
      <p:sp>
        <p:nvSpPr>
          <p:cNvPr id="10" name="Paso 3"/>
          <p:cNvSpPr/>
          <p:nvPr/>
        </p:nvSpPr>
        <p:spPr>
          <a:xfrm>
            <a:off x="4599813" y="1760220"/>
            <a:ext cx="1143000" cy="11430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813" y="176022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15–20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338218" y="3131820"/>
            <a:ext cx="166618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 técnica: brainstorming</a:t>
            </a:r>
            <a:endParaRPr lang="en-US" sz="1600" dirty="0"/>
          </a:p>
        </p:txBody>
      </p:sp>
      <p:sp>
        <p:nvSpPr>
          <p:cNvPr id="13" name="Paso 4"/>
          <p:cNvSpPr/>
          <p:nvPr/>
        </p:nvSpPr>
        <p:spPr>
          <a:xfrm>
            <a:off x="6448882" y="1760220"/>
            <a:ext cx="1143000" cy="11430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8882" y="176022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20–30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187288" y="3131820"/>
            <a:ext cx="166618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Ejercicio 1: ideas del grupo</a:t>
            </a:r>
            <a:endParaRPr lang="en-US" sz="1600" dirty="0"/>
          </a:p>
        </p:txBody>
      </p:sp>
      <p:sp>
        <p:nvSpPr>
          <p:cNvPr id="16" name="Paso 5"/>
          <p:cNvSpPr/>
          <p:nvPr/>
        </p:nvSpPr>
        <p:spPr>
          <a:xfrm>
            <a:off x="8297951" y="1760220"/>
            <a:ext cx="1143000" cy="11430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97951" y="176022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30–38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036357" y="3131820"/>
            <a:ext cx="166618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Ejercicio 1: ideas con IA</a:t>
            </a:r>
            <a:endParaRPr lang="en-US" sz="1600" dirty="0"/>
          </a:p>
        </p:txBody>
      </p:sp>
      <p:sp>
        <p:nvSpPr>
          <p:cNvPr id="19" name="Paso 6"/>
          <p:cNvSpPr/>
          <p:nvPr/>
        </p:nvSpPr>
        <p:spPr>
          <a:xfrm>
            <a:off x="10147021" y="1760220"/>
            <a:ext cx="1143000" cy="11430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147021" y="176022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38–45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885426" y="3131820"/>
            <a:ext cx="166618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Comparamos y cerramos</a:t>
            </a:r>
            <a:endParaRPr lang="en-US" sz="1600" dirty="0"/>
          </a:p>
        </p:txBody>
      </p:sp>
      <p:sp>
        <p:nvSpPr>
          <p:cNvPr id="22" name="Personas"/>
          <p:cNvSpPr/>
          <p:nvPr/>
        </p:nvSpPr>
        <p:spPr>
          <a:xfrm>
            <a:off x="548640" y="4846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mage 0" descr="Person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4977994"/>
            <a:ext cx="285293" cy="285293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234440" y="48463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Ámbar: pensamos las personas</a:t>
            </a:r>
            <a:endParaRPr lang="en-US" sz="1600" dirty="0"/>
          </a:p>
        </p:txBody>
      </p:sp>
      <p:sp>
        <p:nvSpPr>
          <p:cNvPr id="25" name="IA"/>
          <p:cNvSpPr/>
          <p:nvPr/>
        </p:nvSpPr>
        <p:spPr>
          <a:xfrm>
            <a:off x="5394960" y="48463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6" name="Image 1" descr="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6634" y="4977994"/>
            <a:ext cx="285293" cy="285293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080760" y="48463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Verde: trabajamos con la IA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97280" y="1554480"/>
            <a:ext cx="9966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Mañana empezáis a trabajar en una empresa. Hay un procedimiento que siempre se ha hecho igual, pero que consume muchísimo tiempo.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¿Lo repetiríais o buscaríais una manera mejor?</a:t>
            </a:r>
            <a:endParaRPr lang="en-US" sz="3400" dirty="0"/>
          </a:p>
        </p:txBody>
      </p:sp>
      <p:sp>
        <p:nvSpPr>
          <p:cNvPr id="3" name="Etiqueta de tiempo"/>
          <p:cNvSpPr/>
          <p:nvPr/>
        </p:nvSpPr>
        <p:spPr>
          <a:xfrm>
            <a:off x="8662111" y="548640"/>
            <a:ext cx="298094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62111" y="548640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0–3 · Todo el grupo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48920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Votación a mano alzada</a:t>
            </a:r>
            <a:endParaRPr lang="en-US" sz="1600" dirty="0"/>
          </a:p>
        </p:txBody>
      </p:sp>
      <p:sp>
        <p:nvSpPr>
          <p:cNvPr id="6" name="Opción 1"/>
          <p:cNvSpPr/>
          <p:nvPr/>
        </p:nvSpPr>
        <p:spPr>
          <a:xfrm>
            <a:off x="1097280" y="5394960"/>
            <a:ext cx="4206240" cy="6858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7" name="Lo repito tal cual"/>
          <p:cNvSpPr/>
          <p:nvPr/>
        </p:nvSpPr>
        <p:spPr>
          <a:xfrm>
            <a:off x="1207008" y="546811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mage 0" descr="Lo repito tal cu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8682" y="5599786"/>
            <a:ext cx="285293" cy="28529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874520" y="53949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Lo repito tal cual</a:t>
            </a:r>
            <a:endParaRPr lang="en-US" sz="1800" dirty="0"/>
          </a:p>
        </p:txBody>
      </p:sp>
      <p:sp>
        <p:nvSpPr>
          <p:cNvPr id="10" name="Opción 2"/>
          <p:cNvSpPr/>
          <p:nvPr/>
        </p:nvSpPr>
        <p:spPr>
          <a:xfrm>
            <a:off x="5669280" y="5394960"/>
            <a:ext cx="4206240" cy="6858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11" name="Busco una manera mejor"/>
          <p:cNvSpPr/>
          <p:nvPr/>
        </p:nvSpPr>
        <p:spPr>
          <a:xfrm>
            <a:off x="5779008" y="546811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1" descr="Busco una manera mej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682" y="5599786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46520" y="53949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Busco una manera mejor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¿Habéis visto alguna mejora?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0–3 · Voluntarios</a:t>
            </a:r>
            <a:endParaRPr lang="en-US" sz="1400" dirty="0"/>
          </a:p>
        </p:txBody>
      </p:sp>
      <p:sp>
        <p:nvSpPr>
          <p:cNvPr id="5" name="Voluntarios"/>
          <p:cNvSpPr/>
          <p:nvPr/>
        </p:nvSpPr>
        <p:spPr>
          <a:xfrm>
            <a:off x="822960" y="2011680"/>
            <a:ext cx="1828800" cy="1828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Voluntari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1872" y="2450592"/>
            <a:ext cx="950976" cy="950976"/>
          </a:xfrm>
          <a:prstGeom prst="rect">
            <a:avLst/>
          </a:prstGeom>
        </p:spPr>
      </p:pic>
      <p:sp>
        <p:nvSpPr>
          <p:cNvPr id="7" name="Tarjeta"/>
          <p:cNvSpPr/>
          <p:nvPr/>
        </p:nvSpPr>
        <p:spPr>
          <a:xfrm>
            <a:off x="3108960" y="1737360"/>
            <a:ext cx="8534095" cy="2377440"/>
          </a:xfrm>
          <a:prstGeom prst="roundRect">
            <a:avLst>
              <a:gd name="adj" fmla="val 5769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474720" y="1737360"/>
            <a:ext cx="78025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chemeClr val="tx1"/>
                </a:solidFill>
              </a:rPr>
              <a:t>«Antes se hacía así…</a:t>
            </a:r>
            <a:endParaRPr lang="en-US" sz="3600" dirty="0"/>
          </a:p>
          <a:p>
            <a:pPr indent="0" marL="0">
              <a:buNone/>
            </a:pPr>
            <a:r>
              <a:rPr lang="en-US" sz="3600" i="1" dirty="0">
                <a:solidFill>
                  <a:schemeClr val="tx1"/>
                </a:solidFill>
              </a:rPr>
              <a:t>y alguien lo cambió por…»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3108960" y="4434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Dos o tres voluntarios · una frase cada uno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Tres conceptos que no son lo mismo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10180015" y="548640"/>
            <a:ext cx="146304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180015" y="5486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3–5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508760"/>
            <a:ext cx="3454298" cy="374904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6" name="Creatividad"/>
          <p:cNvSpPr/>
          <p:nvPr/>
        </p:nvSpPr>
        <p:spPr>
          <a:xfrm>
            <a:off x="868680" y="17830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Creativid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2002536"/>
            <a:ext cx="475488" cy="47548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2834640"/>
            <a:ext cx="28142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Creatividad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383280"/>
            <a:ext cx="28142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Producir ideas nuevas y útiles.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4251960"/>
            <a:ext cx="28142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Ejemplo: </a:t>
            </a:r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Imaginar nuevas formas de atender a los clientes.</a:t>
            </a:r>
            <a:endParaRPr lang="en-US" sz="1500" dirty="0"/>
          </a:p>
        </p:txBody>
      </p:sp>
      <p:sp>
        <p:nvSpPr>
          <p:cNvPr id="11" name="Tarjeta"/>
          <p:cNvSpPr/>
          <p:nvPr/>
        </p:nvSpPr>
        <p:spPr>
          <a:xfrm>
            <a:off x="4368698" y="1508760"/>
            <a:ext cx="3454298" cy="374904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12" name="Innovación"/>
          <p:cNvSpPr/>
          <p:nvPr/>
        </p:nvSpPr>
        <p:spPr>
          <a:xfrm>
            <a:off x="4688738" y="178308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3" name="Image 1" descr="Innovació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8194" y="2002536"/>
            <a:ext cx="475488" cy="47548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688738" y="2834640"/>
            <a:ext cx="28142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Innovación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4688738" y="3383280"/>
            <a:ext cx="28142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Poner en práctica una mejora que aporta valor.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688738" y="4251960"/>
            <a:ext cx="28142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Ejemplo: </a:t>
            </a:r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Implantar la cita previa para reducir esperas.</a:t>
            </a:r>
            <a:endParaRPr lang="en-US" sz="1500" dirty="0"/>
          </a:p>
        </p:txBody>
      </p:sp>
      <p:sp>
        <p:nvSpPr>
          <p:cNvPr id="17" name="Tarjeta"/>
          <p:cNvSpPr/>
          <p:nvPr/>
        </p:nvSpPr>
        <p:spPr>
          <a:xfrm>
            <a:off x="8188757" y="1508760"/>
            <a:ext cx="3454298" cy="374904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18" name="Competencia digital"/>
          <p:cNvSpPr/>
          <p:nvPr/>
        </p:nvSpPr>
        <p:spPr>
          <a:xfrm>
            <a:off x="8508797" y="1783080"/>
            <a:ext cx="914400" cy="914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9" name="Image 2" descr="Competencia digit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8253" y="2002536"/>
            <a:ext cx="475488" cy="47548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508797" y="2834640"/>
            <a:ext cx="28142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Competencia digital</a:t>
            </a:r>
            <a:endParaRPr lang="en-US" sz="2400" dirty="0"/>
          </a:p>
        </p:txBody>
      </p:sp>
      <p:sp>
        <p:nvSpPr>
          <p:cNvPr id="21" name="Text 16"/>
          <p:cNvSpPr txBox="1"/>
          <p:nvPr/>
        </p:nvSpPr>
        <p:spPr>
          <a:xfrm>
            <a:off x="8508797" y="3383280"/>
            <a:ext cx="28142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Emplear la tecnología para realizar tareas.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8508797" y="4251960"/>
            <a:ext cx="28142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Ejemplo: </a:t>
            </a:r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Usar una hoja de cálculo para organizar turnos.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55321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La creatividad no es solo arte: también es mejorar tareas y procesos de trabajo.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Actividad: ¿qué es cada situación?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556955" y="548640"/>
            <a:ext cx="30861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556955" y="54864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5–10 · Todo el grupo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Os leeré seis situaciones. Votad con los dedos:</a:t>
            </a:r>
            <a:endParaRPr lang="en-US" sz="2200" dirty="0"/>
          </a:p>
        </p:txBody>
      </p:sp>
      <p:sp>
        <p:nvSpPr>
          <p:cNvPr id="6" name="Tarjeta"/>
          <p:cNvSpPr/>
          <p:nvPr/>
        </p:nvSpPr>
        <p:spPr>
          <a:xfrm>
            <a:off x="548640" y="2194560"/>
            <a:ext cx="3454298" cy="2834640"/>
          </a:xfrm>
          <a:prstGeom prst="roundRect">
            <a:avLst>
              <a:gd name="adj" fmla="val 4839"/>
            </a:avLst>
          </a:prstGeom>
          <a:solidFill>
            <a:schemeClr val="bg2"/>
          </a:solidFill>
          <a:ln/>
        </p:spPr>
      </p:sp>
      <p:sp>
        <p:nvSpPr>
          <p:cNvPr id="7" name="Opción 1"/>
          <p:cNvSpPr/>
          <p:nvPr/>
        </p:nvSpPr>
        <p:spPr>
          <a:xfrm>
            <a:off x="1498549" y="2423160"/>
            <a:ext cx="1554480" cy="1554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98549" y="242316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tx1"/>
                </a:solidFill>
              </a:rPr>
              <a:t>1</a:t>
            </a:r>
            <a:endParaRPr lang="en-US" sz="6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16052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Creatividad</a:t>
            </a:r>
            <a:endParaRPr lang="en-US" sz="2400" dirty="0"/>
          </a:p>
        </p:txBody>
      </p:sp>
      <p:sp>
        <p:nvSpPr>
          <p:cNvPr id="10" name="Tarjeta"/>
          <p:cNvSpPr/>
          <p:nvPr/>
        </p:nvSpPr>
        <p:spPr>
          <a:xfrm>
            <a:off x="4368698" y="2194560"/>
            <a:ext cx="3454298" cy="2834640"/>
          </a:xfrm>
          <a:prstGeom prst="roundRect">
            <a:avLst>
              <a:gd name="adj" fmla="val 4839"/>
            </a:avLst>
          </a:prstGeom>
          <a:solidFill>
            <a:schemeClr val="bg2"/>
          </a:solidFill>
          <a:ln/>
        </p:spPr>
      </p:sp>
      <p:sp>
        <p:nvSpPr>
          <p:cNvPr id="11" name="Opción 2"/>
          <p:cNvSpPr/>
          <p:nvPr/>
        </p:nvSpPr>
        <p:spPr>
          <a:xfrm>
            <a:off x="5318608" y="2423160"/>
            <a:ext cx="1554480" cy="15544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318608" y="242316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2</a:t>
            </a:r>
            <a:endParaRPr lang="en-US" sz="6600" dirty="0"/>
          </a:p>
        </p:txBody>
      </p:sp>
      <p:sp>
        <p:nvSpPr>
          <p:cNvPr id="13" name="Text 11"/>
          <p:cNvSpPr txBox="1"/>
          <p:nvPr/>
        </p:nvSpPr>
        <p:spPr>
          <a:xfrm>
            <a:off x="4551578" y="416052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Innovación</a:t>
            </a:r>
            <a:endParaRPr lang="en-US" sz="2400" dirty="0"/>
          </a:p>
        </p:txBody>
      </p:sp>
      <p:sp>
        <p:nvSpPr>
          <p:cNvPr id="14" name="Tarjeta"/>
          <p:cNvSpPr/>
          <p:nvPr/>
        </p:nvSpPr>
        <p:spPr>
          <a:xfrm>
            <a:off x="8188757" y="2194560"/>
            <a:ext cx="3454298" cy="2834640"/>
          </a:xfrm>
          <a:prstGeom prst="roundRect">
            <a:avLst>
              <a:gd name="adj" fmla="val 4839"/>
            </a:avLst>
          </a:prstGeom>
          <a:solidFill>
            <a:schemeClr val="bg2"/>
          </a:solidFill>
          <a:ln/>
        </p:spPr>
      </p:sp>
      <p:sp>
        <p:nvSpPr>
          <p:cNvPr id="15" name="Opción 3"/>
          <p:cNvSpPr/>
          <p:nvPr/>
        </p:nvSpPr>
        <p:spPr>
          <a:xfrm>
            <a:off x="9138666" y="2423160"/>
            <a:ext cx="1554480" cy="15544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38666" y="242316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3</a:t>
            </a:r>
            <a:endParaRPr lang="en-US" sz="6600" dirty="0"/>
          </a:p>
        </p:txBody>
      </p:sp>
      <p:sp>
        <p:nvSpPr>
          <p:cNvPr id="17" name="Text 15"/>
          <p:cNvSpPr txBox="1"/>
          <p:nvPr/>
        </p:nvSpPr>
        <p:spPr>
          <a:xfrm>
            <a:off x="8371637" y="416052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Competencia digital</a:t>
            </a:r>
            <a:endParaRPr lang="en-US" sz="2400" dirty="0"/>
          </a:p>
        </p:txBody>
      </p:sp>
      <p:sp>
        <p:nvSpPr>
          <p:cNvPr id="18" name="Votación"/>
          <p:cNvSpPr/>
          <p:nvPr/>
        </p:nvSpPr>
        <p:spPr>
          <a:xfrm>
            <a:off x="548640" y="53492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0" descr="Vot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5480914"/>
            <a:ext cx="285293" cy="285293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280160" y="5349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Si hay votos repartidos, una persona de cada opción explica por qué.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Situación 1 de 6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556955" y="548640"/>
            <a:ext cx="30861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556955" y="54864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5–10 · Todo el grupo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554480"/>
            <a:ext cx="11094415" cy="2651760"/>
          </a:xfrm>
          <a:prstGeom prst="roundRect">
            <a:avLst>
              <a:gd name="adj" fmla="val 5172"/>
            </a:avLst>
          </a:prstGeom>
          <a:solidFill>
            <a:schemeClr val="bg2"/>
          </a:solidFill>
          <a:ln/>
        </p:spPr>
      </p:sp>
      <p:sp>
        <p:nvSpPr>
          <p:cNvPr id="6" name="Situación"/>
          <p:cNvSpPr/>
          <p:nvPr/>
        </p:nvSpPr>
        <p:spPr>
          <a:xfrm>
            <a:off x="960120" y="2194560"/>
            <a:ext cx="1371600" cy="13716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Situ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9304" y="2523744"/>
            <a:ext cx="713232" cy="7132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697480" y="1554480"/>
            <a:ext cx="857981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Una dependienta propone en una reunión que los clientes puedan reservar por WhatsApp.</a:t>
            </a:r>
            <a:endParaRPr lang="en-US" sz="3000" dirty="0"/>
          </a:p>
        </p:txBody>
      </p:sp>
      <p:sp>
        <p:nvSpPr>
          <p:cNvPr id="9" name="Opción 1"/>
          <p:cNvSpPr/>
          <p:nvPr/>
        </p:nvSpPr>
        <p:spPr>
          <a:xfrm>
            <a:off x="548640" y="47091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4709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470916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Creatividad</a:t>
            </a:r>
            <a:endParaRPr lang="en-US" sz="2000" dirty="0"/>
          </a:p>
        </p:txBody>
      </p:sp>
      <p:sp>
        <p:nvSpPr>
          <p:cNvPr id="12" name="Opción 2"/>
          <p:cNvSpPr/>
          <p:nvPr/>
        </p:nvSpPr>
        <p:spPr>
          <a:xfrm>
            <a:off x="4206240" y="470916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06240" y="4709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470916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Innovación</a:t>
            </a:r>
            <a:endParaRPr lang="en-US" sz="2000" dirty="0"/>
          </a:p>
        </p:txBody>
      </p:sp>
      <p:sp>
        <p:nvSpPr>
          <p:cNvPr id="15" name="Opción 3"/>
          <p:cNvSpPr/>
          <p:nvPr/>
        </p:nvSpPr>
        <p:spPr>
          <a:xfrm>
            <a:off x="7863840" y="470916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863840" y="4709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8732520" y="470916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Competencia digital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Situación 2 de 6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556955" y="548640"/>
            <a:ext cx="30861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556955" y="54864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5–10 · Todo el grupo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554480"/>
            <a:ext cx="11094415" cy="2651760"/>
          </a:xfrm>
          <a:prstGeom prst="roundRect">
            <a:avLst>
              <a:gd name="adj" fmla="val 5172"/>
            </a:avLst>
          </a:prstGeom>
          <a:solidFill>
            <a:schemeClr val="bg2"/>
          </a:solidFill>
          <a:ln/>
        </p:spPr>
      </p:sp>
      <p:sp>
        <p:nvSpPr>
          <p:cNvPr id="6" name="Situación"/>
          <p:cNvSpPr/>
          <p:nvPr/>
        </p:nvSpPr>
        <p:spPr>
          <a:xfrm>
            <a:off x="960120" y="2194560"/>
            <a:ext cx="1371600" cy="13716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Situ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9304" y="2523744"/>
            <a:ext cx="713232" cy="7132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697480" y="1554480"/>
            <a:ext cx="857981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La tienda pone en marcha las reservas por WhatsApp y las esperas se reducen.</a:t>
            </a:r>
            <a:endParaRPr lang="en-US" sz="3000" dirty="0"/>
          </a:p>
        </p:txBody>
      </p:sp>
      <p:sp>
        <p:nvSpPr>
          <p:cNvPr id="9" name="Opción 1"/>
          <p:cNvSpPr/>
          <p:nvPr/>
        </p:nvSpPr>
        <p:spPr>
          <a:xfrm>
            <a:off x="548640" y="47091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4709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470916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Creatividad</a:t>
            </a:r>
            <a:endParaRPr lang="en-US" sz="2000" dirty="0"/>
          </a:p>
        </p:txBody>
      </p:sp>
      <p:sp>
        <p:nvSpPr>
          <p:cNvPr id="12" name="Opción 2"/>
          <p:cNvSpPr/>
          <p:nvPr/>
        </p:nvSpPr>
        <p:spPr>
          <a:xfrm>
            <a:off x="4206240" y="470916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06240" y="4709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470916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Innovación</a:t>
            </a:r>
            <a:endParaRPr lang="en-US" sz="2000" dirty="0"/>
          </a:p>
        </p:txBody>
      </p:sp>
      <p:sp>
        <p:nvSpPr>
          <p:cNvPr id="15" name="Opción 3"/>
          <p:cNvSpPr/>
          <p:nvPr/>
        </p:nvSpPr>
        <p:spPr>
          <a:xfrm>
            <a:off x="7863840" y="470916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863840" y="4709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8732520" y="470916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Competencia digital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Situación 3 de 6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556955" y="548640"/>
            <a:ext cx="30861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556955" y="54864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5–10 · Todo el grupo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554480"/>
            <a:ext cx="11094415" cy="2651760"/>
          </a:xfrm>
          <a:prstGeom prst="roundRect">
            <a:avLst>
              <a:gd name="adj" fmla="val 5172"/>
            </a:avLst>
          </a:prstGeom>
          <a:solidFill>
            <a:schemeClr val="bg2"/>
          </a:solidFill>
          <a:ln/>
        </p:spPr>
      </p:sp>
      <p:sp>
        <p:nvSpPr>
          <p:cNvPr id="6" name="Situación"/>
          <p:cNvSpPr/>
          <p:nvPr/>
        </p:nvSpPr>
        <p:spPr>
          <a:xfrm>
            <a:off x="960120" y="2194560"/>
            <a:ext cx="1371600" cy="13716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Situ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9304" y="2523744"/>
            <a:ext cx="713232" cy="7132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697480" y="1554480"/>
            <a:ext cx="857981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Un administrativo usa una tabla dinámica para resumir las ventas del mes.</a:t>
            </a:r>
            <a:endParaRPr lang="en-US" sz="3000" dirty="0"/>
          </a:p>
        </p:txBody>
      </p:sp>
      <p:sp>
        <p:nvSpPr>
          <p:cNvPr id="9" name="Opción 1"/>
          <p:cNvSpPr/>
          <p:nvPr/>
        </p:nvSpPr>
        <p:spPr>
          <a:xfrm>
            <a:off x="548640" y="47091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4709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470916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Creatividad</a:t>
            </a:r>
            <a:endParaRPr lang="en-US" sz="2000" dirty="0"/>
          </a:p>
        </p:txBody>
      </p:sp>
      <p:sp>
        <p:nvSpPr>
          <p:cNvPr id="12" name="Opción 2"/>
          <p:cNvSpPr/>
          <p:nvPr/>
        </p:nvSpPr>
        <p:spPr>
          <a:xfrm>
            <a:off x="4206240" y="470916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06240" y="4709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470916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Innovación</a:t>
            </a:r>
            <a:endParaRPr lang="en-US" sz="2000" dirty="0"/>
          </a:p>
        </p:txBody>
      </p:sp>
      <p:sp>
        <p:nvSpPr>
          <p:cNvPr id="15" name="Opción 3"/>
          <p:cNvSpPr/>
          <p:nvPr/>
        </p:nvSpPr>
        <p:spPr>
          <a:xfrm>
            <a:off x="7863840" y="470916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863840" y="4709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8732520" y="470916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Competencia digital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Situación 4 de 6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556955" y="548640"/>
            <a:ext cx="30861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556955" y="54864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5–10 · Todo el grupo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554480"/>
            <a:ext cx="11094415" cy="2651760"/>
          </a:xfrm>
          <a:prstGeom prst="roundRect">
            <a:avLst>
              <a:gd name="adj" fmla="val 5172"/>
            </a:avLst>
          </a:prstGeom>
          <a:solidFill>
            <a:schemeClr val="bg2"/>
          </a:solidFill>
          <a:ln/>
        </p:spPr>
      </p:sp>
      <p:sp>
        <p:nvSpPr>
          <p:cNvPr id="6" name="Situación"/>
          <p:cNvSpPr/>
          <p:nvPr/>
        </p:nvSpPr>
        <p:spPr>
          <a:xfrm>
            <a:off x="960120" y="2194560"/>
            <a:ext cx="1371600" cy="13716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Situ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9304" y="2523744"/>
            <a:ext cx="713232" cy="7132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697480" y="1554480"/>
            <a:ext cx="857981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Un taller empieza a enviar al cliente una foto del coche reparado y recibe menos llamadas preguntando.</a:t>
            </a:r>
            <a:endParaRPr lang="en-US" sz="3000" dirty="0"/>
          </a:p>
        </p:txBody>
      </p:sp>
      <p:sp>
        <p:nvSpPr>
          <p:cNvPr id="9" name="Opción 1"/>
          <p:cNvSpPr/>
          <p:nvPr/>
        </p:nvSpPr>
        <p:spPr>
          <a:xfrm>
            <a:off x="548640" y="47091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4709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470916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Creatividad</a:t>
            </a:r>
            <a:endParaRPr lang="en-US" sz="2000" dirty="0"/>
          </a:p>
        </p:txBody>
      </p:sp>
      <p:sp>
        <p:nvSpPr>
          <p:cNvPr id="12" name="Opción 2"/>
          <p:cNvSpPr/>
          <p:nvPr/>
        </p:nvSpPr>
        <p:spPr>
          <a:xfrm>
            <a:off x="4206240" y="470916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06240" y="4709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470916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Innovación</a:t>
            </a:r>
            <a:endParaRPr lang="en-US" sz="2000" dirty="0"/>
          </a:p>
        </p:txBody>
      </p:sp>
      <p:sp>
        <p:nvSpPr>
          <p:cNvPr id="15" name="Opción 3"/>
          <p:cNvSpPr/>
          <p:nvPr/>
        </p:nvSpPr>
        <p:spPr>
          <a:xfrm>
            <a:off x="7863840" y="470916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863840" y="4709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8732520" y="470916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Competencia digital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Situación 5 de 6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556955" y="548640"/>
            <a:ext cx="30861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556955" y="54864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5–10 · Todo el grupo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554480"/>
            <a:ext cx="11094415" cy="2651760"/>
          </a:xfrm>
          <a:prstGeom prst="roundRect">
            <a:avLst>
              <a:gd name="adj" fmla="val 5172"/>
            </a:avLst>
          </a:prstGeom>
          <a:solidFill>
            <a:schemeClr val="bg2"/>
          </a:solidFill>
          <a:ln/>
        </p:spPr>
      </p:sp>
      <p:sp>
        <p:nvSpPr>
          <p:cNvPr id="6" name="Situación"/>
          <p:cNvSpPr/>
          <p:nvPr/>
        </p:nvSpPr>
        <p:spPr>
          <a:xfrm>
            <a:off x="960120" y="2194560"/>
            <a:ext cx="1371600" cy="13716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Situ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9304" y="2523744"/>
            <a:ext cx="713232" cy="7132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697480" y="1554480"/>
            <a:ext cx="857981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A un empleado se le ocurre usar las cajas de los pedidos como expositor en el mostrador.</a:t>
            </a:r>
            <a:endParaRPr lang="en-US" sz="3000" dirty="0"/>
          </a:p>
        </p:txBody>
      </p:sp>
      <p:sp>
        <p:nvSpPr>
          <p:cNvPr id="9" name="Opción 1"/>
          <p:cNvSpPr/>
          <p:nvPr/>
        </p:nvSpPr>
        <p:spPr>
          <a:xfrm>
            <a:off x="548640" y="47091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4709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470916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Creatividad</a:t>
            </a:r>
            <a:endParaRPr lang="en-US" sz="2000" dirty="0"/>
          </a:p>
        </p:txBody>
      </p:sp>
      <p:sp>
        <p:nvSpPr>
          <p:cNvPr id="12" name="Opción 2"/>
          <p:cNvSpPr/>
          <p:nvPr/>
        </p:nvSpPr>
        <p:spPr>
          <a:xfrm>
            <a:off x="4206240" y="470916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06240" y="4709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470916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Innovación</a:t>
            </a:r>
            <a:endParaRPr lang="en-US" sz="2000" dirty="0"/>
          </a:p>
        </p:txBody>
      </p:sp>
      <p:sp>
        <p:nvSpPr>
          <p:cNvPr id="15" name="Opción 3"/>
          <p:cNvSpPr/>
          <p:nvPr/>
        </p:nvSpPr>
        <p:spPr>
          <a:xfrm>
            <a:off x="7863840" y="470916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863840" y="4709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8732520" y="470916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Competencia digital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Situación 6 de 6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556955" y="548640"/>
            <a:ext cx="30861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556955" y="54864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5–10 · Todo el grupo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554480"/>
            <a:ext cx="11094415" cy="2651760"/>
          </a:xfrm>
          <a:prstGeom prst="roundRect">
            <a:avLst>
              <a:gd name="adj" fmla="val 5172"/>
            </a:avLst>
          </a:prstGeom>
          <a:solidFill>
            <a:schemeClr val="bg2"/>
          </a:solidFill>
          <a:ln/>
        </p:spPr>
      </p:sp>
      <p:sp>
        <p:nvSpPr>
          <p:cNvPr id="6" name="Situación"/>
          <p:cNvSpPr/>
          <p:nvPr/>
        </p:nvSpPr>
        <p:spPr>
          <a:xfrm>
            <a:off x="960120" y="2194560"/>
            <a:ext cx="1371600" cy="13716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Situ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9304" y="2523744"/>
            <a:ext cx="713232" cy="7132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697480" y="1554480"/>
            <a:ext cx="857981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Una camarera usa una IA para traducir la carta al inglés.</a:t>
            </a:r>
            <a:endParaRPr lang="en-US" sz="3000" dirty="0"/>
          </a:p>
        </p:txBody>
      </p:sp>
      <p:sp>
        <p:nvSpPr>
          <p:cNvPr id="9" name="Opción 1"/>
          <p:cNvSpPr/>
          <p:nvPr/>
        </p:nvSpPr>
        <p:spPr>
          <a:xfrm>
            <a:off x="548640" y="47091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4709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470916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Creatividad</a:t>
            </a:r>
            <a:endParaRPr lang="en-US" sz="2000" dirty="0"/>
          </a:p>
        </p:txBody>
      </p:sp>
      <p:sp>
        <p:nvSpPr>
          <p:cNvPr id="12" name="Opción 2"/>
          <p:cNvSpPr/>
          <p:nvPr/>
        </p:nvSpPr>
        <p:spPr>
          <a:xfrm>
            <a:off x="4206240" y="470916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06240" y="4709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470916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Innovación</a:t>
            </a:r>
            <a:endParaRPr lang="en-US" sz="2000" dirty="0"/>
          </a:p>
        </p:txBody>
      </p:sp>
      <p:sp>
        <p:nvSpPr>
          <p:cNvPr id="15" name="Opción 3"/>
          <p:cNvSpPr/>
          <p:nvPr/>
        </p:nvSpPr>
        <p:spPr>
          <a:xfrm>
            <a:off x="7863840" y="470916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863840" y="4709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8732520" y="470916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Competencia digital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Criterio para resolver las dudas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10180015" y="548640"/>
            <a:ext cx="146304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180015" y="5486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5–10</a:t>
            </a:r>
            <a:endParaRPr lang="en-US" sz="1400" dirty="0"/>
          </a:p>
        </p:txBody>
      </p:sp>
      <p:sp>
        <p:nvSpPr>
          <p:cNvPr id="5" name="Una idea nueva"/>
          <p:cNvSpPr/>
          <p:nvPr/>
        </p:nvSpPr>
        <p:spPr>
          <a:xfrm>
            <a:off x="548640" y="1828800"/>
            <a:ext cx="2331720" cy="13716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82880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Una idea nueva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2990088" y="2514600"/>
            <a:ext cx="369722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2880360" y="2057400"/>
            <a:ext cx="589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Sí</a:t>
            </a:r>
            <a:endParaRPr lang="en-US" sz="1400" dirty="0"/>
          </a:p>
        </p:txBody>
      </p:sp>
      <p:sp>
        <p:nvSpPr>
          <p:cNvPr id="9" name="¿Se ha puesto en práctica?"/>
          <p:cNvSpPr/>
          <p:nvPr/>
        </p:nvSpPr>
        <p:spPr>
          <a:xfrm>
            <a:off x="3469538" y="1828800"/>
            <a:ext cx="2331720" cy="13716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06698" y="182880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¿Se ha puesto en práctica?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910986" y="2514600"/>
            <a:ext cx="369722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5801258" y="2057400"/>
            <a:ext cx="589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Sí</a:t>
            </a:r>
            <a:endParaRPr lang="en-US" sz="1400" dirty="0"/>
          </a:p>
        </p:txBody>
      </p:sp>
      <p:sp>
        <p:nvSpPr>
          <p:cNvPr id="13" name="¿Aporta valor?"/>
          <p:cNvSpPr/>
          <p:nvPr/>
        </p:nvSpPr>
        <p:spPr>
          <a:xfrm>
            <a:off x="6390437" y="1828800"/>
            <a:ext cx="2331720" cy="13716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27597" y="182880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¿Aporta valor?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831885" y="2514600"/>
            <a:ext cx="369722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8722157" y="2057400"/>
            <a:ext cx="589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Sí</a:t>
            </a:r>
            <a:endParaRPr lang="en-US" sz="1400" dirty="0"/>
          </a:p>
        </p:txBody>
      </p:sp>
      <p:sp>
        <p:nvSpPr>
          <p:cNvPr id="17" name="Innovación"/>
          <p:cNvSpPr/>
          <p:nvPr/>
        </p:nvSpPr>
        <p:spPr>
          <a:xfrm>
            <a:off x="9311335" y="1828800"/>
            <a:ext cx="2331720" cy="137160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448495" y="182880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Innovación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4635398" y="3246120"/>
            <a:ext cx="914" cy="54864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3103778" y="3840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No: </a:t>
            </a:r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sigue siendo creatividad</a:t>
            </a:r>
            <a:endParaRPr lang="en-US" sz="1700" dirty="0"/>
          </a:p>
        </p:txBody>
      </p:sp>
      <p:sp>
        <p:nvSpPr>
          <p:cNvPr id="21" name="Tarjeta"/>
          <p:cNvSpPr/>
          <p:nvPr/>
        </p:nvSpPr>
        <p:spPr>
          <a:xfrm>
            <a:off x="548640" y="457200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sp>
        <p:nvSpPr>
          <p:cNvPr id="22" name="Competencia digital"/>
          <p:cNvSpPr/>
          <p:nvPr/>
        </p:nvSpPr>
        <p:spPr>
          <a:xfrm>
            <a:off x="777240" y="4727448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3" name="Image 0" descr="Competencia digi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4881067"/>
            <a:ext cx="332842" cy="33284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645920" y="4572000"/>
            <a:ext cx="97228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Usar una herramienta digital sin cambiar cómo se trabaja es competencia digital.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Lo importante es el razonamiento, no acertar.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¿Para qué sirve un clip?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767267" y="548640"/>
            <a:ext cx="2875788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67267" y="548640"/>
            <a:ext cx="28757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10–12 · Individual</a:t>
            </a:r>
            <a:endParaRPr lang="en-US" sz="1400" dirty="0"/>
          </a:p>
        </p:txBody>
      </p:sp>
      <p:sp>
        <p:nvSpPr>
          <p:cNvPr id="5" name="Clip"/>
          <p:cNvSpPr/>
          <p:nvPr/>
        </p:nvSpPr>
        <p:spPr>
          <a:xfrm>
            <a:off x="914400" y="1645920"/>
            <a:ext cx="3291840" cy="3291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Cl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4442" y="2435962"/>
            <a:ext cx="1711757" cy="1711757"/>
          </a:xfrm>
          <a:prstGeom prst="rect">
            <a:avLst/>
          </a:prstGeom>
        </p:spPr>
      </p:pic>
      <p:sp>
        <p:nvSpPr>
          <p:cNvPr id="7" name="90 segundos"/>
          <p:cNvSpPr/>
          <p:nvPr/>
        </p:nvSpPr>
        <p:spPr>
          <a:xfrm>
            <a:off x="5029200" y="182880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8" name="Image 1" descr="90 segun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5738" y="2015338"/>
            <a:ext cx="404165" cy="40416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035040" y="182880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90 segundos</a:t>
            </a:r>
            <a:endParaRPr lang="en-US" sz="2400" dirty="0"/>
          </a:p>
        </p:txBody>
      </p:sp>
      <p:sp>
        <p:nvSpPr>
          <p:cNvPr id="10" name="En silencio"/>
          <p:cNvSpPr/>
          <p:nvPr/>
        </p:nvSpPr>
        <p:spPr>
          <a:xfrm>
            <a:off x="5029200" y="288036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1" name="Image 2" descr="En silenci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5738" y="3066898"/>
            <a:ext cx="404165" cy="40416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035040" y="288036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En silencio</a:t>
            </a:r>
            <a:endParaRPr lang="en-US" sz="2400" dirty="0"/>
          </a:p>
        </p:txBody>
      </p:sp>
      <p:sp>
        <p:nvSpPr>
          <p:cNvPr id="13" name="Por escrito: todos los usos que se os ocurran"/>
          <p:cNvSpPr/>
          <p:nvPr/>
        </p:nvSpPr>
        <p:spPr>
          <a:xfrm>
            <a:off x="5029200" y="393192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4" name="Image 3" descr="Por escrito: todos los usos que se os ocurr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5738" y="4118458"/>
            <a:ext cx="404165" cy="40416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035040" y="393192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Por escrito: todos los usos que se os ocurran</a:t>
            </a:r>
            <a:endParaRPr lang="en-US" sz="2400" dirty="0"/>
          </a:p>
        </p:txBody>
      </p:sp>
      <p:sp>
        <p:nvSpPr>
          <p:cNvPr id="16" name="Text 10"/>
          <p:cNvSpPr txBox="1"/>
          <p:nvPr/>
        </p:nvSpPr>
        <p:spPr>
          <a:xfrm>
            <a:off x="5029200" y="516636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Después: ¿cuántos usos habéis escrito?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 ahora, elegimos uno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451799" y="548640"/>
            <a:ext cx="319125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51799" y="548640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12–14 · Todo el grupo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645920"/>
            <a:ext cx="11094415" cy="27432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6" name="Producto"/>
          <p:cNvSpPr/>
          <p:nvPr/>
        </p:nvSpPr>
        <p:spPr>
          <a:xfrm>
            <a:off x="1005840" y="233172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Produc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5024" y="2660904"/>
            <a:ext cx="713232" cy="7132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743200" y="1645920"/>
            <a:ext cx="85340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De todos esos usos, ¿cuál podría convertirse en un producto que alguien compraría?</a:t>
            </a:r>
            <a:endParaRPr lang="en-US" sz="3200" dirty="0"/>
          </a:p>
        </p:txBody>
      </p:sp>
      <p:sp>
        <p:nvSpPr>
          <p:cNvPr id="9" name="Votación"/>
          <p:cNvSpPr/>
          <p:nvPr/>
        </p:nvSpPr>
        <p:spPr>
          <a:xfrm>
            <a:off x="548640" y="480060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Votació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49322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4800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Votación a mano alzada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Primero abrir, después cerrar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10134295" y="548640"/>
            <a:ext cx="150876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134295" y="548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14–15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05840" y="1691640"/>
            <a:ext cx="3108960" cy="1280160"/>
          </a:xfrm>
          <a:prstGeom prst="line">
            <a:avLst/>
          </a:prstGeom>
          <a:noFill/>
          <a:ln w="19050">
            <a:solidFill>
              <a:srgbClr val="8A94A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0" y="1691640"/>
            <a:ext cx="3017520" cy="1280160"/>
          </a:xfrm>
          <a:prstGeom prst="line">
            <a:avLst/>
          </a:prstGeom>
          <a:noFill/>
          <a:ln w="19050">
            <a:solidFill>
              <a:srgbClr val="8A94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05840" y="2121408"/>
            <a:ext cx="3108960" cy="850392"/>
          </a:xfrm>
          <a:prstGeom prst="line">
            <a:avLst/>
          </a:prstGeom>
          <a:noFill/>
          <a:ln w="19050">
            <a:solidFill>
              <a:srgbClr val="8A94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0" y="2121408"/>
            <a:ext cx="3017520" cy="850392"/>
          </a:xfrm>
          <a:prstGeom prst="line">
            <a:avLst/>
          </a:prstGeom>
          <a:noFill/>
          <a:ln w="19050">
            <a:solidFill>
              <a:srgbClr val="8A94A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05840" y="2551176"/>
            <a:ext cx="3108960" cy="420624"/>
          </a:xfrm>
          <a:prstGeom prst="line">
            <a:avLst/>
          </a:prstGeom>
          <a:noFill/>
          <a:ln w="19050">
            <a:solidFill>
              <a:srgbClr val="8A94A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0" y="2551176"/>
            <a:ext cx="3017520" cy="420624"/>
          </a:xfrm>
          <a:prstGeom prst="line">
            <a:avLst/>
          </a:prstGeom>
          <a:noFill/>
          <a:ln w="19050">
            <a:solidFill>
              <a:srgbClr val="8A94A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2971800"/>
            <a:ext cx="3108960" cy="0"/>
          </a:xfrm>
          <a:prstGeom prst="line">
            <a:avLst/>
          </a:prstGeom>
          <a:noFill/>
          <a:ln w="19050">
            <a:solidFill>
              <a:srgbClr val="8A94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0" y="2971800"/>
            <a:ext cx="3017520" cy="0"/>
          </a:xfrm>
          <a:prstGeom prst="line">
            <a:avLst/>
          </a:prstGeom>
          <a:noFill/>
          <a:ln w="19050">
            <a:solidFill>
              <a:srgbClr val="8A94A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2971800"/>
            <a:ext cx="3108960" cy="420624"/>
          </a:xfrm>
          <a:prstGeom prst="line">
            <a:avLst/>
          </a:prstGeom>
          <a:noFill/>
          <a:ln w="19050">
            <a:solidFill>
              <a:srgbClr val="8A94A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14800" y="2971800"/>
            <a:ext cx="3017520" cy="420624"/>
          </a:xfrm>
          <a:prstGeom prst="line">
            <a:avLst/>
          </a:prstGeom>
          <a:noFill/>
          <a:ln w="19050">
            <a:solidFill>
              <a:srgbClr val="8A94A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2971800"/>
            <a:ext cx="3108960" cy="850392"/>
          </a:xfrm>
          <a:prstGeom prst="line">
            <a:avLst/>
          </a:prstGeom>
          <a:noFill/>
          <a:ln w="19050">
            <a:solidFill>
              <a:srgbClr val="8A94A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114800" y="2971800"/>
            <a:ext cx="3017520" cy="850392"/>
          </a:xfrm>
          <a:prstGeom prst="line">
            <a:avLst/>
          </a:prstGeom>
          <a:noFill/>
          <a:ln w="19050">
            <a:solidFill>
              <a:srgbClr val="8A94A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5840" y="2971800"/>
            <a:ext cx="3108960" cy="1280160"/>
          </a:xfrm>
          <a:prstGeom prst="line">
            <a:avLst/>
          </a:prstGeom>
          <a:noFill/>
          <a:ln w="19050">
            <a:solidFill>
              <a:srgbClr val="8A94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114800" y="2971800"/>
            <a:ext cx="3017520" cy="1280160"/>
          </a:xfrm>
          <a:prstGeom prst="line">
            <a:avLst/>
          </a:prstGeom>
          <a:noFill/>
          <a:ln w="19050">
            <a:solidFill>
              <a:srgbClr val="8A94A6"/>
            </a:solidFill>
            <a:prstDash val="solid"/>
          </a:ln>
        </p:spPr>
      </p:sp>
      <p:sp>
        <p:nvSpPr>
          <p:cNvPr id="19" name="Idea"/>
          <p:cNvSpPr/>
          <p:nvPr/>
        </p:nvSpPr>
        <p:spPr>
          <a:xfrm>
            <a:off x="3968496" y="1545336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Idea"/>
          <p:cNvSpPr/>
          <p:nvPr/>
        </p:nvSpPr>
        <p:spPr>
          <a:xfrm>
            <a:off x="3968496" y="1975104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Idea"/>
          <p:cNvSpPr/>
          <p:nvPr/>
        </p:nvSpPr>
        <p:spPr>
          <a:xfrm>
            <a:off x="3968496" y="2404872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Idea"/>
          <p:cNvSpPr/>
          <p:nvPr/>
        </p:nvSpPr>
        <p:spPr>
          <a:xfrm>
            <a:off x="3968496" y="2825496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Idea"/>
          <p:cNvSpPr/>
          <p:nvPr/>
        </p:nvSpPr>
        <p:spPr>
          <a:xfrm>
            <a:off x="3968496" y="3246120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Idea"/>
          <p:cNvSpPr/>
          <p:nvPr/>
        </p:nvSpPr>
        <p:spPr>
          <a:xfrm>
            <a:off x="3968496" y="3675888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Idea"/>
          <p:cNvSpPr/>
          <p:nvPr/>
        </p:nvSpPr>
        <p:spPr>
          <a:xfrm>
            <a:off x="3968496" y="4105656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Reto"/>
          <p:cNvSpPr/>
          <p:nvPr/>
        </p:nvSpPr>
        <p:spPr>
          <a:xfrm>
            <a:off x="777240" y="274320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7" name="Idea elegida"/>
          <p:cNvSpPr/>
          <p:nvPr/>
        </p:nvSpPr>
        <p:spPr>
          <a:xfrm>
            <a:off x="6720840" y="256032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8" name="Image 0" descr="Idea elegi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8350" y="2757830"/>
            <a:ext cx="427939" cy="427939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457200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Reto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461772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Divergente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Proponer tantas soluciones distintas como sea posible, sin juzgar.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206240" y="461772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Convergente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Comparar coste, viabilidad e impacto para elegir qué probar.</a:t>
            </a:r>
            <a:endParaRPr lang="en-US" sz="1600" dirty="0"/>
          </a:p>
        </p:txBody>
      </p:sp>
      <p:sp>
        <p:nvSpPr>
          <p:cNvPr id="32" name="Tarjeta"/>
          <p:cNvSpPr/>
          <p:nvPr/>
        </p:nvSpPr>
        <p:spPr>
          <a:xfrm>
            <a:off x="8092440" y="1463040"/>
            <a:ext cx="3550615" cy="4251960"/>
          </a:xfrm>
          <a:prstGeom prst="roundRect">
            <a:avLst>
              <a:gd name="adj" fmla="val 3863"/>
            </a:avLst>
          </a:prstGeom>
          <a:solidFill>
            <a:schemeClr val="bg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366760" y="1691640"/>
            <a:ext cx="300197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En este curso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Abren el abanico:</a:t>
            </a:r>
            <a:endParaRPr lang="en-US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Brainstorming</a:t>
            </a:r>
            <a:endParaRPr lang="en-US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SCAMPER</a:t>
            </a:r>
            <a:endParaRPr lang="en-US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Provocación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Lo cierra:</a:t>
            </a:r>
            <a:endParaRPr lang="en-US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La matriz de decisión (bloque 3)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Si se mezclan los dos pasos, se juzga demasiado pronto y salen pocas ideas.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La regla de todo el curso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10134295" y="548640"/>
            <a:ext cx="150876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134295" y="548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15–20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554480"/>
            <a:ext cx="5212080" cy="182880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6" name="Primero, las personas"/>
          <p:cNvSpPr/>
          <p:nvPr/>
        </p:nvSpPr>
        <p:spPr>
          <a:xfrm>
            <a:off x="868680" y="1828800"/>
            <a:ext cx="1280160" cy="12801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Primero, las person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918" y="2136038"/>
            <a:ext cx="665683" cy="66568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377440" y="155448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5"/>
                </a:solidFill>
              </a:rPr>
              <a:t>1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Primero, las personas</a:t>
            </a:r>
            <a:endParaRPr lang="en-US" sz="2800" dirty="0"/>
          </a:p>
        </p:txBody>
      </p:sp>
      <p:sp>
        <p:nvSpPr>
          <p:cNvPr id="9" name="Tarjeta"/>
          <p:cNvSpPr/>
          <p:nvPr/>
        </p:nvSpPr>
        <p:spPr>
          <a:xfrm>
            <a:off x="6400800" y="1554480"/>
            <a:ext cx="5212080" cy="182880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0" name="Después, la IA"/>
          <p:cNvSpPr/>
          <p:nvPr/>
        </p:nvSpPr>
        <p:spPr>
          <a:xfrm>
            <a:off x="6720840" y="1828800"/>
            <a:ext cx="1280160" cy="12801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Después, la 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078" y="2136038"/>
            <a:ext cx="665683" cy="66568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229600" y="155448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5"/>
                </a:solidFill>
              </a:rPr>
              <a:t>2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Después, la IA</a:t>
            </a:r>
            <a:endParaRPr lang="en-US" sz="2800" dirty="0"/>
          </a:p>
        </p:txBody>
      </p:sp>
      <p:sp>
        <p:nvSpPr>
          <p:cNvPr id="13" name="Shape 9"/>
          <p:cNvSpPr/>
          <p:nvPr/>
        </p:nvSpPr>
        <p:spPr>
          <a:xfrm>
            <a:off x="5852160" y="2468880"/>
            <a:ext cx="457200" cy="0"/>
          </a:xfrm>
          <a:prstGeom prst="line">
            <a:avLst/>
          </a:prstGeom>
          <a:noFill/>
          <a:ln w="3810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4" name="Razón"/>
          <p:cNvSpPr/>
          <p:nvPr/>
        </p:nvSpPr>
        <p:spPr>
          <a:xfrm>
            <a:off x="548640" y="393192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Razó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09651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39319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Si la IA va primero, el grupo se «ancla» en sus ideas y deja de pensar por su cuenta.</a:t>
            </a:r>
            <a:endParaRPr lang="en-US" sz="2000" dirty="0"/>
          </a:p>
        </p:txBody>
      </p:sp>
      <p:sp>
        <p:nvSpPr>
          <p:cNvPr id="17" name="Razón"/>
          <p:cNvSpPr/>
          <p:nvPr/>
        </p:nvSpPr>
        <p:spPr>
          <a:xfrm>
            <a:off x="548640" y="484632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8" name="Image 3" descr="Razó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010912"/>
            <a:ext cx="356616" cy="35661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463040" y="48463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Así podemos comparar qué aporta cada uno.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Nuestro ejemplo: una peluquería de barrio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10134295" y="548640"/>
            <a:ext cx="150876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134295" y="548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15–20</a:t>
            </a:r>
            <a:endParaRPr lang="en-US" sz="1400" dirty="0"/>
          </a:p>
        </p:txBody>
      </p:sp>
      <p:sp>
        <p:nvSpPr>
          <p:cNvPr id="5" name="Peluquería"/>
          <p:cNvSpPr/>
          <p:nvPr/>
        </p:nvSpPr>
        <p:spPr>
          <a:xfrm>
            <a:off x="548640" y="1554480"/>
            <a:ext cx="1097280" cy="10972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Image 0" descr="Peluquerí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" y="1817827"/>
            <a:ext cx="570586" cy="57058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74520" y="15544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Da las citas solo por teléfono</a:t>
            </a:r>
            <a:endParaRPr lang="en-US" sz="2600" dirty="0"/>
          </a:p>
        </p:txBody>
      </p:sp>
      <p:sp>
        <p:nvSpPr>
          <p:cNvPr id="8" name="Tarjeta"/>
          <p:cNvSpPr/>
          <p:nvPr/>
        </p:nvSpPr>
        <p:spPr>
          <a:xfrm>
            <a:off x="548640" y="2971800"/>
            <a:ext cx="3454298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9" name="Problema"/>
          <p:cNvSpPr/>
          <p:nvPr/>
        </p:nvSpPr>
        <p:spPr>
          <a:xfrm>
            <a:off x="868680" y="324612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Image 1" descr="Proble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" y="3443630"/>
            <a:ext cx="427939" cy="42793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8680" y="416052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El teléfono suena mientras se atiende a los clientes.</a:t>
            </a:r>
            <a:endParaRPr lang="en-US" sz="1900" dirty="0"/>
          </a:p>
        </p:txBody>
      </p:sp>
      <p:sp>
        <p:nvSpPr>
          <p:cNvPr id="12" name="Tarjeta"/>
          <p:cNvSpPr/>
          <p:nvPr/>
        </p:nvSpPr>
        <p:spPr>
          <a:xfrm>
            <a:off x="4368698" y="2971800"/>
            <a:ext cx="3454298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Problema"/>
          <p:cNvSpPr/>
          <p:nvPr/>
        </p:nvSpPr>
        <p:spPr>
          <a:xfrm>
            <a:off x="4688738" y="324612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Image 2" descr="Problem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249" y="3443630"/>
            <a:ext cx="427939" cy="42793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88738" y="416052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Hay clientes que olvidan su cita.</a:t>
            </a:r>
            <a:endParaRPr lang="en-US" sz="1900" dirty="0"/>
          </a:p>
        </p:txBody>
      </p:sp>
      <p:sp>
        <p:nvSpPr>
          <p:cNvPr id="16" name="Tarjeta"/>
          <p:cNvSpPr/>
          <p:nvPr/>
        </p:nvSpPr>
        <p:spPr>
          <a:xfrm>
            <a:off x="8188757" y="2971800"/>
            <a:ext cx="3454298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7" name="Problema"/>
          <p:cNvSpPr/>
          <p:nvPr/>
        </p:nvSpPr>
        <p:spPr>
          <a:xfrm>
            <a:off x="8508797" y="324612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Image 3" descr="Problem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6307" y="3443630"/>
            <a:ext cx="427939" cy="427939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508797" y="416052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Los lunes por la mañana está vacía.</a:t>
            </a:r>
            <a:endParaRPr lang="en-US" sz="19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440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La usaremos para explicar las tres técnicas: brainstorming, SCAMPER y provocación.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Brainstorming: cuatro reglas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10134295" y="548640"/>
            <a:ext cx="150876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134295" y="548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15–20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tx2"/>
                </a:solidFill>
              </a:rPr>
              <a:t>Generar en grupo el mayor número posible de ideas sobre un reto, dejando el juicio para después.</a:t>
            </a:r>
            <a:endParaRPr lang="en-US" sz="2000" dirty="0"/>
          </a:p>
        </p:txBody>
      </p:sp>
      <p:sp>
        <p:nvSpPr>
          <p:cNvPr id="6" name="Tarjeta"/>
          <p:cNvSpPr/>
          <p:nvPr/>
        </p:nvSpPr>
        <p:spPr>
          <a:xfrm>
            <a:off x="548640" y="2194560"/>
            <a:ext cx="5364328" cy="1554480"/>
          </a:xfrm>
          <a:prstGeom prst="roundRect">
            <a:avLst>
              <a:gd name="adj" fmla="val 8824"/>
            </a:avLst>
          </a:prstGeom>
          <a:solidFill>
            <a:schemeClr val="bg2"/>
          </a:solidFill>
          <a:ln/>
        </p:spPr>
      </p:sp>
      <p:sp>
        <p:nvSpPr>
          <p:cNvPr id="7" name="Regla 1"/>
          <p:cNvSpPr/>
          <p:nvPr/>
        </p:nvSpPr>
        <p:spPr>
          <a:xfrm>
            <a:off x="822960" y="25603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874520" y="2194560"/>
            <a:ext cx="3809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Cantidad antes que calidad.</a:t>
            </a:r>
            <a:endParaRPr lang="en-US" sz="2100" dirty="0"/>
          </a:p>
        </p:txBody>
      </p:sp>
      <p:sp>
        <p:nvSpPr>
          <p:cNvPr id="10" name="Tarjeta"/>
          <p:cNvSpPr/>
          <p:nvPr/>
        </p:nvSpPr>
        <p:spPr>
          <a:xfrm>
            <a:off x="6278728" y="2194560"/>
            <a:ext cx="5364328" cy="1554480"/>
          </a:xfrm>
          <a:prstGeom prst="roundRect">
            <a:avLst>
              <a:gd name="adj" fmla="val 8824"/>
            </a:avLst>
          </a:prstGeom>
          <a:solidFill>
            <a:schemeClr val="bg2"/>
          </a:solidFill>
          <a:ln/>
        </p:spPr>
      </p:sp>
      <p:sp>
        <p:nvSpPr>
          <p:cNvPr id="11" name="Regla 2"/>
          <p:cNvSpPr/>
          <p:nvPr/>
        </p:nvSpPr>
        <p:spPr>
          <a:xfrm>
            <a:off x="6553048" y="25603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3048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2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7604608" y="2194560"/>
            <a:ext cx="3809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No se critica ninguna idea durante la sesión.</a:t>
            </a:r>
            <a:endParaRPr lang="en-US" sz="2100" dirty="0"/>
          </a:p>
        </p:txBody>
      </p:sp>
      <p:sp>
        <p:nvSpPr>
          <p:cNvPr id="14" name="Tarjeta"/>
          <p:cNvSpPr/>
          <p:nvPr/>
        </p:nvSpPr>
        <p:spPr>
          <a:xfrm>
            <a:off x="548640" y="4023360"/>
            <a:ext cx="5364328" cy="1554480"/>
          </a:xfrm>
          <a:prstGeom prst="roundRect">
            <a:avLst>
              <a:gd name="adj" fmla="val 8824"/>
            </a:avLst>
          </a:prstGeom>
          <a:solidFill>
            <a:schemeClr val="bg2"/>
          </a:solidFill>
          <a:ln/>
        </p:spPr>
      </p:sp>
      <p:sp>
        <p:nvSpPr>
          <p:cNvPr id="15" name="Regla 3"/>
          <p:cNvSpPr/>
          <p:nvPr/>
        </p:nvSpPr>
        <p:spPr>
          <a:xfrm>
            <a:off x="822960" y="43891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389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874520" y="4023360"/>
            <a:ext cx="3809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Se vale construir sobre la idea de otra persona: «y además…».</a:t>
            </a:r>
            <a:endParaRPr lang="en-US" sz="2100" dirty="0"/>
          </a:p>
        </p:txBody>
      </p:sp>
      <p:sp>
        <p:nvSpPr>
          <p:cNvPr id="18" name="Tarjeta"/>
          <p:cNvSpPr/>
          <p:nvPr/>
        </p:nvSpPr>
        <p:spPr>
          <a:xfrm>
            <a:off x="6278728" y="4023360"/>
            <a:ext cx="5364328" cy="1554480"/>
          </a:xfrm>
          <a:prstGeom prst="roundRect">
            <a:avLst>
              <a:gd name="adj" fmla="val 8824"/>
            </a:avLst>
          </a:prstGeom>
          <a:solidFill>
            <a:schemeClr val="bg2"/>
          </a:solidFill>
          <a:ln/>
        </p:spPr>
      </p:sp>
      <p:sp>
        <p:nvSpPr>
          <p:cNvPr id="19" name="Regla 4"/>
          <p:cNvSpPr/>
          <p:nvPr/>
        </p:nvSpPr>
        <p:spPr>
          <a:xfrm>
            <a:off x="6553048" y="43891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53048" y="4389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4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7604608" y="4023360"/>
            <a:ext cx="3809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Las ideas disparatadas son bienvenidas: a menudo llevan a ideas buenas.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Ejemplo: brainstorming en la peluquería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10134295" y="548640"/>
            <a:ext cx="150876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134295" y="548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15–20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¿Cómo podríamos conseguir que la peluquería tenga clientes los lunes por la mañana?</a:t>
            </a:r>
            <a:endParaRPr lang="en-US" sz="2000" dirty="0"/>
          </a:p>
        </p:txBody>
      </p:sp>
      <p:sp>
        <p:nvSpPr>
          <p:cNvPr id="6" name="Idea"/>
          <p:cNvSpPr/>
          <p:nvPr/>
        </p:nvSpPr>
        <p:spPr>
          <a:xfrm>
            <a:off x="548640" y="2103120"/>
            <a:ext cx="5943600" cy="603504"/>
          </a:xfrm>
          <a:prstGeom prst="roundRect">
            <a:avLst>
              <a:gd name="adj" fmla="val 22727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10312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Descuento para quien reserve los lunes.</a:t>
            </a:r>
            <a:endParaRPr lang="en-US" sz="1600" dirty="0"/>
          </a:p>
        </p:txBody>
      </p:sp>
      <p:sp>
        <p:nvSpPr>
          <p:cNvPr id="8" name="Idea"/>
          <p:cNvSpPr/>
          <p:nvPr/>
        </p:nvSpPr>
        <p:spPr>
          <a:xfrm>
            <a:off x="548640" y="2852928"/>
            <a:ext cx="5943600" cy="603504"/>
          </a:xfrm>
          <a:prstGeom prst="roundRect">
            <a:avLst>
              <a:gd name="adj" fmla="val 22727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852928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Lunes reservado a personas mayores, con café incluido.</a:t>
            </a:r>
            <a:endParaRPr lang="en-US" sz="1600" dirty="0"/>
          </a:p>
        </p:txBody>
      </p:sp>
      <p:sp>
        <p:nvSpPr>
          <p:cNvPr id="10" name="Idea"/>
          <p:cNvSpPr/>
          <p:nvPr/>
        </p:nvSpPr>
        <p:spPr>
          <a:xfrm>
            <a:off x="548640" y="3602736"/>
            <a:ext cx="5943600" cy="603504"/>
          </a:xfrm>
          <a:prstGeom prst="roundRect">
            <a:avLst>
              <a:gd name="adj" fmla="val 22727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602736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Cortes gratis a estudiantes de peluquería, que practican supervisados.</a:t>
            </a:r>
            <a:endParaRPr lang="en-US" sz="1600" dirty="0"/>
          </a:p>
        </p:txBody>
      </p:sp>
      <p:sp>
        <p:nvSpPr>
          <p:cNvPr id="12" name="Idea"/>
          <p:cNvSpPr/>
          <p:nvPr/>
        </p:nvSpPr>
        <p:spPr>
          <a:xfrm>
            <a:off x="548640" y="4352544"/>
            <a:ext cx="5943600" cy="603504"/>
          </a:xfrm>
          <a:prstGeom prst="roundRect">
            <a:avLst>
              <a:gd name="adj" fmla="val 22727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352544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Ofrecer el lunes a domicilio para residencias cercanas.</a:t>
            </a:r>
            <a:endParaRPr lang="en-US" sz="1600" dirty="0"/>
          </a:p>
        </p:txBody>
      </p:sp>
      <p:sp>
        <p:nvSpPr>
          <p:cNvPr id="14" name="Idea"/>
          <p:cNvSpPr/>
          <p:nvPr/>
        </p:nvSpPr>
        <p:spPr>
          <a:xfrm>
            <a:off x="548640" y="5102352"/>
            <a:ext cx="5943600" cy="603504"/>
          </a:xfrm>
          <a:prstGeom prst="roundRect">
            <a:avLst>
              <a:gd name="adj" fmla="val 22727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5102352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Sorteo mensual entre los clientes del lunes.</a:t>
            </a:r>
            <a:endParaRPr lang="en-US" sz="1600" dirty="0"/>
          </a:p>
        </p:txBody>
      </p:sp>
      <p:sp>
        <p:nvSpPr>
          <p:cNvPr id="16" name="Idea disparatada"/>
          <p:cNvSpPr/>
          <p:nvPr/>
        </p:nvSpPr>
        <p:spPr>
          <a:xfrm>
            <a:off x="6903720" y="2103120"/>
            <a:ext cx="4739335" cy="1325880"/>
          </a:xfrm>
          <a:prstGeom prst="roundRect">
            <a:avLst>
              <a:gd name="adj" fmla="val 10345"/>
            </a:avLst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78040" y="2103120"/>
            <a:ext cx="41906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Idea disparatada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</a:rPr>
              <a:t>Cerrar los sábados y abrir los lunes.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273388" y="3520440"/>
            <a:ext cx="914" cy="457200"/>
          </a:xfrm>
          <a:prstGeom prst="line">
            <a:avLst/>
          </a:prstGeom>
          <a:noFill/>
          <a:ln w="3810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9" name="Idea sensata"/>
          <p:cNvSpPr/>
          <p:nvPr/>
        </p:nvSpPr>
        <p:spPr>
          <a:xfrm>
            <a:off x="6903720" y="4069080"/>
            <a:ext cx="4739335" cy="1655064"/>
          </a:xfrm>
          <a:prstGeom prst="roundRect">
            <a:avLst>
              <a:gd name="adj" fmla="val 8287"/>
            </a:avLst>
          </a:prstGeom>
          <a:solidFill>
            <a:schemeClr val="tx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78040" y="4069080"/>
            <a:ext cx="4190695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Construyendo sobre ella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Repartir la demanda: precio más bajo en los días flojos y más alto en los de más demanda.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Ejercicio 1: brainstorming entre todos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187891" y="548640"/>
            <a:ext cx="245516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87891" y="548640"/>
            <a:ext cx="24551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20–30 · Sin IA</a:t>
            </a:r>
            <a:endParaRPr lang="en-US" sz="1400" dirty="0"/>
          </a:p>
        </p:txBody>
      </p:sp>
      <p:sp>
        <p:nvSpPr>
          <p:cNvPr id="5" name="Reto"/>
          <p:cNvSpPr/>
          <p:nvPr/>
        </p:nvSpPr>
        <p:spPr>
          <a:xfrm>
            <a:off x="548640" y="1463040"/>
            <a:ext cx="11094415" cy="1600200"/>
          </a:xfrm>
          <a:prstGeom prst="roundRect">
            <a:avLst>
              <a:gd name="adj" fmla="val 8571"/>
            </a:avLst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463040"/>
            <a:ext cx="103628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El reto</a:t>
            </a:r>
            <a:endParaRPr lang="en-US" sz="2300" dirty="0"/>
          </a:p>
          <a:p>
            <a:pPr indent="0" marL="0">
              <a:buNone/>
            </a:pPr>
            <a:r>
              <a:rPr lang="en-US" sz="2300" i="1" dirty="0">
                <a:solidFill>
                  <a:schemeClr val="bg1"/>
                </a:solidFill>
              </a:rPr>
              <a:t>¿Cómo podríamos conseguir que más personas pidan información sobre los cursos de una academia de formación que recibe pocas solicitudes?</a:t>
            </a:r>
            <a:endParaRPr lang="en-US" sz="2300" dirty="0"/>
          </a:p>
        </p:txBody>
      </p:sp>
      <p:sp>
        <p:nvSpPr>
          <p:cNvPr id="7" name="Instrucción"/>
          <p:cNvSpPr/>
          <p:nvPr/>
        </p:nvSpPr>
        <p:spPr>
          <a:xfrm>
            <a:off x="548640" y="34290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mage 0" descr="Instruc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3593592"/>
            <a:ext cx="356616" cy="3566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34290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Turno en rueda: habla todo el mundo. Si no tienes idea, di «paso».</a:t>
            </a:r>
            <a:endParaRPr lang="en-US" sz="2000" dirty="0"/>
          </a:p>
        </p:txBody>
      </p:sp>
      <p:sp>
        <p:nvSpPr>
          <p:cNvPr id="10" name="Instrucción"/>
          <p:cNvSpPr/>
          <p:nvPr/>
        </p:nvSpPr>
        <p:spPr>
          <a:xfrm>
            <a:off x="548640" y="42976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Instrucció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462272"/>
            <a:ext cx="356616" cy="3566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63040" y="42976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 apuntan todas las ideas, numeradas y sin comentarlas.</a:t>
            </a:r>
            <a:endParaRPr lang="en-US" sz="2000" dirty="0"/>
          </a:p>
        </p:txBody>
      </p:sp>
      <p:sp>
        <p:nvSpPr>
          <p:cNvPr id="13" name="Instrucción"/>
          <p:cNvSpPr/>
          <p:nvPr/>
        </p:nvSpPr>
        <p:spPr>
          <a:xfrm>
            <a:off x="548640" y="5166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2" descr="Instrucció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5330952"/>
            <a:ext cx="356616" cy="3566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51663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Al final, contamos cuántas ideas hemos generado.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Ronda con IA: el prompt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187891" y="548640"/>
            <a:ext cx="2455164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87891" y="548640"/>
            <a:ext cx="24551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Min. 30–38 · Con IA</a:t>
            </a:r>
            <a:endParaRPr lang="en-US" sz="1400" dirty="0"/>
          </a:p>
        </p:txBody>
      </p:sp>
      <p:sp>
        <p:nvSpPr>
          <p:cNvPr id="5" name="Prompt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2264"/>
            </a:avLst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508760"/>
            <a:ext cx="6309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Actúa como facilitador experto en sesiones de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brainstorming para pequeñas empresas.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Contexto: una academia de formación con cinco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trabajadores y poco presupuesto recibe pocas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solicitudes de información de posibles alumnos.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Reto: ¿cómo podríamos conseguir que más personas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pidan información sobre nuestros cursos?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Nuestro grupo ya ha propuesto estas ideas: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[pegar la lista del grupo]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 tarea: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Propón 15 ideas nuevas que no repitan ni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reformulen las nuestras.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Repártelas así: 5 de bajo coste que puedan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aplicarse esta semana, 5 digitales y 5 poco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convencionales o atrevidas.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Escribe una sola línea por idea, sin explicaciones.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No inventes cifras ni resultados.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1371600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Por qué funciona</a:t>
            </a:r>
            <a:endParaRPr lang="en-US" sz="2200" dirty="0"/>
          </a:p>
        </p:txBody>
      </p:sp>
      <p:sp>
        <p:nvSpPr>
          <p:cNvPr id="8" name="Razón 1"/>
          <p:cNvSpPr/>
          <p:nvPr/>
        </p:nvSpPr>
        <p:spPr>
          <a:xfrm>
            <a:off x="7772400" y="21031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412480" y="2057400"/>
            <a:ext cx="3230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Da un rol y un contexto concretos.</a:t>
            </a:r>
            <a:endParaRPr lang="en-US" sz="1600" dirty="0"/>
          </a:p>
        </p:txBody>
      </p:sp>
      <p:sp>
        <p:nvSpPr>
          <p:cNvPr id="11" name="Razón 2"/>
          <p:cNvSpPr/>
          <p:nvPr/>
        </p:nvSpPr>
        <p:spPr>
          <a:xfrm>
            <a:off x="7772400" y="312724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0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3081528"/>
            <a:ext cx="3230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Incluye nuestras ideas para que la IA no las repita.</a:t>
            </a:r>
            <a:endParaRPr lang="en-US" sz="1600" dirty="0"/>
          </a:p>
        </p:txBody>
      </p:sp>
      <p:sp>
        <p:nvSpPr>
          <p:cNvPr id="14" name="Razón 3"/>
          <p:cNvSpPr/>
          <p:nvPr/>
        </p:nvSpPr>
        <p:spPr>
          <a:xfrm>
            <a:off x="7772400" y="4151376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4105656"/>
            <a:ext cx="3230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Pide categorías para forzar la variedad: sin ellas, la IA da ideas muy parecidas.</a:t>
            </a:r>
            <a:endParaRPr lang="en-US" sz="1600" dirty="0"/>
          </a:p>
        </p:txBody>
      </p:sp>
      <p:sp>
        <p:nvSpPr>
          <p:cNvPr id="17" name="Razón 4"/>
          <p:cNvSpPr/>
          <p:nvPr/>
        </p:nvSpPr>
        <p:spPr>
          <a:xfrm>
            <a:off x="7772400" y="5175504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0" y="5175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5129784"/>
            <a:ext cx="3230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Formato corto, para leerlo en voz alta.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Segundo prompt: combinar ideas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187891" y="548640"/>
            <a:ext cx="2455164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87891" y="548640"/>
            <a:ext cx="24551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Min. 30–38 · Con IA</a:t>
            </a:r>
            <a:endParaRPr lang="en-US" sz="1400" dirty="0"/>
          </a:p>
        </p:txBody>
      </p:sp>
      <p:sp>
        <p:nvSpPr>
          <p:cNvPr id="5" name="Nuestras ideas"/>
          <p:cNvSpPr/>
          <p:nvPr/>
        </p:nvSpPr>
        <p:spPr>
          <a:xfrm>
            <a:off x="2011680" y="1417320"/>
            <a:ext cx="1188720" cy="11887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Nuestras ide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6973" y="1702613"/>
            <a:ext cx="618134" cy="61813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Nuestras ideas</a:t>
            </a:r>
            <a:endParaRPr lang="en-US" sz="1700" dirty="0"/>
          </a:p>
        </p:txBody>
      </p:sp>
      <p:sp>
        <p:nvSpPr>
          <p:cNvPr id="8" name="Ideas de la IA"/>
          <p:cNvSpPr/>
          <p:nvPr/>
        </p:nvSpPr>
        <p:spPr>
          <a:xfrm>
            <a:off x="5394960" y="1417320"/>
            <a:ext cx="1188720" cy="11887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Image 1" descr="Ideas de la 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0253" y="1702613"/>
            <a:ext cx="618134" cy="61813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84632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Ideas de la IA</a:t>
            </a:r>
            <a:endParaRPr lang="en-US" sz="1700" dirty="0"/>
          </a:p>
        </p:txBody>
      </p:sp>
      <p:sp>
        <p:nvSpPr>
          <p:cNvPr id="11" name="Ideas mejores"/>
          <p:cNvSpPr/>
          <p:nvPr/>
        </p:nvSpPr>
        <p:spPr>
          <a:xfrm>
            <a:off x="8778240" y="1417320"/>
            <a:ext cx="1188720" cy="11887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Image 2" descr="Ideas mejor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3533" y="1702613"/>
            <a:ext cx="618134" cy="61813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22960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Ideas mejores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3200400" y="1417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+</a:t>
            </a:r>
            <a:endParaRPr lang="en-US" sz="4800" dirty="0"/>
          </a:p>
        </p:txBody>
      </p:sp>
      <p:sp>
        <p:nvSpPr>
          <p:cNvPr id="15" name="Text 10"/>
          <p:cNvSpPr txBox="1"/>
          <p:nvPr/>
        </p:nvSpPr>
        <p:spPr>
          <a:xfrm>
            <a:off x="6583680" y="14173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=</a:t>
            </a:r>
            <a:endParaRPr lang="en-US" sz="4800" dirty="0"/>
          </a:p>
        </p:txBody>
      </p:sp>
      <p:sp>
        <p:nvSpPr>
          <p:cNvPr id="16" name="Prompt"/>
          <p:cNvSpPr/>
          <p:nvPr/>
        </p:nvSpPr>
        <p:spPr>
          <a:xfrm>
            <a:off x="548640" y="3383280"/>
            <a:ext cx="11094415" cy="1691640"/>
          </a:xfrm>
          <a:prstGeom prst="roundRect">
            <a:avLst>
              <a:gd name="adj" fmla="val 6486"/>
            </a:avLst>
          </a:prstGeom>
          <a:solidFill>
            <a:schemeClr val="tx1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22960" y="3566160"/>
            <a:ext cx="1054577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Elige tres ideas de nuestro grupo y combina cada una con una de</a:t>
            </a:r>
            <a:endParaRPr lang="en-US" sz="1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 tuyas para crear tres ideas mejores que las originales.</a:t>
            </a:r>
            <a:endParaRPr lang="en-US" sz="1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Indica de qué dos ideas parte cada combinación y qué mejora aporta.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Es la regla 3 del brainstorming —construir sobre otras ideas— aplicada a personas + IA.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Votad las tres ideas más originales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451799" y="548640"/>
            <a:ext cx="319125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51799" y="548640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38–45 · Todo el grupo</a:t>
            </a:r>
            <a:endParaRPr lang="en-US" sz="1400" dirty="0"/>
          </a:p>
        </p:txBody>
      </p:sp>
      <p:sp>
        <p:nvSpPr>
          <p:cNvPr id="5" name="Instrucción"/>
          <p:cNvSpPr/>
          <p:nvPr/>
        </p:nvSpPr>
        <p:spPr>
          <a:xfrm>
            <a:off x="548640" y="173736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Image 0" descr="Instruc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178" y="1923898"/>
            <a:ext cx="404165" cy="4041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73736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Cada persona marca tres ideas.</a:t>
            </a:r>
            <a:endParaRPr lang="en-US" sz="2000" dirty="0"/>
          </a:p>
        </p:txBody>
      </p:sp>
      <p:sp>
        <p:nvSpPr>
          <p:cNvPr id="8" name="Instrucción"/>
          <p:cNvSpPr/>
          <p:nvPr/>
        </p:nvSpPr>
        <p:spPr>
          <a:xfrm>
            <a:off x="548640" y="283464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9" name="Image 1" descr="Instrucció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8" y="3021178"/>
            <a:ext cx="404165" cy="4041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283464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Sin fijarse en si vienen del grupo o de la IA.</a:t>
            </a:r>
            <a:endParaRPr lang="en-US" sz="2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737360"/>
          <a:ext cx="5699455" cy="914400"/>
        </p:xfrm>
        <a:graphic>
          <a:graphicData uri="http://schemas.openxmlformats.org/drawingml/2006/table">
            <a:tbl>
              <a:tblPr/>
              <a:tblGrid>
                <a:gridCol w="2587752"/>
                <a:gridCol w="1463040"/>
                <a:gridCol w="146304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Sin IA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Con IA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Número de ideas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Ideas entre las más votadas</a:t>
                      </a: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/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5943600" y="5120640"/>
            <a:ext cx="5699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Rellenamos la tabla entre todos con el recuento.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¿Qué ha aportado la IA?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451799" y="548640"/>
            <a:ext cx="319125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51799" y="548640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38–45 · Todo el grupo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600200"/>
            <a:ext cx="3454298" cy="356616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6" name="Pregunta"/>
          <p:cNvSpPr/>
          <p:nvPr/>
        </p:nvSpPr>
        <p:spPr>
          <a:xfrm>
            <a:off x="1681429" y="196596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Pregun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6722" y="2251253"/>
            <a:ext cx="618134" cy="61813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3429000"/>
            <a:ext cx="28142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¿La IA ha dado ideas mejores o solo más ideas?</a:t>
            </a:r>
            <a:endParaRPr lang="en-US" sz="2400" dirty="0"/>
          </a:p>
        </p:txBody>
      </p:sp>
      <p:sp>
        <p:nvSpPr>
          <p:cNvPr id="9" name="Tarjeta"/>
          <p:cNvSpPr/>
          <p:nvPr/>
        </p:nvSpPr>
        <p:spPr>
          <a:xfrm>
            <a:off x="4368698" y="1600200"/>
            <a:ext cx="3454298" cy="356616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10" name="Pregunta"/>
          <p:cNvSpPr/>
          <p:nvPr/>
        </p:nvSpPr>
        <p:spPr>
          <a:xfrm>
            <a:off x="5501488" y="196596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1" name="Image 1" descr="Pregunt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6780" y="2251253"/>
            <a:ext cx="618134" cy="61813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88738" y="3429000"/>
            <a:ext cx="28142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¿Las combinaciones han mejorado las ideas de partida?</a:t>
            </a:r>
            <a:endParaRPr lang="en-US" sz="2400" dirty="0"/>
          </a:p>
        </p:txBody>
      </p:sp>
      <p:sp>
        <p:nvSpPr>
          <p:cNvPr id="13" name="Tarjeta"/>
          <p:cNvSpPr/>
          <p:nvPr/>
        </p:nvSpPr>
        <p:spPr>
          <a:xfrm>
            <a:off x="8188757" y="1600200"/>
            <a:ext cx="3454298" cy="356616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14" name="Pregunta"/>
          <p:cNvSpPr/>
          <p:nvPr/>
        </p:nvSpPr>
        <p:spPr>
          <a:xfrm>
            <a:off x="9321546" y="196596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gunt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6839" y="2251253"/>
            <a:ext cx="618134" cy="61813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08797" y="3429000"/>
            <a:ext cx="28142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¿Qué propuestas podrían aplicarse con pocos recursos?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Idea clave del bloque 1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1097280" y="1554480"/>
            <a:ext cx="9966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La creatividad produce posibilidades.</a:t>
            </a:r>
            <a:endParaRPr lang="en-US" sz="3400" dirty="0"/>
          </a:p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</a:rPr>
              <a:t>La innovación exige elegirlas, probarlas y convertirlas en mejoras reales.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atividad, ofimática e IA">
  <a:themeElements>
    <a:clrScheme name="Creatividad, ofimática e IA">
      <a:dk1>
        <a:srgbClr val="1F2A44"/>
      </a:dk1>
      <a:lt1>
        <a:srgbClr val="FFFFFF"/>
      </a:lt1>
      <a:dk2>
        <a:srgbClr val="3A4664"/>
      </a:dk2>
      <a:lt2>
        <a:srgbClr val="F2F4F8"/>
      </a:lt2>
      <a:accent1>
        <a:srgbClr val="F4A300"/>
      </a:accent1>
      <a:accent2>
        <a:srgbClr val="0F7C70"/>
      </a:accent2>
      <a:accent3>
        <a:srgbClr val="D64933"/>
      </a:accent3>
      <a:accent4>
        <a:srgbClr val="6C5CE7"/>
      </a:accent4>
      <a:accent5>
        <a:srgbClr val="8A94A6"/>
      </a:accent5>
      <a:accent6>
        <a:srgbClr val="2D6A4F"/>
      </a:accent6>
      <a:hlink>
        <a:srgbClr val="0F7C70"/>
      </a:hlink>
      <a:folHlink>
        <a:srgbClr val="6C5CE7"/>
      </a:folHlink>
    </a:clrScheme>
    <a:fontScheme name="Creatividad, ofimática e I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Bloque 1. Activación de la creatividad y brainstorming</dc:title>
  <dc:subject>Desarrollo de las habilidades creativas e innovadoras con herramientas ofimáticas y de inteligencia artificial</dc:subject>
  <dc:creator>PptxGenJS</dc:creator>
  <cp:lastModifiedBy>PptxGenJS</cp:lastModifiedBy>
  <cp:revision>1</cp:revision>
  <dcterms:created xsi:type="dcterms:W3CDTF">2026-10-17T13:11:32Z</dcterms:created>
  <dcterms:modified xsi:type="dcterms:W3CDTF">2026-10-17T13:11:32Z</dcterms:modified>
</cp:coreProperties>
</file>