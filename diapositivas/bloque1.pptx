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4" r:id="rId21"/>
    <p:sldId id="275" r:id="rId22"/>
    <p:sldId id="276" r:id="rId23"/>
    <p:sldId id="277" r:id="rId24"/>
    <p:sldId id="278" r:id="rId25"/>
    <p:sldId id="279" r:id="rId26"/>
    <p:sldId id="280" r:id="rId27"/>
    <p:sldId id="281" r:id="rId28"/>
    <p:sldId id="282" r:id="rId29"/>
    <p:sldId id="283"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C301A67A-CD06-4F57-6CC5-935D849B84F1}">
          <p14:sldIdLst>
            <p14:sldId id="256"/>
          </p14:sldIdLst>
        </p14:section>
        <p14:section name="Bloque 1" id="{3600A6C3-52F6-7588-0A9C-A0762F4818CB}">
          <p14:sldIdLst>
            <p14:sldId id="257"/>
            <p14:sldId id="258"/>
          </p14:sldIdLst>
        </p14:section>
        <p14:section name="Creatividad e innovación" id="{2BE25609-BF65-E18D-0F36-65565FC69EFD}">
          <p14:sldIdLst>
            <p14:sldId id="259"/>
            <p14:sldId id="260"/>
            <p14:sldId id="261"/>
            <p14:sldId id="262"/>
            <p14:sldId id="263"/>
            <p14:sldId id="264"/>
            <p14:sldId id="265"/>
            <p14:sldId id="266"/>
            <p14:sldId id="267"/>
            <p14:sldId id="268"/>
            <p14:sldId id="269"/>
          </p14:sldIdLst>
        </p14:section>
        <p14:section name="Divergir y converger" id="{F5AF64DA-B1F4-A1A7-7800-38EEFB65567B}">
          <p14:sldIdLst>
            <p14:sldId id="270"/>
            <p14:sldId id="271"/>
            <p14:sldId id="272"/>
            <p14:sldId id="273"/>
          </p14:sldIdLst>
        </p14:section>
        <p14:section name="Brainstorming" id="{B1D90EA5-E9A1-1FA3-6157-4003D122319B}">
          <p14:sldIdLst>
            <p14:sldId id="274"/>
            <p14:sldId id="284"/>
            <p14:sldId id="275"/>
            <p14:sldId id="276"/>
            <p14:sldId id="277"/>
          </p14:sldIdLst>
        </p14:section>
        <p14:section name="Ejercicio 1" id="{1055EF44-D81E-DBFF-D1FC-ED58257BFCF2}">
          <p14:sldIdLst>
            <p14:sldId id="278"/>
            <p14:sldId id="279"/>
            <p14:sldId id="280"/>
          </p14:sldIdLst>
        </p14:section>
        <p14:section name="Comparación y cierre" id="{8494F538-1684-8C82-F4E5-EDE3625627DF}">
          <p14:sldIdLst>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94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7164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Presentarse brevemente y explicar que el taller es práctico: se trabaja sobre problemas de pequeñas empresas y organizaciones, no sobre funciones sueltas de los programas.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del bloque: entender la diferencia entre creatividad, innovación y competencia digital, y practicar la primera técnica creativa, el brainstorming, primero entre personas y después con IA.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recorrido del bloque. Explicar el código de color que se usará en todo el curso: en ámbar, lo que piensa el grupo sin ayuda; en verde, lo que se hace con la IA. Las etiquetas de la esquina superior derecha indican siempre los minutos del guion.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0–3. Leer la pregunta y pedir votación a mano alzada.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0–3. Pedir a dos o tres voluntarios que cuenten en una frase alguna mejora que vieran (o hicieran) en un trabajo anterior. Apuntarlas: servirán de ejemplos durante la explicación de los tres conceptos.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3–5. Explicar los tres conceptos usando, si es posible, los ejemplos que acaban de dar los voluntarios. Subrayar que la creatividad no se limita a ámbitos artísticos: también consiste en mejorar tareas cotidianas y procesos de trabajo.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5–10. Explicar la dinámica: un dedo, creatividad; dos, innovación; tres, competencia digital. Leer cada situación, pedir el voto y, si hay votos repartidos, preguntar a una persona de cada opción. Las respuestas orientativas están en las notas de cada situación.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orientativa: Creatividad: es una idea, todavía no se ha aplicado.
Criterio para resolver las dudas: ¿es solo una idea o ya se ha puesto en práctica? ¿Aporta valor?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orientativa: Innovación: se ha aplicado y aporta valor.
Criterio para resolver las dudas: ¿es solo una idea o ya se ha puesto en práctica? ¿Aporta valor?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orientativa: Competencia digital.
Criterio para resolver las dudas: ¿es solo una idea o ya se ha puesto en práctica? ¿Aporta valor?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orientativa: Innovación.
Criterio para resolver las dudas: ¿es solo una idea o ya se ha puesto en práctica? ¿Aporta valor?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orientativa: Creatividad; si se pone en práctica y funciona, innovación. Situación discutible a propósito: lo importante es el razonamiento, no acertar.
Criterio para resolver las dudas: ¿es solo una idea o ya se ha puesto en práctica? ¿Aporta valor?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orientativa: Competencia digital; sería innovación si cambiara cómo se atiende a los clientes extranjeros. Situación discutible a propósito: lo importante es el razonamiento, no acertar.
Criterio para resolver las dudas: ¿es solo una idea o ya se ha puesto en práctica? ¿Aporta valor?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Usar esta diapositiva cuando haya votos repartidos o al terminar las seis situaciones. Las situaciones 5 y 6 son discutibles a propósito.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10–12. Cada persona, en silencio y por escrito, anota en 90 segundos todos los usos que se le ocurran para un clip. Después, cada una dice cuántos ha escrito y quien tenga más lee su lista.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12–14. Votar un solo uso. Si al grupo no se le ocurre ningún producto, es normal: pasar a la diapositiva siguiente. No explicar todavía la teoría de divergir y converger: viene después, sobre lo que acaban de hacer.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después de la votación. Mensaje: nadie compraría un clip de papelería por muy original que sea su uso; lo que se vende es el concepto del clip (sujetar por presión, doblarse sin romperse, unir y separar fácilmente) aplicado a otro tamaño, material o problema. El color de cada icono indica qué principio del clip aprovecha.
Las ideas se generaron con IA. Según la IA, para casi todas existen productos parecidos en el mercado (organizadores de cables de silicona, cierres para bolsas, clips para plantas, sistemas de conexión rápida, soportes plegables para móviles, pinzas para cartelería); conviene comprobarlo antes de afirmarlo en clase.
Enlaza con la técnica SCAMPER del bloque 2: Adaptar (llevar el concepto a otro sector) y Modificar (cambiar tamaño o material).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14–15. Lo que acaban de hacer con el clip: primero pensamiento divergente (muchos usos, sin juzgar) y después convergente (elegir uno con criterio). Las tres técnicas del curso sirven para abrir el abanico; la matriz del bloque 3 sirve para cerrarlo.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 para todo el curso: en cada técnica, primero piensan las personas y después se pide ayuda a la IA. Si la IA va primero, el grupo se ancla en sus propuestas y deja de pensar por su cuenta. Además, así se puede comparar qué aporta cada uno.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Minutos 15–20, justo después de la regla «primero las personas, después la IA». Contarlo como historia, en un minuto:</a:t>
            </a:r>
          </a:p>
          <a:p>
            <a:endParaRPr/>
          </a:p>
          <a:p>
            <a:r>
              <a:t>Hay un programa para crear videojuegos, Unreal Engine 5, que lo hace casi todo solo: la luz, las sombras, los reflejos, el detalle de cada objeto. Con él, una persona desde su casa puede hacer un juego que parece de un gran estudio.</a:t>
            </a:r>
          </a:p>
          <a:p>
            <a:endParaRPr/>
          </a:p>
          <a:p>
            <a:r>
              <a:t>Muchísima gente lo usó y dejó que el programa decidiera la luz y el aspecto del juego. Y pasó algo curioso: muchos juegos empezaron a parecerse entre sí. Técnicamente eran impecables, pero tenían todos el mismo aire. Los que llamaban la atención eran los que tenían un estilo propio, y ese estilo no lo pone la herramienta: lo pone la persona.</a:t>
            </a:r>
          </a:p>
          <a:p>
            <a:endParaRPr/>
          </a:p>
          <a:p>
            <a:r>
              <a:t>Con la IA pasa lo mismo. Da ideas, resume y redacta muy bien. Pero si todos le preguntamos lo mismo, todos recibimos respuestas parecidas. Ya pasa con las cartas de presentación: las empresas reciben cientos que suenan iguales porque las ha escrito la misma IA.</a:t>
            </a:r>
          </a:p>
          <a:p>
            <a:endParaRPr/>
          </a:p>
          <a:p>
            <a:r>
              <a:t>Las personas fallamos más y tenemos días malos. Pero la idea rara, la que nadie más tendría, es la que marca la diferencia, y esa suele salir de nosotros. Por eso: primero pensamos las personas y después usamos la IA para ampliar lo nuestro, no para sustituirlo.</a:t>
            </a:r>
          </a:p>
          <a:p>
            <a:endParaRPr/>
          </a:p>
          <a:p>
            <a:r>
              <a:t>Cuidado: no afirmar que la IA es peor que las personas. El argumento es que, si todos usamos la misma herramienta, todos acabamos haciendo lo mismo. Así no se adelanta la conclusión de la comparación del Ejercicio 1.</a:t>
            </a:r>
          </a:p>
          <a:p>
            <a:endParaRPr/>
          </a:p>
          <a:p>
            <a:r>
              <a:t>Respaldo (comprobar la referencia antes de citarla): un estudio publicado en 2024 en Science Advances encontró que la IA hacía algo más creativos los textos de cada persona, pero que los textos se parecían mucho más entre sí.</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que acompaña a las tres técnicas del curso. Es ajeno a los ejercicios: usar siempre el mismo ejemplo deja ver qué tipo de ideas produce cada técnica.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15–20. Qué es el brainstorming y sus cuatro reglas. La regla 3 (construir sobre la idea de otra persona) se aplicará después también a la combinación de ideas del grupo y de la IA.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Lanzar las ideas a buen ritmo para mostrar cómo funciona. Terminar con la idea disparatada y mostrar que, construyendo sobre ella, se llega a una idea sensata: por eso las ideas disparatadas son bienvenidas.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20–30. Entre todo el grupo, sin IA. Dar el turno en rueda para que participen todas las personas y no solo las más extrovertidas; quien no tenga idea dice «paso» y se continúa. Apuntar todas las ideas numeradas en la pizarra o en un documento compartido, sin comentarlas. Al final, contar el total: se usará en la comparación.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30–38. Proyectar la IA y pegar la lista de ideas del grupo en el lugar indicado. Leer en voz alta las propuestas de la IA y comentar cuáles sorprenden y cuáles son genéricas o repiten lo ya dicho con otras palabras. El texto del prompt para copiar está en el guion docente.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30–38. Lanzar este segundo prompt en la misma conversación con la IA, a continuación del primero.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Minutos 38–45. Cada persona marca las tres ideas que le parecen más originales, sin fijarse en si vienen del grupo o de la IA. Después, contar y rellenar la tabla: cuántas ideas salieron sin IA y con IA, y cuántas de las más votadas son de cada origen.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adelantar la conclusión: puede salir que la IA aporta más cantidad pero menos originalidad, o lo contrario. Lo importante es que el grupo lo compruebe con sus propios datos de la tabla.</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Conclusión del bloque. Enlazar con el bloque 2: ahora se aplicarán dos técnicas más estructuradas, SCAMPER y la provocación, por parejas.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37360"/>
            <a:ext cx="7680960" cy="18288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548640" y="3794760"/>
            <a:ext cx="7680960" cy="1371600"/>
          </a:xfrm>
          <a:prstGeom prst="rect">
            <a:avLst/>
          </a:prstGeom>
          <a:noFill/>
          <a:ln/>
        </p:spPr>
        <p:txBody>
          <a:bodyPr wrap="square" rtlCol="0"/>
          <a:lstStyle>
            <a:lvl1pPr marL="0" indent="0">
              <a:buNone/>
              <a:defRPr lang="en-US" sz="2000" dirty="0">
                <a:solidFill>
                  <a:schemeClr val="accent1"/>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108960" y="2103120"/>
            <a:ext cx="8503920" cy="146304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3108960" y="3749040"/>
            <a:ext cx="8503920" cy="731520"/>
          </a:xfrm>
          <a:prstGeom prst="rect">
            <a:avLst/>
          </a:prstGeom>
          <a:noFill/>
          <a:ln/>
        </p:spPr>
        <p:txBody>
          <a:bodyPr wrap="square" rtlCol="0"/>
          <a:lstStyle>
            <a:lvl1pPr marL="0" indent="0">
              <a:buNone/>
              <a:defRPr lang="en-US" sz="2200" dirty="0">
                <a:solidFill>
                  <a:schemeClr val="accent1"/>
                </a:solidFill>
              </a:defRPr>
            </a:lvl1pPr>
          </a:lstStyle>
          <a:p>
            <a:pPr marL="0" indent="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548640" y="6355080"/>
            <a:ext cx="8229600" cy="320040"/>
          </a:xfrm>
          <a:prstGeom prst="rect">
            <a:avLst/>
          </a:prstGeom>
          <a:noFill/>
          <a:ln/>
        </p:spPr>
        <p:txBody>
          <a:bodyPr wrap="square" lIns="0" tIns="0" rIns="0" bIns="0" rtlCol="0" anchor="ctr"/>
          <a:lstStyle/>
          <a:p>
            <a:pPr marL="0" indent="0">
              <a:buNone/>
            </a:pPr>
            <a:r>
              <a:rPr lang="en-US" sz="1100" dirty="0">
                <a:solidFill>
                  <a:schemeClr val="accent5"/>
                </a:solidFill>
              </a:rPr>
              <a:t>Bloque 1 · Activación de la creatividad y brainstorming</a:t>
            </a:r>
            <a:endParaRPr lang="en-US" sz="11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ESTACADO">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1097280" y="1554480"/>
            <a:ext cx="9966960" cy="3108960"/>
          </a:xfrm>
          <a:prstGeom prst="rect">
            <a:avLst/>
          </a:prstGeom>
          <a:noFill/>
          <a:ln/>
        </p:spPr>
        <p:txBody>
          <a:bodyPr wrap="square" rtlCol="0"/>
          <a:lstStyle>
            <a:lvl1pPr marL="0" indent="0">
              <a:buNone/>
              <a:defRPr lang="en-US" sz="3400" dirty="0">
                <a:solidFill>
                  <a:schemeClr val="bg1"/>
                </a:solidFill>
              </a:defRPr>
            </a:lvl1pPr>
          </a:lstStyle>
          <a:p>
            <a:pPr marL="0" indent="0">
              <a:buNone/>
            </a:pPr>
            <a:endParaRPr lang="en-US" sz="3400" dirty="0"/>
          </a:p>
        </p:txBody>
      </p:sp>
      <p:sp>
        <p:nvSpPr>
          <p:cNvPr id="3" name="Text 0"/>
          <p:cNvSpPr/>
          <p:nvPr/>
        </p:nvSpPr>
        <p:spPr>
          <a:xfrm>
            <a:off x="548640" y="6355080"/>
            <a:ext cx="8229600" cy="320040"/>
          </a:xfrm>
          <a:prstGeom prst="rect">
            <a:avLst/>
          </a:prstGeom>
          <a:noFill/>
          <a:ln/>
        </p:spPr>
        <p:txBody>
          <a:bodyPr wrap="square" lIns="0" tIns="0" rIns="0" bIns="0" rtlCol="0" anchor="ctr"/>
          <a:lstStyle/>
          <a:p>
            <a:pPr marL="0" indent="0">
              <a:buNone/>
            </a:pPr>
            <a:r>
              <a:rPr lang="en-US" sz="1100" dirty="0">
                <a:solidFill>
                  <a:schemeClr val="accent5"/>
                </a:solidFill>
              </a:rPr>
              <a:t>Bloque 1 · Activación de la creatividad y brainstorming</a:t>
            </a:r>
            <a:endParaRPr lang="en-US" sz="11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3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4.xml"/><Relationship Id="rId5" Type="http://schemas.openxmlformats.org/officeDocument/2006/relationships/image" Target="../media/image35.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37360"/>
            <a:ext cx="7680960" cy="1828800"/>
          </a:xfrm>
          <a:prstGeom prst="rect">
            <a:avLst/>
          </a:prstGeom>
          <a:noFill/>
          <a:ln/>
        </p:spPr>
        <p:txBody>
          <a:bodyPr wrap="square" lIns="0" tIns="0" rIns="0" bIns="0" rtlCol="0" anchor="b"/>
          <a:lstStyle/>
          <a:p>
            <a:pPr marL="0" indent="0" algn="l">
              <a:buNone/>
            </a:pPr>
            <a:r>
              <a:rPr lang="en-US" sz="4400" b="1" dirty="0">
                <a:solidFill>
                  <a:schemeClr val="bg1"/>
                </a:solidFill>
              </a:rPr>
              <a:t>Creatividad, ofimática e IA</a:t>
            </a:r>
            <a:endParaRPr lang="en-US" sz="4400" dirty="0"/>
          </a:p>
        </p:txBody>
      </p:sp>
      <p:sp>
        <p:nvSpPr>
          <p:cNvPr id="3" name="Text 0"/>
          <p:cNvSpPr>
            <a:spLocks noGrp="1"/>
          </p:cNvSpPr>
          <p:nvPr>
            <p:ph type="body" idx="101" hasCustomPrompt="1"/>
          </p:nvPr>
        </p:nvSpPr>
        <p:spPr>
          <a:xfrm>
            <a:off x="548640" y="3794760"/>
            <a:ext cx="7680960" cy="1371600"/>
          </a:xfrm>
          <a:prstGeom prst="rect">
            <a:avLst/>
          </a:prstGeom>
          <a:noFill/>
          <a:ln/>
        </p:spPr>
        <p:txBody>
          <a:bodyPr wrap="square" lIns="0" tIns="0" rIns="0" bIns="0" rtlCol="0" anchor="t"/>
          <a:lstStyle/>
          <a:p>
            <a:pPr marL="0" indent="0">
              <a:buNone/>
            </a:pPr>
            <a:r>
              <a:rPr lang="en-US" sz="2000" dirty="0">
                <a:solidFill>
                  <a:schemeClr val="accent1"/>
                </a:solidFill>
              </a:rPr>
              <a:t>Desarrollo de las habilidades creativas e innovadoras con herramientas ofimáticas y de inteligencia artificial</a:t>
            </a:r>
            <a:endParaRPr lang="en-US" sz="2000" dirty="0"/>
          </a:p>
        </p:txBody>
      </p:sp>
      <p:sp>
        <p:nvSpPr>
          <p:cNvPr id="4" name="Bombilla"/>
          <p:cNvSpPr/>
          <p:nvPr/>
        </p:nvSpPr>
        <p:spPr>
          <a:xfrm>
            <a:off x="8869680" y="1828800"/>
            <a:ext cx="2743200" cy="2743200"/>
          </a:xfrm>
          <a:prstGeom prst="ellipse">
            <a:avLst/>
          </a:prstGeom>
          <a:solidFill>
            <a:schemeClr val="accent1"/>
          </a:solidFill>
          <a:ln/>
        </p:spPr>
      </p:sp>
      <p:pic>
        <p:nvPicPr>
          <p:cNvPr id="5" name="Image 0" descr="Bombilla"/>
          <p:cNvPicPr>
            <a:picLocks noChangeAspect="1"/>
          </p:cNvPicPr>
          <p:nvPr/>
        </p:nvPicPr>
        <p:blipFill>
          <a:blip r:embed="rId3"/>
          <a:stretch>
            <a:fillRect/>
          </a:stretch>
        </p:blipFill>
        <p:spPr>
          <a:xfrm>
            <a:off x="9528048" y="2487168"/>
            <a:ext cx="1426464" cy="1426464"/>
          </a:xfrm>
          <a:prstGeom prst="rect">
            <a:avLst/>
          </a:prstGeom>
        </p:spPr>
      </p:pic>
      <p:sp>
        <p:nvSpPr>
          <p:cNvPr id="6" name="Text 3"/>
          <p:cNvSpPr txBox="1"/>
          <p:nvPr/>
        </p:nvSpPr>
        <p:spPr>
          <a:xfrm>
            <a:off x="548640" y="5760720"/>
            <a:ext cx="5486400" cy="457200"/>
          </a:xfrm>
          <a:prstGeom prst="rect">
            <a:avLst/>
          </a:prstGeom>
          <a:noFill/>
          <a:ln/>
        </p:spPr>
        <p:txBody>
          <a:bodyPr wrap="square" lIns="0" tIns="0" rIns="0" bIns="0" rtlCol="0" anchor="ctr"/>
          <a:lstStyle/>
          <a:p>
            <a:pPr marL="0" indent="0">
              <a:buNone/>
            </a:pPr>
            <a:r>
              <a:rPr lang="en-US" sz="1600" dirty="0">
                <a:solidFill>
                  <a:schemeClr val="accent5"/>
                </a:solidFill>
              </a:rPr>
              <a:t>Taller práctico · 5 horas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737360"/>
            <a:ext cx="2194560" cy="2743200"/>
          </a:xfrm>
          <a:prstGeom prst="rect">
            <a:avLst/>
          </a:prstGeom>
          <a:noFill/>
          <a:ln/>
        </p:spPr>
        <p:txBody>
          <a:bodyPr wrap="square" lIns="0" tIns="0" rIns="0" bIns="0" rtlCol="0" anchor="ctr"/>
          <a:lstStyle/>
          <a:p>
            <a:pPr marL="0" indent="0" algn="ctr">
              <a:buNone/>
            </a:pPr>
            <a:r>
              <a:rPr lang="en-US" sz="20000" b="1" dirty="0">
                <a:solidFill>
                  <a:schemeClr val="accent1"/>
                </a:solidFill>
                <a:latin typeface="Arial" pitchFamily="34" charset="0"/>
                <a:ea typeface="Arial" pitchFamily="34" charset="-122"/>
                <a:cs typeface="Arial" pitchFamily="34" charset="-120"/>
              </a:rPr>
              <a:t>1</a:t>
            </a:r>
            <a:endParaRPr lang="en-US" sz="20000" dirty="0"/>
          </a:p>
        </p:txBody>
      </p:sp>
      <p:sp>
        <p:nvSpPr>
          <p:cNvPr id="3" name="Text 0"/>
          <p:cNvSpPr>
            <a:spLocks noGrp="1"/>
          </p:cNvSpPr>
          <p:nvPr>
            <p:ph type="title" idx="100" hasCustomPrompt="1"/>
          </p:nvPr>
        </p:nvSpPr>
        <p:spPr>
          <a:xfrm>
            <a:off x="3108960" y="2103120"/>
            <a:ext cx="8503920" cy="1463040"/>
          </a:xfrm>
          <a:prstGeom prst="rect">
            <a:avLst/>
          </a:prstGeom>
          <a:noFill/>
          <a:ln/>
        </p:spPr>
        <p:txBody>
          <a:bodyPr wrap="square" lIns="0" tIns="0" rIns="0" bIns="0" rtlCol="0" anchor="b"/>
          <a:lstStyle/>
          <a:p>
            <a:pPr marL="0" indent="0" algn="l">
              <a:buNone/>
            </a:pPr>
            <a:r>
              <a:rPr lang="en-US" sz="4000" b="1" dirty="0">
                <a:solidFill>
                  <a:schemeClr val="bg1"/>
                </a:solidFill>
              </a:rPr>
              <a:t>Activación de la creatividad y brainstorming</a:t>
            </a:r>
            <a:endParaRPr lang="en-US" sz="4000" dirty="0"/>
          </a:p>
        </p:txBody>
      </p:sp>
      <p:sp>
        <p:nvSpPr>
          <p:cNvPr id="4" name="Text 0"/>
          <p:cNvSpPr>
            <a:spLocks noGrp="1"/>
          </p:cNvSpPr>
          <p:nvPr>
            <p:ph type="body" idx="101" hasCustomPrompt="1"/>
          </p:nvPr>
        </p:nvSpPr>
        <p:spPr>
          <a:xfrm>
            <a:off x="3108960" y="3749040"/>
            <a:ext cx="8503920" cy="731520"/>
          </a:xfrm>
          <a:prstGeom prst="rect">
            <a:avLst/>
          </a:prstGeom>
          <a:noFill/>
          <a:ln/>
        </p:spPr>
        <p:txBody>
          <a:bodyPr wrap="square" lIns="0" tIns="0" rIns="0" bIns="0" rtlCol="0" anchor="t"/>
          <a:lstStyle/>
          <a:p>
            <a:pPr marL="0" indent="0">
              <a:buNone/>
            </a:pPr>
            <a:r>
              <a:rPr lang="en-US" sz="2200" dirty="0">
                <a:solidFill>
                  <a:schemeClr val="accent1"/>
                </a:solidFill>
              </a:rPr>
              <a:t>45 minutos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Qué vamos a hacer en este bloque</a:t>
            </a:r>
            <a:endParaRPr lang="en-US" sz="3200" dirty="0"/>
          </a:p>
        </p:txBody>
      </p:sp>
      <p:sp>
        <p:nvSpPr>
          <p:cNvPr id="3" name="Shape 1"/>
          <p:cNvSpPr/>
          <p:nvPr/>
        </p:nvSpPr>
        <p:spPr>
          <a:xfrm>
            <a:off x="1473175" y="2331720"/>
            <a:ext cx="9245346" cy="0"/>
          </a:xfrm>
          <a:prstGeom prst="line">
            <a:avLst/>
          </a:prstGeom>
          <a:noFill/>
          <a:ln w="50800">
            <a:solidFill>
              <a:srgbClr val="F2F4F8"/>
            </a:solidFill>
            <a:prstDash val="solid"/>
          </a:ln>
        </p:spPr>
      </p:sp>
      <p:sp>
        <p:nvSpPr>
          <p:cNvPr id="4" name="Paso 1"/>
          <p:cNvSpPr/>
          <p:nvPr/>
        </p:nvSpPr>
        <p:spPr>
          <a:xfrm>
            <a:off x="901675" y="1760220"/>
            <a:ext cx="1143000" cy="1143000"/>
          </a:xfrm>
          <a:prstGeom prst="ellipse">
            <a:avLst/>
          </a:prstGeom>
          <a:solidFill>
            <a:schemeClr val="tx2"/>
          </a:solidFill>
          <a:ln/>
        </p:spPr>
      </p:sp>
      <p:sp>
        <p:nvSpPr>
          <p:cNvPr id="5" name="Text 3"/>
          <p:cNvSpPr txBox="1"/>
          <p:nvPr/>
        </p:nvSpPr>
        <p:spPr>
          <a:xfrm>
            <a:off x="901675" y="1760220"/>
            <a:ext cx="1143000" cy="1143000"/>
          </a:xfrm>
          <a:prstGeom prst="rect">
            <a:avLst/>
          </a:prstGeom>
          <a:noFill/>
          <a:ln/>
        </p:spPr>
        <p:txBody>
          <a:bodyPr wrap="square" lIns="0" tIns="0" rIns="0" bIns="0" rtlCol="0" anchor="ctr"/>
          <a:lstStyle/>
          <a:p>
            <a:pPr marL="0" indent="0" algn="ctr">
              <a:buNone/>
            </a:pPr>
            <a:r>
              <a:rPr lang="en-US" sz="1800" b="1" dirty="0">
                <a:solidFill>
                  <a:schemeClr val="bg1"/>
                </a:solidFill>
              </a:rPr>
              <a:t>0–10</a:t>
            </a:r>
            <a:endParaRPr lang="en-US" sz="1800" dirty="0"/>
          </a:p>
        </p:txBody>
      </p:sp>
      <p:sp>
        <p:nvSpPr>
          <p:cNvPr id="6" name="Text 4"/>
          <p:cNvSpPr txBox="1"/>
          <p:nvPr/>
        </p:nvSpPr>
        <p:spPr>
          <a:xfrm>
            <a:off x="640080" y="3131820"/>
            <a:ext cx="1666189" cy="1188720"/>
          </a:xfrm>
          <a:prstGeom prst="rect">
            <a:avLst/>
          </a:prstGeom>
          <a:noFill/>
          <a:ln/>
        </p:spPr>
        <p:txBody>
          <a:bodyPr wrap="square" lIns="0" tIns="0" rIns="0" bIns="0" rtlCol="0" anchor="t"/>
          <a:lstStyle/>
          <a:p>
            <a:pPr marL="0" indent="0" algn="ctr">
              <a:buNone/>
            </a:pPr>
            <a:r>
              <a:rPr lang="en-US" sz="1600" dirty="0">
                <a:solidFill>
                  <a:schemeClr val="tx1"/>
                </a:solidFill>
              </a:rPr>
              <a:t>Creatividad, innovación y competencia digital</a:t>
            </a:r>
            <a:endParaRPr lang="en-US" sz="1600" dirty="0"/>
          </a:p>
        </p:txBody>
      </p:sp>
      <p:sp>
        <p:nvSpPr>
          <p:cNvPr id="7" name="Paso 2"/>
          <p:cNvSpPr/>
          <p:nvPr/>
        </p:nvSpPr>
        <p:spPr>
          <a:xfrm>
            <a:off x="2750744" y="1760220"/>
            <a:ext cx="1143000" cy="1143000"/>
          </a:xfrm>
          <a:prstGeom prst="ellipse">
            <a:avLst/>
          </a:prstGeom>
          <a:solidFill>
            <a:schemeClr val="tx2"/>
          </a:solidFill>
          <a:ln/>
        </p:spPr>
      </p:sp>
      <p:sp>
        <p:nvSpPr>
          <p:cNvPr id="8" name="Text 6"/>
          <p:cNvSpPr txBox="1"/>
          <p:nvPr/>
        </p:nvSpPr>
        <p:spPr>
          <a:xfrm>
            <a:off x="2750744" y="1760220"/>
            <a:ext cx="1143000" cy="1143000"/>
          </a:xfrm>
          <a:prstGeom prst="rect">
            <a:avLst/>
          </a:prstGeom>
          <a:noFill/>
          <a:ln/>
        </p:spPr>
        <p:txBody>
          <a:bodyPr wrap="square" lIns="0" tIns="0" rIns="0" bIns="0" rtlCol="0" anchor="ctr"/>
          <a:lstStyle/>
          <a:p>
            <a:pPr marL="0" indent="0" algn="ctr">
              <a:buNone/>
            </a:pPr>
            <a:r>
              <a:rPr lang="en-US" sz="1800" b="1" dirty="0">
                <a:solidFill>
                  <a:schemeClr val="bg1"/>
                </a:solidFill>
              </a:rPr>
              <a:t>10–15</a:t>
            </a:r>
            <a:endParaRPr lang="en-US" sz="1800" dirty="0"/>
          </a:p>
        </p:txBody>
      </p:sp>
      <p:sp>
        <p:nvSpPr>
          <p:cNvPr id="9" name="Text 7"/>
          <p:cNvSpPr txBox="1"/>
          <p:nvPr/>
        </p:nvSpPr>
        <p:spPr>
          <a:xfrm>
            <a:off x="2489149" y="3131820"/>
            <a:ext cx="1666189" cy="1188720"/>
          </a:xfrm>
          <a:prstGeom prst="rect">
            <a:avLst/>
          </a:prstGeom>
          <a:noFill/>
          <a:ln/>
        </p:spPr>
        <p:txBody>
          <a:bodyPr wrap="square" lIns="0" tIns="0" rIns="0" bIns="0" rtlCol="0" anchor="t"/>
          <a:lstStyle/>
          <a:p>
            <a:pPr marL="0" indent="0" algn="ctr">
              <a:buNone/>
            </a:pPr>
            <a:r>
              <a:rPr lang="en-US" sz="1600" dirty="0">
                <a:solidFill>
                  <a:schemeClr val="tx1"/>
                </a:solidFill>
              </a:rPr>
              <a:t>Abrir y cerrar: divergir y converger</a:t>
            </a:r>
            <a:endParaRPr lang="en-US" sz="1600" dirty="0"/>
          </a:p>
        </p:txBody>
      </p:sp>
      <p:sp>
        <p:nvSpPr>
          <p:cNvPr id="10" name="Paso 3"/>
          <p:cNvSpPr/>
          <p:nvPr/>
        </p:nvSpPr>
        <p:spPr>
          <a:xfrm>
            <a:off x="4599813" y="1760220"/>
            <a:ext cx="1143000" cy="1143000"/>
          </a:xfrm>
          <a:prstGeom prst="ellipse">
            <a:avLst/>
          </a:prstGeom>
          <a:solidFill>
            <a:schemeClr val="tx2"/>
          </a:solidFill>
          <a:ln/>
        </p:spPr>
      </p:sp>
      <p:sp>
        <p:nvSpPr>
          <p:cNvPr id="11" name="Text 9"/>
          <p:cNvSpPr txBox="1"/>
          <p:nvPr/>
        </p:nvSpPr>
        <p:spPr>
          <a:xfrm>
            <a:off x="4599813" y="1760220"/>
            <a:ext cx="1143000" cy="1143000"/>
          </a:xfrm>
          <a:prstGeom prst="rect">
            <a:avLst/>
          </a:prstGeom>
          <a:noFill/>
          <a:ln/>
        </p:spPr>
        <p:txBody>
          <a:bodyPr wrap="square" lIns="0" tIns="0" rIns="0" bIns="0" rtlCol="0" anchor="ctr"/>
          <a:lstStyle/>
          <a:p>
            <a:pPr marL="0" indent="0" algn="ctr">
              <a:buNone/>
            </a:pPr>
            <a:r>
              <a:rPr lang="en-US" sz="1800" b="1" dirty="0">
                <a:solidFill>
                  <a:schemeClr val="bg1"/>
                </a:solidFill>
              </a:rPr>
              <a:t>15–20</a:t>
            </a:r>
            <a:endParaRPr lang="en-US" sz="1800" dirty="0"/>
          </a:p>
        </p:txBody>
      </p:sp>
      <p:sp>
        <p:nvSpPr>
          <p:cNvPr id="12" name="Text 10"/>
          <p:cNvSpPr txBox="1"/>
          <p:nvPr/>
        </p:nvSpPr>
        <p:spPr>
          <a:xfrm>
            <a:off x="4338218" y="3131820"/>
            <a:ext cx="1666189" cy="1188720"/>
          </a:xfrm>
          <a:prstGeom prst="rect">
            <a:avLst/>
          </a:prstGeom>
          <a:noFill/>
          <a:ln/>
        </p:spPr>
        <p:txBody>
          <a:bodyPr wrap="square" lIns="0" tIns="0" rIns="0" bIns="0" rtlCol="0" anchor="t"/>
          <a:lstStyle/>
          <a:p>
            <a:pPr marL="0" indent="0" algn="ctr">
              <a:buNone/>
            </a:pPr>
            <a:r>
              <a:rPr lang="en-US" sz="1600" dirty="0">
                <a:solidFill>
                  <a:schemeClr val="tx1"/>
                </a:solidFill>
              </a:rPr>
              <a:t>La técnica: brainstorming</a:t>
            </a:r>
            <a:endParaRPr lang="en-US" sz="1600" dirty="0"/>
          </a:p>
        </p:txBody>
      </p:sp>
      <p:sp>
        <p:nvSpPr>
          <p:cNvPr id="13" name="Paso 4"/>
          <p:cNvSpPr/>
          <p:nvPr/>
        </p:nvSpPr>
        <p:spPr>
          <a:xfrm>
            <a:off x="6448882" y="1760220"/>
            <a:ext cx="1143000" cy="1143000"/>
          </a:xfrm>
          <a:prstGeom prst="ellipse">
            <a:avLst/>
          </a:prstGeom>
          <a:solidFill>
            <a:schemeClr val="accent1"/>
          </a:solidFill>
          <a:ln/>
        </p:spPr>
      </p:sp>
      <p:sp>
        <p:nvSpPr>
          <p:cNvPr id="14" name="Text 12"/>
          <p:cNvSpPr txBox="1"/>
          <p:nvPr/>
        </p:nvSpPr>
        <p:spPr>
          <a:xfrm>
            <a:off x="6448882" y="1760220"/>
            <a:ext cx="1143000" cy="1143000"/>
          </a:xfrm>
          <a:prstGeom prst="rect">
            <a:avLst/>
          </a:prstGeom>
          <a:noFill/>
          <a:ln/>
        </p:spPr>
        <p:txBody>
          <a:bodyPr wrap="square" lIns="0" tIns="0" rIns="0" bIns="0" rtlCol="0" anchor="ctr"/>
          <a:lstStyle/>
          <a:p>
            <a:pPr marL="0" indent="0" algn="ctr">
              <a:buNone/>
            </a:pPr>
            <a:r>
              <a:rPr lang="en-US" sz="1800" b="1" dirty="0">
                <a:solidFill>
                  <a:schemeClr val="tx1"/>
                </a:solidFill>
              </a:rPr>
              <a:t>20–30</a:t>
            </a:r>
            <a:endParaRPr lang="en-US" sz="1800" dirty="0"/>
          </a:p>
        </p:txBody>
      </p:sp>
      <p:sp>
        <p:nvSpPr>
          <p:cNvPr id="15" name="Text 13"/>
          <p:cNvSpPr txBox="1"/>
          <p:nvPr/>
        </p:nvSpPr>
        <p:spPr>
          <a:xfrm>
            <a:off x="6187288" y="3131820"/>
            <a:ext cx="1666189" cy="1188720"/>
          </a:xfrm>
          <a:prstGeom prst="rect">
            <a:avLst/>
          </a:prstGeom>
          <a:noFill/>
          <a:ln/>
        </p:spPr>
        <p:txBody>
          <a:bodyPr wrap="square" lIns="0" tIns="0" rIns="0" bIns="0" rtlCol="0" anchor="t"/>
          <a:lstStyle/>
          <a:p>
            <a:pPr marL="0" indent="0" algn="ctr">
              <a:buNone/>
            </a:pPr>
            <a:r>
              <a:rPr lang="en-US" sz="1600" dirty="0">
                <a:solidFill>
                  <a:schemeClr val="tx1"/>
                </a:solidFill>
              </a:rPr>
              <a:t>Ejercicio 1: ideas del grupo</a:t>
            </a:r>
            <a:endParaRPr lang="en-US" sz="1600" dirty="0"/>
          </a:p>
        </p:txBody>
      </p:sp>
      <p:sp>
        <p:nvSpPr>
          <p:cNvPr id="16" name="Paso 5"/>
          <p:cNvSpPr/>
          <p:nvPr/>
        </p:nvSpPr>
        <p:spPr>
          <a:xfrm>
            <a:off x="8297951" y="1760220"/>
            <a:ext cx="1143000" cy="1143000"/>
          </a:xfrm>
          <a:prstGeom prst="ellipse">
            <a:avLst/>
          </a:prstGeom>
          <a:solidFill>
            <a:schemeClr val="accent2"/>
          </a:solidFill>
          <a:ln/>
        </p:spPr>
      </p:sp>
      <p:sp>
        <p:nvSpPr>
          <p:cNvPr id="17" name="Text 15"/>
          <p:cNvSpPr txBox="1"/>
          <p:nvPr/>
        </p:nvSpPr>
        <p:spPr>
          <a:xfrm>
            <a:off x="8297951" y="1760220"/>
            <a:ext cx="1143000" cy="1143000"/>
          </a:xfrm>
          <a:prstGeom prst="rect">
            <a:avLst/>
          </a:prstGeom>
          <a:noFill/>
          <a:ln/>
        </p:spPr>
        <p:txBody>
          <a:bodyPr wrap="square" lIns="0" tIns="0" rIns="0" bIns="0" rtlCol="0" anchor="ctr"/>
          <a:lstStyle/>
          <a:p>
            <a:pPr marL="0" indent="0" algn="ctr">
              <a:buNone/>
            </a:pPr>
            <a:r>
              <a:rPr lang="en-US" sz="1800" b="1" dirty="0">
                <a:solidFill>
                  <a:schemeClr val="bg1"/>
                </a:solidFill>
              </a:rPr>
              <a:t>30–38</a:t>
            </a:r>
            <a:endParaRPr lang="en-US" sz="1800" dirty="0"/>
          </a:p>
        </p:txBody>
      </p:sp>
      <p:sp>
        <p:nvSpPr>
          <p:cNvPr id="18" name="Text 16"/>
          <p:cNvSpPr txBox="1"/>
          <p:nvPr/>
        </p:nvSpPr>
        <p:spPr>
          <a:xfrm>
            <a:off x="8036357" y="3131820"/>
            <a:ext cx="1666189" cy="1188720"/>
          </a:xfrm>
          <a:prstGeom prst="rect">
            <a:avLst/>
          </a:prstGeom>
          <a:noFill/>
          <a:ln/>
        </p:spPr>
        <p:txBody>
          <a:bodyPr wrap="square" lIns="0" tIns="0" rIns="0" bIns="0" rtlCol="0" anchor="t"/>
          <a:lstStyle/>
          <a:p>
            <a:pPr marL="0" indent="0" algn="ctr">
              <a:buNone/>
            </a:pPr>
            <a:r>
              <a:rPr lang="en-US" sz="1600" dirty="0">
                <a:solidFill>
                  <a:schemeClr val="tx1"/>
                </a:solidFill>
              </a:rPr>
              <a:t>Ejercicio 1: ideas con IA</a:t>
            </a:r>
            <a:endParaRPr lang="en-US" sz="1600" dirty="0"/>
          </a:p>
        </p:txBody>
      </p:sp>
      <p:sp>
        <p:nvSpPr>
          <p:cNvPr id="19" name="Paso 6"/>
          <p:cNvSpPr/>
          <p:nvPr/>
        </p:nvSpPr>
        <p:spPr>
          <a:xfrm>
            <a:off x="10147021" y="1760220"/>
            <a:ext cx="1143000" cy="1143000"/>
          </a:xfrm>
          <a:prstGeom prst="ellipse">
            <a:avLst/>
          </a:prstGeom>
          <a:solidFill>
            <a:schemeClr val="tx2"/>
          </a:solidFill>
          <a:ln/>
        </p:spPr>
      </p:sp>
      <p:sp>
        <p:nvSpPr>
          <p:cNvPr id="20" name="Text 18"/>
          <p:cNvSpPr txBox="1"/>
          <p:nvPr/>
        </p:nvSpPr>
        <p:spPr>
          <a:xfrm>
            <a:off x="10147021" y="1760220"/>
            <a:ext cx="1143000" cy="1143000"/>
          </a:xfrm>
          <a:prstGeom prst="rect">
            <a:avLst/>
          </a:prstGeom>
          <a:noFill/>
          <a:ln/>
        </p:spPr>
        <p:txBody>
          <a:bodyPr wrap="square" lIns="0" tIns="0" rIns="0" bIns="0" rtlCol="0" anchor="ctr"/>
          <a:lstStyle/>
          <a:p>
            <a:pPr marL="0" indent="0" algn="ctr">
              <a:buNone/>
            </a:pPr>
            <a:r>
              <a:rPr lang="en-US" sz="1800" b="1" dirty="0">
                <a:solidFill>
                  <a:schemeClr val="bg1"/>
                </a:solidFill>
              </a:rPr>
              <a:t>38–45</a:t>
            </a:r>
            <a:endParaRPr lang="en-US" sz="1800" dirty="0"/>
          </a:p>
        </p:txBody>
      </p:sp>
      <p:sp>
        <p:nvSpPr>
          <p:cNvPr id="21" name="Text 19"/>
          <p:cNvSpPr txBox="1"/>
          <p:nvPr/>
        </p:nvSpPr>
        <p:spPr>
          <a:xfrm>
            <a:off x="9885426" y="3131820"/>
            <a:ext cx="1666189" cy="1188720"/>
          </a:xfrm>
          <a:prstGeom prst="rect">
            <a:avLst/>
          </a:prstGeom>
          <a:noFill/>
          <a:ln/>
        </p:spPr>
        <p:txBody>
          <a:bodyPr wrap="square" lIns="0" tIns="0" rIns="0" bIns="0" rtlCol="0" anchor="t"/>
          <a:lstStyle/>
          <a:p>
            <a:pPr marL="0" indent="0" algn="ctr">
              <a:buNone/>
            </a:pPr>
            <a:r>
              <a:rPr lang="en-US" sz="1600" dirty="0">
                <a:solidFill>
                  <a:schemeClr val="tx1"/>
                </a:solidFill>
              </a:rPr>
              <a:t>Comparamos y cerramos</a:t>
            </a:r>
            <a:endParaRPr lang="en-US" sz="1600" dirty="0"/>
          </a:p>
        </p:txBody>
      </p:sp>
      <p:sp>
        <p:nvSpPr>
          <p:cNvPr id="22" name="Personas"/>
          <p:cNvSpPr/>
          <p:nvPr/>
        </p:nvSpPr>
        <p:spPr>
          <a:xfrm>
            <a:off x="548640" y="4846320"/>
            <a:ext cx="548640" cy="548640"/>
          </a:xfrm>
          <a:prstGeom prst="ellipse">
            <a:avLst/>
          </a:prstGeom>
          <a:solidFill>
            <a:schemeClr val="accent1"/>
          </a:solidFill>
          <a:ln/>
        </p:spPr>
      </p:sp>
      <p:pic>
        <p:nvPicPr>
          <p:cNvPr id="23" name="Image 0" descr="Personas"/>
          <p:cNvPicPr>
            <a:picLocks noChangeAspect="1"/>
          </p:cNvPicPr>
          <p:nvPr/>
        </p:nvPicPr>
        <p:blipFill>
          <a:blip r:embed="rId3"/>
          <a:stretch>
            <a:fillRect/>
          </a:stretch>
        </p:blipFill>
        <p:spPr>
          <a:xfrm>
            <a:off x="680314" y="4977994"/>
            <a:ext cx="285293" cy="285293"/>
          </a:xfrm>
          <a:prstGeom prst="rect">
            <a:avLst/>
          </a:prstGeom>
        </p:spPr>
      </p:pic>
      <p:sp>
        <p:nvSpPr>
          <p:cNvPr id="24" name="Text 21"/>
          <p:cNvSpPr txBox="1"/>
          <p:nvPr/>
        </p:nvSpPr>
        <p:spPr>
          <a:xfrm>
            <a:off x="1234440" y="4846320"/>
            <a:ext cx="3840480" cy="548640"/>
          </a:xfrm>
          <a:prstGeom prst="rect">
            <a:avLst/>
          </a:prstGeom>
          <a:noFill/>
          <a:ln/>
        </p:spPr>
        <p:txBody>
          <a:bodyPr wrap="square" lIns="0" tIns="0" rIns="0" bIns="0" rtlCol="0" anchor="ctr"/>
          <a:lstStyle/>
          <a:p>
            <a:pPr marL="0" indent="0">
              <a:buNone/>
            </a:pPr>
            <a:r>
              <a:rPr lang="en-US" sz="1600" dirty="0">
                <a:solidFill>
                  <a:schemeClr val="tx1"/>
                </a:solidFill>
              </a:rPr>
              <a:t>Ámbar: pensamos las personas</a:t>
            </a:r>
            <a:endParaRPr lang="en-US" sz="1600" dirty="0"/>
          </a:p>
        </p:txBody>
      </p:sp>
      <p:sp>
        <p:nvSpPr>
          <p:cNvPr id="25" name="IA"/>
          <p:cNvSpPr/>
          <p:nvPr/>
        </p:nvSpPr>
        <p:spPr>
          <a:xfrm>
            <a:off x="5394960" y="4846320"/>
            <a:ext cx="548640" cy="548640"/>
          </a:xfrm>
          <a:prstGeom prst="ellipse">
            <a:avLst/>
          </a:prstGeom>
          <a:solidFill>
            <a:schemeClr val="accent2"/>
          </a:solidFill>
          <a:ln/>
        </p:spPr>
      </p:sp>
      <p:pic>
        <p:nvPicPr>
          <p:cNvPr id="26" name="Image 1" descr="IA"/>
          <p:cNvPicPr>
            <a:picLocks noChangeAspect="1"/>
          </p:cNvPicPr>
          <p:nvPr/>
        </p:nvPicPr>
        <p:blipFill>
          <a:blip r:embed="rId4"/>
          <a:stretch>
            <a:fillRect/>
          </a:stretch>
        </p:blipFill>
        <p:spPr>
          <a:xfrm>
            <a:off x="5526634" y="4977994"/>
            <a:ext cx="285293" cy="285293"/>
          </a:xfrm>
          <a:prstGeom prst="rect">
            <a:avLst/>
          </a:prstGeom>
        </p:spPr>
      </p:pic>
      <p:sp>
        <p:nvSpPr>
          <p:cNvPr id="27" name="Text 23"/>
          <p:cNvSpPr txBox="1"/>
          <p:nvPr/>
        </p:nvSpPr>
        <p:spPr>
          <a:xfrm>
            <a:off x="6080760" y="4846320"/>
            <a:ext cx="3840480" cy="548640"/>
          </a:xfrm>
          <a:prstGeom prst="rect">
            <a:avLst/>
          </a:prstGeom>
          <a:noFill/>
          <a:ln/>
        </p:spPr>
        <p:txBody>
          <a:bodyPr wrap="square" lIns="0" tIns="0" rIns="0" bIns="0" rtlCol="0" anchor="ctr"/>
          <a:lstStyle/>
          <a:p>
            <a:pPr marL="0" indent="0">
              <a:buNone/>
            </a:pPr>
            <a:r>
              <a:rPr lang="en-US" sz="1600" dirty="0">
                <a:solidFill>
                  <a:schemeClr val="tx1"/>
                </a:solidFill>
              </a:rPr>
              <a:t>Verde: trabajamos con la IA</a:t>
            </a:r>
            <a:endParaRPr lang="en-US" sz="1600" dirty="0"/>
          </a:p>
        </p:txBody>
      </p:sp>
      <p:sp>
        <p:nvSpPr>
          <p:cNvPr id="28"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1097280" y="1554480"/>
            <a:ext cx="9966960" cy="3108960"/>
          </a:xfrm>
          <a:prstGeom prst="rect">
            <a:avLst/>
          </a:prstGeom>
          <a:noFill/>
          <a:ln/>
        </p:spPr>
        <p:txBody>
          <a:bodyPr wrap="square" lIns="0" tIns="0" rIns="0" bIns="0" rtlCol="0" anchor="ctr"/>
          <a:lstStyle/>
          <a:p>
            <a:pPr marL="0" indent="0">
              <a:buNone/>
            </a:pPr>
            <a:r>
              <a:rPr lang="en-US" sz="3400" dirty="0">
                <a:solidFill>
                  <a:schemeClr val="bg1"/>
                </a:solidFill>
              </a:rPr>
              <a:t>Mañana empezáis a trabajar en una empresa. Hay un procedimiento que siempre se ha hecho igual, pero que consume muchísimo tiempo.</a:t>
            </a:r>
            <a:endParaRPr lang="en-US" sz="3400" dirty="0"/>
          </a:p>
          <a:p>
            <a:pPr marL="0" indent="0">
              <a:buNone/>
            </a:pPr>
            <a:r>
              <a:rPr lang="en-US" sz="3400" b="1" dirty="0">
                <a:solidFill>
                  <a:schemeClr val="accent1"/>
                </a:solidFill>
              </a:rPr>
              <a:t>¿Lo repetiríais o buscaríais una manera mejor?</a:t>
            </a:r>
            <a:endParaRPr lang="en-US" sz="3400" dirty="0"/>
          </a:p>
        </p:txBody>
      </p:sp>
      <p:sp>
        <p:nvSpPr>
          <p:cNvPr id="3" name="Etiqueta de tiempo"/>
          <p:cNvSpPr/>
          <p:nvPr/>
        </p:nvSpPr>
        <p:spPr>
          <a:xfrm>
            <a:off x="8662111" y="548640"/>
            <a:ext cx="2980944" cy="457200"/>
          </a:xfrm>
          <a:prstGeom prst="roundRect">
            <a:avLst>
              <a:gd name="adj" fmla="val 50000"/>
            </a:avLst>
          </a:prstGeom>
          <a:solidFill>
            <a:schemeClr val="accent1"/>
          </a:solidFill>
          <a:ln/>
        </p:spPr>
      </p:sp>
      <p:sp>
        <p:nvSpPr>
          <p:cNvPr id="4" name="Text 2"/>
          <p:cNvSpPr txBox="1"/>
          <p:nvPr/>
        </p:nvSpPr>
        <p:spPr>
          <a:xfrm>
            <a:off x="8662111" y="548640"/>
            <a:ext cx="2980944" cy="457200"/>
          </a:xfrm>
          <a:prstGeom prst="rect">
            <a:avLst/>
          </a:prstGeom>
          <a:noFill/>
          <a:ln/>
        </p:spPr>
        <p:txBody>
          <a:bodyPr wrap="square" lIns="0" tIns="0" rIns="0" bIns="0" rtlCol="0" anchor="ctr"/>
          <a:lstStyle/>
          <a:p>
            <a:pPr marL="0" indent="0" algn="ctr">
              <a:buNone/>
            </a:pPr>
            <a:r>
              <a:rPr lang="en-US" sz="1400" b="1" dirty="0">
                <a:solidFill>
                  <a:schemeClr val="tx1"/>
                </a:solidFill>
              </a:rPr>
              <a:t>Min. 0–3 · Todo el grupo</a:t>
            </a:r>
            <a:endParaRPr lang="en-US" sz="1400" dirty="0"/>
          </a:p>
        </p:txBody>
      </p:sp>
      <p:sp>
        <p:nvSpPr>
          <p:cNvPr id="5" name="Text 3"/>
          <p:cNvSpPr txBox="1"/>
          <p:nvPr/>
        </p:nvSpPr>
        <p:spPr>
          <a:xfrm>
            <a:off x="1097280" y="4892040"/>
            <a:ext cx="5486400" cy="411480"/>
          </a:xfrm>
          <a:prstGeom prst="rect">
            <a:avLst/>
          </a:prstGeom>
          <a:noFill/>
          <a:ln/>
        </p:spPr>
        <p:txBody>
          <a:bodyPr wrap="square" lIns="0" tIns="0" rIns="0" bIns="0" rtlCol="0" anchor="ctr"/>
          <a:lstStyle/>
          <a:p>
            <a:pPr marL="0" indent="0">
              <a:buNone/>
            </a:pPr>
            <a:r>
              <a:rPr lang="en-US" sz="1600" dirty="0">
                <a:solidFill>
                  <a:schemeClr val="accent5"/>
                </a:solidFill>
              </a:rPr>
              <a:t>Votación a mano alzada</a:t>
            </a:r>
            <a:endParaRPr lang="en-US" sz="1600" dirty="0"/>
          </a:p>
        </p:txBody>
      </p:sp>
      <p:sp>
        <p:nvSpPr>
          <p:cNvPr id="6" name="Opción 1"/>
          <p:cNvSpPr/>
          <p:nvPr/>
        </p:nvSpPr>
        <p:spPr>
          <a:xfrm>
            <a:off x="1097280" y="5394960"/>
            <a:ext cx="4206240" cy="685800"/>
          </a:xfrm>
          <a:prstGeom prst="roundRect">
            <a:avLst>
              <a:gd name="adj" fmla="val 50000"/>
            </a:avLst>
          </a:prstGeom>
          <a:solidFill>
            <a:schemeClr val="tx2"/>
          </a:solidFill>
          <a:ln/>
        </p:spPr>
      </p:sp>
      <p:sp>
        <p:nvSpPr>
          <p:cNvPr id="7" name="Lo repito tal cual"/>
          <p:cNvSpPr/>
          <p:nvPr/>
        </p:nvSpPr>
        <p:spPr>
          <a:xfrm>
            <a:off x="1207008" y="5468112"/>
            <a:ext cx="548640" cy="548640"/>
          </a:xfrm>
          <a:prstGeom prst="ellipse">
            <a:avLst/>
          </a:prstGeom>
          <a:solidFill>
            <a:schemeClr val="accent1"/>
          </a:solidFill>
          <a:ln/>
        </p:spPr>
      </p:sp>
      <p:pic>
        <p:nvPicPr>
          <p:cNvPr id="8" name="Image 0" descr="Lo repito tal cual"/>
          <p:cNvPicPr>
            <a:picLocks noChangeAspect="1"/>
          </p:cNvPicPr>
          <p:nvPr/>
        </p:nvPicPr>
        <p:blipFill>
          <a:blip r:embed="rId3"/>
          <a:stretch>
            <a:fillRect/>
          </a:stretch>
        </p:blipFill>
        <p:spPr>
          <a:xfrm>
            <a:off x="1338682" y="5599786"/>
            <a:ext cx="285293" cy="285293"/>
          </a:xfrm>
          <a:prstGeom prst="rect">
            <a:avLst/>
          </a:prstGeom>
        </p:spPr>
      </p:pic>
      <p:sp>
        <p:nvSpPr>
          <p:cNvPr id="9" name="Text 6"/>
          <p:cNvSpPr txBox="1"/>
          <p:nvPr/>
        </p:nvSpPr>
        <p:spPr>
          <a:xfrm>
            <a:off x="1874520" y="5394960"/>
            <a:ext cx="3291840" cy="685800"/>
          </a:xfrm>
          <a:prstGeom prst="rect">
            <a:avLst/>
          </a:prstGeom>
          <a:noFill/>
          <a:ln/>
        </p:spPr>
        <p:txBody>
          <a:bodyPr wrap="square" lIns="0" tIns="0" rIns="0" bIns="0" rtlCol="0" anchor="ctr"/>
          <a:lstStyle/>
          <a:p>
            <a:pPr marL="0" indent="0">
              <a:buNone/>
            </a:pPr>
            <a:r>
              <a:rPr lang="en-US" sz="1800" dirty="0">
                <a:solidFill>
                  <a:schemeClr val="bg1"/>
                </a:solidFill>
              </a:rPr>
              <a:t>Lo repito tal cual</a:t>
            </a:r>
            <a:endParaRPr lang="en-US" sz="1800" dirty="0"/>
          </a:p>
        </p:txBody>
      </p:sp>
      <p:sp>
        <p:nvSpPr>
          <p:cNvPr id="10" name="Opción 2"/>
          <p:cNvSpPr/>
          <p:nvPr/>
        </p:nvSpPr>
        <p:spPr>
          <a:xfrm>
            <a:off x="5669280" y="5394960"/>
            <a:ext cx="4206240" cy="685800"/>
          </a:xfrm>
          <a:prstGeom prst="roundRect">
            <a:avLst>
              <a:gd name="adj" fmla="val 50000"/>
            </a:avLst>
          </a:prstGeom>
          <a:solidFill>
            <a:schemeClr val="tx2"/>
          </a:solidFill>
          <a:ln/>
        </p:spPr>
      </p:sp>
      <p:sp>
        <p:nvSpPr>
          <p:cNvPr id="11" name="Busco una manera mejor"/>
          <p:cNvSpPr/>
          <p:nvPr/>
        </p:nvSpPr>
        <p:spPr>
          <a:xfrm>
            <a:off x="5779008" y="5468112"/>
            <a:ext cx="548640" cy="548640"/>
          </a:xfrm>
          <a:prstGeom prst="ellipse">
            <a:avLst/>
          </a:prstGeom>
          <a:solidFill>
            <a:schemeClr val="accent1"/>
          </a:solidFill>
          <a:ln/>
        </p:spPr>
      </p:sp>
      <p:pic>
        <p:nvPicPr>
          <p:cNvPr id="12" name="Image 1" descr="Busco una manera mejor"/>
          <p:cNvPicPr>
            <a:picLocks noChangeAspect="1"/>
          </p:cNvPicPr>
          <p:nvPr/>
        </p:nvPicPr>
        <p:blipFill>
          <a:blip r:embed="rId4"/>
          <a:stretch>
            <a:fillRect/>
          </a:stretch>
        </p:blipFill>
        <p:spPr>
          <a:xfrm>
            <a:off x="5910682" y="5599786"/>
            <a:ext cx="285293" cy="285293"/>
          </a:xfrm>
          <a:prstGeom prst="rect">
            <a:avLst/>
          </a:prstGeom>
        </p:spPr>
      </p:pic>
      <p:sp>
        <p:nvSpPr>
          <p:cNvPr id="13" name="Text 9"/>
          <p:cNvSpPr txBox="1"/>
          <p:nvPr/>
        </p:nvSpPr>
        <p:spPr>
          <a:xfrm>
            <a:off x="6446520" y="5394960"/>
            <a:ext cx="3291840" cy="685800"/>
          </a:xfrm>
          <a:prstGeom prst="rect">
            <a:avLst/>
          </a:prstGeom>
          <a:noFill/>
          <a:ln/>
        </p:spPr>
        <p:txBody>
          <a:bodyPr wrap="square" lIns="0" tIns="0" rIns="0" bIns="0" rtlCol="0" anchor="ctr"/>
          <a:lstStyle/>
          <a:p>
            <a:pPr marL="0" indent="0">
              <a:buNone/>
            </a:pPr>
            <a:r>
              <a:rPr lang="en-US" sz="1800" dirty="0">
                <a:solidFill>
                  <a:schemeClr val="bg1"/>
                </a:solidFill>
              </a:rPr>
              <a:t>Busco una manera mejor</a:t>
            </a:r>
            <a:endParaRPr lang="en-US" sz="18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¿Habéis visto alguna mejora?</a:t>
            </a:r>
            <a:endParaRPr lang="en-US" sz="3200" dirty="0"/>
          </a:p>
        </p:txBody>
      </p:sp>
      <p:sp>
        <p:nvSpPr>
          <p:cNvPr id="3" name="Etiqueta de tiempo"/>
          <p:cNvSpPr/>
          <p:nvPr/>
        </p:nvSpPr>
        <p:spPr>
          <a:xfrm>
            <a:off x="8872423" y="548640"/>
            <a:ext cx="2770632" cy="457200"/>
          </a:xfrm>
          <a:prstGeom prst="roundRect">
            <a:avLst>
              <a:gd name="adj" fmla="val 50000"/>
            </a:avLst>
          </a:prstGeom>
          <a:solidFill>
            <a:schemeClr val="accent1"/>
          </a:solidFill>
          <a:ln/>
        </p:spPr>
      </p:sp>
      <p:sp>
        <p:nvSpPr>
          <p:cNvPr id="4" name="Text 2"/>
          <p:cNvSpPr txBox="1"/>
          <p:nvPr/>
        </p:nvSpPr>
        <p:spPr>
          <a:xfrm>
            <a:off x="8872423" y="548640"/>
            <a:ext cx="2770632" cy="457200"/>
          </a:xfrm>
          <a:prstGeom prst="rect">
            <a:avLst/>
          </a:prstGeom>
          <a:noFill/>
          <a:ln/>
        </p:spPr>
        <p:txBody>
          <a:bodyPr wrap="square" lIns="0" tIns="0" rIns="0" bIns="0" rtlCol="0" anchor="ctr"/>
          <a:lstStyle/>
          <a:p>
            <a:pPr marL="0" indent="0" algn="ctr">
              <a:buNone/>
            </a:pPr>
            <a:r>
              <a:rPr lang="en-US" sz="1400" b="1" dirty="0">
                <a:solidFill>
                  <a:schemeClr val="tx1"/>
                </a:solidFill>
              </a:rPr>
              <a:t>Min. 0–3 · Voluntarios</a:t>
            </a:r>
            <a:endParaRPr lang="en-US" sz="1400" dirty="0"/>
          </a:p>
        </p:txBody>
      </p:sp>
      <p:sp>
        <p:nvSpPr>
          <p:cNvPr id="5" name="Voluntarios"/>
          <p:cNvSpPr/>
          <p:nvPr/>
        </p:nvSpPr>
        <p:spPr>
          <a:xfrm>
            <a:off x="822960" y="2011680"/>
            <a:ext cx="1828800" cy="1828800"/>
          </a:xfrm>
          <a:prstGeom prst="ellipse">
            <a:avLst/>
          </a:prstGeom>
          <a:solidFill>
            <a:schemeClr val="accent1"/>
          </a:solidFill>
          <a:ln/>
        </p:spPr>
      </p:sp>
      <p:pic>
        <p:nvPicPr>
          <p:cNvPr id="6" name="Image 0" descr="Voluntarios"/>
          <p:cNvPicPr>
            <a:picLocks noChangeAspect="1"/>
          </p:cNvPicPr>
          <p:nvPr/>
        </p:nvPicPr>
        <p:blipFill>
          <a:blip r:embed="rId3"/>
          <a:stretch>
            <a:fillRect/>
          </a:stretch>
        </p:blipFill>
        <p:spPr>
          <a:xfrm>
            <a:off x="1261872" y="2450592"/>
            <a:ext cx="950976" cy="950976"/>
          </a:xfrm>
          <a:prstGeom prst="rect">
            <a:avLst/>
          </a:prstGeom>
        </p:spPr>
      </p:pic>
      <p:sp>
        <p:nvSpPr>
          <p:cNvPr id="7" name="Tarjeta"/>
          <p:cNvSpPr/>
          <p:nvPr/>
        </p:nvSpPr>
        <p:spPr>
          <a:xfrm>
            <a:off x="3108960" y="1737360"/>
            <a:ext cx="8534095" cy="2377440"/>
          </a:xfrm>
          <a:prstGeom prst="roundRect">
            <a:avLst>
              <a:gd name="adj" fmla="val 5769"/>
            </a:avLst>
          </a:prstGeom>
          <a:solidFill>
            <a:schemeClr val="bg2"/>
          </a:solidFill>
          <a:ln/>
        </p:spPr>
      </p:sp>
      <p:sp>
        <p:nvSpPr>
          <p:cNvPr id="8" name="Text 5"/>
          <p:cNvSpPr txBox="1"/>
          <p:nvPr/>
        </p:nvSpPr>
        <p:spPr>
          <a:xfrm>
            <a:off x="3474720" y="1737360"/>
            <a:ext cx="7802575" cy="2377440"/>
          </a:xfrm>
          <a:prstGeom prst="rect">
            <a:avLst/>
          </a:prstGeom>
          <a:noFill/>
          <a:ln/>
        </p:spPr>
        <p:txBody>
          <a:bodyPr wrap="square" lIns="0" tIns="0" rIns="0" bIns="0" rtlCol="0" anchor="ctr"/>
          <a:lstStyle/>
          <a:p>
            <a:pPr marL="0" indent="0">
              <a:buNone/>
            </a:pPr>
            <a:r>
              <a:rPr lang="en-US" sz="3600" i="1" dirty="0">
                <a:solidFill>
                  <a:schemeClr val="tx1"/>
                </a:solidFill>
              </a:rPr>
              <a:t>«Antes se hacía así…</a:t>
            </a:r>
            <a:endParaRPr lang="en-US" sz="3600" dirty="0"/>
          </a:p>
          <a:p>
            <a:pPr marL="0" indent="0">
              <a:buNone/>
            </a:pPr>
            <a:r>
              <a:rPr lang="en-US" sz="3600" i="1" dirty="0">
                <a:solidFill>
                  <a:schemeClr val="tx1"/>
                </a:solidFill>
              </a:rPr>
              <a:t>y alguien lo cambió por…»</a:t>
            </a:r>
            <a:endParaRPr lang="en-US" sz="3600" dirty="0"/>
          </a:p>
        </p:txBody>
      </p:sp>
      <p:sp>
        <p:nvSpPr>
          <p:cNvPr id="9" name="Text 6"/>
          <p:cNvSpPr txBox="1"/>
          <p:nvPr/>
        </p:nvSpPr>
        <p:spPr>
          <a:xfrm>
            <a:off x="3108960" y="4434840"/>
            <a:ext cx="7315200" cy="457200"/>
          </a:xfrm>
          <a:prstGeom prst="rect">
            <a:avLst/>
          </a:prstGeom>
          <a:noFill/>
          <a:ln/>
        </p:spPr>
        <p:txBody>
          <a:bodyPr wrap="square" lIns="0" tIns="0" rIns="0" bIns="0" rtlCol="0" anchor="ctr"/>
          <a:lstStyle/>
          <a:p>
            <a:pPr marL="0" indent="0">
              <a:buNone/>
            </a:pPr>
            <a:r>
              <a:rPr lang="en-US" sz="2000" dirty="0">
                <a:solidFill>
                  <a:schemeClr val="tx2"/>
                </a:solidFill>
              </a:rPr>
              <a:t>Dos o tres voluntarios · una frase cada uno</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Tres conceptos que no son lo mismo</a:t>
            </a:r>
            <a:endParaRPr lang="en-US" sz="3200" dirty="0"/>
          </a:p>
        </p:txBody>
      </p:sp>
      <p:sp>
        <p:nvSpPr>
          <p:cNvPr id="3" name="Etiqueta de tiempo"/>
          <p:cNvSpPr/>
          <p:nvPr/>
        </p:nvSpPr>
        <p:spPr>
          <a:xfrm>
            <a:off x="10180015" y="548640"/>
            <a:ext cx="1463040" cy="457200"/>
          </a:xfrm>
          <a:prstGeom prst="roundRect">
            <a:avLst>
              <a:gd name="adj" fmla="val 50000"/>
            </a:avLst>
          </a:prstGeom>
          <a:solidFill>
            <a:schemeClr val="bg2"/>
          </a:solidFill>
          <a:ln/>
        </p:spPr>
      </p:sp>
      <p:sp>
        <p:nvSpPr>
          <p:cNvPr id="4" name="Text 2"/>
          <p:cNvSpPr txBox="1"/>
          <p:nvPr/>
        </p:nvSpPr>
        <p:spPr>
          <a:xfrm>
            <a:off x="10180015" y="548640"/>
            <a:ext cx="1463040" cy="457200"/>
          </a:xfrm>
          <a:prstGeom prst="rect">
            <a:avLst/>
          </a:prstGeom>
          <a:noFill/>
          <a:ln/>
        </p:spPr>
        <p:txBody>
          <a:bodyPr wrap="square" lIns="0" tIns="0" rIns="0" bIns="0" rtlCol="0" anchor="ctr"/>
          <a:lstStyle/>
          <a:p>
            <a:pPr marL="0" indent="0" algn="ctr">
              <a:buNone/>
            </a:pPr>
            <a:r>
              <a:rPr lang="en-US" sz="1400" b="1" dirty="0">
                <a:solidFill>
                  <a:schemeClr val="tx1"/>
                </a:solidFill>
              </a:rPr>
              <a:t>Min. 3–5</a:t>
            </a:r>
            <a:endParaRPr lang="en-US" sz="1400" dirty="0"/>
          </a:p>
        </p:txBody>
      </p:sp>
      <p:sp>
        <p:nvSpPr>
          <p:cNvPr id="5" name="Tarjeta"/>
          <p:cNvSpPr/>
          <p:nvPr/>
        </p:nvSpPr>
        <p:spPr>
          <a:xfrm>
            <a:off x="548640" y="1508760"/>
            <a:ext cx="3454298" cy="3749040"/>
          </a:xfrm>
          <a:prstGeom prst="roundRect">
            <a:avLst>
              <a:gd name="adj" fmla="val 3971"/>
            </a:avLst>
          </a:prstGeom>
          <a:solidFill>
            <a:schemeClr val="bg2"/>
          </a:solidFill>
          <a:ln/>
        </p:spPr>
      </p:sp>
      <p:sp>
        <p:nvSpPr>
          <p:cNvPr id="6" name="Creatividad"/>
          <p:cNvSpPr/>
          <p:nvPr/>
        </p:nvSpPr>
        <p:spPr>
          <a:xfrm>
            <a:off x="868680" y="1783080"/>
            <a:ext cx="914400" cy="914400"/>
          </a:xfrm>
          <a:prstGeom prst="ellipse">
            <a:avLst/>
          </a:prstGeom>
          <a:solidFill>
            <a:schemeClr val="accent1"/>
          </a:solidFill>
          <a:ln/>
        </p:spPr>
      </p:sp>
      <p:pic>
        <p:nvPicPr>
          <p:cNvPr id="7" name="Image 0" descr="Creatividad"/>
          <p:cNvPicPr>
            <a:picLocks noChangeAspect="1"/>
          </p:cNvPicPr>
          <p:nvPr/>
        </p:nvPicPr>
        <p:blipFill>
          <a:blip r:embed="rId3"/>
          <a:stretch>
            <a:fillRect/>
          </a:stretch>
        </p:blipFill>
        <p:spPr>
          <a:xfrm>
            <a:off x="1088136" y="2002536"/>
            <a:ext cx="475488" cy="475488"/>
          </a:xfrm>
          <a:prstGeom prst="rect">
            <a:avLst/>
          </a:prstGeom>
        </p:spPr>
      </p:pic>
      <p:sp>
        <p:nvSpPr>
          <p:cNvPr id="8" name="Text 5"/>
          <p:cNvSpPr txBox="1"/>
          <p:nvPr/>
        </p:nvSpPr>
        <p:spPr>
          <a:xfrm>
            <a:off x="868680" y="2834640"/>
            <a:ext cx="2814218" cy="502920"/>
          </a:xfrm>
          <a:prstGeom prst="rect">
            <a:avLst/>
          </a:prstGeom>
          <a:noFill/>
          <a:ln/>
        </p:spPr>
        <p:txBody>
          <a:bodyPr wrap="square" lIns="0" tIns="0" rIns="0" bIns="0" rtlCol="0" anchor="ctr"/>
          <a:lstStyle/>
          <a:p>
            <a:pPr marL="0" indent="0">
              <a:buNone/>
            </a:pPr>
            <a:r>
              <a:rPr lang="en-US" sz="2400" b="1" dirty="0">
                <a:solidFill>
                  <a:schemeClr val="tx1"/>
                </a:solidFill>
              </a:rPr>
              <a:t>Creatividad</a:t>
            </a:r>
            <a:endParaRPr lang="en-US" sz="2400" dirty="0"/>
          </a:p>
        </p:txBody>
      </p:sp>
      <p:sp>
        <p:nvSpPr>
          <p:cNvPr id="9" name="Text 6"/>
          <p:cNvSpPr txBox="1"/>
          <p:nvPr/>
        </p:nvSpPr>
        <p:spPr>
          <a:xfrm>
            <a:off x="868680" y="3383280"/>
            <a:ext cx="2814218" cy="822960"/>
          </a:xfrm>
          <a:prstGeom prst="rect">
            <a:avLst/>
          </a:prstGeom>
          <a:noFill/>
          <a:ln/>
        </p:spPr>
        <p:txBody>
          <a:bodyPr wrap="square" lIns="0" tIns="0" rIns="0" bIns="0" rtlCol="0" anchor="t"/>
          <a:lstStyle/>
          <a:p>
            <a:pPr marL="0" indent="0">
              <a:buNone/>
            </a:pPr>
            <a:r>
              <a:rPr lang="en-US" sz="1800" dirty="0">
                <a:solidFill>
                  <a:schemeClr val="tx1"/>
                </a:solidFill>
              </a:rPr>
              <a:t>Producir ideas nuevas y útiles.</a:t>
            </a:r>
            <a:endParaRPr lang="en-US" sz="1800" dirty="0"/>
          </a:p>
        </p:txBody>
      </p:sp>
      <p:sp>
        <p:nvSpPr>
          <p:cNvPr id="10" name="Text 7"/>
          <p:cNvSpPr txBox="1"/>
          <p:nvPr/>
        </p:nvSpPr>
        <p:spPr>
          <a:xfrm>
            <a:off x="868680" y="4251960"/>
            <a:ext cx="2814218" cy="822960"/>
          </a:xfrm>
          <a:prstGeom prst="rect">
            <a:avLst/>
          </a:prstGeom>
          <a:noFill/>
          <a:ln/>
        </p:spPr>
        <p:txBody>
          <a:bodyPr wrap="square" lIns="0" tIns="0" rIns="0" bIns="0" rtlCol="0" anchor="t"/>
          <a:lstStyle/>
          <a:p>
            <a:pPr marL="0" indent="0">
              <a:buNone/>
            </a:pPr>
            <a:r>
              <a:rPr lang="en-US" sz="1500" b="1" i="1" dirty="0">
                <a:solidFill>
                  <a:schemeClr val="tx2"/>
                </a:solidFill>
              </a:rPr>
              <a:t>Ejemplo: </a:t>
            </a:r>
            <a:r>
              <a:rPr lang="en-US" sz="1500" i="1" dirty="0">
                <a:solidFill>
                  <a:schemeClr val="tx2"/>
                </a:solidFill>
              </a:rPr>
              <a:t>Imaginar nuevas formas de atender a los clientes.</a:t>
            </a:r>
            <a:endParaRPr lang="en-US" sz="1500" dirty="0"/>
          </a:p>
        </p:txBody>
      </p:sp>
      <p:sp>
        <p:nvSpPr>
          <p:cNvPr id="11" name="Tarjeta"/>
          <p:cNvSpPr/>
          <p:nvPr/>
        </p:nvSpPr>
        <p:spPr>
          <a:xfrm>
            <a:off x="4368698" y="1508760"/>
            <a:ext cx="3454298" cy="3749040"/>
          </a:xfrm>
          <a:prstGeom prst="roundRect">
            <a:avLst>
              <a:gd name="adj" fmla="val 3971"/>
            </a:avLst>
          </a:prstGeom>
          <a:solidFill>
            <a:schemeClr val="bg2"/>
          </a:solidFill>
          <a:ln/>
        </p:spPr>
      </p:sp>
      <p:sp>
        <p:nvSpPr>
          <p:cNvPr id="12" name="Innovación"/>
          <p:cNvSpPr/>
          <p:nvPr/>
        </p:nvSpPr>
        <p:spPr>
          <a:xfrm>
            <a:off x="4688738" y="1783080"/>
            <a:ext cx="914400" cy="914400"/>
          </a:xfrm>
          <a:prstGeom prst="ellipse">
            <a:avLst/>
          </a:prstGeom>
          <a:solidFill>
            <a:schemeClr val="accent3"/>
          </a:solidFill>
          <a:ln/>
        </p:spPr>
      </p:sp>
      <p:pic>
        <p:nvPicPr>
          <p:cNvPr id="13" name="Image 1" descr="Innovación"/>
          <p:cNvPicPr>
            <a:picLocks noChangeAspect="1"/>
          </p:cNvPicPr>
          <p:nvPr/>
        </p:nvPicPr>
        <p:blipFill>
          <a:blip r:embed="rId4"/>
          <a:stretch>
            <a:fillRect/>
          </a:stretch>
        </p:blipFill>
        <p:spPr>
          <a:xfrm>
            <a:off x="4908194" y="2002536"/>
            <a:ext cx="475488" cy="475488"/>
          </a:xfrm>
          <a:prstGeom prst="rect">
            <a:avLst/>
          </a:prstGeom>
        </p:spPr>
      </p:pic>
      <p:sp>
        <p:nvSpPr>
          <p:cNvPr id="14" name="Text 10"/>
          <p:cNvSpPr txBox="1"/>
          <p:nvPr/>
        </p:nvSpPr>
        <p:spPr>
          <a:xfrm>
            <a:off x="4688738" y="2834640"/>
            <a:ext cx="2814218" cy="502920"/>
          </a:xfrm>
          <a:prstGeom prst="rect">
            <a:avLst/>
          </a:prstGeom>
          <a:noFill/>
          <a:ln/>
        </p:spPr>
        <p:txBody>
          <a:bodyPr wrap="square" lIns="0" tIns="0" rIns="0" bIns="0" rtlCol="0" anchor="ctr"/>
          <a:lstStyle/>
          <a:p>
            <a:pPr marL="0" indent="0">
              <a:buNone/>
            </a:pPr>
            <a:r>
              <a:rPr lang="en-US" sz="2400" b="1" dirty="0">
                <a:solidFill>
                  <a:schemeClr val="tx1"/>
                </a:solidFill>
              </a:rPr>
              <a:t>Innovación</a:t>
            </a:r>
            <a:endParaRPr lang="en-US" sz="2400" dirty="0"/>
          </a:p>
        </p:txBody>
      </p:sp>
      <p:sp>
        <p:nvSpPr>
          <p:cNvPr id="15" name="Text 11"/>
          <p:cNvSpPr txBox="1"/>
          <p:nvPr/>
        </p:nvSpPr>
        <p:spPr>
          <a:xfrm>
            <a:off x="4688738" y="3383280"/>
            <a:ext cx="2814218" cy="822960"/>
          </a:xfrm>
          <a:prstGeom prst="rect">
            <a:avLst/>
          </a:prstGeom>
          <a:noFill/>
          <a:ln/>
        </p:spPr>
        <p:txBody>
          <a:bodyPr wrap="square" lIns="0" tIns="0" rIns="0" bIns="0" rtlCol="0" anchor="t"/>
          <a:lstStyle/>
          <a:p>
            <a:pPr marL="0" indent="0">
              <a:buNone/>
            </a:pPr>
            <a:r>
              <a:rPr lang="en-US" sz="1800" dirty="0">
                <a:solidFill>
                  <a:schemeClr val="tx1"/>
                </a:solidFill>
              </a:rPr>
              <a:t>Poner en práctica una mejora que aporta valor.</a:t>
            </a:r>
            <a:endParaRPr lang="en-US" sz="1800" dirty="0"/>
          </a:p>
        </p:txBody>
      </p:sp>
      <p:sp>
        <p:nvSpPr>
          <p:cNvPr id="16" name="Text 12"/>
          <p:cNvSpPr txBox="1"/>
          <p:nvPr/>
        </p:nvSpPr>
        <p:spPr>
          <a:xfrm>
            <a:off x="4688738" y="4251960"/>
            <a:ext cx="2814218" cy="822960"/>
          </a:xfrm>
          <a:prstGeom prst="rect">
            <a:avLst/>
          </a:prstGeom>
          <a:noFill/>
          <a:ln/>
        </p:spPr>
        <p:txBody>
          <a:bodyPr wrap="square" lIns="0" tIns="0" rIns="0" bIns="0" rtlCol="0" anchor="t"/>
          <a:lstStyle/>
          <a:p>
            <a:pPr marL="0" indent="0">
              <a:buNone/>
            </a:pPr>
            <a:r>
              <a:rPr lang="en-US" sz="1500" b="1" i="1" dirty="0">
                <a:solidFill>
                  <a:schemeClr val="tx2"/>
                </a:solidFill>
              </a:rPr>
              <a:t>Ejemplo: </a:t>
            </a:r>
            <a:r>
              <a:rPr lang="en-US" sz="1500" i="1" dirty="0">
                <a:solidFill>
                  <a:schemeClr val="tx2"/>
                </a:solidFill>
              </a:rPr>
              <a:t>Implantar la cita previa para reducir esperas.</a:t>
            </a:r>
            <a:endParaRPr lang="en-US" sz="1500" dirty="0"/>
          </a:p>
        </p:txBody>
      </p:sp>
      <p:sp>
        <p:nvSpPr>
          <p:cNvPr id="17" name="Tarjeta"/>
          <p:cNvSpPr/>
          <p:nvPr/>
        </p:nvSpPr>
        <p:spPr>
          <a:xfrm>
            <a:off x="8188757" y="1508760"/>
            <a:ext cx="3454298" cy="3749040"/>
          </a:xfrm>
          <a:prstGeom prst="roundRect">
            <a:avLst>
              <a:gd name="adj" fmla="val 3971"/>
            </a:avLst>
          </a:prstGeom>
          <a:solidFill>
            <a:schemeClr val="bg2"/>
          </a:solidFill>
          <a:ln/>
        </p:spPr>
      </p:sp>
      <p:sp>
        <p:nvSpPr>
          <p:cNvPr id="18" name="Competencia digital"/>
          <p:cNvSpPr/>
          <p:nvPr/>
        </p:nvSpPr>
        <p:spPr>
          <a:xfrm>
            <a:off x="8508797" y="1783080"/>
            <a:ext cx="914400" cy="914400"/>
          </a:xfrm>
          <a:prstGeom prst="ellipse">
            <a:avLst/>
          </a:prstGeom>
          <a:solidFill>
            <a:schemeClr val="accent4"/>
          </a:solidFill>
          <a:ln/>
        </p:spPr>
      </p:sp>
      <p:pic>
        <p:nvPicPr>
          <p:cNvPr id="19" name="Image 2" descr="Competencia digital"/>
          <p:cNvPicPr>
            <a:picLocks noChangeAspect="1"/>
          </p:cNvPicPr>
          <p:nvPr/>
        </p:nvPicPr>
        <p:blipFill>
          <a:blip r:embed="rId5"/>
          <a:stretch>
            <a:fillRect/>
          </a:stretch>
        </p:blipFill>
        <p:spPr>
          <a:xfrm>
            <a:off x="8728253" y="2002536"/>
            <a:ext cx="475488" cy="475488"/>
          </a:xfrm>
          <a:prstGeom prst="rect">
            <a:avLst/>
          </a:prstGeom>
        </p:spPr>
      </p:pic>
      <p:sp>
        <p:nvSpPr>
          <p:cNvPr id="20" name="Text 15"/>
          <p:cNvSpPr txBox="1"/>
          <p:nvPr/>
        </p:nvSpPr>
        <p:spPr>
          <a:xfrm>
            <a:off x="8508797" y="2834640"/>
            <a:ext cx="2814218" cy="502920"/>
          </a:xfrm>
          <a:prstGeom prst="rect">
            <a:avLst/>
          </a:prstGeom>
          <a:noFill/>
          <a:ln/>
        </p:spPr>
        <p:txBody>
          <a:bodyPr wrap="square" lIns="0" tIns="0" rIns="0" bIns="0" rtlCol="0" anchor="ctr"/>
          <a:lstStyle/>
          <a:p>
            <a:pPr marL="0" indent="0">
              <a:buNone/>
            </a:pPr>
            <a:r>
              <a:rPr lang="en-US" sz="2400" b="1" dirty="0">
                <a:solidFill>
                  <a:schemeClr val="tx1"/>
                </a:solidFill>
              </a:rPr>
              <a:t>Competencia digital</a:t>
            </a:r>
            <a:endParaRPr lang="en-US" sz="2400" dirty="0"/>
          </a:p>
        </p:txBody>
      </p:sp>
      <p:sp>
        <p:nvSpPr>
          <p:cNvPr id="21" name="Text 16"/>
          <p:cNvSpPr txBox="1"/>
          <p:nvPr/>
        </p:nvSpPr>
        <p:spPr>
          <a:xfrm>
            <a:off x="8508797" y="3383280"/>
            <a:ext cx="2814218" cy="822960"/>
          </a:xfrm>
          <a:prstGeom prst="rect">
            <a:avLst/>
          </a:prstGeom>
          <a:noFill/>
          <a:ln/>
        </p:spPr>
        <p:txBody>
          <a:bodyPr wrap="square" lIns="0" tIns="0" rIns="0" bIns="0" rtlCol="0" anchor="t"/>
          <a:lstStyle/>
          <a:p>
            <a:pPr marL="0" indent="0">
              <a:buNone/>
            </a:pPr>
            <a:r>
              <a:rPr lang="en-US" sz="1800" dirty="0">
                <a:solidFill>
                  <a:schemeClr val="tx1"/>
                </a:solidFill>
              </a:rPr>
              <a:t>Emplear la tecnología para realizar tareas.</a:t>
            </a:r>
            <a:endParaRPr lang="en-US" sz="1800" dirty="0"/>
          </a:p>
        </p:txBody>
      </p:sp>
      <p:sp>
        <p:nvSpPr>
          <p:cNvPr id="22" name="Text 17"/>
          <p:cNvSpPr txBox="1"/>
          <p:nvPr/>
        </p:nvSpPr>
        <p:spPr>
          <a:xfrm>
            <a:off x="8508797" y="4251960"/>
            <a:ext cx="2814218" cy="822960"/>
          </a:xfrm>
          <a:prstGeom prst="rect">
            <a:avLst/>
          </a:prstGeom>
          <a:noFill/>
          <a:ln/>
        </p:spPr>
        <p:txBody>
          <a:bodyPr wrap="square" lIns="0" tIns="0" rIns="0" bIns="0" rtlCol="0" anchor="t"/>
          <a:lstStyle/>
          <a:p>
            <a:pPr marL="0" indent="0">
              <a:buNone/>
            </a:pPr>
            <a:r>
              <a:rPr lang="en-US" sz="1500" b="1" i="1" dirty="0">
                <a:solidFill>
                  <a:schemeClr val="tx2"/>
                </a:solidFill>
              </a:rPr>
              <a:t>Ejemplo: </a:t>
            </a:r>
            <a:r>
              <a:rPr lang="en-US" sz="1500" i="1" dirty="0">
                <a:solidFill>
                  <a:schemeClr val="tx2"/>
                </a:solidFill>
              </a:rPr>
              <a:t>Usar una hoja de cálculo para organizar turnos.</a:t>
            </a:r>
            <a:endParaRPr lang="en-US" sz="1500" dirty="0"/>
          </a:p>
        </p:txBody>
      </p:sp>
      <p:sp>
        <p:nvSpPr>
          <p:cNvPr id="23" name="Text 18"/>
          <p:cNvSpPr txBox="1"/>
          <p:nvPr/>
        </p:nvSpPr>
        <p:spPr>
          <a:xfrm>
            <a:off x="548640" y="5532120"/>
            <a:ext cx="11094415" cy="502920"/>
          </a:xfrm>
          <a:prstGeom prst="rect">
            <a:avLst/>
          </a:prstGeom>
          <a:noFill/>
          <a:ln/>
        </p:spPr>
        <p:txBody>
          <a:bodyPr wrap="square" lIns="0" tIns="0" rIns="0" bIns="0" rtlCol="0" anchor="ctr"/>
          <a:lstStyle/>
          <a:p>
            <a:pPr marL="0" indent="0">
              <a:buNone/>
            </a:pPr>
            <a:r>
              <a:rPr lang="en-US" sz="1900" b="1" dirty="0">
                <a:solidFill>
                  <a:schemeClr val="tx1"/>
                </a:solidFill>
              </a:rPr>
              <a:t>La creatividad no es solo arte: también es mejorar tareas y procesos de trabajo.</a:t>
            </a:r>
            <a:endParaRPr lang="en-US" sz="19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Actividad: ¿qué es cada situación?</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5" name="Text 3"/>
          <p:cNvSpPr txBox="1"/>
          <p:nvPr/>
        </p:nvSpPr>
        <p:spPr>
          <a:xfrm>
            <a:off x="548640" y="1417320"/>
            <a:ext cx="9144000" cy="502920"/>
          </a:xfrm>
          <a:prstGeom prst="rect">
            <a:avLst/>
          </a:prstGeom>
          <a:noFill/>
          <a:ln/>
        </p:spPr>
        <p:txBody>
          <a:bodyPr wrap="square" lIns="0" tIns="0" rIns="0" bIns="0" rtlCol="0" anchor="ctr"/>
          <a:lstStyle/>
          <a:p>
            <a:pPr marL="0" indent="0">
              <a:buNone/>
            </a:pPr>
            <a:r>
              <a:rPr lang="en-US" sz="2200" dirty="0">
                <a:solidFill>
                  <a:schemeClr val="tx1"/>
                </a:solidFill>
              </a:rPr>
              <a:t>Os leeré seis situaciones. Votad con los dedos:</a:t>
            </a:r>
            <a:endParaRPr lang="en-US" sz="2200" dirty="0"/>
          </a:p>
        </p:txBody>
      </p:sp>
      <p:sp>
        <p:nvSpPr>
          <p:cNvPr id="6" name="Tarjeta"/>
          <p:cNvSpPr/>
          <p:nvPr/>
        </p:nvSpPr>
        <p:spPr>
          <a:xfrm>
            <a:off x="548640" y="2194560"/>
            <a:ext cx="3454298" cy="2834640"/>
          </a:xfrm>
          <a:prstGeom prst="roundRect">
            <a:avLst>
              <a:gd name="adj" fmla="val 4839"/>
            </a:avLst>
          </a:prstGeom>
          <a:solidFill>
            <a:schemeClr val="bg2"/>
          </a:solidFill>
          <a:ln/>
        </p:spPr>
      </p:sp>
      <p:sp>
        <p:nvSpPr>
          <p:cNvPr id="7" name="Opción 1"/>
          <p:cNvSpPr/>
          <p:nvPr/>
        </p:nvSpPr>
        <p:spPr>
          <a:xfrm>
            <a:off x="1498549" y="2423160"/>
            <a:ext cx="1554480" cy="1554480"/>
          </a:xfrm>
          <a:prstGeom prst="ellipse">
            <a:avLst/>
          </a:prstGeom>
          <a:solidFill>
            <a:schemeClr val="accent1"/>
          </a:solidFill>
          <a:ln/>
        </p:spPr>
      </p:sp>
      <p:sp>
        <p:nvSpPr>
          <p:cNvPr id="8" name="Text 6"/>
          <p:cNvSpPr txBox="1"/>
          <p:nvPr/>
        </p:nvSpPr>
        <p:spPr>
          <a:xfrm>
            <a:off x="1498549" y="2423160"/>
            <a:ext cx="1554480" cy="1554480"/>
          </a:xfrm>
          <a:prstGeom prst="rect">
            <a:avLst/>
          </a:prstGeom>
          <a:noFill/>
          <a:ln/>
        </p:spPr>
        <p:txBody>
          <a:bodyPr wrap="square" lIns="0" tIns="0" rIns="0" bIns="0" rtlCol="0" anchor="ctr"/>
          <a:lstStyle/>
          <a:p>
            <a:pPr marL="0" indent="0" algn="ctr">
              <a:buNone/>
            </a:pPr>
            <a:r>
              <a:rPr lang="en-US" sz="6600" b="1" dirty="0">
                <a:solidFill>
                  <a:schemeClr val="tx1"/>
                </a:solidFill>
              </a:rPr>
              <a:t>1</a:t>
            </a:r>
            <a:endParaRPr lang="en-US" sz="6600" dirty="0"/>
          </a:p>
        </p:txBody>
      </p:sp>
      <p:sp>
        <p:nvSpPr>
          <p:cNvPr id="9" name="Text 7"/>
          <p:cNvSpPr txBox="1"/>
          <p:nvPr/>
        </p:nvSpPr>
        <p:spPr>
          <a:xfrm>
            <a:off x="731520" y="4160520"/>
            <a:ext cx="3088538" cy="640080"/>
          </a:xfrm>
          <a:prstGeom prst="rect">
            <a:avLst/>
          </a:prstGeom>
          <a:noFill/>
          <a:ln/>
        </p:spPr>
        <p:txBody>
          <a:bodyPr wrap="square" lIns="0" tIns="0" rIns="0" bIns="0" rtlCol="0" anchor="ctr"/>
          <a:lstStyle/>
          <a:p>
            <a:pPr marL="0" indent="0" algn="ctr">
              <a:buNone/>
            </a:pPr>
            <a:r>
              <a:rPr lang="en-US" sz="2400" b="1" dirty="0">
                <a:solidFill>
                  <a:schemeClr val="tx1"/>
                </a:solidFill>
              </a:rPr>
              <a:t>Creatividad</a:t>
            </a:r>
            <a:endParaRPr lang="en-US" sz="2400" dirty="0"/>
          </a:p>
        </p:txBody>
      </p:sp>
      <p:sp>
        <p:nvSpPr>
          <p:cNvPr id="10" name="Tarjeta"/>
          <p:cNvSpPr/>
          <p:nvPr/>
        </p:nvSpPr>
        <p:spPr>
          <a:xfrm>
            <a:off x="4368698" y="2194560"/>
            <a:ext cx="3454298" cy="2834640"/>
          </a:xfrm>
          <a:prstGeom prst="roundRect">
            <a:avLst>
              <a:gd name="adj" fmla="val 4839"/>
            </a:avLst>
          </a:prstGeom>
          <a:solidFill>
            <a:schemeClr val="bg2"/>
          </a:solidFill>
          <a:ln/>
        </p:spPr>
      </p:sp>
      <p:sp>
        <p:nvSpPr>
          <p:cNvPr id="11" name="Opción 2"/>
          <p:cNvSpPr/>
          <p:nvPr/>
        </p:nvSpPr>
        <p:spPr>
          <a:xfrm>
            <a:off x="5318608" y="2423160"/>
            <a:ext cx="1554480" cy="1554480"/>
          </a:xfrm>
          <a:prstGeom prst="ellipse">
            <a:avLst/>
          </a:prstGeom>
          <a:solidFill>
            <a:schemeClr val="accent3"/>
          </a:solidFill>
          <a:ln/>
        </p:spPr>
      </p:sp>
      <p:sp>
        <p:nvSpPr>
          <p:cNvPr id="12" name="Text 10"/>
          <p:cNvSpPr txBox="1"/>
          <p:nvPr/>
        </p:nvSpPr>
        <p:spPr>
          <a:xfrm>
            <a:off x="5318608" y="2423160"/>
            <a:ext cx="1554480" cy="1554480"/>
          </a:xfrm>
          <a:prstGeom prst="rect">
            <a:avLst/>
          </a:prstGeom>
          <a:noFill/>
          <a:ln/>
        </p:spPr>
        <p:txBody>
          <a:bodyPr wrap="square" lIns="0" tIns="0" rIns="0" bIns="0" rtlCol="0" anchor="ctr"/>
          <a:lstStyle/>
          <a:p>
            <a:pPr marL="0" indent="0" algn="ctr">
              <a:buNone/>
            </a:pPr>
            <a:r>
              <a:rPr lang="en-US" sz="6600" b="1" dirty="0">
                <a:solidFill>
                  <a:schemeClr val="bg1"/>
                </a:solidFill>
              </a:rPr>
              <a:t>2</a:t>
            </a:r>
            <a:endParaRPr lang="en-US" sz="6600" dirty="0"/>
          </a:p>
        </p:txBody>
      </p:sp>
      <p:sp>
        <p:nvSpPr>
          <p:cNvPr id="13" name="Text 11"/>
          <p:cNvSpPr txBox="1"/>
          <p:nvPr/>
        </p:nvSpPr>
        <p:spPr>
          <a:xfrm>
            <a:off x="4551578" y="4160520"/>
            <a:ext cx="3088538" cy="640080"/>
          </a:xfrm>
          <a:prstGeom prst="rect">
            <a:avLst/>
          </a:prstGeom>
          <a:noFill/>
          <a:ln/>
        </p:spPr>
        <p:txBody>
          <a:bodyPr wrap="square" lIns="0" tIns="0" rIns="0" bIns="0" rtlCol="0" anchor="ctr"/>
          <a:lstStyle/>
          <a:p>
            <a:pPr marL="0" indent="0" algn="ctr">
              <a:buNone/>
            </a:pPr>
            <a:r>
              <a:rPr lang="en-US" sz="2400" b="1" dirty="0">
                <a:solidFill>
                  <a:schemeClr val="tx1"/>
                </a:solidFill>
              </a:rPr>
              <a:t>Innovación</a:t>
            </a:r>
            <a:endParaRPr lang="en-US" sz="2400" dirty="0"/>
          </a:p>
        </p:txBody>
      </p:sp>
      <p:sp>
        <p:nvSpPr>
          <p:cNvPr id="14" name="Tarjeta"/>
          <p:cNvSpPr/>
          <p:nvPr/>
        </p:nvSpPr>
        <p:spPr>
          <a:xfrm>
            <a:off x="8188757" y="2194560"/>
            <a:ext cx="3454298" cy="2834640"/>
          </a:xfrm>
          <a:prstGeom prst="roundRect">
            <a:avLst>
              <a:gd name="adj" fmla="val 4839"/>
            </a:avLst>
          </a:prstGeom>
          <a:solidFill>
            <a:schemeClr val="bg2"/>
          </a:solidFill>
          <a:ln/>
        </p:spPr>
      </p:sp>
      <p:sp>
        <p:nvSpPr>
          <p:cNvPr id="15" name="Opción 3"/>
          <p:cNvSpPr/>
          <p:nvPr/>
        </p:nvSpPr>
        <p:spPr>
          <a:xfrm>
            <a:off x="9138666" y="2423160"/>
            <a:ext cx="1554480" cy="1554480"/>
          </a:xfrm>
          <a:prstGeom prst="ellipse">
            <a:avLst/>
          </a:prstGeom>
          <a:solidFill>
            <a:schemeClr val="accent4"/>
          </a:solidFill>
          <a:ln/>
        </p:spPr>
      </p:sp>
      <p:sp>
        <p:nvSpPr>
          <p:cNvPr id="16" name="Text 14"/>
          <p:cNvSpPr txBox="1"/>
          <p:nvPr/>
        </p:nvSpPr>
        <p:spPr>
          <a:xfrm>
            <a:off x="9138666" y="2423160"/>
            <a:ext cx="1554480" cy="1554480"/>
          </a:xfrm>
          <a:prstGeom prst="rect">
            <a:avLst/>
          </a:prstGeom>
          <a:noFill/>
          <a:ln/>
        </p:spPr>
        <p:txBody>
          <a:bodyPr wrap="square" lIns="0" tIns="0" rIns="0" bIns="0" rtlCol="0" anchor="ctr"/>
          <a:lstStyle/>
          <a:p>
            <a:pPr marL="0" indent="0" algn="ctr">
              <a:buNone/>
            </a:pPr>
            <a:r>
              <a:rPr lang="en-US" sz="6600" b="1" dirty="0">
                <a:solidFill>
                  <a:schemeClr val="bg1"/>
                </a:solidFill>
              </a:rPr>
              <a:t>3</a:t>
            </a:r>
            <a:endParaRPr lang="en-US" sz="6600" dirty="0"/>
          </a:p>
        </p:txBody>
      </p:sp>
      <p:sp>
        <p:nvSpPr>
          <p:cNvPr id="17" name="Text 15"/>
          <p:cNvSpPr txBox="1"/>
          <p:nvPr/>
        </p:nvSpPr>
        <p:spPr>
          <a:xfrm>
            <a:off x="8371637" y="4160520"/>
            <a:ext cx="3088538" cy="640080"/>
          </a:xfrm>
          <a:prstGeom prst="rect">
            <a:avLst/>
          </a:prstGeom>
          <a:noFill/>
          <a:ln/>
        </p:spPr>
        <p:txBody>
          <a:bodyPr wrap="square" lIns="0" tIns="0" rIns="0" bIns="0" rtlCol="0" anchor="ctr"/>
          <a:lstStyle/>
          <a:p>
            <a:pPr marL="0" indent="0" algn="ctr">
              <a:buNone/>
            </a:pPr>
            <a:r>
              <a:rPr lang="en-US" sz="2400" b="1" dirty="0">
                <a:solidFill>
                  <a:schemeClr val="tx1"/>
                </a:solidFill>
              </a:rPr>
              <a:t>Competencia digital</a:t>
            </a:r>
            <a:endParaRPr lang="en-US" sz="2400" dirty="0"/>
          </a:p>
        </p:txBody>
      </p:sp>
      <p:sp>
        <p:nvSpPr>
          <p:cNvPr id="18" name="Votación"/>
          <p:cNvSpPr/>
          <p:nvPr/>
        </p:nvSpPr>
        <p:spPr>
          <a:xfrm>
            <a:off x="548640" y="5349240"/>
            <a:ext cx="548640" cy="548640"/>
          </a:xfrm>
          <a:prstGeom prst="ellipse">
            <a:avLst/>
          </a:prstGeom>
          <a:solidFill>
            <a:schemeClr val="tx2"/>
          </a:solidFill>
          <a:ln/>
        </p:spPr>
      </p:sp>
      <p:pic>
        <p:nvPicPr>
          <p:cNvPr id="19" name="Image 0" descr="Votación"/>
          <p:cNvPicPr>
            <a:picLocks noChangeAspect="1"/>
          </p:cNvPicPr>
          <p:nvPr/>
        </p:nvPicPr>
        <p:blipFill>
          <a:blip r:embed="rId3"/>
          <a:stretch>
            <a:fillRect/>
          </a:stretch>
        </p:blipFill>
        <p:spPr>
          <a:xfrm>
            <a:off x="680314" y="5480914"/>
            <a:ext cx="285293" cy="285293"/>
          </a:xfrm>
          <a:prstGeom prst="rect">
            <a:avLst/>
          </a:prstGeom>
        </p:spPr>
      </p:pic>
      <p:sp>
        <p:nvSpPr>
          <p:cNvPr id="20" name="Text 17"/>
          <p:cNvSpPr txBox="1"/>
          <p:nvPr/>
        </p:nvSpPr>
        <p:spPr>
          <a:xfrm>
            <a:off x="1280160" y="5349240"/>
            <a:ext cx="10058400" cy="548640"/>
          </a:xfrm>
          <a:prstGeom prst="rect">
            <a:avLst/>
          </a:prstGeom>
          <a:noFill/>
          <a:ln/>
        </p:spPr>
        <p:txBody>
          <a:bodyPr wrap="square" lIns="0" tIns="0" rIns="0" bIns="0" rtlCol="0" anchor="ctr"/>
          <a:lstStyle/>
          <a:p>
            <a:pPr marL="0" indent="0">
              <a:buNone/>
            </a:pPr>
            <a:r>
              <a:rPr lang="en-US" sz="1800" dirty="0">
                <a:solidFill>
                  <a:schemeClr val="tx1"/>
                </a:solidFill>
              </a:rPr>
              <a:t>Si hay votos repartidos, una persona de cada opción explica por qué.</a:t>
            </a:r>
            <a:endParaRPr lang="en-US" sz="18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Situación 1 de 6</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5" name="Tarjeta"/>
          <p:cNvSpPr/>
          <p:nvPr/>
        </p:nvSpPr>
        <p:spPr>
          <a:xfrm>
            <a:off x="548640" y="1554480"/>
            <a:ext cx="11094415" cy="2651760"/>
          </a:xfrm>
          <a:prstGeom prst="roundRect">
            <a:avLst>
              <a:gd name="adj" fmla="val 5172"/>
            </a:avLst>
          </a:prstGeom>
          <a:solidFill>
            <a:schemeClr val="bg2"/>
          </a:solidFill>
          <a:ln/>
        </p:spPr>
      </p:sp>
      <p:sp>
        <p:nvSpPr>
          <p:cNvPr id="6" name="Situación"/>
          <p:cNvSpPr/>
          <p:nvPr/>
        </p:nvSpPr>
        <p:spPr>
          <a:xfrm>
            <a:off x="960120" y="2194560"/>
            <a:ext cx="1371600" cy="1371600"/>
          </a:xfrm>
          <a:prstGeom prst="ellipse">
            <a:avLst/>
          </a:prstGeom>
          <a:solidFill>
            <a:schemeClr val="tx2"/>
          </a:solidFill>
          <a:ln/>
        </p:spPr>
      </p:sp>
      <p:pic>
        <p:nvPicPr>
          <p:cNvPr id="7" name="Image 0" descr="Situación"/>
          <p:cNvPicPr>
            <a:picLocks noChangeAspect="1"/>
          </p:cNvPicPr>
          <p:nvPr/>
        </p:nvPicPr>
        <p:blipFill>
          <a:blip r:embed="rId3"/>
          <a:stretch>
            <a:fillRect/>
          </a:stretch>
        </p:blipFill>
        <p:spPr>
          <a:xfrm>
            <a:off x="1289304" y="2523744"/>
            <a:ext cx="713232" cy="713232"/>
          </a:xfrm>
          <a:prstGeom prst="rect">
            <a:avLst/>
          </a:prstGeom>
        </p:spPr>
      </p:pic>
      <p:sp>
        <p:nvSpPr>
          <p:cNvPr id="8" name="Text 5"/>
          <p:cNvSpPr txBox="1"/>
          <p:nvPr/>
        </p:nvSpPr>
        <p:spPr>
          <a:xfrm>
            <a:off x="2697480" y="1554480"/>
            <a:ext cx="8579815" cy="2651760"/>
          </a:xfrm>
          <a:prstGeom prst="rect">
            <a:avLst/>
          </a:prstGeom>
          <a:noFill/>
          <a:ln/>
        </p:spPr>
        <p:txBody>
          <a:bodyPr wrap="square" lIns="0" tIns="0" rIns="0" bIns="0" rtlCol="0" anchor="ctr"/>
          <a:lstStyle/>
          <a:p>
            <a:pPr marL="0" indent="0">
              <a:buNone/>
            </a:pPr>
            <a:r>
              <a:rPr lang="en-US" sz="3000" dirty="0">
                <a:solidFill>
                  <a:schemeClr val="tx1"/>
                </a:solidFill>
              </a:rPr>
              <a:t>Una dependienta propone en una reunión que los clientes puedan reservar por WhatsApp.</a:t>
            </a:r>
            <a:endParaRPr lang="en-US" sz="3000" dirty="0"/>
          </a:p>
        </p:txBody>
      </p:sp>
      <p:sp>
        <p:nvSpPr>
          <p:cNvPr id="9" name="Opción 1"/>
          <p:cNvSpPr/>
          <p:nvPr/>
        </p:nvSpPr>
        <p:spPr>
          <a:xfrm>
            <a:off x="548640" y="4709160"/>
            <a:ext cx="731520" cy="731520"/>
          </a:xfrm>
          <a:prstGeom prst="ellipse">
            <a:avLst/>
          </a:prstGeom>
          <a:solidFill>
            <a:schemeClr val="accent1"/>
          </a:solidFill>
          <a:ln/>
        </p:spPr>
      </p:sp>
      <p:sp>
        <p:nvSpPr>
          <p:cNvPr id="10" name="Text 7"/>
          <p:cNvSpPr txBox="1"/>
          <p:nvPr/>
        </p:nvSpPr>
        <p:spPr>
          <a:xfrm>
            <a:off x="548640" y="4709160"/>
            <a:ext cx="731520" cy="731520"/>
          </a:xfrm>
          <a:prstGeom prst="rect">
            <a:avLst/>
          </a:prstGeom>
          <a:noFill/>
          <a:ln/>
        </p:spPr>
        <p:txBody>
          <a:bodyPr wrap="square" lIns="0" tIns="0" rIns="0" bIns="0" rtlCol="0" anchor="ctr"/>
          <a:lstStyle/>
          <a:p>
            <a:pPr marL="0" indent="0" algn="ctr">
              <a:buNone/>
            </a:pPr>
            <a:r>
              <a:rPr lang="en-US" sz="2800" b="1" dirty="0">
                <a:solidFill>
                  <a:schemeClr val="tx1"/>
                </a:solidFill>
              </a:rPr>
              <a:t>1</a:t>
            </a:r>
            <a:endParaRPr lang="en-US" sz="2800" dirty="0"/>
          </a:p>
        </p:txBody>
      </p:sp>
      <p:sp>
        <p:nvSpPr>
          <p:cNvPr id="11" name="Text 8"/>
          <p:cNvSpPr txBox="1"/>
          <p:nvPr/>
        </p:nvSpPr>
        <p:spPr>
          <a:xfrm>
            <a:off x="14173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Creatividad</a:t>
            </a:r>
            <a:endParaRPr lang="en-US" sz="2000" dirty="0"/>
          </a:p>
        </p:txBody>
      </p:sp>
      <p:sp>
        <p:nvSpPr>
          <p:cNvPr id="12" name="Opción 2"/>
          <p:cNvSpPr/>
          <p:nvPr/>
        </p:nvSpPr>
        <p:spPr>
          <a:xfrm>
            <a:off x="4206240" y="4709160"/>
            <a:ext cx="731520" cy="731520"/>
          </a:xfrm>
          <a:prstGeom prst="ellipse">
            <a:avLst/>
          </a:prstGeom>
          <a:solidFill>
            <a:schemeClr val="accent3"/>
          </a:solidFill>
          <a:ln/>
        </p:spPr>
      </p:sp>
      <p:sp>
        <p:nvSpPr>
          <p:cNvPr id="13" name="Text 10"/>
          <p:cNvSpPr txBox="1"/>
          <p:nvPr/>
        </p:nvSpPr>
        <p:spPr>
          <a:xfrm>
            <a:off x="42062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2</a:t>
            </a:r>
            <a:endParaRPr lang="en-US" sz="2800" dirty="0"/>
          </a:p>
        </p:txBody>
      </p:sp>
      <p:sp>
        <p:nvSpPr>
          <p:cNvPr id="14" name="Text 11"/>
          <p:cNvSpPr txBox="1"/>
          <p:nvPr/>
        </p:nvSpPr>
        <p:spPr>
          <a:xfrm>
            <a:off x="50749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Innovación</a:t>
            </a:r>
            <a:endParaRPr lang="en-US" sz="2000" dirty="0"/>
          </a:p>
        </p:txBody>
      </p:sp>
      <p:sp>
        <p:nvSpPr>
          <p:cNvPr id="15" name="Opción 3"/>
          <p:cNvSpPr/>
          <p:nvPr/>
        </p:nvSpPr>
        <p:spPr>
          <a:xfrm>
            <a:off x="7863840" y="4709160"/>
            <a:ext cx="731520" cy="731520"/>
          </a:xfrm>
          <a:prstGeom prst="ellipse">
            <a:avLst/>
          </a:prstGeom>
          <a:solidFill>
            <a:schemeClr val="accent4"/>
          </a:solidFill>
          <a:ln/>
        </p:spPr>
      </p:sp>
      <p:sp>
        <p:nvSpPr>
          <p:cNvPr id="16" name="Text 13"/>
          <p:cNvSpPr txBox="1"/>
          <p:nvPr/>
        </p:nvSpPr>
        <p:spPr>
          <a:xfrm>
            <a:off x="78638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3</a:t>
            </a:r>
            <a:endParaRPr lang="en-US" sz="2800" dirty="0"/>
          </a:p>
        </p:txBody>
      </p:sp>
      <p:sp>
        <p:nvSpPr>
          <p:cNvPr id="17" name="Text 14"/>
          <p:cNvSpPr txBox="1"/>
          <p:nvPr/>
        </p:nvSpPr>
        <p:spPr>
          <a:xfrm>
            <a:off x="87325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Competencia digital</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Situación 2 de 6</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5" name="Tarjeta"/>
          <p:cNvSpPr/>
          <p:nvPr/>
        </p:nvSpPr>
        <p:spPr>
          <a:xfrm>
            <a:off x="548640" y="1554480"/>
            <a:ext cx="11094415" cy="2651760"/>
          </a:xfrm>
          <a:prstGeom prst="roundRect">
            <a:avLst>
              <a:gd name="adj" fmla="val 5172"/>
            </a:avLst>
          </a:prstGeom>
          <a:solidFill>
            <a:schemeClr val="bg2"/>
          </a:solidFill>
          <a:ln/>
        </p:spPr>
      </p:sp>
      <p:sp>
        <p:nvSpPr>
          <p:cNvPr id="6" name="Situación"/>
          <p:cNvSpPr/>
          <p:nvPr/>
        </p:nvSpPr>
        <p:spPr>
          <a:xfrm>
            <a:off x="960120" y="2194560"/>
            <a:ext cx="1371600" cy="1371600"/>
          </a:xfrm>
          <a:prstGeom prst="ellipse">
            <a:avLst/>
          </a:prstGeom>
          <a:solidFill>
            <a:schemeClr val="tx2"/>
          </a:solidFill>
          <a:ln/>
        </p:spPr>
      </p:sp>
      <p:pic>
        <p:nvPicPr>
          <p:cNvPr id="7" name="Image 0" descr="Situación"/>
          <p:cNvPicPr>
            <a:picLocks noChangeAspect="1"/>
          </p:cNvPicPr>
          <p:nvPr/>
        </p:nvPicPr>
        <p:blipFill>
          <a:blip r:embed="rId3"/>
          <a:stretch>
            <a:fillRect/>
          </a:stretch>
        </p:blipFill>
        <p:spPr>
          <a:xfrm>
            <a:off x="1289304" y="2523744"/>
            <a:ext cx="713232" cy="713232"/>
          </a:xfrm>
          <a:prstGeom prst="rect">
            <a:avLst/>
          </a:prstGeom>
        </p:spPr>
      </p:pic>
      <p:sp>
        <p:nvSpPr>
          <p:cNvPr id="8" name="Text 5"/>
          <p:cNvSpPr txBox="1"/>
          <p:nvPr/>
        </p:nvSpPr>
        <p:spPr>
          <a:xfrm>
            <a:off x="2697480" y="1554480"/>
            <a:ext cx="8579815" cy="2651760"/>
          </a:xfrm>
          <a:prstGeom prst="rect">
            <a:avLst/>
          </a:prstGeom>
          <a:noFill/>
          <a:ln/>
        </p:spPr>
        <p:txBody>
          <a:bodyPr wrap="square" lIns="0" tIns="0" rIns="0" bIns="0" rtlCol="0" anchor="ctr"/>
          <a:lstStyle/>
          <a:p>
            <a:pPr marL="0" indent="0">
              <a:buNone/>
            </a:pPr>
            <a:r>
              <a:rPr lang="en-US" sz="3000" dirty="0">
                <a:solidFill>
                  <a:schemeClr val="tx1"/>
                </a:solidFill>
              </a:rPr>
              <a:t>La tienda pone en marcha las reservas por WhatsApp y las esperas se reducen.</a:t>
            </a:r>
            <a:endParaRPr lang="en-US" sz="3000" dirty="0"/>
          </a:p>
        </p:txBody>
      </p:sp>
      <p:sp>
        <p:nvSpPr>
          <p:cNvPr id="9" name="Opción 1"/>
          <p:cNvSpPr/>
          <p:nvPr/>
        </p:nvSpPr>
        <p:spPr>
          <a:xfrm>
            <a:off x="548640" y="4709160"/>
            <a:ext cx="731520" cy="731520"/>
          </a:xfrm>
          <a:prstGeom prst="ellipse">
            <a:avLst/>
          </a:prstGeom>
          <a:solidFill>
            <a:schemeClr val="accent1"/>
          </a:solidFill>
          <a:ln/>
        </p:spPr>
      </p:sp>
      <p:sp>
        <p:nvSpPr>
          <p:cNvPr id="10" name="Text 7"/>
          <p:cNvSpPr txBox="1"/>
          <p:nvPr/>
        </p:nvSpPr>
        <p:spPr>
          <a:xfrm>
            <a:off x="548640" y="4709160"/>
            <a:ext cx="731520" cy="731520"/>
          </a:xfrm>
          <a:prstGeom prst="rect">
            <a:avLst/>
          </a:prstGeom>
          <a:noFill/>
          <a:ln/>
        </p:spPr>
        <p:txBody>
          <a:bodyPr wrap="square" lIns="0" tIns="0" rIns="0" bIns="0" rtlCol="0" anchor="ctr"/>
          <a:lstStyle/>
          <a:p>
            <a:pPr marL="0" indent="0" algn="ctr">
              <a:buNone/>
            </a:pPr>
            <a:r>
              <a:rPr lang="en-US" sz="2800" b="1" dirty="0">
                <a:solidFill>
                  <a:schemeClr val="tx1"/>
                </a:solidFill>
              </a:rPr>
              <a:t>1</a:t>
            </a:r>
            <a:endParaRPr lang="en-US" sz="2800" dirty="0"/>
          </a:p>
        </p:txBody>
      </p:sp>
      <p:sp>
        <p:nvSpPr>
          <p:cNvPr id="11" name="Text 8"/>
          <p:cNvSpPr txBox="1"/>
          <p:nvPr/>
        </p:nvSpPr>
        <p:spPr>
          <a:xfrm>
            <a:off x="14173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Creatividad</a:t>
            </a:r>
            <a:endParaRPr lang="en-US" sz="2000" dirty="0"/>
          </a:p>
        </p:txBody>
      </p:sp>
      <p:sp>
        <p:nvSpPr>
          <p:cNvPr id="12" name="Opción 2"/>
          <p:cNvSpPr/>
          <p:nvPr/>
        </p:nvSpPr>
        <p:spPr>
          <a:xfrm>
            <a:off x="4206240" y="4709160"/>
            <a:ext cx="731520" cy="731520"/>
          </a:xfrm>
          <a:prstGeom prst="ellipse">
            <a:avLst/>
          </a:prstGeom>
          <a:solidFill>
            <a:schemeClr val="accent3"/>
          </a:solidFill>
          <a:ln/>
        </p:spPr>
      </p:sp>
      <p:sp>
        <p:nvSpPr>
          <p:cNvPr id="13" name="Text 10"/>
          <p:cNvSpPr txBox="1"/>
          <p:nvPr/>
        </p:nvSpPr>
        <p:spPr>
          <a:xfrm>
            <a:off x="42062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2</a:t>
            </a:r>
            <a:endParaRPr lang="en-US" sz="2800" dirty="0"/>
          </a:p>
        </p:txBody>
      </p:sp>
      <p:sp>
        <p:nvSpPr>
          <p:cNvPr id="14" name="Text 11"/>
          <p:cNvSpPr txBox="1"/>
          <p:nvPr/>
        </p:nvSpPr>
        <p:spPr>
          <a:xfrm>
            <a:off x="50749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Innovación</a:t>
            </a:r>
            <a:endParaRPr lang="en-US" sz="2000" dirty="0"/>
          </a:p>
        </p:txBody>
      </p:sp>
      <p:sp>
        <p:nvSpPr>
          <p:cNvPr id="15" name="Opción 3"/>
          <p:cNvSpPr/>
          <p:nvPr/>
        </p:nvSpPr>
        <p:spPr>
          <a:xfrm>
            <a:off x="7863840" y="4709160"/>
            <a:ext cx="731520" cy="731520"/>
          </a:xfrm>
          <a:prstGeom prst="ellipse">
            <a:avLst/>
          </a:prstGeom>
          <a:solidFill>
            <a:schemeClr val="accent4"/>
          </a:solidFill>
          <a:ln/>
        </p:spPr>
      </p:sp>
      <p:sp>
        <p:nvSpPr>
          <p:cNvPr id="16" name="Text 13"/>
          <p:cNvSpPr txBox="1"/>
          <p:nvPr/>
        </p:nvSpPr>
        <p:spPr>
          <a:xfrm>
            <a:off x="78638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3</a:t>
            </a:r>
            <a:endParaRPr lang="en-US" sz="2800" dirty="0"/>
          </a:p>
        </p:txBody>
      </p:sp>
      <p:sp>
        <p:nvSpPr>
          <p:cNvPr id="17" name="Text 14"/>
          <p:cNvSpPr txBox="1"/>
          <p:nvPr/>
        </p:nvSpPr>
        <p:spPr>
          <a:xfrm>
            <a:off x="87325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Competencia digital</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Situación 3 de 6</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5" name="Tarjeta"/>
          <p:cNvSpPr/>
          <p:nvPr/>
        </p:nvSpPr>
        <p:spPr>
          <a:xfrm>
            <a:off x="548640" y="1554480"/>
            <a:ext cx="11094415" cy="2651760"/>
          </a:xfrm>
          <a:prstGeom prst="roundRect">
            <a:avLst>
              <a:gd name="adj" fmla="val 5172"/>
            </a:avLst>
          </a:prstGeom>
          <a:solidFill>
            <a:schemeClr val="bg2"/>
          </a:solidFill>
          <a:ln/>
        </p:spPr>
      </p:sp>
      <p:sp>
        <p:nvSpPr>
          <p:cNvPr id="6" name="Situación"/>
          <p:cNvSpPr/>
          <p:nvPr/>
        </p:nvSpPr>
        <p:spPr>
          <a:xfrm>
            <a:off x="960120" y="2194560"/>
            <a:ext cx="1371600" cy="1371600"/>
          </a:xfrm>
          <a:prstGeom prst="ellipse">
            <a:avLst/>
          </a:prstGeom>
          <a:solidFill>
            <a:schemeClr val="tx2"/>
          </a:solidFill>
          <a:ln/>
        </p:spPr>
      </p:sp>
      <p:pic>
        <p:nvPicPr>
          <p:cNvPr id="7" name="Image 0" descr="Situación"/>
          <p:cNvPicPr>
            <a:picLocks noChangeAspect="1"/>
          </p:cNvPicPr>
          <p:nvPr/>
        </p:nvPicPr>
        <p:blipFill>
          <a:blip r:embed="rId3"/>
          <a:stretch>
            <a:fillRect/>
          </a:stretch>
        </p:blipFill>
        <p:spPr>
          <a:xfrm>
            <a:off x="1289304" y="2523744"/>
            <a:ext cx="713232" cy="713232"/>
          </a:xfrm>
          <a:prstGeom prst="rect">
            <a:avLst/>
          </a:prstGeom>
        </p:spPr>
      </p:pic>
      <p:sp>
        <p:nvSpPr>
          <p:cNvPr id="8" name="Text 5"/>
          <p:cNvSpPr txBox="1"/>
          <p:nvPr/>
        </p:nvSpPr>
        <p:spPr>
          <a:xfrm>
            <a:off x="2697480" y="1554480"/>
            <a:ext cx="8579815" cy="2651760"/>
          </a:xfrm>
          <a:prstGeom prst="rect">
            <a:avLst/>
          </a:prstGeom>
          <a:noFill/>
          <a:ln/>
        </p:spPr>
        <p:txBody>
          <a:bodyPr wrap="square" lIns="0" tIns="0" rIns="0" bIns="0" rtlCol="0" anchor="ctr"/>
          <a:lstStyle/>
          <a:p>
            <a:pPr marL="0" indent="0">
              <a:buNone/>
            </a:pPr>
            <a:r>
              <a:rPr lang="en-US" sz="3000" dirty="0">
                <a:solidFill>
                  <a:schemeClr val="tx1"/>
                </a:solidFill>
              </a:rPr>
              <a:t>Un administrativo usa una tabla dinámica para resumir las ventas del mes.</a:t>
            </a:r>
            <a:endParaRPr lang="en-US" sz="3000" dirty="0"/>
          </a:p>
        </p:txBody>
      </p:sp>
      <p:sp>
        <p:nvSpPr>
          <p:cNvPr id="9" name="Opción 1"/>
          <p:cNvSpPr/>
          <p:nvPr/>
        </p:nvSpPr>
        <p:spPr>
          <a:xfrm>
            <a:off x="548640" y="4709160"/>
            <a:ext cx="731520" cy="731520"/>
          </a:xfrm>
          <a:prstGeom prst="ellipse">
            <a:avLst/>
          </a:prstGeom>
          <a:solidFill>
            <a:schemeClr val="accent1"/>
          </a:solidFill>
          <a:ln/>
        </p:spPr>
      </p:sp>
      <p:sp>
        <p:nvSpPr>
          <p:cNvPr id="10" name="Text 7"/>
          <p:cNvSpPr txBox="1"/>
          <p:nvPr/>
        </p:nvSpPr>
        <p:spPr>
          <a:xfrm>
            <a:off x="548640" y="4709160"/>
            <a:ext cx="731520" cy="731520"/>
          </a:xfrm>
          <a:prstGeom prst="rect">
            <a:avLst/>
          </a:prstGeom>
          <a:noFill/>
          <a:ln/>
        </p:spPr>
        <p:txBody>
          <a:bodyPr wrap="square" lIns="0" tIns="0" rIns="0" bIns="0" rtlCol="0" anchor="ctr"/>
          <a:lstStyle/>
          <a:p>
            <a:pPr marL="0" indent="0" algn="ctr">
              <a:buNone/>
            </a:pPr>
            <a:r>
              <a:rPr lang="en-US" sz="2800" b="1" dirty="0">
                <a:solidFill>
                  <a:schemeClr val="tx1"/>
                </a:solidFill>
              </a:rPr>
              <a:t>1</a:t>
            </a:r>
            <a:endParaRPr lang="en-US" sz="2800" dirty="0"/>
          </a:p>
        </p:txBody>
      </p:sp>
      <p:sp>
        <p:nvSpPr>
          <p:cNvPr id="11" name="Text 8"/>
          <p:cNvSpPr txBox="1"/>
          <p:nvPr/>
        </p:nvSpPr>
        <p:spPr>
          <a:xfrm>
            <a:off x="14173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Creatividad</a:t>
            </a:r>
            <a:endParaRPr lang="en-US" sz="2000" dirty="0"/>
          </a:p>
        </p:txBody>
      </p:sp>
      <p:sp>
        <p:nvSpPr>
          <p:cNvPr id="12" name="Opción 2"/>
          <p:cNvSpPr/>
          <p:nvPr/>
        </p:nvSpPr>
        <p:spPr>
          <a:xfrm>
            <a:off x="4206240" y="4709160"/>
            <a:ext cx="731520" cy="731520"/>
          </a:xfrm>
          <a:prstGeom prst="ellipse">
            <a:avLst/>
          </a:prstGeom>
          <a:solidFill>
            <a:schemeClr val="accent3"/>
          </a:solidFill>
          <a:ln/>
        </p:spPr>
      </p:sp>
      <p:sp>
        <p:nvSpPr>
          <p:cNvPr id="13" name="Text 10"/>
          <p:cNvSpPr txBox="1"/>
          <p:nvPr/>
        </p:nvSpPr>
        <p:spPr>
          <a:xfrm>
            <a:off x="42062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2</a:t>
            </a:r>
            <a:endParaRPr lang="en-US" sz="2800" dirty="0"/>
          </a:p>
        </p:txBody>
      </p:sp>
      <p:sp>
        <p:nvSpPr>
          <p:cNvPr id="14" name="Text 11"/>
          <p:cNvSpPr txBox="1"/>
          <p:nvPr/>
        </p:nvSpPr>
        <p:spPr>
          <a:xfrm>
            <a:off x="50749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Innovación</a:t>
            </a:r>
            <a:endParaRPr lang="en-US" sz="2000" dirty="0"/>
          </a:p>
        </p:txBody>
      </p:sp>
      <p:sp>
        <p:nvSpPr>
          <p:cNvPr id="15" name="Opción 3"/>
          <p:cNvSpPr/>
          <p:nvPr/>
        </p:nvSpPr>
        <p:spPr>
          <a:xfrm>
            <a:off x="7863840" y="4709160"/>
            <a:ext cx="731520" cy="731520"/>
          </a:xfrm>
          <a:prstGeom prst="ellipse">
            <a:avLst/>
          </a:prstGeom>
          <a:solidFill>
            <a:schemeClr val="accent4"/>
          </a:solidFill>
          <a:ln/>
        </p:spPr>
      </p:sp>
      <p:sp>
        <p:nvSpPr>
          <p:cNvPr id="16" name="Text 13"/>
          <p:cNvSpPr txBox="1"/>
          <p:nvPr/>
        </p:nvSpPr>
        <p:spPr>
          <a:xfrm>
            <a:off x="78638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3</a:t>
            </a:r>
            <a:endParaRPr lang="en-US" sz="2800" dirty="0"/>
          </a:p>
        </p:txBody>
      </p:sp>
      <p:sp>
        <p:nvSpPr>
          <p:cNvPr id="17" name="Text 14"/>
          <p:cNvSpPr txBox="1"/>
          <p:nvPr/>
        </p:nvSpPr>
        <p:spPr>
          <a:xfrm>
            <a:off x="87325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Competencia digital</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Situación 4 de 6</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5" name="Tarjeta"/>
          <p:cNvSpPr/>
          <p:nvPr/>
        </p:nvSpPr>
        <p:spPr>
          <a:xfrm>
            <a:off x="548640" y="1554480"/>
            <a:ext cx="11094415" cy="2651760"/>
          </a:xfrm>
          <a:prstGeom prst="roundRect">
            <a:avLst>
              <a:gd name="adj" fmla="val 5172"/>
            </a:avLst>
          </a:prstGeom>
          <a:solidFill>
            <a:schemeClr val="bg2"/>
          </a:solidFill>
          <a:ln/>
        </p:spPr>
      </p:sp>
      <p:sp>
        <p:nvSpPr>
          <p:cNvPr id="6" name="Situación"/>
          <p:cNvSpPr/>
          <p:nvPr/>
        </p:nvSpPr>
        <p:spPr>
          <a:xfrm>
            <a:off x="960120" y="2194560"/>
            <a:ext cx="1371600" cy="1371600"/>
          </a:xfrm>
          <a:prstGeom prst="ellipse">
            <a:avLst/>
          </a:prstGeom>
          <a:solidFill>
            <a:schemeClr val="tx2"/>
          </a:solidFill>
          <a:ln/>
        </p:spPr>
      </p:sp>
      <p:pic>
        <p:nvPicPr>
          <p:cNvPr id="7" name="Image 0" descr="Situación"/>
          <p:cNvPicPr>
            <a:picLocks noChangeAspect="1"/>
          </p:cNvPicPr>
          <p:nvPr/>
        </p:nvPicPr>
        <p:blipFill>
          <a:blip r:embed="rId3"/>
          <a:stretch>
            <a:fillRect/>
          </a:stretch>
        </p:blipFill>
        <p:spPr>
          <a:xfrm>
            <a:off x="1289304" y="2523744"/>
            <a:ext cx="713232" cy="713232"/>
          </a:xfrm>
          <a:prstGeom prst="rect">
            <a:avLst/>
          </a:prstGeom>
        </p:spPr>
      </p:pic>
      <p:sp>
        <p:nvSpPr>
          <p:cNvPr id="8" name="Text 5"/>
          <p:cNvSpPr txBox="1"/>
          <p:nvPr/>
        </p:nvSpPr>
        <p:spPr>
          <a:xfrm>
            <a:off x="2697480" y="1554480"/>
            <a:ext cx="8579815" cy="2651760"/>
          </a:xfrm>
          <a:prstGeom prst="rect">
            <a:avLst/>
          </a:prstGeom>
          <a:noFill/>
          <a:ln/>
        </p:spPr>
        <p:txBody>
          <a:bodyPr wrap="square" lIns="0" tIns="0" rIns="0" bIns="0" rtlCol="0" anchor="ctr"/>
          <a:lstStyle/>
          <a:p>
            <a:pPr marL="0" indent="0">
              <a:buNone/>
            </a:pPr>
            <a:r>
              <a:rPr lang="en-US" sz="3000" dirty="0">
                <a:solidFill>
                  <a:schemeClr val="tx1"/>
                </a:solidFill>
              </a:rPr>
              <a:t>Un taller empieza a enviar al </a:t>
            </a:r>
            <a:r>
              <a:rPr lang="en-US" sz="3000" dirty="0" err="1">
                <a:solidFill>
                  <a:schemeClr val="tx1"/>
                </a:solidFill>
              </a:rPr>
              <a:t>cliente</a:t>
            </a:r>
            <a:r>
              <a:rPr lang="en-US" sz="3000" dirty="0">
                <a:solidFill>
                  <a:schemeClr val="tx1"/>
                </a:solidFill>
              </a:rPr>
              <a:t> </a:t>
            </a:r>
            <a:r>
              <a:rPr lang="en-US" sz="3000" dirty="0" err="1">
                <a:solidFill>
                  <a:schemeClr val="tx1"/>
                </a:solidFill>
              </a:rPr>
              <a:t>fotos</a:t>
            </a:r>
            <a:r>
              <a:rPr lang="en-US" sz="3000" dirty="0">
                <a:solidFill>
                  <a:schemeClr val="tx1"/>
                </a:solidFill>
              </a:rPr>
              <a:t> del </a:t>
            </a:r>
            <a:r>
              <a:rPr lang="en-US" sz="3000" dirty="0" err="1">
                <a:solidFill>
                  <a:schemeClr val="tx1"/>
                </a:solidFill>
              </a:rPr>
              <a:t>coche</a:t>
            </a:r>
            <a:r>
              <a:rPr lang="en-US" sz="3000" dirty="0">
                <a:solidFill>
                  <a:schemeClr val="tx1"/>
                </a:solidFill>
              </a:rPr>
              <a:t> a </a:t>
            </a:r>
            <a:r>
              <a:rPr lang="en-US" sz="3000" dirty="0" err="1">
                <a:solidFill>
                  <a:schemeClr val="tx1"/>
                </a:solidFill>
              </a:rPr>
              <a:t>medida</a:t>
            </a:r>
            <a:r>
              <a:rPr lang="en-US" sz="3000" dirty="0">
                <a:solidFill>
                  <a:schemeClr val="tx1"/>
                </a:solidFill>
              </a:rPr>
              <a:t> </a:t>
            </a:r>
            <a:r>
              <a:rPr lang="en-US" sz="3000" dirty="0" err="1">
                <a:solidFill>
                  <a:schemeClr val="tx1"/>
                </a:solidFill>
              </a:rPr>
              <a:t>que</a:t>
            </a:r>
            <a:r>
              <a:rPr lang="en-US" sz="3000" dirty="0">
                <a:solidFill>
                  <a:schemeClr val="tx1"/>
                </a:solidFill>
              </a:rPr>
              <a:t> lo </a:t>
            </a:r>
            <a:r>
              <a:rPr lang="en-US" sz="3000" dirty="0" err="1">
                <a:solidFill>
                  <a:schemeClr val="tx1"/>
                </a:solidFill>
              </a:rPr>
              <a:t>repara</a:t>
            </a:r>
            <a:r>
              <a:rPr lang="en-US" sz="3000" dirty="0">
                <a:solidFill>
                  <a:schemeClr val="tx1"/>
                </a:solidFill>
              </a:rPr>
              <a:t> y recibe menos llamadas preguntando.</a:t>
            </a:r>
            <a:endParaRPr lang="en-US" sz="3000" dirty="0"/>
          </a:p>
        </p:txBody>
      </p:sp>
      <p:sp>
        <p:nvSpPr>
          <p:cNvPr id="9" name="Opción 1"/>
          <p:cNvSpPr/>
          <p:nvPr/>
        </p:nvSpPr>
        <p:spPr>
          <a:xfrm>
            <a:off x="548640" y="4709160"/>
            <a:ext cx="731520" cy="731520"/>
          </a:xfrm>
          <a:prstGeom prst="ellipse">
            <a:avLst/>
          </a:prstGeom>
          <a:solidFill>
            <a:schemeClr val="accent1"/>
          </a:solidFill>
          <a:ln/>
        </p:spPr>
      </p:sp>
      <p:sp>
        <p:nvSpPr>
          <p:cNvPr id="10" name="Text 7"/>
          <p:cNvSpPr txBox="1"/>
          <p:nvPr/>
        </p:nvSpPr>
        <p:spPr>
          <a:xfrm>
            <a:off x="548640" y="4709160"/>
            <a:ext cx="731520" cy="731520"/>
          </a:xfrm>
          <a:prstGeom prst="rect">
            <a:avLst/>
          </a:prstGeom>
          <a:noFill/>
          <a:ln/>
        </p:spPr>
        <p:txBody>
          <a:bodyPr wrap="square" lIns="0" tIns="0" rIns="0" bIns="0" rtlCol="0" anchor="ctr"/>
          <a:lstStyle/>
          <a:p>
            <a:pPr marL="0" indent="0" algn="ctr">
              <a:buNone/>
            </a:pPr>
            <a:r>
              <a:rPr lang="en-US" sz="2800" b="1" dirty="0">
                <a:solidFill>
                  <a:schemeClr val="tx1"/>
                </a:solidFill>
              </a:rPr>
              <a:t>1</a:t>
            </a:r>
            <a:endParaRPr lang="en-US" sz="2800" dirty="0"/>
          </a:p>
        </p:txBody>
      </p:sp>
      <p:sp>
        <p:nvSpPr>
          <p:cNvPr id="11" name="Text 8"/>
          <p:cNvSpPr txBox="1"/>
          <p:nvPr/>
        </p:nvSpPr>
        <p:spPr>
          <a:xfrm>
            <a:off x="14173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Creatividad</a:t>
            </a:r>
            <a:endParaRPr lang="en-US" sz="2000" dirty="0"/>
          </a:p>
        </p:txBody>
      </p:sp>
      <p:sp>
        <p:nvSpPr>
          <p:cNvPr id="12" name="Opción 2"/>
          <p:cNvSpPr/>
          <p:nvPr/>
        </p:nvSpPr>
        <p:spPr>
          <a:xfrm>
            <a:off x="4206240" y="4709160"/>
            <a:ext cx="731520" cy="731520"/>
          </a:xfrm>
          <a:prstGeom prst="ellipse">
            <a:avLst/>
          </a:prstGeom>
          <a:solidFill>
            <a:schemeClr val="accent3"/>
          </a:solidFill>
          <a:ln/>
        </p:spPr>
      </p:sp>
      <p:sp>
        <p:nvSpPr>
          <p:cNvPr id="13" name="Text 10"/>
          <p:cNvSpPr txBox="1"/>
          <p:nvPr/>
        </p:nvSpPr>
        <p:spPr>
          <a:xfrm>
            <a:off x="42062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2</a:t>
            </a:r>
            <a:endParaRPr lang="en-US" sz="2800" dirty="0"/>
          </a:p>
        </p:txBody>
      </p:sp>
      <p:sp>
        <p:nvSpPr>
          <p:cNvPr id="14" name="Text 11"/>
          <p:cNvSpPr txBox="1"/>
          <p:nvPr/>
        </p:nvSpPr>
        <p:spPr>
          <a:xfrm>
            <a:off x="50749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Innovación</a:t>
            </a:r>
            <a:endParaRPr lang="en-US" sz="2000" dirty="0"/>
          </a:p>
        </p:txBody>
      </p:sp>
      <p:sp>
        <p:nvSpPr>
          <p:cNvPr id="15" name="Opción 3"/>
          <p:cNvSpPr/>
          <p:nvPr/>
        </p:nvSpPr>
        <p:spPr>
          <a:xfrm>
            <a:off x="7863840" y="4709160"/>
            <a:ext cx="731520" cy="731520"/>
          </a:xfrm>
          <a:prstGeom prst="ellipse">
            <a:avLst/>
          </a:prstGeom>
          <a:solidFill>
            <a:schemeClr val="accent4"/>
          </a:solidFill>
          <a:ln/>
        </p:spPr>
      </p:sp>
      <p:sp>
        <p:nvSpPr>
          <p:cNvPr id="16" name="Text 13"/>
          <p:cNvSpPr txBox="1"/>
          <p:nvPr/>
        </p:nvSpPr>
        <p:spPr>
          <a:xfrm>
            <a:off x="78638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3</a:t>
            </a:r>
            <a:endParaRPr lang="en-US" sz="2800" dirty="0"/>
          </a:p>
        </p:txBody>
      </p:sp>
      <p:sp>
        <p:nvSpPr>
          <p:cNvPr id="17" name="Text 14"/>
          <p:cNvSpPr txBox="1"/>
          <p:nvPr/>
        </p:nvSpPr>
        <p:spPr>
          <a:xfrm>
            <a:off x="87325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Competencia digital</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Situación 5 de 6</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5" name="Tarjeta"/>
          <p:cNvSpPr/>
          <p:nvPr/>
        </p:nvSpPr>
        <p:spPr>
          <a:xfrm>
            <a:off x="548640" y="1554480"/>
            <a:ext cx="11094415" cy="2651760"/>
          </a:xfrm>
          <a:prstGeom prst="roundRect">
            <a:avLst>
              <a:gd name="adj" fmla="val 5172"/>
            </a:avLst>
          </a:prstGeom>
          <a:solidFill>
            <a:schemeClr val="bg2"/>
          </a:solidFill>
          <a:ln/>
        </p:spPr>
      </p:sp>
      <p:sp>
        <p:nvSpPr>
          <p:cNvPr id="6" name="Situación"/>
          <p:cNvSpPr/>
          <p:nvPr/>
        </p:nvSpPr>
        <p:spPr>
          <a:xfrm>
            <a:off x="960120" y="2194560"/>
            <a:ext cx="1371600" cy="1371600"/>
          </a:xfrm>
          <a:prstGeom prst="ellipse">
            <a:avLst/>
          </a:prstGeom>
          <a:solidFill>
            <a:schemeClr val="tx2"/>
          </a:solidFill>
          <a:ln/>
        </p:spPr>
      </p:sp>
      <p:pic>
        <p:nvPicPr>
          <p:cNvPr id="7" name="Image 0" descr="Situación"/>
          <p:cNvPicPr>
            <a:picLocks noChangeAspect="1"/>
          </p:cNvPicPr>
          <p:nvPr/>
        </p:nvPicPr>
        <p:blipFill>
          <a:blip r:embed="rId3"/>
          <a:stretch>
            <a:fillRect/>
          </a:stretch>
        </p:blipFill>
        <p:spPr>
          <a:xfrm>
            <a:off x="1289304" y="2523744"/>
            <a:ext cx="713232" cy="713232"/>
          </a:xfrm>
          <a:prstGeom prst="rect">
            <a:avLst/>
          </a:prstGeom>
        </p:spPr>
      </p:pic>
      <p:sp>
        <p:nvSpPr>
          <p:cNvPr id="8" name="Text 5"/>
          <p:cNvSpPr txBox="1"/>
          <p:nvPr/>
        </p:nvSpPr>
        <p:spPr>
          <a:xfrm>
            <a:off x="2697480" y="1554480"/>
            <a:ext cx="8579815" cy="2651760"/>
          </a:xfrm>
          <a:prstGeom prst="rect">
            <a:avLst/>
          </a:prstGeom>
          <a:noFill/>
          <a:ln/>
        </p:spPr>
        <p:txBody>
          <a:bodyPr wrap="square" lIns="0" tIns="0" rIns="0" bIns="0" rtlCol="0" anchor="ctr"/>
          <a:lstStyle/>
          <a:p>
            <a:pPr marL="0" indent="0">
              <a:buNone/>
            </a:pPr>
            <a:r>
              <a:rPr lang="en-US" sz="3000" dirty="0">
                <a:solidFill>
                  <a:schemeClr val="tx1"/>
                </a:solidFill>
              </a:rPr>
              <a:t>A un empleado se le ocurre usar las cajas de los pedidos como expositor en el mostrador.</a:t>
            </a:r>
            <a:endParaRPr lang="en-US" sz="3000" dirty="0"/>
          </a:p>
        </p:txBody>
      </p:sp>
      <p:sp>
        <p:nvSpPr>
          <p:cNvPr id="9" name="Opción 1"/>
          <p:cNvSpPr/>
          <p:nvPr/>
        </p:nvSpPr>
        <p:spPr>
          <a:xfrm>
            <a:off x="548640" y="4709160"/>
            <a:ext cx="731520" cy="731520"/>
          </a:xfrm>
          <a:prstGeom prst="ellipse">
            <a:avLst/>
          </a:prstGeom>
          <a:solidFill>
            <a:schemeClr val="accent1"/>
          </a:solidFill>
          <a:ln/>
        </p:spPr>
      </p:sp>
      <p:sp>
        <p:nvSpPr>
          <p:cNvPr id="10" name="Text 7"/>
          <p:cNvSpPr txBox="1"/>
          <p:nvPr/>
        </p:nvSpPr>
        <p:spPr>
          <a:xfrm>
            <a:off x="548640" y="4709160"/>
            <a:ext cx="731520" cy="731520"/>
          </a:xfrm>
          <a:prstGeom prst="rect">
            <a:avLst/>
          </a:prstGeom>
          <a:noFill/>
          <a:ln/>
        </p:spPr>
        <p:txBody>
          <a:bodyPr wrap="square" lIns="0" tIns="0" rIns="0" bIns="0" rtlCol="0" anchor="ctr"/>
          <a:lstStyle/>
          <a:p>
            <a:pPr marL="0" indent="0" algn="ctr">
              <a:buNone/>
            </a:pPr>
            <a:r>
              <a:rPr lang="en-US" sz="2800" b="1" dirty="0">
                <a:solidFill>
                  <a:schemeClr val="tx1"/>
                </a:solidFill>
              </a:rPr>
              <a:t>1</a:t>
            </a:r>
            <a:endParaRPr lang="en-US" sz="2800" dirty="0"/>
          </a:p>
        </p:txBody>
      </p:sp>
      <p:sp>
        <p:nvSpPr>
          <p:cNvPr id="11" name="Text 8"/>
          <p:cNvSpPr txBox="1"/>
          <p:nvPr/>
        </p:nvSpPr>
        <p:spPr>
          <a:xfrm>
            <a:off x="14173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Creatividad</a:t>
            </a:r>
            <a:endParaRPr lang="en-US" sz="2000" dirty="0"/>
          </a:p>
        </p:txBody>
      </p:sp>
      <p:sp>
        <p:nvSpPr>
          <p:cNvPr id="12" name="Opción 2"/>
          <p:cNvSpPr/>
          <p:nvPr/>
        </p:nvSpPr>
        <p:spPr>
          <a:xfrm>
            <a:off x="4206240" y="4709160"/>
            <a:ext cx="731520" cy="731520"/>
          </a:xfrm>
          <a:prstGeom prst="ellipse">
            <a:avLst/>
          </a:prstGeom>
          <a:solidFill>
            <a:schemeClr val="accent3"/>
          </a:solidFill>
          <a:ln/>
        </p:spPr>
      </p:sp>
      <p:sp>
        <p:nvSpPr>
          <p:cNvPr id="13" name="Text 10"/>
          <p:cNvSpPr txBox="1"/>
          <p:nvPr/>
        </p:nvSpPr>
        <p:spPr>
          <a:xfrm>
            <a:off x="42062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2</a:t>
            </a:r>
            <a:endParaRPr lang="en-US" sz="2800" dirty="0"/>
          </a:p>
        </p:txBody>
      </p:sp>
      <p:sp>
        <p:nvSpPr>
          <p:cNvPr id="14" name="Text 11"/>
          <p:cNvSpPr txBox="1"/>
          <p:nvPr/>
        </p:nvSpPr>
        <p:spPr>
          <a:xfrm>
            <a:off x="50749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Innovación</a:t>
            </a:r>
            <a:endParaRPr lang="en-US" sz="2000" dirty="0"/>
          </a:p>
        </p:txBody>
      </p:sp>
      <p:sp>
        <p:nvSpPr>
          <p:cNvPr id="15" name="Opción 3"/>
          <p:cNvSpPr/>
          <p:nvPr/>
        </p:nvSpPr>
        <p:spPr>
          <a:xfrm>
            <a:off x="7863840" y="4709160"/>
            <a:ext cx="731520" cy="731520"/>
          </a:xfrm>
          <a:prstGeom prst="ellipse">
            <a:avLst/>
          </a:prstGeom>
          <a:solidFill>
            <a:schemeClr val="accent4"/>
          </a:solidFill>
          <a:ln/>
        </p:spPr>
      </p:sp>
      <p:sp>
        <p:nvSpPr>
          <p:cNvPr id="16" name="Text 13"/>
          <p:cNvSpPr txBox="1"/>
          <p:nvPr/>
        </p:nvSpPr>
        <p:spPr>
          <a:xfrm>
            <a:off x="78638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3</a:t>
            </a:r>
            <a:endParaRPr lang="en-US" sz="2800" dirty="0"/>
          </a:p>
        </p:txBody>
      </p:sp>
      <p:sp>
        <p:nvSpPr>
          <p:cNvPr id="17" name="Text 14"/>
          <p:cNvSpPr txBox="1"/>
          <p:nvPr/>
        </p:nvSpPr>
        <p:spPr>
          <a:xfrm>
            <a:off x="87325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Competencia digital</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Situación 6 de 6</a:t>
            </a:r>
            <a:endParaRPr lang="en-US" sz="3200" dirty="0"/>
          </a:p>
        </p:txBody>
      </p:sp>
      <p:sp>
        <p:nvSpPr>
          <p:cNvPr id="3" name="Etiqueta de tiempo"/>
          <p:cNvSpPr/>
          <p:nvPr/>
        </p:nvSpPr>
        <p:spPr>
          <a:xfrm>
            <a:off x="8556955" y="548640"/>
            <a:ext cx="3086100" cy="457200"/>
          </a:xfrm>
          <a:prstGeom prst="roundRect">
            <a:avLst>
              <a:gd name="adj" fmla="val 50000"/>
            </a:avLst>
          </a:prstGeom>
          <a:solidFill>
            <a:schemeClr val="accent1"/>
          </a:solidFill>
          <a:ln/>
        </p:spPr>
      </p:sp>
      <p:sp>
        <p:nvSpPr>
          <p:cNvPr id="4" name="Text 2"/>
          <p:cNvSpPr txBox="1"/>
          <p:nvPr/>
        </p:nvSpPr>
        <p:spPr>
          <a:xfrm>
            <a:off x="8556955" y="548640"/>
            <a:ext cx="308610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 · Todo el grupo</a:t>
            </a:r>
            <a:endParaRPr lang="en-US" sz="1400" dirty="0"/>
          </a:p>
        </p:txBody>
      </p:sp>
      <p:sp>
        <p:nvSpPr>
          <p:cNvPr id="5" name="Tarjeta"/>
          <p:cNvSpPr/>
          <p:nvPr/>
        </p:nvSpPr>
        <p:spPr>
          <a:xfrm>
            <a:off x="548640" y="1554480"/>
            <a:ext cx="11094415" cy="2651760"/>
          </a:xfrm>
          <a:prstGeom prst="roundRect">
            <a:avLst>
              <a:gd name="adj" fmla="val 5172"/>
            </a:avLst>
          </a:prstGeom>
          <a:solidFill>
            <a:schemeClr val="bg2"/>
          </a:solidFill>
          <a:ln/>
        </p:spPr>
      </p:sp>
      <p:sp>
        <p:nvSpPr>
          <p:cNvPr id="6" name="Situación"/>
          <p:cNvSpPr/>
          <p:nvPr/>
        </p:nvSpPr>
        <p:spPr>
          <a:xfrm>
            <a:off x="960120" y="2194560"/>
            <a:ext cx="1371600" cy="1371600"/>
          </a:xfrm>
          <a:prstGeom prst="ellipse">
            <a:avLst/>
          </a:prstGeom>
          <a:solidFill>
            <a:schemeClr val="tx2"/>
          </a:solidFill>
          <a:ln/>
        </p:spPr>
      </p:sp>
      <p:pic>
        <p:nvPicPr>
          <p:cNvPr id="7" name="Image 0" descr="Situación"/>
          <p:cNvPicPr>
            <a:picLocks noChangeAspect="1"/>
          </p:cNvPicPr>
          <p:nvPr/>
        </p:nvPicPr>
        <p:blipFill>
          <a:blip r:embed="rId3"/>
          <a:stretch>
            <a:fillRect/>
          </a:stretch>
        </p:blipFill>
        <p:spPr>
          <a:xfrm>
            <a:off x="1289304" y="2523744"/>
            <a:ext cx="713232" cy="713232"/>
          </a:xfrm>
          <a:prstGeom prst="rect">
            <a:avLst/>
          </a:prstGeom>
        </p:spPr>
      </p:pic>
      <p:sp>
        <p:nvSpPr>
          <p:cNvPr id="8" name="Text 5"/>
          <p:cNvSpPr txBox="1"/>
          <p:nvPr/>
        </p:nvSpPr>
        <p:spPr>
          <a:xfrm>
            <a:off x="2697480" y="1554480"/>
            <a:ext cx="8579815" cy="2651760"/>
          </a:xfrm>
          <a:prstGeom prst="rect">
            <a:avLst/>
          </a:prstGeom>
          <a:noFill/>
          <a:ln/>
        </p:spPr>
        <p:txBody>
          <a:bodyPr wrap="square" lIns="0" tIns="0" rIns="0" bIns="0" rtlCol="0" anchor="ctr"/>
          <a:lstStyle/>
          <a:p>
            <a:pPr marL="0" indent="0">
              <a:buNone/>
            </a:pPr>
            <a:r>
              <a:rPr lang="en-US" sz="3000" dirty="0">
                <a:solidFill>
                  <a:schemeClr val="tx1"/>
                </a:solidFill>
              </a:rPr>
              <a:t>Una camarera usa una IA para traducir la carta al inglés.</a:t>
            </a:r>
            <a:endParaRPr lang="en-US" sz="3000" dirty="0"/>
          </a:p>
        </p:txBody>
      </p:sp>
      <p:sp>
        <p:nvSpPr>
          <p:cNvPr id="9" name="Opción 1"/>
          <p:cNvSpPr/>
          <p:nvPr/>
        </p:nvSpPr>
        <p:spPr>
          <a:xfrm>
            <a:off x="548640" y="4709160"/>
            <a:ext cx="731520" cy="731520"/>
          </a:xfrm>
          <a:prstGeom prst="ellipse">
            <a:avLst/>
          </a:prstGeom>
          <a:solidFill>
            <a:schemeClr val="accent1"/>
          </a:solidFill>
          <a:ln/>
        </p:spPr>
      </p:sp>
      <p:sp>
        <p:nvSpPr>
          <p:cNvPr id="10" name="Text 7"/>
          <p:cNvSpPr txBox="1"/>
          <p:nvPr/>
        </p:nvSpPr>
        <p:spPr>
          <a:xfrm>
            <a:off x="548640" y="4709160"/>
            <a:ext cx="731520" cy="731520"/>
          </a:xfrm>
          <a:prstGeom prst="rect">
            <a:avLst/>
          </a:prstGeom>
          <a:noFill/>
          <a:ln/>
        </p:spPr>
        <p:txBody>
          <a:bodyPr wrap="square" lIns="0" tIns="0" rIns="0" bIns="0" rtlCol="0" anchor="ctr"/>
          <a:lstStyle/>
          <a:p>
            <a:pPr marL="0" indent="0" algn="ctr">
              <a:buNone/>
            </a:pPr>
            <a:r>
              <a:rPr lang="en-US" sz="2800" b="1" dirty="0">
                <a:solidFill>
                  <a:schemeClr val="tx1"/>
                </a:solidFill>
              </a:rPr>
              <a:t>1</a:t>
            </a:r>
            <a:endParaRPr lang="en-US" sz="2800" dirty="0"/>
          </a:p>
        </p:txBody>
      </p:sp>
      <p:sp>
        <p:nvSpPr>
          <p:cNvPr id="11" name="Text 8"/>
          <p:cNvSpPr txBox="1"/>
          <p:nvPr/>
        </p:nvSpPr>
        <p:spPr>
          <a:xfrm>
            <a:off x="14173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Creatividad</a:t>
            </a:r>
            <a:endParaRPr lang="en-US" sz="2000" dirty="0"/>
          </a:p>
        </p:txBody>
      </p:sp>
      <p:sp>
        <p:nvSpPr>
          <p:cNvPr id="12" name="Opción 2"/>
          <p:cNvSpPr/>
          <p:nvPr/>
        </p:nvSpPr>
        <p:spPr>
          <a:xfrm>
            <a:off x="4206240" y="4709160"/>
            <a:ext cx="731520" cy="731520"/>
          </a:xfrm>
          <a:prstGeom prst="ellipse">
            <a:avLst/>
          </a:prstGeom>
          <a:solidFill>
            <a:schemeClr val="accent3"/>
          </a:solidFill>
          <a:ln/>
        </p:spPr>
      </p:sp>
      <p:sp>
        <p:nvSpPr>
          <p:cNvPr id="13" name="Text 10"/>
          <p:cNvSpPr txBox="1"/>
          <p:nvPr/>
        </p:nvSpPr>
        <p:spPr>
          <a:xfrm>
            <a:off x="42062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2</a:t>
            </a:r>
            <a:endParaRPr lang="en-US" sz="2800" dirty="0"/>
          </a:p>
        </p:txBody>
      </p:sp>
      <p:sp>
        <p:nvSpPr>
          <p:cNvPr id="14" name="Text 11"/>
          <p:cNvSpPr txBox="1"/>
          <p:nvPr/>
        </p:nvSpPr>
        <p:spPr>
          <a:xfrm>
            <a:off x="50749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Innovación</a:t>
            </a:r>
            <a:endParaRPr lang="en-US" sz="2000" dirty="0"/>
          </a:p>
        </p:txBody>
      </p:sp>
      <p:sp>
        <p:nvSpPr>
          <p:cNvPr id="15" name="Opción 3"/>
          <p:cNvSpPr/>
          <p:nvPr/>
        </p:nvSpPr>
        <p:spPr>
          <a:xfrm>
            <a:off x="7863840" y="4709160"/>
            <a:ext cx="731520" cy="731520"/>
          </a:xfrm>
          <a:prstGeom prst="ellipse">
            <a:avLst/>
          </a:prstGeom>
          <a:solidFill>
            <a:schemeClr val="accent4"/>
          </a:solidFill>
          <a:ln/>
        </p:spPr>
      </p:sp>
      <p:sp>
        <p:nvSpPr>
          <p:cNvPr id="16" name="Text 13"/>
          <p:cNvSpPr txBox="1"/>
          <p:nvPr/>
        </p:nvSpPr>
        <p:spPr>
          <a:xfrm>
            <a:off x="7863840" y="4709160"/>
            <a:ext cx="731520" cy="731520"/>
          </a:xfrm>
          <a:prstGeom prst="rect">
            <a:avLst/>
          </a:prstGeom>
          <a:noFill/>
          <a:ln/>
        </p:spPr>
        <p:txBody>
          <a:bodyPr wrap="square" lIns="0" tIns="0" rIns="0" bIns="0" rtlCol="0" anchor="ctr"/>
          <a:lstStyle/>
          <a:p>
            <a:pPr marL="0" indent="0" algn="ctr">
              <a:buNone/>
            </a:pPr>
            <a:r>
              <a:rPr lang="en-US" sz="2800" b="1" dirty="0">
                <a:solidFill>
                  <a:schemeClr val="bg1"/>
                </a:solidFill>
              </a:rPr>
              <a:t>3</a:t>
            </a:r>
            <a:endParaRPr lang="en-US" sz="2800" dirty="0"/>
          </a:p>
        </p:txBody>
      </p:sp>
      <p:sp>
        <p:nvSpPr>
          <p:cNvPr id="17" name="Text 14"/>
          <p:cNvSpPr txBox="1"/>
          <p:nvPr/>
        </p:nvSpPr>
        <p:spPr>
          <a:xfrm>
            <a:off x="8732520" y="4709160"/>
            <a:ext cx="2423160" cy="731520"/>
          </a:xfrm>
          <a:prstGeom prst="rect">
            <a:avLst/>
          </a:prstGeom>
          <a:noFill/>
          <a:ln/>
        </p:spPr>
        <p:txBody>
          <a:bodyPr wrap="square" lIns="0" tIns="0" rIns="0" bIns="0" rtlCol="0" anchor="ctr"/>
          <a:lstStyle/>
          <a:p>
            <a:pPr marL="0" indent="0">
              <a:buNone/>
            </a:pPr>
            <a:r>
              <a:rPr lang="en-US" sz="2000" dirty="0">
                <a:solidFill>
                  <a:schemeClr val="tx1"/>
                </a:solidFill>
              </a:rPr>
              <a:t>Competencia digital</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Criterio para resolver las dudas</a:t>
            </a:r>
            <a:endParaRPr lang="en-US" sz="3200" dirty="0"/>
          </a:p>
        </p:txBody>
      </p:sp>
      <p:sp>
        <p:nvSpPr>
          <p:cNvPr id="3" name="Etiqueta de tiempo"/>
          <p:cNvSpPr/>
          <p:nvPr/>
        </p:nvSpPr>
        <p:spPr>
          <a:xfrm>
            <a:off x="10180015" y="548640"/>
            <a:ext cx="1463040" cy="457200"/>
          </a:xfrm>
          <a:prstGeom prst="roundRect">
            <a:avLst>
              <a:gd name="adj" fmla="val 50000"/>
            </a:avLst>
          </a:prstGeom>
          <a:solidFill>
            <a:schemeClr val="bg2"/>
          </a:solidFill>
          <a:ln/>
        </p:spPr>
      </p:sp>
      <p:sp>
        <p:nvSpPr>
          <p:cNvPr id="4" name="Text 2"/>
          <p:cNvSpPr txBox="1"/>
          <p:nvPr/>
        </p:nvSpPr>
        <p:spPr>
          <a:xfrm>
            <a:off x="10180015" y="548640"/>
            <a:ext cx="1463040" cy="457200"/>
          </a:xfrm>
          <a:prstGeom prst="rect">
            <a:avLst/>
          </a:prstGeom>
          <a:noFill/>
          <a:ln/>
        </p:spPr>
        <p:txBody>
          <a:bodyPr wrap="square" lIns="0" tIns="0" rIns="0" bIns="0" rtlCol="0" anchor="ctr"/>
          <a:lstStyle/>
          <a:p>
            <a:pPr marL="0" indent="0" algn="ctr">
              <a:buNone/>
            </a:pPr>
            <a:r>
              <a:rPr lang="en-US" sz="1400" b="1" dirty="0">
                <a:solidFill>
                  <a:schemeClr val="tx1"/>
                </a:solidFill>
              </a:rPr>
              <a:t>Min. 5–10</a:t>
            </a:r>
            <a:endParaRPr lang="en-US" sz="1400" dirty="0"/>
          </a:p>
        </p:txBody>
      </p:sp>
      <p:sp>
        <p:nvSpPr>
          <p:cNvPr id="5" name="Una idea nueva"/>
          <p:cNvSpPr/>
          <p:nvPr/>
        </p:nvSpPr>
        <p:spPr>
          <a:xfrm>
            <a:off x="548640" y="1828800"/>
            <a:ext cx="2331720" cy="1371600"/>
          </a:xfrm>
          <a:prstGeom prst="roundRect">
            <a:avLst>
              <a:gd name="adj" fmla="val 10000"/>
            </a:avLst>
          </a:prstGeom>
          <a:solidFill>
            <a:schemeClr val="accent1"/>
          </a:solidFill>
          <a:ln/>
        </p:spPr>
      </p:sp>
      <p:sp>
        <p:nvSpPr>
          <p:cNvPr id="6" name="Text 4"/>
          <p:cNvSpPr txBox="1"/>
          <p:nvPr/>
        </p:nvSpPr>
        <p:spPr>
          <a:xfrm>
            <a:off x="685800" y="1828800"/>
            <a:ext cx="2057400" cy="1371600"/>
          </a:xfrm>
          <a:prstGeom prst="rect">
            <a:avLst/>
          </a:prstGeom>
          <a:noFill/>
          <a:ln/>
        </p:spPr>
        <p:txBody>
          <a:bodyPr wrap="square" lIns="0" tIns="0" rIns="0" bIns="0" rtlCol="0" anchor="ctr"/>
          <a:lstStyle/>
          <a:p>
            <a:pPr marL="0" indent="0" algn="ctr">
              <a:buNone/>
            </a:pPr>
            <a:r>
              <a:rPr lang="en-US" sz="2100" b="1" dirty="0">
                <a:solidFill>
                  <a:schemeClr val="tx1"/>
                </a:solidFill>
              </a:rPr>
              <a:t>Una idea nueva</a:t>
            </a:r>
            <a:endParaRPr lang="en-US" sz="2100" dirty="0"/>
          </a:p>
        </p:txBody>
      </p:sp>
      <p:sp>
        <p:nvSpPr>
          <p:cNvPr id="7" name="Shape 5"/>
          <p:cNvSpPr/>
          <p:nvPr/>
        </p:nvSpPr>
        <p:spPr>
          <a:xfrm>
            <a:off x="2990088" y="2514600"/>
            <a:ext cx="369722" cy="0"/>
          </a:xfrm>
          <a:prstGeom prst="line">
            <a:avLst/>
          </a:prstGeom>
          <a:noFill/>
          <a:ln w="31750">
            <a:solidFill>
              <a:srgbClr val="3A4664"/>
            </a:solidFill>
            <a:prstDash val="solid"/>
            <a:tailEnd type="triangle"/>
          </a:ln>
        </p:spPr>
      </p:sp>
      <p:sp>
        <p:nvSpPr>
          <p:cNvPr id="8" name="Text 6"/>
          <p:cNvSpPr txBox="1"/>
          <p:nvPr/>
        </p:nvSpPr>
        <p:spPr>
          <a:xfrm>
            <a:off x="2880360" y="2057400"/>
            <a:ext cx="589178" cy="365760"/>
          </a:xfrm>
          <a:prstGeom prst="rect">
            <a:avLst/>
          </a:prstGeom>
          <a:noFill/>
          <a:ln/>
        </p:spPr>
        <p:txBody>
          <a:bodyPr wrap="square" lIns="0" tIns="0" rIns="0" bIns="0" rtlCol="0" anchor="ctr"/>
          <a:lstStyle/>
          <a:p>
            <a:pPr marL="0" indent="0" algn="ctr">
              <a:buNone/>
            </a:pPr>
            <a:r>
              <a:rPr lang="en-US" sz="1400" b="1" dirty="0">
                <a:solidFill>
                  <a:schemeClr val="tx2"/>
                </a:solidFill>
              </a:rPr>
              <a:t>Sí</a:t>
            </a:r>
            <a:endParaRPr lang="en-US" sz="1400" dirty="0"/>
          </a:p>
        </p:txBody>
      </p:sp>
      <p:sp>
        <p:nvSpPr>
          <p:cNvPr id="9" name="¿Se ha puesto en práctica?"/>
          <p:cNvSpPr/>
          <p:nvPr/>
        </p:nvSpPr>
        <p:spPr>
          <a:xfrm>
            <a:off x="3469538" y="1828800"/>
            <a:ext cx="2331720" cy="1371600"/>
          </a:xfrm>
          <a:prstGeom prst="roundRect">
            <a:avLst>
              <a:gd name="adj" fmla="val 10000"/>
            </a:avLst>
          </a:prstGeom>
          <a:solidFill>
            <a:schemeClr val="bg2"/>
          </a:solidFill>
          <a:ln/>
        </p:spPr>
      </p:sp>
      <p:sp>
        <p:nvSpPr>
          <p:cNvPr id="10" name="Text 8"/>
          <p:cNvSpPr txBox="1"/>
          <p:nvPr/>
        </p:nvSpPr>
        <p:spPr>
          <a:xfrm>
            <a:off x="3606698" y="1828800"/>
            <a:ext cx="2057400" cy="1371600"/>
          </a:xfrm>
          <a:prstGeom prst="rect">
            <a:avLst/>
          </a:prstGeom>
          <a:noFill/>
          <a:ln/>
        </p:spPr>
        <p:txBody>
          <a:bodyPr wrap="square" lIns="0" tIns="0" rIns="0" bIns="0" rtlCol="0" anchor="ctr"/>
          <a:lstStyle/>
          <a:p>
            <a:pPr marL="0" indent="0" algn="ctr">
              <a:buNone/>
            </a:pPr>
            <a:r>
              <a:rPr lang="en-US" sz="2100" b="1" dirty="0">
                <a:solidFill>
                  <a:schemeClr val="tx1"/>
                </a:solidFill>
              </a:rPr>
              <a:t>¿Se ha puesto en práctica?</a:t>
            </a:r>
            <a:endParaRPr lang="en-US" sz="2100" dirty="0"/>
          </a:p>
        </p:txBody>
      </p:sp>
      <p:sp>
        <p:nvSpPr>
          <p:cNvPr id="11" name="Shape 9"/>
          <p:cNvSpPr/>
          <p:nvPr/>
        </p:nvSpPr>
        <p:spPr>
          <a:xfrm>
            <a:off x="5910986" y="2514600"/>
            <a:ext cx="369722" cy="0"/>
          </a:xfrm>
          <a:prstGeom prst="line">
            <a:avLst/>
          </a:prstGeom>
          <a:noFill/>
          <a:ln w="31750">
            <a:solidFill>
              <a:srgbClr val="3A4664"/>
            </a:solidFill>
            <a:prstDash val="solid"/>
            <a:tailEnd type="triangle"/>
          </a:ln>
        </p:spPr>
      </p:sp>
      <p:sp>
        <p:nvSpPr>
          <p:cNvPr id="12" name="Text 10"/>
          <p:cNvSpPr txBox="1"/>
          <p:nvPr/>
        </p:nvSpPr>
        <p:spPr>
          <a:xfrm>
            <a:off x="5801258" y="2057400"/>
            <a:ext cx="589178" cy="365760"/>
          </a:xfrm>
          <a:prstGeom prst="rect">
            <a:avLst/>
          </a:prstGeom>
          <a:noFill/>
          <a:ln/>
        </p:spPr>
        <p:txBody>
          <a:bodyPr wrap="square" lIns="0" tIns="0" rIns="0" bIns="0" rtlCol="0" anchor="ctr"/>
          <a:lstStyle/>
          <a:p>
            <a:pPr marL="0" indent="0" algn="ctr">
              <a:buNone/>
            </a:pPr>
            <a:r>
              <a:rPr lang="en-US" sz="1400" b="1" dirty="0">
                <a:solidFill>
                  <a:schemeClr val="tx2"/>
                </a:solidFill>
              </a:rPr>
              <a:t>Sí</a:t>
            </a:r>
            <a:endParaRPr lang="en-US" sz="1400" dirty="0"/>
          </a:p>
        </p:txBody>
      </p:sp>
      <p:sp>
        <p:nvSpPr>
          <p:cNvPr id="13" name="¿Aporta valor?"/>
          <p:cNvSpPr/>
          <p:nvPr/>
        </p:nvSpPr>
        <p:spPr>
          <a:xfrm>
            <a:off x="6390437" y="1828800"/>
            <a:ext cx="2331720" cy="1371600"/>
          </a:xfrm>
          <a:prstGeom prst="roundRect">
            <a:avLst>
              <a:gd name="adj" fmla="val 10000"/>
            </a:avLst>
          </a:prstGeom>
          <a:solidFill>
            <a:schemeClr val="bg2"/>
          </a:solidFill>
          <a:ln/>
        </p:spPr>
      </p:sp>
      <p:sp>
        <p:nvSpPr>
          <p:cNvPr id="14" name="Text 12"/>
          <p:cNvSpPr txBox="1"/>
          <p:nvPr/>
        </p:nvSpPr>
        <p:spPr>
          <a:xfrm>
            <a:off x="6527597" y="1828800"/>
            <a:ext cx="2057400" cy="1371600"/>
          </a:xfrm>
          <a:prstGeom prst="rect">
            <a:avLst/>
          </a:prstGeom>
          <a:noFill/>
          <a:ln/>
        </p:spPr>
        <p:txBody>
          <a:bodyPr wrap="square" lIns="0" tIns="0" rIns="0" bIns="0" rtlCol="0" anchor="ctr"/>
          <a:lstStyle/>
          <a:p>
            <a:pPr marL="0" indent="0" algn="ctr">
              <a:buNone/>
            </a:pPr>
            <a:r>
              <a:rPr lang="en-US" sz="2100" b="1" dirty="0">
                <a:solidFill>
                  <a:schemeClr val="tx1"/>
                </a:solidFill>
              </a:rPr>
              <a:t>¿Aporta valor?</a:t>
            </a:r>
            <a:endParaRPr lang="en-US" sz="2100" dirty="0"/>
          </a:p>
        </p:txBody>
      </p:sp>
      <p:sp>
        <p:nvSpPr>
          <p:cNvPr id="15" name="Shape 13"/>
          <p:cNvSpPr/>
          <p:nvPr/>
        </p:nvSpPr>
        <p:spPr>
          <a:xfrm>
            <a:off x="8831885" y="2514600"/>
            <a:ext cx="369722" cy="0"/>
          </a:xfrm>
          <a:prstGeom prst="line">
            <a:avLst/>
          </a:prstGeom>
          <a:noFill/>
          <a:ln w="31750">
            <a:solidFill>
              <a:srgbClr val="3A4664"/>
            </a:solidFill>
            <a:prstDash val="solid"/>
            <a:tailEnd type="triangle"/>
          </a:ln>
        </p:spPr>
      </p:sp>
      <p:sp>
        <p:nvSpPr>
          <p:cNvPr id="16" name="Text 14"/>
          <p:cNvSpPr txBox="1"/>
          <p:nvPr/>
        </p:nvSpPr>
        <p:spPr>
          <a:xfrm>
            <a:off x="8722157" y="2057400"/>
            <a:ext cx="589178" cy="365760"/>
          </a:xfrm>
          <a:prstGeom prst="rect">
            <a:avLst/>
          </a:prstGeom>
          <a:noFill/>
          <a:ln/>
        </p:spPr>
        <p:txBody>
          <a:bodyPr wrap="square" lIns="0" tIns="0" rIns="0" bIns="0" rtlCol="0" anchor="ctr"/>
          <a:lstStyle/>
          <a:p>
            <a:pPr marL="0" indent="0" algn="ctr">
              <a:buNone/>
            </a:pPr>
            <a:r>
              <a:rPr lang="en-US" sz="1400" b="1" dirty="0">
                <a:solidFill>
                  <a:schemeClr val="tx2"/>
                </a:solidFill>
              </a:rPr>
              <a:t>Sí</a:t>
            </a:r>
            <a:endParaRPr lang="en-US" sz="1400" dirty="0"/>
          </a:p>
        </p:txBody>
      </p:sp>
      <p:sp>
        <p:nvSpPr>
          <p:cNvPr id="17" name="Innovación"/>
          <p:cNvSpPr/>
          <p:nvPr/>
        </p:nvSpPr>
        <p:spPr>
          <a:xfrm>
            <a:off x="9311335" y="1828800"/>
            <a:ext cx="2331720" cy="1371600"/>
          </a:xfrm>
          <a:prstGeom prst="roundRect">
            <a:avLst>
              <a:gd name="adj" fmla="val 10000"/>
            </a:avLst>
          </a:prstGeom>
          <a:solidFill>
            <a:schemeClr val="accent3"/>
          </a:solidFill>
          <a:ln/>
        </p:spPr>
      </p:sp>
      <p:sp>
        <p:nvSpPr>
          <p:cNvPr id="18" name="Text 16"/>
          <p:cNvSpPr txBox="1"/>
          <p:nvPr/>
        </p:nvSpPr>
        <p:spPr>
          <a:xfrm>
            <a:off x="9448495" y="1828800"/>
            <a:ext cx="2057400" cy="1371600"/>
          </a:xfrm>
          <a:prstGeom prst="rect">
            <a:avLst/>
          </a:prstGeom>
          <a:noFill/>
          <a:ln/>
        </p:spPr>
        <p:txBody>
          <a:bodyPr wrap="square" lIns="0" tIns="0" rIns="0" bIns="0" rtlCol="0" anchor="ctr"/>
          <a:lstStyle/>
          <a:p>
            <a:pPr marL="0" indent="0" algn="ctr">
              <a:buNone/>
            </a:pPr>
            <a:r>
              <a:rPr lang="en-US" sz="2100" b="1" dirty="0">
                <a:solidFill>
                  <a:schemeClr val="bg1"/>
                </a:solidFill>
              </a:rPr>
              <a:t>Innovación</a:t>
            </a:r>
            <a:endParaRPr lang="en-US" sz="2100" dirty="0"/>
          </a:p>
        </p:txBody>
      </p:sp>
      <p:sp>
        <p:nvSpPr>
          <p:cNvPr id="19" name="Shape 17"/>
          <p:cNvSpPr/>
          <p:nvPr/>
        </p:nvSpPr>
        <p:spPr>
          <a:xfrm>
            <a:off x="4635398" y="3246120"/>
            <a:ext cx="914" cy="548640"/>
          </a:xfrm>
          <a:prstGeom prst="line">
            <a:avLst/>
          </a:prstGeom>
          <a:noFill/>
          <a:ln w="31750">
            <a:solidFill>
              <a:srgbClr val="3A4664"/>
            </a:solidFill>
            <a:prstDash val="solid"/>
            <a:tailEnd type="triangle"/>
          </a:ln>
        </p:spPr>
      </p:sp>
      <p:sp>
        <p:nvSpPr>
          <p:cNvPr id="20" name="Text 18"/>
          <p:cNvSpPr txBox="1"/>
          <p:nvPr/>
        </p:nvSpPr>
        <p:spPr>
          <a:xfrm>
            <a:off x="3103778" y="3840480"/>
            <a:ext cx="3063240" cy="457200"/>
          </a:xfrm>
          <a:prstGeom prst="rect">
            <a:avLst/>
          </a:prstGeom>
          <a:noFill/>
          <a:ln/>
        </p:spPr>
        <p:txBody>
          <a:bodyPr wrap="square" lIns="0" tIns="0" rIns="0" bIns="0" rtlCol="0" anchor="ctr"/>
          <a:lstStyle/>
          <a:p>
            <a:pPr marL="0" indent="0" algn="ctr">
              <a:buNone/>
            </a:pPr>
            <a:r>
              <a:rPr lang="en-US" sz="1700" b="1" dirty="0">
                <a:solidFill>
                  <a:schemeClr val="tx1"/>
                </a:solidFill>
              </a:rPr>
              <a:t>No: </a:t>
            </a:r>
            <a:r>
              <a:rPr lang="en-US" sz="1700" dirty="0">
                <a:solidFill>
                  <a:schemeClr val="tx1"/>
                </a:solidFill>
              </a:rPr>
              <a:t>sigue siendo creatividad</a:t>
            </a:r>
            <a:endParaRPr lang="en-US" sz="1700" dirty="0"/>
          </a:p>
        </p:txBody>
      </p:sp>
      <p:sp>
        <p:nvSpPr>
          <p:cNvPr id="21" name="Tarjeta"/>
          <p:cNvSpPr/>
          <p:nvPr/>
        </p:nvSpPr>
        <p:spPr>
          <a:xfrm>
            <a:off x="548640" y="4572000"/>
            <a:ext cx="11094415" cy="960120"/>
          </a:xfrm>
          <a:prstGeom prst="roundRect">
            <a:avLst>
              <a:gd name="adj" fmla="val 14286"/>
            </a:avLst>
          </a:prstGeom>
          <a:solidFill>
            <a:schemeClr val="bg2"/>
          </a:solidFill>
          <a:ln/>
        </p:spPr>
      </p:sp>
      <p:sp>
        <p:nvSpPr>
          <p:cNvPr id="22" name="Competencia digital"/>
          <p:cNvSpPr/>
          <p:nvPr/>
        </p:nvSpPr>
        <p:spPr>
          <a:xfrm>
            <a:off x="777240" y="4727448"/>
            <a:ext cx="640080" cy="640080"/>
          </a:xfrm>
          <a:prstGeom prst="ellipse">
            <a:avLst/>
          </a:prstGeom>
          <a:solidFill>
            <a:schemeClr val="accent4"/>
          </a:solidFill>
          <a:ln/>
        </p:spPr>
      </p:sp>
      <p:pic>
        <p:nvPicPr>
          <p:cNvPr id="23" name="Image 0" descr="Competencia digital"/>
          <p:cNvPicPr>
            <a:picLocks noChangeAspect="1"/>
          </p:cNvPicPr>
          <p:nvPr/>
        </p:nvPicPr>
        <p:blipFill>
          <a:blip r:embed="rId3"/>
          <a:stretch>
            <a:fillRect/>
          </a:stretch>
        </p:blipFill>
        <p:spPr>
          <a:xfrm>
            <a:off x="930859" y="4881067"/>
            <a:ext cx="332842" cy="332842"/>
          </a:xfrm>
          <a:prstGeom prst="rect">
            <a:avLst/>
          </a:prstGeom>
        </p:spPr>
      </p:pic>
      <p:sp>
        <p:nvSpPr>
          <p:cNvPr id="24" name="Text 21"/>
          <p:cNvSpPr txBox="1"/>
          <p:nvPr/>
        </p:nvSpPr>
        <p:spPr>
          <a:xfrm>
            <a:off x="1645920" y="4572000"/>
            <a:ext cx="9722815" cy="960120"/>
          </a:xfrm>
          <a:prstGeom prst="rect">
            <a:avLst/>
          </a:prstGeom>
          <a:noFill/>
          <a:ln/>
        </p:spPr>
        <p:txBody>
          <a:bodyPr wrap="square" lIns="0" tIns="0" rIns="0" bIns="0" rtlCol="0" anchor="ctr"/>
          <a:lstStyle/>
          <a:p>
            <a:pPr marL="0" indent="0">
              <a:buNone/>
            </a:pPr>
            <a:r>
              <a:rPr lang="en-US" sz="1900" dirty="0">
                <a:solidFill>
                  <a:schemeClr val="tx1"/>
                </a:solidFill>
              </a:rPr>
              <a:t>Usar una herramienta digital sin cambiar cómo se trabaja es competencia digital.</a:t>
            </a:r>
            <a:endParaRPr lang="en-US" sz="1900" dirty="0"/>
          </a:p>
        </p:txBody>
      </p:sp>
      <p:sp>
        <p:nvSpPr>
          <p:cNvPr id="25" name="Text 22"/>
          <p:cNvSpPr txBox="1"/>
          <p:nvPr/>
        </p:nvSpPr>
        <p:spPr>
          <a:xfrm>
            <a:off x="548640" y="5669280"/>
            <a:ext cx="11094415" cy="457200"/>
          </a:xfrm>
          <a:prstGeom prst="rect">
            <a:avLst/>
          </a:prstGeom>
          <a:noFill/>
          <a:ln/>
        </p:spPr>
        <p:txBody>
          <a:bodyPr wrap="square" lIns="0" tIns="0" rIns="0" bIns="0" rtlCol="0" anchor="ctr"/>
          <a:lstStyle/>
          <a:p>
            <a:pPr marL="0" indent="0">
              <a:buNone/>
            </a:pPr>
            <a:r>
              <a:rPr lang="en-US" sz="1900" b="1" dirty="0">
                <a:solidFill>
                  <a:schemeClr val="accent3"/>
                </a:solidFill>
              </a:rPr>
              <a:t>Lo importante es el razonamiento, no acertar.</a:t>
            </a:r>
            <a:endParaRPr lang="en-US" sz="1900" dirty="0"/>
          </a:p>
        </p:txBody>
      </p:sp>
      <p:sp>
        <p:nvSpPr>
          <p:cNvPr id="26"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¿Para </a:t>
            </a:r>
            <a:r>
              <a:rPr lang="en-US" sz="3200" b="1" dirty="0" err="1">
                <a:solidFill>
                  <a:schemeClr val="tx1"/>
                </a:solidFill>
              </a:rPr>
              <a:t>qué</a:t>
            </a:r>
            <a:r>
              <a:rPr lang="en-US" sz="3200" b="1" dirty="0">
                <a:solidFill>
                  <a:schemeClr val="tx1"/>
                </a:solidFill>
              </a:rPr>
              <a:t> se </a:t>
            </a:r>
            <a:r>
              <a:rPr lang="en-US" sz="3200" b="1" dirty="0" err="1">
                <a:solidFill>
                  <a:schemeClr val="tx1"/>
                </a:solidFill>
              </a:rPr>
              <a:t>podría</a:t>
            </a:r>
            <a:r>
              <a:rPr lang="en-US" sz="3200" b="1">
                <a:solidFill>
                  <a:schemeClr val="tx1"/>
                </a:solidFill>
              </a:rPr>
              <a:t> usar un </a:t>
            </a:r>
            <a:r>
              <a:rPr lang="en-US" sz="3200" b="1" dirty="0">
                <a:solidFill>
                  <a:schemeClr val="tx1"/>
                </a:solidFill>
              </a:rPr>
              <a:t>clip?</a:t>
            </a:r>
            <a:endParaRPr lang="en-US" sz="3200" dirty="0"/>
          </a:p>
        </p:txBody>
      </p:sp>
      <p:sp>
        <p:nvSpPr>
          <p:cNvPr id="3" name="Etiqueta de tiempo"/>
          <p:cNvSpPr/>
          <p:nvPr/>
        </p:nvSpPr>
        <p:spPr>
          <a:xfrm>
            <a:off x="8767267" y="548640"/>
            <a:ext cx="2875788" cy="457200"/>
          </a:xfrm>
          <a:prstGeom prst="roundRect">
            <a:avLst>
              <a:gd name="adj" fmla="val 50000"/>
            </a:avLst>
          </a:prstGeom>
          <a:solidFill>
            <a:schemeClr val="accent1"/>
          </a:solidFill>
          <a:ln/>
        </p:spPr>
      </p:sp>
      <p:sp>
        <p:nvSpPr>
          <p:cNvPr id="4" name="Text 2"/>
          <p:cNvSpPr txBox="1"/>
          <p:nvPr/>
        </p:nvSpPr>
        <p:spPr>
          <a:xfrm>
            <a:off x="8767267" y="548640"/>
            <a:ext cx="2875788" cy="457200"/>
          </a:xfrm>
          <a:prstGeom prst="rect">
            <a:avLst/>
          </a:prstGeom>
          <a:noFill/>
          <a:ln/>
        </p:spPr>
        <p:txBody>
          <a:bodyPr wrap="square" lIns="0" tIns="0" rIns="0" bIns="0" rtlCol="0" anchor="ctr"/>
          <a:lstStyle/>
          <a:p>
            <a:pPr marL="0" indent="0" algn="ctr">
              <a:buNone/>
            </a:pPr>
            <a:r>
              <a:rPr lang="en-US" sz="1400" b="1" dirty="0">
                <a:solidFill>
                  <a:schemeClr val="tx1"/>
                </a:solidFill>
              </a:rPr>
              <a:t>Min. 10–12 · Individual</a:t>
            </a:r>
            <a:endParaRPr lang="en-US" sz="1400" dirty="0"/>
          </a:p>
        </p:txBody>
      </p:sp>
      <p:sp>
        <p:nvSpPr>
          <p:cNvPr id="5" name="Clip"/>
          <p:cNvSpPr/>
          <p:nvPr/>
        </p:nvSpPr>
        <p:spPr>
          <a:xfrm>
            <a:off x="914400" y="1645920"/>
            <a:ext cx="3291840" cy="3291840"/>
          </a:xfrm>
          <a:prstGeom prst="ellipse">
            <a:avLst/>
          </a:prstGeom>
          <a:solidFill>
            <a:schemeClr val="accent1"/>
          </a:solidFill>
          <a:ln/>
        </p:spPr>
      </p:sp>
      <p:pic>
        <p:nvPicPr>
          <p:cNvPr id="6" name="Image 0" descr="Clip"/>
          <p:cNvPicPr>
            <a:picLocks noChangeAspect="1"/>
          </p:cNvPicPr>
          <p:nvPr/>
        </p:nvPicPr>
        <p:blipFill>
          <a:blip r:embed="rId3"/>
          <a:stretch>
            <a:fillRect/>
          </a:stretch>
        </p:blipFill>
        <p:spPr>
          <a:xfrm>
            <a:off x="1704442" y="2435962"/>
            <a:ext cx="1711757" cy="1711757"/>
          </a:xfrm>
          <a:prstGeom prst="rect">
            <a:avLst/>
          </a:prstGeom>
        </p:spPr>
      </p:pic>
      <p:sp>
        <p:nvSpPr>
          <p:cNvPr id="7" name="90 segundos"/>
          <p:cNvSpPr/>
          <p:nvPr/>
        </p:nvSpPr>
        <p:spPr>
          <a:xfrm>
            <a:off x="5029200" y="1828800"/>
            <a:ext cx="777240" cy="777240"/>
          </a:xfrm>
          <a:prstGeom prst="ellipse">
            <a:avLst/>
          </a:prstGeom>
          <a:solidFill>
            <a:schemeClr val="tx2"/>
          </a:solidFill>
          <a:ln/>
        </p:spPr>
      </p:sp>
      <p:pic>
        <p:nvPicPr>
          <p:cNvPr id="8" name="Image 1" descr="90 segundos"/>
          <p:cNvPicPr>
            <a:picLocks noChangeAspect="1"/>
          </p:cNvPicPr>
          <p:nvPr/>
        </p:nvPicPr>
        <p:blipFill>
          <a:blip r:embed="rId4"/>
          <a:stretch>
            <a:fillRect/>
          </a:stretch>
        </p:blipFill>
        <p:spPr>
          <a:xfrm>
            <a:off x="5215738" y="2015338"/>
            <a:ext cx="404165" cy="404165"/>
          </a:xfrm>
          <a:prstGeom prst="rect">
            <a:avLst/>
          </a:prstGeom>
        </p:spPr>
      </p:pic>
      <p:sp>
        <p:nvSpPr>
          <p:cNvPr id="9" name="Text 5"/>
          <p:cNvSpPr txBox="1"/>
          <p:nvPr/>
        </p:nvSpPr>
        <p:spPr>
          <a:xfrm>
            <a:off x="6035040" y="1828800"/>
            <a:ext cx="5577840" cy="777240"/>
          </a:xfrm>
          <a:prstGeom prst="rect">
            <a:avLst/>
          </a:prstGeom>
          <a:noFill/>
          <a:ln/>
        </p:spPr>
        <p:txBody>
          <a:bodyPr wrap="square" lIns="0" tIns="0" rIns="0" bIns="0" rtlCol="0" anchor="ctr"/>
          <a:lstStyle/>
          <a:p>
            <a:pPr marL="0" indent="0">
              <a:buNone/>
            </a:pPr>
            <a:r>
              <a:rPr lang="en-US" sz="2400" dirty="0">
                <a:solidFill>
                  <a:schemeClr val="tx1"/>
                </a:solidFill>
              </a:rPr>
              <a:t>De 2 a 3 </a:t>
            </a:r>
            <a:r>
              <a:rPr lang="en-US" sz="2400" dirty="0" err="1">
                <a:solidFill>
                  <a:schemeClr val="tx1"/>
                </a:solidFill>
              </a:rPr>
              <a:t>minutos</a:t>
            </a:r>
            <a:r>
              <a:rPr lang="en-US" sz="2400" dirty="0">
                <a:solidFill>
                  <a:schemeClr val="tx1"/>
                </a:solidFill>
              </a:rPr>
              <a:t> </a:t>
            </a:r>
            <a:r>
              <a:rPr lang="en-US" sz="2400" dirty="0" err="1">
                <a:solidFill>
                  <a:schemeClr val="tx1"/>
                </a:solidFill>
              </a:rPr>
              <a:t>minutos</a:t>
            </a:r>
            <a:endParaRPr lang="en-US" sz="2400" dirty="0"/>
          </a:p>
        </p:txBody>
      </p:sp>
      <p:sp>
        <p:nvSpPr>
          <p:cNvPr id="10" name="En silencio"/>
          <p:cNvSpPr/>
          <p:nvPr/>
        </p:nvSpPr>
        <p:spPr>
          <a:xfrm>
            <a:off x="5029200" y="2880360"/>
            <a:ext cx="777240" cy="777240"/>
          </a:xfrm>
          <a:prstGeom prst="ellipse">
            <a:avLst/>
          </a:prstGeom>
          <a:solidFill>
            <a:schemeClr val="tx2"/>
          </a:solidFill>
          <a:ln/>
        </p:spPr>
      </p:sp>
      <p:pic>
        <p:nvPicPr>
          <p:cNvPr id="11" name="Image 2" descr="En silencio"/>
          <p:cNvPicPr>
            <a:picLocks noChangeAspect="1"/>
          </p:cNvPicPr>
          <p:nvPr/>
        </p:nvPicPr>
        <p:blipFill>
          <a:blip r:embed="rId5"/>
          <a:stretch>
            <a:fillRect/>
          </a:stretch>
        </p:blipFill>
        <p:spPr>
          <a:xfrm>
            <a:off x="5215738" y="3066898"/>
            <a:ext cx="404165" cy="404165"/>
          </a:xfrm>
          <a:prstGeom prst="rect">
            <a:avLst/>
          </a:prstGeom>
        </p:spPr>
      </p:pic>
      <p:sp>
        <p:nvSpPr>
          <p:cNvPr id="12" name="Text 7"/>
          <p:cNvSpPr txBox="1"/>
          <p:nvPr/>
        </p:nvSpPr>
        <p:spPr>
          <a:xfrm>
            <a:off x="6035040" y="2880360"/>
            <a:ext cx="5577840" cy="777240"/>
          </a:xfrm>
          <a:prstGeom prst="rect">
            <a:avLst/>
          </a:prstGeom>
          <a:noFill/>
          <a:ln/>
        </p:spPr>
        <p:txBody>
          <a:bodyPr wrap="square" lIns="0" tIns="0" rIns="0" bIns="0" rtlCol="0" anchor="ctr"/>
          <a:lstStyle/>
          <a:p>
            <a:pPr marL="0" indent="0">
              <a:buNone/>
            </a:pPr>
            <a:r>
              <a:rPr lang="en-US" sz="2400" dirty="0">
                <a:solidFill>
                  <a:schemeClr val="tx1"/>
                </a:solidFill>
              </a:rPr>
              <a:t>En silencio</a:t>
            </a:r>
            <a:endParaRPr lang="en-US" sz="2400" dirty="0"/>
          </a:p>
        </p:txBody>
      </p:sp>
      <p:sp>
        <p:nvSpPr>
          <p:cNvPr id="13" name="Por escrito: todos los usos que se os ocurran"/>
          <p:cNvSpPr/>
          <p:nvPr/>
        </p:nvSpPr>
        <p:spPr>
          <a:xfrm>
            <a:off x="5029200" y="3931920"/>
            <a:ext cx="777240" cy="777240"/>
          </a:xfrm>
          <a:prstGeom prst="ellipse">
            <a:avLst/>
          </a:prstGeom>
          <a:solidFill>
            <a:schemeClr val="tx2"/>
          </a:solidFill>
          <a:ln/>
        </p:spPr>
      </p:sp>
      <p:pic>
        <p:nvPicPr>
          <p:cNvPr id="14" name="Image 3" descr="Por escrito: todos los usos que se os ocurran"/>
          <p:cNvPicPr>
            <a:picLocks noChangeAspect="1"/>
          </p:cNvPicPr>
          <p:nvPr/>
        </p:nvPicPr>
        <p:blipFill>
          <a:blip r:embed="rId6"/>
          <a:stretch>
            <a:fillRect/>
          </a:stretch>
        </p:blipFill>
        <p:spPr>
          <a:xfrm>
            <a:off x="5215738" y="4118458"/>
            <a:ext cx="404165" cy="404165"/>
          </a:xfrm>
          <a:prstGeom prst="rect">
            <a:avLst/>
          </a:prstGeom>
        </p:spPr>
      </p:pic>
      <p:sp>
        <p:nvSpPr>
          <p:cNvPr id="15" name="Text 9"/>
          <p:cNvSpPr txBox="1"/>
          <p:nvPr/>
        </p:nvSpPr>
        <p:spPr>
          <a:xfrm>
            <a:off x="6035040" y="3931920"/>
            <a:ext cx="5577840" cy="777240"/>
          </a:xfrm>
          <a:prstGeom prst="rect">
            <a:avLst/>
          </a:prstGeom>
          <a:noFill/>
          <a:ln/>
        </p:spPr>
        <p:txBody>
          <a:bodyPr wrap="square" lIns="0" tIns="0" rIns="0" bIns="0" rtlCol="0" anchor="ctr"/>
          <a:lstStyle/>
          <a:p>
            <a:pPr marL="0" indent="0">
              <a:buNone/>
            </a:pPr>
            <a:r>
              <a:rPr lang="en-US" sz="2400" dirty="0">
                <a:solidFill>
                  <a:schemeClr val="tx1"/>
                </a:solidFill>
              </a:rPr>
              <a:t>Por escrito: todos los usos que se os ocurran</a:t>
            </a:r>
            <a:endParaRPr lang="en-US" sz="2400" dirty="0"/>
          </a:p>
        </p:txBody>
      </p:sp>
      <p:sp>
        <p:nvSpPr>
          <p:cNvPr id="16" name="Text 10"/>
          <p:cNvSpPr txBox="1"/>
          <p:nvPr/>
        </p:nvSpPr>
        <p:spPr>
          <a:xfrm>
            <a:off x="5029200" y="5166360"/>
            <a:ext cx="6583680" cy="548640"/>
          </a:xfrm>
          <a:prstGeom prst="rect">
            <a:avLst/>
          </a:prstGeom>
          <a:noFill/>
          <a:ln/>
        </p:spPr>
        <p:txBody>
          <a:bodyPr wrap="square" lIns="0" tIns="0" rIns="0" bIns="0" rtlCol="0" anchor="ctr"/>
          <a:lstStyle/>
          <a:p>
            <a:pPr marL="0" indent="0">
              <a:buNone/>
            </a:pPr>
            <a:r>
              <a:rPr lang="en-US" sz="2000" b="1" dirty="0">
                <a:solidFill>
                  <a:schemeClr val="tx2"/>
                </a:solidFill>
              </a:rPr>
              <a:t>Después: ¿cuántos usos habéis escrito?</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Y ahora, elegimos uno</a:t>
            </a:r>
            <a:endParaRPr lang="en-US" sz="3200" dirty="0"/>
          </a:p>
        </p:txBody>
      </p:sp>
      <p:sp>
        <p:nvSpPr>
          <p:cNvPr id="3" name="Etiqueta de tiempo"/>
          <p:cNvSpPr/>
          <p:nvPr/>
        </p:nvSpPr>
        <p:spPr>
          <a:xfrm>
            <a:off x="8451799" y="548640"/>
            <a:ext cx="3191256" cy="457200"/>
          </a:xfrm>
          <a:prstGeom prst="roundRect">
            <a:avLst>
              <a:gd name="adj" fmla="val 50000"/>
            </a:avLst>
          </a:prstGeom>
          <a:solidFill>
            <a:schemeClr val="accent1"/>
          </a:solidFill>
          <a:ln/>
        </p:spPr>
      </p:sp>
      <p:sp>
        <p:nvSpPr>
          <p:cNvPr id="4" name="Text 2"/>
          <p:cNvSpPr txBox="1"/>
          <p:nvPr/>
        </p:nvSpPr>
        <p:spPr>
          <a:xfrm>
            <a:off x="8451799" y="548640"/>
            <a:ext cx="3191256" cy="457200"/>
          </a:xfrm>
          <a:prstGeom prst="rect">
            <a:avLst/>
          </a:prstGeom>
          <a:noFill/>
          <a:ln/>
        </p:spPr>
        <p:txBody>
          <a:bodyPr wrap="square" lIns="0" tIns="0" rIns="0" bIns="0" rtlCol="0" anchor="ctr"/>
          <a:lstStyle/>
          <a:p>
            <a:pPr marL="0" indent="0" algn="ctr">
              <a:buNone/>
            </a:pPr>
            <a:r>
              <a:rPr lang="en-US" sz="1400" b="1" dirty="0">
                <a:solidFill>
                  <a:schemeClr val="tx1"/>
                </a:solidFill>
              </a:rPr>
              <a:t>Min. 12–14 · Todo el grupo</a:t>
            </a:r>
            <a:endParaRPr lang="en-US" sz="1400" dirty="0"/>
          </a:p>
        </p:txBody>
      </p:sp>
      <p:sp>
        <p:nvSpPr>
          <p:cNvPr id="5" name="Tarjeta"/>
          <p:cNvSpPr/>
          <p:nvPr/>
        </p:nvSpPr>
        <p:spPr>
          <a:xfrm>
            <a:off x="548640" y="1645920"/>
            <a:ext cx="11094415" cy="2743200"/>
          </a:xfrm>
          <a:prstGeom prst="roundRect">
            <a:avLst>
              <a:gd name="adj" fmla="val 5000"/>
            </a:avLst>
          </a:prstGeom>
          <a:solidFill>
            <a:schemeClr val="bg2"/>
          </a:solidFill>
          <a:ln/>
        </p:spPr>
      </p:sp>
      <p:sp>
        <p:nvSpPr>
          <p:cNvPr id="6" name="Producto"/>
          <p:cNvSpPr/>
          <p:nvPr/>
        </p:nvSpPr>
        <p:spPr>
          <a:xfrm>
            <a:off x="1005840" y="2331720"/>
            <a:ext cx="1371600" cy="1371600"/>
          </a:xfrm>
          <a:prstGeom prst="ellipse">
            <a:avLst/>
          </a:prstGeom>
          <a:solidFill>
            <a:schemeClr val="accent1"/>
          </a:solidFill>
          <a:ln/>
        </p:spPr>
      </p:sp>
      <p:pic>
        <p:nvPicPr>
          <p:cNvPr id="7" name="Image 0" descr="Producto"/>
          <p:cNvPicPr>
            <a:picLocks noChangeAspect="1"/>
          </p:cNvPicPr>
          <p:nvPr/>
        </p:nvPicPr>
        <p:blipFill>
          <a:blip r:embed="rId3"/>
          <a:stretch>
            <a:fillRect/>
          </a:stretch>
        </p:blipFill>
        <p:spPr>
          <a:xfrm>
            <a:off x="1335024" y="2660904"/>
            <a:ext cx="713232" cy="713232"/>
          </a:xfrm>
          <a:prstGeom prst="rect">
            <a:avLst/>
          </a:prstGeom>
        </p:spPr>
      </p:pic>
      <p:sp>
        <p:nvSpPr>
          <p:cNvPr id="8" name="Text 5"/>
          <p:cNvSpPr txBox="1"/>
          <p:nvPr/>
        </p:nvSpPr>
        <p:spPr>
          <a:xfrm>
            <a:off x="2743200" y="1645920"/>
            <a:ext cx="8534095" cy="2743200"/>
          </a:xfrm>
          <a:prstGeom prst="rect">
            <a:avLst/>
          </a:prstGeom>
          <a:noFill/>
          <a:ln/>
        </p:spPr>
        <p:txBody>
          <a:bodyPr wrap="square" lIns="0" tIns="0" rIns="0" bIns="0" rtlCol="0" anchor="ctr"/>
          <a:lstStyle/>
          <a:p>
            <a:pPr marL="0" indent="0">
              <a:buNone/>
            </a:pPr>
            <a:r>
              <a:rPr lang="en-US" sz="3200" dirty="0">
                <a:solidFill>
                  <a:schemeClr val="tx1"/>
                </a:solidFill>
              </a:rPr>
              <a:t>De todos esos usos, ¿cuál podría convertirse en un producto que alguien compraría?</a:t>
            </a:r>
            <a:endParaRPr lang="en-US" sz="3200" dirty="0"/>
          </a:p>
        </p:txBody>
      </p:sp>
      <p:sp>
        <p:nvSpPr>
          <p:cNvPr id="9" name="Votación"/>
          <p:cNvSpPr/>
          <p:nvPr/>
        </p:nvSpPr>
        <p:spPr>
          <a:xfrm>
            <a:off x="548640" y="4800600"/>
            <a:ext cx="548640" cy="548640"/>
          </a:xfrm>
          <a:prstGeom prst="ellipse">
            <a:avLst/>
          </a:prstGeom>
          <a:solidFill>
            <a:schemeClr val="tx2"/>
          </a:solidFill>
          <a:ln/>
        </p:spPr>
      </p:sp>
      <p:pic>
        <p:nvPicPr>
          <p:cNvPr id="10" name="Image 1" descr="Votación"/>
          <p:cNvPicPr>
            <a:picLocks noChangeAspect="1"/>
          </p:cNvPicPr>
          <p:nvPr/>
        </p:nvPicPr>
        <p:blipFill>
          <a:blip r:embed="rId4"/>
          <a:stretch>
            <a:fillRect/>
          </a:stretch>
        </p:blipFill>
        <p:spPr>
          <a:xfrm>
            <a:off x="680314" y="4932274"/>
            <a:ext cx="285293" cy="285293"/>
          </a:xfrm>
          <a:prstGeom prst="rect">
            <a:avLst/>
          </a:prstGeom>
        </p:spPr>
      </p:pic>
      <p:sp>
        <p:nvSpPr>
          <p:cNvPr id="11" name="Text 7"/>
          <p:cNvSpPr txBox="1"/>
          <p:nvPr/>
        </p:nvSpPr>
        <p:spPr>
          <a:xfrm>
            <a:off x="1280160" y="4800600"/>
            <a:ext cx="7315200" cy="548640"/>
          </a:xfrm>
          <a:prstGeom prst="rect">
            <a:avLst/>
          </a:prstGeom>
          <a:noFill/>
          <a:ln/>
        </p:spPr>
        <p:txBody>
          <a:bodyPr wrap="square" lIns="0" tIns="0" rIns="0" bIns="0" rtlCol="0" anchor="ctr"/>
          <a:lstStyle/>
          <a:p>
            <a:pPr marL="0" indent="0">
              <a:buNone/>
            </a:pPr>
            <a:r>
              <a:rPr lang="en-US" sz="1800" dirty="0">
                <a:solidFill>
                  <a:schemeClr val="tx1"/>
                </a:solidFill>
              </a:rPr>
              <a:t>Votación a mano alzada</a:t>
            </a:r>
            <a:endParaRPr lang="en-US" sz="18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No vendemos el clip: vendemos su idea</a:t>
            </a:r>
            <a:endParaRPr lang="en-US" sz="3200" dirty="0"/>
          </a:p>
        </p:txBody>
      </p:sp>
      <p:sp>
        <p:nvSpPr>
          <p:cNvPr id="3" name="Etiqueta de tiempo"/>
          <p:cNvSpPr/>
          <p:nvPr/>
        </p:nvSpPr>
        <p:spPr>
          <a:xfrm>
            <a:off x="10134295" y="548640"/>
            <a:ext cx="1508760" cy="457200"/>
          </a:xfrm>
          <a:prstGeom prst="roundRect">
            <a:avLst>
              <a:gd name="adj" fmla="val 50000"/>
            </a:avLst>
          </a:prstGeom>
          <a:solidFill>
            <a:schemeClr val="bg2"/>
          </a:solidFill>
          <a:ln/>
        </p:spPr>
      </p:sp>
      <p:sp>
        <p:nvSpPr>
          <p:cNvPr id="4" name="Text 2"/>
          <p:cNvSpPr txBox="1"/>
          <p:nvPr/>
        </p:nvSpPr>
        <p:spPr>
          <a:xfrm>
            <a:off x="10134295" y="548640"/>
            <a:ext cx="1508760" cy="457200"/>
          </a:xfrm>
          <a:prstGeom prst="rect">
            <a:avLst/>
          </a:prstGeom>
          <a:noFill/>
          <a:ln/>
        </p:spPr>
        <p:txBody>
          <a:bodyPr wrap="square" lIns="0" tIns="0" rIns="0" bIns="0" rtlCol="0" anchor="ctr"/>
          <a:lstStyle/>
          <a:p>
            <a:pPr marL="0" indent="0" algn="ctr">
              <a:buNone/>
            </a:pPr>
            <a:r>
              <a:rPr lang="en-US" sz="1400" b="1" dirty="0">
                <a:solidFill>
                  <a:schemeClr val="tx1"/>
                </a:solidFill>
              </a:rPr>
              <a:t>Min. 12–14</a:t>
            </a:r>
            <a:endParaRPr lang="en-US" sz="1400" dirty="0"/>
          </a:p>
        </p:txBody>
      </p:sp>
      <p:sp>
        <p:nvSpPr>
          <p:cNvPr id="5" name="Text 3"/>
          <p:cNvSpPr txBox="1"/>
          <p:nvPr/>
        </p:nvSpPr>
        <p:spPr>
          <a:xfrm>
            <a:off x="548640" y="1325880"/>
            <a:ext cx="3108960" cy="457200"/>
          </a:xfrm>
          <a:prstGeom prst="rect">
            <a:avLst/>
          </a:prstGeom>
          <a:noFill/>
          <a:ln/>
        </p:spPr>
        <p:txBody>
          <a:bodyPr wrap="square" lIns="0" tIns="0" rIns="0" bIns="0" rtlCol="0" anchor="ctr"/>
          <a:lstStyle/>
          <a:p>
            <a:pPr marL="0" indent="0">
              <a:buNone/>
            </a:pPr>
            <a:r>
              <a:rPr lang="en-US" sz="1800" b="1" dirty="0">
                <a:solidFill>
                  <a:schemeClr val="tx1"/>
                </a:solidFill>
              </a:rPr>
              <a:t>Del clip tomamos el concepto:</a:t>
            </a:r>
            <a:endParaRPr lang="en-US" sz="1800" dirty="0"/>
          </a:p>
        </p:txBody>
      </p:sp>
      <p:sp>
        <p:nvSpPr>
          <p:cNvPr id="6" name="Sujetar por presión"/>
          <p:cNvSpPr/>
          <p:nvPr/>
        </p:nvSpPr>
        <p:spPr>
          <a:xfrm>
            <a:off x="3520440" y="1325880"/>
            <a:ext cx="2514600" cy="457200"/>
          </a:xfrm>
          <a:prstGeom prst="roundRect">
            <a:avLst>
              <a:gd name="adj" fmla="val 50000"/>
            </a:avLst>
          </a:prstGeom>
          <a:solidFill>
            <a:schemeClr val="accent3"/>
          </a:solidFill>
          <a:ln/>
        </p:spPr>
      </p:sp>
      <p:sp>
        <p:nvSpPr>
          <p:cNvPr id="7" name="Text 5"/>
          <p:cNvSpPr txBox="1"/>
          <p:nvPr/>
        </p:nvSpPr>
        <p:spPr>
          <a:xfrm>
            <a:off x="3520440" y="1325880"/>
            <a:ext cx="2514600" cy="457200"/>
          </a:xfrm>
          <a:prstGeom prst="rect">
            <a:avLst/>
          </a:prstGeom>
          <a:noFill/>
          <a:ln/>
        </p:spPr>
        <p:txBody>
          <a:bodyPr wrap="square" lIns="0" tIns="0" rIns="0" bIns="0" rtlCol="0" anchor="ctr"/>
          <a:lstStyle/>
          <a:p>
            <a:pPr marL="0" indent="0" algn="ctr">
              <a:buNone/>
            </a:pPr>
            <a:r>
              <a:rPr lang="en-US" sz="1500" b="1" dirty="0">
                <a:solidFill>
                  <a:schemeClr val="bg1"/>
                </a:solidFill>
              </a:rPr>
              <a:t>Sujetar por presión</a:t>
            </a:r>
            <a:endParaRPr lang="en-US" sz="1500" dirty="0"/>
          </a:p>
        </p:txBody>
      </p:sp>
      <p:sp>
        <p:nvSpPr>
          <p:cNvPr id="8" name="Doblarse sin romperse"/>
          <p:cNvSpPr/>
          <p:nvPr/>
        </p:nvSpPr>
        <p:spPr>
          <a:xfrm>
            <a:off x="6217920" y="1325880"/>
            <a:ext cx="2514600" cy="457200"/>
          </a:xfrm>
          <a:prstGeom prst="roundRect">
            <a:avLst>
              <a:gd name="adj" fmla="val 50000"/>
            </a:avLst>
          </a:prstGeom>
          <a:solidFill>
            <a:schemeClr val="accent4"/>
          </a:solidFill>
          <a:ln/>
        </p:spPr>
      </p:sp>
      <p:sp>
        <p:nvSpPr>
          <p:cNvPr id="9" name="Text 7"/>
          <p:cNvSpPr txBox="1"/>
          <p:nvPr/>
        </p:nvSpPr>
        <p:spPr>
          <a:xfrm>
            <a:off x="6217920" y="1325880"/>
            <a:ext cx="2514600" cy="457200"/>
          </a:xfrm>
          <a:prstGeom prst="rect">
            <a:avLst/>
          </a:prstGeom>
          <a:noFill/>
          <a:ln/>
        </p:spPr>
        <p:txBody>
          <a:bodyPr wrap="square" lIns="0" tIns="0" rIns="0" bIns="0" rtlCol="0" anchor="ctr"/>
          <a:lstStyle/>
          <a:p>
            <a:pPr marL="0" indent="0" algn="ctr">
              <a:buNone/>
            </a:pPr>
            <a:r>
              <a:rPr lang="en-US" sz="1500" b="1" dirty="0">
                <a:solidFill>
                  <a:schemeClr val="bg1"/>
                </a:solidFill>
              </a:rPr>
              <a:t>Doblarse sin romperse</a:t>
            </a:r>
            <a:endParaRPr lang="en-US" sz="1500" dirty="0"/>
          </a:p>
        </p:txBody>
      </p:sp>
      <p:sp>
        <p:nvSpPr>
          <p:cNvPr id="10" name="Unir y separar fácilmente"/>
          <p:cNvSpPr/>
          <p:nvPr/>
        </p:nvSpPr>
        <p:spPr>
          <a:xfrm>
            <a:off x="8915400" y="1325880"/>
            <a:ext cx="2514600" cy="457200"/>
          </a:xfrm>
          <a:prstGeom prst="roundRect">
            <a:avLst>
              <a:gd name="adj" fmla="val 50000"/>
            </a:avLst>
          </a:prstGeom>
          <a:solidFill>
            <a:schemeClr val="tx2"/>
          </a:solidFill>
          <a:ln/>
        </p:spPr>
      </p:sp>
      <p:sp>
        <p:nvSpPr>
          <p:cNvPr id="11" name="Text 9"/>
          <p:cNvSpPr txBox="1"/>
          <p:nvPr/>
        </p:nvSpPr>
        <p:spPr>
          <a:xfrm>
            <a:off x="8915400" y="1325880"/>
            <a:ext cx="2514600" cy="457200"/>
          </a:xfrm>
          <a:prstGeom prst="rect">
            <a:avLst/>
          </a:prstGeom>
          <a:noFill/>
          <a:ln/>
        </p:spPr>
        <p:txBody>
          <a:bodyPr wrap="square" lIns="0" tIns="0" rIns="0" bIns="0" rtlCol="0" anchor="ctr"/>
          <a:lstStyle/>
          <a:p>
            <a:pPr marL="0" indent="0" algn="ctr">
              <a:buNone/>
            </a:pPr>
            <a:r>
              <a:rPr lang="en-US" sz="1500" b="1" dirty="0">
                <a:solidFill>
                  <a:schemeClr val="bg1"/>
                </a:solidFill>
              </a:rPr>
              <a:t>Unir y separar fácilmente</a:t>
            </a:r>
            <a:endParaRPr lang="en-US" sz="1500" dirty="0"/>
          </a:p>
        </p:txBody>
      </p:sp>
      <p:sp>
        <p:nvSpPr>
          <p:cNvPr id="12" name="Organizador de cables"/>
          <p:cNvSpPr/>
          <p:nvPr/>
        </p:nvSpPr>
        <p:spPr>
          <a:xfrm>
            <a:off x="548640" y="2057400"/>
            <a:ext cx="3515258" cy="1828800"/>
          </a:xfrm>
          <a:prstGeom prst="roundRect">
            <a:avLst>
              <a:gd name="adj" fmla="val 7500"/>
            </a:avLst>
          </a:prstGeom>
          <a:solidFill>
            <a:schemeClr val="bg2"/>
          </a:solidFill>
          <a:ln/>
        </p:spPr>
      </p:sp>
      <p:sp>
        <p:nvSpPr>
          <p:cNvPr id="13" name="Organizador de cables"/>
          <p:cNvSpPr/>
          <p:nvPr/>
        </p:nvSpPr>
        <p:spPr>
          <a:xfrm>
            <a:off x="777240" y="2258568"/>
            <a:ext cx="640080" cy="640080"/>
          </a:xfrm>
          <a:prstGeom prst="ellipse">
            <a:avLst/>
          </a:prstGeom>
          <a:solidFill>
            <a:schemeClr val="accent4"/>
          </a:solidFill>
          <a:ln/>
        </p:spPr>
      </p:sp>
      <p:pic>
        <p:nvPicPr>
          <p:cNvPr id="14" name="Image 0" descr="Organizador de cables"/>
          <p:cNvPicPr>
            <a:picLocks noChangeAspect="1"/>
          </p:cNvPicPr>
          <p:nvPr/>
        </p:nvPicPr>
        <p:blipFill>
          <a:blip r:embed="rId3"/>
          <a:stretch>
            <a:fillRect/>
          </a:stretch>
        </p:blipFill>
        <p:spPr>
          <a:xfrm>
            <a:off x="930859" y="2412187"/>
            <a:ext cx="332842" cy="332842"/>
          </a:xfrm>
          <a:prstGeom prst="rect">
            <a:avLst/>
          </a:prstGeom>
        </p:spPr>
      </p:pic>
      <p:sp>
        <p:nvSpPr>
          <p:cNvPr id="15" name="Text 12"/>
          <p:cNvSpPr txBox="1"/>
          <p:nvPr/>
        </p:nvSpPr>
        <p:spPr>
          <a:xfrm>
            <a:off x="1554480" y="2258568"/>
            <a:ext cx="2326538" cy="640080"/>
          </a:xfrm>
          <a:prstGeom prst="rect">
            <a:avLst/>
          </a:prstGeom>
          <a:noFill/>
          <a:ln/>
        </p:spPr>
        <p:txBody>
          <a:bodyPr wrap="square" lIns="0" tIns="0" rIns="0" bIns="0" rtlCol="0" anchor="ctr"/>
          <a:lstStyle/>
          <a:p>
            <a:pPr marL="0" indent="0">
              <a:buNone/>
            </a:pPr>
            <a:r>
              <a:rPr lang="en-US" sz="1800" b="1" dirty="0">
                <a:solidFill>
                  <a:schemeClr val="tx1"/>
                </a:solidFill>
              </a:rPr>
              <a:t>Organizador de cables</a:t>
            </a:r>
            <a:endParaRPr lang="en-US" sz="1800" dirty="0"/>
          </a:p>
        </p:txBody>
      </p:sp>
      <p:sp>
        <p:nvSpPr>
          <p:cNvPr id="16" name="Text 13"/>
          <p:cNvSpPr txBox="1"/>
          <p:nvPr/>
        </p:nvSpPr>
        <p:spPr>
          <a:xfrm>
            <a:off x="777240" y="2971800"/>
            <a:ext cx="3058058" cy="566928"/>
          </a:xfrm>
          <a:prstGeom prst="rect">
            <a:avLst/>
          </a:prstGeom>
          <a:noFill/>
          <a:ln/>
        </p:spPr>
        <p:txBody>
          <a:bodyPr wrap="square" lIns="0" tIns="0" rIns="0" bIns="0" rtlCol="0" anchor="t"/>
          <a:lstStyle/>
          <a:p>
            <a:pPr marL="0" indent="0">
              <a:buNone/>
            </a:pPr>
            <a:r>
              <a:rPr lang="en-US" sz="1400" dirty="0">
                <a:solidFill>
                  <a:schemeClr val="tx1"/>
                </a:solidFill>
              </a:rPr>
              <a:t>Pieza de silicona que agrupa los cargadores y evita enredos.</a:t>
            </a:r>
            <a:endParaRPr lang="en-US" sz="1400" dirty="0"/>
          </a:p>
        </p:txBody>
      </p:sp>
      <p:sp>
        <p:nvSpPr>
          <p:cNvPr id="17" name="Text 14"/>
          <p:cNvSpPr txBox="1"/>
          <p:nvPr/>
        </p:nvSpPr>
        <p:spPr>
          <a:xfrm>
            <a:off x="777240" y="3520440"/>
            <a:ext cx="3058058" cy="292608"/>
          </a:xfrm>
          <a:prstGeom prst="rect">
            <a:avLst/>
          </a:prstGeom>
          <a:noFill/>
          <a:ln/>
        </p:spPr>
        <p:txBody>
          <a:bodyPr wrap="square" lIns="0" tIns="0" rIns="0" bIns="0" rtlCol="0" anchor="t"/>
          <a:lstStyle/>
          <a:p>
            <a:pPr marL="0" indent="0">
              <a:buNone/>
            </a:pPr>
            <a:r>
              <a:rPr lang="en-US" sz="1200" b="1" i="1" dirty="0">
                <a:solidFill>
                  <a:schemeClr val="tx2"/>
                </a:solidFill>
              </a:rPr>
              <a:t>Para: </a:t>
            </a:r>
            <a:r>
              <a:rPr lang="en-US" sz="1200" i="1" dirty="0">
                <a:solidFill>
                  <a:schemeClr val="tx2"/>
                </a:solidFill>
              </a:rPr>
              <a:t>Teletrabajadores y viajeros</a:t>
            </a:r>
            <a:endParaRPr lang="en-US" sz="1200" dirty="0"/>
          </a:p>
        </p:txBody>
      </p:sp>
      <p:sp>
        <p:nvSpPr>
          <p:cNvPr id="18" name="Cierre para alimentos"/>
          <p:cNvSpPr/>
          <p:nvPr/>
        </p:nvSpPr>
        <p:spPr>
          <a:xfrm>
            <a:off x="4338218" y="2057400"/>
            <a:ext cx="3515258" cy="1828800"/>
          </a:xfrm>
          <a:prstGeom prst="roundRect">
            <a:avLst>
              <a:gd name="adj" fmla="val 7500"/>
            </a:avLst>
          </a:prstGeom>
          <a:solidFill>
            <a:schemeClr val="bg2"/>
          </a:solidFill>
          <a:ln/>
        </p:spPr>
      </p:sp>
      <p:sp>
        <p:nvSpPr>
          <p:cNvPr id="19" name="Cierre para alimentos"/>
          <p:cNvSpPr/>
          <p:nvPr/>
        </p:nvSpPr>
        <p:spPr>
          <a:xfrm>
            <a:off x="4566818" y="2258568"/>
            <a:ext cx="640080" cy="640080"/>
          </a:xfrm>
          <a:prstGeom prst="ellipse">
            <a:avLst/>
          </a:prstGeom>
          <a:solidFill>
            <a:schemeClr val="accent3"/>
          </a:solidFill>
          <a:ln/>
        </p:spPr>
      </p:sp>
      <p:pic>
        <p:nvPicPr>
          <p:cNvPr id="20" name="Image 1" descr="Cierre para alimentos"/>
          <p:cNvPicPr>
            <a:picLocks noChangeAspect="1"/>
          </p:cNvPicPr>
          <p:nvPr/>
        </p:nvPicPr>
        <p:blipFill>
          <a:blip r:embed="rId4"/>
          <a:stretch>
            <a:fillRect/>
          </a:stretch>
        </p:blipFill>
        <p:spPr>
          <a:xfrm>
            <a:off x="4720438" y="2412187"/>
            <a:ext cx="332842" cy="332842"/>
          </a:xfrm>
          <a:prstGeom prst="rect">
            <a:avLst/>
          </a:prstGeom>
        </p:spPr>
      </p:pic>
      <p:sp>
        <p:nvSpPr>
          <p:cNvPr id="21" name="Text 17"/>
          <p:cNvSpPr txBox="1"/>
          <p:nvPr/>
        </p:nvSpPr>
        <p:spPr>
          <a:xfrm>
            <a:off x="5344058" y="2258568"/>
            <a:ext cx="2326538" cy="640080"/>
          </a:xfrm>
          <a:prstGeom prst="rect">
            <a:avLst/>
          </a:prstGeom>
          <a:noFill/>
          <a:ln/>
        </p:spPr>
        <p:txBody>
          <a:bodyPr wrap="square" lIns="0" tIns="0" rIns="0" bIns="0" rtlCol="0" anchor="ctr"/>
          <a:lstStyle/>
          <a:p>
            <a:pPr marL="0" indent="0">
              <a:buNone/>
            </a:pPr>
            <a:r>
              <a:rPr lang="en-US" sz="1800" b="1" dirty="0">
                <a:solidFill>
                  <a:schemeClr val="tx1"/>
                </a:solidFill>
              </a:rPr>
              <a:t>Cierre para alimentos</a:t>
            </a:r>
            <a:endParaRPr lang="en-US" sz="1800" dirty="0"/>
          </a:p>
        </p:txBody>
      </p:sp>
      <p:sp>
        <p:nvSpPr>
          <p:cNvPr id="22" name="Text 18"/>
          <p:cNvSpPr txBox="1"/>
          <p:nvPr/>
        </p:nvSpPr>
        <p:spPr>
          <a:xfrm>
            <a:off x="4566818" y="2971800"/>
            <a:ext cx="3058058" cy="566928"/>
          </a:xfrm>
          <a:prstGeom prst="rect">
            <a:avLst/>
          </a:prstGeom>
          <a:noFill/>
          <a:ln/>
        </p:spPr>
        <p:txBody>
          <a:bodyPr wrap="square" lIns="0" tIns="0" rIns="0" bIns="0" rtlCol="0" anchor="t"/>
          <a:lstStyle/>
          <a:p>
            <a:pPr marL="0" indent="0">
              <a:buNone/>
            </a:pPr>
            <a:r>
              <a:rPr lang="en-US" sz="1400" dirty="0">
                <a:solidFill>
                  <a:schemeClr val="tx1"/>
                </a:solidFill>
              </a:rPr>
              <a:t>Pinza grande y reutilizable que mantiene cerrados los envases abiertos.</a:t>
            </a:r>
            <a:endParaRPr lang="en-US" sz="1400" dirty="0"/>
          </a:p>
        </p:txBody>
      </p:sp>
      <p:sp>
        <p:nvSpPr>
          <p:cNvPr id="23" name="Text 19"/>
          <p:cNvSpPr txBox="1"/>
          <p:nvPr/>
        </p:nvSpPr>
        <p:spPr>
          <a:xfrm>
            <a:off x="4566818" y="3520440"/>
            <a:ext cx="3058058" cy="292608"/>
          </a:xfrm>
          <a:prstGeom prst="rect">
            <a:avLst/>
          </a:prstGeom>
          <a:noFill/>
          <a:ln/>
        </p:spPr>
        <p:txBody>
          <a:bodyPr wrap="square" lIns="0" tIns="0" rIns="0" bIns="0" rtlCol="0" anchor="t"/>
          <a:lstStyle/>
          <a:p>
            <a:pPr marL="0" indent="0">
              <a:buNone/>
            </a:pPr>
            <a:r>
              <a:rPr lang="en-US" sz="1200" b="1" i="1" dirty="0">
                <a:solidFill>
                  <a:schemeClr val="tx2"/>
                </a:solidFill>
              </a:rPr>
              <a:t>Para: </a:t>
            </a:r>
            <a:r>
              <a:rPr lang="en-US" sz="1200" i="1" dirty="0">
                <a:solidFill>
                  <a:schemeClr val="tx2"/>
                </a:solidFill>
              </a:rPr>
              <a:t>Familias y tiendas de alimentación</a:t>
            </a:r>
            <a:endParaRPr lang="en-US" sz="1200" dirty="0"/>
          </a:p>
        </p:txBody>
      </p:sp>
      <p:sp>
        <p:nvSpPr>
          <p:cNvPr id="24" name="Conectores para muebles"/>
          <p:cNvSpPr/>
          <p:nvPr/>
        </p:nvSpPr>
        <p:spPr>
          <a:xfrm>
            <a:off x="8127797" y="2057400"/>
            <a:ext cx="3515258" cy="1828800"/>
          </a:xfrm>
          <a:prstGeom prst="roundRect">
            <a:avLst>
              <a:gd name="adj" fmla="val 7500"/>
            </a:avLst>
          </a:prstGeom>
          <a:solidFill>
            <a:schemeClr val="bg2"/>
          </a:solidFill>
          <a:ln/>
        </p:spPr>
      </p:sp>
      <p:sp>
        <p:nvSpPr>
          <p:cNvPr id="25" name="Conectores para muebles"/>
          <p:cNvSpPr/>
          <p:nvPr/>
        </p:nvSpPr>
        <p:spPr>
          <a:xfrm>
            <a:off x="8356397" y="2258568"/>
            <a:ext cx="640080" cy="640080"/>
          </a:xfrm>
          <a:prstGeom prst="ellipse">
            <a:avLst/>
          </a:prstGeom>
          <a:solidFill>
            <a:schemeClr val="tx2"/>
          </a:solidFill>
          <a:ln/>
        </p:spPr>
      </p:sp>
      <p:pic>
        <p:nvPicPr>
          <p:cNvPr id="26" name="Image 2" descr="Conectores para muebles"/>
          <p:cNvPicPr>
            <a:picLocks noChangeAspect="1"/>
          </p:cNvPicPr>
          <p:nvPr/>
        </p:nvPicPr>
        <p:blipFill>
          <a:blip r:embed="rId5"/>
          <a:stretch>
            <a:fillRect/>
          </a:stretch>
        </p:blipFill>
        <p:spPr>
          <a:xfrm>
            <a:off x="8510016" y="2412187"/>
            <a:ext cx="332842" cy="332842"/>
          </a:xfrm>
          <a:prstGeom prst="rect">
            <a:avLst/>
          </a:prstGeom>
        </p:spPr>
      </p:pic>
      <p:sp>
        <p:nvSpPr>
          <p:cNvPr id="27" name="Text 22"/>
          <p:cNvSpPr txBox="1"/>
          <p:nvPr/>
        </p:nvSpPr>
        <p:spPr>
          <a:xfrm>
            <a:off x="9133637" y="2258568"/>
            <a:ext cx="2326538" cy="640080"/>
          </a:xfrm>
          <a:prstGeom prst="rect">
            <a:avLst/>
          </a:prstGeom>
          <a:noFill/>
          <a:ln/>
        </p:spPr>
        <p:txBody>
          <a:bodyPr wrap="square" lIns="0" tIns="0" rIns="0" bIns="0" rtlCol="0" anchor="ctr"/>
          <a:lstStyle/>
          <a:p>
            <a:pPr marL="0" indent="0">
              <a:buNone/>
            </a:pPr>
            <a:r>
              <a:rPr lang="en-US" sz="1800" b="1" dirty="0">
                <a:solidFill>
                  <a:schemeClr val="tx1"/>
                </a:solidFill>
              </a:rPr>
              <a:t>Conectores para muebles</a:t>
            </a:r>
            <a:endParaRPr lang="en-US" sz="1800" dirty="0"/>
          </a:p>
        </p:txBody>
      </p:sp>
      <p:sp>
        <p:nvSpPr>
          <p:cNvPr id="28" name="Text 23"/>
          <p:cNvSpPr txBox="1"/>
          <p:nvPr/>
        </p:nvSpPr>
        <p:spPr>
          <a:xfrm>
            <a:off x="8356397" y="2971800"/>
            <a:ext cx="3058058" cy="566928"/>
          </a:xfrm>
          <a:prstGeom prst="rect">
            <a:avLst/>
          </a:prstGeom>
          <a:noFill/>
          <a:ln/>
        </p:spPr>
        <p:txBody>
          <a:bodyPr wrap="square" lIns="0" tIns="0" rIns="0" bIns="0" rtlCol="0" anchor="t"/>
          <a:lstStyle/>
          <a:p>
            <a:pPr marL="0" indent="0">
              <a:buNone/>
            </a:pPr>
            <a:r>
              <a:rPr lang="en-US" sz="1400" dirty="0">
                <a:solidFill>
                  <a:schemeClr val="tx1"/>
                </a:solidFill>
              </a:rPr>
              <a:t>Piezas de presión para montar y desmontar estructuras sin tornillos.</a:t>
            </a:r>
            <a:endParaRPr lang="en-US" sz="1400" dirty="0"/>
          </a:p>
        </p:txBody>
      </p:sp>
      <p:sp>
        <p:nvSpPr>
          <p:cNvPr id="29" name="Text 24"/>
          <p:cNvSpPr txBox="1"/>
          <p:nvPr/>
        </p:nvSpPr>
        <p:spPr>
          <a:xfrm>
            <a:off x="8356397" y="3520440"/>
            <a:ext cx="3058058" cy="292608"/>
          </a:xfrm>
          <a:prstGeom prst="rect">
            <a:avLst/>
          </a:prstGeom>
          <a:noFill/>
          <a:ln/>
        </p:spPr>
        <p:txBody>
          <a:bodyPr wrap="square" lIns="0" tIns="0" rIns="0" bIns="0" rtlCol="0" anchor="t"/>
          <a:lstStyle/>
          <a:p>
            <a:pPr marL="0" indent="0">
              <a:buNone/>
            </a:pPr>
            <a:r>
              <a:rPr lang="en-US" sz="1200" b="1" i="1" dirty="0">
                <a:solidFill>
                  <a:schemeClr val="tx2"/>
                </a:solidFill>
              </a:rPr>
              <a:t>Para: </a:t>
            </a:r>
            <a:r>
              <a:rPr lang="en-US" sz="1200" i="1" dirty="0">
                <a:solidFill>
                  <a:schemeClr val="tx2"/>
                </a:solidFill>
              </a:rPr>
              <a:t>Feriantes y pequeños comercios</a:t>
            </a:r>
            <a:endParaRPr lang="en-US" sz="1200" dirty="0"/>
          </a:p>
        </p:txBody>
      </p:sp>
      <p:sp>
        <p:nvSpPr>
          <p:cNvPr id="30" name="Sujetaplantas"/>
          <p:cNvSpPr/>
          <p:nvPr/>
        </p:nvSpPr>
        <p:spPr>
          <a:xfrm>
            <a:off x="548640" y="4069080"/>
            <a:ext cx="3515258" cy="1828800"/>
          </a:xfrm>
          <a:prstGeom prst="roundRect">
            <a:avLst>
              <a:gd name="adj" fmla="val 7500"/>
            </a:avLst>
          </a:prstGeom>
          <a:solidFill>
            <a:schemeClr val="bg2"/>
          </a:solidFill>
          <a:ln/>
        </p:spPr>
      </p:sp>
      <p:sp>
        <p:nvSpPr>
          <p:cNvPr id="31" name="Sujetaplantas"/>
          <p:cNvSpPr/>
          <p:nvPr/>
        </p:nvSpPr>
        <p:spPr>
          <a:xfrm>
            <a:off x="777240" y="4270248"/>
            <a:ext cx="640080" cy="640080"/>
          </a:xfrm>
          <a:prstGeom prst="ellipse">
            <a:avLst/>
          </a:prstGeom>
          <a:solidFill>
            <a:schemeClr val="accent3"/>
          </a:solidFill>
          <a:ln/>
        </p:spPr>
      </p:sp>
      <p:pic>
        <p:nvPicPr>
          <p:cNvPr id="32" name="Image 3" descr="Sujetaplantas"/>
          <p:cNvPicPr>
            <a:picLocks noChangeAspect="1"/>
          </p:cNvPicPr>
          <p:nvPr/>
        </p:nvPicPr>
        <p:blipFill>
          <a:blip r:embed="rId6"/>
          <a:stretch>
            <a:fillRect/>
          </a:stretch>
        </p:blipFill>
        <p:spPr>
          <a:xfrm>
            <a:off x="930859" y="4423867"/>
            <a:ext cx="332842" cy="332842"/>
          </a:xfrm>
          <a:prstGeom prst="rect">
            <a:avLst/>
          </a:prstGeom>
        </p:spPr>
      </p:pic>
      <p:sp>
        <p:nvSpPr>
          <p:cNvPr id="33" name="Text 27"/>
          <p:cNvSpPr txBox="1"/>
          <p:nvPr/>
        </p:nvSpPr>
        <p:spPr>
          <a:xfrm>
            <a:off x="1554480" y="4270248"/>
            <a:ext cx="2326538" cy="640080"/>
          </a:xfrm>
          <a:prstGeom prst="rect">
            <a:avLst/>
          </a:prstGeom>
          <a:noFill/>
          <a:ln/>
        </p:spPr>
        <p:txBody>
          <a:bodyPr wrap="square" lIns="0" tIns="0" rIns="0" bIns="0" rtlCol="0" anchor="ctr"/>
          <a:lstStyle/>
          <a:p>
            <a:pPr marL="0" indent="0">
              <a:buNone/>
            </a:pPr>
            <a:r>
              <a:rPr lang="en-US" sz="1800" b="1" dirty="0">
                <a:solidFill>
                  <a:schemeClr val="tx1"/>
                </a:solidFill>
              </a:rPr>
              <a:t>Sujetaplantas</a:t>
            </a:r>
            <a:endParaRPr lang="en-US" sz="1800" dirty="0"/>
          </a:p>
        </p:txBody>
      </p:sp>
      <p:sp>
        <p:nvSpPr>
          <p:cNvPr id="34" name="Text 28"/>
          <p:cNvSpPr txBox="1"/>
          <p:nvPr/>
        </p:nvSpPr>
        <p:spPr>
          <a:xfrm>
            <a:off x="777240" y="4983480"/>
            <a:ext cx="3058058" cy="566928"/>
          </a:xfrm>
          <a:prstGeom prst="rect">
            <a:avLst/>
          </a:prstGeom>
          <a:noFill/>
          <a:ln/>
        </p:spPr>
        <p:txBody>
          <a:bodyPr wrap="square" lIns="0" tIns="0" rIns="0" bIns="0" rtlCol="0" anchor="t"/>
          <a:lstStyle/>
          <a:p>
            <a:pPr marL="0" indent="0">
              <a:buNone/>
            </a:pPr>
            <a:r>
              <a:rPr lang="en-US" sz="1400" dirty="0">
                <a:solidFill>
                  <a:schemeClr val="tx1"/>
                </a:solidFill>
              </a:rPr>
              <a:t>Abrazadera que guía los tallos sin dañarlos.</a:t>
            </a:r>
            <a:endParaRPr lang="en-US" sz="1400" dirty="0"/>
          </a:p>
        </p:txBody>
      </p:sp>
      <p:sp>
        <p:nvSpPr>
          <p:cNvPr id="35" name="Text 29"/>
          <p:cNvSpPr txBox="1"/>
          <p:nvPr/>
        </p:nvSpPr>
        <p:spPr>
          <a:xfrm>
            <a:off x="777240" y="5532120"/>
            <a:ext cx="3058058" cy="292608"/>
          </a:xfrm>
          <a:prstGeom prst="rect">
            <a:avLst/>
          </a:prstGeom>
          <a:noFill/>
          <a:ln/>
        </p:spPr>
        <p:txBody>
          <a:bodyPr wrap="square" lIns="0" tIns="0" rIns="0" bIns="0" rtlCol="0" anchor="t"/>
          <a:lstStyle/>
          <a:p>
            <a:pPr marL="0" indent="0">
              <a:buNone/>
            </a:pPr>
            <a:r>
              <a:rPr lang="en-US" sz="1200" b="1" i="1" dirty="0">
                <a:solidFill>
                  <a:schemeClr val="tx2"/>
                </a:solidFill>
              </a:rPr>
              <a:t>Para: </a:t>
            </a:r>
            <a:r>
              <a:rPr lang="en-US" sz="1200" i="1" dirty="0">
                <a:solidFill>
                  <a:schemeClr val="tx2"/>
                </a:solidFill>
              </a:rPr>
              <a:t>Jardinería y viveros</a:t>
            </a:r>
            <a:endParaRPr lang="en-US" sz="1200" dirty="0"/>
          </a:p>
        </p:txBody>
      </p:sp>
      <p:sp>
        <p:nvSpPr>
          <p:cNvPr id="36" name="Soporte para el móvil"/>
          <p:cNvSpPr/>
          <p:nvPr/>
        </p:nvSpPr>
        <p:spPr>
          <a:xfrm>
            <a:off x="4338218" y="4069080"/>
            <a:ext cx="3515258" cy="1828800"/>
          </a:xfrm>
          <a:prstGeom prst="roundRect">
            <a:avLst>
              <a:gd name="adj" fmla="val 7500"/>
            </a:avLst>
          </a:prstGeom>
          <a:solidFill>
            <a:schemeClr val="bg2"/>
          </a:solidFill>
          <a:ln/>
        </p:spPr>
      </p:sp>
      <p:sp>
        <p:nvSpPr>
          <p:cNvPr id="37" name="Soporte para el móvil"/>
          <p:cNvSpPr/>
          <p:nvPr/>
        </p:nvSpPr>
        <p:spPr>
          <a:xfrm>
            <a:off x="4566818" y="4270248"/>
            <a:ext cx="640080" cy="640080"/>
          </a:xfrm>
          <a:prstGeom prst="ellipse">
            <a:avLst/>
          </a:prstGeom>
          <a:solidFill>
            <a:schemeClr val="accent4"/>
          </a:solidFill>
          <a:ln/>
        </p:spPr>
      </p:sp>
      <p:pic>
        <p:nvPicPr>
          <p:cNvPr id="38" name="Image 4" descr="Soporte para el móvil"/>
          <p:cNvPicPr>
            <a:picLocks noChangeAspect="1"/>
          </p:cNvPicPr>
          <p:nvPr/>
        </p:nvPicPr>
        <p:blipFill>
          <a:blip r:embed="rId7"/>
          <a:stretch>
            <a:fillRect/>
          </a:stretch>
        </p:blipFill>
        <p:spPr>
          <a:xfrm>
            <a:off x="4720438" y="4423867"/>
            <a:ext cx="332842" cy="332842"/>
          </a:xfrm>
          <a:prstGeom prst="rect">
            <a:avLst/>
          </a:prstGeom>
        </p:spPr>
      </p:pic>
      <p:sp>
        <p:nvSpPr>
          <p:cNvPr id="39" name="Text 32"/>
          <p:cNvSpPr txBox="1"/>
          <p:nvPr/>
        </p:nvSpPr>
        <p:spPr>
          <a:xfrm>
            <a:off x="5344058" y="4270248"/>
            <a:ext cx="2326538" cy="640080"/>
          </a:xfrm>
          <a:prstGeom prst="rect">
            <a:avLst/>
          </a:prstGeom>
          <a:noFill/>
          <a:ln/>
        </p:spPr>
        <p:txBody>
          <a:bodyPr wrap="square" lIns="0" tIns="0" rIns="0" bIns="0" rtlCol="0" anchor="ctr"/>
          <a:lstStyle/>
          <a:p>
            <a:pPr marL="0" indent="0">
              <a:buNone/>
            </a:pPr>
            <a:r>
              <a:rPr lang="en-US" sz="1800" b="1" dirty="0">
                <a:solidFill>
                  <a:schemeClr val="tx1"/>
                </a:solidFill>
              </a:rPr>
              <a:t>Soporte para el móvil</a:t>
            </a:r>
            <a:endParaRPr lang="en-US" sz="1800" dirty="0"/>
          </a:p>
        </p:txBody>
      </p:sp>
      <p:sp>
        <p:nvSpPr>
          <p:cNvPr id="40" name="Text 33"/>
          <p:cNvSpPr txBox="1"/>
          <p:nvPr/>
        </p:nvSpPr>
        <p:spPr>
          <a:xfrm>
            <a:off x="4566818" y="4983480"/>
            <a:ext cx="3058058" cy="566928"/>
          </a:xfrm>
          <a:prstGeom prst="rect">
            <a:avLst/>
          </a:prstGeom>
          <a:noFill/>
          <a:ln/>
        </p:spPr>
        <p:txBody>
          <a:bodyPr wrap="square" lIns="0" tIns="0" rIns="0" bIns="0" rtlCol="0" anchor="t"/>
          <a:lstStyle/>
          <a:p>
            <a:pPr marL="0" indent="0">
              <a:buNone/>
            </a:pPr>
            <a:r>
              <a:rPr lang="en-US" sz="1400" dirty="0">
                <a:solidFill>
                  <a:schemeClr val="tx1"/>
                </a:solidFill>
              </a:rPr>
              <a:t>Alambre flexible recubierto que mantiene el teléfono inclinado.</a:t>
            </a:r>
            <a:endParaRPr lang="en-US" sz="1400" dirty="0"/>
          </a:p>
        </p:txBody>
      </p:sp>
      <p:sp>
        <p:nvSpPr>
          <p:cNvPr id="41" name="Text 34"/>
          <p:cNvSpPr txBox="1"/>
          <p:nvPr/>
        </p:nvSpPr>
        <p:spPr>
          <a:xfrm>
            <a:off x="4566818" y="5532120"/>
            <a:ext cx="3058058" cy="292608"/>
          </a:xfrm>
          <a:prstGeom prst="rect">
            <a:avLst/>
          </a:prstGeom>
          <a:noFill/>
          <a:ln/>
        </p:spPr>
        <p:txBody>
          <a:bodyPr wrap="square" lIns="0" tIns="0" rIns="0" bIns="0" rtlCol="0" anchor="t"/>
          <a:lstStyle/>
          <a:p>
            <a:pPr marL="0" indent="0">
              <a:buNone/>
            </a:pPr>
            <a:r>
              <a:rPr lang="en-US" sz="1200" b="1" i="1" dirty="0">
                <a:solidFill>
                  <a:schemeClr val="tx2"/>
                </a:solidFill>
              </a:rPr>
              <a:t>Para: </a:t>
            </a:r>
            <a:r>
              <a:rPr lang="en-US" sz="1200" i="1" dirty="0">
                <a:solidFill>
                  <a:schemeClr val="tx2"/>
                </a:solidFill>
              </a:rPr>
              <a:t>Estudiantes y profesionales</a:t>
            </a:r>
            <a:endParaRPr lang="en-US" sz="1200" dirty="0"/>
          </a:p>
        </p:txBody>
      </p:sp>
      <p:sp>
        <p:nvSpPr>
          <p:cNvPr id="42" name="Carteles sin agujeros"/>
          <p:cNvSpPr/>
          <p:nvPr/>
        </p:nvSpPr>
        <p:spPr>
          <a:xfrm>
            <a:off x="8127797" y="4069080"/>
            <a:ext cx="3515258" cy="1828800"/>
          </a:xfrm>
          <a:prstGeom prst="roundRect">
            <a:avLst>
              <a:gd name="adj" fmla="val 7500"/>
            </a:avLst>
          </a:prstGeom>
          <a:solidFill>
            <a:schemeClr val="bg2"/>
          </a:solidFill>
          <a:ln/>
        </p:spPr>
      </p:sp>
      <p:sp>
        <p:nvSpPr>
          <p:cNvPr id="43" name="Carteles sin agujeros"/>
          <p:cNvSpPr/>
          <p:nvPr/>
        </p:nvSpPr>
        <p:spPr>
          <a:xfrm>
            <a:off x="8356397" y="4270248"/>
            <a:ext cx="640080" cy="640080"/>
          </a:xfrm>
          <a:prstGeom prst="ellipse">
            <a:avLst/>
          </a:prstGeom>
          <a:solidFill>
            <a:schemeClr val="tx2"/>
          </a:solidFill>
          <a:ln/>
        </p:spPr>
      </p:sp>
      <p:pic>
        <p:nvPicPr>
          <p:cNvPr id="44" name="Image 5" descr="Carteles sin agujeros"/>
          <p:cNvPicPr>
            <a:picLocks noChangeAspect="1"/>
          </p:cNvPicPr>
          <p:nvPr/>
        </p:nvPicPr>
        <p:blipFill>
          <a:blip r:embed="rId8"/>
          <a:stretch>
            <a:fillRect/>
          </a:stretch>
        </p:blipFill>
        <p:spPr>
          <a:xfrm>
            <a:off x="8510016" y="4423867"/>
            <a:ext cx="332842" cy="332842"/>
          </a:xfrm>
          <a:prstGeom prst="rect">
            <a:avLst/>
          </a:prstGeom>
        </p:spPr>
      </p:pic>
      <p:sp>
        <p:nvSpPr>
          <p:cNvPr id="45" name="Text 37"/>
          <p:cNvSpPr txBox="1"/>
          <p:nvPr/>
        </p:nvSpPr>
        <p:spPr>
          <a:xfrm>
            <a:off x="9133637" y="4270248"/>
            <a:ext cx="2326538" cy="640080"/>
          </a:xfrm>
          <a:prstGeom prst="rect">
            <a:avLst/>
          </a:prstGeom>
          <a:noFill/>
          <a:ln/>
        </p:spPr>
        <p:txBody>
          <a:bodyPr wrap="square" lIns="0" tIns="0" rIns="0" bIns="0" rtlCol="0" anchor="ctr"/>
          <a:lstStyle/>
          <a:p>
            <a:pPr marL="0" indent="0">
              <a:buNone/>
            </a:pPr>
            <a:r>
              <a:rPr lang="en-US" sz="1800" b="1" dirty="0">
                <a:solidFill>
                  <a:schemeClr val="tx1"/>
                </a:solidFill>
              </a:rPr>
              <a:t>Carteles sin agujeros</a:t>
            </a:r>
            <a:endParaRPr lang="en-US" sz="1800" dirty="0"/>
          </a:p>
        </p:txBody>
      </p:sp>
      <p:sp>
        <p:nvSpPr>
          <p:cNvPr id="46" name="Text 38"/>
          <p:cNvSpPr txBox="1"/>
          <p:nvPr/>
        </p:nvSpPr>
        <p:spPr>
          <a:xfrm>
            <a:off x="8356397" y="4983480"/>
            <a:ext cx="3058058" cy="566928"/>
          </a:xfrm>
          <a:prstGeom prst="rect">
            <a:avLst/>
          </a:prstGeom>
          <a:noFill/>
          <a:ln/>
        </p:spPr>
        <p:txBody>
          <a:bodyPr wrap="square" lIns="0" tIns="0" rIns="0" bIns="0" rtlCol="0" anchor="t"/>
          <a:lstStyle/>
          <a:p>
            <a:pPr marL="0" indent="0">
              <a:buNone/>
            </a:pPr>
            <a:r>
              <a:rPr lang="en-US" sz="1400" dirty="0">
                <a:solidFill>
                  <a:schemeClr val="tx1"/>
                </a:solidFill>
              </a:rPr>
              <a:t>Pinzas grandes para cambiar carteles sin perforar paredes ni mostradores.</a:t>
            </a:r>
            <a:endParaRPr lang="en-US" sz="1400" dirty="0"/>
          </a:p>
        </p:txBody>
      </p:sp>
      <p:sp>
        <p:nvSpPr>
          <p:cNvPr id="47" name="Text 39"/>
          <p:cNvSpPr txBox="1"/>
          <p:nvPr/>
        </p:nvSpPr>
        <p:spPr>
          <a:xfrm>
            <a:off x="8356397" y="5532120"/>
            <a:ext cx="3058058" cy="292608"/>
          </a:xfrm>
          <a:prstGeom prst="rect">
            <a:avLst/>
          </a:prstGeom>
          <a:noFill/>
          <a:ln/>
        </p:spPr>
        <p:txBody>
          <a:bodyPr wrap="square" lIns="0" tIns="0" rIns="0" bIns="0" rtlCol="0" anchor="t"/>
          <a:lstStyle/>
          <a:p>
            <a:pPr marL="0" indent="0">
              <a:buNone/>
            </a:pPr>
            <a:r>
              <a:rPr lang="en-US" sz="1200" b="1" i="1" dirty="0">
                <a:solidFill>
                  <a:schemeClr val="tx2"/>
                </a:solidFill>
              </a:rPr>
              <a:t>Para: </a:t>
            </a:r>
            <a:r>
              <a:rPr lang="en-US" sz="1200" i="1" dirty="0">
                <a:solidFill>
                  <a:schemeClr val="tx2"/>
                </a:solidFill>
              </a:rPr>
              <a:t>Comercios y ferias</a:t>
            </a:r>
            <a:endParaRPr lang="en-US" sz="1200" dirty="0"/>
          </a:p>
        </p:txBody>
      </p:sp>
      <p:sp>
        <p:nvSpPr>
          <p:cNvPr id="48" name="Text 40"/>
          <p:cNvSpPr txBox="1"/>
          <p:nvPr/>
        </p:nvSpPr>
        <p:spPr>
          <a:xfrm>
            <a:off x="548640" y="5943600"/>
            <a:ext cx="11094415" cy="347472"/>
          </a:xfrm>
          <a:prstGeom prst="rect">
            <a:avLst/>
          </a:prstGeom>
          <a:noFill/>
          <a:ln/>
        </p:spPr>
        <p:txBody>
          <a:bodyPr wrap="square" lIns="0" tIns="0" rIns="0" bIns="0" rtlCol="0" anchor="ctr"/>
          <a:lstStyle/>
          <a:p>
            <a:pPr marL="0" indent="0">
              <a:buNone/>
            </a:pPr>
            <a:r>
              <a:rPr lang="en-US" sz="1600" b="1" dirty="0">
                <a:solidFill>
                  <a:schemeClr val="accent3"/>
                </a:solidFill>
              </a:rPr>
              <a:t>Casi todos tienen ya productos parecidos a la venta: el concepto de clip sí se vende.</a:t>
            </a:r>
            <a:endParaRPr lang="en-US" sz="1600" dirty="0"/>
          </a:p>
        </p:txBody>
      </p:sp>
      <p:sp>
        <p:nvSpPr>
          <p:cNvPr id="49"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Primero abrir, después cerrar</a:t>
            </a:r>
            <a:endParaRPr lang="en-US" sz="3200" dirty="0"/>
          </a:p>
        </p:txBody>
      </p:sp>
      <p:sp>
        <p:nvSpPr>
          <p:cNvPr id="3" name="Etiqueta de tiempo"/>
          <p:cNvSpPr/>
          <p:nvPr/>
        </p:nvSpPr>
        <p:spPr>
          <a:xfrm>
            <a:off x="10134295" y="548640"/>
            <a:ext cx="1508760" cy="457200"/>
          </a:xfrm>
          <a:prstGeom prst="roundRect">
            <a:avLst>
              <a:gd name="adj" fmla="val 50000"/>
            </a:avLst>
          </a:prstGeom>
          <a:solidFill>
            <a:schemeClr val="bg2"/>
          </a:solidFill>
          <a:ln/>
        </p:spPr>
      </p:sp>
      <p:sp>
        <p:nvSpPr>
          <p:cNvPr id="4" name="Text 2"/>
          <p:cNvSpPr txBox="1"/>
          <p:nvPr/>
        </p:nvSpPr>
        <p:spPr>
          <a:xfrm>
            <a:off x="10134295" y="548640"/>
            <a:ext cx="1508760" cy="457200"/>
          </a:xfrm>
          <a:prstGeom prst="rect">
            <a:avLst/>
          </a:prstGeom>
          <a:noFill/>
          <a:ln/>
        </p:spPr>
        <p:txBody>
          <a:bodyPr wrap="square" lIns="0" tIns="0" rIns="0" bIns="0" rtlCol="0" anchor="ctr"/>
          <a:lstStyle/>
          <a:p>
            <a:pPr marL="0" indent="0" algn="ctr">
              <a:buNone/>
            </a:pPr>
            <a:r>
              <a:rPr lang="en-US" sz="1400" b="1" dirty="0">
                <a:solidFill>
                  <a:schemeClr val="tx1"/>
                </a:solidFill>
              </a:rPr>
              <a:t>Min. 14–15</a:t>
            </a:r>
            <a:endParaRPr lang="en-US" sz="1400" dirty="0"/>
          </a:p>
        </p:txBody>
      </p:sp>
      <p:sp>
        <p:nvSpPr>
          <p:cNvPr id="5" name="Shape 3"/>
          <p:cNvSpPr/>
          <p:nvPr/>
        </p:nvSpPr>
        <p:spPr>
          <a:xfrm flipV="1">
            <a:off x="1005840" y="1691640"/>
            <a:ext cx="3108960" cy="1280160"/>
          </a:xfrm>
          <a:prstGeom prst="line">
            <a:avLst/>
          </a:prstGeom>
          <a:noFill/>
          <a:ln w="19050">
            <a:solidFill>
              <a:srgbClr val="8A94A6"/>
            </a:solidFill>
            <a:prstDash val="solid"/>
          </a:ln>
        </p:spPr>
      </p:sp>
      <p:sp>
        <p:nvSpPr>
          <p:cNvPr id="6" name="Shape 4"/>
          <p:cNvSpPr/>
          <p:nvPr/>
        </p:nvSpPr>
        <p:spPr>
          <a:xfrm>
            <a:off x="4114800" y="1691640"/>
            <a:ext cx="3017520" cy="1280160"/>
          </a:xfrm>
          <a:prstGeom prst="line">
            <a:avLst/>
          </a:prstGeom>
          <a:noFill/>
          <a:ln w="19050">
            <a:solidFill>
              <a:srgbClr val="8A94A6"/>
            </a:solidFill>
            <a:prstDash val="solid"/>
          </a:ln>
        </p:spPr>
      </p:sp>
      <p:sp>
        <p:nvSpPr>
          <p:cNvPr id="7" name="Shape 5"/>
          <p:cNvSpPr/>
          <p:nvPr/>
        </p:nvSpPr>
        <p:spPr>
          <a:xfrm flipV="1">
            <a:off x="1005840" y="2121408"/>
            <a:ext cx="3108960" cy="850392"/>
          </a:xfrm>
          <a:prstGeom prst="line">
            <a:avLst/>
          </a:prstGeom>
          <a:noFill/>
          <a:ln w="19050">
            <a:solidFill>
              <a:srgbClr val="8A94A6"/>
            </a:solidFill>
            <a:prstDash val="solid"/>
          </a:ln>
        </p:spPr>
      </p:sp>
      <p:sp>
        <p:nvSpPr>
          <p:cNvPr id="8" name="Shape 6"/>
          <p:cNvSpPr/>
          <p:nvPr/>
        </p:nvSpPr>
        <p:spPr>
          <a:xfrm>
            <a:off x="4114800" y="2121408"/>
            <a:ext cx="3017520" cy="850392"/>
          </a:xfrm>
          <a:prstGeom prst="line">
            <a:avLst/>
          </a:prstGeom>
          <a:noFill/>
          <a:ln w="19050">
            <a:solidFill>
              <a:srgbClr val="8A94A6"/>
            </a:solidFill>
            <a:prstDash val="solid"/>
          </a:ln>
        </p:spPr>
      </p:sp>
      <p:sp>
        <p:nvSpPr>
          <p:cNvPr id="9" name="Shape 7"/>
          <p:cNvSpPr/>
          <p:nvPr/>
        </p:nvSpPr>
        <p:spPr>
          <a:xfrm flipV="1">
            <a:off x="1005840" y="2551176"/>
            <a:ext cx="3108960" cy="420624"/>
          </a:xfrm>
          <a:prstGeom prst="line">
            <a:avLst/>
          </a:prstGeom>
          <a:noFill/>
          <a:ln w="19050">
            <a:solidFill>
              <a:srgbClr val="8A94A6"/>
            </a:solidFill>
            <a:prstDash val="solid"/>
          </a:ln>
        </p:spPr>
      </p:sp>
      <p:sp>
        <p:nvSpPr>
          <p:cNvPr id="10" name="Shape 8"/>
          <p:cNvSpPr/>
          <p:nvPr/>
        </p:nvSpPr>
        <p:spPr>
          <a:xfrm>
            <a:off x="4114800" y="2551176"/>
            <a:ext cx="3017520" cy="420624"/>
          </a:xfrm>
          <a:prstGeom prst="line">
            <a:avLst/>
          </a:prstGeom>
          <a:noFill/>
          <a:ln w="19050">
            <a:solidFill>
              <a:srgbClr val="8A94A6"/>
            </a:solidFill>
            <a:prstDash val="solid"/>
          </a:ln>
        </p:spPr>
      </p:sp>
      <p:sp>
        <p:nvSpPr>
          <p:cNvPr id="11" name="Shape 9"/>
          <p:cNvSpPr/>
          <p:nvPr/>
        </p:nvSpPr>
        <p:spPr>
          <a:xfrm>
            <a:off x="1005840" y="2971800"/>
            <a:ext cx="3108960" cy="0"/>
          </a:xfrm>
          <a:prstGeom prst="line">
            <a:avLst/>
          </a:prstGeom>
          <a:noFill/>
          <a:ln w="19050">
            <a:solidFill>
              <a:srgbClr val="8A94A6"/>
            </a:solidFill>
            <a:prstDash val="solid"/>
          </a:ln>
        </p:spPr>
      </p:sp>
      <p:sp>
        <p:nvSpPr>
          <p:cNvPr id="12" name="Shape 10"/>
          <p:cNvSpPr/>
          <p:nvPr/>
        </p:nvSpPr>
        <p:spPr>
          <a:xfrm>
            <a:off x="4114800" y="2971800"/>
            <a:ext cx="3017520" cy="0"/>
          </a:xfrm>
          <a:prstGeom prst="line">
            <a:avLst/>
          </a:prstGeom>
          <a:noFill/>
          <a:ln w="19050">
            <a:solidFill>
              <a:srgbClr val="8A94A6"/>
            </a:solidFill>
            <a:prstDash val="solid"/>
          </a:ln>
        </p:spPr>
      </p:sp>
      <p:sp>
        <p:nvSpPr>
          <p:cNvPr id="13" name="Shape 11"/>
          <p:cNvSpPr/>
          <p:nvPr/>
        </p:nvSpPr>
        <p:spPr>
          <a:xfrm>
            <a:off x="1005840" y="2971800"/>
            <a:ext cx="3108960" cy="420624"/>
          </a:xfrm>
          <a:prstGeom prst="line">
            <a:avLst/>
          </a:prstGeom>
          <a:noFill/>
          <a:ln w="19050">
            <a:solidFill>
              <a:srgbClr val="8A94A6"/>
            </a:solidFill>
            <a:prstDash val="solid"/>
          </a:ln>
        </p:spPr>
      </p:sp>
      <p:sp>
        <p:nvSpPr>
          <p:cNvPr id="14" name="Shape 12"/>
          <p:cNvSpPr/>
          <p:nvPr/>
        </p:nvSpPr>
        <p:spPr>
          <a:xfrm flipV="1">
            <a:off x="4114800" y="2971800"/>
            <a:ext cx="3017520" cy="420624"/>
          </a:xfrm>
          <a:prstGeom prst="line">
            <a:avLst/>
          </a:prstGeom>
          <a:noFill/>
          <a:ln w="19050">
            <a:solidFill>
              <a:srgbClr val="8A94A6"/>
            </a:solidFill>
            <a:prstDash val="solid"/>
          </a:ln>
        </p:spPr>
      </p:sp>
      <p:sp>
        <p:nvSpPr>
          <p:cNvPr id="15" name="Shape 13"/>
          <p:cNvSpPr/>
          <p:nvPr/>
        </p:nvSpPr>
        <p:spPr>
          <a:xfrm>
            <a:off x="1005840" y="2971800"/>
            <a:ext cx="3108960" cy="850392"/>
          </a:xfrm>
          <a:prstGeom prst="line">
            <a:avLst/>
          </a:prstGeom>
          <a:noFill/>
          <a:ln w="19050">
            <a:solidFill>
              <a:srgbClr val="8A94A6"/>
            </a:solidFill>
            <a:prstDash val="solid"/>
          </a:ln>
        </p:spPr>
      </p:sp>
      <p:sp>
        <p:nvSpPr>
          <p:cNvPr id="16" name="Shape 14"/>
          <p:cNvSpPr/>
          <p:nvPr/>
        </p:nvSpPr>
        <p:spPr>
          <a:xfrm flipV="1">
            <a:off x="4114800" y="2971800"/>
            <a:ext cx="3017520" cy="850392"/>
          </a:xfrm>
          <a:prstGeom prst="line">
            <a:avLst/>
          </a:prstGeom>
          <a:noFill/>
          <a:ln w="19050">
            <a:solidFill>
              <a:srgbClr val="8A94A6"/>
            </a:solidFill>
            <a:prstDash val="solid"/>
          </a:ln>
        </p:spPr>
      </p:sp>
      <p:sp>
        <p:nvSpPr>
          <p:cNvPr id="17" name="Shape 15"/>
          <p:cNvSpPr/>
          <p:nvPr/>
        </p:nvSpPr>
        <p:spPr>
          <a:xfrm>
            <a:off x="1005840" y="2971800"/>
            <a:ext cx="3108960" cy="1280160"/>
          </a:xfrm>
          <a:prstGeom prst="line">
            <a:avLst/>
          </a:prstGeom>
          <a:noFill/>
          <a:ln w="19050">
            <a:solidFill>
              <a:srgbClr val="8A94A6"/>
            </a:solidFill>
            <a:prstDash val="solid"/>
          </a:ln>
        </p:spPr>
      </p:sp>
      <p:sp>
        <p:nvSpPr>
          <p:cNvPr id="18" name="Shape 16"/>
          <p:cNvSpPr/>
          <p:nvPr/>
        </p:nvSpPr>
        <p:spPr>
          <a:xfrm flipV="1">
            <a:off x="4114800" y="2971800"/>
            <a:ext cx="3017520" cy="1280160"/>
          </a:xfrm>
          <a:prstGeom prst="line">
            <a:avLst/>
          </a:prstGeom>
          <a:noFill/>
          <a:ln w="19050">
            <a:solidFill>
              <a:srgbClr val="8A94A6"/>
            </a:solidFill>
            <a:prstDash val="solid"/>
          </a:ln>
        </p:spPr>
      </p:sp>
      <p:sp>
        <p:nvSpPr>
          <p:cNvPr id="19" name="Idea"/>
          <p:cNvSpPr/>
          <p:nvPr/>
        </p:nvSpPr>
        <p:spPr>
          <a:xfrm>
            <a:off x="3968496" y="1545336"/>
            <a:ext cx="292608" cy="292608"/>
          </a:xfrm>
          <a:prstGeom prst="ellipse">
            <a:avLst/>
          </a:prstGeom>
          <a:solidFill>
            <a:schemeClr val="accent1"/>
          </a:solidFill>
          <a:ln/>
        </p:spPr>
      </p:sp>
      <p:sp>
        <p:nvSpPr>
          <p:cNvPr id="20" name="Idea"/>
          <p:cNvSpPr/>
          <p:nvPr/>
        </p:nvSpPr>
        <p:spPr>
          <a:xfrm>
            <a:off x="3968496" y="1975104"/>
            <a:ext cx="292608" cy="292608"/>
          </a:xfrm>
          <a:prstGeom prst="ellipse">
            <a:avLst/>
          </a:prstGeom>
          <a:solidFill>
            <a:schemeClr val="accent1"/>
          </a:solidFill>
          <a:ln/>
        </p:spPr>
      </p:sp>
      <p:sp>
        <p:nvSpPr>
          <p:cNvPr id="21" name="Idea"/>
          <p:cNvSpPr/>
          <p:nvPr/>
        </p:nvSpPr>
        <p:spPr>
          <a:xfrm>
            <a:off x="3968496" y="2404872"/>
            <a:ext cx="292608" cy="292608"/>
          </a:xfrm>
          <a:prstGeom prst="ellipse">
            <a:avLst/>
          </a:prstGeom>
          <a:solidFill>
            <a:schemeClr val="accent1"/>
          </a:solidFill>
          <a:ln/>
        </p:spPr>
      </p:sp>
      <p:sp>
        <p:nvSpPr>
          <p:cNvPr id="22" name="Idea"/>
          <p:cNvSpPr/>
          <p:nvPr/>
        </p:nvSpPr>
        <p:spPr>
          <a:xfrm>
            <a:off x="3968496" y="2825496"/>
            <a:ext cx="292608" cy="292608"/>
          </a:xfrm>
          <a:prstGeom prst="ellipse">
            <a:avLst/>
          </a:prstGeom>
          <a:solidFill>
            <a:schemeClr val="accent1"/>
          </a:solidFill>
          <a:ln/>
        </p:spPr>
      </p:sp>
      <p:sp>
        <p:nvSpPr>
          <p:cNvPr id="23" name="Idea"/>
          <p:cNvSpPr/>
          <p:nvPr/>
        </p:nvSpPr>
        <p:spPr>
          <a:xfrm>
            <a:off x="3968496" y="3246120"/>
            <a:ext cx="292608" cy="292608"/>
          </a:xfrm>
          <a:prstGeom prst="ellipse">
            <a:avLst/>
          </a:prstGeom>
          <a:solidFill>
            <a:schemeClr val="accent1"/>
          </a:solidFill>
          <a:ln/>
        </p:spPr>
      </p:sp>
      <p:sp>
        <p:nvSpPr>
          <p:cNvPr id="24" name="Idea"/>
          <p:cNvSpPr/>
          <p:nvPr/>
        </p:nvSpPr>
        <p:spPr>
          <a:xfrm>
            <a:off x="3968496" y="3675888"/>
            <a:ext cx="292608" cy="292608"/>
          </a:xfrm>
          <a:prstGeom prst="ellipse">
            <a:avLst/>
          </a:prstGeom>
          <a:solidFill>
            <a:schemeClr val="accent1"/>
          </a:solidFill>
          <a:ln/>
        </p:spPr>
      </p:sp>
      <p:sp>
        <p:nvSpPr>
          <p:cNvPr id="25" name="Idea"/>
          <p:cNvSpPr/>
          <p:nvPr/>
        </p:nvSpPr>
        <p:spPr>
          <a:xfrm>
            <a:off x="3968496" y="4105656"/>
            <a:ext cx="292608" cy="292608"/>
          </a:xfrm>
          <a:prstGeom prst="ellipse">
            <a:avLst/>
          </a:prstGeom>
          <a:solidFill>
            <a:schemeClr val="accent1"/>
          </a:solidFill>
          <a:ln/>
        </p:spPr>
      </p:sp>
      <p:sp>
        <p:nvSpPr>
          <p:cNvPr id="26" name="Reto"/>
          <p:cNvSpPr/>
          <p:nvPr/>
        </p:nvSpPr>
        <p:spPr>
          <a:xfrm>
            <a:off x="777240" y="2743200"/>
            <a:ext cx="457200" cy="457200"/>
          </a:xfrm>
          <a:prstGeom prst="ellipse">
            <a:avLst/>
          </a:prstGeom>
          <a:solidFill>
            <a:schemeClr val="tx1"/>
          </a:solidFill>
          <a:ln/>
        </p:spPr>
      </p:sp>
      <p:sp>
        <p:nvSpPr>
          <p:cNvPr id="27" name="Idea elegida"/>
          <p:cNvSpPr/>
          <p:nvPr/>
        </p:nvSpPr>
        <p:spPr>
          <a:xfrm>
            <a:off x="6720840" y="2560320"/>
            <a:ext cx="822960" cy="822960"/>
          </a:xfrm>
          <a:prstGeom prst="ellipse">
            <a:avLst/>
          </a:prstGeom>
          <a:solidFill>
            <a:schemeClr val="accent3"/>
          </a:solidFill>
          <a:ln/>
        </p:spPr>
      </p:sp>
      <p:pic>
        <p:nvPicPr>
          <p:cNvPr id="28" name="Image 0" descr="Idea elegida"/>
          <p:cNvPicPr>
            <a:picLocks noChangeAspect="1"/>
          </p:cNvPicPr>
          <p:nvPr/>
        </p:nvPicPr>
        <p:blipFill>
          <a:blip r:embed="rId3"/>
          <a:stretch>
            <a:fillRect/>
          </a:stretch>
        </p:blipFill>
        <p:spPr>
          <a:xfrm>
            <a:off x="6918350" y="2757830"/>
            <a:ext cx="427939" cy="427939"/>
          </a:xfrm>
          <a:prstGeom prst="rect">
            <a:avLst/>
          </a:prstGeom>
        </p:spPr>
      </p:pic>
      <p:sp>
        <p:nvSpPr>
          <p:cNvPr id="29" name="Text 26"/>
          <p:cNvSpPr txBox="1"/>
          <p:nvPr/>
        </p:nvSpPr>
        <p:spPr>
          <a:xfrm>
            <a:off x="457200" y="3291840"/>
            <a:ext cx="1097280" cy="365760"/>
          </a:xfrm>
          <a:prstGeom prst="rect">
            <a:avLst/>
          </a:prstGeom>
          <a:noFill/>
          <a:ln/>
        </p:spPr>
        <p:txBody>
          <a:bodyPr wrap="square" lIns="0" tIns="0" rIns="0" bIns="0" rtlCol="0" anchor="ctr"/>
          <a:lstStyle/>
          <a:p>
            <a:pPr marL="0" indent="0" algn="ctr">
              <a:buNone/>
            </a:pPr>
            <a:r>
              <a:rPr lang="en-US" sz="1500" b="1" dirty="0">
                <a:solidFill>
                  <a:schemeClr val="tx1"/>
                </a:solidFill>
              </a:rPr>
              <a:t>Reto</a:t>
            </a:r>
            <a:endParaRPr lang="en-US" sz="1500" dirty="0"/>
          </a:p>
        </p:txBody>
      </p:sp>
      <p:sp>
        <p:nvSpPr>
          <p:cNvPr id="30" name="Text 27"/>
          <p:cNvSpPr txBox="1"/>
          <p:nvPr/>
        </p:nvSpPr>
        <p:spPr>
          <a:xfrm>
            <a:off x="548640" y="4617720"/>
            <a:ext cx="3383280" cy="1097280"/>
          </a:xfrm>
          <a:prstGeom prst="rect">
            <a:avLst/>
          </a:prstGeom>
          <a:noFill/>
          <a:ln/>
        </p:spPr>
        <p:txBody>
          <a:bodyPr wrap="square" lIns="0" tIns="0" rIns="0" bIns="0" rtlCol="0" anchor="t"/>
          <a:lstStyle/>
          <a:p>
            <a:pPr marL="0" indent="0">
              <a:buNone/>
            </a:pPr>
            <a:r>
              <a:rPr lang="en-US" sz="2100" b="1" dirty="0">
                <a:solidFill>
                  <a:schemeClr val="tx1"/>
                </a:solidFill>
              </a:rPr>
              <a:t>Divergente</a:t>
            </a:r>
            <a:endParaRPr lang="en-US" sz="1600" dirty="0"/>
          </a:p>
          <a:p>
            <a:pPr marL="0" indent="0">
              <a:buNone/>
            </a:pPr>
            <a:r>
              <a:rPr lang="en-US" sz="1600" dirty="0">
                <a:solidFill>
                  <a:schemeClr val="tx1"/>
                </a:solidFill>
              </a:rPr>
              <a:t>Proponer tantas soluciones distintas como sea posible, sin juzgar.</a:t>
            </a:r>
            <a:endParaRPr lang="en-US" sz="1600" dirty="0"/>
          </a:p>
        </p:txBody>
      </p:sp>
      <p:sp>
        <p:nvSpPr>
          <p:cNvPr id="31" name="Text 28"/>
          <p:cNvSpPr txBox="1"/>
          <p:nvPr/>
        </p:nvSpPr>
        <p:spPr>
          <a:xfrm>
            <a:off x="4206240" y="4617720"/>
            <a:ext cx="3383280" cy="1097280"/>
          </a:xfrm>
          <a:prstGeom prst="rect">
            <a:avLst/>
          </a:prstGeom>
          <a:noFill/>
          <a:ln/>
        </p:spPr>
        <p:txBody>
          <a:bodyPr wrap="square" lIns="0" tIns="0" rIns="0" bIns="0" rtlCol="0" anchor="t"/>
          <a:lstStyle/>
          <a:p>
            <a:pPr marL="0" indent="0">
              <a:buNone/>
            </a:pPr>
            <a:r>
              <a:rPr lang="en-US" sz="2100" b="1" dirty="0">
                <a:solidFill>
                  <a:schemeClr val="tx1"/>
                </a:solidFill>
              </a:rPr>
              <a:t>Convergente</a:t>
            </a:r>
            <a:endParaRPr lang="en-US" sz="1600" dirty="0"/>
          </a:p>
          <a:p>
            <a:pPr marL="0" indent="0">
              <a:buNone/>
            </a:pPr>
            <a:r>
              <a:rPr lang="en-US" sz="1600" dirty="0">
                <a:solidFill>
                  <a:schemeClr val="tx1"/>
                </a:solidFill>
              </a:rPr>
              <a:t>Comparar coste, viabilidad e impacto para elegir qué probar.</a:t>
            </a:r>
            <a:endParaRPr lang="en-US" sz="1600" dirty="0"/>
          </a:p>
        </p:txBody>
      </p:sp>
      <p:sp>
        <p:nvSpPr>
          <p:cNvPr id="32" name="Tarjeta"/>
          <p:cNvSpPr/>
          <p:nvPr/>
        </p:nvSpPr>
        <p:spPr>
          <a:xfrm>
            <a:off x="8092440" y="1463040"/>
            <a:ext cx="3550615" cy="4251960"/>
          </a:xfrm>
          <a:prstGeom prst="roundRect">
            <a:avLst>
              <a:gd name="adj" fmla="val 3863"/>
            </a:avLst>
          </a:prstGeom>
          <a:solidFill>
            <a:schemeClr val="bg2"/>
          </a:solidFill>
          <a:ln/>
        </p:spPr>
      </p:sp>
      <p:sp>
        <p:nvSpPr>
          <p:cNvPr id="33" name="Text 30"/>
          <p:cNvSpPr txBox="1"/>
          <p:nvPr/>
        </p:nvSpPr>
        <p:spPr>
          <a:xfrm>
            <a:off x="8366760" y="1691640"/>
            <a:ext cx="3001975" cy="3840480"/>
          </a:xfrm>
          <a:prstGeom prst="rect">
            <a:avLst/>
          </a:prstGeom>
          <a:noFill/>
          <a:ln/>
        </p:spPr>
        <p:txBody>
          <a:bodyPr wrap="square" lIns="0" tIns="0" rIns="0" bIns="0" rtlCol="0" anchor="t"/>
          <a:lstStyle/>
          <a:p>
            <a:pPr marL="0" indent="0">
              <a:spcAft>
                <a:spcPts val="400"/>
              </a:spcAft>
              <a:buNone/>
            </a:pPr>
            <a:r>
              <a:rPr lang="en-US" sz="2100" b="1" dirty="0">
                <a:solidFill>
                  <a:schemeClr val="tx1"/>
                </a:solidFill>
              </a:rPr>
              <a:t>En este curso</a:t>
            </a:r>
            <a:endParaRPr lang="en-US" sz="1800" dirty="0"/>
          </a:p>
          <a:p>
            <a:pPr marL="0" indent="0">
              <a:spcAft>
                <a:spcPts val="400"/>
              </a:spcAft>
              <a:buNone/>
            </a:pPr>
            <a:r>
              <a:rPr lang="en-US" sz="800" dirty="0">
                <a:solidFill>
                  <a:schemeClr val="tx1"/>
                </a:solidFill>
              </a:rPr>
              <a:t> </a:t>
            </a:r>
            <a:endParaRPr lang="en-US" sz="1800" dirty="0"/>
          </a:p>
          <a:p>
            <a:pPr marL="0" indent="0">
              <a:spcAft>
                <a:spcPts val="400"/>
              </a:spcAft>
              <a:buNone/>
            </a:pPr>
            <a:r>
              <a:rPr lang="en-US" sz="1800" b="1" dirty="0">
                <a:solidFill>
                  <a:schemeClr val="tx2"/>
                </a:solidFill>
              </a:rPr>
              <a:t>Abren el abanico:</a:t>
            </a:r>
            <a:endParaRPr lang="en-US" sz="1800" dirty="0"/>
          </a:p>
          <a:p>
            <a:pPr marL="342900" indent="-342900">
              <a:spcAft>
                <a:spcPts val="400"/>
              </a:spcAft>
              <a:buSzPct val="100000"/>
              <a:buChar char="•"/>
            </a:pPr>
            <a:r>
              <a:rPr lang="en-US" sz="1800" dirty="0">
                <a:solidFill>
                  <a:schemeClr val="tx1"/>
                </a:solidFill>
              </a:rPr>
              <a:t>Brainstorming</a:t>
            </a:r>
            <a:endParaRPr lang="en-US" sz="1800" dirty="0"/>
          </a:p>
          <a:p>
            <a:pPr marL="342900" indent="-342900">
              <a:spcAft>
                <a:spcPts val="400"/>
              </a:spcAft>
              <a:buSzPct val="100000"/>
              <a:buChar char="•"/>
            </a:pPr>
            <a:r>
              <a:rPr lang="en-US" sz="1800" dirty="0">
                <a:solidFill>
                  <a:schemeClr val="tx1"/>
                </a:solidFill>
              </a:rPr>
              <a:t>SCAMPER</a:t>
            </a:r>
            <a:endParaRPr lang="en-US" sz="1800" dirty="0"/>
          </a:p>
          <a:p>
            <a:pPr marL="342900" indent="-342900">
              <a:spcAft>
                <a:spcPts val="400"/>
              </a:spcAft>
              <a:buSzPct val="100000"/>
              <a:buChar char="•"/>
            </a:pPr>
            <a:r>
              <a:rPr lang="en-US" sz="1800" dirty="0">
                <a:solidFill>
                  <a:schemeClr val="tx1"/>
                </a:solidFill>
              </a:rPr>
              <a:t>Provocación</a:t>
            </a:r>
            <a:endParaRPr lang="en-US" sz="1800" dirty="0"/>
          </a:p>
          <a:p>
            <a:pPr marL="0" indent="0">
              <a:spcAft>
                <a:spcPts val="400"/>
              </a:spcAft>
              <a:buNone/>
            </a:pPr>
            <a:r>
              <a:rPr lang="en-US" sz="800" dirty="0">
                <a:solidFill>
                  <a:schemeClr val="tx1"/>
                </a:solidFill>
              </a:rPr>
              <a:t> </a:t>
            </a:r>
            <a:endParaRPr lang="en-US" sz="1800" dirty="0"/>
          </a:p>
          <a:p>
            <a:pPr marL="0" indent="0">
              <a:spcAft>
                <a:spcPts val="400"/>
              </a:spcAft>
              <a:buNone/>
            </a:pPr>
            <a:r>
              <a:rPr lang="en-US" sz="1800" b="1" dirty="0">
                <a:solidFill>
                  <a:schemeClr val="tx2"/>
                </a:solidFill>
              </a:rPr>
              <a:t>Lo cierra:</a:t>
            </a:r>
            <a:endParaRPr lang="en-US" sz="1800" dirty="0"/>
          </a:p>
          <a:p>
            <a:pPr marL="342900" indent="-342900">
              <a:spcAft>
                <a:spcPts val="400"/>
              </a:spcAft>
              <a:buSzPct val="100000"/>
              <a:buChar char="•"/>
            </a:pPr>
            <a:r>
              <a:rPr lang="en-US" sz="1800" dirty="0">
                <a:solidFill>
                  <a:schemeClr val="tx1"/>
                </a:solidFill>
              </a:rPr>
              <a:t>La matriz de decisión (bloque 3)</a:t>
            </a:r>
            <a:endParaRPr lang="en-US" sz="1800" dirty="0"/>
          </a:p>
        </p:txBody>
      </p:sp>
      <p:sp>
        <p:nvSpPr>
          <p:cNvPr id="34" name="Text 31"/>
          <p:cNvSpPr txBox="1"/>
          <p:nvPr/>
        </p:nvSpPr>
        <p:spPr>
          <a:xfrm>
            <a:off x="548640" y="5806440"/>
            <a:ext cx="11094415" cy="457200"/>
          </a:xfrm>
          <a:prstGeom prst="rect">
            <a:avLst/>
          </a:prstGeom>
          <a:noFill/>
          <a:ln/>
        </p:spPr>
        <p:txBody>
          <a:bodyPr wrap="square" lIns="0" tIns="0" rIns="0" bIns="0" rtlCol="0" anchor="ctr"/>
          <a:lstStyle/>
          <a:p>
            <a:pPr marL="0" indent="0">
              <a:buNone/>
            </a:pPr>
            <a:r>
              <a:rPr lang="en-US" sz="1800" b="1" dirty="0">
                <a:solidFill>
                  <a:schemeClr val="accent3"/>
                </a:solidFill>
              </a:rPr>
              <a:t>Si se mezclan los dos pasos, se juzga demasiado pronto y salen pocas ideas.</a:t>
            </a:r>
            <a:endParaRPr lang="en-US" sz="1800" dirty="0"/>
          </a:p>
        </p:txBody>
      </p:sp>
      <p:sp>
        <p:nvSpPr>
          <p:cNvPr id="3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La regla de todo el curso</a:t>
            </a:r>
            <a:endParaRPr lang="en-US" sz="3200" dirty="0"/>
          </a:p>
        </p:txBody>
      </p:sp>
      <p:sp>
        <p:nvSpPr>
          <p:cNvPr id="3" name="Etiqueta de tiempo"/>
          <p:cNvSpPr/>
          <p:nvPr/>
        </p:nvSpPr>
        <p:spPr>
          <a:xfrm>
            <a:off x="10134295" y="548640"/>
            <a:ext cx="1508760" cy="457200"/>
          </a:xfrm>
          <a:prstGeom prst="roundRect">
            <a:avLst>
              <a:gd name="adj" fmla="val 50000"/>
            </a:avLst>
          </a:prstGeom>
          <a:solidFill>
            <a:schemeClr val="bg2"/>
          </a:solidFill>
          <a:ln/>
        </p:spPr>
      </p:sp>
      <p:sp>
        <p:nvSpPr>
          <p:cNvPr id="4" name="Text 2"/>
          <p:cNvSpPr txBox="1"/>
          <p:nvPr/>
        </p:nvSpPr>
        <p:spPr>
          <a:xfrm>
            <a:off x="10134295" y="548640"/>
            <a:ext cx="1508760" cy="457200"/>
          </a:xfrm>
          <a:prstGeom prst="rect">
            <a:avLst/>
          </a:prstGeom>
          <a:noFill/>
          <a:ln/>
        </p:spPr>
        <p:txBody>
          <a:bodyPr wrap="square" lIns="0" tIns="0" rIns="0" bIns="0" rtlCol="0" anchor="ctr"/>
          <a:lstStyle/>
          <a:p>
            <a:pPr marL="0" indent="0" algn="ctr">
              <a:buNone/>
            </a:pPr>
            <a:r>
              <a:rPr lang="en-US" sz="1400" b="1" dirty="0">
                <a:solidFill>
                  <a:schemeClr val="tx1"/>
                </a:solidFill>
              </a:rPr>
              <a:t>Min. 15–20</a:t>
            </a:r>
            <a:endParaRPr lang="en-US" sz="1400" dirty="0"/>
          </a:p>
        </p:txBody>
      </p:sp>
      <p:sp>
        <p:nvSpPr>
          <p:cNvPr id="5" name="Tarjeta"/>
          <p:cNvSpPr/>
          <p:nvPr/>
        </p:nvSpPr>
        <p:spPr>
          <a:xfrm>
            <a:off x="548640" y="1554480"/>
            <a:ext cx="5212080" cy="1828800"/>
          </a:xfrm>
          <a:prstGeom prst="roundRect">
            <a:avLst>
              <a:gd name="adj" fmla="val 7500"/>
            </a:avLst>
          </a:prstGeom>
          <a:solidFill>
            <a:schemeClr val="bg2"/>
          </a:solidFill>
          <a:ln/>
        </p:spPr>
      </p:sp>
      <p:sp>
        <p:nvSpPr>
          <p:cNvPr id="6" name="Primero, las personas"/>
          <p:cNvSpPr/>
          <p:nvPr/>
        </p:nvSpPr>
        <p:spPr>
          <a:xfrm>
            <a:off x="868680" y="1828800"/>
            <a:ext cx="1280160" cy="1280160"/>
          </a:xfrm>
          <a:prstGeom prst="ellipse">
            <a:avLst/>
          </a:prstGeom>
          <a:solidFill>
            <a:schemeClr val="accent1"/>
          </a:solidFill>
          <a:ln/>
        </p:spPr>
      </p:sp>
      <p:pic>
        <p:nvPicPr>
          <p:cNvPr id="7" name="Image 0" descr="Primero, las personas"/>
          <p:cNvPicPr>
            <a:picLocks noChangeAspect="1"/>
          </p:cNvPicPr>
          <p:nvPr/>
        </p:nvPicPr>
        <p:blipFill>
          <a:blip r:embed="rId3"/>
          <a:stretch>
            <a:fillRect/>
          </a:stretch>
        </p:blipFill>
        <p:spPr>
          <a:xfrm>
            <a:off x="1175918" y="2136038"/>
            <a:ext cx="665683" cy="665683"/>
          </a:xfrm>
          <a:prstGeom prst="rect">
            <a:avLst/>
          </a:prstGeom>
        </p:spPr>
      </p:pic>
      <p:sp>
        <p:nvSpPr>
          <p:cNvPr id="8" name="Text 5"/>
          <p:cNvSpPr txBox="1"/>
          <p:nvPr/>
        </p:nvSpPr>
        <p:spPr>
          <a:xfrm>
            <a:off x="2377440" y="1554480"/>
            <a:ext cx="3200400" cy="1828800"/>
          </a:xfrm>
          <a:prstGeom prst="rect">
            <a:avLst/>
          </a:prstGeom>
          <a:noFill/>
          <a:ln/>
        </p:spPr>
        <p:txBody>
          <a:bodyPr wrap="square" lIns="0" tIns="0" rIns="0" bIns="0" rtlCol="0" anchor="ctr"/>
          <a:lstStyle/>
          <a:p>
            <a:pPr marL="0" indent="0">
              <a:buNone/>
            </a:pPr>
            <a:r>
              <a:rPr lang="en-US" sz="2800" b="1" dirty="0">
                <a:solidFill>
                  <a:schemeClr val="accent5"/>
                </a:solidFill>
              </a:rPr>
              <a:t>1</a:t>
            </a:r>
            <a:endParaRPr lang="en-US" sz="2800" dirty="0"/>
          </a:p>
          <a:p>
            <a:pPr marL="0" indent="0">
              <a:buNone/>
            </a:pPr>
            <a:r>
              <a:rPr lang="en-US" sz="2800" b="1" dirty="0">
                <a:solidFill>
                  <a:schemeClr val="tx1"/>
                </a:solidFill>
              </a:rPr>
              <a:t>Primero, las personas</a:t>
            </a:r>
            <a:endParaRPr lang="en-US" sz="2800" dirty="0"/>
          </a:p>
        </p:txBody>
      </p:sp>
      <p:sp>
        <p:nvSpPr>
          <p:cNvPr id="9" name="Tarjeta"/>
          <p:cNvSpPr/>
          <p:nvPr/>
        </p:nvSpPr>
        <p:spPr>
          <a:xfrm>
            <a:off x="6400800" y="1554480"/>
            <a:ext cx="5212080" cy="1828800"/>
          </a:xfrm>
          <a:prstGeom prst="roundRect">
            <a:avLst>
              <a:gd name="adj" fmla="val 7500"/>
            </a:avLst>
          </a:prstGeom>
          <a:solidFill>
            <a:schemeClr val="bg2"/>
          </a:solidFill>
          <a:ln/>
        </p:spPr>
      </p:sp>
      <p:sp>
        <p:nvSpPr>
          <p:cNvPr id="10" name="Después, la IA"/>
          <p:cNvSpPr/>
          <p:nvPr/>
        </p:nvSpPr>
        <p:spPr>
          <a:xfrm>
            <a:off x="6720840" y="1828800"/>
            <a:ext cx="1280160" cy="1280160"/>
          </a:xfrm>
          <a:prstGeom prst="ellipse">
            <a:avLst/>
          </a:prstGeom>
          <a:solidFill>
            <a:schemeClr val="accent2"/>
          </a:solidFill>
          <a:ln/>
        </p:spPr>
      </p:sp>
      <p:pic>
        <p:nvPicPr>
          <p:cNvPr id="11" name="Image 1" descr="Después, la IA"/>
          <p:cNvPicPr>
            <a:picLocks noChangeAspect="1"/>
          </p:cNvPicPr>
          <p:nvPr/>
        </p:nvPicPr>
        <p:blipFill>
          <a:blip r:embed="rId4"/>
          <a:stretch>
            <a:fillRect/>
          </a:stretch>
        </p:blipFill>
        <p:spPr>
          <a:xfrm>
            <a:off x="7028078" y="2136038"/>
            <a:ext cx="665683" cy="665683"/>
          </a:xfrm>
          <a:prstGeom prst="rect">
            <a:avLst/>
          </a:prstGeom>
        </p:spPr>
      </p:pic>
      <p:sp>
        <p:nvSpPr>
          <p:cNvPr id="12" name="Text 8"/>
          <p:cNvSpPr txBox="1"/>
          <p:nvPr/>
        </p:nvSpPr>
        <p:spPr>
          <a:xfrm>
            <a:off x="8229600" y="1554480"/>
            <a:ext cx="3200400" cy="1828800"/>
          </a:xfrm>
          <a:prstGeom prst="rect">
            <a:avLst/>
          </a:prstGeom>
          <a:noFill/>
          <a:ln/>
        </p:spPr>
        <p:txBody>
          <a:bodyPr wrap="square" lIns="0" tIns="0" rIns="0" bIns="0" rtlCol="0" anchor="ctr"/>
          <a:lstStyle/>
          <a:p>
            <a:pPr marL="0" indent="0">
              <a:buNone/>
            </a:pPr>
            <a:r>
              <a:rPr lang="en-US" sz="2800" b="1" dirty="0">
                <a:solidFill>
                  <a:schemeClr val="accent5"/>
                </a:solidFill>
              </a:rPr>
              <a:t>2</a:t>
            </a:r>
            <a:endParaRPr lang="en-US" sz="2800" dirty="0"/>
          </a:p>
          <a:p>
            <a:pPr marL="0" indent="0">
              <a:buNone/>
            </a:pPr>
            <a:r>
              <a:rPr lang="en-US" sz="2800" b="1" dirty="0">
                <a:solidFill>
                  <a:schemeClr val="tx1"/>
                </a:solidFill>
              </a:rPr>
              <a:t>Después, la IA</a:t>
            </a:r>
            <a:endParaRPr lang="en-US" sz="2800" dirty="0"/>
          </a:p>
        </p:txBody>
      </p:sp>
      <p:sp>
        <p:nvSpPr>
          <p:cNvPr id="13" name="Shape 9"/>
          <p:cNvSpPr/>
          <p:nvPr/>
        </p:nvSpPr>
        <p:spPr>
          <a:xfrm>
            <a:off x="5852160" y="2468880"/>
            <a:ext cx="457200" cy="0"/>
          </a:xfrm>
          <a:prstGeom prst="line">
            <a:avLst/>
          </a:prstGeom>
          <a:noFill/>
          <a:ln w="38100">
            <a:solidFill>
              <a:srgbClr val="3A4664"/>
            </a:solidFill>
            <a:prstDash val="solid"/>
            <a:tailEnd type="triangle"/>
          </a:ln>
        </p:spPr>
      </p:sp>
      <p:sp>
        <p:nvSpPr>
          <p:cNvPr id="14" name="Razón"/>
          <p:cNvSpPr/>
          <p:nvPr/>
        </p:nvSpPr>
        <p:spPr>
          <a:xfrm>
            <a:off x="548640" y="3931920"/>
            <a:ext cx="685800" cy="685800"/>
          </a:xfrm>
          <a:prstGeom prst="ellipse">
            <a:avLst/>
          </a:prstGeom>
          <a:solidFill>
            <a:schemeClr val="tx2"/>
          </a:solidFill>
          <a:ln/>
        </p:spPr>
      </p:sp>
      <p:pic>
        <p:nvPicPr>
          <p:cNvPr id="15" name="Image 2" descr="Razón"/>
          <p:cNvPicPr>
            <a:picLocks noChangeAspect="1"/>
          </p:cNvPicPr>
          <p:nvPr/>
        </p:nvPicPr>
        <p:blipFill>
          <a:blip r:embed="rId5"/>
          <a:stretch>
            <a:fillRect/>
          </a:stretch>
        </p:blipFill>
        <p:spPr>
          <a:xfrm>
            <a:off x="713232" y="4096512"/>
            <a:ext cx="356616" cy="356616"/>
          </a:xfrm>
          <a:prstGeom prst="rect">
            <a:avLst/>
          </a:prstGeom>
        </p:spPr>
      </p:pic>
      <p:sp>
        <p:nvSpPr>
          <p:cNvPr id="16" name="Text 11"/>
          <p:cNvSpPr txBox="1"/>
          <p:nvPr/>
        </p:nvSpPr>
        <p:spPr>
          <a:xfrm>
            <a:off x="1463040" y="3931920"/>
            <a:ext cx="10058400" cy="685800"/>
          </a:xfrm>
          <a:prstGeom prst="rect">
            <a:avLst/>
          </a:prstGeom>
          <a:noFill/>
          <a:ln/>
        </p:spPr>
        <p:txBody>
          <a:bodyPr wrap="square" lIns="0" tIns="0" rIns="0" bIns="0" rtlCol="0" anchor="ctr"/>
          <a:lstStyle/>
          <a:p>
            <a:pPr marL="0" indent="0">
              <a:buNone/>
            </a:pPr>
            <a:r>
              <a:rPr lang="en-US" sz="2000" dirty="0">
                <a:solidFill>
                  <a:schemeClr val="tx1"/>
                </a:solidFill>
              </a:rPr>
              <a:t>Si la IA va primero, el grupo se «ancla» en sus ideas y deja de pensar por su cuenta.</a:t>
            </a:r>
            <a:endParaRPr lang="en-US" sz="2000" dirty="0"/>
          </a:p>
        </p:txBody>
      </p:sp>
      <p:sp>
        <p:nvSpPr>
          <p:cNvPr id="17" name="Razón"/>
          <p:cNvSpPr/>
          <p:nvPr/>
        </p:nvSpPr>
        <p:spPr>
          <a:xfrm>
            <a:off x="548640" y="4846320"/>
            <a:ext cx="685800" cy="685800"/>
          </a:xfrm>
          <a:prstGeom prst="ellipse">
            <a:avLst/>
          </a:prstGeom>
          <a:solidFill>
            <a:schemeClr val="tx2"/>
          </a:solidFill>
          <a:ln/>
        </p:spPr>
      </p:sp>
      <p:pic>
        <p:nvPicPr>
          <p:cNvPr id="18" name="Image 3" descr="Razón"/>
          <p:cNvPicPr>
            <a:picLocks noChangeAspect="1"/>
          </p:cNvPicPr>
          <p:nvPr/>
        </p:nvPicPr>
        <p:blipFill>
          <a:blip r:embed="rId6"/>
          <a:stretch>
            <a:fillRect/>
          </a:stretch>
        </p:blipFill>
        <p:spPr>
          <a:xfrm>
            <a:off x="713232" y="5010912"/>
            <a:ext cx="356616" cy="356616"/>
          </a:xfrm>
          <a:prstGeom prst="rect">
            <a:avLst/>
          </a:prstGeom>
        </p:spPr>
      </p:pic>
      <p:sp>
        <p:nvSpPr>
          <p:cNvPr id="19" name="Text 13"/>
          <p:cNvSpPr txBox="1"/>
          <p:nvPr/>
        </p:nvSpPr>
        <p:spPr>
          <a:xfrm>
            <a:off x="1463040" y="4846320"/>
            <a:ext cx="10058400" cy="685800"/>
          </a:xfrm>
          <a:prstGeom prst="rect">
            <a:avLst/>
          </a:prstGeom>
          <a:noFill/>
          <a:ln/>
        </p:spPr>
        <p:txBody>
          <a:bodyPr wrap="square" lIns="0" tIns="0" rIns="0" bIns="0" rtlCol="0" anchor="ctr"/>
          <a:lstStyle/>
          <a:p>
            <a:pPr marL="0" indent="0">
              <a:buNone/>
            </a:pPr>
            <a:r>
              <a:rPr lang="en-US" sz="2000" dirty="0">
                <a:solidFill>
                  <a:schemeClr val="tx1"/>
                </a:solidFill>
              </a:rPr>
              <a:t>Así podemos comparar qué aporta cada uno.</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Misma herramienta, mismo resultado</a:t>
            </a:r>
            <a:endParaRPr lang="en-US" sz="3200" dirty="0"/>
          </a:p>
        </p:txBody>
      </p:sp>
      <p:sp>
        <p:nvSpPr>
          <p:cNvPr id="3" name="Etiqueta de tiempo"/>
          <p:cNvSpPr/>
          <p:nvPr/>
        </p:nvSpPr>
        <p:spPr>
          <a:xfrm>
            <a:off x="10134295" y="548640"/>
            <a:ext cx="1508760" cy="457200"/>
          </a:xfrm>
          <a:prstGeom prst="roundRect">
            <a:avLst>
              <a:gd name="adj" fmla="val 50000"/>
            </a:avLst>
          </a:prstGeom>
          <a:solidFill>
            <a:schemeClr val="bg2"/>
          </a:solidFill>
          <a:ln/>
        </p:spPr>
      </p:sp>
      <p:sp>
        <p:nvSpPr>
          <p:cNvPr id="4" name="Text 2"/>
          <p:cNvSpPr txBox="1"/>
          <p:nvPr/>
        </p:nvSpPr>
        <p:spPr>
          <a:xfrm>
            <a:off x="10134295" y="548640"/>
            <a:ext cx="1508760" cy="457200"/>
          </a:xfrm>
          <a:prstGeom prst="rect">
            <a:avLst/>
          </a:prstGeom>
          <a:noFill/>
          <a:ln/>
        </p:spPr>
        <p:txBody>
          <a:bodyPr wrap="square" lIns="0" tIns="0" rIns="0" bIns="0" rtlCol="0" anchor="ctr"/>
          <a:lstStyle/>
          <a:p>
            <a:pPr marL="0" indent="0" algn="ctr">
              <a:buNone/>
            </a:pPr>
            <a:r>
              <a:rPr lang="en-US" sz="1400" b="1" dirty="0">
                <a:solidFill>
                  <a:schemeClr val="tx1"/>
                </a:solidFill>
              </a:rPr>
              <a:t>Min. 15–20</a:t>
            </a:r>
            <a:endParaRPr lang="en-US" sz="1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20</a:t>
            </a:fld>
            <a:endParaRPr lang="en-US"/>
          </a:p>
        </p:txBody>
      </p:sp>
      <p:sp>
        <p:nvSpPr>
          <p:cNvPr id="6" name="Text 0">
            <a:extLst>
              <a:ext uri="{FF2B5EF4-FFF2-40B4-BE49-F238E27FC236}">
                <a16:creationId xmlns:a16="http://schemas.microsoft.com/office/drawing/2014/main" id="{A283B16A-A781-DFDA-EEC3-BD382FEE5646}"/>
              </a:ext>
            </a:extLst>
          </p:cNvPr>
          <p:cNvSpPr txBox="1">
            <a:spLocks/>
          </p:cNvSpPr>
          <p:nvPr/>
        </p:nvSpPr>
        <p:spPr>
          <a:xfrm>
            <a:off x="868309" y="2994660"/>
            <a:ext cx="11094415" cy="777240"/>
          </a:xfrm>
          <a:prstGeom prst="rect">
            <a:avLst/>
          </a:prstGeom>
          <a:noFill/>
          <a:ln/>
        </p:spPr>
        <p:txBody>
          <a:bodyPr wrap="square" lIns="0" tIns="0" rIns="0" bIns="0" rtlCol="0" anchor="ctr"/>
          <a:lstStyle>
            <a:lvl1pPr marL="0" indent="0" algn="l" defTabSz="914400" rtl="0" eaLnBrk="1" latinLnBrk="0" hangingPunct="1">
              <a:spcBef>
                <a:spcPct val="0"/>
              </a:spcBef>
              <a:buNone/>
              <a:defRPr lang="en-US" sz="3200" b="1" kern="1200" dirty="0">
                <a:solidFill>
                  <a:schemeClr val="tx1"/>
                </a:solidFill>
                <a:latin typeface="+mj-lt"/>
                <a:ea typeface="+mj-ea"/>
                <a:cs typeface="+mj-cs"/>
              </a:defRPr>
            </a:lvl1pPr>
          </a:lstStyle>
          <a:p>
            <a:r>
              <a:rPr lang="es-ES" dirty="0"/>
              <a:t>Ver casos:</a:t>
            </a:r>
            <a:br>
              <a:rPr lang="es-ES" dirty="0"/>
            </a:br>
            <a:r>
              <a:rPr lang="es-ES" dirty="0" err="1"/>
              <a:t>Unreal</a:t>
            </a:r>
            <a:r>
              <a:rPr lang="es-ES" dirty="0"/>
              <a:t> </a:t>
            </a:r>
            <a:r>
              <a:rPr lang="es-ES" dirty="0" err="1"/>
              <a:t>Engine</a:t>
            </a:r>
            <a:r>
              <a:rPr lang="es-ES" dirty="0"/>
              <a:t> 5 y Relatos cortos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Nuestro ejemplo: una peluquería de barrio</a:t>
            </a:r>
            <a:endParaRPr lang="en-US" sz="3200" dirty="0"/>
          </a:p>
        </p:txBody>
      </p:sp>
      <p:sp>
        <p:nvSpPr>
          <p:cNvPr id="3" name="Etiqueta de tiempo"/>
          <p:cNvSpPr/>
          <p:nvPr/>
        </p:nvSpPr>
        <p:spPr>
          <a:xfrm>
            <a:off x="10134295" y="548640"/>
            <a:ext cx="1508760" cy="457200"/>
          </a:xfrm>
          <a:prstGeom prst="roundRect">
            <a:avLst>
              <a:gd name="adj" fmla="val 50000"/>
            </a:avLst>
          </a:prstGeom>
          <a:solidFill>
            <a:schemeClr val="bg2"/>
          </a:solidFill>
          <a:ln/>
        </p:spPr>
      </p:sp>
      <p:sp>
        <p:nvSpPr>
          <p:cNvPr id="4" name="Text 2"/>
          <p:cNvSpPr txBox="1"/>
          <p:nvPr/>
        </p:nvSpPr>
        <p:spPr>
          <a:xfrm>
            <a:off x="10134295" y="548640"/>
            <a:ext cx="1508760" cy="457200"/>
          </a:xfrm>
          <a:prstGeom prst="rect">
            <a:avLst/>
          </a:prstGeom>
          <a:noFill/>
          <a:ln/>
        </p:spPr>
        <p:txBody>
          <a:bodyPr wrap="square" lIns="0" tIns="0" rIns="0" bIns="0" rtlCol="0" anchor="ctr"/>
          <a:lstStyle/>
          <a:p>
            <a:pPr marL="0" indent="0" algn="ctr">
              <a:buNone/>
            </a:pPr>
            <a:r>
              <a:rPr lang="en-US" sz="1400" b="1" dirty="0">
                <a:solidFill>
                  <a:schemeClr val="tx1"/>
                </a:solidFill>
              </a:rPr>
              <a:t>Min. 15–20</a:t>
            </a:r>
            <a:endParaRPr lang="en-US" sz="1400" dirty="0"/>
          </a:p>
        </p:txBody>
      </p:sp>
      <p:sp>
        <p:nvSpPr>
          <p:cNvPr id="5" name="Peluquería"/>
          <p:cNvSpPr/>
          <p:nvPr/>
        </p:nvSpPr>
        <p:spPr>
          <a:xfrm>
            <a:off x="548640" y="1554480"/>
            <a:ext cx="1097280" cy="1097280"/>
          </a:xfrm>
          <a:prstGeom prst="ellipse">
            <a:avLst/>
          </a:prstGeom>
          <a:solidFill>
            <a:schemeClr val="tx1"/>
          </a:solidFill>
          <a:ln/>
        </p:spPr>
      </p:sp>
      <p:pic>
        <p:nvPicPr>
          <p:cNvPr id="6" name="Image 0" descr="Peluquería"/>
          <p:cNvPicPr>
            <a:picLocks noChangeAspect="1"/>
          </p:cNvPicPr>
          <p:nvPr/>
        </p:nvPicPr>
        <p:blipFill>
          <a:blip r:embed="rId3"/>
          <a:stretch>
            <a:fillRect/>
          </a:stretch>
        </p:blipFill>
        <p:spPr>
          <a:xfrm>
            <a:off x="811987" y="1817827"/>
            <a:ext cx="570586" cy="570586"/>
          </a:xfrm>
          <a:prstGeom prst="rect">
            <a:avLst/>
          </a:prstGeom>
        </p:spPr>
      </p:pic>
      <p:sp>
        <p:nvSpPr>
          <p:cNvPr id="7" name="Text 4"/>
          <p:cNvSpPr txBox="1"/>
          <p:nvPr/>
        </p:nvSpPr>
        <p:spPr>
          <a:xfrm>
            <a:off x="1874520" y="1554480"/>
            <a:ext cx="8229600" cy="1097280"/>
          </a:xfrm>
          <a:prstGeom prst="rect">
            <a:avLst/>
          </a:prstGeom>
          <a:noFill/>
          <a:ln/>
        </p:spPr>
        <p:txBody>
          <a:bodyPr wrap="square" lIns="0" tIns="0" rIns="0" bIns="0" rtlCol="0" anchor="ctr"/>
          <a:lstStyle/>
          <a:p>
            <a:pPr marL="0" indent="0">
              <a:buNone/>
            </a:pPr>
            <a:r>
              <a:rPr lang="en-US" sz="2600" b="1" dirty="0">
                <a:solidFill>
                  <a:schemeClr val="tx1"/>
                </a:solidFill>
              </a:rPr>
              <a:t>Da las citas solo por teléfono</a:t>
            </a:r>
            <a:endParaRPr lang="en-US" sz="2600" dirty="0"/>
          </a:p>
        </p:txBody>
      </p:sp>
      <p:sp>
        <p:nvSpPr>
          <p:cNvPr id="8" name="Tarjeta"/>
          <p:cNvSpPr/>
          <p:nvPr/>
        </p:nvSpPr>
        <p:spPr>
          <a:xfrm>
            <a:off x="548640" y="2971800"/>
            <a:ext cx="3454298" cy="2148840"/>
          </a:xfrm>
          <a:prstGeom prst="roundRect">
            <a:avLst>
              <a:gd name="adj" fmla="val 6383"/>
            </a:avLst>
          </a:prstGeom>
          <a:solidFill>
            <a:schemeClr val="bg2"/>
          </a:solidFill>
          <a:ln/>
        </p:spPr>
      </p:sp>
      <p:sp>
        <p:nvSpPr>
          <p:cNvPr id="9" name="Problema"/>
          <p:cNvSpPr/>
          <p:nvPr/>
        </p:nvSpPr>
        <p:spPr>
          <a:xfrm>
            <a:off x="868680" y="3246120"/>
            <a:ext cx="822960" cy="822960"/>
          </a:xfrm>
          <a:prstGeom prst="ellipse">
            <a:avLst/>
          </a:prstGeom>
          <a:solidFill>
            <a:schemeClr val="accent3"/>
          </a:solidFill>
          <a:ln/>
        </p:spPr>
      </p:sp>
      <p:pic>
        <p:nvPicPr>
          <p:cNvPr id="10" name="Image 1" descr="Problema"/>
          <p:cNvPicPr>
            <a:picLocks noChangeAspect="1"/>
          </p:cNvPicPr>
          <p:nvPr/>
        </p:nvPicPr>
        <p:blipFill>
          <a:blip r:embed="rId4"/>
          <a:stretch>
            <a:fillRect/>
          </a:stretch>
        </p:blipFill>
        <p:spPr>
          <a:xfrm>
            <a:off x="1066190" y="3443630"/>
            <a:ext cx="427939" cy="427939"/>
          </a:xfrm>
          <a:prstGeom prst="rect">
            <a:avLst/>
          </a:prstGeom>
        </p:spPr>
      </p:pic>
      <p:sp>
        <p:nvSpPr>
          <p:cNvPr id="11" name="Text 7"/>
          <p:cNvSpPr txBox="1"/>
          <p:nvPr/>
        </p:nvSpPr>
        <p:spPr>
          <a:xfrm>
            <a:off x="868680" y="4160520"/>
            <a:ext cx="2814218" cy="868680"/>
          </a:xfrm>
          <a:prstGeom prst="rect">
            <a:avLst/>
          </a:prstGeom>
          <a:noFill/>
          <a:ln/>
        </p:spPr>
        <p:txBody>
          <a:bodyPr wrap="square" lIns="0" tIns="0" rIns="0" bIns="0" rtlCol="0" anchor="t"/>
          <a:lstStyle/>
          <a:p>
            <a:pPr marL="0" indent="0">
              <a:buNone/>
            </a:pPr>
            <a:r>
              <a:rPr lang="en-US" sz="1900" dirty="0">
                <a:solidFill>
                  <a:schemeClr val="tx1"/>
                </a:solidFill>
              </a:rPr>
              <a:t>El teléfono suena mientras se atiende a los clientes.</a:t>
            </a:r>
            <a:endParaRPr lang="en-US" sz="1900" dirty="0"/>
          </a:p>
        </p:txBody>
      </p:sp>
      <p:sp>
        <p:nvSpPr>
          <p:cNvPr id="12" name="Tarjeta"/>
          <p:cNvSpPr/>
          <p:nvPr/>
        </p:nvSpPr>
        <p:spPr>
          <a:xfrm>
            <a:off x="4368698" y="2971800"/>
            <a:ext cx="3454298" cy="2148840"/>
          </a:xfrm>
          <a:prstGeom prst="roundRect">
            <a:avLst>
              <a:gd name="adj" fmla="val 6383"/>
            </a:avLst>
          </a:prstGeom>
          <a:solidFill>
            <a:schemeClr val="bg2"/>
          </a:solidFill>
          <a:ln/>
        </p:spPr>
      </p:sp>
      <p:sp>
        <p:nvSpPr>
          <p:cNvPr id="13" name="Problema"/>
          <p:cNvSpPr/>
          <p:nvPr/>
        </p:nvSpPr>
        <p:spPr>
          <a:xfrm>
            <a:off x="4688738" y="3246120"/>
            <a:ext cx="822960" cy="822960"/>
          </a:xfrm>
          <a:prstGeom prst="ellipse">
            <a:avLst/>
          </a:prstGeom>
          <a:solidFill>
            <a:schemeClr val="accent3"/>
          </a:solidFill>
          <a:ln/>
        </p:spPr>
      </p:sp>
      <p:pic>
        <p:nvPicPr>
          <p:cNvPr id="14" name="Image 2" descr="Problema"/>
          <p:cNvPicPr>
            <a:picLocks noChangeAspect="1"/>
          </p:cNvPicPr>
          <p:nvPr/>
        </p:nvPicPr>
        <p:blipFill>
          <a:blip r:embed="rId5"/>
          <a:stretch>
            <a:fillRect/>
          </a:stretch>
        </p:blipFill>
        <p:spPr>
          <a:xfrm>
            <a:off x="4886249" y="3443630"/>
            <a:ext cx="427939" cy="427939"/>
          </a:xfrm>
          <a:prstGeom prst="rect">
            <a:avLst/>
          </a:prstGeom>
        </p:spPr>
      </p:pic>
      <p:sp>
        <p:nvSpPr>
          <p:cNvPr id="15" name="Text 10"/>
          <p:cNvSpPr txBox="1"/>
          <p:nvPr/>
        </p:nvSpPr>
        <p:spPr>
          <a:xfrm>
            <a:off x="4688738" y="4160520"/>
            <a:ext cx="2814218" cy="868680"/>
          </a:xfrm>
          <a:prstGeom prst="rect">
            <a:avLst/>
          </a:prstGeom>
          <a:noFill/>
          <a:ln/>
        </p:spPr>
        <p:txBody>
          <a:bodyPr wrap="square" lIns="0" tIns="0" rIns="0" bIns="0" rtlCol="0" anchor="t"/>
          <a:lstStyle/>
          <a:p>
            <a:pPr marL="0" indent="0">
              <a:buNone/>
            </a:pPr>
            <a:r>
              <a:rPr lang="en-US" sz="1900" dirty="0">
                <a:solidFill>
                  <a:schemeClr val="tx1"/>
                </a:solidFill>
              </a:rPr>
              <a:t>Hay clientes que olvidan su cita.</a:t>
            </a:r>
            <a:endParaRPr lang="en-US" sz="1900" dirty="0"/>
          </a:p>
        </p:txBody>
      </p:sp>
      <p:sp>
        <p:nvSpPr>
          <p:cNvPr id="16" name="Tarjeta"/>
          <p:cNvSpPr/>
          <p:nvPr/>
        </p:nvSpPr>
        <p:spPr>
          <a:xfrm>
            <a:off x="8188757" y="2971800"/>
            <a:ext cx="3454298" cy="2148840"/>
          </a:xfrm>
          <a:prstGeom prst="roundRect">
            <a:avLst>
              <a:gd name="adj" fmla="val 6383"/>
            </a:avLst>
          </a:prstGeom>
          <a:solidFill>
            <a:schemeClr val="bg2"/>
          </a:solidFill>
          <a:ln/>
        </p:spPr>
      </p:sp>
      <p:sp>
        <p:nvSpPr>
          <p:cNvPr id="17" name="Problema"/>
          <p:cNvSpPr/>
          <p:nvPr/>
        </p:nvSpPr>
        <p:spPr>
          <a:xfrm>
            <a:off x="8508797" y="3246120"/>
            <a:ext cx="822960" cy="822960"/>
          </a:xfrm>
          <a:prstGeom prst="ellipse">
            <a:avLst/>
          </a:prstGeom>
          <a:solidFill>
            <a:schemeClr val="accent3"/>
          </a:solidFill>
          <a:ln/>
        </p:spPr>
      </p:sp>
      <p:pic>
        <p:nvPicPr>
          <p:cNvPr id="18" name="Image 3" descr="Problema"/>
          <p:cNvPicPr>
            <a:picLocks noChangeAspect="1"/>
          </p:cNvPicPr>
          <p:nvPr/>
        </p:nvPicPr>
        <p:blipFill>
          <a:blip r:embed="rId6"/>
          <a:stretch>
            <a:fillRect/>
          </a:stretch>
        </p:blipFill>
        <p:spPr>
          <a:xfrm>
            <a:off x="8706307" y="3443630"/>
            <a:ext cx="427939" cy="427939"/>
          </a:xfrm>
          <a:prstGeom prst="rect">
            <a:avLst/>
          </a:prstGeom>
        </p:spPr>
      </p:pic>
      <p:sp>
        <p:nvSpPr>
          <p:cNvPr id="19" name="Text 13"/>
          <p:cNvSpPr txBox="1"/>
          <p:nvPr/>
        </p:nvSpPr>
        <p:spPr>
          <a:xfrm>
            <a:off x="8508797" y="4160520"/>
            <a:ext cx="2814218" cy="868680"/>
          </a:xfrm>
          <a:prstGeom prst="rect">
            <a:avLst/>
          </a:prstGeom>
          <a:noFill/>
          <a:ln/>
        </p:spPr>
        <p:txBody>
          <a:bodyPr wrap="square" lIns="0" tIns="0" rIns="0" bIns="0" rtlCol="0" anchor="t"/>
          <a:lstStyle/>
          <a:p>
            <a:pPr marL="0" indent="0">
              <a:buNone/>
            </a:pPr>
            <a:r>
              <a:rPr lang="en-US" sz="1900" dirty="0">
                <a:solidFill>
                  <a:schemeClr val="tx1"/>
                </a:solidFill>
              </a:rPr>
              <a:t>Los lunes por la mañana está vacía.</a:t>
            </a:r>
            <a:endParaRPr lang="en-US" sz="1900" dirty="0"/>
          </a:p>
        </p:txBody>
      </p:sp>
      <p:sp>
        <p:nvSpPr>
          <p:cNvPr id="20" name="Text 14"/>
          <p:cNvSpPr txBox="1"/>
          <p:nvPr/>
        </p:nvSpPr>
        <p:spPr>
          <a:xfrm>
            <a:off x="548640" y="5440680"/>
            <a:ext cx="11094415" cy="457200"/>
          </a:xfrm>
          <a:prstGeom prst="rect">
            <a:avLst/>
          </a:prstGeom>
          <a:noFill/>
          <a:ln/>
        </p:spPr>
        <p:txBody>
          <a:bodyPr wrap="square" lIns="0" tIns="0" rIns="0" bIns="0" rtlCol="0" anchor="ctr"/>
          <a:lstStyle/>
          <a:p>
            <a:pPr marL="0" indent="0">
              <a:buNone/>
            </a:pPr>
            <a:r>
              <a:rPr lang="en-US" sz="1800" i="1" dirty="0">
                <a:solidFill>
                  <a:schemeClr val="tx2"/>
                </a:solidFill>
              </a:rPr>
              <a:t>La usaremos para explicar las tres técnicas: brainstorming, SCAMPER y provocación.</a:t>
            </a:r>
            <a:endParaRPr lang="en-US" sz="18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Brainstorming: cuatro reglas</a:t>
            </a:r>
            <a:endParaRPr lang="en-US" sz="3200" dirty="0"/>
          </a:p>
        </p:txBody>
      </p:sp>
      <p:sp>
        <p:nvSpPr>
          <p:cNvPr id="3" name="Etiqueta de tiempo"/>
          <p:cNvSpPr/>
          <p:nvPr/>
        </p:nvSpPr>
        <p:spPr>
          <a:xfrm>
            <a:off x="10134295" y="548640"/>
            <a:ext cx="1508760" cy="457200"/>
          </a:xfrm>
          <a:prstGeom prst="roundRect">
            <a:avLst>
              <a:gd name="adj" fmla="val 50000"/>
            </a:avLst>
          </a:prstGeom>
          <a:solidFill>
            <a:schemeClr val="bg2"/>
          </a:solidFill>
          <a:ln/>
        </p:spPr>
      </p:sp>
      <p:sp>
        <p:nvSpPr>
          <p:cNvPr id="4" name="Text 2"/>
          <p:cNvSpPr txBox="1"/>
          <p:nvPr/>
        </p:nvSpPr>
        <p:spPr>
          <a:xfrm>
            <a:off x="10134295" y="548640"/>
            <a:ext cx="1508760" cy="457200"/>
          </a:xfrm>
          <a:prstGeom prst="rect">
            <a:avLst/>
          </a:prstGeom>
          <a:noFill/>
          <a:ln/>
        </p:spPr>
        <p:txBody>
          <a:bodyPr wrap="square" lIns="0" tIns="0" rIns="0" bIns="0" rtlCol="0" anchor="ctr"/>
          <a:lstStyle/>
          <a:p>
            <a:pPr marL="0" indent="0" algn="ctr">
              <a:buNone/>
            </a:pPr>
            <a:r>
              <a:rPr lang="en-US" sz="1400" b="1" dirty="0">
                <a:solidFill>
                  <a:schemeClr val="tx1"/>
                </a:solidFill>
              </a:rPr>
              <a:t>Min. 15–20</a:t>
            </a:r>
            <a:endParaRPr lang="en-US" sz="1400" dirty="0"/>
          </a:p>
        </p:txBody>
      </p:sp>
      <p:sp>
        <p:nvSpPr>
          <p:cNvPr id="5" name="Text 3"/>
          <p:cNvSpPr txBox="1"/>
          <p:nvPr/>
        </p:nvSpPr>
        <p:spPr>
          <a:xfrm>
            <a:off x="548640" y="1371600"/>
            <a:ext cx="11094415" cy="548640"/>
          </a:xfrm>
          <a:prstGeom prst="rect">
            <a:avLst/>
          </a:prstGeom>
          <a:noFill/>
          <a:ln/>
        </p:spPr>
        <p:txBody>
          <a:bodyPr wrap="square" lIns="0" tIns="0" rIns="0" bIns="0" rtlCol="0" anchor="ctr"/>
          <a:lstStyle/>
          <a:p>
            <a:pPr marL="0" indent="0">
              <a:buNone/>
            </a:pPr>
            <a:r>
              <a:rPr lang="en-US" sz="2000" i="1" dirty="0">
                <a:solidFill>
                  <a:schemeClr val="tx2"/>
                </a:solidFill>
              </a:rPr>
              <a:t>Generar en grupo el mayor número posible de ideas sobre un reto, dejando el juicio para después.</a:t>
            </a:r>
            <a:endParaRPr lang="en-US" sz="2000" dirty="0"/>
          </a:p>
        </p:txBody>
      </p:sp>
      <p:sp>
        <p:nvSpPr>
          <p:cNvPr id="6" name="Tarjeta"/>
          <p:cNvSpPr/>
          <p:nvPr/>
        </p:nvSpPr>
        <p:spPr>
          <a:xfrm>
            <a:off x="548640" y="2194560"/>
            <a:ext cx="5364328" cy="1554480"/>
          </a:xfrm>
          <a:prstGeom prst="roundRect">
            <a:avLst>
              <a:gd name="adj" fmla="val 8824"/>
            </a:avLst>
          </a:prstGeom>
          <a:solidFill>
            <a:schemeClr val="bg2"/>
          </a:solidFill>
          <a:ln/>
        </p:spPr>
      </p:sp>
      <p:sp>
        <p:nvSpPr>
          <p:cNvPr id="7" name="Regla 1"/>
          <p:cNvSpPr/>
          <p:nvPr/>
        </p:nvSpPr>
        <p:spPr>
          <a:xfrm>
            <a:off x="822960" y="2560320"/>
            <a:ext cx="822960" cy="822960"/>
          </a:xfrm>
          <a:prstGeom prst="ellipse">
            <a:avLst/>
          </a:prstGeom>
          <a:solidFill>
            <a:schemeClr val="accent1"/>
          </a:solidFill>
          <a:ln/>
        </p:spPr>
      </p:sp>
      <p:sp>
        <p:nvSpPr>
          <p:cNvPr id="8" name="Text 6"/>
          <p:cNvSpPr txBox="1"/>
          <p:nvPr/>
        </p:nvSpPr>
        <p:spPr>
          <a:xfrm>
            <a:off x="822960" y="2560320"/>
            <a:ext cx="822960" cy="822960"/>
          </a:xfrm>
          <a:prstGeom prst="rect">
            <a:avLst/>
          </a:prstGeom>
          <a:noFill/>
          <a:ln/>
        </p:spPr>
        <p:txBody>
          <a:bodyPr wrap="square" lIns="0" tIns="0" rIns="0" bIns="0" rtlCol="0" anchor="ctr"/>
          <a:lstStyle/>
          <a:p>
            <a:pPr marL="0" indent="0" algn="ctr">
              <a:buNone/>
            </a:pPr>
            <a:r>
              <a:rPr lang="en-US" sz="3000" b="1" dirty="0">
                <a:solidFill>
                  <a:schemeClr val="tx1"/>
                </a:solidFill>
              </a:rPr>
              <a:t>1</a:t>
            </a:r>
            <a:endParaRPr lang="en-US" sz="3000" dirty="0"/>
          </a:p>
        </p:txBody>
      </p:sp>
      <p:sp>
        <p:nvSpPr>
          <p:cNvPr id="9" name="Text 7"/>
          <p:cNvSpPr txBox="1"/>
          <p:nvPr/>
        </p:nvSpPr>
        <p:spPr>
          <a:xfrm>
            <a:off x="1874520" y="2194560"/>
            <a:ext cx="3809848" cy="1554480"/>
          </a:xfrm>
          <a:prstGeom prst="rect">
            <a:avLst/>
          </a:prstGeom>
          <a:noFill/>
          <a:ln/>
        </p:spPr>
        <p:txBody>
          <a:bodyPr wrap="square" lIns="0" tIns="0" rIns="0" bIns="0" rtlCol="0" anchor="ctr"/>
          <a:lstStyle/>
          <a:p>
            <a:pPr marL="0" indent="0">
              <a:buNone/>
            </a:pPr>
            <a:r>
              <a:rPr lang="en-US" sz="2100" dirty="0">
                <a:solidFill>
                  <a:schemeClr val="tx1"/>
                </a:solidFill>
              </a:rPr>
              <a:t>Cantidad antes que calidad.</a:t>
            </a:r>
            <a:endParaRPr lang="en-US" sz="2100" dirty="0"/>
          </a:p>
        </p:txBody>
      </p:sp>
      <p:sp>
        <p:nvSpPr>
          <p:cNvPr id="10" name="Tarjeta"/>
          <p:cNvSpPr/>
          <p:nvPr/>
        </p:nvSpPr>
        <p:spPr>
          <a:xfrm>
            <a:off x="6278728" y="2194560"/>
            <a:ext cx="5364328" cy="1554480"/>
          </a:xfrm>
          <a:prstGeom prst="roundRect">
            <a:avLst>
              <a:gd name="adj" fmla="val 8824"/>
            </a:avLst>
          </a:prstGeom>
          <a:solidFill>
            <a:schemeClr val="bg2"/>
          </a:solidFill>
          <a:ln/>
        </p:spPr>
      </p:sp>
      <p:sp>
        <p:nvSpPr>
          <p:cNvPr id="11" name="Regla 2"/>
          <p:cNvSpPr/>
          <p:nvPr/>
        </p:nvSpPr>
        <p:spPr>
          <a:xfrm>
            <a:off x="6553048" y="2560320"/>
            <a:ext cx="822960" cy="822960"/>
          </a:xfrm>
          <a:prstGeom prst="ellipse">
            <a:avLst/>
          </a:prstGeom>
          <a:solidFill>
            <a:schemeClr val="accent1"/>
          </a:solidFill>
          <a:ln/>
        </p:spPr>
      </p:sp>
      <p:sp>
        <p:nvSpPr>
          <p:cNvPr id="12" name="Text 10"/>
          <p:cNvSpPr txBox="1"/>
          <p:nvPr/>
        </p:nvSpPr>
        <p:spPr>
          <a:xfrm>
            <a:off x="6553048" y="2560320"/>
            <a:ext cx="822960" cy="822960"/>
          </a:xfrm>
          <a:prstGeom prst="rect">
            <a:avLst/>
          </a:prstGeom>
          <a:noFill/>
          <a:ln/>
        </p:spPr>
        <p:txBody>
          <a:bodyPr wrap="square" lIns="0" tIns="0" rIns="0" bIns="0" rtlCol="0" anchor="ctr"/>
          <a:lstStyle/>
          <a:p>
            <a:pPr marL="0" indent="0" algn="ctr">
              <a:buNone/>
            </a:pPr>
            <a:r>
              <a:rPr lang="en-US" sz="3000" b="1" dirty="0">
                <a:solidFill>
                  <a:schemeClr val="tx1"/>
                </a:solidFill>
              </a:rPr>
              <a:t>2</a:t>
            </a:r>
            <a:endParaRPr lang="en-US" sz="3000" dirty="0"/>
          </a:p>
        </p:txBody>
      </p:sp>
      <p:sp>
        <p:nvSpPr>
          <p:cNvPr id="13" name="Text 11"/>
          <p:cNvSpPr txBox="1"/>
          <p:nvPr/>
        </p:nvSpPr>
        <p:spPr>
          <a:xfrm>
            <a:off x="7604608" y="2194560"/>
            <a:ext cx="3809848" cy="1554480"/>
          </a:xfrm>
          <a:prstGeom prst="rect">
            <a:avLst/>
          </a:prstGeom>
          <a:noFill/>
          <a:ln/>
        </p:spPr>
        <p:txBody>
          <a:bodyPr wrap="square" lIns="0" tIns="0" rIns="0" bIns="0" rtlCol="0" anchor="ctr"/>
          <a:lstStyle/>
          <a:p>
            <a:pPr marL="0" indent="0">
              <a:buNone/>
            </a:pPr>
            <a:r>
              <a:rPr lang="en-US" sz="2100" dirty="0">
                <a:solidFill>
                  <a:schemeClr val="tx1"/>
                </a:solidFill>
              </a:rPr>
              <a:t>No se critica ninguna idea durante la sesión.</a:t>
            </a:r>
            <a:endParaRPr lang="en-US" sz="2100" dirty="0"/>
          </a:p>
        </p:txBody>
      </p:sp>
      <p:sp>
        <p:nvSpPr>
          <p:cNvPr id="14" name="Tarjeta"/>
          <p:cNvSpPr/>
          <p:nvPr/>
        </p:nvSpPr>
        <p:spPr>
          <a:xfrm>
            <a:off x="548640" y="4023360"/>
            <a:ext cx="5364328" cy="1554480"/>
          </a:xfrm>
          <a:prstGeom prst="roundRect">
            <a:avLst>
              <a:gd name="adj" fmla="val 8824"/>
            </a:avLst>
          </a:prstGeom>
          <a:solidFill>
            <a:schemeClr val="bg2"/>
          </a:solidFill>
          <a:ln/>
        </p:spPr>
      </p:sp>
      <p:sp>
        <p:nvSpPr>
          <p:cNvPr id="15" name="Regla 3"/>
          <p:cNvSpPr/>
          <p:nvPr/>
        </p:nvSpPr>
        <p:spPr>
          <a:xfrm>
            <a:off x="822960" y="4389120"/>
            <a:ext cx="822960" cy="822960"/>
          </a:xfrm>
          <a:prstGeom prst="ellipse">
            <a:avLst/>
          </a:prstGeom>
          <a:solidFill>
            <a:schemeClr val="accent1"/>
          </a:solidFill>
          <a:ln/>
        </p:spPr>
      </p:sp>
      <p:sp>
        <p:nvSpPr>
          <p:cNvPr id="16" name="Text 14"/>
          <p:cNvSpPr txBox="1"/>
          <p:nvPr/>
        </p:nvSpPr>
        <p:spPr>
          <a:xfrm>
            <a:off x="822960" y="4389120"/>
            <a:ext cx="822960" cy="822960"/>
          </a:xfrm>
          <a:prstGeom prst="rect">
            <a:avLst/>
          </a:prstGeom>
          <a:noFill/>
          <a:ln/>
        </p:spPr>
        <p:txBody>
          <a:bodyPr wrap="square" lIns="0" tIns="0" rIns="0" bIns="0" rtlCol="0" anchor="ctr"/>
          <a:lstStyle/>
          <a:p>
            <a:pPr marL="0" indent="0" algn="ctr">
              <a:buNone/>
            </a:pPr>
            <a:r>
              <a:rPr lang="en-US" sz="3000" b="1" dirty="0">
                <a:solidFill>
                  <a:schemeClr val="tx1"/>
                </a:solidFill>
              </a:rPr>
              <a:t>3</a:t>
            </a:r>
            <a:endParaRPr lang="en-US" sz="3000" dirty="0"/>
          </a:p>
        </p:txBody>
      </p:sp>
      <p:sp>
        <p:nvSpPr>
          <p:cNvPr id="17" name="Text 15"/>
          <p:cNvSpPr txBox="1"/>
          <p:nvPr/>
        </p:nvSpPr>
        <p:spPr>
          <a:xfrm>
            <a:off x="1874520" y="4023360"/>
            <a:ext cx="3809848" cy="1554480"/>
          </a:xfrm>
          <a:prstGeom prst="rect">
            <a:avLst/>
          </a:prstGeom>
          <a:noFill/>
          <a:ln/>
        </p:spPr>
        <p:txBody>
          <a:bodyPr wrap="square" lIns="0" tIns="0" rIns="0" bIns="0" rtlCol="0" anchor="ctr"/>
          <a:lstStyle/>
          <a:p>
            <a:pPr marL="0" indent="0">
              <a:buNone/>
            </a:pPr>
            <a:r>
              <a:rPr lang="en-US" sz="2100" dirty="0">
                <a:solidFill>
                  <a:schemeClr val="tx1"/>
                </a:solidFill>
              </a:rPr>
              <a:t>Se vale construir sobre la idea de otra persona: «y además…».</a:t>
            </a:r>
            <a:endParaRPr lang="en-US" sz="2100" dirty="0"/>
          </a:p>
        </p:txBody>
      </p:sp>
      <p:sp>
        <p:nvSpPr>
          <p:cNvPr id="18" name="Tarjeta"/>
          <p:cNvSpPr/>
          <p:nvPr/>
        </p:nvSpPr>
        <p:spPr>
          <a:xfrm>
            <a:off x="6278728" y="4023360"/>
            <a:ext cx="5364328" cy="1554480"/>
          </a:xfrm>
          <a:prstGeom prst="roundRect">
            <a:avLst>
              <a:gd name="adj" fmla="val 8824"/>
            </a:avLst>
          </a:prstGeom>
          <a:solidFill>
            <a:schemeClr val="bg2"/>
          </a:solidFill>
          <a:ln/>
        </p:spPr>
      </p:sp>
      <p:sp>
        <p:nvSpPr>
          <p:cNvPr id="19" name="Regla 4"/>
          <p:cNvSpPr/>
          <p:nvPr/>
        </p:nvSpPr>
        <p:spPr>
          <a:xfrm>
            <a:off x="6553048" y="4389120"/>
            <a:ext cx="822960" cy="822960"/>
          </a:xfrm>
          <a:prstGeom prst="ellipse">
            <a:avLst/>
          </a:prstGeom>
          <a:solidFill>
            <a:schemeClr val="accent1"/>
          </a:solidFill>
          <a:ln/>
        </p:spPr>
      </p:sp>
      <p:sp>
        <p:nvSpPr>
          <p:cNvPr id="20" name="Text 18"/>
          <p:cNvSpPr txBox="1"/>
          <p:nvPr/>
        </p:nvSpPr>
        <p:spPr>
          <a:xfrm>
            <a:off x="6553048" y="4389120"/>
            <a:ext cx="822960" cy="822960"/>
          </a:xfrm>
          <a:prstGeom prst="rect">
            <a:avLst/>
          </a:prstGeom>
          <a:noFill/>
          <a:ln/>
        </p:spPr>
        <p:txBody>
          <a:bodyPr wrap="square" lIns="0" tIns="0" rIns="0" bIns="0" rtlCol="0" anchor="ctr"/>
          <a:lstStyle/>
          <a:p>
            <a:pPr marL="0" indent="0" algn="ctr">
              <a:buNone/>
            </a:pPr>
            <a:r>
              <a:rPr lang="en-US" sz="3000" b="1" dirty="0">
                <a:solidFill>
                  <a:schemeClr val="tx1"/>
                </a:solidFill>
              </a:rPr>
              <a:t>4</a:t>
            </a:r>
            <a:endParaRPr lang="en-US" sz="3000" dirty="0"/>
          </a:p>
        </p:txBody>
      </p:sp>
      <p:sp>
        <p:nvSpPr>
          <p:cNvPr id="21" name="Text 19"/>
          <p:cNvSpPr txBox="1"/>
          <p:nvPr/>
        </p:nvSpPr>
        <p:spPr>
          <a:xfrm>
            <a:off x="7604608" y="4023360"/>
            <a:ext cx="3809848" cy="1554480"/>
          </a:xfrm>
          <a:prstGeom prst="rect">
            <a:avLst/>
          </a:prstGeom>
          <a:noFill/>
          <a:ln/>
        </p:spPr>
        <p:txBody>
          <a:bodyPr wrap="square" lIns="0" tIns="0" rIns="0" bIns="0" rtlCol="0" anchor="ctr"/>
          <a:lstStyle/>
          <a:p>
            <a:pPr marL="0" indent="0">
              <a:buNone/>
            </a:pPr>
            <a:r>
              <a:rPr lang="en-US" sz="2100" dirty="0">
                <a:solidFill>
                  <a:schemeClr val="tx1"/>
                </a:solidFill>
              </a:rPr>
              <a:t>Las ideas disparatadas son bienvenidas: a menudo llevan a ideas buenas.</a:t>
            </a:r>
            <a:endParaRPr lang="en-US" sz="21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Ejemplo: brainstorming en la peluquería</a:t>
            </a:r>
            <a:endParaRPr lang="en-US" sz="3200" dirty="0"/>
          </a:p>
        </p:txBody>
      </p:sp>
      <p:sp>
        <p:nvSpPr>
          <p:cNvPr id="3" name="Etiqueta de tiempo"/>
          <p:cNvSpPr/>
          <p:nvPr/>
        </p:nvSpPr>
        <p:spPr>
          <a:xfrm>
            <a:off x="10134295" y="548640"/>
            <a:ext cx="1508760" cy="457200"/>
          </a:xfrm>
          <a:prstGeom prst="roundRect">
            <a:avLst>
              <a:gd name="adj" fmla="val 50000"/>
            </a:avLst>
          </a:prstGeom>
          <a:solidFill>
            <a:schemeClr val="bg2"/>
          </a:solidFill>
          <a:ln/>
        </p:spPr>
      </p:sp>
      <p:sp>
        <p:nvSpPr>
          <p:cNvPr id="4" name="Text 2"/>
          <p:cNvSpPr txBox="1"/>
          <p:nvPr/>
        </p:nvSpPr>
        <p:spPr>
          <a:xfrm>
            <a:off x="10134295" y="548640"/>
            <a:ext cx="1508760" cy="457200"/>
          </a:xfrm>
          <a:prstGeom prst="rect">
            <a:avLst/>
          </a:prstGeom>
          <a:noFill/>
          <a:ln/>
        </p:spPr>
        <p:txBody>
          <a:bodyPr wrap="square" lIns="0" tIns="0" rIns="0" bIns="0" rtlCol="0" anchor="ctr"/>
          <a:lstStyle/>
          <a:p>
            <a:pPr marL="0" indent="0" algn="ctr">
              <a:buNone/>
            </a:pPr>
            <a:r>
              <a:rPr lang="en-US" sz="1400" b="1" dirty="0">
                <a:solidFill>
                  <a:schemeClr val="tx1"/>
                </a:solidFill>
              </a:rPr>
              <a:t>Min. 15–20</a:t>
            </a:r>
            <a:endParaRPr lang="en-US" sz="1400" dirty="0"/>
          </a:p>
        </p:txBody>
      </p:sp>
      <p:sp>
        <p:nvSpPr>
          <p:cNvPr id="5" name="Text 3"/>
          <p:cNvSpPr txBox="1"/>
          <p:nvPr/>
        </p:nvSpPr>
        <p:spPr>
          <a:xfrm>
            <a:off x="548640" y="1325880"/>
            <a:ext cx="11094415" cy="548640"/>
          </a:xfrm>
          <a:prstGeom prst="rect">
            <a:avLst/>
          </a:prstGeom>
          <a:noFill/>
          <a:ln/>
        </p:spPr>
        <p:txBody>
          <a:bodyPr wrap="square" lIns="0" tIns="0" rIns="0" bIns="0" rtlCol="0" anchor="ctr"/>
          <a:lstStyle/>
          <a:p>
            <a:pPr marL="0" indent="0">
              <a:buNone/>
            </a:pPr>
            <a:r>
              <a:rPr lang="en-US" sz="2000" b="1" i="1" dirty="0">
                <a:solidFill>
                  <a:schemeClr val="tx2"/>
                </a:solidFill>
              </a:rPr>
              <a:t>¿Cómo podríamos conseguir que la peluquería tenga clientes los lunes por la mañana?</a:t>
            </a:r>
            <a:endParaRPr lang="en-US" sz="2000" dirty="0"/>
          </a:p>
        </p:txBody>
      </p:sp>
      <p:sp>
        <p:nvSpPr>
          <p:cNvPr id="6" name="Idea"/>
          <p:cNvSpPr/>
          <p:nvPr/>
        </p:nvSpPr>
        <p:spPr>
          <a:xfrm>
            <a:off x="548640" y="2103120"/>
            <a:ext cx="5943600" cy="603504"/>
          </a:xfrm>
          <a:prstGeom prst="roundRect">
            <a:avLst>
              <a:gd name="adj" fmla="val 22727"/>
            </a:avLst>
          </a:prstGeom>
          <a:solidFill>
            <a:schemeClr val="bg2"/>
          </a:solidFill>
          <a:ln/>
        </p:spPr>
      </p:sp>
      <p:sp>
        <p:nvSpPr>
          <p:cNvPr id="7" name="Text 5"/>
          <p:cNvSpPr txBox="1"/>
          <p:nvPr/>
        </p:nvSpPr>
        <p:spPr>
          <a:xfrm>
            <a:off x="777240" y="2103120"/>
            <a:ext cx="5577840" cy="603504"/>
          </a:xfrm>
          <a:prstGeom prst="rect">
            <a:avLst/>
          </a:prstGeom>
          <a:noFill/>
          <a:ln/>
        </p:spPr>
        <p:txBody>
          <a:bodyPr wrap="square" lIns="0" tIns="0" rIns="0" bIns="0" rtlCol="0" anchor="ctr"/>
          <a:lstStyle/>
          <a:p>
            <a:pPr marL="0" indent="0">
              <a:buNone/>
            </a:pPr>
            <a:r>
              <a:rPr lang="en-US" sz="1600" dirty="0">
                <a:solidFill>
                  <a:schemeClr val="tx1"/>
                </a:solidFill>
              </a:rPr>
              <a:t>Descuento para quien reserve los lunes.</a:t>
            </a:r>
            <a:endParaRPr lang="en-US" sz="1600" dirty="0"/>
          </a:p>
        </p:txBody>
      </p:sp>
      <p:sp>
        <p:nvSpPr>
          <p:cNvPr id="8" name="Idea"/>
          <p:cNvSpPr/>
          <p:nvPr/>
        </p:nvSpPr>
        <p:spPr>
          <a:xfrm>
            <a:off x="548640" y="2852928"/>
            <a:ext cx="5943600" cy="603504"/>
          </a:xfrm>
          <a:prstGeom prst="roundRect">
            <a:avLst>
              <a:gd name="adj" fmla="val 22727"/>
            </a:avLst>
          </a:prstGeom>
          <a:solidFill>
            <a:schemeClr val="bg2"/>
          </a:solidFill>
          <a:ln/>
        </p:spPr>
      </p:sp>
      <p:sp>
        <p:nvSpPr>
          <p:cNvPr id="9" name="Text 7"/>
          <p:cNvSpPr txBox="1"/>
          <p:nvPr/>
        </p:nvSpPr>
        <p:spPr>
          <a:xfrm>
            <a:off x="777240" y="2852928"/>
            <a:ext cx="5577840" cy="603504"/>
          </a:xfrm>
          <a:prstGeom prst="rect">
            <a:avLst/>
          </a:prstGeom>
          <a:noFill/>
          <a:ln/>
        </p:spPr>
        <p:txBody>
          <a:bodyPr wrap="square" lIns="0" tIns="0" rIns="0" bIns="0" rtlCol="0" anchor="ctr"/>
          <a:lstStyle/>
          <a:p>
            <a:pPr marL="0" indent="0">
              <a:buNone/>
            </a:pPr>
            <a:r>
              <a:rPr lang="en-US" sz="1600" dirty="0">
                <a:solidFill>
                  <a:schemeClr val="tx1"/>
                </a:solidFill>
              </a:rPr>
              <a:t>Lunes reservado a personas mayores, con café incluido.</a:t>
            </a:r>
            <a:endParaRPr lang="en-US" sz="1600" dirty="0"/>
          </a:p>
        </p:txBody>
      </p:sp>
      <p:sp>
        <p:nvSpPr>
          <p:cNvPr id="10" name="Idea"/>
          <p:cNvSpPr/>
          <p:nvPr/>
        </p:nvSpPr>
        <p:spPr>
          <a:xfrm>
            <a:off x="548640" y="3602736"/>
            <a:ext cx="5943600" cy="603504"/>
          </a:xfrm>
          <a:prstGeom prst="roundRect">
            <a:avLst>
              <a:gd name="adj" fmla="val 22727"/>
            </a:avLst>
          </a:prstGeom>
          <a:solidFill>
            <a:schemeClr val="bg2"/>
          </a:solidFill>
          <a:ln/>
        </p:spPr>
      </p:sp>
      <p:sp>
        <p:nvSpPr>
          <p:cNvPr id="11" name="Text 9"/>
          <p:cNvSpPr txBox="1"/>
          <p:nvPr/>
        </p:nvSpPr>
        <p:spPr>
          <a:xfrm>
            <a:off x="777240" y="3602736"/>
            <a:ext cx="5577840" cy="603504"/>
          </a:xfrm>
          <a:prstGeom prst="rect">
            <a:avLst/>
          </a:prstGeom>
          <a:noFill/>
          <a:ln/>
        </p:spPr>
        <p:txBody>
          <a:bodyPr wrap="square" lIns="0" tIns="0" rIns="0" bIns="0" rtlCol="0" anchor="ctr"/>
          <a:lstStyle/>
          <a:p>
            <a:pPr marL="0" indent="0">
              <a:buNone/>
            </a:pPr>
            <a:r>
              <a:rPr lang="en-US" sz="1600" dirty="0">
                <a:solidFill>
                  <a:schemeClr val="tx1"/>
                </a:solidFill>
              </a:rPr>
              <a:t>Cortes gratis de estudiantes de peluquería, que practican supervisados.</a:t>
            </a:r>
            <a:endParaRPr lang="en-US" sz="1600" dirty="0"/>
          </a:p>
        </p:txBody>
      </p:sp>
      <p:sp>
        <p:nvSpPr>
          <p:cNvPr id="12" name="Idea"/>
          <p:cNvSpPr/>
          <p:nvPr/>
        </p:nvSpPr>
        <p:spPr>
          <a:xfrm>
            <a:off x="548640" y="4352544"/>
            <a:ext cx="5943600" cy="603504"/>
          </a:xfrm>
          <a:prstGeom prst="roundRect">
            <a:avLst>
              <a:gd name="adj" fmla="val 22727"/>
            </a:avLst>
          </a:prstGeom>
          <a:solidFill>
            <a:schemeClr val="bg2"/>
          </a:solidFill>
          <a:ln/>
        </p:spPr>
      </p:sp>
      <p:sp>
        <p:nvSpPr>
          <p:cNvPr id="13" name="Text 11"/>
          <p:cNvSpPr txBox="1"/>
          <p:nvPr/>
        </p:nvSpPr>
        <p:spPr>
          <a:xfrm>
            <a:off x="777240" y="4352544"/>
            <a:ext cx="5577840" cy="603504"/>
          </a:xfrm>
          <a:prstGeom prst="rect">
            <a:avLst/>
          </a:prstGeom>
          <a:noFill/>
          <a:ln/>
        </p:spPr>
        <p:txBody>
          <a:bodyPr wrap="square" lIns="0" tIns="0" rIns="0" bIns="0" rtlCol="0" anchor="ctr"/>
          <a:lstStyle/>
          <a:p>
            <a:pPr marL="0" indent="0">
              <a:buNone/>
            </a:pPr>
            <a:r>
              <a:rPr lang="en-US" sz="1600" dirty="0">
                <a:solidFill>
                  <a:schemeClr val="tx1"/>
                </a:solidFill>
              </a:rPr>
              <a:t>Ofrecer el lunes a domicilio para residencias cercanas.</a:t>
            </a:r>
            <a:endParaRPr lang="en-US" sz="1600" dirty="0"/>
          </a:p>
        </p:txBody>
      </p:sp>
      <p:sp>
        <p:nvSpPr>
          <p:cNvPr id="14" name="Idea"/>
          <p:cNvSpPr/>
          <p:nvPr/>
        </p:nvSpPr>
        <p:spPr>
          <a:xfrm>
            <a:off x="548640" y="5102352"/>
            <a:ext cx="5943600" cy="603504"/>
          </a:xfrm>
          <a:prstGeom prst="roundRect">
            <a:avLst>
              <a:gd name="adj" fmla="val 22727"/>
            </a:avLst>
          </a:prstGeom>
          <a:solidFill>
            <a:schemeClr val="bg2"/>
          </a:solidFill>
          <a:ln/>
        </p:spPr>
      </p:sp>
      <p:sp>
        <p:nvSpPr>
          <p:cNvPr id="15" name="Text 13"/>
          <p:cNvSpPr txBox="1"/>
          <p:nvPr/>
        </p:nvSpPr>
        <p:spPr>
          <a:xfrm>
            <a:off x="777240" y="5102352"/>
            <a:ext cx="5577840" cy="603504"/>
          </a:xfrm>
          <a:prstGeom prst="rect">
            <a:avLst/>
          </a:prstGeom>
          <a:noFill/>
          <a:ln/>
        </p:spPr>
        <p:txBody>
          <a:bodyPr wrap="square" lIns="0" tIns="0" rIns="0" bIns="0" rtlCol="0" anchor="ctr"/>
          <a:lstStyle/>
          <a:p>
            <a:pPr marL="0" indent="0">
              <a:buNone/>
            </a:pPr>
            <a:r>
              <a:rPr lang="en-US" sz="1600" dirty="0">
                <a:solidFill>
                  <a:schemeClr val="tx1"/>
                </a:solidFill>
              </a:rPr>
              <a:t>Sorteo mensual entre los clientes del lunes.</a:t>
            </a:r>
            <a:endParaRPr lang="en-US" sz="1600" dirty="0"/>
          </a:p>
        </p:txBody>
      </p:sp>
      <p:sp>
        <p:nvSpPr>
          <p:cNvPr id="16" name="Idea disparatada"/>
          <p:cNvSpPr/>
          <p:nvPr/>
        </p:nvSpPr>
        <p:spPr>
          <a:xfrm>
            <a:off x="6903720" y="2103120"/>
            <a:ext cx="4739335" cy="1325880"/>
          </a:xfrm>
          <a:prstGeom prst="roundRect">
            <a:avLst>
              <a:gd name="adj" fmla="val 10345"/>
            </a:avLst>
          </a:prstGeom>
          <a:solidFill>
            <a:schemeClr val="accent3"/>
          </a:solidFill>
          <a:ln/>
        </p:spPr>
      </p:sp>
      <p:sp>
        <p:nvSpPr>
          <p:cNvPr id="17" name="Text 15"/>
          <p:cNvSpPr txBox="1"/>
          <p:nvPr/>
        </p:nvSpPr>
        <p:spPr>
          <a:xfrm>
            <a:off x="7178040" y="2103120"/>
            <a:ext cx="4190695" cy="1325880"/>
          </a:xfrm>
          <a:prstGeom prst="rect">
            <a:avLst/>
          </a:prstGeom>
          <a:noFill/>
          <a:ln/>
        </p:spPr>
        <p:txBody>
          <a:bodyPr wrap="square" lIns="0" tIns="0" rIns="0" bIns="0" rtlCol="0" anchor="ctr"/>
          <a:lstStyle/>
          <a:p>
            <a:pPr marL="0" indent="0">
              <a:buNone/>
            </a:pPr>
            <a:r>
              <a:rPr lang="en-US" sz="1500" b="1" dirty="0">
                <a:solidFill>
                  <a:schemeClr val="bg1"/>
                </a:solidFill>
              </a:rPr>
              <a:t>Idea disparatada</a:t>
            </a:r>
            <a:endParaRPr lang="en-US" sz="2100" dirty="0"/>
          </a:p>
          <a:p>
            <a:pPr marL="0" indent="0">
              <a:buNone/>
            </a:pPr>
            <a:r>
              <a:rPr lang="en-US" sz="2100" dirty="0">
                <a:solidFill>
                  <a:schemeClr val="bg1"/>
                </a:solidFill>
              </a:rPr>
              <a:t>Cerrar los sábados y abrir los lunes.</a:t>
            </a:r>
            <a:endParaRPr lang="en-US" sz="2100" dirty="0"/>
          </a:p>
        </p:txBody>
      </p:sp>
      <p:sp>
        <p:nvSpPr>
          <p:cNvPr id="18" name="Shape 16"/>
          <p:cNvSpPr/>
          <p:nvPr/>
        </p:nvSpPr>
        <p:spPr>
          <a:xfrm>
            <a:off x="9273388" y="3520440"/>
            <a:ext cx="914" cy="457200"/>
          </a:xfrm>
          <a:prstGeom prst="line">
            <a:avLst/>
          </a:prstGeom>
          <a:noFill/>
          <a:ln w="38100">
            <a:solidFill>
              <a:srgbClr val="3A4664"/>
            </a:solidFill>
            <a:prstDash val="solid"/>
            <a:tailEnd type="triangle"/>
          </a:ln>
        </p:spPr>
      </p:sp>
      <p:sp>
        <p:nvSpPr>
          <p:cNvPr id="19" name="Idea sensata"/>
          <p:cNvSpPr/>
          <p:nvPr/>
        </p:nvSpPr>
        <p:spPr>
          <a:xfrm>
            <a:off x="6903720" y="4069080"/>
            <a:ext cx="4739335" cy="1655064"/>
          </a:xfrm>
          <a:prstGeom prst="roundRect">
            <a:avLst>
              <a:gd name="adj" fmla="val 8287"/>
            </a:avLst>
          </a:prstGeom>
          <a:solidFill>
            <a:schemeClr val="tx1"/>
          </a:solidFill>
          <a:ln/>
        </p:spPr>
      </p:sp>
      <p:sp>
        <p:nvSpPr>
          <p:cNvPr id="20" name="Text 18"/>
          <p:cNvSpPr txBox="1"/>
          <p:nvPr/>
        </p:nvSpPr>
        <p:spPr>
          <a:xfrm>
            <a:off x="7178040" y="4069080"/>
            <a:ext cx="4190695" cy="1655064"/>
          </a:xfrm>
          <a:prstGeom prst="rect">
            <a:avLst/>
          </a:prstGeom>
          <a:noFill/>
          <a:ln/>
        </p:spPr>
        <p:txBody>
          <a:bodyPr wrap="square" lIns="0" tIns="0" rIns="0" bIns="0" rtlCol="0" anchor="ctr"/>
          <a:lstStyle/>
          <a:p>
            <a:pPr marL="0" indent="0">
              <a:buNone/>
            </a:pPr>
            <a:r>
              <a:rPr lang="en-US" sz="1500" b="1" dirty="0">
                <a:solidFill>
                  <a:schemeClr val="accent1"/>
                </a:solidFill>
              </a:rPr>
              <a:t>Construyendo sobre ella</a:t>
            </a:r>
            <a:endParaRPr lang="en-US" sz="1800" dirty="0"/>
          </a:p>
          <a:p>
            <a:pPr marL="0" indent="0">
              <a:buNone/>
            </a:pPr>
            <a:r>
              <a:rPr lang="en-US" sz="1800" dirty="0">
                <a:solidFill>
                  <a:schemeClr val="bg1"/>
                </a:solidFill>
              </a:rPr>
              <a:t>Repartir la demanda: precio más bajo en los días flojos y más alto en los de más demanda.</a:t>
            </a:r>
            <a:endParaRPr lang="en-US" sz="18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Ejercicio 1: brainstorming entre todos</a:t>
            </a:r>
            <a:endParaRPr lang="en-US" sz="3200" dirty="0"/>
          </a:p>
        </p:txBody>
      </p:sp>
      <p:sp>
        <p:nvSpPr>
          <p:cNvPr id="3" name="Etiqueta de tiempo"/>
          <p:cNvSpPr/>
          <p:nvPr/>
        </p:nvSpPr>
        <p:spPr>
          <a:xfrm>
            <a:off x="9187891" y="548640"/>
            <a:ext cx="2455164" cy="457200"/>
          </a:xfrm>
          <a:prstGeom prst="roundRect">
            <a:avLst>
              <a:gd name="adj" fmla="val 50000"/>
            </a:avLst>
          </a:prstGeom>
          <a:solidFill>
            <a:schemeClr val="accent1"/>
          </a:solidFill>
          <a:ln/>
        </p:spPr>
      </p:sp>
      <p:sp>
        <p:nvSpPr>
          <p:cNvPr id="4" name="Text 2"/>
          <p:cNvSpPr txBox="1"/>
          <p:nvPr/>
        </p:nvSpPr>
        <p:spPr>
          <a:xfrm>
            <a:off x="9187891" y="548640"/>
            <a:ext cx="2455164" cy="457200"/>
          </a:xfrm>
          <a:prstGeom prst="rect">
            <a:avLst/>
          </a:prstGeom>
          <a:noFill/>
          <a:ln/>
        </p:spPr>
        <p:txBody>
          <a:bodyPr wrap="square" lIns="0" tIns="0" rIns="0" bIns="0" rtlCol="0" anchor="ctr"/>
          <a:lstStyle/>
          <a:p>
            <a:pPr marL="0" indent="0" algn="ctr">
              <a:buNone/>
            </a:pPr>
            <a:r>
              <a:rPr lang="en-US" sz="1400" b="1" dirty="0">
                <a:solidFill>
                  <a:schemeClr val="tx1"/>
                </a:solidFill>
              </a:rPr>
              <a:t>Min. 20–30 · Sin IA</a:t>
            </a:r>
            <a:endParaRPr lang="en-US" sz="1400" dirty="0"/>
          </a:p>
        </p:txBody>
      </p:sp>
      <p:sp>
        <p:nvSpPr>
          <p:cNvPr id="5" name="Reto"/>
          <p:cNvSpPr/>
          <p:nvPr/>
        </p:nvSpPr>
        <p:spPr>
          <a:xfrm>
            <a:off x="548640" y="1463040"/>
            <a:ext cx="11094415" cy="1600200"/>
          </a:xfrm>
          <a:prstGeom prst="roundRect">
            <a:avLst>
              <a:gd name="adj" fmla="val 8571"/>
            </a:avLst>
          </a:prstGeom>
          <a:solidFill>
            <a:schemeClr val="tx1"/>
          </a:solidFill>
          <a:ln/>
        </p:spPr>
      </p:sp>
      <p:sp>
        <p:nvSpPr>
          <p:cNvPr id="6" name="Text 4"/>
          <p:cNvSpPr txBox="1"/>
          <p:nvPr/>
        </p:nvSpPr>
        <p:spPr>
          <a:xfrm>
            <a:off x="914400" y="1463040"/>
            <a:ext cx="10362895" cy="1600200"/>
          </a:xfrm>
          <a:prstGeom prst="rect">
            <a:avLst/>
          </a:prstGeom>
          <a:noFill/>
          <a:ln/>
        </p:spPr>
        <p:txBody>
          <a:bodyPr wrap="square" lIns="0" tIns="0" rIns="0" bIns="0" rtlCol="0" anchor="ctr"/>
          <a:lstStyle/>
          <a:p>
            <a:pPr marL="0" indent="0">
              <a:buNone/>
            </a:pPr>
            <a:r>
              <a:rPr lang="en-US" sz="1500" b="1" i="1" dirty="0">
                <a:solidFill>
                  <a:schemeClr val="accent1"/>
                </a:solidFill>
              </a:rPr>
              <a:t>El reto</a:t>
            </a:r>
            <a:endParaRPr lang="en-US" sz="2300" dirty="0"/>
          </a:p>
          <a:p>
            <a:pPr marL="0" indent="0">
              <a:buNone/>
            </a:pPr>
            <a:r>
              <a:rPr lang="en-US" sz="2300" i="1" dirty="0">
                <a:solidFill>
                  <a:schemeClr val="bg1"/>
                </a:solidFill>
              </a:rPr>
              <a:t>¿Cómo podríamos conseguir que más personas pidan información sobre los cursos de una academia de formación que recibe pocas solicitudes?</a:t>
            </a:r>
            <a:endParaRPr lang="en-US" sz="2300" dirty="0"/>
          </a:p>
        </p:txBody>
      </p:sp>
      <p:sp>
        <p:nvSpPr>
          <p:cNvPr id="7" name="Instrucción"/>
          <p:cNvSpPr/>
          <p:nvPr/>
        </p:nvSpPr>
        <p:spPr>
          <a:xfrm>
            <a:off x="548640" y="3429000"/>
            <a:ext cx="685800" cy="685800"/>
          </a:xfrm>
          <a:prstGeom prst="ellipse">
            <a:avLst/>
          </a:prstGeom>
          <a:solidFill>
            <a:schemeClr val="accent1"/>
          </a:solidFill>
          <a:ln/>
        </p:spPr>
      </p:sp>
      <p:pic>
        <p:nvPicPr>
          <p:cNvPr id="8" name="Image 0" descr="Instrucción"/>
          <p:cNvPicPr>
            <a:picLocks noChangeAspect="1"/>
          </p:cNvPicPr>
          <p:nvPr/>
        </p:nvPicPr>
        <p:blipFill>
          <a:blip r:embed="rId3"/>
          <a:stretch>
            <a:fillRect/>
          </a:stretch>
        </p:blipFill>
        <p:spPr>
          <a:xfrm>
            <a:off x="713232" y="3593592"/>
            <a:ext cx="356616" cy="356616"/>
          </a:xfrm>
          <a:prstGeom prst="rect">
            <a:avLst/>
          </a:prstGeom>
        </p:spPr>
      </p:pic>
      <p:sp>
        <p:nvSpPr>
          <p:cNvPr id="9" name="Text 6"/>
          <p:cNvSpPr txBox="1"/>
          <p:nvPr/>
        </p:nvSpPr>
        <p:spPr>
          <a:xfrm>
            <a:off x="1463040" y="3429000"/>
            <a:ext cx="10058400" cy="685800"/>
          </a:xfrm>
          <a:prstGeom prst="rect">
            <a:avLst/>
          </a:prstGeom>
          <a:noFill/>
          <a:ln/>
        </p:spPr>
        <p:txBody>
          <a:bodyPr wrap="square" lIns="0" tIns="0" rIns="0" bIns="0" rtlCol="0" anchor="ctr"/>
          <a:lstStyle/>
          <a:p>
            <a:pPr marL="0" indent="0">
              <a:buNone/>
            </a:pPr>
            <a:r>
              <a:rPr lang="en-US" sz="2000" dirty="0">
                <a:solidFill>
                  <a:schemeClr val="tx1"/>
                </a:solidFill>
              </a:rPr>
              <a:t>Turno en rueda: habla todo el mundo. Si no tienes idea, di «paso».</a:t>
            </a:r>
            <a:endParaRPr lang="en-US" sz="2000" dirty="0"/>
          </a:p>
        </p:txBody>
      </p:sp>
      <p:sp>
        <p:nvSpPr>
          <p:cNvPr id="10" name="Instrucción"/>
          <p:cNvSpPr/>
          <p:nvPr/>
        </p:nvSpPr>
        <p:spPr>
          <a:xfrm>
            <a:off x="548640" y="4297680"/>
            <a:ext cx="685800" cy="685800"/>
          </a:xfrm>
          <a:prstGeom prst="ellipse">
            <a:avLst/>
          </a:prstGeom>
          <a:solidFill>
            <a:schemeClr val="accent1"/>
          </a:solidFill>
          <a:ln/>
        </p:spPr>
      </p:sp>
      <p:pic>
        <p:nvPicPr>
          <p:cNvPr id="11" name="Image 1" descr="Instrucción"/>
          <p:cNvPicPr>
            <a:picLocks noChangeAspect="1"/>
          </p:cNvPicPr>
          <p:nvPr/>
        </p:nvPicPr>
        <p:blipFill>
          <a:blip r:embed="rId4"/>
          <a:stretch>
            <a:fillRect/>
          </a:stretch>
        </p:blipFill>
        <p:spPr>
          <a:xfrm>
            <a:off x="713232" y="4462272"/>
            <a:ext cx="356616" cy="356616"/>
          </a:xfrm>
          <a:prstGeom prst="rect">
            <a:avLst/>
          </a:prstGeom>
        </p:spPr>
      </p:pic>
      <p:sp>
        <p:nvSpPr>
          <p:cNvPr id="12" name="Text 8"/>
          <p:cNvSpPr txBox="1"/>
          <p:nvPr/>
        </p:nvSpPr>
        <p:spPr>
          <a:xfrm>
            <a:off x="1463040" y="4297680"/>
            <a:ext cx="10058400" cy="685800"/>
          </a:xfrm>
          <a:prstGeom prst="rect">
            <a:avLst/>
          </a:prstGeom>
          <a:noFill/>
          <a:ln/>
        </p:spPr>
        <p:txBody>
          <a:bodyPr wrap="square" lIns="0" tIns="0" rIns="0" bIns="0" rtlCol="0" anchor="ctr"/>
          <a:lstStyle/>
          <a:p>
            <a:pPr marL="0" indent="0">
              <a:buNone/>
            </a:pPr>
            <a:r>
              <a:rPr lang="en-US" sz="2000" dirty="0">
                <a:solidFill>
                  <a:schemeClr val="tx1"/>
                </a:solidFill>
              </a:rPr>
              <a:t>Se apuntan todas las ideas, numeradas y sin comentarlas.</a:t>
            </a:r>
            <a:endParaRPr lang="en-US" sz="2000" dirty="0"/>
          </a:p>
        </p:txBody>
      </p:sp>
      <p:sp>
        <p:nvSpPr>
          <p:cNvPr id="13" name="Instrucción"/>
          <p:cNvSpPr/>
          <p:nvPr/>
        </p:nvSpPr>
        <p:spPr>
          <a:xfrm>
            <a:off x="548640" y="5166360"/>
            <a:ext cx="685800" cy="685800"/>
          </a:xfrm>
          <a:prstGeom prst="ellipse">
            <a:avLst/>
          </a:prstGeom>
          <a:solidFill>
            <a:schemeClr val="accent1"/>
          </a:solidFill>
          <a:ln/>
        </p:spPr>
      </p:sp>
      <p:pic>
        <p:nvPicPr>
          <p:cNvPr id="14" name="Image 2" descr="Instrucción"/>
          <p:cNvPicPr>
            <a:picLocks noChangeAspect="1"/>
          </p:cNvPicPr>
          <p:nvPr/>
        </p:nvPicPr>
        <p:blipFill>
          <a:blip r:embed="rId5"/>
          <a:stretch>
            <a:fillRect/>
          </a:stretch>
        </p:blipFill>
        <p:spPr>
          <a:xfrm>
            <a:off x="713232" y="5330952"/>
            <a:ext cx="356616" cy="356616"/>
          </a:xfrm>
          <a:prstGeom prst="rect">
            <a:avLst/>
          </a:prstGeom>
        </p:spPr>
      </p:pic>
      <p:sp>
        <p:nvSpPr>
          <p:cNvPr id="15" name="Text 10"/>
          <p:cNvSpPr txBox="1"/>
          <p:nvPr/>
        </p:nvSpPr>
        <p:spPr>
          <a:xfrm>
            <a:off x="1463040" y="5166360"/>
            <a:ext cx="10058400" cy="685800"/>
          </a:xfrm>
          <a:prstGeom prst="rect">
            <a:avLst/>
          </a:prstGeom>
          <a:noFill/>
          <a:ln/>
        </p:spPr>
        <p:txBody>
          <a:bodyPr wrap="square" lIns="0" tIns="0" rIns="0" bIns="0" rtlCol="0" anchor="ctr"/>
          <a:lstStyle/>
          <a:p>
            <a:pPr marL="0" indent="0">
              <a:buNone/>
            </a:pPr>
            <a:r>
              <a:rPr lang="en-US" sz="2000" dirty="0">
                <a:solidFill>
                  <a:schemeClr val="tx1"/>
                </a:solidFill>
              </a:rPr>
              <a:t>Al final, contamos cuántas ideas hemos generado.</a:t>
            </a:r>
            <a:endParaRPr lang="en-US" sz="20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Ronda con IA: el prompt</a:t>
            </a:r>
            <a:endParaRPr lang="en-US" sz="3200" dirty="0"/>
          </a:p>
        </p:txBody>
      </p:sp>
      <p:sp>
        <p:nvSpPr>
          <p:cNvPr id="3" name="Etiqueta de tiempo"/>
          <p:cNvSpPr/>
          <p:nvPr/>
        </p:nvSpPr>
        <p:spPr>
          <a:xfrm>
            <a:off x="9187891" y="548640"/>
            <a:ext cx="2455164" cy="457200"/>
          </a:xfrm>
          <a:prstGeom prst="roundRect">
            <a:avLst>
              <a:gd name="adj" fmla="val 50000"/>
            </a:avLst>
          </a:prstGeom>
          <a:solidFill>
            <a:schemeClr val="accent2"/>
          </a:solidFill>
          <a:ln/>
        </p:spPr>
      </p:sp>
      <p:sp>
        <p:nvSpPr>
          <p:cNvPr id="4" name="Text 2"/>
          <p:cNvSpPr txBox="1"/>
          <p:nvPr/>
        </p:nvSpPr>
        <p:spPr>
          <a:xfrm>
            <a:off x="9187891" y="548640"/>
            <a:ext cx="2455164" cy="457200"/>
          </a:xfrm>
          <a:prstGeom prst="rect">
            <a:avLst/>
          </a:prstGeom>
          <a:noFill/>
          <a:ln/>
        </p:spPr>
        <p:txBody>
          <a:bodyPr wrap="square" lIns="0" tIns="0" rIns="0" bIns="0" rtlCol="0" anchor="ctr"/>
          <a:lstStyle/>
          <a:p>
            <a:pPr marL="0" indent="0" algn="ctr">
              <a:buNone/>
            </a:pPr>
            <a:r>
              <a:rPr lang="en-US" sz="1400" b="1" dirty="0">
                <a:solidFill>
                  <a:schemeClr val="bg1"/>
                </a:solidFill>
              </a:rPr>
              <a:t>Min. 30–38 · Con IA</a:t>
            </a:r>
            <a:endParaRPr lang="en-US" sz="1400" dirty="0"/>
          </a:p>
        </p:txBody>
      </p:sp>
      <p:sp>
        <p:nvSpPr>
          <p:cNvPr id="5" name="Prompt"/>
          <p:cNvSpPr/>
          <p:nvPr/>
        </p:nvSpPr>
        <p:spPr>
          <a:xfrm>
            <a:off x="548640" y="1325880"/>
            <a:ext cx="6858000" cy="4846320"/>
          </a:xfrm>
          <a:prstGeom prst="roundRect">
            <a:avLst>
              <a:gd name="adj" fmla="val 2264"/>
            </a:avLst>
          </a:prstGeom>
          <a:solidFill>
            <a:schemeClr val="tx1"/>
          </a:solidFill>
          <a:ln/>
        </p:spPr>
      </p:sp>
      <p:sp>
        <p:nvSpPr>
          <p:cNvPr id="6" name="Text 4"/>
          <p:cNvSpPr txBox="1"/>
          <p:nvPr/>
        </p:nvSpPr>
        <p:spPr>
          <a:xfrm>
            <a:off x="822960" y="1508760"/>
            <a:ext cx="6309360" cy="4480560"/>
          </a:xfrm>
          <a:prstGeom prst="rect">
            <a:avLst/>
          </a:prstGeom>
          <a:noFill/>
          <a:ln/>
        </p:spPr>
        <p:txBody>
          <a:bodyPr wrap="square" lIns="0" tIns="0" rIns="0" bIns="0" rtlCol="0" anchor="t"/>
          <a:lstStyle/>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Actúa como facilitador experto en sesiones de</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brainstorming para pequeñas empresas.</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Contexto: una academia de formación con cinco</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trabajadores y poco presupuesto recibe pocas</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solicitudes de información de posibles alumnos.</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Reto: ¿cómo podríamos conseguir que más personas</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pidan información sobre nuestros cursos?</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Nuestro grupo ya ha propuesto estas ideas:</a:t>
            </a:r>
            <a:endParaRPr lang="en-US" sz="1400" dirty="0"/>
          </a:p>
          <a:p>
            <a:pPr marL="0" indent="0">
              <a:lnSpc>
                <a:spcPct val="95000"/>
              </a:lnSpc>
              <a:buNone/>
            </a:pPr>
            <a:r>
              <a:rPr lang="en-US" sz="1400" b="1" dirty="0">
                <a:solidFill>
                  <a:schemeClr val="accent1"/>
                </a:solidFill>
                <a:latin typeface="Courier New" pitchFamily="34" charset="0"/>
                <a:ea typeface="Courier New" pitchFamily="34" charset="-122"/>
                <a:cs typeface="Courier New" pitchFamily="34" charset="-120"/>
              </a:rPr>
              <a:t>[pegar la lista del grupo]</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Tu tarea:</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1. Propón 15 ideas nuevas que no repitan ni</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   reformulen las nuestras.</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2. Repártelas así: 5 de bajo coste que puedan</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   aplicarse esta semana, 5 digitales y 5 poco</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   convencionales o atrevidas.</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3. Escribe una sola línea por idea, sin explicaciones.</a:t>
            </a:r>
            <a:endParaRPr lang="en-US" sz="1400" dirty="0"/>
          </a:p>
          <a:p>
            <a:pPr marL="0" indent="0">
              <a:lnSpc>
                <a:spcPct val="95000"/>
              </a:lnSpc>
              <a:buNone/>
            </a:pPr>
            <a:r>
              <a:rPr lang="en-US" sz="1400" dirty="0">
                <a:solidFill>
                  <a:schemeClr val="bg1"/>
                </a:solidFill>
                <a:latin typeface="Courier New" pitchFamily="34" charset="0"/>
                <a:ea typeface="Courier New" pitchFamily="34" charset="-122"/>
                <a:cs typeface="Courier New" pitchFamily="34" charset="-120"/>
              </a:rPr>
              <a:t>4. No inventes cifras ni resultados.</a:t>
            </a:r>
            <a:endParaRPr lang="en-US" sz="1400" dirty="0"/>
          </a:p>
        </p:txBody>
      </p:sp>
      <p:sp>
        <p:nvSpPr>
          <p:cNvPr id="7" name="Text 5"/>
          <p:cNvSpPr txBox="1"/>
          <p:nvPr/>
        </p:nvSpPr>
        <p:spPr>
          <a:xfrm>
            <a:off x="7772400" y="1371600"/>
            <a:ext cx="3870655" cy="502920"/>
          </a:xfrm>
          <a:prstGeom prst="rect">
            <a:avLst/>
          </a:prstGeom>
          <a:noFill/>
          <a:ln/>
        </p:spPr>
        <p:txBody>
          <a:bodyPr wrap="square" lIns="0" tIns="0" rIns="0" bIns="0" rtlCol="0" anchor="ctr"/>
          <a:lstStyle/>
          <a:p>
            <a:pPr marL="0" indent="0">
              <a:buNone/>
            </a:pPr>
            <a:r>
              <a:rPr lang="en-US" sz="2200" b="1" dirty="0">
                <a:solidFill>
                  <a:schemeClr val="tx1"/>
                </a:solidFill>
              </a:rPr>
              <a:t>Por qué funciona</a:t>
            </a:r>
            <a:endParaRPr lang="en-US" sz="2200" dirty="0"/>
          </a:p>
        </p:txBody>
      </p:sp>
      <p:sp>
        <p:nvSpPr>
          <p:cNvPr id="8" name="Razón 1"/>
          <p:cNvSpPr/>
          <p:nvPr/>
        </p:nvSpPr>
        <p:spPr>
          <a:xfrm>
            <a:off x="7772400" y="2103120"/>
            <a:ext cx="457200" cy="457200"/>
          </a:xfrm>
          <a:prstGeom prst="ellipse">
            <a:avLst/>
          </a:prstGeom>
          <a:solidFill>
            <a:schemeClr val="accent2"/>
          </a:solidFill>
          <a:ln/>
        </p:spPr>
      </p:sp>
      <p:sp>
        <p:nvSpPr>
          <p:cNvPr id="9" name="Text 7"/>
          <p:cNvSpPr txBox="1"/>
          <p:nvPr/>
        </p:nvSpPr>
        <p:spPr>
          <a:xfrm>
            <a:off x="7772400" y="21031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10" name="Text 8"/>
          <p:cNvSpPr txBox="1"/>
          <p:nvPr/>
        </p:nvSpPr>
        <p:spPr>
          <a:xfrm>
            <a:off x="8412480" y="2057400"/>
            <a:ext cx="3230575" cy="914400"/>
          </a:xfrm>
          <a:prstGeom prst="rect">
            <a:avLst/>
          </a:prstGeom>
          <a:noFill/>
          <a:ln/>
        </p:spPr>
        <p:txBody>
          <a:bodyPr wrap="square" lIns="0" tIns="0" rIns="0" bIns="0" rtlCol="0" anchor="t"/>
          <a:lstStyle/>
          <a:p>
            <a:pPr marL="0" indent="0">
              <a:buNone/>
            </a:pPr>
            <a:r>
              <a:rPr lang="en-US" sz="1600" dirty="0">
                <a:solidFill>
                  <a:schemeClr val="tx1"/>
                </a:solidFill>
              </a:rPr>
              <a:t>Da un rol y un contexto concretos.</a:t>
            </a:r>
            <a:endParaRPr lang="en-US" sz="1600" dirty="0"/>
          </a:p>
        </p:txBody>
      </p:sp>
      <p:sp>
        <p:nvSpPr>
          <p:cNvPr id="11" name="Razón 2"/>
          <p:cNvSpPr/>
          <p:nvPr/>
        </p:nvSpPr>
        <p:spPr>
          <a:xfrm>
            <a:off x="7772400" y="3127248"/>
            <a:ext cx="457200" cy="457200"/>
          </a:xfrm>
          <a:prstGeom prst="ellipse">
            <a:avLst/>
          </a:prstGeom>
          <a:solidFill>
            <a:schemeClr val="accent2"/>
          </a:solidFill>
          <a:ln/>
        </p:spPr>
      </p:sp>
      <p:sp>
        <p:nvSpPr>
          <p:cNvPr id="12" name="Text 10"/>
          <p:cNvSpPr txBox="1"/>
          <p:nvPr/>
        </p:nvSpPr>
        <p:spPr>
          <a:xfrm>
            <a:off x="7772400" y="3127248"/>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3" name="Text 11"/>
          <p:cNvSpPr txBox="1"/>
          <p:nvPr/>
        </p:nvSpPr>
        <p:spPr>
          <a:xfrm>
            <a:off x="8412480" y="3081528"/>
            <a:ext cx="3230575" cy="914400"/>
          </a:xfrm>
          <a:prstGeom prst="rect">
            <a:avLst/>
          </a:prstGeom>
          <a:noFill/>
          <a:ln/>
        </p:spPr>
        <p:txBody>
          <a:bodyPr wrap="square" lIns="0" tIns="0" rIns="0" bIns="0" rtlCol="0" anchor="t"/>
          <a:lstStyle/>
          <a:p>
            <a:pPr marL="0" indent="0">
              <a:buNone/>
            </a:pPr>
            <a:r>
              <a:rPr lang="en-US" sz="1600" dirty="0">
                <a:solidFill>
                  <a:schemeClr val="tx1"/>
                </a:solidFill>
              </a:rPr>
              <a:t>Incluye nuestras ideas para que la IA no las repita.</a:t>
            </a:r>
            <a:endParaRPr lang="en-US" sz="1600" dirty="0"/>
          </a:p>
        </p:txBody>
      </p:sp>
      <p:sp>
        <p:nvSpPr>
          <p:cNvPr id="14" name="Razón 3"/>
          <p:cNvSpPr/>
          <p:nvPr/>
        </p:nvSpPr>
        <p:spPr>
          <a:xfrm>
            <a:off x="7772400" y="4151376"/>
            <a:ext cx="457200" cy="457200"/>
          </a:xfrm>
          <a:prstGeom prst="ellipse">
            <a:avLst/>
          </a:prstGeom>
          <a:solidFill>
            <a:schemeClr val="accent2"/>
          </a:solidFill>
          <a:ln/>
        </p:spPr>
      </p:sp>
      <p:sp>
        <p:nvSpPr>
          <p:cNvPr id="15" name="Text 13"/>
          <p:cNvSpPr txBox="1"/>
          <p:nvPr/>
        </p:nvSpPr>
        <p:spPr>
          <a:xfrm>
            <a:off x="7772400" y="4151376"/>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Text 14"/>
          <p:cNvSpPr txBox="1"/>
          <p:nvPr/>
        </p:nvSpPr>
        <p:spPr>
          <a:xfrm>
            <a:off x="8412480" y="4105656"/>
            <a:ext cx="3230575" cy="914400"/>
          </a:xfrm>
          <a:prstGeom prst="rect">
            <a:avLst/>
          </a:prstGeom>
          <a:noFill/>
          <a:ln/>
        </p:spPr>
        <p:txBody>
          <a:bodyPr wrap="square" lIns="0" tIns="0" rIns="0" bIns="0" rtlCol="0" anchor="t"/>
          <a:lstStyle/>
          <a:p>
            <a:pPr marL="0" indent="0">
              <a:buNone/>
            </a:pPr>
            <a:r>
              <a:rPr lang="en-US" sz="1600" dirty="0">
                <a:solidFill>
                  <a:schemeClr val="tx1"/>
                </a:solidFill>
              </a:rPr>
              <a:t>Pide categorías para forzar la variedad: sin ellas, la IA da ideas muy parecidas.</a:t>
            </a:r>
            <a:endParaRPr lang="en-US" sz="1600" dirty="0"/>
          </a:p>
        </p:txBody>
      </p:sp>
      <p:sp>
        <p:nvSpPr>
          <p:cNvPr id="17" name="Razón 4"/>
          <p:cNvSpPr/>
          <p:nvPr/>
        </p:nvSpPr>
        <p:spPr>
          <a:xfrm>
            <a:off x="7772400" y="5175504"/>
            <a:ext cx="457200" cy="457200"/>
          </a:xfrm>
          <a:prstGeom prst="ellipse">
            <a:avLst/>
          </a:prstGeom>
          <a:solidFill>
            <a:schemeClr val="accent2"/>
          </a:solidFill>
          <a:ln/>
        </p:spPr>
      </p:sp>
      <p:sp>
        <p:nvSpPr>
          <p:cNvPr id="18" name="Text 16"/>
          <p:cNvSpPr txBox="1"/>
          <p:nvPr/>
        </p:nvSpPr>
        <p:spPr>
          <a:xfrm>
            <a:off x="7772400" y="5175504"/>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9" name="Text 17"/>
          <p:cNvSpPr txBox="1"/>
          <p:nvPr/>
        </p:nvSpPr>
        <p:spPr>
          <a:xfrm>
            <a:off x="8412480" y="5129784"/>
            <a:ext cx="3230575" cy="914400"/>
          </a:xfrm>
          <a:prstGeom prst="rect">
            <a:avLst/>
          </a:prstGeom>
          <a:noFill/>
          <a:ln/>
        </p:spPr>
        <p:txBody>
          <a:bodyPr wrap="square" lIns="0" tIns="0" rIns="0" bIns="0" rtlCol="0" anchor="t"/>
          <a:lstStyle/>
          <a:p>
            <a:pPr marL="0" indent="0">
              <a:buNone/>
            </a:pPr>
            <a:r>
              <a:rPr lang="en-US" sz="1600" dirty="0">
                <a:solidFill>
                  <a:schemeClr val="tx1"/>
                </a:solidFill>
              </a:rPr>
              <a:t>Formato corto, para leerlo en voz alta.</a:t>
            </a:r>
            <a:endParaRPr lang="en-US" sz="16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Segundo prompt: combinar ideas</a:t>
            </a:r>
            <a:endParaRPr lang="en-US" sz="3200" dirty="0"/>
          </a:p>
        </p:txBody>
      </p:sp>
      <p:sp>
        <p:nvSpPr>
          <p:cNvPr id="3" name="Etiqueta de tiempo"/>
          <p:cNvSpPr/>
          <p:nvPr/>
        </p:nvSpPr>
        <p:spPr>
          <a:xfrm>
            <a:off x="9187891" y="548640"/>
            <a:ext cx="2455164" cy="457200"/>
          </a:xfrm>
          <a:prstGeom prst="roundRect">
            <a:avLst>
              <a:gd name="adj" fmla="val 50000"/>
            </a:avLst>
          </a:prstGeom>
          <a:solidFill>
            <a:schemeClr val="accent2"/>
          </a:solidFill>
          <a:ln/>
        </p:spPr>
      </p:sp>
      <p:sp>
        <p:nvSpPr>
          <p:cNvPr id="4" name="Text 2"/>
          <p:cNvSpPr txBox="1"/>
          <p:nvPr/>
        </p:nvSpPr>
        <p:spPr>
          <a:xfrm>
            <a:off x="9187891" y="548640"/>
            <a:ext cx="2455164" cy="457200"/>
          </a:xfrm>
          <a:prstGeom prst="rect">
            <a:avLst/>
          </a:prstGeom>
          <a:noFill/>
          <a:ln/>
        </p:spPr>
        <p:txBody>
          <a:bodyPr wrap="square" lIns="0" tIns="0" rIns="0" bIns="0" rtlCol="0" anchor="ctr"/>
          <a:lstStyle/>
          <a:p>
            <a:pPr marL="0" indent="0" algn="ctr">
              <a:buNone/>
            </a:pPr>
            <a:r>
              <a:rPr lang="en-US" sz="1400" b="1" dirty="0">
                <a:solidFill>
                  <a:schemeClr val="bg1"/>
                </a:solidFill>
              </a:rPr>
              <a:t>Min. 30–38 · Con IA</a:t>
            </a:r>
            <a:endParaRPr lang="en-US" sz="1400" dirty="0"/>
          </a:p>
        </p:txBody>
      </p:sp>
      <p:sp>
        <p:nvSpPr>
          <p:cNvPr id="5" name="Nuestras ideas"/>
          <p:cNvSpPr/>
          <p:nvPr/>
        </p:nvSpPr>
        <p:spPr>
          <a:xfrm>
            <a:off x="2011680" y="1417320"/>
            <a:ext cx="1188720" cy="1188720"/>
          </a:xfrm>
          <a:prstGeom prst="ellipse">
            <a:avLst/>
          </a:prstGeom>
          <a:solidFill>
            <a:schemeClr val="accent1"/>
          </a:solidFill>
          <a:ln/>
        </p:spPr>
      </p:sp>
      <p:pic>
        <p:nvPicPr>
          <p:cNvPr id="6" name="Image 0" descr="Nuestras ideas"/>
          <p:cNvPicPr>
            <a:picLocks noChangeAspect="1"/>
          </p:cNvPicPr>
          <p:nvPr/>
        </p:nvPicPr>
        <p:blipFill>
          <a:blip r:embed="rId3"/>
          <a:stretch>
            <a:fillRect/>
          </a:stretch>
        </p:blipFill>
        <p:spPr>
          <a:xfrm>
            <a:off x="2296973" y="1702613"/>
            <a:ext cx="618134" cy="618134"/>
          </a:xfrm>
          <a:prstGeom prst="rect">
            <a:avLst/>
          </a:prstGeom>
        </p:spPr>
      </p:pic>
      <p:sp>
        <p:nvSpPr>
          <p:cNvPr id="7" name="Text 4"/>
          <p:cNvSpPr txBox="1"/>
          <p:nvPr/>
        </p:nvSpPr>
        <p:spPr>
          <a:xfrm>
            <a:off x="1463040" y="2697480"/>
            <a:ext cx="2286000" cy="411480"/>
          </a:xfrm>
          <a:prstGeom prst="rect">
            <a:avLst/>
          </a:prstGeom>
          <a:noFill/>
          <a:ln/>
        </p:spPr>
        <p:txBody>
          <a:bodyPr wrap="square" lIns="0" tIns="0" rIns="0" bIns="0" rtlCol="0" anchor="ctr"/>
          <a:lstStyle/>
          <a:p>
            <a:pPr marL="0" indent="0" algn="ctr">
              <a:buNone/>
            </a:pPr>
            <a:r>
              <a:rPr lang="en-US" sz="1700" b="1" dirty="0">
                <a:solidFill>
                  <a:schemeClr val="tx1"/>
                </a:solidFill>
              </a:rPr>
              <a:t>Nuestras ideas</a:t>
            </a:r>
            <a:endParaRPr lang="en-US" sz="1700" dirty="0"/>
          </a:p>
        </p:txBody>
      </p:sp>
      <p:sp>
        <p:nvSpPr>
          <p:cNvPr id="8" name="Ideas de la IA"/>
          <p:cNvSpPr/>
          <p:nvPr/>
        </p:nvSpPr>
        <p:spPr>
          <a:xfrm>
            <a:off x="5394960" y="1417320"/>
            <a:ext cx="1188720" cy="1188720"/>
          </a:xfrm>
          <a:prstGeom prst="ellipse">
            <a:avLst/>
          </a:prstGeom>
          <a:solidFill>
            <a:schemeClr val="accent2"/>
          </a:solidFill>
          <a:ln/>
        </p:spPr>
      </p:sp>
      <p:pic>
        <p:nvPicPr>
          <p:cNvPr id="9" name="Image 1" descr="Ideas de la IA"/>
          <p:cNvPicPr>
            <a:picLocks noChangeAspect="1"/>
          </p:cNvPicPr>
          <p:nvPr/>
        </p:nvPicPr>
        <p:blipFill>
          <a:blip r:embed="rId4"/>
          <a:stretch>
            <a:fillRect/>
          </a:stretch>
        </p:blipFill>
        <p:spPr>
          <a:xfrm>
            <a:off x="5680253" y="1702613"/>
            <a:ext cx="618134" cy="618134"/>
          </a:xfrm>
          <a:prstGeom prst="rect">
            <a:avLst/>
          </a:prstGeom>
        </p:spPr>
      </p:pic>
      <p:sp>
        <p:nvSpPr>
          <p:cNvPr id="10" name="Text 6"/>
          <p:cNvSpPr txBox="1"/>
          <p:nvPr/>
        </p:nvSpPr>
        <p:spPr>
          <a:xfrm>
            <a:off x="4846320" y="2697480"/>
            <a:ext cx="2286000" cy="411480"/>
          </a:xfrm>
          <a:prstGeom prst="rect">
            <a:avLst/>
          </a:prstGeom>
          <a:noFill/>
          <a:ln/>
        </p:spPr>
        <p:txBody>
          <a:bodyPr wrap="square" lIns="0" tIns="0" rIns="0" bIns="0" rtlCol="0" anchor="ctr"/>
          <a:lstStyle/>
          <a:p>
            <a:pPr marL="0" indent="0" algn="ctr">
              <a:buNone/>
            </a:pPr>
            <a:r>
              <a:rPr lang="en-US" sz="1700" b="1" dirty="0">
                <a:solidFill>
                  <a:schemeClr val="tx1"/>
                </a:solidFill>
              </a:rPr>
              <a:t>Ideas de la IA</a:t>
            </a:r>
            <a:endParaRPr lang="en-US" sz="1700" dirty="0"/>
          </a:p>
        </p:txBody>
      </p:sp>
      <p:sp>
        <p:nvSpPr>
          <p:cNvPr id="11" name="Ideas mejores"/>
          <p:cNvSpPr/>
          <p:nvPr/>
        </p:nvSpPr>
        <p:spPr>
          <a:xfrm>
            <a:off x="8778240" y="1417320"/>
            <a:ext cx="1188720" cy="1188720"/>
          </a:xfrm>
          <a:prstGeom prst="ellipse">
            <a:avLst/>
          </a:prstGeom>
          <a:solidFill>
            <a:schemeClr val="accent3"/>
          </a:solidFill>
          <a:ln/>
        </p:spPr>
      </p:sp>
      <p:pic>
        <p:nvPicPr>
          <p:cNvPr id="12" name="Image 2" descr="Ideas mejores"/>
          <p:cNvPicPr>
            <a:picLocks noChangeAspect="1"/>
          </p:cNvPicPr>
          <p:nvPr/>
        </p:nvPicPr>
        <p:blipFill>
          <a:blip r:embed="rId5"/>
          <a:stretch>
            <a:fillRect/>
          </a:stretch>
        </p:blipFill>
        <p:spPr>
          <a:xfrm>
            <a:off x="9063533" y="1702613"/>
            <a:ext cx="618134" cy="618134"/>
          </a:xfrm>
          <a:prstGeom prst="rect">
            <a:avLst/>
          </a:prstGeom>
        </p:spPr>
      </p:pic>
      <p:sp>
        <p:nvSpPr>
          <p:cNvPr id="13" name="Text 8"/>
          <p:cNvSpPr txBox="1"/>
          <p:nvPr/>
        </p:nvSpPr>
        <p:spPr>
          <a:xfrm>
            <a:off x="8229600" y="2697480"/>
            <a:ext cx="2286000" cy="411480"/>
          </a:xfrm>
          <a:prstGeom prst="rect">
            <a:avLst/>
          </a:prstGeom>
          <a:noFill/>
          <a:ln/>
        </p:spPr>
        <p:txBody>
          <a:bodyPr wrap="square" lIns="0" tIns="0" rIns="0" bIns="0" rtlCol="0" anchor="ctr"/>
          <a:lstStyle/>
          <a:p>
            <a:pPr marL="0" indent="0" algn="ctr">
              <a:buNone/>
            </a:pPr>
            <a:r>
              <a:rPr lang="en-US" sz="1700" b="1" dirty="0">
                <a:solidFill>
                  <a:schemeClr val="tx1"/>
                </a:solidFill>
              </a:rPr>
              <a:t>Ideas mejores</a:t>
            </a:r>
            <a:endParaRPr lang="en-US" sz="1700" dirty="0"/>
          </a:p>
        </p:txBody>
      </p:sp>
      <p:sp>
        <p:nvSpPr>
          <p:cNvPr id="14" name="Text 9"/>
          <p:cNvSpPr txBox="1"/>
          <p:nvPr/>
        </p:nvSpPr>
        <p:spPr>
          <a:xfrm>
            <a:off x="3200400" y="1417320"/>
            <a:ext cx="2194560" cy="1188720"/>
          </a:xfrm>
          <a:prstGeom prst="rect">
            <a:avLst/>
          </a:prstGeom>
          <a:noFill/>
          <a:ln/>
        </p:spPr>
        <p:txBody>
          <a:bodyPr wrap="square" lIns="0" tIns="0" rIns="0" bIns="0" rtlCol="0" anchor="ctr"/>
          <a:lstStyle/>
          <a:p>
            <a:pPr marL="0" indent="0" algn="ctr">
              <a:buNone/>
            </a:pPr>
            <a:r>
              <a:rPr lang="en-US" sz="4800" b="1" dirty="0">
                <a:solidFill>
                  <a:schemeClr val="tx2"/>
                </a:solidFill>
              </a:rPr>
              <a:t>+</a:t>
            </a:r>
            <a:endParaRPr lang="en-US" sz="4800" dirty="0"/>
          </a:p>
        </p:txBody>
      </p:sp>
      <p:sp>
        <p:nvSpPr>
          <p:cNvPr id="15" name="Text 10"/>
          <p:cNvSpPr txBox="1"/>
          <p:nvPr/>
        </p:nvSpPr>
        <p:spPr>
          <a:xfrm>
            <a:off x="6583680" y="1417320"/>
            <a:ext cx="2194560" cy="1188720"/>
          </a:xfrm>
          <a:prstGeom prst="rect">
            <a:avLst/>
          </a:prstGeom>
          <a:noFill/>
          <a:ln/>
        </p:spPr>
        <p:txBody>
          <a:bodyPr wrap="square" lIns="0" tIns="0" rIns="0" bIns="0" rtlCol="0" anchor="ctr"/>
          <a:lstStyle/>
          <a:p>
            <a:pPr marL="0" indent="0" algn="ctr">
              <a:buNone/>
            </a:pPr>
            <a:r>
              <a:rPr lang="en-US" sz="4800" b="1" dirty="0">
                <a:solidFill>
                  <a:schemeClr val="tx2"/>
                </a:solidFill>
              </a:rPr>
              <a:t>=</a:t>
            </a:r>
            <a:endParaRPr lang="en-US" sz="4800" dirty="0"/>
          </a:p>
        </p:txBody>
      </p:sp>
      <p:sp>
        <p:nvSpPr>
          <p:cNvPr id="16" name="Prompt"/>
          <p:cNvSpPr/>
          <p:nvPr/>
        </p:nvSpPr>
        <p:spPr>
          <a:xfrm>
            <a:off x="548640" y="3383280"/>
            <a:ext cx="11094415" cy="1691640"/>
          </a:xfrm>
          <a:prstGeom prst="roundRect">
            <a:avLst>
              <a:gd name="adj" fmla="val 6486"/>
            </a:avLst>
          </a:prstGeom>
          <a:solidFill>
            <a:schemeClr val="tx1"/>
          </a:solidFill>
          <a:ln/>
        </p:spPr>
      </p:sp>
      <p:sp>
        <p:nvSpPr>
          <p:cNvPr id="17" name="Text 12"/>
          <p:cNvSpPr txBox="1"/>
          <p:nvPr/>
        </p:nvSpPr>
        <p:spPr>
          <a:xfrm>
            <a:off x="822960" y="3566160"/>
            <a:ext cx="10545775" cy="1325880"/>
          </a:xfrm>
          <a:prstGeom prst="rect">
            <a:avLst/>
          </a:prstGeom>
          <a:noFill/>
          <a:ln/>
        </p:spPr>
        <p:txBody>
          <a:bodyPr wrap="square" lIns="0" tIns="0" rIns="0" bIns="0" rtlCol="0" anchor="t"/>
          <a:lstStyle/>
          <a:p>
            <a:pPr marL="0" indent="0">
              <a:lnSpc>
                <a:spcPct val="95000"/>
              </a:lnSpc>
              <a:buNone/>
            </a:pPr>
            <a:r>
              <a:rPr lang="en-US" sz="1800" dirty="0">
                <a:solidFill>
                  <a:schemeClr val="bg1"/>
                </a:solidFill>
                <a:latin typeface="Courier New" pitchFamily="34" charset="0"/>
                <a:ea typeface="Courier New" pitchFamily="34" charset="-122"/>
                <a:cs typeface="Courier New" pitchFamily="34" charset="-120"/>
              </a:rPr>
              <a:t>Elige tres ideas de nuestro grupo y combina cada una con una de</a:t>
            </a:r>
            <a:endParaRPr lang="en-US" sz="1800" dirty="0"/>
          </a:p>
          <a:p>
            <a:pPr marL="0" indent="0">
              <a:lnSpc>
                <a:spcPct val="95000"/>
              </a:lnSpc>
              <a:buNone/>
            </a:pPr>
            <a:r>
              <a:rPr lang="en-US" sz="1800" dirty="0">
                <a:solidFill>
                  <a:schemeClr val="bg1"/>
                </a:solidFill>
                <a:latin typeface="Courier New" pitchFamily="34" charset="0"/>
                <a:ea typeface="Courier New" pitchFamily="34" charset="-122"/>
                <a:cs typeface="Courier New" pitchFamily="34" charset="-120"/>
              </a:rPr>
              <a:t>las tuyas para crear tres ideas mejores que las originales.</a:t>
            </a:r>
            <a:endParaRPr lang="en-US" sz="1800" dirty="0"/>
          </a:p>
          <a:p>
            <a:pPr marL="0" indent="0">
              <a:lnSpc>
                <a:spcPct val="95000"/>
              </a:lnSpc>
              <a:buNone/>
            </a:pPr>
            <a:r>
              <a:rPr lang="en-US" sz="1800" dirty="0">
                <a:solidFill>
                  <a:schemeClr val="bg1"/>
                </a:solidFill>
                <a:latin typeface="Courier New" pitchFamily="34" charset="0"/>
                <a:ea typeface="Courier New" pitchFamily="34" charset="-122"/>
                <a:cs typeface="Courier New" pitchFamily="34" charset="-120"/>
              </a:rPr>
              <a:t>Indica de qué dos ideas parte cada combinación y qué mejora aporta.</a:t>
            </a:r>
            <a:endParaRPr lang="en-US" sz="1800" dirty="0"/>
          </a:p>
        </p:txBody>
      </p:sp>
      <p:sp>
        <p:nvSpPr>
          <p:cNvPr id="18" name="Text 13"/>
          <p:cNvSpPr txBox="1"/>
          <p:nvPr/>
        </p:nvSpPr>
        <p:spPr>
          <a:xfrm>
            <a:off x="548640" y="5349240"/>
            <a:ext cx="11094415" cy="457200"/>
          </a:xfrm>
          <a:prstGeom prst="rect">
            <a:avLst/>
          </a:prstGeom>
          <a:noFill/>
          <a:ln/>
        </p:spPr>
        <p:txBody>
          <a:bodyPr wrap="square" lIns="0" tIns="0" rIns="0" bIns="0" rtlCol="0" anchor="ctr"/>
          <a:lstStyle/>
          <a:p>
            <a:pPr marL="0" indent="0">
              <a:buNone/>
            </a:pPr>
            <a:r>
              <a:rPr lang="en-US" sz="1800" i="1" dirty="0">
                <a:solidFill>
                  <a:schemeClr val="tx2"/>
                </a:solidFill>
              </a:rPr>
              <a:t>Es la regla 3 del brainstorming —construir sobre otras ideas— aplicada a personas + IA.</a:t>
            </a:r>
            <a:endParaRPr lang="en-US" sz="18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Votad las tres ideas más originales</a:t>
            </a:r>
            <a:endParaRPr lang="en-US" sz="3200" dirty="0"/>
          </a:p>
        </p:txBody>
      </p:sp>
      <p:sp>
        <p:nvSpPr>
          <p:cNvPr id="3" name="Etiqueta de tiempo"/>
          <p:cNvSpPr/>
          <p:nvPr/>
        </p:nvSpPr>
        <p:spPr>
          <a:xfrm>
            <a:off x="8451799" y="548640"/>
            <a:ext cx="3191256" cy="457200"/>
          </a:xfrm>
          <a:prstGeom prst="roundRect">
            <a:avLst>
              <a:gd name="adj" fmla="val 50000"/>
            </a:avLst>
          </a:prstGeom>
          <a:solidFill>
            <a:schemeClr val="accent1"/>
          </a:solidFill>
          <a:ln/>
        </p:spPr>
      </p:sp>
      <p:sp>
        <p:nvSpPr>
          <p:cNvPr id="4" name="Text 2"/>
          <p:cNvSpPr txBox="1"/>
          <p:nvPr/>
        </p:nvSpPr>
        <p:spPr>
          <a:xfrm>
            <a:off x="8451799" y="548640"/>
            <a:ext cx="3191256" cy="457200"/>
          </a:xfrm>
          <a:prstGeom prst="rect">
            <a:avLst/>
          </a:prstGeom>
          <a:noFill/>
          <a:ln/>
        </p:spPr>
        <p:txBody>
          <a:bodyPr wrap="square" lIns="0" tIns="0" rIns="0" bIns="0" rtlCol="0" anchor="ctr"/>
          <a:lstStyle/>
          <a:p>
            <a:pPr marL="0" indent="0" algn="ctr">
              <a:buNone/>
            </a:pPr>
            <a:r>
              <a:rPr lang="en-US" sz="1400" b="1" dirty="0">
                <a:solidFill>
                  <a:schemeClr val="tx1"/>
                </a:solidFill>
              </a:rPr>
              <a:t>Min. 38–45 · Todo el grupo</a:t>
            </a:r>
            <a:endParaRPr lang="en-US" sz="1400" dirty="0"/>
          </a:p>
        </p:txBody>
      </p:sp>
      <p:sp>
        <p:nvSpPr>
          <p:cNvPr id="5" name="Instrucción"/>
          <p:cNvSpPr/>
          <p:nvPr/>
        </p:nvSpPr>
        <p:spPr>
          <a:xfrm>
            <a:off x="548640" y="1737360"/>
            <a:ext cx="777240" cy="777240"/>
          </a:xfrm>
          <a:prstGeom prst="ellipse">
            <a:avLst/>
          </a:prstGeom>
          <a:solidFill>
            <a:schemeClr val="tx2"/>
          </a:solidFill>
          <a:ln/>
        </p:spPr>
      </p:sp>
      <p:pic>
        <p:nvPicPr>
          <p:cNvPr id="6" name="Image 0" descr="Instrucción"/>
          <p:cNvPicPr>
            <a:picLocks noChangeAspect="1"/>
          </p:cNvPicPr>
          <p:nvPr/>
        </p:nvPicPr>
        <p:blipFill>
          <a:blip r:embed="rId3"/>
          <a:stretch>
            <a:fillRect/>
          </a:stretch>
        </p:blipFill>
        <p:spPr>
          <a:xfrm>
            <a:off x="735178" y="1923898"/>
            <a:ext cx="404165" cy="404165"/>
          </a:xfrm>
          <a:prstGeom prst="rect">
            <a:avLst/>
          </a:prstGeom>
        </p:spPr>
      </p:pic>
      <p:sp>
        <p:nvSpPr>
          <p:cNvPr id="7" name="Text 4"/>
          <p:cNvSpPr txBox="1"/>
          <p:nvPr/>
        </p:nvSpPr>
        <p:spPr>
          <a:xfrm>
            <a:off x="1554480" y="1737360"/>
            <a:ext cx="4114800" cy="777240"/>
          </a:xfrm>
          <a:prstGeom prst="rect">
            <a:avLst/>
          </a:prstGeom>
          <a:noFill/>
          <a:ln/>
        </p:spPr>
        <p:txBody>
          <a:bodyPr wrap="square" lIns="0" tIns="0" rIns="0" bIns="0" rtlCol="0" anchor="ctr"/>
          <a:lstStyle/>
          <a:p>
            <a:pPr marL="0" indent="0">
              <a:buNone/>
            </a:pPr>
            <a:r>
              <a:rPr lang="en-US" sz="2000" dirty="0">
                <a:solidFill>
                  <a:schemeClr val="tx1"/>
                </a:solidFill>
              </a:rPr>
              <a:t>Cada persona marca tres ideas.</a:t>
            </a:r>
            <a:endParaRPr lang="en-US" sz="2000" dirty="0"/>
          </a:p>
        </p:txBody>
      </p:sp>
      <p:sp>
        <p:nvSpPr>
          <p:cNvPr id="8" name="Instrucción"/>
          <p:cNvSpPr/>
          <p:nvPr/>
        </p:nvSpPr>
        <p:spPr>
          <a:xfrm>
            <a:off x="548640" y="2834640"/>
            <a:ext cx="777240" cy="777240"/>
          </a:xfrm>
          <a:prstGeom prst="ellipse">
            <a:avLst/>
          </a:prstGeom>
          <a:solidFill>
            <a:schemeClr val="tx2"/>
          </a:solidFill>
          <a:ln/>
        </p:spPr>
      </p:sp>
      <p:pic>
        <p:nvPicPr>
          <p:cNvPr id="9" name="Image 1" descr="Instrucción"/>
          <p:cNvPicPr>
            <a:picLocks noChangeAspect="1"/>
          </p:cNvPicPr>
          <p:nvPr/>
        </p:nvPicPr>
        <p:blipFill>
          <a:blip r:embed="rId4"/>
          <a:stretch>
            <a:fillRect/>
          </a:stretch>
        </p:blipFill>
        <p:spPr>
          <a:xfrm>
            <a:off x="735178" y="3021178"/>
            <a:ext cx="404165" cy="404165"/>
          </a:xfrm>
          <a:prstGeom prst="rect">
            <a:avLst/>
          </a:prstGeom>
        </p:spPr>
      </p:pic>
      <p:sp>
        <p:nvSpPr>
          <p:cNvPr id="10" name="Text 6"/>
          <p:cNvSpPr txBox="1"/>
          <p:nvPr/>
        </p:nvSpPr>
        <p:spPr>
          <a:xfrm>
            <a:off x="1554480" y="2834640"/>
            <a:ext cx="4114800" cy="777240"/>
          </a:xfrm>
          <a:prstGeom prst="rect">
            <a:avLst/>
          </a:prstGeom>
          <a:noFill/>
          <a:ln/>
        </p:spPr>
        <p:txBody>
          <a:bodyPr wrap="square" lIns="0" tIns="0" rIns="0" bIns="0" rtlCol="0" anchor="ctr"/>
          <a:lstStyle/>
          <a:p>
            <a:pPr marL="0" indent="0">
              <a:buNone/>
            </a:pPr>
            <a:r>
              <a:rPr lang="en-US" sz="2000" dirty="0">
                <a:solidFill>
                  <a:schemeClr val="tx1"/>
                </a:solidFill>
              </a:rPr>
              <a:t>Sin fijarse en si vienen del grupo o de la IA.</a:t>
            </a:r>
            <a:endParaRPr lang="en-US" sz="2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943600" y="1737360"/>
          <a:ext cx="5513832" cy="3108960"/>
        </p:xfrm>
        <a:graphic>
          <a:graphicData uri="http://schemas.openxmlformats.org/drawingml/2006/table">
            <a:tbl>
              <a:tblPr/>
              <a:tblGrid>
                <a:gridCol w="2587752">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731520">
                <a:tc>
                  <a:txBody>
                    <a:bodyPr/>
                    <a:lstStyle/>
                    <a:p>
                      <a:pPr marL="0" indent="0" algn="ctr">
                        <a:buNone/>
                      </a:pP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bg1"/>
                    </a:solidFill>
                  </a:tcPr>
                </a:tc>
                <a:tc>
                  <a:txBody>
                    <a:bodyPr/>
                    <a:lstStyle/>
                    <a:p>
                      <a:pPr marL="0" indent="0" algn="ctr">
                        <a:buNone/>
                      </a:pPr>
                      <a:r>
                        <a:rPr lang="en-US" sz="1800" b="1" dirty="0">
                          <a:solidFill>
                            <a:schemeClr val="tx1"/>
                          </a:solidFill>
                        </a:rPr>
                        <a:t>Sin IA</a:t>
                      </a: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accent1"/>
                    </a:solidFill>
                  </a:tcPr>
                </a:tc>
                <a:tc>
                  <a:txBody>
                    <a:bodyPr/>
                    <a:lstStyle/>
                    <a:p>
                      <a:pPr marL="0" indent="0" algn="ctr">
                        <a:buNone/>
                      </a:pPr>
                      <a:r>
                        <a:rPr lang="en-US" sz="1800" b="1" dirty="0">
                          <a:solidFill>
                            <a:schemeClr val="bg1"/>
                          </a:solidFill>
                        </a:rPr>
                        <a:t>Con IA</a:t>
                      </a: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1188720">
                <a:tc>
                  <a:txBody>
                    <a:bodyPr/>
                    <a:lstStyle/>
                    <a:p>
                      <a:pPr marL="0" indent="0">
                        <a:buNone/>
                      </a:pPr>
                      <a:r>
                        <a:rPr lang="en-US" sz="1800" b="1" dirty="0">
                          <a:solidFill>
                            <a:schemeClr val="tx1"/>
                          </a:solidFill>
                        </a:rPr>
                        <a:t>Número de ideas</a:t>
                      </a: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buNone/>
                      </a:pP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buNone/>
                      </a:pP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extLst>
                  <a:ext uri="{0D108BD9-81ED-4DB2-BD59-A6C34878D82A}">
                    <a16:rowId xmlns:a16="http://schemas.microsoft.com/office/drawing/2014/main" val="10001"/>
                  </a:ext>
                </a:extLst>
              </a:tr>
              <a:tr h="1188720">
                <a:tc>
                  <a:txBody>
                    <a:bodyPr/>
                    <a:lstStyle/>
                    <a:p>
                      <a:pPr marL="0" indent="0">
                        <a:buNone/>
                      </a:pPr>
                      <a:r>
                        <a:rPr lang="en-US" sz="1800" b="1" dirty="0">
                          <a:solidFill>
                            <a:schemeClr val="tx1"/>
                          </a:solidFill>
                        </a:rPr>
                        <a:t>Ideas entre las más votadas</a:t>
                      </a: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buNone/>
                      </a:pP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tc>
                  <a:txBody>
                    <a:bodyPr/>
                    <a:lstStyle/>
                    <a:p>
                      <a:pPr marL="0" indent="0">
                        <a:buNone/>
                      </a:pPr>
                      <a:endParaRPr lang="en-US" sz="1800" dirty="0"/>
                    </a:p>
                  </a:txBody>
                  <a:tcPr marT="91440" marB="91440" anchor="ctr">
                    <a:lnL w="12700" cap="flat" cmpd="sng" algn="ctr">
                      <a:solidFill>
                        <a:srgbClr val="8A94A6"/>
                      </a:solidFill>
                      <a:prstDash val="solid"/>
                      <a:round/>
                      <a:headEnd type="none" w="med" len="med"/>
                      <a:tailEnd type="none" w="med" len="med"/>
                    </a:lnL>
                    <a:lnR w="12700" cap="flat" cmpd="sng" algn="ctr">
                      <a:solidFill>
                        <a:srgbClr val="8A94A6"/>
                      </a:solidFill>
                      <a:prstDash val="solid"/>
                      <a:round/>
                      <a:headEnd type="none" w="med" len="med"/>
                      <a:tailEnd type="none" w="med" len="med"/>
                    </a:lnR>
                    <a:lnT w="12700" cap="flat" cmpd="sng" algn="ctr">
                      <a:solidFill>
                        <a:srgbClr val="8A94A6"/>
                      </a:solidFill>
                      <a:prstDash val="solid"/>
                      <a:round/>
                      <a:headEnd type="none" w="med" len="med"/>
                      <a:tailEnd type="none" w="med" len="med"/>
                    </a:lnT>
                    <a:lnB w="12700" cap="flat" cmpd="sng" algn="ctr">
                      <a:solidFill>
                        <a:srgbClr val="8A94A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2" name="Text 7"/>
          <p:cNvSpPr txBox="1"/>
          <p:nvPr/>
        </p:nvSpPr>
        <p:spPr>
          <a:xfrm>
            <a:off x="5943600" y="5120640"/>
            <a:ext cx="5699455" cy="457200"/>
          </a:xfrm>
          <a:prstGeom prst="rect">
            <a:avLst/>
          </a:prstGeom>
          <a:noFill/>
          <a:ln/>
        </p:spPr>
        <p:txBody>
          <a:bodyPr wrap="square" lIns="0" tIns="0" rIns="0" bIns="0" rtlCol="0" anchor="ctr"/>
          <a:lstStyle/>
          <a:p>
            <a:pPr marL="0" indent="0">
              <a:buNone/>
            </a:pPr>
            <a:r>
              <a:rPr lang="en-US" sz="1600" i="1" dirty="0">
                <a:solidFill>
                  <a:schemeClr val="tx2"/>
                </a:solidFill>
              </a:rPr>
              <a:t>Rellenamos la tabla entre todos con el recuento.</a:t>
            </a:r>
            <a:endParaRPr lang="en-US" sz="16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77240"/>
          </a:xfrm>
          <a:prstGeom prst="rect">
            <a:avLst/>
          </a:prstGeom>
          <a:noFill/>
          <a:ln/>
        </p:spPr>
        <p:txBody>
          <a:bodyPr wrap="square" lIns="0" tIns="0" rIns="0" bIns="0" rtlCol="0" anchor="ctr"/>
          <a:lstStyle/>
          <a:p>
            <a:pPr marL="0" indent="0" algn="l">
              <a:buNone/>
            </a:pPr>
            <a:r>
              <a:rPr lang="en-US" sz="3200" b="1" dirty="0">
                <a:solidFill>
                  <a:schemeClr val="tx1"/>
                </a:solidFill>
              </a:rPr>
              <a:t>¿Qué ha aportado la IA?</a:t>
            </a:r>
            <a:endParaRPr lang="en-US" sz="3200" dirty="0"/>
          </a:p>
        </p:txBody>
      </p:sp>
      <p:sp>
        <p:nvSpPr>
          <p:cNvPr id="3" name="Etiqueta de tiempo"/>
          <p:cNvSpPr/>
          <p:nvPr/>
        </p:nvSpPr>
        <p:spPr>
          <a:xfrm>
            <a:off x="8451799" y="548640"/>
            <a:ext cx="3191256" cy="457200"/>
          </a:xfrm>
          <a:prstGeom prst="roundRect">
            <a:avLst>
              <a:gd name="adj" fmla="val 50000"/>
            </a:avLst>
          </a:prstGeom>
          <a:solidFill>
            <a:schemeClr val="accent1"/>
          </a:solidFill>
          <a:ln/>
        </p:spPr>
      </p:sp>
      <p:sp>
        <p:nvSpPr>
          <p:cNvPr id="4" name="Text 2"/>
          <p:cNvSpPr txBox="1"/>
          <p:nvPr/>
        </p:nvSpPr>
        <p:spPr>
          <a:xfrm>
            <a:off x="8451799" y="548640"/>
            <a:ext cx="3191256" cy="457200"/>
          </a:xfrm>
          <a:prstGeom prst="rect">
            <a:avLst/>
          </a:prstGeom>
          <a:noFill/>
          <a:ln/>
        </p:spPr>
        <p:txBody>
          <a:bodyPr wrap="square" lIns="0" tIns="0" rIns="0" bIns="0" rtlCol="0" anchor="ctr"/>
          <a:lstStyle/>
          <a:p>
            <a:pPr marL="0" indent="0" algn="ctr">
              <a:buNone/>
            </a:pPr>
            <a:r>
              <a:rPr lang="en-US" sz="1400" b="1" dirty="0">
                <a:solidFill>
                  <a:schemeClr val="tx1"/>
                </a:solidFill>
              </a:rPr>
              <a:t>Min. 38–45 · Todo el grupo</a:t>
            </a:r>
            <a:endParaRPr lang="en-US" sz="1400" dirty="0"/>
          </a:p>
        </p:txBody>
      </p:sp>
      <p:sp>
        <p:nvSpPr>
          <p:cNvPr id="5" name="Tarjeta"/>
          <p:cNvSpPr/>
          <p:nvPr/>
        </p:nvSpPr>
        <p:spPr>
          <a:xfrm>
            <a:off x="548640" y="1600200"/>
            <a:ext cx="3454298" cy="3566160"/>
          </a:xfrm>
          <a:prstGeom prst="roundRect">
            <a:avLst>
              <a:gd name="adj" fmla="val 3971"/>
            </a:avLst>
          </a:prstGeom>
          <a:solidFill>
            <a:schemeClr val="bg2"/>
          </a:solidFill>
          <a:ln/>
        </p:spPr>
      </p:sp>
      <p:sp>
        <p:nvSpPr>
          <p:cNvPr id="6" name="Pregunta"/>
          <p:cNvSpPr/>
          <p:nvPr/>
        </p:nvSpPr>
        <p:spPr>
          <a:xfrm>
            <a:off x="1681429" y="1965960"/>
            <a:ext cx="1188720" cy="1188720"/>
          </a:xfrm>
          <a:prstGeom prst="ellipse">
            <a:avLst/>
          </a:prstGeom>
          <a:solidFill>
            <a:schemeClr val="tx2"/>
          </a:solidFill>
          <a:ln/>
        </p:spPr>
      </p:sp>
      <p:pic>
        <p:nvPicPr>
          <p:cNvPr id="7" name="Image 0" descr="Pregunta"/>
          <p:cNvPicPr>
            <a:picLocks noChangeAspect="1"/>
          </p:cNvPicPr>
          <p:nvPr/>
        </p:nvPicPr>
        <p:blipFill>
          <a:blip r:embed="rId3"/>
          <a:stretch>
            <a:fillRect/>
          </a:stretch>
        </p:blipFill>
        <p:spPr>
          <a:xfrm>
            <a:off x="1966722" y="2251253"/>
            <a:ext cx="618134" cy="618134"/>
          </a:xfrm>
          <a:prstGeom prst="rect">
            <a:avLst/>
          </a:prstGeom>
        </p:spPr>
      </p:pic>
      <p:sp>
        <p:nvSpPr>
          <p:cNvPr id="8" name="Text 5"/>
          <p:cNvSpPr txBox="1"/>
          <p:nvPr/>
        </p:nvSpPr>
        <p:spPr>
          <a:xfrm>
            <a:off x="868680" y="3429000"/>
            <a:ext cx="2814218" cy="1554480"/>
          </a:xfrm>
          <a:prstGeom prst="rect">
            <a:avLst/>
          </a:prstGeom>
          <a:noFill/>
          <a:ln/>
        </p:spPr>
        <p:txBody>
          <a:bodyPr wrap="square" lIns="0" tIns="0" rIns="0" bIns="0" rtlCol="0" anchor="t"/>
          <a:lstStyle/>
          <a:p>
            <a:pPr marL="0" indent="0" algn="ctr">
              <a:buNone/>
            </a:pPr>
            <a:r>
              <a:rPr lang="en-US" sz="2400" dirty="0">
                <a:solidFill>
                  <a:schemeClr val="tx1"/>
                </a:solidFill>
              </a:rPr>
              <a:t>¿La IA ha dado ideas mejores o solo más ideas?</a:t>
            </a:r>
            <a:endParaRPr lang="en-US" sz="2400" dirty="0"/>
          </a:p>
        </p:txBody>
      </p:sp>
      <p:sp>
        <p:nvSpPr>
          <p:cNvPr id="9" name="Tarjeta"/>
          <p:cNvSpPr/>
          <p:nvPr/>
        </p:nvSpPr>
        <p:spPr>
          <a:xfrm>
            <a:off x="4368698" y="1600200"/>
            <a:ext cx="3454298" cy="3566160"/>
          </a:xfrm>
          <a:prstGeom prst="roundRect">
            <a:avLst>
              <a:gd name="adj" fmla="val 3971"/>
            </a:avLst>
          </a:prstGeom>
          <a:solidFill>
            <a:schemeClr val="bg2"/>
          </a:solidFill>
          <a:ln/>
        </p:spPr>
      </p:sp>
      <p:sp>
        <p:nvSpPr>
          <p:cNvPr id="10" name="Pregunta"/>
          <p:cNvSpPr/>
          <p:nvPr/>
        </p:nvSpPr>
        <p:spPr>
          <a:xfrm>
            <a:off x="5501488" y="1965960"/>
            <a:ext cx="1188720" cy="1188720"/>
          </a:xfrm>
          <a:prstGeom prst="ellipse">
            <a:avLst/>
          </a:prstGeom>
          <a:solidFill>
            <a:schemeClr val="tx2"/>
          </a:solidFill>
          <a:ln/>
        </p:spPr>
      </p:sp>
      <p:pic>
        <p:nvPicPr>
          <p:cNvPr id="11" name="Image 1" descr="Pregunta"/>
          <p:cNvPicPr>
            <a:picLocks noChangeAspect="1"/>
          </p:cNvPicPr>
          <p:nvPr/>
        </p:nvPicPr>
        <p:blipFill>
          <a:blip r:embed="rId4"/>
          <a:stretch>
            <a:fillRect/>
          </a:stretch>
        </p:blipFill>
        <p:spPr>
          <a:xfrm>
            <a:off x="5786780" y="2251253"/>
            <a:ext cx="618134" cy="618134"/>
          </a:xfrm>
          <a:prstGeom prst="rect">
            <a:avLst/>
          </a:prstGeom>
        </p:spPr>
      </p:pic>
      <p:sp>
        <p:nvSpPr>
          <p:cNvPr id="12" name="Text 8"/>
          <p:cNvSpPr txBox="1"/>
          <p:nvPr/>
        </p:nvSpPr>
        <p:spPr>
          <a:xfrm>
            <a:off x="4688738" y="3429000"/>
            <a:ext cx="2814218" cy="1554480"/>
          </a:xfrm>
          <a:prstGeom prst="rect">
            <a:avLst/>
          </a:prstGeom>
          <a:noFill/>
          <a:ln/>
        </p:spPr>
        <p:txBody>
          <a:bodyPr wrap="square" lIns="0" tIns="0" rIns="0" bIns="0" rtlCol="0" anchor="t"/>
          <a:lstStyle/>
          <a:p>
            <a:pPr marL="0" indent="0" algn="ctr">
              <a:buNone/>
            </a:pPr>
            <a:r>
              <a:rPr lang="en-US" sz="2400" dirty="0">
                <a:solidFill>
                  <a:schemeClr val="tx1"/>
                </a:solidFill>
              </a:rPr>
              <a:t>¿Las combinaciones han mejorado las ideas de partida?</a:t>
            </a:r>
            <a:endParaRPr lang="en-US" sz="2400" dirty="0"/>
          </a:p>
        </p:txBody>
      </p:sp>
      <p:sp>
        <p:nvSpPr>
          <p:cNvPr id="13" name="Tarjeta"/>
          <p:cNvSpPr/>
          <p:nvPr/>
        </p:nvSpPr>
        <p:spPr>
          <a:xfrm>
            <a:off x="8188757" y="1600200"/>
            <a:ext cx="3454298" cy="3566160"/>
          </a:xfrm>
          <a:prstGeom prst="roundRect">
            <a:avLst>
              <a:gd name="adj" fmla="val 3971"/>
            </a:avLst>
          </a:prstGeom>
          <a:solidFill>
            <a:schemeClr val="bg2"/>
          </a:solidFill>
          <a:ln/>
        </p:spPr>
      </p:sp>
      <p:sp>
        <p:nvSpPr>
          <p:cNvPr id="14" name="Pregunta"/>
          <p:cNvSpPr/>
          <p:nvPr/>
        </p:nvSpPr>
        <p:spPr>
          <a:xfrm>
            <a:off x="9321546" y="1965960"/>
            <a:ext cx="1188720" cy="1188720"/>
          </a:xfrm>
          <a:prstGeom prst="ellipse">
            <a:avLst/>
          </a:prstGeom>
          <a:solidFill>
            <a:schemeClr val="tx2"/>
          </a:solidFill>
          <a:ln/>
        </p:spPr>
      </p:sp>
      <p:pic>
        <p:nvPicPr>
          <p:cNvPr id="15" name="Image 2" descr="Pregunta"/>
          <p:cNvPicPr>
            <a:picLocks noChangeAspect="1"/>
          </p:cNvPicPr>
          <p:nvPr/>
        </p:nvPicPr>
        <p:blipFill>
          <a:blip r:embed="rId5"/>
          <a:stretch>
            <a:fillRect/>
          </a:stretch>
        </p:blipFill>
        <p:spPr>
          <a:xfrm>
            <a:off x="9606839" y="2251253"/>
            <a:ext cx="618134" cy="618134"/>
          </a:xfrm>
          <a:prstGeom prst="rect">
            <a:avLst/>
          </a:prstGeom>
        </p:spPr>
      </p:pic>
      <p:sp>
        <p:nvSpPr>
          <p:cNvPr id="16" name="Text 11"/>
          <p:cNvSpPr txBox="1"/>
          <p:nvPr/>
        </p:nvSpPr>
        <p:spPr>
          <a:xfrm>
            <a:off x="8508797" y="3429000"/>
            <a:ext cx="2814218" cy="1554480"/>
          </a:xfrm>
          <a:prstGeom prst="rect">
            <a:avLst/>
          </a:prstGeom>
          <a:noFill/>
          <a:ln/>
        </p:spPr>
        <p:txBody>
          <a:bodyPr wrap="square" lIns="0" tIns="0" rIns="0" bIns="0" rtlCol="0" anchor="t"/>
          <a:lstStyle/>
          <a:p>
            <a:pPr marL="0" indent="0" algn="ctr">
              <a:buNone/>
            </a:pPr>
            <a:r>
              <a:rPr lang="en-US" sz="2400" dirty="0">
                <a:solidFill>
                  <a:schemeClr val="tx1"/>
                </a:solidFill>
              </a:rPr>
              <a:t>¿Qué propuestas podrían aplicarse con pocos recursos?</a:t>
            </a:r>
            <a:endParaRPr lang="en-US" sz="2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1097280" y="1097280"/>
            <a:ext cx="7315200" cy="457200"/>
          </a:xfrm>
          <a:prstGeom prst="rect">
            <a:avLst/>
          </a:prstGeom>
          <a:noFill/>
          <a:ln/>
        </p:spPr>
        <p:txBody>
          <a:bodyPr wrap="square" lIns="0" tIns="0" rIns="0" bIns="0" rtlCol="0" anchor="ctr"/>
          <a:lstStyle/>
          <a:p>
            <a:pPr marL="0" indent="0">
              <a:buNone/>
            </a:pPr>
            <a:r>
              <a:rPr lang="en-US" sz="1800" b="1" dirty="0">
                <a:solidFill>
                  <a:schemeClr val="accent1"/>
                </a:solidFill>
              </a:rPr>
              <a:t>Idea clave del bloque 1</a:t>
            </a:r>
            <a:endParaRPr lang="en-US" sz="1800" dirty="0"/>
          </a:p>
        </p:txBody>
      </p:sp>
      <p:sp>
        <p:nvSpPr>
          <p:cNvPr id="3" name="Text 0"/>
          <p:cNvSpPr>
            <a:spLocks noGrp="1"/>
          </p:cNvSpPr>
          <p:nvPr>
            <p:ph type="body" idx="100" hasCustomPrompt="1"/>
          </p:nvPr>
        </p:nvSpPr>
        <p:spPr>
          <a:xfrm>
            <a:off x="1097280" y="1554480"/>
            <a:ext cx="9966960" cy="3108960"/>
          </a:xfrm>
          <a:prstGeom prst="rect">
            <a:avLst/>
          </a:prstGeom>
          <a:noFill/>
          <a:ln/>
        </p:spPr>
        <p:txBody>
          <a:bodyPr wrap="square" lIns="0" tIns="0" rIns="0" bIns="0" rtlCol="0" anchor="ctr"/>
          <a:lstStyle/>
          <a:p>
            <a:pPr marL="0" indent="0">
              <a:buNone/>
            </a:pPr>
            <a:r>
              <a:rPr lang="en-US" sz="3400" dirty="0">
                <a:solidFill>
                  <a:schemeClr val="bg1"/>
                </a:solidFill>
              </a:rPr>
              <a:t>La creatividad produce posibilidades.</a:t>
            </a:r>
            <a:endParaRPr lang="en-US" sz="3400" dirty="0"/>
          </a:p>
          <a:p>
            <a:pPr marL="0" indent="0">
              <a:buNone/>
            </a:pPr>
            <a:r>
              <a:rPr lang="en-US" sz="3400" dirty="0">
                <a:solidFill>
                  <a:schemeClr val="accent1"/>
                </a:solidFill>
              </a:rPr>
              <a:t>La innovación exige elegirlas, probarlas y convertirlas en mejoras reales.</a:t>
            </a:r>
            <a:endParaRPr lang="en-US" sz="3400" dirty="0"/>
          </a:p>
        </p:txBody>
      </p:sp>
      <p:sp>
        <p:nvSpPr>
          <p:cNvPr id="25" name="Slide Number Placeholder 0"/>
          <p:cNvSpPr>
            <a:spLocks noGrp="1"/>
          </p:cNvSpPr>
          <p:nvPr>
            <p:ph type="sldNum" sz="quarter" idx="4294967295"/>
          </p:nvPr>
        </p:nvSpPr>
        <p:spPr>
          <a:xfrm>
            <a:off x="11091672" y="6355080"/>
            <a:ext cx="548640" cy="32004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A94A6"/>
                </a:solidFill>
              </a:defRPr>
            </a:lvl1pPr>
          </a:lstStyle>
          <a:p>
            <a:pPr algn="r"/>
            <a:fld id="{F7021451-1387-4CA6-816F-3879F97B5CBC}" type="slidenum">
              <a:rPr lang="en-US" b="0"/>
              <a:t>29</a:t>
            </a:fld>
            <a:endParaRPr lang="en-US"/>
          </a:p>
        </p:txBody>
      </p:sp>
    </p:spTree>
  </p:cSld>
  <p:clrMapOvr>
    <a:masterClrMapping/>
  </p:clrMapOvr>
</p:sld>
</file>

<file path=ppt/theme/theme1.xml><?xml version="1.0" encoding="utf-8"?>
<a:theme xmlns:a="http://schemas.openxmlformats.org/drawingml/2006/main" name="Creatividad, ofimática e IA">
  <a:themeElements>
    <a:clrScheme name="Creatividad, ofimática e IA">
      <a:dk1>
        <a:srgbClr val="1F2A44"/>
      </a:dk1>
      <a:lt1>
        <a:srgbClr val="FFFFFF"/>
      </a:lt1>
      <a:dk2>
        <a:srgbClr val="3A4664"/>
      </a:dk2>
      <a:lt2>
        <a:srgbClr val="F2F4F8"/>
      </a:lt2>
      <a:accent1>
        <a:srgbClr val="F4A300"/>
      </a:accent1>
      <a:accent2>
        <a:srgbClr val="0F7C70"/>
      </a:accent2>
      <a:accent3>
        <a:srgbClr val="D64933"/>
      </a:accent3>
      <a:accent4>
        <a:srgbClr val="6C5CE7"/>
      </a:accent4>
      <a:accent5>
        <a:srgbClr val="8A94A6"/>
      </a:accent5>
      <a:accent6>
        <a:srgbClr val="2D6A4F"/>
      </a:accent6>
      <a:hlink>
        <a:srgbClr val="0F7C70"/>
      </a:hlink>
      <a:folHlink>
        <a:srgbClr val="6C5CE7"/>
      </a:folHlink>
    </a:clrScheme>
    <a:fontScheme name="Creatividad, ofimática e I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289</TotalTime>
  <Words>3278</Words>
  <Application>Microsoft Office PowerPoint</Application>
  <PresentationFormat>Panorámica</PresentationFormat>
  <Paragraphs>376</Paragraphs>
  <Slides>29</Slides>
  <Notes>29</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29</vt:i4>
      </vt:variant>
    </vt:vector>
  </HeadingPairs>
  <TitlesOfParts>
    <vt:vector size="33" baseType="lpstr">
      <vt:lpstr>Arial</vt:lpstr>
      <vt:lpstr>Calibri</vt:lpstr>
      <vt:lpstr>Courier New</vt:lpstr>
      <vt:lpstr>Creatividad, ofimática e IA</vt:lpstr>
      <vt:lpstr>Creatividad, ofimática e IA</vt:lpstr>
      <vt:lpstr>Activación de la creatividad y brainstorming</vt:lpstr>
      <vt:lpstr>Qué vamos a hacer en este bloque</vt:lpstr>
      <vt:lpstr>Presentación de PowerPoint</vt:lpstr>
      <vt:lpstr>¿Habéis visto alguna mejora?</vt:lpstr>
      <vt:lpstr>Tres conceptos que no son lo mismo</vt:lpstr>
      <vt:lpstr>Actividad: ¿qué es cada situación?</vt:lpstr>
      <vt:lpstr>Situación 1 de 6</vt:lpstr>
      <vt:lpstr>Situación 2 de 6</vt:lpstr>
      <vt:lpstr>Situación 3 de 6</vt:lpstr>
      <vt:lpstr>Situación 4 de 6</vt:lpstr>
      <vt:lpstr>Situación 5 de 6</vt:lpstr>
      <vt:lpstr>Situación 6 de 6</vt:lpstr>
      <vt:lpstr>Criterio para resolver las dudas</vt:lpstr>
      <vt:lpstr>¿Para qué se podría usar un clip?</vt:lpstr>
      <vt:lpstr>Y ahora, elegimos uno</vt:lpstr>
      <vt:lpstr>No vendemos el clip: vendemos su idea</vt:lpstr>
      <vt:lpstr>Primero abrir, después cerrar</vt:lpstr>
      <vt:lpstr>La regla de todo el curso</vt:lpstr>
      <vt:lpstr>Misma herramienta, mismo resultado</vt:lpstr>
      <vt:lpstr>Nuestro ejemplo: una peluquería de barrio</vt:lpstr>
      <vt:lpstr>Brainstorming: cuatro reglas</vt:lpstr>
      <vt:lpstr>Ejemplo: brainstorming en la peluquería</vt:lpstr>
      <vt:lpstr>Ejercicio 1: brainstorming entre todos</vt:lpstr>
      <vt:lpstr>Ronda con IA: el prompt</vt:lpstr>
      <vt:lpstr>Segundo prompt: combinar ideas</vt:lpstr>
      <vt:lpstr>Votad las tres ideas más originales</vt:lpstr>
      <vt:lpstr>¿Qué ha aportado la IA?</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Bloque 1. Activación de la creatividad y brainstorming</dc:title>
  <dc:subject>Desarrollo de las habilidades creativas e innovadoras con herramientas ofimáticas y de inteligencia artificial</dc:subject>
  <dc:creator>PptxGenJS</dc:creator>
  <cp:lastModifiedBy>Javier Nieto</cp:lastModifiedBy>
  <cp:revision>5</cp:revision>
  <dcterms:created xsi:type="dcterms:W3CDTF">2026-10-17T13:29:48Z</dcterms:created>
  <dcterms:modified xsi:type="dcterms:W3CDTF">2026-10-17T18:56:14Z</dcterms:modified>
</cp:coreProperties>
</file>