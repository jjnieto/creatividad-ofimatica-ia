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85" r:id="rId36"/>
    <p:sldId id="264" r:id="rId10"/>
    <p:sldId id="286" r:id="rId37"/>
    <p:sldId id="265" r:id="rId11"/>
    <p:sldId id="287" r:id="rId38"/>
    <p:sldId id="266" r:id="rId12"/>
    <p:sldId id="288" r:id="rId39"/>
    <p:sldId id="267" r:id="rId13"/>
    <p:sldId id="289" r:id="rId40"/>
    <p:sldId id="268" r:id="rId14"/>
    <p:sldId id="290" r:id="rId41"/>
    <p:sldId id="269" r:id="rId15"/>
    <p:sldId id="270" r:id="rId16"/>
    <p:sldId id="271" r:id="rId17"/>
    <p:sldId id="272" r:id="rId18"/>
    <p:sldId id="273" r:id="rId19"/>
    <p:sldId id="274" r:id="rId20"/>
    <p:sldId id="284" r:id="rId21"/>
    <p:sldId id="275" r:id="rId22"/>
    <p:sldId id="276" r:id="rId23"/>
    <p:sldId id="277" r:id="rId24"/>
    <p:sldId id="278" r:id="rId25"/>
    <p:sldId id="279" r:id="rId26"/>
    <p:sldId id="280" r:id="rId27"/>
    <p:sldId id="281" r:id="rId28"/>
    <p:sldId id="282" r:id="rId29"/>
    <p:sldId id="283"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285"/>
            <p14:sldId id="264"/>
            <p14:sldId id="286"/>
            <p14:sldId id="265"/>
            <p14:sldId id="287"/>
            <p14:sldId id="266"/>
            <p14:sldId id="288"/>
            <p14:sldId id="267"/>
            <p14:sldId id="289"/>
            <p14:sldId id="268"/>
            <p14:sldId id="290"/>
            <p14:sldId id="269"/>
          </p14:sldIdLst>
        </p14:section>
        <p14:section name="Divergir y converger" id="{F5AF64DA-B1F4-A1A7-7800-38EEFB65567B}">
          <p14:sldIdLst>
            <p14:sldId id="270"/>
            <p14:sldId id="271"/>
            <p14:sldId id="272"/>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279"/>
            <p14:sldId id="280"/>
          </p14:sldIdLst>
        </p14:section>
        <p14:section name="Comparación y cierre" id="{8494F538-1684-8C82-F4E5-EDE3625627DF}">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6" d="100"/>
          <a:sy n="86" d="100"/>
        </p:scale>
        <p:origin x="94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endParaRPr/>
          </a:p>
          <a:p>
            <a:r>
              <a:t>Hay un programa para crear videojuegos, Unreal Engine 5, que lo hace casi todo solo: la luz, las sombras, los reflejos, el detalle de cada objeto. Con él, una persona desde su casa puede hacer un juego que parece de un gran estudio.</a:t>
            </a:r>
          </a:p>
          <a:p>
            <a:endParaRPr/>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endParaRPr/>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endParaRPr/>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endParaRPr/>
          </a:p>
          <a:p>
            <a:r>
              <a:t>Cuidado: no afirmar que la IA es peor que las personas. El argumento es que, si todos usamos la misma herramienta, todos acabamos haciendo lo mismo. Así no se adelanta la conclusión de la comparación del Ejercicio 1.</a:t>
            </a:r>
          </a:p>
          <a:p>
            <a:endParaRPr/>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1: creatividad. Es una idea nueva y útil, pero todavía no se ha puesto en práctica.</a:t>
            </a:r>
          </a:p>
          <a:p/>
          <a:p>
            <a:r>
              <a:t>Criterio para resolver las dudas: ¿es solo una idea o ya se ha puesto en práctica? ¿Aporta valor?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2: innovación. La idea se ha puesto en práctica y aporta valor: las esperas se reducen.</a:t>
            </a:r>
          </a:p>
          <a:p/>
          <a:p>
            <a:r>
              <a:t>Criterio para resolver las dudas: ¿es solo una idea o ya se ha puesto en práctica? ¿Aporta valor?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3: competencia digital. Usa una herramienta digital para hacer bien su tarea, pero no cambia cómo se trabaja.</a:t>
            </a:r>
          </a:p>
          <a:p/>
          <a:p>
            <a:r>
              <a:t>Criterio para resolver las dudas: ¿es solo una idea o ya se ha puesto en práctica? ¿Aporta valor?</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4: innovación. Es un cambio ya puesto en práctica que aporta valor: el cliente está informado y el taller recibe menos llamadas.</a:t>
            </a:r>
          </a:p>
          <a:p/>
          <a:p>
            <a:r>
              <a:t>Criterio para resolver las dudas: ¿es solo una idea o ya se ha puesto en práctica? ¿Aporta valor?</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5: creatividad. Por ahora es solo una idea. Si se pone en práctica y funciona, pasa a ser innovación. Es discutible a propósito: si hay votos repartidos, que cada opción explique su razonamiento.</a:t>
            </a:r>
          </a:p>
          <a:p/>
          <a:p>
            <a:r>
              <a:t>Criterio para resolver las dudas: ¿es solo una idea o ya se ha puesto en práctica? ¿Aporta valor?</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6: competencia digital. Usa la IA para una tarea concreta, sin cambiar cómo se atiende. Sería innovación si cambiara la forma de atender a los clientes extranjeros. Es discutible a propósito: si hay votos repartidos, que cada opción explique su razonamiento.</a:t>
            </a:r>
          </a:p>
          <a:p/>
          <a:p>
            <a:r>
              <a:t>Criterio para resolver las dudas: ¿es solo una idea o ya se ha puesto en práctica? ¿Aporta valor?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4.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4.xml"/><Relationship Id="rId1" Type="http://schemas.openxmlformats.org/officeDocument/2006/relationships/slideLayout" Target="../slideLayouts/slideLayout4.xml"/><Relationship Id="rId5" Type="http://schemas.openxmlformats.org/officeDocument/2006/relationships/image" Target="../media/image34.png"/><Relationship Id="rId4" Type="http://schemas.openxmlformats.org/officeDocument/2006/relationships/image" Target="../media/image3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4.xml"/><Relationship Id="rId5" Type="http://schemas.openxmlformats.org/officeDocument/2006/relationships/image" Target="../media/image35.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4.xml"/><Relationship Id="rId5" Type="http://schemas.openxmlformats.org/officeDocument/2006/relationships/image" Target="../media/image38.png"/><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Votad con los dedos: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De 2 a 3 </a:t>
            </a:r>
            <a:r>
              <a:rPr lang="en-US" sz="2400" dirty="0" err="1">
                <a:solidFill>
                  <a:schemeClr val="tx1"/>
                </a:solidFill>
              </a:rPr>
              <a:t>minutos</a:t>
            </a:r>
            <a:r>
              <a:rPr lang="en-US" sz="2400" dirty="0">
                <a:solidFill>
                  <a:schemeClr val="tx1"/>
                </a:solidFill>
              </a:rPr>
              <a:t>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20</a:t>
            </a:fld>
            <a:endParaRPr lang="en-US"/>
          </a:p>
        </p:txBody>
      </p:sp>
      <p:sp>
        <p:nvSpPr>
          <p:cNvPr id="6" name="Text 0">
            <a:extLst>
              <a:ext uri="{FF2B5EF4-FFF2-40B4-BE49-F238E27FC236}">
                <a16:creationId xmlns:a16="http://schemas.microsoft.com/office/drawing/2014/main" id="{A283B16A-A781-DFDA-EEC3-BD382FEE5646}"/>
              </a:ext>
            </a:extLst>
          </p:cNvPr>
          <p:cNvSpPr txBox="1">
            <a:spLocks/>
          </p:cNvSpPr>
          <p:nvPr/>
        </p:nvSpPr>
        <p:spPr>
          <a:xfrm>
            <a:off x="868309" y="2994660"/>
            <a:ext cx="11094415" cy="77724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1"/>
                </a:solidFill>
                <a:latin typeface="+mj-lt"/>
                <a:ea typeface="+mj-ea"/>
                <a:cs typeface="+mj-cs"/>
              </a:defRPr>
            </a:lvl1pPr>
          </a:lstStyle>
          <a:p>
            <a:r>
              <a:rPr lang="es-ES" dirty="0"/>
              <a:t>Ver casos:</a:t>
            </a:r>
            <a:br>
              <a:rPr lang="es-ES" dirty="0"/>
            </a:br>
            <a:r>
              <a:rPr lang="es-ES" dirty="0" err="1"/>
              <a:t>Unreal</a:t>
            </a:r>
            <a:r>
              <a:rPr lang="es-ES" dirty="0"/>
              <a:t> </a:t>
            </a:r>
            <a:r>
              <a:rPr lang="es-ES" dirty="0" err="1"/>
              <a:t>Engine</a:t>
            </a:r>
            <a:r>
              <a:rPr lang="es-ES" dirty="0"/>
              <a:t> 5 y Relatos cortos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de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una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tuyas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513832" cy="310896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a:t>
            </a:fld>
            <a:endParaRPr lang="en-US"/>
          </a:p>
        </p:txBody>
      </p:sp>
      <p:sp>
        <p:nvSpPr>
          <p:cNvPr id="26" name="Situación"/>
          <p:cNvSpPr txBox="1"/>
          <p:nvPr/>
        </p:nvSpPr>
        <p:spPr>
          <a:xfrm>
            <a:off x="548640" y="1325880"/>
            <a:ext cx="11094415" cy="685800"/>
          </a:xfrm>
          <a:prstGeom prst="rect">
            <a:avLst/>
          </a:prstGeom>
          <a:noFill/>
        </p:spPr>
        <p:txBody>
          <a:bodyPr wrap="square" anchor="ctr" lIns="0" rIns="0" tIns="0" bIns="0">
            <a:spAutoFit/>
          </a:bodyPr>
          <a:lstStyle/>
          <a:p>
            <a:r>
              <a:rPr sz="1800" b="0" i="1">
                <a:solidFill>
                  <a:schemeClr val="tx2"/>
                </a:solidFill>
              </a:rPr>
              <a:t>«Una dependienta propone en una reunión que los clientes puedan reservar por WhatsApp.»</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úmero de la opción"/>
          <p:cNvSpPr txBox="1"/>
          <p:nvPr/>
        </p:nvSpPr>
        <p:spPr>
          <a:xfrm>
            <a:off x="868680" y="2377440"/>
            <a:ext cx="1097280" cy="1097280"/>
          </a:xfrm>
          <a:prstGeom prst="rect">
            <a:avLst/>
          </a:prstGeom>
          <a:noFill/>
        </p:spPr>
        <p:txBody>
          <a:bodyPr wrap="square" anchor="ctr" lIns="0" rIns="0" tIns="0" bIns="0">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anchor="ctr" lIns="0" rIns="0" tIns="0" bIns="0">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xplicación"/>
          <p:cNvSpPr txBox="1"/>
          <p:nvPr/>
        </p:nvSpPr>
        <p:spPr>
          <a:xfrm>
            <a:off x="914400" y="3931920"/>
            <a:ext cx="10362895" cy="1600200"/>
          </a:xfrm>
          <a:prstGeom prst="rect">
            <a:avLst/>
          </a:prstGeom>
          <a:noFill/>
        </p:spPr>
        <p:txBody>
          <a:bodyPr wrap="square" anchor="ctr" lIns="0" rIns="0" tIns="0" bIns="0">
            <a:spAutoFit/>
          </a:bodyPr>
          <a:lstStyle/>
          <a:p>
            <a:r>
              <a:rPr sz="1600" b="1" i="0">
                <a:solidFill>
                  <a:schemeClr val="tx2"/>
                </a:solidFill>
              </a:rPr>
              <a:t>Por qué</a:t>
            </a:r>
          </a:p>
          <a:p>
            <a:pPr>
              <a:spcBef>
                <a:spcPts val="600"/>
              </a:spcBef>
            </a:pPr>
            <a:r>
              <a:rPr sz="2200" b="0" i="0">
                <a:solidFill>
                  <a:schemeClr val="tx1"/>
                </a:solidFill>
              </a:rPr>
              <a:t>Es una idea nueva y útil, pero todavía no se ha puesto en práctica.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a:t>
            </a:fld>
            <a:endParaRPr lang="en-US"/>
          </a:p>
        </p:txBody>
      </p:sp>
      <p:sp>
        <p:nvSpPr>
          <p:cNvPr id="26" name="Situación"/>
          <p:cNvSpPr txBox="1"/>
          <p:nvPr/>
        </p:nvSpPr>
        <p:spPr>
          <a:xfrm>
            <a:off x="548640" y="1325880"/>
            <a:ext cx="11094415" cy="685800"/>
          </a:xfrm>
          <a:prstGeom prst="rect">
            <a:avLst/>
          </a:prstGeom>
          <a:noFill/>
        </p:spPr>
        <p:txBody>
          <a:bodyPr wrap="square" anchor="ctr" lIns="0" rIns="0" tIns="0" bIns="0">
            <a:spAutoFit/>
          </a:bodyPr>
          <a:lstStyle/>
          <a:p>
            <a:r>
              <a:rPr sz="1800" b="0" i="1">
                <a:solidFill>
                  <a:schemeClr val="tx2"/>
                </a:solidFill>
              </a:rPr>
              <a:t>«La tienda pone en marcha las reservas por WhatsApp y las esperas se reducen.»</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úmero de la opción"/>
          <p:cNvSpPr txBox="1"/>
          <p:nvPr/>
        </p:nvSpPr>
        <p:spPr>
          <a:xfrm>
            <a:off x="868680" y="2377440"/>
            <a:ext cx="1097280" cy="1097280"/>
          </a:xfrm>
          <a:prstGeom prst="rect">
            <a:avLst/>
          </a:prstGeom>
          <a:noFill/>
        </p:spPr>
        <p:txBody>
          <a:bodyPr wrap="square" anchor="ctr" lIns="0" rIns="0" tIns="0" bIns="0">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anchor="ctr" lIns="0" rIns="0" tIns="0" bIns="0">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xplicación"/>
          <p:cNvSpPr txBox="1"/>
          <p:nvPr/>
        </p:nvSpPr>
        <p:spPr>
          <a:xfrm>
            <a:off x="914400" y="3931920"/>
            <a:ext cx="10362895" cy="1600200"/>
          </a:xfrm>
          <a:prstGeom prst="rect">
            <a:avLst/>
          </a:prstGeom>
          <a:noFill/>
        </p:spPr>
        <p:txBody>
          <a:bodyPr wrap="square" anchor="ctr" lIns="0" rIns="0" tIns="0" bIns="0">
            <a:spAutoFit/>
          </a:bodyPr>
          <a:lstStyle/>
          <a:p>
            <a:r>
              <a:rPr sz="1600" b="1" i="0">
                <a:solidFill>
                  <a:schemeClr val="tx2"/>
                </a:solidFill>
              </a:rPr>
              <a:t>Por qué</a:t>
            </a:r>
          </a:p>
          <a:p>
            <a:pPr>
              <a:spcBef>
                <a:spcPts val="600"/>
              </a:spcBef>
            </a:pPr>
            <a:r>
              <a:rPr sz="2200" b="0" i="0">
                <a:solidFill>
                  <a:schemeClr val="tx1"/>
                </a:solidFill>
              </a:rPr>
              <a:t>La idea se ha puesto en práctica y aporta valor: las esperas se reducen.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a:t>
            </a:fld>
            <a:endParaRPr lang="en-US"/>
          </a:p>
        </p:txBody>
      </p:sp>
      <p:sp>
        <p:nvSpPr>
          <p:cNvPr id="26" name="Situación"/>
          <p:cNvSpPr txBox="1"/>
          <p:nvPr/>
        </p:nvSpPr>
        <p:spPr>
          <a:xfrm>
            <a:off x="548640" y="1325880"/>
            <a:ext cx="11094415" cy="685800"/>
          </a:xfrm>
          <a:prstGeom prst="rect">
            <a:avLst/>
          </a:prstGeom>
          <a:noFill/>
        </p:spPr>
        <p:txBody>
          <a:bodyPr wrap="square" anchor="ctr" lIns="0" rIns="0" tIns="0" bIns="0">
            <a:spAutoFit/>
          </a:bodyPr>
          <a:lstStyle/>
          <a:p>
            <a:r>
              <a:rPr sz="1800" b="0" i="1">
                <a:solidFill>
                  <a:schemeClr val="tx2"/>
                </a:solidFill>
              </a:rPr>
              <a:t>«Un administrativo usa una tabla dinámica para resumir las ventas del mes.»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úmero de la opción"/>
          <p:cNvSpPr txBox="1"/>
          <p:nvPr/>
        </p:nvSpPr>
        <p:spPr>
          <a:xfrm>
            <a:off x="868680" y="2377440"/>
            <a:ext cx="1097280" cy="1097280"/>
          </a:xfrm>
          <a:prstGeom prst="rect">
            <a:avLst/>
          </a:prstGeom>
          <a:noFill/>
        </p:spPr>
        <p:txBody>
          <a:bodyPr wrap="square" anchor="ctr" lIns="0" rIns="0" tIns="0" bIns="0">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anchor="ctr" lIns="0" rIns="0" tIns="0" bIns="0">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xplicación"/>
          <p:cNvSpPr txBox="1"/>
          <p:nvPr/>
        </p:nvSpPr>
        <p:spPr>
          <a:xfrm>
            <a:off x="914400" y="3931920"/>
            <a:ext cx="10362895" cy="1600200"/>
          </a:xfrm>
          <a:prstGeom prst="rect">
            <a:avLst/>
          </a:prstGeom>
          <a:noFill/>
        </p:spPr>
        <p:txBody>
          <a:bodyPr wrap="square" anchor="ctr" lIns="0" rIns="0" tIns="0" bIns="0">
            <a:spAutoFit/>
          </a:bodyPr>
          <a:lstStyle/>
          <a:p>
            <a:r>
              <a:rPr sz="1600" b="1" i="0">
                <a:solidFill>
                  <a:schemeClr val="tx2"/>
                </a:solidFill>
              </a:rPr>
              <a:t>Por qué</a:t>
            </a:r>
          </a:p>
          <a:p>
            <a:pPr>
              <a:spcBef>
                <a:spcPts val="600"/>
              </a:spcBef>
            </a:pPr>
            <a:r>
              <a:rPr sz="2200" b="0" i="0">
                <a:solidFill>
                  <a:schemeClr val="tx1"/>
                </a:solidFill>
              </a:rPr>
              <a:t>Usa una herramienta digital para hacer bien su tarea, pero no cambia cómo se trabaja.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11</a:t>
            </a:fld>
            <a:endParaRPr lang="en-US"/>
          </a:p>
        </p:txBody>
      </p:sp>
      <p:sp>
        <p:nvSpPr>
          <p:cNvPr id="26" name="Situación"/>
          <p:cNvSpPr txBox="1"/>
          <p:nvPr/>
        </p:nvSpPr>
        <p:spPr>
          <a:xfrm>
            <a:off x="548640" y="1325880"/>
            <a:ext cx="11094415" cy="685800"/>
          </a:xfrm>
          <a:prstGeom prst="rect">
            <a:avLst/>
          </a:prstGeom>
          <a:noFill/>
        </p:spPr>
        <p:txBody>
          <a:bodyPr wrap="square" anchor="ctr" lIns="0" rIns="0" tIns="0" bIns="0">
            <a:spAutoFit/>
          </a:bodyPr>
          <a:lstStyle/>
          <a:p>
            <a:r>
              <a:rPr sz="1800" b="0" i="1">
                <a:solidFill>
                  <a:schemeClr val="tx2"/>
                </a:solidFill>
              </a:rPr>
              <a:t>«Un taller empieza a enviar al cliente fotos del coche a medida que lo repara y recibe menos llamadas preguntando.»</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úmero de la opción"/>
          <p:cNvSpPr txBox="1"/>
          <p:nvPr/>
        </p:nvSpPr>
        <p:spPr>
          <a:xfrm>
            <a:off x="868680" y="2377440"/>
            <a:ext cx="1097280" cy="1097280"/>
          </a:xfrm>
          <a:prstGeom prst="rect">
            <a:avLst/>
          </a:prstGeom>
          <a:noFill/>
        </p:spPr>
        <p:txBody>
          <a:bodyPr wrap="square" anchor="ctr" lIns="0" rIns="0" tIns="0" bIns="0">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anchor="ctr" lIns="0" rIns="0" tIns="0" bIns="0">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xplicación"/>
          <p:cNvSpPr txBox="1"/>
          <p:nvPr/>
        </p:nvSpPr>
        <p:spPr>
          <a:xfrm>
            <a:off x="914400" y="3931920"/>
            <a:ext cx="10362895" cy="1600200"/>
          </a:xfrm>
          <a:prstGeom prst="rect">
            <a:avLst/>
          </a:prstGeom>
          <a:noFill/>
        </p:spPr>
        <p:txBody>
          <a:bodyPr wrap="square" anchor="ctr" lIns="0" rIns="0" tIns="0" bIns="0">
            <a:spAutoFit/>
          </a:bodyPr>
          <a:lstStyle/>
          <a:p>
            <a:r>
              <a:rPr sz="1600" b="1" i="0">
                <a:solidFill>
                  <a:schemeClr val="tx2"/>
                </a:solidFill>
              </a:rPr>
              <a:t>Por qué</a:t>
            </a:r>
          </a:p>
          <a:p>
            <a:pPr>
              <a:spcBef>
                <a:spcPts val="600"/>
              </a:spcBef>
            </a:pPr>
            <a:r>
              <a:rPr sz="2200" b="0" i="0">
                <a:solidFill>
                  <a:schemeClr val="tx1"/>
                </a:solidFill>
              </a:rPr>
              <a:t>Es un cambio ya puesto en práctica que aporta valor: el cliente está informado y el taller recibe menos llamadas.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12</a:t>
            </a:fld>
            <a:endParaRPr lang="en-US"/>
          </a:p>
        </p:txBody>
      </p:sp>
      <p:sp>
        <p:nvSpPr>
          <p:cNvPr id="26" name="Situación"/>
          <p:cNvSpPr txBox="1"/>
          <p:nvPr/>
        </p:nvSpPr>
        <p:spPr>
          <a:xfrm>
            <a:off x="548640" y="1325880"/>
            <a:ext cx="11094415" cy="685800"/>
          </a:xfrm>
          <a:prstGeom prst="rect">
            <a:avLst/>
          </a:prstGeom>
          <a:noFill/>
        </p:spPr>
        <p:txBody>
          <a:bodyPr wrap="square" anchor="ctr" lIns="0" rIns="0" tIns="0" bIns="0">
            <a:spAutoFit/>
          </a:bodyPr>
          <a:lstStyle/>
          <a:p>
            <a:r>
              <a:rPr sz="1800" b="0" i="1">
                <a:solidFill>
                  <a:schemeClr val="tx2"/>
                </a:solidFill>
              </a:rPr>
              <a:t>«A un empleado se le ocurre usar las cajas de los pedidos como expositor en el mostrador.»</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úmero de la opción"/>
          <p:cNvSpPr txBox="1"/>
          <p:nvPr/>
        </p:nvSpPr>
        <p:spPr>
          <a:xfrm>
            <a:off x="868680" y="2377440"/>
            <a:ext cx="1097280" cy="1097280"/>
          </a:xfrm>
          <a:prstGeom prst="rect">
            <a:avLst/>
          </a:prstGeom>
          <a:noFill/>
        </p:spPr>
        <p:txBody>
          <a:bodyPr wrap="square" anchor="ctr" lIns="0" rIns="0" tIns="0" bIns="0">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anchor="ctr" lIns="0" rIns="0" tIns="0" bIns="0">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xplicación"/>
          <p:cNvSpPr txBox="1"/>
          <p:nvPr/>
        </p:nvSpPr>
        <p:spPr>
          <a:xfrm>
            <a:off x="914400" y="3931920"/>
            <a:ext cx="10362895" cy="1600200"/>
          </a:xfrm>
          <a:prstGeom prst="rect">
            <a:avLst/>
          </a:prstGeom>
          <a:noFill/>
        </p:spPr>
        <p:txBody>
          <a:bodyPr wrap="square" anchor="ctr" lIns="0" rIns="0" tIns="0" bIns="0">
            <a:spAutoFit/>
          </a:bodyPr>
          <a:lstStyle/>
          <a:p>
            <a:r>
              <a:rPr sz="1600" b="1" i="0">
                <a:solidFill>
                  <a:schemeClr val="tx2"/>
                </a:solidFill>
              </a:rPr>
              <a:t>Por qué</a:t>
            </a:r>
          </a:p>
          <a:p>
            <a:pPr>
              <a:spcBef>
                <a:spcPts val="600"/>
              </a:spcBef>
            </a:pPr>
            <a:r>
              <a:rPr sz="2200" b="0" i="0">
                <a:solidFill>
                  <a:schemeClr val="tx1"/>
                </a:solidFill>
              </a:rPr>
              <a:t>Por ahora es solo una idea. Si se pone en práctica y funciona, pasa a ser innovación.</a:t>
            </a:r>
          </a:p>
        </p:txBody>
      </p:sp>
      <p:sp>
        <p:nvSpPr>
          <p:cNvPr id="33" name="Aviso"/>
          <p:cNvSpPr txBox="1"/>
          <p:nvPr/>
        </p:nvSpPr>
        <p:spPr>
          <a:xfrm>
            <a:off x="548640" y="5669280"/>
            <a:ext cx="11094415" cy="411480"/>
          </a:xfrm>
          <a:prstGeom prst="rect">
            <a:avLst/>
          </a:prstGeom>
          <a:noFill/>
        </p:spPr>
        <p:txBody>
          <a:bodyPr wrap="square" anchor="ctr" lIns="0" rIns="0" tIns="0" bIns="0">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13</a:t>
            </a:fld>
            <a:endParaRPr lang="en-US"/>
          </a:p>
        </p:txBody>
      </p:sp>
      <p:sp>
        <p:nvSpPr>
          <p:cNvPr id="26" name="Situación"/>
          <p:cNvSpPr txBox="1"/>
          <p:nvPr/>
        </p:nvSpPr>
        <p:spPr>
          <a:xfrm>
            <a:off x="548640" y="1325880"/>
            <a:ext cx="11094415" cy="685800"/>
          </a:xfrm>
          <a:prstGeom prst="rect">
            <a:avLst/>
          </a:prstGeom>
          <a:noFill/>
        </p:spPr>
        <p:txBody>
          <a:bodyPr wrap="square" anchor="ctr" lIns="0" rIns="0" tIns="0" bIns="0">
            <a:spAutoFit/>
          </a:bodyPr>
          <a:lstStyle/>
          <a:p>
            <a:r>
              <a:rPr sz="1800" b="0" i="1">
                <a:solidFill>
                  <a:schemeClr val="tx2"/>
                </a:solidFill>
              </a:rPr>
              <a:t>«Una camarera usa una IA para traducir la carta al inglés.»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úmero de la opción"/>
          <p:cNvSpPr txBox="1"/>
          <p:nvPr/>
        </p:nvSpPr>
        <p:spPr>
          <a:xfrm>
            <a:off x="868680" y="2377440"/>
            <a:ext cx="1097280" cy="1097280"/>
          </a:xfrm>
          <a:prstGeom prst="rect">
            <a:avLst/>
          </a:prstGeom>
          <a:noFill/>
        </p:spPr>
        <p:txBody>
          <a:bodyPr wrap="square" anchor="ctr" lIns="0" rIns="0" tIns="0" bIns="0">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anchor="ctr" lIns="0" rIns="0" tIns="0" bIns="0">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xplicación"/>
          <p:cNvSpPr txBox="1"/>
          <p:nvPr/>
        </p:nvSpPr>
        <p:spPr>
          <a:xfrm>
            <a:off x="914400" y="3931920"/>
            <a:ext cx="10362895" cy="1600200"/>
          </a:xfrm>
          <a:prstGeom prst="rect">
            <a:avLst/>
          </a:prstGeom>
          <a:noFill/>
        </p:spPr>
        <p:txBody>
          <a:bodyPr wrap="square" anchor="ctr" lIns="0" rIns="0" tIns="0" bIns="0">
            <a:spAutoFit/>
          </a:bodyPr>
          <a:lstStyle/>
          <a:p>
            <a:r>
              <a:rPr sz="1600" b="1" i="0">
                <a:solidFill>
                  <a:schemeClr val="tx2"/>
                </a:solidFill>
              </a:rPr>
              <a:t>Por qué</a:t>
            </a:r>
          </a:p>
          <a:p>
            <a:pPr>
              <a:spcBef>
                <a:spcPts val="600"/>
              </a:spcBef>
            </a:pPr>
            <a:r>
              <a:rPr sz="2200" b="0" i="0">
                <a:solidFill>
                  <a:schemeClr val="tx1"/>
                </a:solidFill>
              </a:rPr>
              <a:t>Usa la IA para una tarea concreta, sin cambiar cómo se atiende. Sería innovación si cambiara la forma de atender a los clientes extranjeros.</a:t>
            </a:r>
          </a:p>
        </p:txBody>
      </p:sp>
      <p:sp>
        <p:nvSpPr>
          <p:cNvPr id="33" name="Aviso"/>
          <p:cNvSpPr txBox="1"/>
          <p:nvPr/>
        </p:nvSpPr>
        <p:spPr>
          <a:xfrm>
            <a:off x="548640" y="5669280"/>
            <a:ext cx="11094415" cy="411480"/>
          </a:xfrm>
          <a:prstGeom prst="rect">
            <a:avLst/>
          </a:prstGeom>
          <a:noFill/>
        </p:spPr>
        <p:txBody>
          <a:bodyPr wrap="square" anchor="ctr" lIns="0" rIns="0" tIns="0" bIns="0">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289</TotalTime>
  <Words>3278</Words>
  <Application>Microsoft Office PowerPoint</Application>
  <PresentationFormat>Panorámica</PresentationFormat>
  <Paragraphs>376</Paragraphs>
  <Slides>29</Slides>
  <Notes>29</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29</vt:i4>
      </vt:variant>
    </vt:vector>
  </HeadingPairs>
  <TitlesOfParts>
    <vt:vector size="33" baseType="lpstr">
      <vt:lpstr>Arial</vt:lpstr>
      <vt:lpstr>Calibri</vt:lpstr>
      <vt:lpstr>Courier New</vt:lpstr>
      <vt:lpstr>Creatividad, ofimática e IA</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2 de 6</vt:lpstr>
      <vt:lpstr>Situación 3 de 6</vt:lpstr>
      <vt:lpstr>Situación 4 de 6</vt:lpstr>
      <vt:lpstr>Situación 5 de 6</vt:lpstr>
      <vt:lpstr>Situación 6 de 6</vt:lpstr>
      <vt:lpstr>Criterio para resolver las dudas</vt:lpstr>
      <vt:lpstr>¿Para qué se podría usar un clip?</vt:lpstr>
      <vt:lpstr>Y ahora, elegimos uno</vt:lpstr>
      <vt:lpstr>No vendemos el clip: vendemos su idea</vt:lpstr>
      <vt:lpstr>Primero abrir, después cerrar</vt:lpstr>
      <vt:lpstr>La regla de todo el curso</vt:lpstr>
      <vt:lpstr>Misma herramienta, mismo resultado</vt:lpstr>
      <vt:lpstr>Nuestro ejemplo: una peluquería de barrio</vt:lpstr>
      <vt:lpstr>Brainstorming: cuatro reglas</vt:lpstr>
      <vt:lpstr>Ejemplo: brainstorming en la peluquería</vt:lpstr>
      <vt:lpstr>Ejercicio 1: brainstorming entre todos</vt:lpstr>
      <vt:lpstr>Ronda con IA: el prompt</vt:lpstr>
      <vt:lpstr>Segundo prompt: combinar ideas</vt:lpstr>
      <vt:lpstr>Votad las tres ideas más originales</vt:lpstr>
      <vt:lpstr>¿Qué ha aportado la IA?</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5</cp:revision>
  <dcterms:created xsi:type="dcterms:W3CDTF">2026-10-17T13:29:48Z</dcterms:created>
  <dcterms:modified xsi:type="dcterms:W3CDTF">2026-10-17T18:56:14Z</dcterms:modified>
</cp:coreProperties>
</file>