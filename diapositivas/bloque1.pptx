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264"/>
            <p14:sldId id="265"/>
            <p14:sldId id="266"/>
            <p14:sldId id="267"/>
            <p14:sldId id="268"/>
            <p14:sldId id="269"/>
          </p14:sldIdLst>
        </p14:section>
        <p14:section name="Divergir y converger" id="{f5af64da-b1f4-a1a7-7800-38eefb65567b}">
          <p14:sldIdLst>
            <p14:sldId id="270"/>
            <p14:sldId id="271"/>
            <p14:sldId id="272"/>
            <p14:sldId id="273"/>
          </p14:sldIdLst>
        </p14:section>
        <p14:section name="Brainstorming" id="{b1d90ea5-e9a1-1fa3-6157-4003d122319b}">
          <p14:sldIdLst>
            <p14:sldId id="274"/>
            <p14:sldId id="275"/>
            <p14:sldId id="276"/>
            <p14:sldId id="277"/>
          </p14:sldIdLst>
        </p14:section>
        <p14:section name="Ejercicio 1" id="{1055ef44-d81e-dbff-d1fc-ed58257bfcf2}">
          <p14:sldIdLst>
            <p14:sldId id="278"/>
            <p14:sldId id="279"/>
            <p14:sldId id="280"/>
          </p14:sldIdLst>
        </p14:section>
        <p14:section name="Comparación y cierre" id="{8494f538-1684-8c82-f4e5-ede3625627df}">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768096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794760"/>
            <a:ext cx="7680960" cy="137160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108960" y="2103120"/>
            <a:ext cx="850392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3108960" y="3749040"/>
            <a:ext cx="8503920" cy="731520"/>
          </a:xfrm>
          <a:prstGeom prst="rect">
            <a:avLst/>
          </a:prstGeom>
          <a:noFill/>
          <a:ln/>
        </p:spPr>
        <p:txBody>
          <a:bodyPr wrap="square" rtlCol="0"/>
          <a:lstStyle>
            <a:lvl1pPr indent="0" marL="0">
              <a:buNone/>
              <a:defRPr lang="en-US" sz="2200" dirty="0">
                <a:solidFill>
                  <a:schemeClr val="accent1"/>
                </a:solidFill>
              </a:defRPr>
            </a:lvl1pPr>
          </a:lstStyle>
          <a:p>
            <a:pPr indent="0" marL="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097280" y="1554480"/>
            <a:ext cx="9966960" cy="3108960"/>
          </a:xfrm>
          <a:prstGeom prst="rect">
            <a:avLst/>
          </a:prstGeom>
          <a:noFill/>
          <a:ln/>
        </p:spPr>
        <p:txBody>
          <a:bodyPr wrap="square" rtlCol="0"/>
          <a:lstStyle>
            <a:lvl1pPr indent="0" marL="0">
              <a:buNone/>
              <a:defRPr lang="en-US" sz="3400" dirty="0">
                <a:solidFill>
                  <a:schemeClr val="bg1"/>
                </a:solidFill>
              </a:defRPr>
            </a:lvl1pPr>
          </a:lstStyle>
          <a:p>
            <a:pPr indent="0" marL="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7680960" cy="1828800"/>
          </a:xfrm>
          <a:prstGeom prst="rect">
            <a:avLst/>
          </a:prstGeom>
          <a:noFill/>
          <a:ln/>
        </p:spPr>
        <p:txBody>
          <a:bodyPr wrap="square" lIns="0" tIns="0" rIns="0" bIns="0" rtlCol="0" anchor="b"/>
          <a:lstStyle/>
          <a:p>
            <a:pPr algn="l" indent="0" marL="0">
              <a:buNone/>
            </a:pPr>
            <a:r>
              <a:rPr lang="en-US" sz="4400" b="1" dirty="0">
                <a:solidFill>
                  <a:schemeClr val="bg1"/>
                </a:solidFill>
              </a:rPr>
              <a:t>Creatividad, ofimática e IA</a:t>
            </a:r>
            <a:endParaRPr lang="en-US" sz="4400" dirty="0"/>
          </a:p>
        </p:txBody>
      </p:sp>
      <p:sp>
        <p:nvSpPr>
          <p:cNvPr id="3" name="Text 0"/>
          <p:cNvSpPr/>
          <p:nvPr>
            <p:ph idx="101" type="body" hasCustomPrompt="1"/>
          </p:nvPr>
        </p:nvSpPr>
        <p:spPr>
          <a:xfrm>
            <a:off x="548640" y="3794760"/>
            <a:ext cx="7680960" cy="1371600"/>
          </a:xfrm>
          <a:prstGeom prst="rect">
            <a:avLst/>
          </a:prstGeom>
          <a:noFill/>
          <a:ln/>
        </p:spPr>
        <p:txBody>
          <a:bodyPr wrap="square" lIns="0" tIns="0" rIns="0" bIns="0" rtlCol="0" anchor="t"/>
          <a:lstStyle/>
          <a:p>
            <a:pPr indent="0" marL="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r>
          <p:cNvPicPr>
            <a:picLocks noChangeAspect="1"/>
          </p:cNvPicPr>
          <p:nvPr/>
        </p:nvPicPr>
        <p:blipFill>
          <a:blip r:embed="rId1"/>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indent="0" marL="0">
              <a:buNone/>
            </a:pPr>
            <a:r>
              <a:rPr lang="en-US" sz="1600" dirty="0">
                <a:solidFill>
                  <a:schemeClr val="accent5"/>
                </a:solidFill>
              </a:rPr>
              <a:t>Taller práctico · 5 horas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algn="ctr" indent="0" marL="0">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p:nvPr>
            <p:ph idx="100" type="title" hasCustomPrompt="1"/>
          </p:nvPr>
        </p:nvSpPr>
        <p:spPr>
          <a:xfrm>
            <a:off x="3108960" y="2103120"/>
            <a:ext cx="8503920" cy="1463040"/>
          </a:xfrm>
          <a:prstGeom prst="rect">
            <a:avLst/>
          </a:prstGeom>
          <a:noFill/>
          <a:ln/>
        </p:spPr>
        <p:txBody>
          <a:bodyPr wrap="square" lIns="0" tIns="0" rIns="0" bIns="0" rtlCol="0" anchor="b"/>
          <a:lstStyle/>
          <a:p>
            <a:pPr algn="l" indent="0" marL="0">
              <a:buNone/>
            </a:pPr>
            <a:r>
              <a:rPr lang="en-US" sz="4000" b="1" dirty="0">
                <a:solidFill>
                  <a:schemeClr val="bg1"/>
                </a:solidFill>
              </a:rPr>
              <a:t>Activación de la creatividad y brainstorming</a:t>
            </a:r>
            <a:endParaRPr lang="en-US" sz="4000" dirty="0"/>
          </a:p>
        </p:txBody>
      </p:sp>
      <p:sp>
        <p:nvSpPr>
          <p:cNvPr id="4" name="Text 0"/>
          <p:cNvSpPr/>
          <p:nvPr>
            <p:ph idx="101" type="body" hasCustomPrompt="1"/>
          </p:nvPr>
        </p:nvSpPr>
        <p:spPr>
          <a:xfrm>
            <a:off x="3108960" y="3749040"/>
            <a:ext cx="8503920" cy="731520"/>
          </a:xfrm>
          <a:prstGeom prst="rect">
            <a:avLst/>
          </a:prstGeom>
          <a:noFill/>
          <a:ln/>
        </p:spPr>
        <p:txBody>
          <a:bodyPr wrap="square" lIns="0" tIns="0" rIns="0" bIns="0" rtlCol="0" anchor="t"/>
          <a:lstStyle/>
          <a:p>
            <a:pPr indent="0" marL="0">
              <a:buNone/>
            </a:pPr>
            <a:r>
              <a:rPr lang="en-US" sz="2200" dirty="0">
                <a:solidFill>
                  <a:schemeClr val="accent1"/>
                </a:solidFill>
              </a:rPr>
              <a:t>45 minutos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algn="ctr" indent="0" marL="0">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algn="ctr" indent="0" marL="0">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algn="ctr" indent="0" marL="0">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algn="ctr" indent="0" marL="0">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algn="ctr" indent="0" marL="0">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algn="ctr" indent="0" marL="0">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algn="ctr" indent="0" marL="0">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algn="ctr" indent="0" marL="0">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algn="ctr" indent="0" marL="0">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algn="ctr" indent="0" marL="0">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algn="ctr" indent="0" marL="0">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algn="ctr" indent="0" marL="0">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r>
          <p:cNvPicPr>
            <a:picLocks noChangeAspect="1"/>
          </p:cNvPicPr>
          <p:nvPr/>
        </p:nvPicPr>
        <p:blipFill>
          <a:blip r:embed="rId1"/>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indent="0" marL="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r>
          <p:cNvPicPr>
            <a:picLocks noChangeAspect="1"/>
          </p:cNvPicPr>
          <p:nvPr/>
        </p:nvPicPr>
        <p:blipFill>
          <a:blip r:embed="rId2"/>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indent="0" marL="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1097280" y="1554480"/>
            <a:ext cx="9966960" cy="3108960"/>
          </a:xfrm>
          <a:prstGeom prst="rect">
            <a:avLst/>
          </a:prstGeom>
          <a:noFill/>
          <a:ln/>
        </p:spPr>
        <p:txBody>
          <a:bodyPr wrap="square" lIns="0" tIns="0" rIns="0" bIns="0" rtlCol="0" anchor="ctr"/>
          <a:lstStyle/>
          <a:p>
            <a:pPr indent="0" marL="0">
              <a:buNone/>
            </a:pPr>
            <a:r>
              <a:rPr lang="en-US" sz="3400" dirty="0">
                <a:solidFill>
                  <a:schemeClr val="bg1"/>
                </a:solidFill>
              </a:rPr>
              <a:t>Mañana empezáis a trabajar en una empresa. Hay un procedimiento que siempre se ha hecho igual, pero que consume muchísimo tiempo.</a:t>
            </a:r>
            <a:endParaRPr lang="en-US" sz="3400" dirty="0"/>
          </a:p>
          <a:p>
            <a:pPr indent="0" marL="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algn="ctr" indent="0" marL="0">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indent="0" marL="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r>
          <p:cNvPicPr>
            <a:picLocks noChangeAspect="1"/>
          </p:cNvPicPr>
          <p:nvPr/>
        </p:nvPicPr>
        <p:blipFill>
          <a:blip r:embed="rId1"/>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indent="0" marL="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r>
          <p:cNvPicPr>
            <a:picLocks noChangeAspect="1"/>
          </p:cNvPicPr>
          <p:nvPr/>
        </p:nvPicPr>
        <p:blipFill>
          <a:blip r:embed="rId2"/>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indent="0" marL="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algn="ctr" indent="0" marL="0">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r>
          <p:cNvPicPr>
            <a:picLocks noChangeAspect="1"/>
          </p:cNvPicPr>
          <p:nvPr/>
        </p:nvPicPr>
        <p:blipFill>
          <a:blip r:embed="rId1"/>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indent="0" marL="0">
              <a:buNone/>
            </a:pPr>
            <a:r>
              <a:rPr lang="en-US" sz="3600" i="1" dirty="0">
                <a:solidFill>
                  <a:schemeClr val="tx1"/>
                </a:solidFill>
              </a:rPr>
              <a:t>«Antes se hacía así…</a:t>
            </a:r>
            <a:endParaRPr lang="en-US" sz="3600" dirty="0"/>
          </a:p>
          <a:p>
            <a:pPr indent="0" marL="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indent="0" marL="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algn="ctr" indent="0" marL="0">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r>
          <p:cNvPicPr>
            <a:picLocks noChangeAspect="1"/>
          </p:cNvPicPr>
          <p:nvPr/>
        </p:nvPicPr>
        <p:blipFill>
          <a:blip r:embed="rId1"/>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indent="0" marL="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indent="0" marL="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indent="0" marL="0">
              <a:buNone/>
            </a:pPr>
            <a:r>
              <a:rPr lang="en-US" sz="1500" b="1" i="1" dirty="0">
                <a:solidFill>
                  <a:schemeClr val="tx2"/>
                </a:solidFill>
              </a:rPr>
              <a:t>Ejemplo: </a:t>
            </a:r>
            <a:pPr indent="0" marL="0">
              <a:buNone/>
            </a:pP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r>
          <p:cNvPicPr>
            <a:picLocks noChangeAspect="1"/>
          </p:cNvPicPr>
          <p:nvPr/>
        </p:nvPicPr>
        <p:blipFill>
          <a:blip r:embed="rId2"/>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indent="0" marL="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indent="0" marL="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indent="0" marL="0">
              <a:buNone/>
            </a:pPr>
            <a:r>
              <a:rPr lang="en-US" sz="1500" b="1" i="1" dirty="0">
                <a:solidFill>
                  <a:schemeClr val="tx2"/>
                </a:solidFill>
              </a:rPr>
              <a:t>Ejemplo: </a:t>
            </a:r>
            <a:pPr indent="0" marL="0">
              <a:buNone/>
            </a:pP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r>
          <p:cNvPicPr>
            <a:picLocks noChangeAspect="1"/>
          </p:cNvPicPr>
          <p:nvPr/>
        </p:nvPicPr>
        <p:blipFill>
          <a:blip r:embed="rId3"/>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indent="0" marL="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indent="0" marL="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indent="0" marL="0">
              <a:buNone/>
            </a:pPr>
            <a:r>
              <a:rPr lang="en-US" sz="1500" b="1" i="1" dirty="0">
                <a:solidFill>
                  <a:schemeClr val="tx2"/>
                </a:solidFill>
              </a:rPr>
              <a:t>Ejemplo: </a:t>
            </a:r>
            <a:pPr indent="0" marL="0">
              <a:buNone/>
            </a:pP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indent="0" marL="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algn="ctr" indent="0" marL="0">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indent="0" marL="0">
              <a:buNone/>
            </a:pPr>
            <a:r>
              <a:rPr lang="en-US" sz="2200" dirty="0">
                <a:solidFill>
                  <a:schemeClr val="tx1"/>
                </a:solidFill>
              </a:rPr>
              <a:t>Os leeré seis situaciones. Votad con los dedos: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algn="ctr" indent="0" marL="0">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algn="ctr" indent="0" marL="0">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algn="ctr" indent="0" marL="0">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algn="ctr" indent="0" marL="0">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algn="ctr" indent="0" marL="0">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algn="ctr" indent="0" marL="0">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r>
          <p:cNvPicPr>
            <a:picLocks noChangeAspect="1"/>
          </p:cNvPicPr>
          <p:nvPr/>
        </p:nvPicPr>
        <p:blipFill>
          <a:blip r:embed="rId1"/>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indent="0" marL="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algn="ctr" indent="0" marL="0">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r>
          <p:cNvPicPr>
            <a:picLocks noChangeAspect="1"/>
          </p:cNvPicPr>
          <p:nvPr/>
        </p:nvPicPr>
        <p:blipFill>
          <a:blip r:embed="rId1"/>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indent="0" marL="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algn="ctr" indent="0" marL="0">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algn="ctr" indent="0" marL="0">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r>
          <p:cNvPicPr>
            <a:picLocks noChangeAspect="1"/>
          </p:cNvPicPr>
          <p:nvPr/>
        </p:nvPicPr>
        <p:blipFill>
          <a:blip r:embed="rId1"/>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indent="0" marL="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algn="ctr" indent="0" marL="0">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algn="ctr" indent="0" marL="0">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r>
          <p:cNvPicPr>
            <a:picLocks noChangeAspect="1"/>
          </p:cNvPicPr>
          <p:nvPr/>
        </p:nvPicPr>
        <p:blipFill>
          <a:blip r:embed="rId1"/>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indent="0" marL="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algn="ctr" indent="0" marL="0">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algn="ctr" indent="0" marL="0">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r>
          <p:cNvPicPr>
            <a:picLocks noChangeAspect="1"/>
          </p:cNvPicPr>
          <p:nvPr/>
        </p:nvPicPr>
        <p:blipFill>
          <a:blip r:embed="rId1"/>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indent="0" marL="0">
              <a:buNone/>
            </a:pPr>
            <a:r>
              <a:rPr lang="en-US" sz="3000" dirty="0">
                <a:solidFill>
                  <a:schemeClr val="tx1"/>
                </a:solidFill>
              </a:rPr>
              <a:t>Un taller empieza a enviar al cliente una foto del coche reparado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algn="ctr" indent="0" marL="0">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algn="ctr" indent="0" marL="0">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r>
          <p:cNvPicPr>
            <a:picLocks noChangeAspect="1"/>
          </p:cNvPicPr>
          <p:nvPr/>
        </p:nvPicPr>
        <p:blipFill>
          <a:blip r:embed="rId1"/>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indent="0" marL="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algn="ctr" indent="0" marL="0">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algn="ctr" indent="0" marL="0">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r>
          <p:cNvPicPr>
            <a:picLocks noChangeAspect="1"/>
          </p:cNvPicPr>
          <p:nvPr/>
        </p:nvPicPr>
        <p:blipFill>
          <a:blip r:embed="rId1"/>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indent="0" marL="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algn="ctr" indent="0" marL="0">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indent="0" marL="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algn="ctr" indent="0" marL="0">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algn="ctr" indent="0" marL="0">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algn="ctr" indent="0" marL="0">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algn="ctr" indent="0" marL="0">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algn="ctr" indent="0" marL="0">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algn="ctr" indent="0" marL="0">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algn="ctr" indent="0" marL="0">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algn="ctr" indent="0" marL="0">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algn="ctr" indent="0" marL="0">
              <a:buNone/>
            </a:pPr>
            <a:r>
              <a:rPr lang="en-US" sz="1700" b="1" dirty="0">
                <a:solidFill>
                  <a:schemeClr val="tx1"/>
                </a:solidFill>
              </a:rPr>
              <a:t>No: </a:t>
            </a:r>
            <a:pPr algn="ctr" indent="0" marL="0">
              <a:buNone/>
            </a:pP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r>
          <p:cNvPicPr>
            <a:picLocks noChangeAspect="1"/>
          </p:cNvPicPr>
          <p:nvPr/>
        </p:nvPicPr>
        <p:blipFill>
          <a:blip r:embed="rId1"/>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indent="0" marL="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indent="0" marL="0">
              <a:buNone/>
            </a:pPr>
            <a:r>
              <a:rPr lang="en-US" sz="1900" b="1" dirty="0">
                <a:solidFill>
                  <a:schemeClr val="accent3"/>
                </a:solidFill>
              </a:rPr>
              <a:t>Lo importante es el razonamiento, no acertar.</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¿Para qué sirve un 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algn="ctr" indent="0" marL="0">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r>
          <p:cNvPicPr>
            <a:picLocks noChangeAspect="1"/>
          </p:cNvPicPr>
          <p:nvPr/>
        </p:nvPicPr>
        <p:blipFill>
          <a:blip r:embed="rId1"/>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r>
          <p:cNvPicPr>
            <a:picLocks noChangeAspect="1"/>
          </p:cNvPicPr>
          <p:nvPr/>
        </p:nvPicPr>
        <p:blipFill>
          <a:blip r:embed="rId2"/>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indent="0" marL="0">
              <a:buNone/>
            </a:pPr>
            <a:r>
              <a:rPr lang="en-US" sz="2400" dirty="0">
                <a:solidFill>
                  <a:schemeClr val="tx1"/>
                </a:solidFill>
              </a:rPr>
              <a:t>90 segundos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r>
          <p:cNvPicPr>
            <a:picLocks noChangeAspect="1"/>
          </p:cNvPicPr>
          <p:nvPr/>
        </p:nvPicPr>
        <p:blipFill>
          <a:blip r:embed="rId3"/>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indent="0" marL="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r>
          <p:cNvPicPr>
            <a:picLocks noChangeAspect="1"/>
          </p:cNvPicPr>
          <p:nvPr/>
        </p:nvPicPr>
        <p:blipFill>
          <a:blip r:embed="rId4"/>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indent="0" marL="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indent="0" marL="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algn="ctr" indent="0" marL="0">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r>
          <p:cNvPicPr>
            <a:picLocks noChangeAspect="1"/>
          </p:cNvPicPr>
          <p:nvPr/>
        </p:nvPicPr>
        <p:blipFill>
          <a:blip r:embed="rId1"/>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indent="0" marL="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r>
          <p:cNvPicPr>
            <a:picLocks noChangeAspect="1"/>
          </p:cNvPicPr>
          <p:nvPr/>
        </p:nvPicPr>
        <p:blipFill>
          <a:blip r:embed="rId2"/>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indent="0" marL="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algn="ctr" indent="0" marL="0">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algn="ctr" indent="0" marL="0">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algn="ctr" indent="0" marL="0">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algn="ctr" indent="0" marL="0">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r>
          <p:cNvPicPr>
            <a:picLocks noChangeAspect="1"/>
          </p:cNvPicPr>
          <p:nvPr/>
        </p:nvPicPr>
        <p:blipFill>
          <a:blip r:embed="rId1"/>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indent="0" marL="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indent="0" marL="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indent="0" marL="0">
              <a:buNone/>
            </a:pPr>
            <a:r>
              <a:rPr lang="en-US" sz="1200" b="1" i="1" dirty="0">
                <a:solidFill>
                  <a:schemeClr val="tx2"/>
                </a:solidFill>
              </a:rPr>
              <a:t>Para: </a:t>
            </a:r>
            <a:pPr indent="0" marL="0">
              <a:buNone/>
            </a:pP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r>
          <p:cNvPicPr>
            <a:picLocks noChangeAspect="1"/>
          </p:cNvPicPr>
          <p:nvPr/>
        </p:nvPicPr>
        <p:blipFill>
          <a:blip r:embed="rId2"/>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indent="0" marL="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indent="0" marL="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indent="0" marL="0">
              <a:buNone/>
            </a:pPr>
            <a:r>
              <a:rPr lang="en-US" sz="1200" b="1" i="1" dirty="0">
                <a:solidFill>
                  <a:schemeClr val="tx2"/>
                </a:solidFill>
              </a:rPr>
              <a:t>Para: </a:t>
            </a:r>
            <a:pPr indent="0" marL="0">
              <a:buNone/>
            </a:pP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r>
          <p:cNvPicPr>
            <a:picLocks noChangeAspect="1"/>
          </p:cNvPicPr>
          <p:nvPr/>
        </p:nvPicPr>
        <p:blipFill>
          <a:blip r:embed="rId3"/>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indent="0" marL="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indent="0" marL="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indent="0" marL="0">
              <a:buNone/>
            </a:pPr>
            <a:r>
              <a:rPr lang="en-US" sz="1200" b="1" i="1" dirty="0">
                <a:solidFill>
                  <a:schemeClr val="tx2"/>
                </a:solidFill>
              </a:rPr>
              <a:t>Para: </a:t>
            </a:r>
            <a:pPr indent="0" marL="0">
              <a:buNone/>
            </a:pP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r>
          <p:cNvPicPr>
            <a:picLocks noChangeAspect="1"/>
          </p:cNvPicPr>
          <p:nvPr/>
        </p:nvPicPr>
        <p:blipFill>
          <a:blip r:embed="rId4"/>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indent="0" marL="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indent="0" marL="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indent="0" marL="0">
              <a:buNone/>
            </a:pPr>
            <a:r>
              <a:rPr lang="en-US" sz="1200" b="1" i="1" dirty="0">
                <a:solidFill>
                  <a:schemeClr val="tx2"/>
                </a:solidFill>
              </a:rPr>
              <a:t>Para: </a:t>
            </a:r>
            <a:pPr indent="0" marL="0">
              <a:buNone/>
            </a:pP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r>
          <p:cNvPicPr>
            <a:picLocks noChangeAspect="1"/>
          </p:cNvPicPr>
          <p:nvPr/>
        </p:nvPicPr>
        <p:blipFill>
          <a:blip r:embed="rId5"/>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indent="0" marL="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indent="0" marL="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indent="0" marL="0">
              <a:buNone/>
            </a:pPr>
            <a:r>
              <a:rPr lang="en-US" sz="1200" b="1" i="1" dirty="0">
                <a:solidFill>
                  <a:schemeClr val="tx2"/>
                </a:solidFill>
              </a:rPr>
              <a:t>Para: </a:t>
            </a:r>
            <a:pPr indent="0" marL="0">
              <a:buNone/>
            </a:pP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r>
          <p:cNvPicPr>
            <a:picLocks noChangeAspect="1"/>
          </p:cNvPicPr>
          <p:nvPr/>
        </p:nvPicPr>
        <p:blipFill>
          <a:blip r:embed="rId6"/>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indent="0" marL="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indent="0" marL="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indent="0" marL="0">
              <a:buNone/>
            </a:pPr>
            <a:r>
              <a:rPr lang="en-US" sz="1200" b="1" i="1" dirty="0">
                <a:solidFill>
                  <a:schemeClr val="tx2"/>
                </a:solidFill>
              </a:rPr>
              <a:t>Para: </a:t>
            </a:r>
            <a:pPr indent="0" marL="0">
              <a:buNone/>
            </a:pP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indent="0" marL="0">
              <a:buNone/>
            </a:pPr>
            <a:r>
              <a:rPr lang="en-US" sz="1600" b="1" dirty="0">
                <a:solidFill>
                  <a:schemeClr val="accent3"/>
                </a:solidFill>
              </a:rPr>
              <a:t>Casi todos tienen ya productos parecidos a la venta: el concepto de clip sí se vende.</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algn="ctr" indent="0" marL="0">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r>
          <p:cNvPicPr>
            <a:picLocks noChangeAspect="1"/>
          </p:cNvPicPr>
          <p:nvPr/>
        </p:nvPicPr>
        <p:blipFill>
          <a:blip r:embed="rId1"/>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algn="ctr" indent="0" marL="0">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indent="0" marL="0">
              <a:buNone/>
            </a:pPr>
            <a:r>
              <a:rPr lang="en-US" sz="2100" b="1" dirty="0">
                <a:solidFill>
                  <a:schemeClr val="tx1"/>
                </a:solidFill>
              </a:rPr>
              <a:t>Divergente</a:t>
            </a:r>
            <a:endParaRPr lang="en-US" sz="1600" dirty="0"/>
          </a:p>
          <a:p>
            <a:pPr indent="0" marL="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indent="0" marL="0">
              <a:buNone/>
            </a:pPr>
            <a:r>
              <a:rPr lang="en-US" sz="2100" b="1" dirty="0">
                <a:solidFill>
                  <a:schemeClr val="tx1"/>
                </a:solidFill>
              </a:rPr>
              <a:t>Convergente</a:t>
            </a:r>
            <a:endParaRPr lang="en-US" sz="1600" dirty="0"/>
          </a:p>
          <a:p>
            <a:pPr indent="0" marL="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indent="0" marL="0">
              <a:spcAft>
                <a:spcPts val="400"/>
              </a:spcAft>
              <a:buNone/>
            </a:pPr>
            <a:r>
              <a:rPr lang="en-US" sz="2100" b="1" dirty="0">
                <a:solidFill>
                  <a:schemeClr val="tx1"/>
                </a:solidFill>
              </a:rPr>
              <a:t>En este curso</a:t>
            </a:r>
            <a:endParaRPr lang="en-US" sz="1800" dirty="0"/>
          </a:p>
          <a:p>
            <a:pPr indent="0" marL="0">
              <a:spcAft>
                <a:spcPts val="400"/>
              </a:spcAft>
              <a:buNone/>
            </a:pPr>
            <a:r>
              <a:rPr lang="en-US" sz="800" dirty="0">
                <a:solidFill>
                  <a:schemeClr val="tx1"/>
                </a:solidFill>
              </a:rPr>
              <a:t> </a:t>
            </a:r>
            <a:endParaRPr lang="en-US" sz="1800" dirty="0"/>
          </a:p>
          <a:p>
            <a:pPr indent="0" marL="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indent="0" marL="0">
              <a:spcAft>
                <a:spcPts val="400"/>
              </a:spcAft>
              <a:buNone/>
            </a:pPr>
            <a:r>
              <a:rPr lang="en-US" sz="800" dirty="0">
                <a:solidFill>
                  <a:schemeClr val="tx1"/>
                </a:solidFill>
              </a:rPr>
              <a:t> </a:t>
            </a:r>
            <a:endParaRPr lang="en-US" sz="1800" dirty="0"/>
          </a:p>
          <a:p>
            <a:pPr indent="0" marL="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800" b="1" dirty="0">
                <a:solidFill>
                  <a:schemeClr val="accent3"/>
                </a:solidFill>
              </a:rPr>
              <a:t>Si se mezclan los dos pasos, se juzga demasiado pronto y salen pocas ideas.</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algn="ctr" indent="0" marL="0">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r>
          <p:cNvPicPr>
            <a:picLocks noChangeAspect="1"/>
          </p:cNvPicPr>
          <p:nvPr/>
        </p:nvPicPr>
        <p:blipFill>
          <a:blip r:embed="rId1"/>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a:p>
            <a:pPr indent="0" marL="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r>
          <p:cNvPicPr>
            <a:picLocks noChangeAspect="1"/>
          </p:cNvPicPr>
          <p:nvPr/>
        </p:nvPicPr>
        <p:blipFill>
          <a:blip r:embed="rId2"/>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a:p>
            <a:pPr indent="0" marL="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r>
          <p:cNvPicPr>
            <a:picLocks noChangeAspect="1"/>
          </p:cNvPicPr>
          <p:nvPr/>
        </p:nvPicPr>
        <p:blipFill>
          <a:blip r:embed="rId3"/>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indent="0" marL="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r>
          <p:cNvPicPr>
            <a:picLocks noChangeAspect="1"/>
          </p:cNvPicPr>
          <p:nvPr/>
        </p:nvPicPr>
        <p:blipFill>
          <a:blip r:embed="rId4"/>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indent="0" marL="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algn="ctr" indent="0" marL="0">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r>
          <p:cNvPicPr>
            <a:picLocks noChangeAspect="1"/>
          </p:cNvPicPr>
          <p:nvPr/>
        </p:nvPicPr>
        <p:blipFill>
          <a:blip r:embed="rId1"/>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indent="0" marL="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r>
          <p:cNvPicPr>
            <a:picLocks noChangeAspect="1"/>
          </p:cNvPicPr>
          <p:nvPr/>
        </p:nvPicPr>
        <p:blipFill>
          <a:blip r:embed="rId2"/>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indent="0" marL="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r>
          <p:cNvPicPr>
            <a:picLocks noChangeAspect="1"/>
          </p:cNvPicPr>
          <p:nvPr/>
        </p:nvPicPr>
        <p:blipFill>
          <a:blip r:embed="rId3"/>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indent="0" marL="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r>
          <p:cNvPicPr>
            <a:picLocks noChangeAspect="1"/>
          </p:cNvPicPr>
          <p:nvPr/>
        </p:nvPicPr>
        <p:blipFill>
          <a:blip r:embed="rId4"/>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indent="0" marL="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indent="0" marL="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algn="ctr" indent="0" marL="0">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indent="0" marL="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algn="ctr" indent="0" marL="0">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indent="0" marL="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algn="ctr" indent="0" marL="0">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indent="0" marL="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algn="ctr" indent="0" marL="0">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indent="0" marL="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algn="ctr" indent="0" marL="0">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indent="0" marL="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algn="ctr" indent="0" marL="0">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indent="0" marL="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indent="0" marL="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indent="0" marL="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indent="0" marL="0">
              <a:buNone/>
            </a:pPr>
            <a:r>
              <a:rPr lang="en-US" sz="1600" dirty="0">
                <a:solidFill>
                  <a:schemeClr val="tx1"/>
                </a:solidFill>
              </a:rPr>
              <a:t>Cortes gratis a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indent="0" marL="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indent="0" marL="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indent="0" marL="0">
              <a:buNone/>
            </a:pPr>
            <a:r>
              <a:rPr lang="en-US" sz="1500" b="1" dirty="0">
                <a:solidFill>
                  <a:schemeClr val="bg1"/>
                </a:solidFill>
              </a:rPr>
              <a:t>Idea disparatada</a:t>
            </a:r>
            <a:endParaRPr lang="en-US" sz="2100" dirty="0"/>
          </a:p>
          <a:p>
            <a:pPr indent="0" marL="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indent="0" marL="0">
              <a:buNone/>
            </a:pPr>
            <a:r>
              <a:rPr lang="en-US" sz="1500" b="1" dirty="0">
                <a:solidFill>
                  <a:schemeClr val="accent1"/>
                </a:solidFill>
              </a:rPr>
              <a:t>Construyendo sobre ella</a:t>
            </a:r>
            <a:endParaRPr lang="en-US" sz="1800" dirty="0"/>
          </a:p>
          <a:p>
            <a:pPr indent="0" marL="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algn="ctr" indent="0" marL="0">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indent="0" marL="0">
              <a:buNone/>
            </a:pPr>
            <a:r>
              <a:rPr lang="en-US" sz="1500" b="1" i="1" dirty="0">
                <a:solidFill>
                  <a:schemeClr val="accent1"/>
                </a:solidFill>
              </a:rPr>
              <a:t>El reto</a:t>
            </a:r>
            <a:endParaRPr lang="en-US" sz="2300" dirty="0"/>
          </a:p>
          <a:p>
            <a:pPr indent="0" marL="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r>
          <p:cNvPicPr>
            <a:picLocks noChangeAspect="1"/>
          </p:cNvPicPr>
          <p:nvPr/>
        </p:nvPicPr>
        <p:blipFill>
          <a:blip r:embed="rId1"/>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indent="0" marL="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r>
          <p:cNvPicPr>
            <a:picLocks noChangeAspect="1"/>
          </p:cNvPicPr>
          <p:nvPr/>
        </p:nvPicPr>
        <p:blipFill>
          <a:blip r:embed="rId2"/>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indent="0" marL="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r>
          <p:cNvPicPr>
            <a:picLocks noChangeAspect="1"/>
          </p:cNvPicPr>
          <p:nvPr/>
        </p:nvPicPr>
        <p:blipFill>
          <a:blip r:embed="rId3"/>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indent="0" marL="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algn="ctr" indent="0" marL="0">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indent="0" marL="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indent="0" marL="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indent="0" marL="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indent="0" marL="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indent="0" marL="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indent="0" marL="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indent="0" marL="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algn="ctr" indent="0" marL="0">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r>
          <p:cNvPicPr>
            <a:picLocks noChangeAspect="1"/>
          </p:cNvPicPr>
          <p:nvPr/>
        </p:nvPicPr>
        <p:blipFill>
          <a:blip r:embed="rId1"/>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algn="ctr" indent="0" marL="0">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r>
          <p:cNvPicPr>
            <a:picLocks noChangeAspect="1"/>
          </p:cNvPicPr>
          <p:nvPr/>
        </p:nvPicPr>
        <p:blipFill>
          <a:blip r:embed="rId2"/>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algn="ctr" indent="0" marL="0">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r>
          <p:cNvPicPr>
            <a:picLocks noChangeAspect="1"/>
          </p:cNvPicPr>
          <p:nvPr/>
        </p:nvPicPr>
        <p:blipFill>
          <a:blip r:embed="rId3"/>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algn="ctr" indent="0" marL="0">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algn="ctr" indent="0" marL="0">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algn="ctr" indent="0" marL="0">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indent="0" marL="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una de</a:t>
            </a:r>
            <a:endParaRPr lang="en-US" sz="1800" dirty="0"/>
          </a:p>
          <a:p>
            <a:pPr indent="0" marL="0">
              <a:lnSpc>
                <a:spcPct val="95000"/>
              </a:lnSpc>
              <a:buNone/>
            </a:pPr>
            <a:r>
              <a:rPr lang="en-US" sz="1800" dirty="0">
                <a:solidFill>
                  <a:schemeClr val="bg1"/>
                </a:solidFill>
                <a:latin typeface="Courier New" pitchFamily="34" charset="0"/>
                <a:ea typeface="Courier New" pitchFamily="34" charset="-122"/>
                <a:cs typeface="Courier New" pitchFamily="34" charset="-120"/>
              </a:rPr>
              <a:t>las tuyas para crear tres ideas mejores que las originales.</a:t>
            </a:r>
            <a:endParaRPr lang="en-US" sz="1800" dirty="0"/>
          </a:p>
          <a:p>
            <a:pPr indent="0" marL="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algn="ctr" indent="0" marL="0">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r>
          <p:cNvPicPr>
            <a:picLocks noChangeAspect="1"/>
          </p:cNvPicPr>
          <p:nvPr/>
        </p:nvPicPr>
        <p:blipFill>
          <a:blip r:embed="rId1"/>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indent="0" marL="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r>
          <p:cNvPicPr>
            <a:picLocks noChangeAspect="1"/>
          </p:cNvPicPr>
          <p:nvPr/>
        </p:nvPicPr>
        <p:blipFill>
          <a:blip r:embed="rId2"/>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indent="0" marL="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699455" cy="914400"/>
        </p:xfrm>
        <a:graphic>
          <a:graphicData uri="http://schemas.openxmlformats.org/drawingml/2006/table">
            <a:tbl>
              <a:tblPr/>
              <a:tblGrid>
                <a:gridCol w="2587752"/>
                <a:gridCol w="1463040"/>
                <a:gridCol w="1463040"/>
              </a:tblGrid>
              <a:tr h="731520">
                <a:tc>
                  <a:txBody>
                    <a:bodyPr/>
                    <a:lstStyle/>
                    <a:p>
                      <a:pPr algn="ctr" indent="0" marL="0">
                        <a:buNone/>
                      </a:pPr>
                      <a:endParaRPr lang="en-US" sz="1800" dirty="0"/>
                    </a:p>
                  </a:txBody>
                  <a:tcPr marL="91440" marR="91440"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algn="ctr" indent="0" marL="0">
                        <a:buNone/>
                      </a:pPr>
                      <a:r>
                        <a:rPr lang="en-US" sz="1800" b="1" dirty="0">
                          <a:solidFill>
                            <a:schemeClr val="tx1"/>
                          </a:solidFill>
                        </a:rPr>
                        <a:t>Sin IA</a:t>
                      </a:r>
                      <a:endParaRPr lang="en-US" sz="1800" dirty="0"/>
                    </a:p>
                  </a:txBody>
                  <a:tcPr marL="91440" marR="91440"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Con IA</a:t>
                      </a:r>
                      <a:endParaRPr lang="en-US" sz="1800" dirty="0"/>
                    </a:p>
                  </a:txBody>
                  <a:tcPr marL="91440" marR="91440"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tr>
              <a:tr h="1188720">
                <a:tc>
                  <a:txBody>
                    <a:bodyPr/>
                    <a:lstStyle/>
                    <a:p>
                      <a:pPr indent="0" marL="0">
                        <a:buNone/>
                      </a:pPr>
                      <a:r>
                        <a:rPr lang="en-US" sz="1800" b="1" dirty="0">
                          <a:solidFill>
                            <a:schemeClr val="tx1"/>
                          </a:solidFill>
                        </a:rPr>
                        <a:t>Número de ideas</a:t>
                      </a:r>
                      <a:endParaRPr lang="en-US" sz="1800" dirty="0"/>
                    </a:p>
                  </a:txBody>
                  <a:tcPr marL="91440" marR="91440"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indent="0" marL="0">
                        <a:buNone/>
                      </a:pPr>
                      <a:endParaRPr lang="en-US" sz="1800" dirty="0"/>
                    </a:p>
                  </a:txBody>
                  <a:tcPr marL="91440" marR="91440"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indent="0" marL="0">
                        <a:buNone/>
                      </a:pPr>
                      <a:endParaRPr lang="en-US" sz="1800" dirty="0"/>
                    </a:p>
                  </a:txBody>
                  <a:tcPr marL="91440" marR="91440"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r>
              <a:tr h="1188720">
                <a:tc>
                  <a:txBody>
                    <a:bodyPr/>
                    <a:lstStyle/>
                    <a:p>
                      <a:pPr indent="0" marL="0">
                        <a:buNone/>
                      </a:pPr>
                      <a:r>
                        <a:rPr lang="en-US" sz="1800" b="1" dirty="0">
                          <a:solidFill>
                            <a:schemeClr val="tx1"/>
                          </a:solidFill>
                        </a:rPr>
                        <a:t>Ideas entre las más votadas</a:t>
                      </a:r>
                      <a:endParaRPr lang="en-US" sz="1800" dirty="0"/>
                    </a:p>
                  </a:txBody>
                  <a:tcPr marL="91440" marR="91440"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indent="0" marL="0">
                        <a:buNone/>
                      </a:pPr>
                      <a:endParaRPr lang="en-US" sz="1800" dirty="0"/>
                    </a:p>
                  </a:txBody>
                  <a:tcPr marL="91440" marR="91440"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indent="0" marL="0">
                        <a:buNone/>
                      </a:pPr>
                      <a:endParaRPr lang="en-US" sz="1800" dirty="0"/>
                    </a:p>
                  </a:txBody>
                  <a:tcPr marL="91440" marR="91440"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indent="0" marL="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algn="ctr" indent="0" marL="0">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r>
          <p:cNvPicPr>
            <a:picLocks noChangeAspect="1"/>
          </p:cNvPicPr>
          <p:nvPr/>
        </p:nvPicPr>
        <p:blipFill>
          <a:blip r:embed="rId1"/>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algn="ctr" indent="0" marL="0">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r>
          <p:cNvPicPr>
            <a:picLocks noChangeAspect="1"/>
          </p:cNvPicPr>
          <p:nvPr/>
        </p:nvPicPr>
        <p:blipFill>
          <a:blip r:embed="rId2"/>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algn="ctr" indent="0" marL="0">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r>
          <p:cNvPicPr>
            <a:picLocks noChangeAspect="1"/>
          </p:cNvPicPr>
          <p:nvPr/>
        </p:nvPicPr>
        <p:blipFill>
          <a:blip r:embed="rId3"/>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algn="ctr" indent="0" marL="0">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indent="0" marL="0">
              <a:buNone/>
            </a:pPr>
            <a:r>
              <a:rPr lang="en-US" sz="1800" b="1" dirty="0">
                <a:solidFill>
                  <a:schemeClr val="accent1"/>
                </a:solidFill>
              </a:rPr>
              <a:t>Idea clave del bloque 1</a:t>
            </a:r>
            <a:endParaRPr lang="en-US" sz="1800" dirty="0"/>
          </a:p>
        </p:txBody>
      </p:sp>
      <p:sp>
        <p:nvSpPr>
          <p:cNvPr id="3" name="Text 0"/>
          <p:cNvSpPr/>
          <p:nvPr>
            <p:ph idx="100" type="body" hasCustomPrompt="1"/>
          </p:nvPr>
        </p:nvSpPr>
        <p:spPr>
          <a:xfrm>
            <a:off x="1097280" y="1554480"/>
            <a:ext cx="9966960" cy="3108960"/>
          </a:xfrm>
          <a:prstGeom prst="rect">
            <a:avLst/>
          </a:prstGeom>
          <a:noFill/>
          <a:ln/>
        </p:spPr>
        <p:txBody>
          <a:bodyPr wrap="square" lIns="0" tIns="0" rIns="0" bIns="0" rtlCol="0" anchor="ctr"/>
          <a:lstStyle/>
          <a:p>
            <a:pPr indent="0" marL="0">
              <a:buNone/>
            </a:pPr>
            <a:r>
              <a:rPr lang="en-US" sz="3400" dirty="0">
                <a:solidFill>
                  <a:schemeClr val="bg1"/>
                </a:solidFill>
              </a:rPr>
              <a:t>La creatividad produce posibilidades.</a:t>
            </a:r>
            <a:endParaRPr lang="en-US" sz="3400" dirty="0"/>
          </a:p>
          <a:p>
            <a:pPr indent="0" marL="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PptxGenJS</cp:lastModifiedBy>
  <cp:revision>1</cp:revision>
  <dcterms:created xsi:type="dcterms:W3CDTF">2026-10-17T13:29:48Z</dcterms:created>
  <dcterms:modified xsi:type="dcterms:W3CDTF">2026-10-17T13:29:48Z</dcterms:modified>
</cp:coreProperties>
</file>