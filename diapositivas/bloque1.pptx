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84" r:id="rId35"/>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264"/>
            <p14:sldId id="265"/>
            <p14:sldId id="266"/>
            <p14:sldId id="267"/>
            <p14:sldId id="268"/>
            <p14:sldId id="269"/>
          </p14:sldIdLst>
        </p14:section>
        <p14:section name="Divergir y converger" id="{F5AF64DA-B1F4-A1A7-7800-38EEFB65567B}">
          <p14:sldIdLst>
            <p14:sldId id="270"/>
            <p14:sldId id="271"/>
            <p14:sldId id="272"/>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279"/>
            <p14:sldId id="280"/>
          </p14:sldIdLst>
        </p14:section>
        <p14:section name="Comparación y cierre" id="{8494F538-1684-8C82-F4E5-EDE3625627DF}">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6" d="100"/>
          <a:sy n="86" d="100"/>
        </p:scale>
        <p:origin x="94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p>
            <a:r>
              <a:t>Hay un programa para crear videojuegos, Unreal Engine 5, que lo hace casi todo solo: la luz, las sombras, los reflejos, el detalle de cada objeto. Con él, una persona desde su casa puede hacer un juego que parece de un gran estudio.</a:t>
            </a:r>
          </a:p>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p>
            <a:r>
              <a:t>Cuidado: no afirmar que la IA es peor que las personas. El argumento es que, si todos usamos la misma herramienta, todos acabamos haciendo lo mismo. Así no se adelanta la conclusión de la comparación del Ejercicio 1.</a:t>
            </a:r>
          </a:p>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18.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36.png"/><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27.png"/><Relationship Id="rId4" Type="http://schemas.openxmlformats.org/officeDocument/2006/relationships/image" Target="../media/image37.png"/><Relationship Id="rId5" Type="http://schemas.openxmlformats.org/officeDocument/2006/relationships/image" Target="../media/image3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3.png"/><Relationship Id="rId5" Type="http://schemas.openxmlformats.org/officeDocument/2006/relationships/image" Target="../media/image41.png"/><Relationship Id="rId6" Type="http://schemas.openxmlformats.org/officeDocument/2006/relationships/image" Target="../media/image2.png"/><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Votad con los dedos: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De 2 a 3 </a:t>
            </a:r>
            <a:r>
              <a:rPr lang="en-US" sz="2400" dirty="0" err="1">
                <a:solidFill>
                  <a:schemeClr val="tx1"/>
                </a:solidFill>
              </a:rPr>
              <a:t>minutos</a:t>
            </a:r>
            <a:r>
              <a:rPr lang="en-US" sz="2400" dirty="0">
                <a:solidFill>
                  <a:schemeClr val="tx1"/>
                </a:solidFill>
              </a:rPr>
              <a:t>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a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una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tuyas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699455" cy="91440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19</a:t>
            </a:fld>
            <a:endParaRPr lang="en-US"/>
          </a:p>
        </p:txBody>
      </p:sp>
      <p:sp>
        <p:nvSpPr>
          <p:cNvPr id="26" name="Tarjeta Unreal Engine 5"/>
          <p:cNvSpPr/>
          <p:nvPr/>
        </p:nvSpPr>
        <p:spPr>
          <a:xfrm>
            <a:off x="548640" y="1463040"/>
            <a:ext cx="11094415" cy="1463040"/>
          </a:xfrm>
          <a:prstGeom prst="roundRect">
            <a:avLst>
              <a:gd name="adj" fmla="val 9374"/>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Unreal Engine 5"/>
          <p:cNvSpPr/>
          <p:nvPr/>
        </p:nvSpPr>
        <p:spPr>
          <a:xfrm>
            <a:off x="822959" y="1737360"/>
            <a:ext cx="914400" cy="914400"/>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Unreal Engine 5" descr="FaGamepad-FFFFFF.png"/>
          <p:cNvPicPr>
            <a:picLocks noChangeAspect="1"/>
          </p:cNvPicPr>
          <p:nvPr/>
        </p:nvPicPr>
        <p:blipFill>
          <a:blip r:embed="rId2"/>
          <a:stretch>
            <a:fillRect/>
          </a:stretch>
        </p:blipFill>
        <p:spPr>
          <a:xfrm>
            <a:off x="1042415" y="1956816"/>
            <a:ext cx="475488" cy="475488"/>
          </a:xfrm>
          <a:prstGeom prst="rect">
            <a:avLst/>
          </a:prstGeom>
        </p:spPr>
      </p:pic>
      <p:sp>
        <p:nvSpPr>
          <p:cNvPr id="29" name="Texto Unreal Engine 5"/>
          <p:cNvSpPr txBox="1"/>
          <p:nvPr/>
        </p:nvSpPr>
        <p:spPr>
          <a:xfrm>
            <a:off x="2011680" y="1463040"/>
            <a:ext cx="5760720" cy="1463040"/>
          </a:xfrm>
          <a:prstGeom prst="rect">
            <a:avLst/>
          </a:prstGeom>
          <a:noFill/>
        </p:spPr>
        <p:txBody>
          <a:bodyPr wrap="square" anchor="ctr" lIns="0" rIns="0" tIns="0" bIns="0">
            <a:spAutoFit/>
          </a:bodyPr>
          <a:lstStyle/>
          <a:p>
            <a:r>
              <a:rPr sz="2000" b="1">
                <a:solidFill>
                  <a:schemeClr val="tx1"/>
                </a:solidFill>
              </a:rPr>
              <a:t>Unreal Engine 5</a:t>
            </a:r>
          </a:p>
          <a:p>
            <a:pPr>
              <a:spcBef>
                <a:spcPts val="400"/>
              </a:spcBef>
            </a:pPr>
            <a:r>
              <a:rPr sz="1700" b="0">
                <a:solidFill>
                  <a:schemeClr val="tx1"/>
                </a:solidFill>
              </a:rPr>
              <a:t>Cualquiera podía hacer un juego de aspecto profesional… y muchos juegos acabaron pareciéndose.</a:t>
            </a:r>
          </a:p>
        </p:txBody>
      </p:sp>
      <p:pic>
        <p:nvPicPr>
          <p:cNvPr id="30" name="Resultado igual" descr="FaGamepad-8A94A6.png"/>
          <p:cNvPicPr>
            <a:picLocks noChangeAspect="1"/>
          </p:cNvPicPr>
          <p:nvPr/>
        </p:nvPicPr>
        <p:blipFill>
          <a:blip r:embed="rId3"/>
          <a:stretch>
            <a:fillRect/>
          </a:stretch>
        </p:blipFill>
        <p:spPr>
          <a:xfrm>
            <a:off x="8001000" y="1947672"/>
            <a:ext cx="502920" cy="502920"/>
          </a:xfrm>
          <a:prstGeom prst="rect">
            <a:avLst/>
          </a:prstGeom>
        </p:spPr>
      </p:pic>
      <p:pic>
        <p:nvPicPr>
          <p:cNvPr id="31" name="Resultado igual" descr="FaGamepad-8A94A6.png"/>
          <p:cNvPicPr>
            <a:picLocks noChangeAspect="1"/>
          </p:cNvPicPr>
          <p:nvPr/>
        </p:nvPicPr>
        <p:blipFill>
          <a:blip r:embed="rId3"/>
          <a:stretch>
            <a:fillRect/>
          </a:stretch>
        </p:blipFill>
        <p:spPr>
          <a:xfrm>
            <a:off x="8714232" y="1947672"/>
            <a:ext cx="502920" cy="502920"/>
          </a:xfrm>
          <a:prstGeom prst="rect">
            <a:avLst/>
          </a:prstGeom>
        </p:spPr>
      </p:pic>
      <p:pic>
        <p:nvPicPr>
          <p:cNvPr id="32" name="Resultado igual" descr="FaGamepad-8A94A6.png"/>
          <p:cNvPicPr>
            <a:picLocks noChangeAspect="1"/>
          </p:cNvPicPr>
          <p:nvPr/>
        </p:nvPicPr>
        <p:blipFill>
          <a:blip r:embed="rId3"/>
          <a:stretch>
            <a:fillRect/>
          </a:stretch>
        </p:blipFill>
        <p:spPr>
          <a:xfrm>
            <a:off x="9427464" y="1947672"/>
            <a:ext cx="502920" cy="502920"/>
          </a:xfrm>
          <a:prstGeom prst="rect">
            <a:avLst/>
          </a:prstGeom>
        </p:spPr>
      </p:pic>
      <p:pic>
        <p:nvPicPr>
          <p:cNvPr id="33" name="Resultado igual" descr="FaGamepad-8A94A6.png"/>
          <p:cNvPicPr>
            <a:picLocks noChangeAspect="1"/>
          </p:cNvPicPr>
          <p:nvPr/>
        </p:nvPicPr>
        <p:blipFill>
          <a:blip r:embed="rId3"/>
          <a:stretch>
            <a:fillRect/>
          </a:stretch>
        </p:blipFill>
        <p:spPr>
          <a:xfrm>
            <a:off x="10140696" y="1947672"/>
            <a:ext cx="502920" cy="502920"/>
          </a:xfrm>
          <a:prstGeom prst="rect">
            <a:avLst/>
          </a:prstGeom>
        </p:spPr>
      </p:pic>
      <p:pic>
        <p:nvPicPr>
          <p:cNvPr id="34" name="Resultado igual" descr="FaGamepad-8A94A6.png"/>
          <p:cNvPicPr>
            <a:picLocks noChangeAspect="1"/>
          </p:cNvPicPr>
          <p:nvPr/>
        </p:nvPicPr>
        <p:blipFill>
          <a:blip r:embed="rId3"/>
          <a:stretch>
            <a:fillRect/>
          </a:stretch>
        </p:blipFill>
        <p:spPr>
          <a:xfrm>
            <a:off x="10853928" y="1947672"/>
            <a:ext cx="502920" cy="502920"/>
          </a:xfrm>
          <a:prstGeom prst="rect">
            <a:avLst/>
          </a:prstGeom>
        </p:spPr>
      </p:pic>
      <p:sp>
        <p:nvSpPr>
          <p:cNvPr id="35" name="Tarjeta La IA"/>
          <p:cNvSpPr/>
          <p:nvPr/>
        </p:nvSpPr>
        <p:spPr>
          <a:xfrm>
            <a:off x="548640" y="3108960"/>
            <a:ext cx="11094415" cy="1463040"/>
          </a:xfrm>
          <a:prstGeom prst="roundRect">
            <a:avLst>
              <a:gd name="adj" fmla="val 9374"/>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La IA"/>
          <p:cNvSpPr/>
          <p:nvPr/>
        </p:nvSpPr>
        <p:spPr>
          <a:xfrm>
            <a:off x="822959" y="3383279"/>
            <a:ext cx="914400" cy="91440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La IA" descr="image.png"/>
          <p:cNvPicPr>
            <a:picLocks noChangeAspect="1"/>
          </p:cNvPicPr>
          <p:nvPr/>
        </p:nvPicPr>
        <p:blipFill>
          <a:blip r:embed="rId4"/>
          <a:stretch>
            <a:fillRect/>
          </a:stretch>
        </p:blipFill>
        <p:spPr>
          <a:xfrm>
            <a:off x="1042415" y="3602735"/>
            <a:ext cx="475488" cy="475488"/>
          </a:xfrm>
          <a:prstGeom prst="rect">
            <a:avLst/>
          </a:prstGeom>
        </p:spPr>
      </p:pic>
      <p:sp>
        <p:nvSpPr>
          <p:cNvPr id="38" name="Texto La IA"/>
          <p:cNvSpPr txBox="1"/>
          <p:nvPr/>
        </p:nvSpPr>
        <p:spPr>
          <a:xfrm>
            <a:off x="2011680" y="3108960"/>
            <a:ext cx="5760720" cy="1463040"/>
          </a:xfrm>
          <a:prstGeom prst="rect">
            <a:avLst/>
          </a:prstGeom>
          <a:noFill/>
        </p:spPr>
        <p:txBody>
          <a:bodyPr wrap="square" anchor="ctr" lIns="0" rIns="0" tIns="0" bIns="0">
            <a:spAutoFit/>
          </a:bodyPr>
          <a:lstStyle/>
          <a:p>
            <a:r>
              <a:rPr sz="2000" b="1">
                <a:solidFill>
                  <a:schemeClr val="tx1"/>
                </a:solidFill>
              </a:rPr>
              <a:t>La IA</a:t>
            </a:r>
          </a:p>
          <a:p>
            <a:pPr>
              <a:spcBef>
                <a:spcPts val="400"/>
              </a:spcBef>
            </a:pPr>
            <a:r>
              <a:rPr sz="1700" b="0">
                <a:solidFill>
                  <a:schemeClr val="tx1"/>
                </a:solidFill>
              </a:rPr>
              <a:t>Si todos le pedimos lo mismo, todos recibimos lo mismo: cientos de cartas de presentación que suenan iguales.</a:t>
            </a:r>
          </a:p>
        </p:txBody>
      </p:sp>
      <p:pic>
        <p:nvPicPr>
          <p:cNvPr id="39" name="Resultado igual" descr="FaFileAlt-8A94A6.png"/>
          <p:cNvPicPr>
            <a:picLocks noChangeAspect="1"/>
          </p:cNvPicPr>
          <p:nvPr/>
        </p:nvPicPr>
        <p:blipFill>
          <a:blip r:embed="rId5"/>
          <a:stretch>
            <a:fillRect/>
          </a:stretch>
        </p:blipFill>
        <p:spPr>
          <a:xfrm>
            <a:off x="8001000" y="3593591"/>
            <a:ext cx="502920" cy="502920"/>
          </a:xfrm>
          <a:prstGeom prst="rect">
            <a:avLst/>
          </a:prstGeom>
        </p:spPr>
      </p:pic>
      <p:pic>
        <p:nvPicPr>
          <p:cNvPr id="40" name="Resultado igual" descr="FaFileAlt-8A94A6.png"/>
          <p:cNvPicPr>
            <a:picLocks noChangeAspect="1"/>
          </p:cNvPicPr>
          <p:nvPr/>
        </p:nvPicPr>
        <p:blipFill>
          <a:blip r:embed="rId5"/>
          <a:stretch>
            <a:fillRect/>
          </a:stretch>
        </p:blipFill>
        <p:spPr>
          <a:xfrm>
            <a:off x="8714232" y="3593591"/>
            <a:ext cx="502920" cy="502920"/>
          </a:xfrm>
          <a:prstGeom prst="rect">
            <a:avLst/>
          </a:prstGeom>
        </p:spPr>
      </p:pic>
      <p:pic>
        <p:nvPicPr>
          <p:cNvPr id="41" name="Resultado igual" descr="FaFileAlt-8A94A6.png"/>
          <p:cNvPicPr>
            <a:picLocks noChangeAspect="1"/>
          </p:cNvPicPr>
          <p:nvPr/>
        </p:nvPicPr>
        <p:blipFill>
          <a:blip r:embed="rId5"/>
          <a:stretch>
            <a:fillRect/>
          </a:stretch>
        </p:blipFill>
        <p:spPr>
          <a:xfrm>
            <a:off x="9427464" y="3593591"/>
            <a:ext cx="502920" cy="502920"/>
          </a:xfrm>
          <a:prstGeom prst="rect">
            <a:avLst/>
          </a:prstGeom>
        </p:spPr>
      </p:pic>
      <p:pic>
        <p:nvPicPr>
          <p:cNvPr id="42" name="Resultado igual" descr="FaFileAlt-8A94A6.png"/>
          <p:cNvPicPr>
            <a:picLocks noChangeAspect="1"/>
          </p:cNvPicPr>
          <p:nvPr/>
        </p:nvPicPr>
        <p:blipFill>
          <a:blip r:embed="rId5"/>
          <a:stretch>
            <a:fillRect/>
          </a:stretch>
        </p:blipFill>
        <p:spPr>
          <a:xfrm>
            <a:off x="10140696" y="3593591"/>
            <a:ext cx="502920" cy="502920"/>
          </a:xfrm>
          <a:prstGeom prst="rect">
            <a:avLst/>
          </a:prstGeom>
        </p:spPr>
      </p:pic>
      <p:pic>
        <p:nvPicPr>
          <p:cNvPr id="43" name="Resultado igual" descr="FaFileAlt-8A94A6.png"/>
          <p:cNvPicPr>
            <a:picLocks noChangeAspect="1"/>
          </p:cNvPicPr>
          <p:nvPr/>
        </p:nvPicPr>
        <p:blipFill>
          <a:blip r:embed="rId5"/>
          <a:stretch>
            <a:fillRect/>
          </a:stretch>
        </p:blipFill>
        <p:spPr>
          <a:xfrm>
            <a:off x="10853928" y="3593591"/>
            <a:ext cx="502920" cy="502920"/>
          </a:xfrm>
          <a:prstGeom prst="rect">
            <a:avLst/>
          </a:prstGeom>
        </p:spPr>
      </p:pic>
      <p:sp>
        <p:nvSpPr>
          <p:cNvPr id="44" name="Personas"/>
          <p:cNvSpPr/>
          <p:nvPr/>
        </p:nvSpPr>
        <p:spPr>
          <a:xfrm>
            <a:off x="548640" y="4983480"/>
            <a:ext cx="822960" cy="82296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ersonas" descr="image.png"/>
          <p:cNvPicPr>
            <a:picLocks noChangeAspect="1"/>
          </p:cNvPicPr>
          <p:nvPr/>
        </p:nvPicPr>
        <p:blipFill>
          <a:blip r:embed="rId6"/>
          <a:stretch>
            <a:fillRect/>
          </a:stretch>
        </p:blipFill>
        <p:spPr>
          <a:xfrm>
            <a:off x="746150" y="5180990"/>
            <a:ext cx="427939" cy="427939"/>
          </a:xfrm>
          <a:prstGeom prst="rect">
            <a:avLst/>
          </a:prstGeom>
        </p:spPr>
      </p:pic>
      <p:sp>
        <p:nvSpPr>
          <p:cNvPr id="46" name="Conclusión"/>
          <p:cNvSpPr txBox="1"/>
          <p:nvPr/>
        </p:nvSpPr>
        <p:spPr>
          <a:xfrm>
            <a:off x="1600200" y="4846320"/>
            <a:ext cx="10042855" cy="1097280"/>
          </a:xfrm>
          <a:prstGeom prst="rect">
            <a:avLst/>
          </a:prstGeom>
          <a:noFill/>
        </p:spPr>
        <p:txBody>
          <a:bodyPr wrap="square" anchor="ctr" lIns="0" rIns="0" tIns="0" bIns="0">
            <a:spAutoFit/>
          </a:bodyPr>
          <a:lstStyle/>
          <a:p>
            <a:r>
              <a:rPr sz="2000" b="1">
                <a:solidFill>
                  <a:schemeClr val="tx1"/>
                </a:solidFill>
              </a:rPr>
              <a:t>La idea que nadie más tendría suele salir de las personas.</a:t>
            </a:r>
          </a:p>
          <a:p>
            <a:pPr>
              <a:spcBef>
                <a:spcPts val="400"/>
              </a:spcBef>
            </a:pPr>
            <a:r>
              <a:rPr sz="1800" b="0">
                <a:solidFill>
                  <a:schemeClr val="tx1"/>
                </a:solidFill>
              </a:rPr>
              <a:t>Primero pensamos nosotros; después, la IA amplía lo nuestro.</a:t>
            </a:r>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2920</Words>
  <Application>Microsoft Office PowerPoint</Application>
  <PresentationFormat>Panorámica</PresentationFormat>
  <Paragraphs>359</Paragraphs>
  <Slides>28</Slides>
  <Notes>28</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28</vt:i4>
      </vt:variant>
    </vt:vector>
  </HeadingPairs>
  <TitlesOfParts>
    <vt:vector size="32" baseType="lpstr">
      <vt:lpstr>Arial</vt:lpstr>
      <vt:lpstr>Calibri</vt:lpstr>
      <vt:lpstr>Courier New</vt:lpstr>
      <vt:lpstr>Creatividad, ofimática e IA</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2 de 6</vt:lpstr>
      <vt:lpstr>Situación 3 de 6</vt:lpstr>
      <vt:lpstr>Situación 4 de 6</vt:lpstr>
      <vt:lpstr>Situación 5 de 6</vt:lpstr>
      <vt:lpstr>Situación 6 de 6</vt:lpstr>
      <vt:lpstr>Criterio para resolver las dudas</vt:lpstr>
      <vt:lpstr>¿Para qué se podría usar un clip?</vt:lpstr>
      <vt:lpstr>Y ahora, elegimos uno</vt:lpstr>
      <vt:lpstr>No vendemos el clip: vendemos su idea</vt:lpstr>
      <vt:lpstr>Primero abrir, después cerrar</vt:lpstr>
      <vt:lpstr>La regla de todo el curso</vt:lpstr>
      <vt:lpstr>Nuestro ejemplo: una peluquería de barrio</vt:lpstr>
      <vt:lpstr>Brainstorming: cuatro reglas</vt:lpstr>
      <vt:lpstr>Ejemplo: brainstorming en la peluquería</vt:lpstr>
      <vt:lpstr>Ejercicio 1: brainstorming entre todos</vt:lpstr>
      <vt:lpstr>Ronda con IA: el prompt</vt:lpstr>
      <vt:lpstr>Segundo prompt: combinar ideas</vt:lpstr>
      <vt:lpstr>Votad las tres ideas más originales</vt:lpstr>
      <vt:lpstr>¿Qué ha aportado la IA?</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3</cp:revision>
  <dcterms:created xsi:type="dcterms:W3CDTF">2026-10-17T13:29:48Z</dcterms:created>
  <dcterms:modified xsi:type="dcterms:W3CDTF">2026-10-17T13:41:53Z</dcterms:modified>
</cp:coreProperties>
</file>